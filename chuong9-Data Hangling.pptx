
<file path=[Content_Types].xml><?xml version="1.0" encoding="utf-8"?>
<Types xmlns="http://schemas.openxmlformats.org/package/2006/content-types">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3"/>
  </p:notesMasterIdLst>
  <p:sldIdLst>
    <p:sldId id="256" r:id="rId2"/>
    <p:sldId id="257" r:id="rId3"/>
    <p:sldId id="417" r:id="rId4"/>
    <p:sldId id="258" r:id="rId5"/>
    <p:sldId id="334" r:id="rId6"/>
    <p:sldId id="372" r:id="rId7"/>
    <p:sldId id="418" r:id="rId8"/>
    <p:sldId id="308" r:id="rId9"/>
    <p:sldId id="419" r:id="rId10"/>
    <p:sldId id="420" r:id="rId11"/>
    <p:sldId id="421" r:id="rId12"/>
    <p:sldId id="422" r:id="rId13"/>
    <p:sldId id="423" r:id="rId14"/>
    <p:sldId id="424" r:id="rId15"/>
    <p:sldId id="425" r:id="rId16"/>
    <p:sldId id="426" r:id="rId17"/>
    <p:sldId id="427" r:id="rId18"/>
    <p:sldId id="428" r:id="rId19"/>
    <p:sldId id="429" r:id="rId20"/>
    <p:sldId id="430" r:id="rId21"/>
    <p:sldId id="431" r:id="rId22"/>
    <p:sldId id="432" r:id="rId23"/>
    <p:sldId id="433" r:id="rId24"/>
    <p:sldId id="434" r:id="rId25"/>
    <p:sldId id="435" r:id="rId26"/>
    <p:sldId id="436" r:id="rId27"/>
    <p:sldId id="437" r:id="rId28"/>
    <p:sldId id="438" r:id="rId29"/>
    <p:sldId id="439" r:id="rId30"/>
    <p:sldId id="440" r:id="rId31"/>
    <p:sldId id="441" r:id="rId32"/>
    <p:sldId id="442" r:id="rId33"/>
    <p:sldId id="443" r:id="rId34"/>
    <p:sldId id="444" r:id="rId35"/>
    <p:sldId id="445" r:id="rId36"/>
    <p:sldId id="446" r:id="rId37"/>
    <p:sldId id="447" r:id="rId38"/>
    <p:sldId id="448" r:id="rId39"/>
    <p:sldId id="449" r:id="rId40"/>
    <p:sldId id="450" r:id="rId41"/>
    <p:sldId id="451" r:id="rId42"/>
    <p:sldId id="452" r:id="rId43"/>
    <p:sldId id="453" r:id="rId44"/>
    <p:sldId id="454" r:id="rId45"/>
    <p:sldId id="455" r:id="rId46"/>
    <p:sldId id="456" r:id="rId47"/>
    <p:sldId id="457" r:id="rId48"/>
    <p:sldId id="458" r:id="rId49"/>
    <p:sldId id="459" r:id="rId50"/>
    <p:sldId id="460" r:id="rId51"/>
    <p:sldId id="461" r:id="rId52"/>
    <p:sldId id="462" r:id="rId53"/>
    <p:sldId id="463" r:id="rId54"/>
    <p:sldId id="464" r:id="rId55"/>
    <p:sldId id="465" r:id="rId56"/>
    <p:sldId id="466" r:id="rId57"/>
    <p:sldId id="468" r:id="rId58"/>
    <p:sldId id="467" r:id="rId59"/>
    <p:sldId id="469" r:id="rId60"/>
    <p:sldId id="470" r:id="rId61"/>
    <p:sldId id="471" r:id="rId62"/>
    <p:sldId id="472" r:id="rId63"/>
    <p:sldId id="473" r:id="rId64"/>
    <p:sldId id="474" r:id="rId65"/>
    <p:sldId id="475" r:id="rId66"/>
    <p:sldId id="476" r:id="rId67"/>
    <p:sldId id="477" r:id="rId68"/>
    <p:sldId id="478" r:id="rId69"/>
    <p:sldId id="479" r:id="rId70"/>
    <p:sldId id="480" r:id="rId71"/>
    <p:sldId id="481" r:id="rId7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5C59D34-11D3-4DA4-83EF-24D8FD6300F5}">
          <p14:sldIdLst>
            <p14:sldId id="256"/>
            <p14:sldId id="257"/>
            <p14:sldId id="417"/>
            <p14:sldId id="258"/>
            <p14:sldId id="334"/>
            <p14:sldId id="372"/>
            <p14:sldId id="418"/>
            <p14:sldId id="308"/>
            <p14:sldId id="419"/>
            <p14:sldId id="420"/>
            <p14:sldId id="421"/>
            <p14:sldId id="422"/>
            <p14:sldId id="423"/>
            <p14:sldId id="424"/>
            <p14:sldId id="425"/>
            <p14:sldId id="426"/>
            <p14:sldId id="427"/>
            <p14:sldId id="428"/>
            <p14:sldId id="429"/>
            <p14:sldId id="430"/>
            <p14:sldId id="431"/>
            <p14:sldId id="432"/>
            <p14:sldId id="433"/>
            <p14:sldId id="434"/>
            <p14:sldId id="435"/>
            <p14:sldId id="436"/>
            <p14:sldId id="437"/>
            <p14:sldId id="438"/>
            <p14:sldId id="439"/>
            <p14:sldId id="440"/>
            <p14:sldId id="441"/>
            <p14:sldId id="442"/>
            <p14:sldId id="443"/>
            <p14:sldId id="444"/>
            <p14:sldId id="445"/>
            <p14:sldId id="446"/>
            <p14:sldId id="447"/>
            <p14:sldId id="448"/>
            <p14:sldId id="449"/>
            <p14:sldId id="450"/>
            <p14:sldId id="451"/>
            <p14:sldId id="452"/>
            <p14:sldId id="453"/>
            <p14:sldId id="454"/>
            <p14:sldId id="455"/>
            <p14:sldId id="456"/>
            <p14:sldId id="457"/>
            <p14:sldId id="458"/>
            <p14:sldId id="459"/>
            <p14:sldId id="460"/>
            <p14:sldId id="461"/>
            <p14:sldId id="462"/>
            <p14:sldId id="463"/>
            <p14:sldId id="464"/>
            <p14:sldId id="465"/>
            <p14:sldId id="466"/>
            <p14:sldId id="468"/>
            <p14:sldId id="467"/>
            <p14:sldId id="469"/>
            <p14:sldId id="470"/>
            <p14:sldId id="471"/>
            <p14:sldId id="472"/>
            <p14:sldId id="473"/>
            <p14:sldId id="474"/>
            <p14:sldId id="475"/>
            <p14:sldId id="476"/>
            <p14:sldId id="477"/>
            <p14:sldId id="478"/>
            <p14:sldId id="479"/>
            <p14:sldId id="480"/>
            <p14:sldId id="481"/>
          </p14:sldIdLst>
        </p14:section>
        <p14:section name="Radio Button" id="{1A23179E-0E45-4F2B-9B2B-53C376ECD7B0}">
          <p14:sldIdLst/>
        </p14:section>
        <p14:section name="checkboxes" id="{A00EFFBC-94E6-4C6A-A3F4-16754BAD0FC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85451" autoAdjust="0"/>
  </p:normalViewPr>
  <p:slideViewPr>
    <p:cSldViewPr snapToGrid="0">
      <p:cViewPr varScale="1">
        <p:scale>
          <a:sx n="69" d="100"/>
          <a:sy n="69" d="100"/>
        </p:scale>
        <p:origin x="13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A2B099-58B4-4AB1-94B8-C1C58CCB9DA3}" type="datetimeFigureOut">
              <a:rPr lang="en-US" smtClean="0"/>
              <a:t>11/16/2019</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B18AA1-6D54-4DFE-8137-C54D164A4B2B}" type="slidenum">
              <a:rPr lang="en-US" smtClean="0"/>
              <a:t>‹#›</a:t>
            </a:fld>
            <a:endParaRPr lang="en-US"/>
          </a:p>
        </p:txBody>
      </p:sp>
    </p:spTree>
    <p:extLst>
      <p:ext uri="{BB962C8B-B14F-4D97-AF65-F5344CB8AC3E}">
        <p14:creationId xmlns:p14="http://schemas.microsoft.com/office/powerpoint/2010/main" val="1480592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202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406447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8848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943140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8028925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357217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27244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915917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14818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3434933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893E9BC8-F243-46BB-89DF-344D1B27DC49}" type="datetimeFigureOut">
              <a:rPr lang="en-US" smtClean="0"/>
              <a:t>11/16/2019</a:t>
            </a:fld>
            <a:endParaRPr 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DF45BF12-F24D-4D4A-A4E8-28B531AFDEAA}" type="slidenum">
              <a:rPr lang="en-US" smtClean="0"/>
              <a:t>‹#›</a:t>
            </a:fld>
            <a:endParaRPr lang="en-US"/>
          </a:p>
        </p:txBody>
      </p:sp>
    </p:spTree>
    <p:extLst>
      <p:ext uri="{BB962C8B-B14F-4D97-AF65-F5344CB8AC3E}">
        <p14:creationId xmlns:p14="http://schemas.microsoft.com/office/powerpoint/2010/main" val="1706932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259" y="28244"/>
            <a:ext cx="9102490" cy="90540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259" y="1020278"/>
            <a:ext cx="9102490" cy="58094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810505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7.tmp"/><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8.tmp"/><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9.tmp"/><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1.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465AF-1E9D-4F47-A457-BB8E06933EF4}"/>
              </a:ext>
            </a:extLst>
          </p:cNvPr>
          <p:cNvSpPr>
            <a:spLocks noGrp="1"/>
          </p:cNvSpPr>
          <p:nvPr>
            <p:ph type="ctrTitle"/>
          </p:nvPr>
        </p:nvSpPr>
        <p:spPr>
          <a:xfrm>
            <a:off x="685800" y="1122363"/>
            <a:ext cx="8216660" cy="2387600"/>
          </a:xfrm>
        </p:spPr>
        <p:txBody>
          <a:bodyPr>
            <a:normAutofit fontScale="90000"/>
          </a:bodyPr>
          <a:lstStyle/>
          <a:p>
            <a:r>
              <a:rPr lang="en-US" dirty="0">
                <a:latin typeface="Times New Roman" panose="02020603050405020304" pitchFamily="18" charset="0"/>
                <a:cs typeface="Times New Roman" panose="02020603050405020304" pitchFamily="18" charset="0"/>
              </a:rPr>
              <a:t>DATABASE HANGLING (XỬ LÝ C</a:t>
            </a:r>
            <a:r>
              <a:rPr lang="vi-VN" dirty="0">
                <a:latin typeface="Times New Roman" panose="02020603050405020304" pitchFamily="18" charset="0"/>
                <a:cs typeface="Times New Roman" panose="02020603050405020304" pitchFamily="18" charset="0"/>
              </a:rPr>
              <a:t>Ơ</a:t>
            </a:r>
            <a:r>
              <a:rPr lang="en-US" dirty="0">
                <a:latin typeface="Times New Roman" panose="02020603050405020304" pitchFamily="18" charset="0"/>
                <a:cs typeface="Times New Roman" panose="02020603050405020304" pitchFamily="18" charset="0"/>
              </a:rPr>
              <a:t> SỞ DỮ LIỆU)</a:t>
            </a:r>
          </a:p>
        </p:txBody>
      </p:sp>
      <p:sp>
        <p:nvSpPr>
          <p:cNvPr id="3" name="Subtitle 2">
            <a:extLst>
              <a:ext uri="{FF2B5EF4-FFF2-40B4-BE49-F238E27FC236}">
                <a16:creationId xmlns:a16="http://schemas.microsoft.com/office/drawing/2014/main" id="{DAD84004-3706-4DD2-91FA-FF80F7B22CB1}"/>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942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a:latin typeface="Times New Roman" panose="02020603050405020304" pitchFamily="18" charset="0"/>
                <a:cs typeface="Times New Roman" panose="02020603050405020304" pitchFamily="18" charset="0"/>
              </a:rPr>
              <a:t>Nội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p:txBody>
          <a:bodyPr>
            <a:noAutofit/>
          </a:bodyPr>
          <a:lstStyle/>
          <a:p>
            <a:pPr marL="0" indent="0">
              <a:buNone/>
            </a:pPr>
            <a:r>
              <a:rPr lang="en-US" sz="3200" dirty="0" err="1">
                <a:latin typeface="Times New Roman" panose="02020603050405020304" pitchFamily="18" charset="0"/>
                <a:cs typeface="Times New Roman" panose="02020603050405020304" pitchFamily="18" charset="0"/>
              </a:rPr>
              <a:t>Chúng</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ta sẽ</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tìm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hiểu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nội</a:t>
            </a:r>
            <a:r>
              <a:rPr lang="en-US" sz="3200" dirty="0">
                <a:latin typeface="Times New Roman" panose="02020603050405020304" pitchFamily="18" charset="0"/>
                <a:cs typeface="Times New Roman" panose="02020603050405020304" pitchFamily="18" charset="0"/>
              </a:rPr>
              <a:t> dung </a:t>
            </a:r>
            <a:r>
              <a:rPr lang="en-US" sz="3200" dirty="0" err="1">
                <a:latin typeface="Times New Roman" panose="02020603050405020304" pitchFamily="18" charset="0"/>
                <a:cs typeface="Times New Roman" panose="02020603050405020304" pitchFamily="18" charset="0"/>
              </a:rPr>
              <a:t>nh</a:t>
            </a:r>
            <a:r>
              <a:rPr lang="vi-VN" sz="3200" dirty="0">
                <a:latin typeface="Times New Roman" panose="02020603050405020304" pitchFamily="18" charset="0"/>
                <a:cs typeface="Times New Roman" panose="02020603050405020304" pitchFamily="18" charset="0"/>
              </a:rPr>
              <a:t>ư</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vi-VN" sz="3200" dirty="0">
                <a:latin typeface="Times New Roman" panose="02020603050405020304" pitchFamily="18" charset="0"/>
                <a:cs typeface="Times New Roman" panose="02020603050405020304" pitchFamily="18" charset="0"/>
              </a:rPr>
              <a:t>:</a:t>
            </a:r>
          </a:p>
          <a:p>
            <a:r>
              <a:rPr lang="vi-VN" sz="3200" dirty="0">
                <a:latin typeface="Times New Roman" panose="02020603050405020304" pitchFamily="18" charset="0"/>
                <a:cs typeface="Times New Roman" panose="02020603050405020304" pitchFamily="18" charset="0"/>
              </a:rPr>
              <a:t>Tạo cơ sở dữ liệu</a:t>
            </a:r>
            <a:endParaRPr lang="en-US" sz="3200" dirty="0">
              <a:latin typeface="Times New Roman" panose="02020603050405020304" pitchFamily="18" charset="0"/>
              <a:cs typeface="Times New Roman" panose="02020603050405020304" pitchFamily="18" charset="0"/>
            </a:endParaRPr>
          </a:p>
          <a:p>
            <a:r>
              <a:rPr lang="vi-VN" sz="3200" dirty="0">
                <a:latin typeface="Times New Roman" panose="02020603050405020304" pitchFamily="18" charset="0"/>
                <a:cs typeface="Times New Roman" panose="02020603050405020304" pitchFamily="18" charset="0"/>
              </a:rPr>
              <a:t>Tạo bảng cơ sở dữ liệu</a:t>
            </a:r>
            <a:endParaRPr lang="en-US" sz="3200" dirty="0">
              <a:latin typeface="Times New Roman" panose="02020603050405020304" pitchFamily="18" charset="0"/>
              <a:cs typeface="Times New Roman" panose="02020603050405020304" pitchFamily="18" charset="0"/>
            </a:endParaRPr>
          </a:p>
          <a:p>
            <a:r>
              <a:rPr lang="vi-VN" sz="3200" dirty="0">
                <a:latin typeface="Times New Roman" panose="02020603050405020304" pitchFamily="18" charset="0"/>
                <a:cs typeface="Times New Roman" panose="02020603050405020304" pitchFamily="18" charset="0"/>
              </a:rPr>
              <a:t>Chèn các hàng trong bảng cơ sở dữ liệu đã chỉ định</a:t>
            </a:r>
            <a:endParaRPr lang="en-US" sz="3200" dirty="0">
              <a:latin typeface="Times New Roman" panose="02020603050405020304" pitchFamily="18" charset="0"/>
              <a:cs typeface="Times New Roman" panose="02020603050405020304" pitchFamily="18" charset="0"/>
            </a:endParaRPr>
          </a:p>
          <a:p>
            <a:r>
              <a:rPr lang="vi-VN" sz="3200" dirty="0">
                <a:latin typeface="Times New Roman" panose="02020603050405020304" pitchFamily="18" charset="0"/>
                <a:cs typeface="Times New Roman" panose="02020603050405020304" pitchFamily="18" charset="0"/>
              </a:rPr>
              <a:t>Hiển thị các hàng trong bảng cơ sở dữ liệu đã chỉ định</a:t>
            </a:r>
            <a:endParaRPr lang="en-US" sz="3200" dirty="0">
              <a:latin typeface="Times New Roman" panose="02020603050405020304" pitchFamily="18" charset="0"/>
              <a:cs typeface="Times New Roman" panose="02020603050405020304" pitchFamily="18" charset="0"/>
            </a:endParaRPr>
          </a:p>
          <a:p>
            <a:r>
              <a:rPr lang="vi-VN" sz="3200" dirty="0">
                <a:latin typeface="Times New Roman" panose="02020603050405020304" pitchFamily="18" charset="0"/>
                <a:cs typeface="Times New Roman" panose="02020603050405020304" pitchFamily="18" charset="0"/>
              </a:rPr>
              <a:t>Điều hướng qua các hàng của bảng cơ sở dữ liệu đã chỉ định</a:t>
            </a:r>
            <a:endParaRPr lang="en-US" sz="3200" dirty="0">
              <a:latin typeface="Times New Roman" panose="02020603050405020304" pitchFamily="18" charset="0"/>
              <a:cs typeface="Times New Roman" panose="02020603050405020304" pitchFamily="18" charset="0"/>
            </a:endParaRPr>
          </a:p>
          <a:p>
            <a:r>
              <a:rPr lang="vi-VN" sz="3200" dirty="0">
                <a:latin typeface="Times New Roman" panose="02020603050405020304" pitchFamily="18" charset="0"/>
                <a:cs typeface="Times New Roman" panose="02020603050405020304" pitchFamily="18" charset="0"/>
              </a:rPr>
              <a:t>Tìm kiếm bảng cơ sở dữ liệu để biết thông tin cụ thể</a:t>
            </a:r>
            <a:br>
              <a:rPr lang="vi-VN"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5024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958F1-071A-4A8D-8390-AD8C3E95F272}"/>
              </a:ext>
            </a:extLst>
          </p:cNvPr>
          <p:cNvSpPr>
            <a:spLocks noGrp="1"/>
          </p:cNvSpPr>
          <p:nvPr>
            <p:ph type="title"/>
          </p:nvPr>
        </p:nvSpPr>
        <p:spPr/>
        <p:txBody>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p:txBody>
      </p:sp>
      <p:sp>
        <p:nvSpPr>
          <p:cNvPr id="3" name="Content Placeholder 2">
            <a:extLst>
              <a:ext uri="{FF2B5EF4-FFF2-40B4-BE49-F238E27FC236}">
                <a16:creationId xmlns:a16="http://schemas.microsoft.com/office/drawing/2014/main" id="{BE9A2F4A-DFA5-41F5-BD92-39E9675D4196}"/>
              </a:ext>
            </a:extLst>
          </p:cNvPr>
          <p:cNvSpPr>
            <a:spLocks noGrp="1"/>
          </p:cNvSpPr>
          <p:nvPr>
            <p:ph idx="1"/>
          </p:nvPr>
        </p:nvSpPr>
        <p:spPr/>
        <p:txBody>
          <a:bodyPr>
            <a:noAutofit/>
          </a:bodyPr>
          <a:lstStyle/>
          <a:p>
            <a:r>
              <a:rPr lang="vi-VN" sz="3200" dirty="0">
                <a:latin typeface="Times New Roman" panose="02020603050405020304" pitchFamily="18" charset="0"/>
                <a:cs typeface="Times New Roman" panose="02020603050405020304" pitchFamily="18" charset="0"/>
              </a:rPr>
              <a:t>Tạo biểu mẫu đăng nhập - áp dụng quy trình xác thực</a:t>
            </a:r>
            <a:endParaRPr lang="en-US" sz="3200" dirty="0">
              <a:latin typeface="Times New Roman" panose="02020603050405020304" pitchFamily="18" charset="0"/>
              <a:cs typeface="Times New Roman" panose="02020603050405020304" pitchFamily="18" charset="0"/>
            </a:endParaRPr>
          </a:p>
          <a:p>
            <a:r>
              <a:rPr lang="vi-VN" sz="3200" dirty="0">
                <a:latin typeface="Times New Roman" panose="02020603050405020304" pitchFamily="18" charset="0"/>
                <a:cs typeface="Times New Roman" panose="02020603050405020304" pitchFamily="18" charset="0"/>
              </a:rPr>
              <a:t>Cập nhật bảng cơ sở dữ liệu - thay đổi mật khẩu người dùng</a:t>
            </a:r>
            <a:endParaRPr lang="en-US" sz="3200" dirty="0">
              <a:latin typeface="Times New Roman" panose="02020603050405020304" pitchFamily="18" charset="0"/>
              <a:cs typeface="Times New Roman" panose="02020603050405020304" pitchFamily="18" charset="0"/>
            </a:endParaRPr>
          </a:p>
          <a:p>
            <a:r>
              <a:rPr lang="vi-VN" sz="3200" dirty="0">
                <a:latin typeface="Times New Roman" panose="02020603050405020304" pitchFamily="18" charset="0"/>
                <a:cs typeface="Times New Roman" panose="02020603050405020304" pitchFamily="18" charset="0"/>
              </a:rPr>
              <a:t>Xóa một hàng từ bảng cơ sở dữ liệu</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64230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sz="3200" dirty="0">
                <a:latin typeface="+mj-lt"/>
              </a:rPr>
              <a:t>SQLite là một công cụ cơ sở dữ liệu rất dễ sử dụng. Về cơ bản, nó là một cơ sở dữ liệu nhẹ có nghĩa là được sử dụng trong các ứng dụng nhỏ có thể được lưu trữ trong một file đĩa đơn. Nó là một cơ sở dữ liệu rất phổ biến được sử dụng trong điện thoại, máy tính bảng, thiết bị nhỏ và dụng cụ. SQLite không yêu cầu một quy trình máy chủ riêng biệt và thậm chí không yêu cầu bất kỳ cấu hình nào.</a:t>
            </a:r>
            <a:endParaRPr lang="en-US" sz="3200" dirty="0">
              <a:latin typeface="+mj-lt"/>
            </a:endParaRPr>
          </a:p>
          <a:p>
            <a:pPr algn="just"/>
            <a:r>
              <a:rPr lang="vi-VN" sz="3200" dirty="0">
                <a:latin typeface="+mj-lt"/>
              </a:rPr>
              <a:t>Để làm cho cơ sở dữ liệu này dễ sử dụng trong các tập lệnh Python, Thư viện chuẩn Python bao gồm một mô-đun gọi là sqlite3. Vì vậy, để sử dụng SQLite trong bất kỳ ứng dụng Python nào, bạn cần nhập mô-đun sqlite3 bằng cách sử dụng câu lệnh nhập được hiển thị ở đây:</a:t>
            </a:r>
            <a:r>
              <a:rPr lang="en-US" sz="3200" dirty="0">
                <a:latin typeface="+mj-lt"/>
              </a:rPr>
              <a:t> </a:t>
            </a:r>
            <a:r>
              <a:rPr lang="en-US" sz="3200" b="1" dirty="0">
                <a:latin typeface="Times New Roman" panose="02020603050405020304" pitchFamily="18" charset="0"/>
                <a:cs typeface="Times New Roman" panose="02020603050405020304" pitchFamily="18" charset="0"/>
              </a:rPr>
              <a:t>import sqlite3</a:t>
            </a:r>
          </a:p>
        </p:txBody>
      </p:sp>
    </p:spTree>
    <p:extLst>
      <p:ext uri="{BB962C8B-B14F-4D97-AF65-F5344CB8AC3E}">
        <p14:creationId xmlns:p14="http://schemas.microsoft.com/office/powerpoint/2010/main" val="181101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algn="just"/>
            <a:r>
              <a:rPr lang="vi-VN" dirty="0">
                <a:latin typeface="+mj-lt"/>
              </a:rPr>
              <a:t>Bước đầu tiên để sử dụng bất kỳ cơ sở dữ liệu nào là tạo một đối tượng kết nối, bằng phương tiện mà bạn cần thiết lập kết nối với cơ sở dữ liệu. Ví dụ sau thiết lập kết nối với cơ sở dữ liệu thương mại điện tử:</a:t>
            </a:r>
            <a:endParaRPr lang="en-US" dirty="0">
              <a:latin typeface="+mj-lt"/>
            </a:endParaRPr>
          </a:p>
          <a:p>
            <a:pPr marL="0" indent="0" algn="just">
              <a:buNone/>
            </a:pPr>
            <a:r>
              <a:rPr lang="en-US" sz="3200" b="1" dirty="0">
                <a:latin typeface="Times New Roman" panose="02020603050405020304" pitchFamily="18" charset="0"/>
                <a:cs typeface="Times New Roman" panose="02020603050405020304" pitchFamily="18" charset="0"/>
              </a:rPr>
              <a:t> conn = sqlite3.connect('</a:t>
            </a:r>
            <a:r>
              <a:rPr lang="en-US" sz="3200" b="1" dirty="0" err="1">
                <a:latin typeface="Times New Roman" panose="02020603050405020304" pitchFamily="18" charset="0"/>
                <a:cs typeface="Times New Roman" panose="02020603050405020304" pitchFamily="18" charset="0"/>
              </a:rPr>
              <a:t>ECommerce.db</a:t>
            </a:r>
            <a:r>
              <a:rPr lang="en-US" sz="3200" b="1" dirty="0">
                <a:latin typeface="Times New Roman" panose="02020603050405020304" pitchFamily="18" charset="0"/>
                <a:cs typeface="Times New Roman" panose="02020603050405020304" pitchFamily="18" charset="0"/>
              </a:rPr>
              <a:t>’)</a:t>
            </a:r>
          </a:p>
          <a:p>
            <a:pPr algn="just"/>
            <a:r>
              <a:rPr lang="vi-VN" sz="3200" dirty="0">
                <a:latin typeface="+mj-lt"/>
              </a:rPr>
              <a:t>Ví dụ này sẽ thiết lập kết nối đến cơ sở dữ liệu thương mại điện tử nếu nó đã tồn tại. Nếu cơ sở dữ liệu chưa tồn tại, cơ sở dữ liệu sẽ được tạo trước và sau đó kết nối được thiết lập.</a:t>
            </a:r>
            <a:endParaRPr lang="en-US" sz="3200" dirty="0">
              <a:latin typeface="+mj-lt"/>
            </a:endParaRPr>
          </a:p>
          <a:p>
            <a:pPr algn="just"/>
            <a:r>
              <a:rPr lang="vi-VN" sz="3200" dirty="0">
                <a:latin typeface="+mj-lt"/>
              </a:rPr>
              <a:t>Bạn cũng có thể tạo cơ sở dữ liệu tạm thời trong bộ nhớ</a:t>
            </a:r>
            <a:r>
              <a:rPr lang="en-US" sz="3200" dirty="0">
                <a:latin typeface="+mj-lt"/>
              </a:rPr>
              <a:t> </a:t>
            </a:r>
            <a:r>
              <a:rPr lang="vi-VN" sz="3200" dirty="0">
                <a:latin typeface="+mj-lt"/>
              </a:rPr>
              <a:t>trong RAM bằng cách sử dụng đối số: memory: trong phương thức kết nối, như được hiển thị ở đây:</a:t>
            </a:r>
            <a:endParaRPr lang="en-US" sz="3200" dirty="0">
              <a:latin typeface="+mj-lt"/>
            </a:endParaRPr>
          </a:p>
          <a:p>
            <a:pPr marL="0" indent="0" algn="just">
              <a:buNone/>
            </a:pPr>
            <a:r>
              <a:rPr lang="en-US" sz="3200" b="1" dirty="0">
                <a:latin typeface="Times New Roman" panose="02020603050405020304" pitchFamily="18" charset="0"/>
                <a:cs typeface="Times New Roman" panose="02020603050405020304" pitchFamily="18" charset="0"/>
              </a:rPr>
              <a:t> conn = sqlite3.connect(':memory:')</a:t>
            </a:r>
            <a:endParaRPr lang="en-US" sz="3200" dirty="0">
              <a:latin typeface="Times New Roman" panose="02020603050405020304" pitchFamily="18" charset="0"/>
              <a:cs typeface="Times New Roman" panose="02020603050405020304" pitchFamily="18" charset="0"/>
            </a:endParaRPr>
          </a:p>
          <a:p>
            <a:pPr algn="just"/>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3763015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a:latin typeface="Times New Roman" panose="02020603050405020304" pitchFamily="18" charset="0"/>
                <a:cs typeface="Times New Roman" panose="02020603050405020304" pitchFamily="18" charset="0"/>
              </a:rPr>
              <a:t>Gi</a:t>
            </a:r>
            <a:r>
              <a:rPr lang="vi-VN">
                <a:latin typeface="Times New Roman" panose="02020603050405020304" pitchFamily="18" charset="0"/>
                <a:cs typeface="Times New Roman" panose="02020603050405020304" pitchFamily="18" charset="0"/>
              </a:rPr>
              <a:t>ớ</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 </a:t>
            </a:r>
            <a:r>
              <a:rPr lang="en-US" err="1">
                <a:latin typeface="Times New Roman" panose="02020603050405020304" pitchFamily="18" charset="0"/>
                <a:cs typeface="Times New Roman" panose="02020603050405020304" pitchFamily="18" charset="0"/>
              </a:rPr>
              <a:t>Thiệu</a:t>
            </a:r>
            <a:endParaRPr lang="en-US">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341313" indent="0" algn="just">
              <a:buNone/>
            </a:pPr>
            <a:r>
              <a:rPr lang="vi-VN" sz="3200" dirty="0">
                <a:latin typeface="+mj-lt"/>
              </a:rPr>
              <a:t>Bạn cũng có thể cung cấp tên đặc biệt:memory: để tạo cơ sở dữ liệu trong RAM.</a:t>
            </a:r>
            <a:endParaRPr lang="en-US" sz="3200" dirty="0">
              <a:latin typeface="+mj-lt"/>
            </a:endParaRPr>
          </a:p>
          <a:p>
            <a:pPr marL="341313" indent="0" algn="just">
              <a:buNone/>
            </a:pPr>
            <a:r>
              <a:rPr lang="vi-VN" sz="3200" dirty="0">
                <a:latin typeface="+mj-lt"/>
              </a:rPr>
              <a:t>Khi công việc được liên kết với cơ sở dữ liệu kết thúc, bạn cần đóng kết nối bằng câu lệnh sau:</a:t>
            </a:r>
            <a:endParaRPr lang="en-US" sz="3200" dirty="0">
              <a:latin typeface="+mj-lt"/>
            </a:endParaRPr>
          </a:p>
          <a:p>
            <a:pPr marL="341313" indent="0" algn="ctr">
              <a:buNone/>
            </a:pPr>
            <a:r>
              <a:rPr lang="en-US" sz="3200" b="1" dirty="0" err="1">
                <a:latin typeface="Times New Roman" panose="02020603050405020304" pitchFamily="18" charset="0"/>
                <a:cs typeface="Times New Roman" panose="02020603050405020304" pitchFamily="18" charset="0"/>
              </a:rPr>
              <a:t>conn.close</a:t>
            </a:r>
            <a:r>
              <a:rPr lang="en-US" sz="3200" b="1"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221597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T</a:t>
            </a:r>
            <a:r>
              <a:rPr lang="vi-VN" dirty="0">
                <a:latin typeface="Times New Roman" panose="02020603050405020304" pitchFamily="18" charset="0"/>
                <a:cs typeface="Times New Roman" panose="02020603050405020304" pitchFamily="18" charset="0"/>
              </a:rPr>
              <a:t>ư</a:t>
            </a:r>
            <a:r>
              <a:rPr lang="en-US" dirty="0" err="1">
                <a:latin typeface="Times New Roman" panose="02020603050405020304" pitchFamily="18" charset="0"/>
                <a:cs typeface="Times New Roman" panose="02020603050405020304" pitchFamily="18" charset="0"/>
              </a:rPr>
              <a:t>ợng</a:t>
            </a:r>
            <a:r>
              <a:rPr lang="en-US" dirty="0">
                <a:latin typeface="Times New Roman" panose="02020603050405020304" pitchFamily="18" charset="0"/>
                <a:cs typeface="Times New Roman" panose="02020603050405020304" pitchFamily="18" charset="0"/>
              </a:rPr>
              <a:t> Cursor (Con </a:t>
            </a:r>
            <a:r>
              <a:rPr lang="en-US" dirty="0" err="1">
                <a:latin typeface="Times New Roman" panose="02020603050405020304" pitchFamily="18" charset="0"/>
                <a:cs typeface="Times New Roman" panose="02020603050405020304" pitchFamily="18" charset="0"/>
              </a:rPr>
              <a:t>trỏ</a:t>
            </a:r>
            <a:r>
              <a:rPr lang="en-US"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747713" indent="-457200" algn="just"/>
            <a:r>
              <a:rPr lang="vi-VN" sz="3200" dirty="0">
                <a:latin typeface="+mj-lt"/>
              </a:rPr>
              <a:t>Để làm việc với các bảng cơ sở dữ liệu, bạn cần lấy một đối tượng con trỏ và truyền các câu lệnh SQL cho đối tượng con trỏ để thực thi chúng. Câu lệnh sau đây tạo một đối tượng con trỏ gọi là cur:</a:t>
            </a:r>
            <a:endParaRPr lang="en-US" sz="3200" dirty="0">
              <a:latin typeface="+mj-lt"/>
            </a:endParaRPr>
          </a:p>
          <a:p>
            <a:pPr marL="290513" indent="0" algn="just">
              <a:buNone/>
            </a:pPr>
            <a:r>
              <a:rPr lang="en-US" sz="3200" b="1" dirty="0">
                <a:latin typeface="+mj-lt"/>
              </a:rPr>
              <a:t>	</a:t>
            </a:r>
            <a:r>
              <a:rPr lang="en-US" sz="3200" b="1" dirty="0">
                <a:latin typeface="Times New Roman" panose="02020603050405020304" pitchFamily="18" charset="0"/>
                <a:cs typeface="Times New Roman" panose="02020603050405020304" pitchFamily="18" charset="0"/>
              </a:rPr>
              <a:t>cur = </a:t>
            </a:r>
            <a:r>
              <a:rPr lang="en-US" sz="3200" b="1" dirty="0" err="1">
                <a:latin typeface="Times New Roman" panose="02020603050405020304" pitchFamily="18" charset="0"/>
                <a:cs typeface="Times New Roman" panose="02020603050405020304" pitchFamily="18" charset="0"/>
              </a:rPr>
              <a:t>conn.cursor</a:t>
            </a:r>
            <a:r>
              <a:rPr lang="en-US" sz="3200" b="1" dirty="0">
                <a:latin typeface="Times New Roman" panose="02020603050405020304" pitchFamily="18" charset="0"/>
                <a:cs typeface="Times New Roman" panose="02020603050405020304" pitchFamily="18" charset="0"/>
              </a:rPr>
              <a:t>()</a:t>
            </a:r>
          </a:p>
          <a:p>
            <a:pPr marL="747713" indent="-457200" algn="just"/>
            <a:r>
              <a:rPr lang="vi-VN" sz="3200" dirty="0">
                <a:latin typeface="+mj-lt"/>
              </a:rPr>
              <a:t>Sử dụng đối tượng con trỏ cur, bạn có thể thực thi các câu lệnh SQL. Ví dụ: bộ câu lệnh sau đây tạo bảng Người dùng bao gồm ba cột, id, EmailAddress và Password:</a:t>
            </a:r>
            <a:endParaRPr lang="en-US" sz="3200" dirty="0">
              <a:latin typeface="+mj-lt"/>
            </a:endParaRPr>
          </a:p>
        </p:txBody>
      </p:sp>
    </p:spTree>
    <p:extLst>
      <p:ext uri="{BB962C8B-B14F-4D97-AF65-F5344CB8AC3E}">
        <p14:creationId xmlns:p14="http://schemas.microsoft.com/office/powerpoint/2010/main" val="3911871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T</a:t>
            </a:r>
            <a:r>
              <a:rPr lang="vi-VN" dirty="0">
                <a:latin typeface="Times New Roman" panose="02020603050405020304" pitchFamily="18" charset="0"/>
                <a:cs typeface="Times New Roman" panose="02020603050405020304" pitchFamily="18" charset="0"/>
              </a:rPr>
              <a:t>ư</a:t>
            </a:r>
            <a:r>
              <a:rPr lang="en-US" dirty="0" err="1">
                <a:latin typeface="Times New Roman" panose="02020603050405020304" pitchFamily="18" charset="0"/>
                <a:cs typeface="Times New Roman" panose="02020603050405020304" pitchFamily="18" charset="0"/>
              </a:rPr>
              <a:t>ợng</a:t>
            </a:r>
            <a:r>
              <a:rPr lang="en-US" dirty="0">
                <a:latin typeface="Times New Roman" panose="02020603050405020304" pitchFamily="18" charset="0"/>
                <a:cs typeface="Times New Roman" panose="02020603050405020304" pitchFamily="18" charset="0"/>
              </a:rPr>
              <a:t> Cursor (Con </a:t>
            </a:r>
            <a:r>
              <a:rPr lang="en-US" dirty="0" err="1">
                <a:latin typeface="Times New Roman" panose="02020603050405020304" pitchFamily="18" charset="0"/>
                <a:cs typeface="Times New Roman" panose="02020603050405020304" pitchFamily="18" charset="0"/>
              </a:rPr>
              <a:t>trỏ</a:t>
            </a:r>
            <a:r>
              <a:rPr lang="en-US"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dirty="0">
                <a:latin typeface="+mj-lt"/>
              </a:rPr>
              <a:t># Lấy một đối tượng con trỏ</a:t>
            </a:r>
            <a:endParaRPr lang="en-US" sz="3200" dirty="0">
              <a:latin typeface="+mj-lt"/>
            </a:endParaRPr>
          </a:p>
          <a:p>
            <a:pPr marL="290513" indent="0" algn="just">
              <a:buNone/>
            </a:pPr>
            <a:r>
              <a:rPr lang="en-US" sz="3200" b="1" dirty="0">
                <a:latin typeface="Times New Roman" panose="02020603050405020304" pitchFamily="18" charset="0"/>
                <a:cs typeface="Times New Roman" panose="02020603050405020304" pitchFamily="18" charset="0"/>
              </a:rPr>
              <a:t>cur = </a:t>
            </a:r>
            <a:r>
              <a:rPr lang="en-US" sz="3200" b="1" dirty="0" err="1">
                <a:latin typeface="Times New Roman" panose="02020603050405020304" pitchFamily="18" charset="0"/>
                <a:cs typeface="Times New Roman" panose="02020603050405020304" pitchFamily="18" charset="0"/>
              </a:rPr>
              <a:t>conn.cursor</a:t>
            </a:r>
            <a:r>
              <a:rPr lang="en-US" sz="3200" b="1" dirty="0">
                <a:latin typeface="Times New Roman" panose="02020603050405020304" pitchFamily="18" charset="0"/>
                <a:cs typeface="Times New Roman" panose="02020603050405020304" pitchFamily="18" charset="0"/>
              </a:rPr>
              <a:t>()</a:t>
            </a:r>
          </a:p>
          <a:p>
            <a:pPr marL="290513" indent="0" algn="just">
              <a:buNone/>
            </a:pPr>
            <a:r>
              <a:rPr lang="en-US" sz="3200" b="1" dirty="0" err="1">
                <a:latin typeface="Times New Roman" panose="02020603050405020304" pitchFamily="18" charset="0"/>
                <a:cs typeface="Times New Roman" panose="02020603050405020304" pitchFamily="18" charset="0"/>
              </a:rPr>
              <a:t>cur.execute</a:t>
            </a:r>
            <a:r>
              <a:rPr lang="en-US" sz="3200" b="1" dirty="0">
                <a:latin typeface="Times New Roman" panose="02020603050405020304" pitchFamily="18" charset="0"/>
                <a:cs typeface="Times New Roman" panose="02020603050405020304" pitchFamily="18" charset="0"/>
              </a:rPr>
              <a:t>('''CREATE TABLE Users(id INTEGER PRIMARY KEY, </a:t>
            </a:r>
            <a:r>
              <a:rPr lang="en-US" sz="3200" b="1" dirty="0" err="1">
                <a:latin typeface="Times New Roman" panose="02020603050405020304" pitchFamily="18" charset="0"/>
                <a:cs typeface="Times New Roman" panose="02020603050405020304" pitchFamily="18" charset="0"/>
              </a:rPr>
              <a:t>EmailAddress</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TEXT, Password TEXT)'‘’)</a:t>
            </a:r>
          </a:p>
          <a:p>
            <a:pPr marL="290513" indent="0" algn="just">
              <a:buNone/>
            </a:pPr>
            <a:r>
              <a:rPr lang="en-US" sz="3200" b="1" dirty="0" err="1">
                <a:latin typeface="Times New Roman" panose="02020603050405020304" pitchFamily="18" charset="0"/>
                <a:cs typeface="Times New Roman" panose="02020603050405020304" pitchFamily="18" charset="0"/>
              </a:rPr>
              <a:t>conn.commit</a:t>
            </a:r>
            <a:r>
              <a:rPr lang="en-US" sz="3200" b="1"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p>
          <a:p>
            <a:pPr marL="290513" indent="0" algn="just">
              <a:buNone/>
            </a:pPr>
            <a:r>
              <a:rPr lang="vi-VN" sz="3200" dirty="0">
                <a:latin typeface="+mj-lt"/>
              </a:rPr>
              <a:t>Hãy nhớ rằng, bạn cần phải thực hiện các thay đổi đối với cơ sở dữ liệu bằng cách gọi phương thức commit () trên đối tượng kết nối, nếu không tất cả các thay đổi được thực hiện cho cơ sở dữ liệu sẽ bị mất.</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4191639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T</a:t>
            </a:r>
            <a:r>
              <a:rPr lang="vi-VN" dirty="0">
                <a:latin typeface="Times New Roman" panose="02020603050405020304" pitchFamily="18" charset="0"/>
                <a:cs typeface="Times New Roman" panose="02020603050405020304" pitchFamily="18" charset="0"/>
              </a:rPr>
              <a:t>ư</a:t>
            </a:r>
            <a:r>
              <a:rPr lang="en-US" dirty="0" err="1">
                <a:latin typeface="Times New Roman" panose="02020603050405020304" pitchFamily="18" charset="0"/>
                <a:cs typeface="Times New Roman" panose="02020603050405020304" pitchFamily="18" charset="0"/>
              </a:rPr>
              <a:t>ợng</a:t>
            </a:r>
            <a:r>
              <a:rPr lang="en-US" dirty="0">
                <a:latin typeface="Times New Roman" panose="02020603050405020304" pitchFamily="18" charset="0"/>
                <a:cs typeface="Times New Roman" panose="02020603050405020304" pitchFamily="18" charset="0"/>
              </a:rPr>
              <a:t> Cursor (Con </a:t>
            </a:r>
            <a:r>
              <a:rPr lang="en-US" dirty="0" err="1">
                <a:latin typeface="Times New Roman" panose="02020603050405020304" pitchFamily="18" charset="0"/>
                <a:cs typeface="Times New Roman" panose="02020603050405020304" pitchFamily="18" charset="0"/>
              </a:rPr>
              <a:t>trỏ</a:t>
            </a:r>
            <a:r>
              <a:rPr lang="en-US"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dirty="0">
                <a:latin typeface="+mj-lt"/>
              </a:rPr>
              <a:t>Tập hợp các câu lệnh sau sẽ bỏ bảng Người dùng:</a:t>
            </a:r>
            <a:endParaRPr lang="en-US" sz="3200" dirty="0">
              <a:latin typeface="+mj-lt"/>
            </a:endParaRPr>
          </a:p>
          <a:p>
            <a:pPr marL="290513" indent="0" algn="just">
              <a:buNone/>
            </a:pPr>
            <a:r>
              <a:rPr lang="en-US" sz="3200" dirty="0">
                <a:latin typeface="Times New Roman" panose="02020603050405020304" pitchFamily="18" charset="0"/>
                <a:cs typeface="Times New Roman" panose="02020603050405020304" pitchFamily="18" charset="0"/>
              </a:rPr>
              <a:t># Get a cursor object</a:t>
            </a:r>
          </a:p>
          <a:p>
            <a:pPr marL="290513" indent="0" algn="just">
              <a:buNone/>
            </a:pPr>
            <a:r>
              <a:rPr lang="en-US" sz="3200" b="1" dirty="0">
                <a:latin typeface="Times New Roman" panose="02020603050405020304" pitchFamily="18" charset="0"/>
                <a:cs typeface="Times New Roman" panose="02020603050405020304" pitchFamily="18" charset="0"/>
              </a:rPr>
              <a:t>cur = </a:t>
            </a:r>
            <a:r>
              <a:rPr lang="en-US" sz="3200" b="1" dirty="0" err="1">
                <a:latin typeface="Times New Roman" panose="02020603050405020304" pitchFamily="18" charset="0"/>
                <a:cs typeface="Times New Roman" panose="02020603050405020304" pitchFamily="18" charset="0"/>
              </a:rPr>
              <a:t>conn.cursor</a:t>
            </a:r>
            <a:r>
              <a:rPr lang="en-US" sz="3200" b="1" dirty="0">
                <a:latin typeface="Times New Roman" panose="02020603050405020304" pitchFamily="18" charset="0"/>
                <a:cs typeface="Times New Roman" panose="02020603050405020304" pitchFamily="18" charset="0"/>
              </a:rPr>
              <a:t>()</a:t>
            </a:r>
          </a:p>
          <a:p>
            <a:pPr marL="290513" indent="0" algn="just">
              <a:buNone/>
            </a:pPr>
            <a:r>
              <a:rPr lang="en-US" sz="3200" b="1" dirty="0" err="1">
                <a:latin typeface="Times New Roman" panose="02020603050405020304" pitchFamily="18" charset="0"/>
                <a:cs typeface="Times New Roman" panose="02020603050405020304" pitchFamily="18" charset="0"/>
              </a:rPr>
              <a:t>cur.execute</a:t>
            </a:r>
            <a:r>
              <a:rPr lang="en-US" sz="3200" b="1" dirty="0">
                <a:latin typeface="Times New Roman" panose="02020603050405020304" pitchFamily="18" charset="0"/>
                <a:cs typeface="Times New Roman" panose="02020603050405020304" pitchFamily="18" charset="0"/>
              </a:rPr>
              <a:t>('''DROP TABLE Users'‘’)</a:t>
            </a:r>
          </a:p>
          <a:p>
            <a:pPr marL="290513" indent="0" algn="just">
              <a:buNone/>
            </a:pPr>
            <a:r>
              <a:rPr lang="en-US" sz="3200" b="1" dirty="0" err="1">
                <a:latin typeface="Times New Roman" panose="02020603050405020304" pitchFamily="18" charset="0"/>
                <a:cs typeface="Times New Roman" panose="02020603050405020304" pitchFamily="18" charset="0"/>
              </a:rPr>
              <a:t>conn.commit</a:t>
            </a:r>
            <a:r>
              <a:rPr lang="en-US" sz="3200" b="1" dirty="0">
                <a:latin typeface="Times New Roman" panose="02020603050405020304" pitchFamily="18" charset="0"/>
                <a:cs typeface="Times New Roman" panose="02020603050405020304" pitchFamily="18" charset="0"/>
              </a:rPr>
              <a:t>()</a:t>
            </a:r>
            <a:r>
              <a:rPr lang="en-US" sz="32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702284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C</a:t>
            </a:r>
            <a:r>
              <a:rPr lang="vi-VN" dirty="0">
                <a:latin typeface="Times New Roman" panose="02020603050405020304" pitchFamily="18" charset="0"/>
                <a:cs typeface="Times New Roman" panose="02020603050405020304" pitchFamily="18" charset="0"/>
              </a:rPr>
              <a:t>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chúng t</a:t>
            </a:r>
            <a:r>
              <a:rPr lang="en-US" sz="3200" dirty="0">
                <a:latin typeface="Times New Roman" panose="02020603050405020304" pitchFamily="18" charset="0"/>
                <a:cs typeface="Times New Roman" panose="02020603050405020304" pitchFamily="18" charset="0"/>
              </a:rPr>
              <a:t>a</a:t>
            </a:r>
            <a:r>
              <a:rPr lang="vi-VN" sz="3200" dirty="0">
                <a:latin typeface="+mj-lt"/>
              </a:rPr>
              <a:t> sẽ nhắc người dùng nhập tên cơ sở dữ liệu, sau đó nhấp vào nút ấn. Khi nhấp vào nút ấn, nếu cơ sở dữ liệu được chỉ định không tồn tại, nó sẽ được tạo và nếu nó đã tồn tại, nó được kết nối.</a:t>
            </a:r>
            <a:endParaRPr lang="en-US" sz="3200" dirty="0">
              <a:latin typeface="+mj-lt"/>
            </a:endParaRPr>
          </a:p>
          <a:p>
            <a:pPr marL="290513" indent="0" algn="just">
              <a:buNone/>
            </a:pPr>
            <a:r>
              <a:rPr lang="vi-VN" sz="3200" dirty="0">
                <a:latin typeface="+mj-lt"/>
              </a:rPr>
              <a:t>Thực hiện theo quy trình từng bước này để tạo cơ sở dữ liệu trong SQLite:</a:t>
            </a:r>
            <a:endParaRPr lang="en-US" sz="3200" dirty="0">
              <a:latin typeface="+mj-lt"/>
            </a:endParaRPr>
          </a:p>
          <a:p>
            <a:pPr marL="804863" indent="-514350" algn="just">
              <a:buAutoNum type="arabicPeriod"/>
            </a:pPr>
            <a:r>
              <a:rPr lang="vi-VN" sz="3200" dirty="0">
                <a:latin typeface="+mj-lt"/>
              </a:rPr>
              <a:t>Hãy tạo một ứng dụng dựa trên mẫu Dialog without Buttons.</a:t>
            </a:r>
            <a:endParaRPr lang="en-US" sz="3200" dirty="0">
              <a:latin typeface="+mj-lt"/>
            </a:endParaRPr>
          </a:p>
          <a:p>
            <a:pPr marL="804863" indent="-514350" algn="just">
              <a:buAutoNum type="arabicPeriod"/>
            </a:pPr>
            <a:r>
              <a:rPr lang="vi-VN" sz="3200" dirty="0">
                <a:latin typeface="+mj-lt"/>
              </a:rPr>
              <a:t>Thêm hai tiện ích </a:t>
            </a:r>
            <a:r>
              <a:rPr lang="vi-VN" sz="3200" b="1" dirty="0">
                <a:latin typeface="+mj-lt"/>
              </a:rPr>
              <a:t>QLabel</a:t>
            </a:r>
            <a:r>
              <a:rPr lang="vi-VN" sz="3200" dirty="0">
                <a:latin typeface="+mj-lt"/>
              </a:rPr>
              <a:t>, một tiện ích </a:t>
            </a:r>
            <a:r>
              <a:rPr lang="vi-VN" sz="3200" b="1" dirty="0">
                <a:latin typeface="+mj-lt"/>
              </a:rPr>
              <a:t>QLineEdit</a:t>
            </a:r>
            <a:r>
              <a:rPr lang="vi-VN" sz="3200" dirty="0">
                <a:latin typeface="+mj-lt"/>
              </a:rPr>
              <a:t> và một tiện ích </a:t>
            </a:r>
            <a:r>
              <a:rPr lang="vi-VN" sz="3200" b="1" dirty="0">
                <a:latin typeface="+mj-lt"/>
              </a:rPr>
              <a:t>QPushButton</a:t>
            </a:r>
            <a:r>
              <a:rPr lang="vi-VN" sz="3200" dirty="0">
                <a:latin typeface="+mj-lt"/>
              </a:rPr>
              <a:t> vào form bằng cách kéo và thả hai tiện ích </a:t>
            </a:r>
            <a:r>
              <a:rPr lang="vi-VN" sz="3200" b="1" dirty="0">
                <a:latin typeface="+mj-lt"/>
              </a:rPr>
              <a:t>Label</a:t>
            </a:r>
            <a:r>
              <a:rPr lang="vi-VN" sz="3200" dirty="0">
                <a:latin typeface="+mj-lt"/>
              </a:rPr>
              <a:t>, một tiện ích </a:t>
            </a:r>
            <a:r>
              <a:rPr lang="en-US" sz="3200" b="1" dirty="0">
                <a:latin typeface="+mj-lt"/>
              </a:rPr>
              <a:t> </a:t>
            </a:r>
            <a:r>
              <a:rPr lang="vi-VN" sz="3200" dirty="0">
                <a:latin typeface="+mj-lt"/>
              </a:rPr>
              <a:t>và tiện ích </a:t>
            </a:r>
            <a:r>
              <a:rPr lang="vi-VN" sz="3200" b="1" dirty="0">
                <a:latin typeface="+mj-lt"/>
              </a:rPr>
              <a:t>Push Button</a:t>
            </a:r>
            <a:r>
              <a:rPr lang="en-US" sz="3200" b="1" dirty="0">
                <a:latin typeface="+mj-lt"/>
              </a:rPr>
              <a:t> </a:t>
            </a:r>
            <a:r>
              <a:rPr lang="vi-VN" sz="3200" dirty="0">
                <a:latin typeface="+mj-lt"/>
              </a:rPr>
              <a:t>trên form.</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0023803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C</a:t>
            </a:r>
            <a:r>
              <a:rPr lang="vi-VN" dirty="0">
                <a:latin typeface="Times New Roman" panose="02020603050405020304" pitchFamily="18" charset="0"/>
                <a:cs typeface="Times New Roman" panose="02020603050405020304" pitchFamily="18" charset="0"/>
              </a:rPr>
              <a:t>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dirty="0">
                <a:latin typeface="+mj-lt"/>
              </a:rPr>
              <a:t>3. Đặt thuộc tính text của tiện ích </a:t>
            </a:r>
            <a:r>
              <a:rPr lang="vi-VN" sz="3200" b="1" dirty="0">
                <a:latin typeface="+mj-lt"/>
              </a:rPr>
              <a:t>Label</a:t>
            </a:r>
            <a:r>
              <a:rPr lang="vi-VN" sz="3200" dirty="0">
                <a:latin typeface="+mj-lt"/>
              </a:rPr>
              <a:t> đầu tiên thành </a:t>
            </a:r>
            <a:r>
              <a:rPr lang="vi-VN" sz="3200" i="1" dirty="0">
                <a:latin typeface="+mj-lt"/>
              </a:rPr>
              <a:t>Enter database name.</a:t>
            </a:r>
            <a:endParaRPr lang="en-US" sz="3200" i="1" dirty="0">
              <a:latin typeface="+mj-lt"/>
            </a:endParaRPr>
          </a:p>
          <a:p>
            <a:pPr marL="290513" indent="0" algn="just">
              <a:buNone/>
            </a:pPr>
            <a:r>
              <a:rPr lang="vi-VN" sz="3200" dirty="0">
                <a:latin typeface="+mj-lt"/>
              </a:rPr>
              <a:t>4. Xóa thuộc tính text của tiện ích </a:t>
            </a:r>
            <a:r>
              <a:rPr lang="vi-VN" sz="3200" b="1" dirty="0">
                <a:latin typeface="+mj-lt"/>
              </a:rPr>
              <a:t>Label</a:t>
            </a:r>
            <a:r>
              <a:rPr lang="vi-VN" sz="3200" dirty="0">
                <a:latin typeface="+mj-lt"/>
              </a:rPr>
              <a:t> thứ hai vì điều này được thiết lập.</a:t>
            </a:r>
            <a:endParaRPr lang="en-US" sz="3200" dirty="0">
              <a:latin typeface="+mj-lt"/>
            </a:endParaRPr>
          </a:p>
          <a:p>
            <a:pPr marL="290513" indent="0" algn="just">
              <a:buNone/>
            </a:pPr>
            <a:r>
              <a:rPr lang="vi-VN" sz="3200" dirty="0">
                <a:latin typeface="+mj-lt"/>
              </a:rPr>
              <a:t>5. Đặt thuộc tính objectName của tiện ích Line Edit thành lineEditDBName.</a:t>
            </a:r>
            <a:endParaRPr lang="en-US" sz="3200" dirty="0">
              <a:latin typeface="+mj-lt"/>
            </a:endParaRPr>
          </a:p>
          <a:p>
            <a:pPr marL="290513" indent="0" algn="just">
              <a:buNone/>
            </a:pPr>
            <a:r>
              <a:rPr lang="vi-VN" sz="3200" dirty="0">
                <a:latin typeface="+mj-lt"/>
              </a:rPr>
              <a:t>6. Đặt thuộc tính objectName của tiện ích Push Button thành PushButtonCreateDB.</a:t>
            </a:r>
            <a:endParaRPr lang="en-US" sz="3200" dirty="0">
              <a:latin typeface="+mj-lt"/>
            </a:endParaRPr>
          </a:p>
          <a:p>
            <a:pPr marL="290513" indent="0" algn="just">
              <a:buNone/>
            </a:pPr>
            <a:r>
              <a:rPr lang="vi-VN" sz="3200" dirty="0">
                <a:latin typeface="+mj-lt"/>
              </a:rPr>
              <a:t>7. Đặt thuộc tính objectName của tiện ích </a:t>
            </a:r>
            <a:r>
              <a:rPr lang="vi-VN" sz="3200" b="1" dirty="0">
                <a:latin typeface="+mj-lt"/>
              </a:rPr>
              <a:t>Label</a:t>
            </a:r>
            <a:r>
              <a:rPr lang="vi-VN" sz="3200" dirty="0">
                <a:latin typeface="+mj-lt"/>
              </a:rPr>
              <a:t> thứ hai thành labelResponse.</a:t>
            </a:r>
            <a:endParaRPr lang="en-US" sz="3200" dirty="0">
              <a:latin typeface="+mj-lt"/>
            </a:endParaRPr>
          </a:p>
          <a:p>
            <a:pPr marL="290513" indent="0" algn="just">
              <a:buNone/>
            </a:pPr>
            <a:r>
              <a:rPr lang="vi-VN" sz="3200" dirty="0">
                <a:latin typeface="+mj-lt"/>
              </a:rPr>
              <a:t>8. Lưu ứng dụng theo tên như demoDatabase.ui. Form sẽ xuất hiện như hình sau:</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981007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C</a:t>
            </a:r>
            <a:r>
              <a:rPr lang="vi-VN" dirty="0">
                <a:latin typeface="Times New Roman" panose="02020603050405020304" pitchFamily="18" charset="0"/>
                <a:cs typeface="Times New Roman" panose="02020603050405020304" pitchFamily="18" charset="0"/>
              </a:rPr>
              <a:t>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endParaRPr lang="en-US" sz="3200" dirty="0">
              <a:latin typeface="+mj-lt"/>
              <a:cs typeface="Times New Roman" panose="02020603050405020304" pitchFamily="18" charset="0"/>
            </a:endParaRPr>
          </a:p>
          <a:p>
            <a:pPr marL="290513" indent="0" algn="just">
              <a:buNone/>
            </a:pPr>
            <a:endParaRPr lang="en-US" sz="3200" dirty="0">
              <a:latin typeface="+mj-lt"/>
              <a:cs typeface="Times New Roman" panose="02020603050405020304" pitchFamily="18" charset="0"/>
            </a:endParaRPr>
          </a:p>
          <a:p>
            <a:pPr marL="290513" indent="0" algn="just">
              <a:buNone/>
            </a:pPr>
            <a:r>
              <a:rPr lang="vi-VN" sz="3200" dirty="0">
                <a:latin typeface="+mj-lt"/>
              </a:rPr>
              <a:t>Giao diện người dùng được tạo bằng Qt Designer được lưu trữ trong file .ui là file XML và cần được chuyển đổi thành code Python. Bằng cách áp dụng tiện ích pyuic5, file XML được chuyển đổi thành code Python. </a:t>
            </a:r>
            <a:endParaRPr lang="en-US" sz="3200" dirty="0">
              <a:latin typeface="+mj-lt"/>
            </a:endParaRPr>
          </a:p>
          <a:p>
            <a:pPr marL="290513" indent="0" algn="just">
              <a:buNone/>
            </a:pPr>
            <a:r>
              <a:rPr lang="vi-VN" sz="3200" dirty="0">
                <a:latin typeface="+mj-lt"/>
              </a:rPr>
              <a:t>9. Hãy coi tập lệnh demoDatabase.py như một tệp tiêu đề và nhập nó vào tệp mà bạn sẽ gọi thiết kế giao diện người dùng của nó.</a:t>
            </a:r>
            <a:endParaRPr lang="en-US" sz="3200" dirty="0">
              <a:latin typeface="+mj-lt"/>
            </a:endParaRPr>
          </a:p>
          <a:p>
            <a:pPr marL="290513" indent="0" algn="just">
              <a:buNone/>
            </a:pPr>
            <a:r>
              <a:rPr lang="vi-VN" sz="3200" dirty="0">
                <a:latin typeface="+mj-lt"/>
              </a:rPr>
              <a:t>10. Tạo một file Python khác có tên callDatabase.pyw và nhập </a:t>
            </a:r>
            <a:r>
              <a:rPr lang="en-US" sz="3200" dirty="0">
                <a:latin typeface="Times New Roman" panose="02020603050405020304" pitchFamily="18" charset="0"/>
                <a:cs typeface="Times New Roman" panose="02020603050405020304" pitchFamily="18" charset="0"/>
              </a:rPr>
              <a:t>code</a:t>
            </a:r>
            <a:r>
              <a:rPr lang="vi-VN" sz="3200" dirty="0">
                <a:latin typeface="+mj-lt"/>
              </a:rPr>
              <a:t> demoDatabase.py vào đó:</a:t>
            </a:r>
            <a:endParaRPr lang="en-US" sz="32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2D77F765-D114-4C8C-8EDA-B0CEF0A500EF}"/>
              </a:ext>
            </a:extLst>
          </p:cNvPr>
          <p:cNvPicPr>
            <a:picLocks noChangeAspect="1"/>
          </p:cNvPicPr>
          <p:nvPr/>
        </p:nvPicPr>
        <p:blipFill rotWithShape="1">
          <a:blip r:embed="rId2">
            <a:extLst>
              <a:ext uri="{28A0092B-C50C-407E-A947-70E740481C1C}">
                <a14:useLocalDpi xmlns:a14="http://schemas.microsoft.com/office/drawing/2010/main" val="0"/>
              </a:ext>
            </a:extLst>
          </a:blip>
          <a:srcRect l="34546" t="26950" r="31636" b="45356"/>
          <a:stretch/>
        </p:blipFill>
        <p:spPr>
          <a:xfrm>
            <a:off x="2119745" y="646018"/>
            <a:ext cx="4904509" cy="1831175"/>
          </a:xfrm>
          <a:prstGeom prst="rect">
            <a:avLst/>
          </a:prstGeom>
        </p:spPr>
      </p:pic>
    </p:spTree>
    <p:extLst>
      <p:ext uri="{BB962C8B-B14F-4D97-AF65-F5344CB8AC3E}">
        <p14:creationId xmlns:p14="http://schemas.microsoft.com/office/powerpoint/2010/main" val="706753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C</a:t>
            </a:r>
            <a:r>
              <a:rPr lang="vi-VN" dirty="0">
                <a:latin typeface="Times New Roman" panose="02020603050405020304" pitchFamily="18" charset="0"/>
                <a:cs typeface="Times New Roman" panose="02020603050405020304" pitchFamily="18" charset="0"/>
              </a:rPr>
              <a:t>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endParaRPr lang="en-US" sz="3200" dirty="0">
              <a:latin typeface="+mj-lt"/>
              <a:cs typeface="Times New Roman" panose="02020603050405020304" pitchFamily="18" charset="0"/>
            </a:endParaRPr>
          </a:p>
        </p:txBody>
      </p:sp>
      <p:pic>
        <p:nvPicPr>
          <p:cNvPr id="6" name="Picture 5" descr="sách Qt5-Python-GUI-Programming-Cookbook.pdf - Foxit Reader">
            <a:extLst>
              <a:ext uri="{FF2B5EF4-FFF2-40B4-BE49-F238E27FC236}">
                <a16:creationId xmlns:a16="http://schemas.microsoft.com/office/drawing/2014/main" id="{5975B963-CCFD-4E50-AF01-562254A229D0}"/>
              </a:ext>
            </a:extLst>
          </p:cNvPr>
          <p:cNvPicPr>
            <a:picLocks noChangeAspect="1"/>
          </p:cNvPicPr>
          <p:nvPr/>
        </p:nvPicPr>
        <p:blipFill rotWithShape="1">
          <a:blip r:embed="rId2">
            <a:extLst>
              <a:ext uri="{28A0092B-C50C-407E-A947-70E740481C1C}">
                <a14:useLocalDpi xmlns:a14="http://schemas.microsoft.com/office/drawing/2010/main" val="0"/>
              </a:ext>
            </a:extLst>
          </a:blip>
          <a:srcRect l="29636" t="19520" r="19091" b="11583"/>
          <a:stretch/>
        </p:blipFill>
        <p:spPr>
          <a:xfrm>
            <a:off x="199504" y="980902"/>
            <a:ext cx="8578736" cy="5848854"/>
          </a:xfrm>
          <a:prstGeom prst="rect">
            <a:avLst/>
          </a:prstGeom>
        </p:spPr>
      </p:pic>
    </p:spTree>
    <p:extLst>
      <p:ext uri="{BB962C8B-B14F-4D97-AF65-F5344CB8AC3E}">
        <p14:creationId xmlns:p14="http://schemas.microsoft.com/office/powerpoint/2010/main" val="12509748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Tạo Bảng Cơ Sở Dữ 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747713" indent="-457200" algn="just"/>
            <a:r>
              <a:rPr lang="vi-VN" sz="3200" dirty="0">
                <a:latin typeface="+mj-lt"/>
              </a:rPr>
              <a:t>Chúng ta sẽ học cách tạo một bảng cơ sở dữ liệu. Người dùng sẽ được nhắc chỉ định tên cơ sở dữ liệu, theo sau là tên bảng sẽ được tạo. </a:t>
            </a:r>
            <a:r>
              <a:rPr lang="en-US" sz="3200" dirty="0">
                <a:latin typeface="Times New Roman" panose="02020603050405020304" pitchFamily="18" charset="0"/>
                <a:cs typeface="Times New Roman" panose="02020603050405020304" pitchFamily="18" charset="0"/>
              </a:rPr>
              <a:t>C</a:t>
            </a:r>
            <a:r>
              <a:rPr lang="vi-VN" sz="3200" dirty="0">
                <a:latin typeface="+mj-lt"/>
              </a:rPr>
              <a:t>ho phép bạn nhập tên cột và kiểu dữ liệu của chúng. Khi nhấp vào nút ấn, bảng có các cột được xác định sẽ được tạo trong cơ sở dữ liệu đã chỉ định.</a:t>
            </a:r>
            <a:endParaRPr lang="en-US" sz="3200" dirty="0">
              <a:latin typeface="+mj-lt"/>
            </a:endParaRPr>
          </a:p>
          <a:p>
            <a:pPr marL="747713" indent="-457200" algn="just"/>
            <a:r>
              <a:rPr lang="vi-VN" sz="3200" dirty="0">
                <a:latin typeface="+mj-lt"/>
              </a:rPr>
              <a:t>Dưới đây là các bước để tạo GUI cho phép người dùng nhập tất cả thông tin cho bảng cơ sở dữ liệu sẽ được tạo. Sử dụng GUI này, người dùng có thể chỉ định tên cơ sở dữ liệu, tên cột và chọn loại cột:</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3111483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Tạo Bảng Cơ Sở Dữ 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804863" indent="-514350" algn="just">
              <a:buAutoNum type="arabicPeriod"/>
            </a:pPr>
            <a:r>
              <a:rPr lang="vi-VN" sz="3200" dirty="0">
                <a:latin typeface="+mj-lt"/>
              </a:rPr>
              <a:t>Hãy tạo một ứng dụng dựa trên mẫu Dialog without Buttons.</a:t>
            </a:r>
            <a:endParaRPr lang="en-US" sz="3200" dirty="0">
              <a:latin typeface="+mj-lt"/>
            </a:endParaRPr>
          </a:p>
          <a:p>
            <a:pPr marL="804863" indent="-514350" algn="just">
              <a:buAutoNum type="arabicPeriod"/>
            </a:pPr>
            <a:r>
              <a:rPr lang="vi-VN" sz="3200" dirty="0">
                <a:latin typeface="+mj-lt"/>
              </a:rPr>
              <a:t>Thêm năm QLabel, ba QLineEdit, một QComboBox và hai tiện ích QPushButton vào form bằng cách kéo và thả năm Label, ba Line Edit, một Combo Box và hai tiện ích Push Button trên form.</a:t>
            </a:r>
            <a:endParaRPr lang="en-US" sz="3200" dirty="0">
              <a:latin typeface="+mj-lt"/>
            </a:endParaRPr>
          </a:p>
          <a:p>
            <a:pPr marL="804863" indent="-514350" algn="just">
              <a:buAutoNum type="arabicPeriod"/>
            </a:pPr>
            <a:r>
              <a:rPr lang="vi-VN" sz="3200" dirty="0">
                <a:latin typeface="+mj-lt"/>
              </a:rPr>
              <a:t>Đặt thuộc tính text của bốn tiện ích Label đầu tiên thành </a:t>
            </a:r>
            <a:r>
              <a:rPr lang="en-US" sz="3200" dirty="0">
                <a:latin typeface="Times New Roman" panose="02020603050405020304" pitchFamily="18" charset="0"/>
                <a:cs typeface="Times New Roman" panose="02020603050405020304" pitchFamily="18" charset="0"/>
              </a:rPr>
              <a:t>Enter database name, Enter table name, Column Name, </a:t>
            </a:r>
            <a:r>
              <a:rPr lang="vi-VN" sz="3200" dirty="0">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Data Type</a:t>
            </a:r>
            <a:r>
              <a:rPr lang="vi-VN" sz="3200" dirty="0">
                <a:latin typeface="+mj-lt"/>
              </a:rPr>
              <a:t>.</a:t>
            </a:r>
            <a:endParaRPr lang="en-US" sz="3200" dirty="0">
              <a:latin typeface="+mj-lt"/>
            </a:endParaRPr>
          </a:p>
          <a:p>
            <a:pPr marL="804863" indent="-514350" algn="just">
              <a:buAutoNum type="arabicPeriod"/>
            </a:pPr>
            <a:r>
              <a:rPr lang="vi-VN" sz="3200" dirty="0">
                <a:latin typeface="+mj-lt"/>
              </a:rPr>
              <a:t>Xóa thuộc tính văn bản của tiện ích Label thứ năm vì điều này được thiết lập thông qua </a:t>
            </a:r>
            <a:r>
              <a:rPr lang="en-US" sz="3200" dirty="0">
                <a:latin typeface="Times New Roman" panose="02020603050405020304" pitchFamily="18" charset="0"/>
                <a:cs typeface="Times New Roman" panose="02020603050405020304" pitchFamily="18" charset="0"/>
              </a:rPr>
              <a:t>code</a:t>
            </a:r>
            <a:r>
              <a:rPr lang="vi-VN" sz="3200" dirty="0">
                <a:latin typeface="+mj-lt"/>
              </a:rPr>
              <a:t>.</a:t>
            </a:r>
            <a:endParaRPr lang="en-US" sz="3200" dirty="0">
              <a:latin typeface="+mj-lt"/>
            </a:endParaRPr>
          </a:p>
          <a:p>
            <a:pPr marL="290513" indent="0" algn="just">
              <a:buNone/>
            </a:pP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663589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Tạo Bảng Cơ Sở Dữ 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en-US" sz="3200" dirty="0">
                <a:latin typeface="Times New Roman" panose="02020603050405020304" pitchFamily="18" charset="0"/>
                <a:cs typeface="Times New Roman" panose="02020603050405020304" pitchFamily="18" charset="0"/>
              </a:rPr>
              <a:t>5. </a:t>
            </a:r>
            <a:r>
              <a:rPr lang="vi-VN" sz="3200" dirty="0">
                <a:latin typeface="Times New Roman" panose="02020603050405020304" pitchFamily="18" charset="0"/>
                <a:cs typeface="Times New Roman" panose="02020603050405020304" pitchFamily="18" charset="0"/>
              </a:rPr>
              <a:t>Đặt thuộc tính văn bản của hai nút ấn thành </a:t>
            </a:r>
            <a:r>
              <a:rPr lang="en-US" sz="3200" dirty="0">
                <a:latin typeface="Times New Roman" panose="02020603050405020304" pitchFamily="18" charset="0"/>
                <a:cs typeface="Times New Roman" panose="02020603050405020304" pitchFamily="18" charset="0"/>
              </a:rPr>
              <a:t>Add Column </a:t>
            </a:r>
            <a:r>
              <a:rPr lang="vi-VN" sz="3200" dirty="0">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Create Table</a:t>
            </a:r>
            <a:r>
              <a:rPr lang="vi-VN"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marL="290513" indent="0" algn="just">
              <a:buNone/>
            </a:pPr>
            <a:r>
              <a:rPr lang="vi-VN" sz="3200" dirty="0">
                <a:latin typeface="Times New Roman" panose="02020603050405020304" pitchFamily="18" charset="0"/>
                <a:cs typeface="Times New Roman" panose="02020603050405020304" pitchFamily="18" charset="0"/>
              </a:rPr>
              <a:t>6. Đặt thuộc tính objectName của ba widget Line Edit thành lineEditDBName,</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lineEditTableName</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và lineEditColumnName.</a:t>
            </a:r>
            <a:endParaRPr lang="en-US" sz="3200" dirty="0">
              <a:latin typeface="Times New Roman" panose="02020603050405020304" pitchFamily="18" charset="0"/>
              <a:cs typeface="Times New Roman" panose="02020603050405020304" pitchFamily="18" charset="0"/>
            </a:endParaRPr>
          </a:p>
          <a:p>
            <a:pPr marL="290513" indent="0" algn="just">
              <a:buNone/>
            </a:pPr>
            <a:r>
              <a:rPr lang="vi-VN" sz="3200" dirty="0">
                <a:latin typeface="Times New Roman" panose="02020603050405020304" pitchFamily="18" charset="0"/>
                <a:cs typeface="Times New Roman" panose="02020603050405020304" pitchFamily="18" charset="0"/>
              </a:rPr>
              <a:t>7. Đặt thuộc tính objectName của tiện ích Combo Box</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thành ComboBoxDataType.</a:t>
            </a:r>
            <a:endParaRPr lang="en-US" sz="3200" dirty="0">
              <a:latin typeface="Times New Roman" panose="02020603050405020304" pitchFamily="18" charset="0"/>
              <a:cs typeface="Times New Roman" panose="02020603050405020304" pitchFamily="18" charset="0"/>
            </a:endParaRPr>
          </a:p>
          <a:p>
            <a:pPr marL="290513" indent="0" algn="just">
              <a:buNone/>
            </a:pPr>
            <a:r>
              <a:rPr lang="vi-VN" sz="3200" dirty="0">
                <a:latin typeface="Times New Roman" panose="02020603050405020304" pitchFamily="18" charset="0"/>
                <a:cs typeface="Times New Roman" panose="02020603050405020304" pitchFamily="18" charset="0"/>
              </a:rPr>
              <a:t>8. Đặt thuộc tính objectName của hai nút ấn thành PushButtonAddColumn và pushButtonCreateTable.</a:t>
            </a:r>
            <a:br>
              <a:rPr lang="vi-VN" sz="3200" dirty="0">
                <a:latin typeface="Times New Roman" panose="02020603050405020304" pitchFamily="18" charset="0"/>
                <a:cs typeface="Times New Roman" panose="02020603050405020304" pitchFamily="18" charset="0"/>
              </a:rPr>
            </a:br>
            <a:r>
              <a:rPr lang="vi-VN" sz="3200" dirty="0">
                <a:latin typeface="Times New Roman" panose="02020603050405020304" pitchFamily="18" charset="0"/>
                <a:cs typeface="Times New Roman" panose="02020603050405020304" pitchFamily="18" charset="0"/>
              </a:rPr>
              <a:t>9. Đặt thuộc tính objectName của tiện ích Label thứ năm thành </a:t>
            </a:r>
            <a:r>
              <a:rPr lang="en-US" sz="3200" dirty="0">
                <a:latin typeface="Times New Roman" panose="02020603050405020304" pitchFamily="18" charset="0"/>
                <a:cs typeface="Times New Roman" panose="02020603050405020304" pitchFamily="18" charset="0"/>
              </a:rPr>
              <a:t>l</a:t>
            </a:r>
            <a:r>
              <a:rPr lang="vi-VN" sz="3200" dirty="0">
                <a:latin typeface="Times New Roman" panose="02020603050405020304" pitchFamily="18" charset="0"/>
                <a:cs typeface="Times New Roman" panose="02020603050405020304" pitchFamily="18" charset="0"/>
              </a:rPr>
              <a:t>abelResponse.</a:t>
            </a:r>
            <a:endParaRPr lang="en-US" sz="3200" dirty="0">
              <a:latin typeface="Times New Roman" panose="02020603050405020304" pitchFamily="18" charset="0"/>
              <a:cs typeface="Times New Roman" panose="02020603050405020304" pitchFamily="18" charset="0"/>
            </a:endParaRPr>
          </a:p>
          <a:p>
            <a:pPr marL="290513" indent="0" algn="just">
              <a:buNone/>
            </a:pPr>
            <a:r>
              <a:rPr lang="vi-VN" sz="3200" dirty="0">
                <a:latin typeface="Times New Roman" panose="02020603050405020304" pitchFamily="18" charset="0"/>
                <a:cs typeface="Times New Roman" panose="02020603050405020304" pitchFamily="18" charset="0"/>
              </a:rPr>
              <a:t>10. Lưu ứng dụng theo tên là demoCreateTable.ui. Form sẽ xuất hiện như màn hình sau:</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9291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Tạo Bảng Cơ Sở Dữ Liệu</a:t>
            </a:r>
            <a:endParaRPr lang="en-US" dirty="0">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Foxit Reader">
            <a:extLst>
              <a:ext uri="{FF2B5EF4-FFF2-40B4-BE49-F238E27FC236}">
                <a16:creationId xmlns:a16="http://schemas.microsoft.com/office/drawing/2014/main" id="{9FC46BD1-7DB3-4165-A688-EC1ED03D580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2997" t="23770" r="30474" b="31787"/>
          <a:stretch/>
        </p:blipFill>
        <p:spPr>
          <a:xfrm>
            <a:off x="1911927" y="698269"/>
            <a:ext cx="5868785" cy="3400756"/>
          </a:xfrm>
        </p:spPr>
      </p:pic>
      <p:sp>
        <p:nvSpPr>
          <p:cNvPr id="6" name="Rectangle 5">
            <a:extLst>
              <a:ext uri="{FF2B5EF4-FFF2-40B4-BE49-F238E27FC236}">
                <a16:creationId xmlns:a16="http://schemas.microsoft.com/office/drawing/2014/main" id="{0454C9EC-FEF4-4724-80D5-CE0935E81ADF}"/>
              </a:ext>
            </a:extLst>
          </p:cNvPr>
          <p:cNvSpPr/>
          <p:nvPr/>
        </p:nvSpPr>
        <p:spPr>
          <a:xfrm>
            <a:off x="303414" y="4099025"/>
            <a:ext cx="8537171" cy="2554545"/>
          </a:xfrm>
          <a:prstGeom prst="rect">
            <a:avLst/>
          </a:prstGeom>
        </p:spPr>
        <p:txBody>
          <a:bodyPr wrap="square">
            <a:spAutoFit/>
          </a:bodyPr>
          <a:lstStyle/>
          <a:p>
            <a:pPr algn="just"/>
            <a:r>
              <a:rPr lang="vi-VN" sz="3200" dirty="0">
                <a:latin typeface="+mj-lt"/>
              </a:rPr>
              <a:t>Giao diện người dùng được tạo bằng Qt Designer được lưu trữ trong file .ui là file XML và cần được chuyển đổi thành code Python. Lệnh pyuic5 được sử dụng để chuyển đổi file XML thành code Python. </a:t>
            </a:r>
            <a:endParaRPr lang="en-US" sz="3200" dirty="0">
              <a:latin typeface="+mj-lt"/>
            </a:endParaRPr>
          </a:p>
        </p:txBody>
      </p:sp>
    </p:spTree>
    <p:extLst>
      <p:ext uri="{BB962C8B-B14F-4D97-AF65-F5344CB8AC3E}">
        <p14:creationId xmlns:p14="http://schemas.microsoft.com/office/powerpoint/2010/main" val="14109883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Tạo Bảng Cơ Sở Dữ Liệu</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E2F2880-FDDD-4613-BCF9-F95D0AC31339}"/>
              </a:ext>
            </a:extLst>
          </p:cNvPr>
          <p:cNvSpPr>
            <a:spLocks noGrp="1"/>
          </p:cNvSpPr>
          <p:nvPr>
            <p:ph idx="1"/>
          </p:nvPr>
        </p:nvSpPr>
        <p:spPr>
          <a:xfrm>
            <a:off x="22259" y="862149"/>
            <a:ext cx="9102490" cy="5967608"/>
          </a:xfrm>
        </p:spPr>
        <p:txBody>
          <a:bodyPr>
            <a:noAutofit/>
          </a:bodyPr>
          <a:lstStyle/>
          <a:p>
            <a:pPr marL="290513" indent="0" algn="just">
              <a:buNone/>
            </a:pPr>
            <a:r>
              <a:rPr lang="vi-VN" sz="3200" dirty="0">
                <a:latin typeface="+mj-lt"/>
              </a:rPr>
              <a:t>11. Hãy coi tập lệnh demoCreateTable.py như một file tiêu đề và nhập nó vào file mà bạn sẽ gọi thiết kế giao diện người dùng của nó.</a:t>
            </a:r>
            <a:endParaRPr lang="en-US" sz="3200" dirty="0">
              <a:latin typeface="+mj-lt"/>
            </a:endParaRPr>
          </a:p>
          <a:p>
            <a:pPr marL="290513" indent="0" algn="just">
              <a:buNone/>
            </a:pPr>
            <a:r>
              <a:rPr lang="vi-VN" sz="3200" dirty="0">
                <a:latin typeface="+mj-lt"/>
              </a:rPr>
              <a:t>12. Tạo một file Python khác với tên callCreateTable.pyw và nhập mã demoCreateTable.py vào đó:</a:t>
            </a:r>
            <a:endParaRPr lang="en-US" sz="32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42E47D34-A563-4098-A072-92D578FAE133}"/>
              </a:ext>
            </a:extLst>
          </p:cNvPr>
          <p:cNvPicPr>
            <a:picLocks noChangeAspect="1"/>
          </p:cNvPicPr>
          <p:nvPr/>
        </p:nvPicPr>
        <p:blipFill rotWithShape="1">
          <a:blip r:embed="rId2">
            <a:extLst>
              <a:ext uri="{28A0092B-C50C-407E-A947-70E740481C1C}">
                <a14:useLocalDpi xmlns:a14="http://schemas.microsoft.com/office/drawing/2010/main" val="0"/>
              </a:ext>
            </a:extLst>
          </a:blip>
          <a:srcRect l="31454" t="20871" r="25273" b="40628"/>
          <a:stretch/>
        </p:blipFill>
        <p:spPr>
          <a:xfrm>
            <a:off x="448887" y="3596570"/>
            <a:ext cx="8246225" cy="3036985"/>
          </a:xfrm>
          <a:prstGeom prst="rect">
            <a:avLst/>
          </a:prstGeom>
        </p:spPr>
      </p:pic>
    </p:spTree>
    <p:extLst>
      <p:ext uri="{BB962C8B-B14F-4D97-AF65-F5344CB8AC3E}">
        <p14:creationId xmlns:p14="http://schemas.microsoft.com/office/powerpoint/2010/main" val="39773183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Tạo Bảng Cơ Sở Dữ Liệu</a:t>
            </a:r>
            <a:endParaRPr lang="en-US" dirty="0">
              <a:latin typeface="Times New Roman" panose="02020603050405020304" pitchFamily="18" charset="0"/>
              <a:cs typeface="Times New Roman" panose="02020603050405020304" pitchFamily="18" charset="0"/>
            </a:endParaRPr>
          </a:p>
        </p:txBody>
      </p:sp>
      <p:pic>
        <p:nvPicPr>
          <p:cNvPr id="6" name="Content Placeholder 5" descr="sách Qt5-Python-GUI-Programming-Cookbook.pdf - Foxit Reader">
            <a:extLst>
              <a:ext uri="{FF2B5EF4-FFF2-40B4-BE49-F238E27FC236}">
                <a16:creationId xmlns:a16="http://schemas.microsoft.com/office/drawing/2014/main" id="{47EDE91E-3C2E-493E-B33E-DA12308C7091}"/>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727" t="18002" r="24083" b="28394"/>
          <a:stretch/>
        </p:blipFill>
        <p:spPr>
          <a:xfrm>
            <a:off x="415637" y="862149"/>
            <a:ext cx="8163097" cy="5771407"/>
          </a:xfrm>
        </p:spPr>
      </p:pic>
    </p:spTree>
    <p:extLst>
      <p:ext uri="{BB962C8B-B14F-4D97-AF65-F5344CB8AC3E}">
        <p14:creationId xmlns:p14="http://schemas.microsoft.com/office/powerpoint/2010/main" val="2050579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833905"/>
          </a:xfrm>
        </p:spPr>
        <p:txBody>
          <a:bodyPr/>
          <a:lstStyle/>
          <a:p>
            <a:r>
              <a:rPr lang="vi-VN" dirty="0"/>
              <a:t>Tạo Bảng Cơ Sở Dữ Liệu</a:t>
            </a:r>
            <a:endParaRPr lang="en-US" dirty="0">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Foxit Reader">
            <a:extLst>
              <a:ext uri="{FF2B5EF4-FFF2-40B4-BE49-F238E27FC236}">
                <a16:creationId xmlns:a16="http://schemas.microsoft.com/office/drawing/2014/main" id="{21C42DE1-D120-4446-A89D-B2157A43262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0805" t="21810" r="23169" b="37139"/>
          <a:stretch/>
        </p:blipFill>
        <p:spPr>
          <a:xfrm>
            <a:off x="382385" y="862149"/>
            <a:ext cx="7631084" cy="5139640"/>
          </a:xfrm>
        </p:spPr>
      </p:pic>
    </p:spTree>
    <p:extLst>
      <p:ext uri="{BB962C8B-B14F-4D97-AF65-F5344CB8AC3E}">
        <p14:creationId xmlns:p14="http://schemas.microsoft.com/office/powerpoint/2010/main" val="713984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Chèn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F645288-776E-4DEB-AC60-1C02867E6CFC}"/>
              </a:ext>
            </a:extLst>
          </p:cNvPr>
          <p:cNvSpPr>
            <a:spLocks noGrp="1"/>
          </p:cNvSpPr>
          <p:nvPr>
            <p:ph idx="1"/>
          </p:nvPr>
        </p:nvSpPr>
        <p:spPr>
          <a:xfrm>
            <a:off x="22259" y="1163782"/>
            <a:ext cx="9102490" cy="5665975"/>
          </a:xfrm>
        </p:spPr>
        <p:txBody>
          <a:bodyPr>
            <a:normAutofit/>
          </a:bodyPr>
          <a:lstStyle/>
          <a:p>
            <a:pPr algn="just"/>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chúng ta sẽ học cách chèn các hàng vào một bảng. Chúng t</a:t>
            </a:r>
            <a:r>
              <a:rPr lang="en-US" sz="3200" dirty="0">
                <a:latin typeface="Times New Roman" panose="02020603050405020304" pitchFamily="18" charset="0"/>
                <a:cs typeface="Times New Roman" panose="02020603050405020304" pitchFamily="18" charset="0"/>
              </a:rPr>
              <a:t>a</a:t>
            </a:r>
            <a:r>
              <a:rPr lang="vi-VN" sz="3200" dirty="0">
                <a:latin typeface="+mj-lt"/>
              </a:rPr>
              <a:t> giả sử một bảng có tên Người dùng bao gồm hai cột, EmailAddress và Password, đã tồn tại trong cơ sở dữ liệu có tên là ECommerce.</a:t>
            </a:r>
            <a:endParaRPr lang="en-US" sz="3200" dirty="0">
              <a:latin typeface="+mj-lt"/>
            </a:endParaRPr>
          </a:p>
          <a:p>
            <a:pPr algn="just"/>
            <a:r>
              <a:rPr lang="vi-VN" sz="3200" dirty="0">
                <a:latin typeface="+mj-lt"/>
              </a:rPr>
              <a:t>Sau khi nhập địa chỉ email và mật khẩu trong các tiện ích Line Edit dòng tương ứng, khi người dùng nhấp vào nút </a:t>
            </a:r>
            <a:r>
              <a:rPr lang="vi-VN" sz="3200" b="1" dirty="0">
                <a:latin typeface="+mj-lt"/>
              </a:rPr>
              <a:t>Insert Row</a:t>
            </a:r>
            <a:r>
              <a:rPr lang="vi-VN" sz="3200" dirty="0">
                <a:latin typeface="+mj-lt"/>
              </a:rPr>
              <a:t>, hàng sẽ được chèn vào bảng cơ sở dữ liệu đã chỉ định.</a:t>
            </a:r>
            <a:endParaRPr lang="en-US" sz="3200" dirty="0">
              <a:latin typeface="+mj-lt"/>
            </a:endParaRPr>
          </a:p>
          <a:p>
            <a:pPr algn="just"/>
            <a:r>
              <a:rPr lang="vi-VN" sz="3200" dirty="0">
                <a:latin typeface="+mj-lt"/>
              </a:rPr>
              <a:t>Dưới đây là các bước để chèn các hàng vào bảng cơ sở dữ liệu tồn tại trong SQLite:</a:t>
            </a:r>
            <a:endParaRPr lang="en-US" sz="3200" dirty="0">
              <a:latin typeface="+mj-lt"/>
            </a:endParaRPr>
          </a:p>
        </p:txBody>
      </p:sp>
    </p:spTree>
    <p:extLst>
      <p:ext uri="{BB962C8B-B14F-4D97-AF65-F5344CB8AC3E}">
        <p14:creationId xmlns:p14="http://schemas.microsoft.com/office/powerpoint/2010/main" val="1026072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Chèn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F645288-776E-4DEB-AC60-1C02867E6CFC}"/>
              </a:ext>
            </a:extLst>
          </p:cNvPr>
          <p:cNvSpPr>
            <a:spLocks noGrp="1"/>
          </p:cNvSpPr>
          <p:nvPr>
            <p:ph idx="1"/>
          </p:nvPr>
        </p:nvSpPr>
        <p:spPr>
          <a:xfrm>
            <a:off x="22259" y="1163782"/>
            <a:ext cx="9102490" cy="5665975"/>
          </a:xfrm>
        </p:spPr>
        <p:txBody>
          <a:bodyPr>
            <a:noAutofit/>
          </a:bodyPr>
          <a:lstStyle/>
          <a:p>
            <a:pPr marL="514350" indent="-514350" algn="just">
              <a:buAutoNum type="arabicPeriod"/>
            </a:pPr>
            <a:r>
              <a:rPr lang="vi-VN" sz="3200" dirty="0">
                <a:latin typeface="+mj-lt"/>
              </a:rPr>
              <a:t>Hãy tạo một ứng dụng dựa trên mẫu Dialog without Buttons template.</a:t>
            </a:r>
            <a:endParaRPr lang="en-US" sz="3200" dirty="0">
              <a:latin typeface="+mj-lt"/>
            </a:endParaRPr>
          </a:p>
          <a:p>
            <a:pPr marL="514350" indent="-514350" algn="just">
              <a:buAutoNum type="arabicPeriod"/>
            </a:pPr>
            <a:r>
              <a:rPr lang="vi-VN" sz="3200" dirty="0">
                <a:latin typeface="+mj-lt"/>
              </a:rPr>
              <a:t>Thêm năm tiện ích QLabel, bốn tiện ích QLineEdit và một tiện ích QPushButton vào biểu mẫu bằng cách kéo và thả năm tiện ích Label, bốn băng thông rộng LineEdit</a:t>
            </a:r>
            <a:r>
              <a:rPr lang="en-US" sz="3200" dirty="0"/>
              <a:t> </a:t>
            </a:r>
            <a:r>
              <a:rPr lang="vi-VN" sz="3200" dirty="0">
                <a:latin typeface="+mj-lt"/>
              </a:rPr>
              <a:t>và một tiện ích PushButton</a:t>
            </a:r>
            <a:r>
              <a:rPr lang="en-US" sz="3200" dirty="0"/>
              <a:t> </a:t>
            </a:r>
            <a:r>
              <a:rPr lang="vi-VN" sz="3200" dirty="0">
                <a:latin typeface="+mj-lt"/>
              </a:rPr>
              <a:t>trên form.</a:t>
            </a:r>
            <a:endParaRPr lang="en-US" sz="3200" dirty="0">
              <a:latin typeface="+mj-lt"/>
            </a:endParaRPr>
          </a:p>
          <a:p>
            <a:pPr marL="514350" indent="-514350" algn="just">
              <a:buAutoNum type="arabicPeriod"/>
            </a:pPr>
            <a:r>
              <a:rPr lang="vi-VN" sz="3200" dirty="0">
                <a:latin typeface="+mj-lt"/>
              </a:rPr>
              <a:t> Đặt thuộc tính text của bốn tiện ích </a:t>
            </a:r>
            <a:r>
              <a:rPr lang="vi-VN" sz="3200" dirty="0">
                <a:latin typeface="Times New Roman" panose="02020603050405020304" pitchFamily="18" charset="0"/>
                <a:cs typeface="Times New Roman" panose="02020603050405020304" pitchFamily="18" charset="0"/>
              </a:rPr>
              <a:t>Label</a:t>
            </a:r>
            <a:r>
              <a:rPr lang="vi-VN" sz="3200" dirty="0">
                <a:latin typeface="+mj-lt"/>
              </a:rPr>
              <a:t> đầu tiên thành </a:t>
            </a:r>
            <a:r>
              <a:rPr lang="en-US" sz="3200" dirty="0">
                <a:latin typeface="Times New Roman" panose="02020603050405020304" pitchFamily="18" charset="0"/>
                <a:cs typeface="Times New Roman" panose="02020603050405020304" pitchFamily="18" charset="0"/>
              </a:rPr>
              <a:t>Enter database name, Enter table name, Email Address</a:t>
            </a:r>
            <a:r>
              <a:rPr lang="vi-VN" sz="3200" dirty="0">
                <a:latin typeface="Times New Roman" panose="02020603050405020304" pitchFamily="18" charset="0"/>
                <a:cs typeface="Times New Roman" panose="02020603050405020304" pitchFamily="18" charset="0"/>
              </a:rPr>
              <a:t> </a:t>
            </a:r>
            <a:r>
              <a:rPr lang="vi-VN" sz="3200" dirty="0">
                <a:latin typeface="+mj-lt"/>
              </a:rPr>
              <a:t>và Password.</a:t>
            </a:r>
            <a:endParaRPr lang="en-US" sz="3200" dirty="0">
              <a:latin typeface="+mj-lt"/>
            </a:endParaRPr>
          </a:p>
          <a:p>
            <a:pPr marL="514350" indent="-514350" algn="just">
              <a:buAutoNum type="arabicPeriod"/>
            </a:pPr>
            <a:r>
              <a:rPr lang="vi-VN" sz="3200" dirty="0">
                <a:latin typeface="+mj-lt"/>
              </a:rPr>
              <a:t>Xóa thuộc tính </a:t>
            </a:r>
            <a:r>
              <a:rPr lang="vi-VN" sz="3200" dirty="0">
                <a:latin typeface="Times New Roman" panose="02020603050405020304" pitchFamily="18" charset="0"/>
                <a:cs typeface="Times New Roman" panose="02020603050405020304" pitchFamily="18" charset="0"/>
              </a:rPr>
              <a:t>text</a:t>
            </a:r>
            <a:r>
              <a:rPr lang="vi-VN" sz="3200" dirty="0"/>
              <a:t> </a:t>
            </a:r>
            <a:r>
              <a:rPr lang="vi-VN" sz="3200" dirty="0">
                <a:latin typeface="+mj-lt"/>
              </a:rPr>
              <a:t>của tiện ích </a:t>
            </a:r>
            <a:r>
              <a:rPr lang="vi-VN" sz="3200" dirty="0">
                <a:latin typeface="Times New Roman" panose="02020603050405020304" pitchFamily="18" charset="0"/>
                <a:cs typeface="Times New Roman" panose="02020603050405020304" pitchFamily="18" charset="0"/>
              </a:rPr>
              <a:t>Label</a:t>
            </a:r>
            <a:r>
              <a:rPr lang="vi-VN" sz="3200" dirty="0">
                <a:latin typeface="+mj-lt"/>
              </a:rPr>
              <a:t> thứ năm, tiện ích này được thiết lập thông qua </a:t>
            </a:r>
            <a:r>
              <a:rPr lang="en-US" sz="3200" dirty="0">
                <a:latin typeface="Times New Roman" panose="02020603050405020304" pitchFamily="18" charset="0"/>
                <a:cs typeface="Times New Roman" panose="02020603050405020304" pitchFamily="18" charset="0"/>
              </a:rPr>
              <a:t>code</a:t>
            </a:r>
            <a:r>
              <a:rPr lang="vi-VN" sz="3200" dirty="0">
                <a:latin typeface="+mj-lt"/>
              </a:rPr>
              <a:t>.</a:t>
            </a:r>
            <a:endParaRPr lang="en-US" sz="3200" dirty="0">
              <a:latin typeface="+mj-lt"/>
            </a:endParaRPr>
          </a:p>
        </p:txBody>
      </p:sp>
    </p:spTree>
    <p:extLst>
      <p:ext uri="{BB962C8B-B14F-4D97-AF65-F5344CB8AC3E}">
        <p14:creationId xmlns:p14="http://schemas.microsoft.com/office/powerpoint/2010/main" val="495059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Chèn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F645288-776E-4DEB-AC60-1C02867E6CFC}"/>
              </a:ext>
            </a:extLst>
          </p:cNvPr>
          <p:cNvSpPr>
            <a:spLocks noGrp="1"/>
          </p:cNvSpPr>
          <p:nvPr>
            <p:ph idx="1"/>
          </p:nvPr>
        </p:nvSpPr>
        <p:spPr>
          <a:xfrm>
            <a:off x="22259" y="1163782"/>
            <a:ext cx="9102490" cy="5665975"/>
          </a:xfrm>
        </p:spPr>
        <p:txBody>
          <a:bodyPr>
            <a:noAutofit/>
          </a:bodyPr>
          <a:lstStyle/>
          <a:p>
            <a:pPr marL="0" indent="0" algn="just">
              <a:buNone/>
            </a:pPr>
            <a:r>
              <a:rPr lang="en-US" sz="3200" dirty="0">
                <a:latin typeface="Times New Roman" panose="02020603050405020304" pitchFamily="18" charset="0"/>
                <a:cs typeface="Times New Roman" panose="02020603050405020304" pitchFamily="18" charset="0"/>
              </a:rPr>
              <a:t>5.</a:t>
            </a:r>
            <a:r>
              <a:rPr lang="vi-VN" sz="3200" dirty="0">
                <a:latin typeface="Times New Roman" panose="02020603050405020304" pitchFamily="18" charset="0"/>
                <a:cs typeface="Times New Roman" panose="02020603050405020304" pitchFamily="18" charset="0"/>
              </a:rPr>
              <a:t>Đặt thuộc tính text của nút ấn thành Insert Row.</a:t>
            </a:r>
            <a:br>
              <a:rPr lang="vi-VN" sz="3200" dirty="0">
                <a:latin typeface="Times New Roman" panose="02020603050405020304" pitchFamily="18" charset="0"/>
                <a:cs typeface="Times New Roman" panose="02020603050405020304" pitchFamily="18" charset="0"/>
              </a:rPr>
            </a:br>
            <a:r>
              <a:rPr lang="vi-VN" sz="3200" dirty="0">
                <a:latin typeface="Times New Roman" panose="02020603050405020304" pitchFamily="18" charset="0"/>
                <a:cs typeface="Times New Roman" panose="02020603050405020304" pitchFamily="18" charset="0"/>
              </a:rPr>
              <a:t>6. Đặt thuộc tính objectName của bốn tiện ích Line Edit thành lineEditDBName,lineEditTableName, lineEditEmailAddress và lineEditPassword.</a:t>
            </a:r>
            <a:endParaRPr lang="en-US" sz="3200" dirty="0">
              <a:latin typeface="Times New Roman" panose="02020603050405020304" pitchFamily="18" charset="0"/>
              <a:cs typeface="Times New Roman" panose="02020603050405020304" pitchFamily="18" charset="0"/>
            </a:endParaRPr>
          </a:p>
          <a:p>
            <a:pPr marL="0" indent="0" algn="just">
              <a:buNone/>
            </a:pPr>
            <a:r>
              <a:rPr lang="vi-VN" sz="3200" dirty="0">
                <a:latin typeface="Times New Roman" panose="02020603050405020304" pitchFamily="18" charset="0"/>
                <a:cs typeface="Times New Roman" panose="02020603050405020304" pitchFamily="18" charset="0"/>
              </a:rPr>
              <a:t>7. Đặt thuộc tính objectName của tiện ích Nút ấn thành PushButtonInsertRow.</a:t>
            </a:r>
            <a:endParaRPr lang="en-US" sz="3200" dirty="0">
              <a:latin typeface="Times New Roman" panose="02020603050405020304" pitchFamily="18" charset="0"/>
              <a:cs typeface="Times New Roman" panose="02020603050405020304" pitchFamily="18" charset="0"/>
            </a:endParaRPr>
          </a:p>
          <a:p>
            <a:pPr marL="0" indent="0" algn="just">
              <a:buNone/>
            </a:pPr>
            <a:r>
              <a:rPr lang="vi-VN" sz="3200" dirty="0">
                <a:latin typeface="Times New Roman" panose="02020603050405020304" pitchFamily="18" charset="0"/>
                <a:cs typeface="Times New Roman" panose="02020603050405020304" pitchFamily="18" charset="0"/>
              </a:rPr>
              <a:t>8. Đặt thuộc tính objectName của tiện ích Label thứ năm thành labelResponse. Vì chúng t</a:t>
            </a:r>
            <a:r>
              <a:rPr lang="en-US" sz="3200" dirty="0">
                <a:latin typeface="Times New Roman" panose="02020603050405020304" pitchFamily="18" charset="0"/>
                <a:cs typeface="Times New Roman" panose="02020603050405020304" pitchFamily="18" charset="0"/>
              </a:rPr>
              <a:t>a</a:t>
            </a:r>
            <a:r>
              <a:rPr lang="vi-VN" sz="3200" dirty="0">
                <a:latin typeface="Times New Roman" panose="02020603050405020304" pitchFamily="18" charset="0"/>
                <a:cs typeface="Times New Roman" panose="02020603050405020304" pitchFamily="18" charset="0"/>
              </a:rPr>
              <a:t> không muốn mật khẩu được hiển thị, chúng t</a:t>
            </a:r>
            <a:r>
              <a:rPr lang="en-US" sz="3200" dirty="0">
                <a:latin typeface="Times New Roman" panose="02020603050405020304" pitchFamily="18" charset="0"/>
                <a:cs typeface="Times New Roman" panose="02020603050405020304" pitchFamily="18" charset="0"/>
              </a:rPr>
              <a:t>a</a:t>
            </a:r>
            <a:r>
              <a:rPr lang="vi-VN" sz="3200" dirty="0">
                <a:latin typeface="Times New Roman" panose="02020603050405020304" pitchFamily="18" charset="0"/>
                <a:cs typeface="Times New Roman" panose="02020603050405020304" pitchFamily="18" charset="0"/>
              </a:rPr>
              <a:t> muốn dấu hoa thị xuất hiện khi người dùng nhập mật khẩu của họ.</a:t>
            </a:r>
            <a:br>
              <a:rPr lang="vi-VN"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9420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Chèn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F645288-776E-4DEB-AC60-1C02867E6CFC}"/>
              </a:ext>
            </a:extLst>
          </p:cNvPr>
          <p:cNvSpPr>
            <a:spLocks noGrp="1"/>
          </p:cNvSpPr>
          <p:nvPr>
            <p:ph idx="1"/>
          </p:nvPr>
        </p:nvSpPr>
        <p:spPr>
          <a:xfrm>
            <a:off x="22259" y="1163782"/>
            <a:ext cx="9102490" cy="5665975"/>
          </a:xfrm>
        </p:spPr>
        <p:txBody>
          <a:bodyPr>
            <a:noAutofit/>
          </a:bodyPr>
          <a:lstStyle/>
          <a:p>
            <a:pPr marL="0" indent="0" algn="just">
              <a:buNone/>
            </a:pPr>
            <a:r>
              <a:rPr lang="vi-VN" sz="3200" dirty="0">
                <a:latin typeface="Times New Roman" panose="02020603050405020304" pitchFamily="18" charset="0"/>
                <a:cs typeface="Times New Roman" panose="02020603050405020304" pitchFamily="18" charset="0"/>
              </a:rPr>
              <a:t>9. Để thực hiện việc này, hãy chọn tiện ích Line Edit có nghĩa là nhập mật khẩu </a:t>
            </a:r>
            <a:r>
              <a:rPr lang="en-US" sz="3200" dirty="0" err="1">
                <a:latin typeface="Times New Roman" panose="02020603050405020304" pitchFamily="18" charset="0"/>
                <a:cs typeface="Times New Roman" panose="02020603050405020304" pitchFamily="18" charset="0"/>
              </a:rPr>
              <a:t>và</a:t>
            </a:r>
            <a:r>
              <a:rPr lang="vi-VN" sz="3200" dirty="0">
                <a:latin typeface="Times New Roman" panose="02020603050405020304" pitchFamily="18" charset="0"/>
                <a:cs typeface="Times New Roman" panose="02020603050405020304" pitchFamily="18" charset="0"/>
              </a:rPr>
              <a:t> từ cửa sổ Property Editor, chọn thuộc tính echoMode và đặt thành Password, thay vì mặc định</a:t>
            </a:r>
            <a:r>
              <a:rPr lang="en-US" sz="3200" dirty="0">
                <a:latin typeface="Times New Roman" panose="02020603050405020304" pitchFamily="18" charset="0"/>
                <a:cs typeface="Times New Roman" panose="02020603050405020304" pitchFamily="18" charset="0"/>
              </a:rPr>
              <a:t> Normal</a:t>
            </a:r>
            <a:r>
              <a:rPr lang="vi-VN" sz="3200" dirty="0">
                <a:latin typeface="Times New Roman" panose="02020603050405020304" pitchFamily="18" charset="0"/>
                <a:cs typeface="Times New Roman" panose="02020603050405020304" pitchFamily="18" charset="0"/>
              </a:rPr>
              <a:t>, như trong hình sau:</a:t>
            </a:r>
            <a:endParaRPr lang="en-US" sz="3200" dirty="0">
              <a:latin typeface="Times New Roman" panose="02020603050405020304" pitchFamily="18" charset="0"/>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8F384F96-66AE-4743-A01C-4468AB4FD718}"/>
              </a:ext>
            </a:extLst>
          </p:cNvPr>
          <p:cNvPicPr>
            <a:picLocks noChangeAspect="1"/>
          </p:cNvPicPr>
          <p:nvPr/>
        </p:nvPicPr>
        <p:blipFill rotWithShape="1">
          <a:blip r:embed="rId2">
            <a:extLst>
              <a:ext uri="{28A0092B-C50C-407E-A947-70E740481C1C}">
                <a14:useLocalDpi xmlns:a14="http://schemas.microsoft.com/office/drawing/2010/main" val="0"/>
              </a:ext>
            </a:extLst>
          </a:blip>
          <a:srcRect l="37091" t="37419" r="34182" b="14623"/>
          <a:stretch/>
        </p:blipFill>
        <p:spPr>
          <a:xfrm>
            <a:off x="1995056" y="3333403"/>
            <a:ext cx="5785658" cy="3100648"/>
          </a:xfrm>
          <a:prstGeom prst="rect">
            <a:avLst/>
          </a:prstGeom>
        </p:spPr>
      </p:pic>
    </p:spTree>
    <p:extLst>
      <p:ext uri="{BB962C8B-B14F-4D97-AF65-F5344CB8AC3E}">
        <p14:creationId xmlns:p14="http://schemas.microsoft.com/office/powerpoint/2010/main" val="27448757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Chèn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F645288-776E-4DEB-AC60-1C02867E6CFC}"/>
              </a:ext>
            </a:extLst>
          </p:cNvPr>
          <p:cNvSpPr>
            <a:spLocks noGrp="1"/>
          </p:cNvSpPr>
          <p:nvPr>
            <p:ph idx="1"/>
          </p:nvPr>
        </p:nvSpPr>
        <p:spPr>
          <a:xfrm>
            <a:off x="22259" y="1163782"/>
            <a:ext cx="9102490" cy="5665975"/>
          </a:xfrm>
        </p:spPr>
        <p:txBody>
          <a:bodyPr>
            <a:noAutofit/>
          </a:bodyPr>
          <a:lstStyle/>
          <a:p>
            <a:pPr marL="0" indent="0" algn="just">
              <a:buNone/>
            </a:pPr>
            <a:r>
              <a:rPr lang="vi-VN" sz="3200" dirty="0">
                <a:latin typeface="+mj-lt"/>
              </a:rPr>
              <a:t>Thuộc tính </a:t>
            </a:r>
            <a:r>
              <a:rPr lang="vi-VN" sz="3200" b="1" dirty="0">
                <a:latin typeface="+mj-lt"/>
              </a:rPr>
              <a:t>echoMode</a:t>
            </a:r>
            <a:r>
              <a:rPr lang="vi-VN" sz="3200" dirty="0">
                <a:latin typeface="+mj-lt"/>
              </a:rPr>
              <a:t> hiển thị bốn tùy chọn sau:</a:t>
            </a:r>
            <a:endParaRPr lang="en-US" sz="3200" dirty="0">
              <a:latin typeface="+mj-lt"/>
            </a:endParaRPr>
          </a:p>
          <a:p>
            <a:pPr algn="just">
              <a:buFont typeface="Wingdings" panose="05000000000000000000" pitchFamily="2" charset="2"/>
              <a:buChar char="Ø"/>
            </a:pPr>
            <a:r>
              <a:rPr lang="vi-VN" sz="3200" b="1" dirty="0">
                <a:latin typeface="+mj-lt"/>
              </a:rPr>
              <a:t>Normal</a:t>
            </a:r>
            <a:r>
              <a:rPr lang="vi-VN" sz="3200" dirty="0">
                <a:latin typeface="+mj-lt"/>
              </a:rPr>
              <a:t>: Đây là thuộc tính mặc định và nó hiển thị các ký tự khi gõ vào tiện ích Line Edit.</a:t>
            </a:r>
            <a:endParaRPr lang="en-US" sz="3200" dirty="0">
              <a:latin typeface="+mj-lt"/>
            </a:endParaRPr>
          </a:p>
          <a:p>
            <a:pPr algn="just">
              <a:buFont typeface="Wingdings" panose="05000000000000000000" pitchFamily="2" charset="2"/>
              <a:buChar char="Ø"/>
            </a:pPr>
            <a:r>
              <a:rPr lang="vi-VN" sz="3200" b="1" dirty="0">
                <a:latin typeface="+mj-lt"/>
              </a:rPr>
              <a:t>NoEcho</a:t>
            </a:r>
            <a:r>
              <a:rPr lang="vi-VN" sz="3200" dirty="0">
                <a:latin typeface="+mj-lt"/>
              </a:rPr>
              <a:t>: Nó không hiển thị bất cứ thứ gì khi gõ vào tiện ích Line Edit, nghĩa là bạn thậm chí sẽ không biết độ dài của văn bản đã nhập.</a:t>
            </a:r>
            <a:endParaRPr lang="en-US" sz="3200" dirty="0">
              <a:latin typeface="+mj-lt"/>
            </a:endParaRPr>
          </a:p>
          <a:p>
            <a:pPr algn="just">
              <a:buFont typeface="Wingdings" panose="05000000000000000000" pitchFamily="2" charset="2"/>
              <a:buChar char="Ø"/>
            </a:pPr>
            <a:r>
              <a:rPr lang="vi-VN" sz="3200" b="1" dirty="0">
                <a:latin typeface="+mj-lt"/>
              </a:rPr>
              <a:t>Password</a:t>
            </a:r>
            <a:r>
              <a:rPr lang="vi-VN" sz="3200" dirty="0">
                <a:latin typeface="+mj-lt"/>
              </a:rPr>
              <a:t>: Nó được sử dụng chủ yếu cho mật khẩu. Nó hiển thị dấu hoa thị khi gõ vào tiện ích Line Edit.</a:t>
            </a:r>
            <a:endParaRPr lang="en-US" sz="3200" dirty="0">
              <a:latin typeface="+mj-lt"/>
            </a:endParaRPr>
          </a:p>
          <a:p>
            <a:pPr algn="just">
              <a:buFont typeface="Wingdings" panose="05000000000000000000" pitchFamily="2" charset="2"/>
              <a:buChar char="Ø"/>
            </a:pPr>
            <a:r>
              <a:rPr lang="vi-VN" sz="3200" b="1" dirty="0">
                <a:latin typeface="+mj-lt"/>
              </a:rPr>
              <a:t>PasswordEchoOnEdit</a:t>
            </a:r>
            <a:r>
              <a:rPr lang="vi-VN" sz="3200" dirty="0">
                <a:latin typeface="+mj-lt"/>
              </a:rPr>
              <a:t>: Nó hiển thị mật khẩu trong khi được gõ trong tiện ích Line Edit, mặc dù nội dung được nhập nhanh chóng được thay thế bằng dấu hoa thị.</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1776042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Chèn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F645288-776E-4DEB-AC60-1C02867E6CFC}"/>
              </a:ext>
            </a:extLst>
          </p:cNvPr>
          <p:cNvSpPr>
            <a:spLocks noGrp="1"/>
          </p:cNvSpPr>
          <p:nvPr>
            <p:ph idx="1"/>
          </p:nvPr>
        </p:nvSpPr>
        <p:spPr>
          <a:xfrm>
            <a:off x="22259" y="1163782"/>
            <a:ext cx="9102490" cy="5665975"/>
          </a:xfrm>
        </p:spPr>
        <p:txBody>
          <a:bodyPr>
            <a:noAutofit/>
          </a:bodyPr>
          <a:lstStyle/>
          <a:p>
            <a:pPr marL="0" indent="0" algn="just">
              <a:buNone/>
            </a:pPr>
            <a:r>
              <a:rPr lang="vi-VN" sz="3200" dirty="0">
                <a:latin typeface="+mj-lt"/>
              </a:rPr>
              <a:t>10. Lưu ứng dụng theo tên dưới dạng demoInsertRowsInTable.ui. Biểu mẫu sẽ xuất hiện như màn hình sau:</a:t>
            </a:r>
            <a:endParaRPr lang="en-US" sz="3200" dirty="0">
              <a:latin typeface="+mj-lt"/>
            </a:endParaRPr>
          </a:p>
          <a:p>
            <a:pPr marL="0" indent="0" algn="just">
              <a:buNone/>
            </a:pPr>
            <a:endParaRPr lang="en-US" sz="3200" dirty="0">
              <a:latin typeface="+mj-lt"/>
            </a:endParaRPr>
          </a:p>
          <a:p>
            <a:pPr marL="0" indent="0" algn="just">
              <a:buNone/>
            </a:pPr>
            <a:endParaRPr lang="en-US" sz="3200" dirty="0">
              <a:latin typeface="+mj-lt"/>
            </a:endParaRPr>
          </a:p>
          <a:p>
            <a:pPr marL="0" indent="0" algn="just">
              <a:buNone/>
            </a:pPr>
            <a:endParaRPr lang="en-US" sz="3200" dirty="0">
              <a:latin typeface="+mj-lt"/>
            </a:endParaRPr>
          </a:p>
          <a:p>
            <a:pPr marL="0" indent="0" algn="just">
              <a:buNone/>
            </a:pPr>
            <a:r>
              <a:rPr lang="vi-VN" sz="3200" dirty="0">
                <a:latin typeface="+mj-lt"/>
              </a:rPr>
              <a:t>Giao diện người dùng được tạo bằng Qt Designer được lưu trữ trong file .ui, đây là file XML và cần được chuyển đổi thành code Python. Bằng cách áp dụng tiện ích pyuic5, tệp XML sẽ được chuyển đổi thành code Python. </a:t>
            </a:r>
            <a:endParaRPr lang="en-US" sz="32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1CB4B6CC-3590-4FCF-855B-7DE39AA928FD}"/>
              </a:ext>
            </a:extLst>
          </p:cNvPr>
          <p:cNvPicPr>
            <a:picLocks noChangeAspect="1"/>
          </p:cNvPicPr>
          <p:nvPr/>
        </p:nvPicPr>
        <p:blipFill rotWithShape="1">
          <a:blip r:embed="rId2">
            <a:extLst>
              <a:ext uri="{28A0092B-C50C-407E-A947-70E740481C1C}">
                <a14:useLocalDpi xmlns:a14="http://schemas.microsoft.com/office/drawing/2010/main" val="0"/>
              </a:ext>
            </a:extLst>
          </a:blip>
          <a:srcRect l="32727" t="32354" r="30545" b="16649"/>
          <a:stretch/>
        </p:blipFill>
        <p:spPr>
          <a:xfrm>
            <a:off x="3208713" y="1978428"/>
            <a:ext cx="4871258" cy="2510445"/>
          </a:xfrm>
          <a:prstGeom prst="rect">
            <a:avLst/>
          </a:prstGeom>
        </p:spPr>
      </p:pic>
    </p:spTree>
    <p:extLst>
      <p:ext uri="{BB962C8B-B14F-4D97-AF65-F5344CB8AC3E}">
        <p14:creationId xmlns:p14="http://schemas.microsoft.com/office/powerpoint/2010/main" val="2073507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Chèn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F645288-776E-4DEB-AC60-1C02867E6CFC}"/>
              </a:ext>
            </a:extLst>
          </p:cNvPr>
          <p:cNvSpPr>
            <a:spLocks noGrp="1"/>
          </p:cNvSpPr>
          <p:nvPr>
            <p:ph idx="1"/>
          </p:nvPr>
        </p:nvSpPr>
        <p:spPr>
          <a:xfrm>
            <a:off x="22259" y="1163782"/>
            <a:ext cx="9102490" cy="5665975"/>
          </a:xfrm>
        </p:spPr>
        <p:txBody>
          <a:bodyPr>
            <a:noAutofit/>
          </a:bodyPr>
          <a:lstStyle/>
          <a:p>
            <a:pPr marL="0" indent="0" algn="just">
              <a:buNone/>
            </a:pPr>
            <a:r>
              <a:rPr lang="vi-VN" sz="3200" dirty="0">
                <a:latin typeface="+mj-lt"/>
              </a:rPr>
              <a:t>11. Tạo một tệp Python khác có tên callInsertRows.pyw và nhập code demoInsertRowsInTable.py vào nó. Code trong tập lệnh Python callInsertRows.pyw được hiển thị ở đây:</a:t>
            </a:r>
            <a:endParaRPr lang="en-US" sz="3200" dirty="0">
              <a:latin typeface="+mj-lt"/>
            </a:endParaRPr>
          </a:p>
          <a:p>
            <a:pPr marL="0" indent="0" algn="just">
              <a:buNone/>
            </a:pPr>
            <a:endParaRPr lang="en-US" sz="3200" dirty="0">
              <a:latin typeface="+mj-lt"/>
            </a:endParaRPr>
          </a:p>
        </p:txBody>
      </p:sp>
      <p:pic>
        <p:nvPicPr>
          <p:cNvPr id="6" name="Picture 5" descr="sách Qt5-Python-GUI-Programming-Cookbook.pdf - Foxit Reader">
            <a:extLst>
              <a:ext uri="{FF2B5EF4-FFF2-40B4-BE49-F238E27FC236}">
                <a16:creationId xmlns:a16="http://schemas.microsoft.com/office/drawing/2014/main" id="{608A3823-5E5E-44A0-BB3A-75FD4C3E71BC}"/>
              </a:ext>
            </a:extLst>
          </p:cNvPr>
          <p:cNvPicPr>
            <a:picLocks noChangeAspect="1"/>
          </p:cNvPicPr>
          <p:nvPr/>
        </p:nvPicPr>
        <p:blipFill rotWithShape="1">
          <a:blip r:embed="rId2">
            <a:extLst>
              <a:ext uri="{28A0092B-C50C-407E-A947-70E740481C1C}">
                <a14:useLocalDpi xmlns:a14="http://schemas.microsoft.com/office/drawing/2010/main" val="0"/>
              </a:ext>
            </a:extLst>
          </a:blip>
          <a:srcRect l="31818" t="19520" r="26364" b="50000"/>
          <a:stretch/>
        </p:blipFill>
        <p:spPr>
          <a:xfrm>
            <a:off x="349134" y="2975957"/>
            <a:ext cx="9102490" cy="3657599"/>
          </a:xfrm>
          <a:prstGeom prst="rect">
            <a:avLst/>
          </a:prstGeom>
        </p:spPr>
      </p:pic>
    </p:spTree>
    <p:extLst>
      <p:ext uri="{BB962C8B-B14F-4D97-AF65-F5344CB8AC3E}">
        <p14:creationId xmlns:p14="http://schemas.microsoft.com/office/powerpoint/2010/main" val="36440591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Chèn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Foxit Reader">
            <a:extLst>
              <a:ext uri="{FF2B5EF4-FFF2-40B4-BE49-F238E27FC236}">
                <a16:creationId xmlns:a16="http://schemas.microsoft.com/office/drawing/2014/main" id="{B33A369D-C42C-42A3-996F-E845A7D27F64}"/>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718" t="16960" r="22438" b="25025"/>
          <a:stretch/>
        </p:blipFill>
        <p:spPr>
          <a:xfrm>
            <a:off x="22259" y="1180407"/>
            <a:ext cx="8722730" cy="5469775"/>
          </a:xfrm>
        </p:spPr>
      </p:pic>
    </p:spTree>
    <p:extLst>
      <p:ext uri="{BB962C8B-B14F-4D97-AF65-F5344CB8AC3E}">
        <p14:creationId xmlns:p14="http://schemas.microsoft.com/office/powerpoint/2010/main" val="28353999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Hiển Thị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rmAutofit/>
          </a:bodyPr>
          <a:lstStyle/>
          <a:p>
            <a:pPr algn="just"/>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Times New Roman" panose="02020603050405020304" pitchFamily="18" charset="0"/>
                <a:cs typeface="Times New Roman" panose="02020603050405020304" pitchFamily="18" charset="0"/>
              </a:rPr>
              <a:t> </a:t>
            </a:r>
            <a:r>
              <a:rPr lang="vi-VN" sz="3200" dirty="0">
                <a:latin typeface="+mj-lt"/>
              </a:rPr>
              <a:t>này, chúng ta sẽ học cách tìm nạp các hàng từ một bảng cơ sở dữ liệu nhất định và hiển thị chúng ở định dạng bảng thông qua tiện ích Table. Chúng t</a:t>
            </a:r>
            <a:r>
              <a:rPr lang="en-US" sz="3200" dirty="0">
                <a:latin typeface="Times New Roman" panose="02020603050405020304" pitchFamily="18" charset="0"/>
                <a:cs typeface="Times New Roman" panose="02020603050405020304" pitchFamily="18" charset="0"/>
              </a:rPr>
              <a:t>a</a:t>
            </a:r>
            <a:r>
              <a:rPr lang="vi-VN" sz="3200" dirty="0">
                <a:latin typeface="+mj-lt"/>
              </a:rPr>
              <a:t> giả sử một bảng có tên Users bao gồm hai cột, EmailAddress và Password, đã tồn tại trong cơ sở dữ liệu có tên là ECommerce. Ngoài ra, chúng t</a:t>
            </a:r>
            <a:r>
              <a:rPr lang="en-US" sz="3200" dirty="0">
                <a:latin typeface="Times New Roman" panose="02020603050405020304" pitchFamily="18" charset="0"/>
                <a:cs typeface="Times New Roman" panose="02020603050405020304" pitchFamily="18" charset="0"/>
              </a:rPr>
              <a:t>a</a:t>
            </a:r>
            <a:r>
              <a:rPr lang="vi-VN" sz="3200" dirty="0">
                <a:latin typeface="+mj-lt"/>
              </a:rPr>
              <a:t> giả định rằng bảng Users chứa một số hàng trong đó.</a:t>
            </a:r>
            <a:endParaRPr lang="en-US" sz="3200" dirty="0">
              <a:latin typeface="+mj-lt"/>
            </a:endParaRPr>
          </a:p>
          <a:p>
            <a:pPr algn="just"/>
            <a:r>
              <a:rPr lang="vi-VN" sz="3200" dirty="0">
                <a:latin typeface="+mj-lt"/>
              </a:rPr>
              <a:t>Thực hiện theo quy trình từng bước này để truy cập các hàng từ bảng cơ sở dữ liệu trong SQLite:</a:t>
            </a:r>
            <a:endParaRPr lang="en-US" sz="3200" dirty="0">
              <a:latin typeface="+mj-lt"/>
            </a:endParaRPr>
          </a:p>
        </p:txBody>
      </p:sp>
    </p:spTree>
    <p:extLst>
      <p:ext uri="{BB962C8B-B14F-4D97-AF65-F5344CB8AC3E}">
        <p14:creationId xmlns:p14="http://schemas.microsoft.com/office/powerpoint/2010/main" val="13058067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Hiển Thị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514350" indent="-514350" algn="just">
              <a:buAutoNum type="arabicPeriod"/>
            </a:pPr>
            <a:r>
              <a:rPr lang="vi-VN" sz="3200" dirty="0">
                <a:latin typeface="+mj-lt"/>
              </a:rPr>
              <a:t>Hãy tạo một ứng dụng dựa trên mẫu Dialog without Buttons.</a:t>
            </a:r>
            <a:endParaRPr lang="en-US" sz="3200" dirty="0">
              <a:latin typeface="+mj-lt"/>
            </a:endParaRPr>
          </a:p>
          <a:p>
            <a:pPr marL="514350" indent="-514350" algn="just">
              <a:buAutoNum type="arabicPeriod"/>
            </a:pPr>
            <a:r>
              <a:rPr lang="vi-VN" sz="3200" dirty="0">
                <a:latin typeface="+mj-lt"/>
              </a:rPr>
              <a:t>Thêm ba tiện ích QLabel, hai tiện ích QLineEdit, một tiện ích QPushButton và một tiện ích QTableWidget vào form bằng cách kéo và thả ba tiện ích Label, hai tiện ích Line</a:t>
            </a:r>
            <a:r>
              <a:rPr lang="en-US" sz="3200" dirty="0"/>
              <a:t> </a:t>
            </a:r>
            <a:r>
              <a:rPr lang="vi-VN" sz="3200" dirty="0">
                <a:latin typeface="+mj-lt"/>
              </a:rPr>
              <a:t>Edit, một tiện ích PushButtonvà tiện ích Table</a:t>
            </a:r>
            <a:r>
              <a:rPr lang="en-US" sz="3200" dirty="0">
                <a:latin typeface="+mj-lt"/>
              </a:rPr>
              <a:t> </a:t>
            </a:r>
            <a:r>
              <a:rPr lang="vi-VN" sz="3200" dirty="0">
                <a:latin typeface="+mj-lt"/>
              </a:rPr>
              <a:t>trên form..</a:t>
            </a:r>
            <a:br>
              <a:rPr lang="vi-VN" sz="3200" dirty="0">
                <a:latin typeface="+mj-lt"/>
              </a:rPr>
            </a:br>
            <a:r>
              <a:rPr lang="vi-VN" sz="3200" dirty="0">
                <a:latin typeface="+mj-lt"/>
              </a:rPr>
              <a:t>3. Đặt thuộc tính text của hai tiện ích Label thành </a:t>
            </a:r>
            <a:r>
              <a:rPr lang="vi-VN" sz="3200" i="1" dirty="0">
                <a:latin typeface="+mj-lt"/>
              </a:rPr>
              <a:t>Enter database name</a:t>
            </a:r>
            <a:r>
              <a:rPr lang="en-US" sz="3200" i="1" dirty="0">
                <a:latin typeface="+mj-lt"/>
              </a:rPr>
              <a:t> </a:t>
            </a:r>
            <a:r>
              <a:rPr lang="vi-VN" sz="3200" dirty="0">
                <a:latin typeface="+mj-lt"/>
              </a:rPr>
              <a:t>và </a:t>
            </a:r>
            <a:r>
              <a:rPr lang="vi-VN" sz="3200" i="1" dirty="0">
                <a:latin typeface="+mj-lt"/>
              </a:rPr>
              <a:t>Enter table name</a:t>
            </a:r>
            <a:r>
              <a:rPr lang="vi-VN" sz="3200" dirty="0">
                <a:latin typeface="+mj-lt"/>
              </a:rPr>
              <a:t>.</a:t>
            </a:r>
            <a:br>
              <a:rPr lang="vi-VN" sz="3200" dirty="0">
                <a:latin typeface="+mj-lt"/>
              </a:rPr>
            </a:br>
            <a:r>
              <a:rPr lang="vi-VN" sz="3200" dirty="0">
                <a:latin typeface="+mj-lt"/>
              </a:rPr>
              <a:t>4. Xóa thuộc tính text</a:t>
            </a:r>
            <a:r>
              <a:rPr lang="vi-VN" sz="3200" dirty="0"/>
              <a:t> </a:t>
            </a:r>
            <a:r>
              <a:rPr lang="vi-VN" sz="3200" dirty="0">
                <a:latin typeface="+mj-lt"/>
              </a:rPr>
              <a:t>của tiện ích Label thứ ba vì thuộc tính văn bản của nó sẽ được đặt thông qua </a:t>
            </a:r>
            <a:r>
              <a:rPr lang="en-US" sz="3200" dirty="0">
                <a:latin typeface="Times New Roman" panose="02020603050405020304" pitchFamily="18" charset="0"/>
                <a:cs typeface="Times New Roman" panose="02020603050405020304" pitchFamily="18" charset="0"/>
              </a:rPr>
              <a:t>code</a:t>
            </a:r>
            <a:r>
              <a:rPr lang="vi-VN" sz="3200" dirty="0">
                <a:latin typeface="+mj-lt"/>
              </a:rPr>
              <a:t>.</a:t>
            </a:r>
            <a:endParaRPr lang="en-US" sz="3200" dirty="0">
              <a:latin typeface="+mj-lt"/>
            </a:endParaRPr>
          </a:p>
        </p:txBody>
      </p:sp>
    </p:spTree>
    <p:extLst>
      <p:ext uri="{BB962C8B-B14F-4D97-AF65-F5344CB8AC3E}">
        <p14:creationId xmlns:p14="http://schemas.microsoft.com/office/powerpoint/2010/main" val="38180620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Hiển Thị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0" indent="0" algn="just">
              <a:buNone/>
            </a:pPr>
            <a:r>
              <a:rPr lang="vi-VN" sz="3200" dirty="0">
                <a:latin typeface="+mj-lt"/>
              </a:rPr>
              <a:t>5. Đặt thuộc tính text của nút ấn thành </a:t>
            </a:r>
            <a:r>
              <a:rPr lang="vi-VN" sz="3200" i="1" dirty="0">
                <a:latin typeface="+mj-lt"/>
              </a:rPr>
              <a:t>Display Rows</a:t>
            </a:r>
            <a:r>
              <a:rPr lang="vi-VN" sz="3200" dirty="0">
                <a:latin typeface="+mj-lt"/>
              </a:rPr>
              <a:t>.</a:t>
            </a:r>
            <a:br>
              <a:rPr lang="vi-VN" sz="3200" dirty="0">
                <a:latin typeface="+mj-lt"/>
              </a:rPr>
            </a:br>
            <a:r>
              <a:rPr lang="vi-VN" sz="3200" dirty="0">
                <a:latin typeface="+mj-lt"/>
              </a:rPr>
              <a:t>6. Đặt thuộc tính objectName của hai widget Chỉnh sửa Line Edit thành lineEditDBName và lineEditTableName.</a:t>
            </a:r>
            <a:endParaRPr lang="en-US" sz="3200" dirty="0">
              <a:latin typeface="+mj-lt"/>
            </a:endParaRPr>
          </a:p>
          <a:p>
            <a:pPr marL="0" indent="0" algn="just">
              <a:buNone/>
            </a:pPr>
            <a:r>
              <a:rPr lang="vi-VN" sz="3200" dirty="0">
                <a:latin typeface="+mj-lt"/>
              </a:rPr>
              <a:t>7. Đặt thuộc tính objectName của tiện ích Push Button thành PushButtonDisplayRows.</a:t>
            </a:r>
            <a:endParaRPr lang="en-US" sz="3200" dirty="0">
              <a:latin typeface="+mj-lt"/>
            </a:endParaRPr>
          </a:p>
          <a:p>
            <a:pPr marL="0" indent="0" algn="just">
              <a:buNone/>
            </a:pPr>
            <a:r>
              <a:rPr lang="vi-VN" sz="3200" dirty="0">
                <a:latin typeface="+mj-lt"/>
              </a:rPr>
              <a:t>8. Đặt thuộc tính objectName của tiện ích Label thứ ba thành labelResponse.</a:t>
            </a:r>
            <a:endParaRPr lang="en-US" sz="3200" dirty="0">
              <a:latin typeface="+mj-lt"/>
            </a:endParaRPr>
          </a:p>
          <a:p>
            <a:pPr marL="0" indent="0" algn="just">
              <a:buNone/>
            </a:pPr>
            <a:r>
              <a:rPr lang="vi-VN" sz="3200" dirty="0">
                <a:latin typeface="+mj-lt"/>
              </a:rPr>
              <a:t>9. Lưu ứng dụng theo tên dưới dạng demoDisplayRowsOfTable.ui. </a:t>
            </a:r>
            <a:r>
              <a:rPr lang="en-US" sz="3200" dirty="0">
                <a:latin typeface="Times New Roman" panose="02020603050405020304" pitchFamily="18" charset="0"/>
                <a:cs typeface="Times New Roman" panose="02020603050405020304" pitchFamily="18" charset="0"/>
              </a:rPr>
              <a:t>Form</a:t>
            </a:r>
            <a:r>
              <a:rPr lang="en-US" sz="3200" dirty="0">
                <a:latin typeface="+mj-lt"/>
              </a:rPr>
              <a:t> </a:t>
            </a:r>
            <a:r>
              <a:rPr lang="vi-VN" sz="3200" dirty="0">
                <a:latin typeface="+mj-lt"/>
              </a:rPr>
              <a:t>sẽ xuất hiện như hình sau:</a:t>
            </a:r>
            <a:endParaRPr lang="en-US" sz="3200" dirty="0">
              <a:latin typeface="+mj-lt"/>
            </a:endParaRPr>
          </a:p>
        </p:txBody>
      </p:sp>
    </p:spTree>
    <p:extLst>
      <p:ext uri="{BB962C8B-B14F-4D97-AF65-F5344CB8AC3E}">
        <p14:creationId xmlns:p14="http://schemas.microsoft.com/office/powerpoint/2010/main" val="38936064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Hiển Thị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Foxit Reader">
            <a:extLst>
              <a:ext uri="{FF2B5EF4-FFF2-40B4-BE49-F238E27FC236}">
                <a16:creationId xmlns:a16="http://schemas.microsoft.com/office/drawing/2014/main" id="{59FEE796-7D50-4BA5-B2B1-F196422AA702}"/>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110" t="21076" r="29622" b="11354"/>
          <a:stretch/>
        </p:blipFill>
        <p:spPr>
          <a:xfrm>
            <a:off x="2396836" y="1149928"/>
            <a:ext cx="3574473" cy="3311236"/>
          </a:xfrm>
        </p:spPr>
      </p:pic>
      <p:sp>
        <p:nvSpPr>
          <p:cNvPr id="6" name="Rectangle 5">
            <a:extLst>
              <a:ext uri="{FF2B5EF4-FFF2-40B4-BE49-F238E27FC236}">
                <a16:creationId xmlns:a16="http://schemas.microsoft.com/office/drawing/2014/main" id="{E91E139C-4802-45D4-8C6E-EC478B78B539}"/>
              </a:ext>
            </a:extLst>
          </p:cNvPr>
          <p:cNvSpPr/>
          <p:nvPr/>
        </p:nvSpPr>
        <p:spPr>
          <a:xfrm>
            <a:off x="415636" y="4461164"/>
            <a:ext cx="8575964" cy="2554545"/>
          </a:xfrm>
          <a:prstGeom prst="rect">
            <a:avLst/>
          </a:prstGeom>
        </p:spPr>
        <p:txBody>
          <a:bodyPr wrap="square">
            <a:spAutoFit/>
          </a:bodyPr>
          <a:lstStyle/>
          <a:p>
            <a:pPr algn="just"/>
            <a:r>
              <a:rPr lang="vi-VN" sz="3200" dirty="0">
                <a:latin typeface="+mj-lt"/>
              </a:rPr>
              <a:t>Bảng Người dùng có các hàng sẽ được hiển thị thông qua tiện ích </a:t>
            </a:r>
            <a:r>
              <a:rPr lang="vi-VN" sz="3200" b="1" dirty="0">
                <a:latin typeface="+mj-lt"/>
              </a:rPr>
              <a:t>Table</a:t>
            </a:r>
            <a:r>
              <a:rPr lang="vi-VN" sz="3200" dirty="0">
                <a:latin typeface="+mj-lt"/>
              </a:rPr>
              <a:t>  bao gồm hai cột.</a:t>
            </a:r>
            <a:br>
              <a:rPr lang="vi-VN" sz="3200" dirty="0">
                <a:latin typeface="+mj-lt"/>
              </a:rPr>
            </a:br>
            <a:r>
              <a:rPr lang="vi-VN" sz="3200" dirty="0">
                <a:latin typeface="+mj-lt"/>
              </a:rPr>
              <a:t>10. Chọn tiện ích </a:t>
            </a:r>
            <a:r>
              <a:rPr lang="vi-VN" sz="3200" b="1" dirty="0">
                <a:latin typeface="+mj-lt"/>
              </a:rPr>
              <a:t>Table</a:t>
            </a:r>
            <a:r>
              <a:rPr lang="vi-VN" sz="3200" dirty="0">
                <a:latin typeface="+mj-lt"/>
              </a:rPr>
              <a:t>  và chọn thuộc tính </a:t>
            </a:r>
            <a:r>
              <a:rPr lang="vi-VN" sz="3200" b="1" dirty="0">
                <a:latin typeface="+mj-lt"/>
              </a:rPr>
              <a:t>columnCount</a:t>
            </a:r>
            <a:r>
              <a:rPr lang="vi-VN" sz="3200" dirty="0">
                <a:latin typeface="+mj-lt"/>
              </a:rPr>
              <a:t> của nó trong cửa sổ </a:t>
            </a:r>
            <a:r>
              <a:rPr lang="vi-VN" sz="3200" b="1" dirty="0">
                <a:latin typeface="+mj-lt"/>
              </a:rPr>
              <a:t>Property Editor</a:t>
            </a:r>
            <a:endParaRPr lang="en-US" sz="3200" b="1" dirty="0">
              <a:latin typeface="+mj-lt"/>
            </a:endParaRPr>
          </a:p>
        </p:txBody>
      </p:sp>
    </p:spTree>
    <p:extLst>
      <p:ext uri="{BB962C8B-B14F-4D97-AF65-F5344CB8AC3E}">
        <p14:creationId xmlns:p14="http://schemas.microsoft.com/office/powerpoint/2010/main" val="1143988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Hiển Thị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0" indent="0" algn="just">
              <a:buNone/>
            </a:pPr>
            <a:r>
              <a:rPr lang="vi-VN" sz="3200" dirty="0">
                <a:latin typeface="+mj-lt"/>
              </a:rPr>
              <a:t>11. Đặt thuộc tính columnCount  thành 2 và thuộc tính rowCount thành 3, như trong hình sau:</a:t>
            </a:r>
            <a:endParaRPr lang="en-US" sz="3200" dirty="0">
              <a:latin typeface="+mj-lt"/>
            </a:endParaRPr>
          </a:p>
        </p:txBody>
      </p:sp>
      <p:pic>
        <p:nvPicPr>
          <p:cNvPr id="5" name="Picture 4" descr="sách Qt5-Python-GUI-Programming-Cookbook.pdf - Foxit Reader">
            <a:extLst>
              <a:ext uri="{FF2B5EF4-FFF2-40B4-BE49-F238E27FC236}">
                <a16:creationId xmlns:a16="http://schemas.microsoft.com/office/drawing/2014/main" id="{7BF1EE06-4A4C-4968-A738-DDC2B8AB5E2F}"/>
              </a:ext>
            </a:extLst>
          </p:cNvPr>
          <p:cNvPicPr>
            <a:picLocks noChangeAspect="1"/>
          </p:cNvPicPr>
          <p:nvPr/>
        </p:nvPicPr>
        <p:blipFill rotWithShape="1">
          <a:blip r:embed="rId2">
            <a:extLst>
              <a:ext uri="{28A0092B-C50C-407E-A947-70E740481C1C}">
                <a14:useLocalDpi xmlns:a14="http://schemas.microsoft.com/office/drawing/2010/main" val="0"/>
              </a:ext>
            </a:extLst>
          </a:blip>
          <a:srcRect l="35000" t="12146" r="32576" b="10738"/>
          <a:stretch/>
        </p:blipFill>
        <p:spPr>
          <a:xfrm>
            <a:off x="2299856" y="2189018"/>
            <a:ext cx="3865418" cy="4100946"/>
          </a:xfrm>
          <a:prstGeom prst="rect">
            <a:avLst/>
          </a:prstGeom>
        </p:spPr>
      </p:pic>
    </p:spTree>
    <p:extLst>
      <p:ext uri="{BB962C8B-B14F-4D97-AF65-F5344CB8AC3E}">
        <p14:creationId xmlns:p14="http://schemas.microsoft.com/office/powerpoint/2010/main" val="30642617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Hiển Thị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0" indent="0" algn="just">
              <a:buNone/>
            </a:pPr>
            <a:r>
              <a:rPr lang="vi-VN" sz="3200" dirty="0">
                <a:latin typeface="+mj-lt"/>
              </a:rPr>
              <a:t>Giao diện người dùng được tạo bằng Qt Designer được lưu trữ trong file .ui, đây là file XML và cần được chuyển đổi thành code Python. Bằng cách áp dụng tiện ích pyuic5, file XML sẽ được chuyển đổi thành code Python.</a:t>
            </a:r>
            <a:endParaRPr lang="en-US" sz="3200" dirty="0">
              <a:latin typeface="+mj-lt"/>
            </a:endParaRPr>
          </a:p>
          <a:p>
            <a:pPr marL="0" indent="0" algn="just">
              <a:buNone/>
            </a:pPr>
            <a:r>
              <a:rPr lang="vi-VN" sz="3200" dirty="0">
                <a:latin typeface="+mj-lt"/>
              </a:rPr>
              <a:t>12. Hãy coi tập lệnh demoInsertRowsInTable.py như một file tiêu đề và nhập nó vào file mà bạn sẽ gọi thiết kế giao diện người dùng của nó.</a:t>
            </a:r>
            <a:endParaRPr lang="en-US" sz="3200" dirty="0">
              <a:latin typeface="+mj-lt"/>
            </a:endParaRPr>
          </a:p>
          <a:p>
            <a:pPr marL="0" indent="0" algn="just">
              <a:buNone/>
            </a:pPr>
            <a:r>
              <a:rPr lang="en-US" sz="3200" dirty="0">
                <a:latin typeface="Times New Roman" panose="02020603050405020304" pitchFamily="18" charset="0"/>
                <a:cs typeface="Times New Roman" panose="02020603050405020304" pitchFamily="18" charset="0"/>
              </a:rPr>
              <a:t>13.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vi-VN" sz="3200" dirty="0">
                <a:latin typeface="Times New Roman" panose="02020603050405020304" pitchFamily="18" charset="0"/>
                <a:cs typeface="Times New Roman" panose="02020603050405020304" pitchFamily="18" charset="0"/>
              </a:rPr>
              <a:t>file</a:t>
            </a:r>
            <a:r>
              <a:rPr lang="en-US" sz="3200" dirty="0">
                <a:latin typeface="Times New Roman" panose="02020603050405020304" pitchFamily="18" charset="0"/>
                <a:cs typeface="Times New Roman" panose="02020603050405020304" pitchFamily="18" charset="0"/>
              </a:rPr>
              <a:t> Python </a:t>
            </a:r>
            <a:r>
              <a:rPr lang="en-US" sz="3200" dirty="0" err="1">
                <a:latin typeface="Times New Roman" panose="02020603050405020304" pitchFamily="18" charset="0"/>
                <a:cs typeface="Times New Roman" panose="02020603050405020304" pitchFamily="18" charset="0"/>
              </a:rPr>
              <a:t>khác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có</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callDisplayRows.pyw</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nhập</a:t>
            </a:r>
            <a:r>
              <a:rPr lang="en-US" sz="3200" dirty="0">
                <a:latin typeface="Times New Roman" panose="02020603050405020304" pitchFamily="18" charset="0"/>
                <a:cs typeface="Times New Roman" panose="02020603050405020304" pitchFamily="18" charset="0"/>
              </a:rPr>
              <a:t> </a:t>
            </a:r>
            <a:r>
              <a:rPr lang="vi-VN" sz="3200" dirty="0">
                <a:latin typeface="+mj-lt"/>
              </a:rPr>
              <a:t>code</a:t>
            </a:r>
            <a:r>
              <a:rPr lang="en-US" sz="3200" dirty="0">
                <a:latin typeface="Times New Roman" panose="02020603050405020304" pitchFamily="18" charset="0"/>
                <a:cs typeface="Times New Roman" panose="02020603050405020304" pitchFamily="18" charset="0"/>
              </a:rPr>
              <a:t> demoDisplayRowsOfTable.py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đó</a:t>
            </a:r>
            <a:r>
              <a:rPr lang="en-US" sz="32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200071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Hiển Thị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Foxit Reader">
            <a:extLst>
              <a:ext uri="{FF2B5EF4-FFF2-40B4-BE49-F238E27FC236}">
                <a16:creationId xmlns:a16="http://schemas.microsoft.com/office/drawing/2014/main" id="{91FC52CA-9D49-458C-ADB5-DF6A5AD49FF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1718" t="15986" r="21251" b="20401"/>
          <a:stretch/>
        </p:blipFill>
        <p:spPr>
          <a:xfrm>
            <a:off x="387928" y="1191491"/>
            <a:ext cx="8562107" cy="5486400"/>
          </a:xfrm>
        </p:spPr>
      </p:pic>
    </p:spTree>
    <p:extLst>
      <p:ext uri="{BB962C8B-B14F-4D97-AF65-F5344CB8AC3E}">
        <p14:creationId xmlns:p14="http://schemas.microsoft.com/office/powerpoint/2010/main" val="2521976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Hiển Thị Các Hàng Trong Bảng Cơ Sở Dữ Liệu Đã Chỉ Định</a:t>
            </a:r>
            <a:endParaRPr lang="en-US" dirty="0">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Foxit Reader">
            <a:extLst>
              <a:ext uri="{FF2B5EF4-FFF2-40B4-BE49-F238E27FC236}">
                <a16:creationId xmlns:a16="http://schemas.microsoft.com/office/drawing/2014/main" id="{AF79EB14-7357-498E-A614-2D3772A5C9C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0957" t="23338" r="22621" b="27469"/>
          <a:stretch/>
        </p:blipFill>
        <p:spPr>
          <a:xfrm>
            <a:off x="22258" y="1205345"/>
            <a:ext cx="8969341" cy="5389419"/>
          </a:xfrm>
        </p:spPr>
      </p:pic>
    </p:spTree>
    <p:extLst>
      <p:ext uri="{BB962C8B-B14F-4D97-AF65-F5344CB8AC3E}">
        <p14:creationId xmlns:p14="http://schemas.microsoft.com/office/powerpoint/2010/main" val="21466416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Điều Hướng Qua Các Hàng Của Bảng Cơ Sở Dữ Liệu Đã Chỉ Định</a:t>
            </a:r>
            <a:endParaRPr lang="en-US" dirty="0"/>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0" indent="0" algn="just">
              <a:buNone/>
            </a:pPr>
            <a:r>
              <a:rPr lang="vi-VN" sz="3200" dirty="0">
                <a:latin typeface="+mj-lt"/>
              </a:rPr>
              <a:t>Chúng ta sẽ học cách tìm nạp các hàng từ một bảng cơ sở dữ liệu nhất định cùng một lúc. Đó là, khi chạy ứng dụng, hàng đầu tiên của bảng cơ sở dữ liệu sẽ được hiển thị. Bạn sẽ được cung cấp bốn nút ấn trong ứng dụng, được gọi </a:t>
            </a:r>
            <a:r>
              <a:rPr lang="en-US" sz="3200" b="1" dirty="0">
                <a:latin typeface="Times New Roman" panose="02020603050405020304" pitchFamily="18" charset="0"/>
                <a:cs typeface="Times New Roman" panose="02020603050405020304" pitchFamily="18" charset="0"/>
              </a:rPr>
              <a:t>Next, </a:t>
            </a:r>
            <a:r>
              <a:rPr lang="en-US" sz="3200" b="1" dirty="0" err="1">
                <a:latin typeface="Times New Roman" panose="02020603050405020304" pitchFamily="18" charset="0"/>
                <a:cs typeface="Times New Roman" panose="02020603050405020304" pitchFamily="18" charset="0"/>
              </a:rPr>
              <a:t>Previous,First</a:t>
            </a:r>
            <a:r>
              <a:rPr lang="en-US" sz="3200" b="1" dirty="0">
                <a:latin typeface="Times New Roman" panose="02020603050405020304" pitchFamily="18" charset="0"/>
                <a:cs typeface="Times New Roman" panose="02020603050405020304" pitchFamily="18" charset="0"/>
              </a:rPr>
              <a:t>, </a:t>
            </a:r>
            <a:r>
              <a:rPr lang="vi-VN" sz="3200" b="1" dirty="0">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Last</a:t>
            </a:r>
            <a:r>
              <a:rPr lang="vi-VN" sz="3200" dirty="0">
                <a:latin typeface="+mj-lt"/>
              </a:rPr>
              <a:t>. Như tên cho thấy, khi nhấp vào nút </a:t>
            </a:r>
            <a:r>
              <a:rPr lang="en-US" sz="3200" b="1" dirty="0">
                <a:latin typeface="Times New Roman" panose="02020603050405020304" pitchFamily="18" charset="0"/>
                <a:cs typeface="Times New Roman" panose="02020603050405020304" pitchFamily="18" charset="0"/>
              </a:rPr>
              <a:t>Next</a:t>
            </a:r>
            <a:r>
              <a:rPr lang="vi-VN" sz="3200" dirty="0">
                <a:latin typeface="+mj-lt"/>
              </a:rPr>
              <a:t>, hàng tiếp theo trong chuỗi sẽ được hiển thị. Tương tự, khi nhấp vào nút </a:t>
            </a:r>
            <a:r>
              <a:rPr lang="en-US" sz="3200" b="1" dirty="0">
                <a:latin typeface="Times New Roman" panose="02020603050405020304" pitchFamily="18" charset="0"/>
                <a:cs typeface="Times New Roman" panose="02020603050405020304" pitchFamily="18" charset="0"/>
              </a:rPr>
              <a:t>Previous</a:t>
            </a:r>
            <a:r>
              <a:rPr lang="vi-VN" sz="3200" dirty="0">
                <a:latin typeface="+mj-lt"/>
              </a:rPr>
              <a:t>, hàng trước đó trong chuỗi sẽ được hiển thị. Khi nhấp vào nút </a:t>
            </a:r>
            <a:r>
              <a:rPr lang="en-US" sz="3200" b="1" dirty="0">
                <a:latin typeface="Times New Roman" panose="02020603050405020304" pitchFamily="18" charset="0"/>
                <a:cs typeface="Times New Roman" panose="02020603050405020304" pitchFamily="18" charset="0"/>
              </a:rPr>
              <a:t>Last</a:t>
            </a:r>
            <a:r>
              <a:rPr lang="vi-VN" sz="3200" dirty="0">
                <a:latin typeface="+mj-lt"/>
              </a:rPr>
              <a:t>, hàng cuối cùng của bảng cơ sở dữ liệu sẽ được hiển thị và khi nhấp vào nút </a:t>
            </a:r>
            <a:r>
              <a:rPr lang="en-US" sz="3200" b="1" dirty="0">
                <a:latin typeface="Times New Roman" panose="02020603050405020304" pitchFamily="18" charset="0"/>
                <a:cs typeface="Times New Roman" panose="02020603050405020304" pitchFamily="18" charset="0"/>
              </a:rPr>
              <a:t>First</a:t>
            </a:r>
            <a:r>
              <a:rPr lang="vi-VN" sz="3200" dirty="0">
                <a:latin typeface="+mj-lt"/>
              </a:rPr>
              <a:t>, hàng đầu tiên của bảng cơ sở dữ liệu sẽ được hiển thị.</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580597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Điều Hướng Qua Các Hàng Của Bảng Cơ Sở Dữ Liệu Đã Chỉ Định</a:t>
            </a:r>
            <a:endParaRPr lang="en-US" dirty="0"/>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0" indent="0" algn="just">
              <a:buNone/>
            </a:pPr>
            <a:r>
              <a:rPr lang="vi-VN" sz="3200" dirty="0">
                <a:latin typeface="+mj-lt"/>
              </a:rPr>
              <a:t>Dưới đây là các bước để hiểu cách các hàng từ bảng cơ sở dữ liệu được truy cập và hiển thị từng cái một:</a:t>
            </a:r>
            <a:br>
              <a:rPr lang="vi-VN" sz="3200" dirty="0">
                <a:latin typeface="+mj-lt"/>
              </a:rPr>
            </a:br>
            <a:r>
              <a:rPr lang="vi-VN" sz="3200" dirty="0">
                <a:latin typeface="+mj-lt"/>
              </a:rPr>
              <a:t>1. Hãy tạo một ứng dụng dựa trên mẫu Dialog without Buttons.</a:t>
            </a:r>
            <a:endParaRPr lang="en-US" sz="3200" dirty="0">
              <a:latin typeface="+mj-lt"/>
            </a:endParaRPr>
          </a:p>
          <a:p>
            <a:pPr marL="0" indent="0" algn="just">
              <a:buNone/>
            </a:pPr>
            <a:r>
              <a:rPr lang="vi-VN" sz="3200" dirty="0">
                <a:latin typeface="+mj-lt"/>
              </a:rPr>
              <a:t>2. Thêm ba tiện ích </a:t>
            </a:r>
            <a:r>
              <a:rPr lang="vi-VN" sz="3200" b="1" dirty="0">
                <a:latin typeface="+mj-lt"/>
              </a:rPr>
              <a:t>QLabel</a:t>
            </a:r>
            <a:r>
              <a:rPr lang="vi-VN" sz="3200" dirty="0">
                <a:latin typeface="+mj-lt"/>
              </a:rPr>
              <a:t>, hai tiện ích </a:t>
            </a:r>
            <a:r>
              <a:rPr lang="vi-VN" sz="3200" b="1" dirty="0">
                <a:latin typeface="+mj-lt"/>
              </a:rPr>
              <a:t>QLineEdit</a:t>
            </a:r>
            <a:r>
              <a:rPr lang="vi-VN" sz="3200" dirty="0">
                <a:latin typeface="+mj-lt"/>
              </a:rPr>
              <a:t> và bốn tiện ích </a:t>
            </a:r>
            <a:r>
              <a:rPr lang="vi-VN" sz="3200" b="1" dirty="0">
                <a:latin typeface="+mj-lt"/>
              </a:rPr>
              <a:t>QPushButton</a:t>
            </a:r>
            <a:r>
              <a:rPr lang="vi-VN" sz="3200" dirty="0">
                <a:latin typeface="+mj-lt"/>
              </a:rPr>
              <a:t> vào form bằng cách kéo và thả ba tiện ích </a:t>
            </a:r>
            <a:r>
              <a:rPr lang="vi-VN" sz="3200" b="1" dirty="0">
                <a:latin typeface="+mj-lt"/>
              </a:rPr>
              <a:t>Label</a:t>
            </a:r>
            <a:r>
              <a:rPr lang="vi-VN" sz="3200" dirty="0">
                <a:latin typeface="+mj-lt"/>
              </a:rPr>
              <a:t> , hai tiện ích </a:t>
            </a:r>
            <a:r>
              <a:rPr lang="vi-VN" sz="3200" b="1" dirty="0">
                <a:latin typeface="+mj-lt"/>
              </a:rPr>
              <a:t>Line</a:t>
            </a:r>
            <a:r>
              <a:rPr lang="vi-VN" sz="3200" dirty="0">
                <a:latin typeface="+mj-lt"/>
              </a:rPr>
              <a:t> </a:t>
            </a:r>
            <a:r>
              <a:rPr lang="vi-VN" sz="3200" b="1" dirty="0">
                <a:latin typeface="+mj-lt"/>
              </a:rPr>
              <a:t>Edit</a:t>
            </a:r>
            <a:r>
              <a:rPr lang="vi-VN" sz="3200" dirty="0">
                <a:latin typeface="+mj-lt"/>
              </a:rPr>
              <a:t> và bốn tiện ích </a:t>
            </a:r>
            <a:r>
              <a:rPr lang="vi-VN" sz="3200" b="1" dirty="0">
                <a:latin typeface="+mj-lt"/>
              </a:rPr>
              <a:t>Push</a:t>
            </a:r>
            <a:r>
              <a:rPr lang="vi-VN" sz="3200" dirty="0">
                <a:latin typeface="+mj-lt"/>
              </a:rPr>
              <a:t> </a:t>
            </a:r>
            <a:r>
              <a:rPr lang="vi-VN" sz="3200" b="1" dirty="0">
                <a:latin typeface="+mj-lt"/>
              </a:rPr>
              <a:t>Button</a:t>
            </a:r>
            <a:r>
              <a:rPr lang="vi-VN" sz="3200" dirty="0">
                <a:latin typeface="+mj-lt"/>
              </a:rPr>
              <a:t> trên form.</a:t>
            </a:r>
            <a:endParaRPr lang="en-US" sz="3200" dirty="0">
              <a:latin typeface="+mj-lt"/>
            </a:endParaRPr>
          </a:p>
          <a:p>
            <a:pPr marL="0" indent="0" algn="just">
              <a:buNone/>
            </a:pPr>
            <a:r>
              <a:rPr lang="vi-VN" sz="3200" dirty="0">
                <a:latin typeface="+mj-lt"/>
              </a:rPr>
              <a:t>3. Đặt thuộc tính text của hai tiện ích </a:t>
            </a:r>
            <a:r>
              <a:rPr lang="vi-VN" sz="3200" b="1" dirty="0">
                <a:latin typeface="+mj-lt"/>
              </a:rPr>
              <a:t>Label</a:t>
            </a:r>
            <a:r>
              <a:rPr lang="vi-VN" sz="3200" dirty="0">
                <a:latin typeface="+mj-lt"/>
              </a:rPr>
              <a:t> thành </a:t>
            </a:r>
            <a:r>
              <a:rPr lang="vi-VN" sz="3200" i="1" dirty="0">
                <a:latin typeface="+mj-lt"/>
              </a:rPr>
              <a:t>Email Address và Password</a:t>
            </a:r>
            <a:r>
              <a:rPr lang="vi-VN" sz="3200" dirty="0">
                <a:latin typeface="+mj-lt"/>
              </a:rPr>
              <a:t>. </a:t>
            </a:r>
            <a:endParaRPr lang="en-US" sz="3200" dirty="0">
              <a:latin typeface="+mj-lt"/>
            </a:endParaRPr>
          </a:p>
          <a:p>
            <a:pPr marL="0" indent="0" algn="just">
              <a:buNone/>
            </a:pPr>
            <a:r>
              <a:rPr lang="vi-VN" sz="3200" dirty="0">
                <a:latin typeface="+mj-lt"/>
              </a:rPr>
              <a:t>4. Xóa thuộc tính text của tiện ích </a:t>
            </a:r>
            <a:r>
              <a:rPr lang="vi-VN" sz="3200" b="1" dirty="0">
                <a:latin typeface="+mj-lt"/>
              </a:rPr>
              <a:t>Label</a:t>
            </a:r>
            <a:r>
              <a:rPr lang="vi-VN" sz="3200" dirty="0">
                <a:latin typeface="+mj-lt"/>
              </a:rPr>
              <a:t> thứ ba vì thuộc tính text</a:t>
            </a:r>
            <a:r>
              <a:rPr lang="vi-VN" sz="3200" dirty="0"/>
              <a:t> </a:t>
            </a:r>
            <a:r>
              <a:rPr lang="vi-VN" sz="3200" dirty="0">
                <a:latin typeface="+mj-lt"/>
              </a:rPr>
              <a:t>của nó sẽ được đặt thông qua code..</a:t>
            </a:r>
            <a:br>
              <a:rPr lang="vi-VN" sz="3200" dirty="0">
                <a:latin typeface="+mj-lt"/>
              </a:rPr>
            </a:b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9042869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Điều Hướng Qua Các Hàng Của Bảng Cơ Sở Dữ Liệu Đã Chỉ Định</a:t>
            </a:r>
            <a:endParaRPr lang="en-US" dirty="0"/>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0" indent="0" algn="just">
              <a:buNone/>
            </a:pPr>
            <a:r>
              <a:rPr lang="vi-VN" sz="3200" dirty="0">
                <a:latin typeface="+mj-lt"/>
              </a:rPr>
              <a:t>5. Đặt thuộc tính text của bốn nút ấn </a:t>
            </a:r>
            <a:r>
              <a:rPr lang="vi-VN" sz="3200" i="1" dirty="0">
                <a:latin typeface="+mj-lt"/>
              </a:rPr>
              <a:t>thành First Row, Previous, Next và Last Row.</a:t>
            </a:r>
            <a:endParaRPr lang="en-US" sz="3200" i="1" dirty="0">
              <a:latin typeface="+mj-lt"/>
            </a:endParaRPr>
          </a:p>
          <a:p>
            <a:pPr marL="0" indent="0" algn="just">
              <a:buNone/>
            </a:pPr>
            <a:r>
              <a:rPr lang="vi-VN" sz="3200" dirty="0">
                <a:latin typeface="+mj-lt"/>
              </a:rPr>
              <a:t>6. Đặt thuộc tính objectName của hai tiện ích Line Edit thành </a:t>
            </a:r>
            <a:r>
              <a:rPr lang="vi-VN" sz="3200" i="1" dirty="0">
                <a:latin typeface="+mj-lt"/>
              </a:rPr>
              <a:t>lineEditEmailAddress và lineEditPassword</a:t>
            </a:r>
            <a:r>
              <a:rPr lang="vi-VN" sz="3200" dirty="0">
                <a:latin typeface="+mj-lt"/>
              </a:rPr>
              <a:t>.</a:t>
            </a:r>
            <a:br>
              <a:rPr lang="vi-VN" sz="3200" dirty="0">
                <a:latin typeface="+mj-lt"/>
              </a:rPr>
            </a:br>
            <a:r>
              <a:rPr lang="vi-VN" sz="3200" dirty="0">
                <a:latin typeface="+mj-lt"/>
              </a:rPr>
              <a:t>7. Đặt thuộc tính objectName của bốn nút ấn thành </a:t>
            </a:r>
            <a:r>
              <a:rPr lang="vi-VN" sz="3200" i="1" dirty="0">
                <a:latin typeface="+mj-lt"/>
              </a:rPr>
              <a:t>pushButtonPrevious, pushButtonNext và pushButtonLast</a:t>
            </a:r>
            <a:r>
              <a:rPr lang="vi-VN" sz="3200" dirty="0">
                <a:latin typeface="+mj-lt"/>
              </a:rPr>
              <a:t>.</a:t>
            </a:r>
            <a:endParaRPr lang="en-US" sz="3200" dirty="0">
              <a:latin typeface="+mj-lt"/>
            </a:endParaRPr>
          </a:p>
          <a:p>
            <a:pPr marL="0" indent="0" algn="just">
              <a:buNone/>
            </a:pPr>
            <a:r>
              <a:rPr lang="vi-VN" sz="3200" dirty="0">
                <a:latin typeface="+mj-lt"/>
              </a:rPr>
              <a:t>8. Đặt thuộc tính objectName của tiện ích Label thứ ba thành abelResponse. Bởi vì chúng t</a:t>
            </a:r>
            <a:r>
              <a:rPr lang="en-US" sz="3200" dirty="0">
                <a:latin typeface="Times New Roman" panose="02020603050405020304" pitchFamily="18" charset="0"/>
                <a:cs typeface="Times New Roman" panose="02020603050405020304" pitchFamily="18" charset="0"/>
              </a:rPr>
              <a:t>a</a:t>
            </a:r>
            <a:r>
              <a:rPr lang="vi-VN" sz="3200" dirty="0">
                <a:latin typeface="+mj-lt"/>
              </a:rPr>
              <a:t> không muốn mật khẩu được hiển thị, chúng t</a:t>
            </a:r>
            <a:r>
              <a:rPr lang="en-US" sz="3200" dirty="0">
                <a:latin typeface="Times New Roman" panose="02020603050405020304" pitchFamily="18" charset="0"/>
                <a:cs typeface="Times New Roman" panose="02020603050405020304" pitchFamily="18" charset="0"/>
              </a:rPr>
              <a:t>a</a:t>
            </a:r>
            <a:r>
              <a:rPr lang="vi-VN" sz="3200" dirty="0">
                <a:latin typeface="+mj-lt"/>
              </a:rPr>
              <a:t> muốn dấu hoa thị xuất hiện khi người dùng nhập mật khẩu của họ.</a:t>
            </a:r>
            <a:br>
              <a:rPr lang="vi-VN" sz="3200" dirty="0">
                <a:latin typeface="+mj-lt"/>
              </a:rPr>
            </a:b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36787816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Điều Hướng Qua Các Hàng Của Bảng Cơ Sở Dữ Liệu Đã Chỉ Định</a:t>
            </a:r>
            <a:endParaRPr lang="en-US" dirty="0"/>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0" indent="0" algn="just">
              <a:buNone/>
            </a:pPr>
            <a:r>
              <a:rPr lang="vi-VN" sz="3200" dirty="0">
                <a:latin typeface="+mj-lt"/>
              </a:rPr>
              <a:t>9. Chọn tiện ích Line Edit có nghĩa là nhập mật khẩu (lineEditPassword) và từ cửa sổ Property Editor, chọn thuộc tính </a:t>
            </a:r>
            <a:r>
              <a:rPr lang="vi-VN" sz="3200" b="1" dirty="0">
                <a:latin typeface="+mj-lt"/>
              </a:rPr>
              <a:t>echoMode</a:t>
            </a:r>
            <a:r>
              <a:rPr lang="vi-VN" sz="3200" dirty="0">
                <a:latin typeface="+mj-lt"/>
              </a:rPr>
              <a:t> và đặt thành </a:t>
            </a:r>
            <a:r>
              <a:rPr lang="vi-VN" sz="3200" b="1" dirty="0">
                <a:latin typeface="+mj-lt"/>
              </a:rPr>
              <a:t>Password</a:t>
            </a:r>
            <a:r>
              <a:rPr lang="vi-VN" sz="3200" dirty="0">
                <a:latin typeface="+mj-lt"/>
              </a:rPr>
              <a:t> thay vì mặc định</a:t>
            </a:r>
            <a:r>
              <a:rPr lang="en-US" sz="3200" dirty="0">
                <a:latin typeface="+mj-lt"/>
              </a:rPr>
              <a:t> </a:t>
            </a:r>
            <a:r>
              <a:rPr lang="en-US" sz="3200" b="1" dirty="0">
                <a:latin typeface="Times New Roman" panose="02020603050405020304" pitchFamily="18" charset="0"/>
                <a:cs typeface="Times New Roman" panose="02020603050405020304" pitchFamily="18" charset="0"/>
              </a:rPr>
              <a:t>Normal</a:t>
            </a:r>
            <a:r>
              <a:rPr lang="vi-VN" sz="3200" dirty="0">
                <a:latin typeface="+mj-lt"/>
              </a:rPr>
              <a:t>.</a:t>
            </a:r>
            <a:endParaRPr lang="en-US" sz="3200" dirty="0">
              <a:latin typeface="+mj-lt"/>
            </a:endParaRPr>
          </a:p>
          <a:p>
            <a:pPr marL="0" indent="0" algn="just">
              <a:buNone/>
            </a:pPr>
            <a:r>
              <a:rPr lang="vi-VN" sz="3200" dirty="0">
                <a:latin typeface="+mj-lt"/>
              </a:rPr>
              <a:t>10. Lưu ứng dụng theo tên dưới dạng demoShowRecords. Form sẽ xuất hiện như trong hình sau:</a:t>
            </a:r>
            <a:endParaRPr lang="en-US" sz="3200" dirty="0">
              <a:latin typeface="+mj-lt"/>
              <a:cs typeface="Times New Roman" panose="02020603050405020304" pitchFamily="18" charset="0"/>
            </a:endParaRPr>
          </a:p>
        </p:txBody>
      </p:sp>
      <p:pic>
        <p:nvPicPr>
          <p:cNvPr id="5" name="Picture 4" descr="sách Qt5-Python-GUI-Programming-Cookbook.pdf - Foxit Reader">
            <a:extLst>
              <a:ext uri="{FF2B5EF4-FFF2-40B4-BE49-F238E27FC236}">
                <a16:creationId xmlns:a16="http://schemas.microsoft.com/office/drawing/2014/main" id="{DFDBF1AC-920C-42B4-A78E-340A3C53F42A}"/>
              </a:ext>
            </a:extLst>
          </p:cNvPr>
          <p:cNvPicPr>
            <a:picLocks noChangeAspect="1"/>
          </p:cNvPicPr>
          <p:nvPr/>
        </p:nvPicPr>
        <p:blipFill rotWithShape="1">
          <a:blip r:embed="rId2">
            <a:extLst>
              <a:ext uri="{28A0092B-C50C-407E-A947-70E740481C1C}">
                <a14:useLocalDpi xmlns:a14="http://schemas.microsoft.com/office/drawing/2010/main" val="0"/>
              </a:ext>
            </a:extLst>
          </a:blip>
          <a:srcRect l="35303" t="23287" r="32576" b="42383"/>
          <a:stretch/>
        </p:blipFill>
        <p:spPr>
          <a:xfrm>
            <a:off x="2147453" y="4175176"/>
            <a:ext cx="5084620" cy="2654580"/>
          </a:xfrm>
          <a:prstGeom prst="rect">
            <a:avLst/>
          </a:prstGeom>
        </p:spPr>
      </p:pic>
    </p:spTree>
    <p:extLst>
      <p:ext uri="{BB962C8B-B14F-4D97-AF65-F5344CB8AC3E}">
        <p14:creationId xmlns:p14="http://schemas.microsoft.com/office/powerpoint/2010/main" val="9834040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Điều Hướng Qua Các Hàng Của Bảng Cơ Sở Dữ Liệu Đã Chỉ Định</a:t>
            </a:r>
            <a:endParaRPr lang="en-US" dirty="0"/>
          </a:p>
        </p:txBody>
      </p:sp>
      <p:sp>
        <p:nvSpPr>
          <p:cNvPr id="4" name="Content Placeholder 3">
            <a:extLst>
              <a:ext uri="{FF2B5EF4-FFF2-40B4-BE49-F238E27FC236}">
                <a16:creationId xmlns:a16="http://schemas.microsoft.com/office/drawing/2014/main" id="{B7107A88-AA2A-40D6-9879-CFC7D4DF046D}"/>
              </a:ext>
            </a:extLst>
          </p:cNvPr>
          <p:cNvSpPr>
            <a:spLocks noGrp="1"/>
          </p:cNvSpPr>
          <p:nvPr>
            <p:ph idx="1"/>
          </p:nvPr>
        </p:nvSpPr>
        <p:spPr/>
        <p:txBody>
          <a:bodyPr>
            <a:noAutofit/>
          </a:bodyPr>
          <a:lstStyle/>
          <a:p>
            <a:pPr marL="0" indent="0" algn="just">
              <a:buNone/>
            </a:pPr>
            <a:r>
              <a:rPr lang="vi-VN" sz="3200" dirty="0">
                <a:latin typeface="+mj-lt"/>
              </a:rPr>
              <a:t>Giao diện người dùng được tạo bằng Qt Designer được lưu trữ trong file .ui, là file XML và khi áp dụng lệnh pyuic5, file XML có thể được chuyển đổi thành code Python. </a:t>
            </a:r>
            <a:endParaRPr lang="en-US" sz="3200" dirty="0">
              <a:latin typeface="+mj-lt"/>
            </a:endParaRPr>
          </a:p>
          <a:p>
            <a:pPr marL="0" indent="0" algn="just">
              <a:buNone/>
            </a:pPr>
            <a:r>
              <a:rPr lang="vi-VN" sz="3200" dirty="0">
                <a:latin typeface="+mj-lt"/>
              </a:rPr>
              <a:t>11. Hãy coi tập lệnh demoShowRecords.py như một file tiêu đề và nhập nó vào file mà bạn sẽ gọi thiết kế giao diện người dùng của nó.</a:t>
            </a:r>
            <a:endParaRPr lang="en-US" sz="3200" dirty="0">
              <a:latin typeface="+mj-lt"/>
            </a:endParaRPr>
          </a:p>
          <a:p>
            <a:pPr marL="0" indent="0" algn="just">
              <a:buNone/>
            </a:pPr>
            <a:r>
              <a:rPr lang="vi-VN" sz="3200" dirty="0">
                <a:latin typeface="+mj-lt"/>
              </a:rPr>
              <a:t>12. Tạo một file Python khác với tên callShowRecords.pyw và nhập code demoShowRecords.py vào đó.</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4585154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Điều Hướng Qua Các Hàng Của Bảng Cơ Sở Dữ Liệu Đã Chỉ Định</a:t>
            </a:r>
            <a:endParaRPr lang="en-US" dirty="0"/>
          </a:p>
        </p:txBody>
      </p:sp>
      <p:pic>
        <p:nvPicPr>
          <p:cNvPr id="5" name="Content Placeholder 4" descr="sách Qt5-Python-GUI-Programming-Cookbook.pdf - Foxit Reader">
            <a:extLst>
              <a:ext uri="{FF2B5EF4-FFF2-40B4-BE49-F238E27FC236}">
                <a16:creationId xmlns:a16="http://schemas.microsoft.com/office/drawing/2014/main" id="{D99B3AA6-BC48-44AD-A211-4BF75D51B11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0958" t="29557" r="20337" b="23512"/>
          <a:stretch/>
        </p:blipFill>
        <p:spPr>
          <a:xfrm>
            <a:off x="263236" y="1164632"/>
            <a:ext cx="8686800" cy="5527113"/>
          </a:xfrm>
        </p:spPr>
      </p:pic>
    </p:spTree>
    <p:extLst>
      <p:ext uri="{BB962C8B-B14F-4D97-AF65-F5344CB8AC3E}">
        <p14:creationId xmlns:p14="http://schemas.microsoft.com/office/powerpoint/2010/main" val="1337922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Điều Hướng Qua Các Hàng Của Bảng Cơ Sở Dữ Liệu Đã Chỉ Định</a:t>
            </a:r>
            <a:endParaRPr lang="en-US" dirty="0"/>
          </a:p>
        </p:txBody>
      </p:sp>
      <p:pic>
        <p:nvPicPr>
          <p:cNvPr id="7" name="Content Placeholder 6" descr="sách Qt5-Python-GUI-Programming-Cookbook.pdf - Foxit Reader">
            <a:extLst>
              <a:ext uri="{FF2B5EF4-FFF2-40B4-BE49-F238E27FC236}">
                <a16:creationId xmlns:a16="http://schemas.microsoft.com/office/drawing/2014/main" id="{DC43C584-BB05-4A79-907B-4F881428C8F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4153" t="12311" r="20338" b="22097"/>
          <a:stretch/>
        </p:blipFill>
        <p:spPr>
          <a:xfrm>
            <a:off x="360218" y="1149927"/>
            <a:ext cx="8783782" cy="5514109"/>
          </a:xfrm>
        </p:spPr>
      </p:pic>
    </p:spTree>
    <p:extLst>
      <p:ext uri="{BB962C8B-B14F-4D97-AF65-F5344CB8AC3E}">
        <p14:creationId xmlns:p14="http://schemas.microsoft.com/office/powerpoint/2010/main" val="39166659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Điều Hướng Qua Các Hàng Của Bảng Cơ Sở Dữ Liệu Đã Chỉ Định</a:t>
            </a:r>
            <a:endParaRPr lang="en-US" dirty="0"/>
          </a:p>
        </p:txBody>
      </p:sp>
      <p:pic>
        <p:nvPicPr>
          <p:cNvPr id="6" name="Content Placeholder 5" descr="sách Qt5-Python-GUI-Programming-Cookbook.pdf - Foxit Reader">
            <a:extLst>
              <a:ext uri="{FF2B5EF4-FFF2-40B4-BE49-F238E27FC236}">
                <a16:creationId xmlns:a16="http://schemas.microsoft.com/office/drawing/2014/main" id="{75E2EAE3-0EC8-4034-B745-DF01CF5A207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0957" t="13725" r="22925" b="32841"/>
          <a:stretch/>
        </p:blipFill>
        <p:spPr>
          <a:xfrm>
            <a:off x="22259" y="1123604"/>
            <a:ext cx="9121741" cy="4404359"/>
          </a:xfrm>
        </p:spPr>
      </p:pic>
      <p:pic>
        <p:nvPicPr>
          <p:cNvPr id="8" name="Content Placeholder 6" descr="sách Qt5-Python-GUI-Programming-Cookbook.pdf - Foxit Reader">
            <a:extLst>
              <a:ext uri="{FF2B5EF4-FFF2-40B4-BE49-F238E27FC236}">
                <a16:creationId xmlns:a16="http://schemas.microsoft.com/office/drawing/2014/main" id="{6290FC1F-C0C7-44D8-843F-56C057FB534F}"/>
              </a:ext>
            </a:extLst>
          </p:cNvPr>
          <p:cNvPicPr>
            <a:picLocks noChangeAspect="1"/>
          </p:cNvPicPr>
          <p:nvPr/>
        </p:nvPicPr>
        <p:blipFill rotWithShape="1">
          <a:blip r:embed="rId3">
            <a:extLst>
              <a:ext uri="{28A0092B-C50C-407E-A947-70E740481C1C}">
                <a14:useLocalDpi xmlns:a14="http://schemas.microsoft.com/office/drawing/2010/main" val="0"/>
              </a:ext>
            </a:extLst>
          </a:blip>
          <a:srcRect l="34306" t="33515" r="41190" b="52914"/>
          <a:stretch/>
        </p:blipFill>
        <p:spPr>
          <a:xfrm>
            <a:off x="318655" y="5527963"/>
            <a:ext cx="7162800" cy="1288472"/>
          </a:xfrm>
          <a:prstGeom prst="rect">
            <a:avLst/>
          </a:prstGeom>
        </p:spPr>
      </p:pic>
    </p:spTree>
    <p:extLst>
      <p:ext uri="{BB962C8B-B14F-4D97-AF65-F5344CB8AC3E}">
        <p14:creationId xmlns:p14="http://schemas.microsoft.com/office/powerpoint/2010/main" val="30005474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Tìm Kiếm Bảng Cơ Sở Dữ Liệu Để Biết Thông Tin Cụ Thể</a:t>
            </a:r>
            <a:endParaRPr lang="en-US" dirty="0"/>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p:txBody>
          <a:bodyPr>
            <a:normAutofit fontScale="92500" lnSpcReduction="10000"/>
          </a:bodyPr>
          <a:lstStyle/>
          <a:p>
            <a:pPr algn="just"/>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chúng ta sẽ học cách thực hiện tìm kiếm trong bảng cơ sở dữ liệu để lấy thông tin mong muốn. Chúng t</a:t>
            </a:r>
            <a:r>
              <a:rPr lang="en-US" sz="3200" dirty="0">
                <a:latin typeface="+mj-lt"/>
              </a:rPr>
              <a:t>a</a:t>
            </a:r>
            <a:r>
              <a:rPr lang="vi-VN" sz="3200" dirty="0">
                <a:latin typeface="+mj-lt"/>
              </a:rPr>
              <a:t> cho rằng một người dùng đã quên mật khẩu của họ. Vì vậy, bạn sẽ được nhắc nhập tên cơ sở dữ liệu, tên bảng và địa chỉ email của người dùng có mật khẩu được yêu cầu. Nếu bất kỳ người dùng nào có địa chỉ email được cung cấp tồn tại trong bảng cơ sở dữ liệu, thì mật khẩu của người dùng đó sẽ được tìm kiếm, truy cập và hiển thị trên màn hình.</a:t>
            </a:r>
            <a:endParaRPr lang="en-US" sz="3200" dirty="0">
              <a:latin typeface="+mj-lt"/>
            </a:endParaRPr>
          </a:p>
          <a:p>
            <a:pPr algn="just"/>
            <a:r>
              <a:rPr lang="vi-VN" sz="3200" dirty="0">
                <a:latin typeface="+mj-lt"/>
              </a:rPr>
              <a:t>Thực hiện theo các bước sau để tìm hiểu làm thế nào dữ liệu có thể được tìm kiếm trong bảng cơ sở dữ liệu trong SQLite:</a:t>
            </a:r>
            <a:endParaRPr lang="en-US" sz="3200" dirty="0">
              <a:latin typeface="+mj-lt"/>
            </a:endParaRPr>
          </a:p>
          <a:p>
            <a:pPr marL="0" indent="0" algn="just">
              <a:buNone/>
            </a:pPr>
            <a:r>
              <a:rPr lang="vi-VN" sz="3200" dirty="0">
                <a:latin typeface="+mj-lt"/>
              </a:rPr>
              <a:t>1. Hãy tạo một ứng dụng dựa trên mẫu Dialog without Buttons</a:t>
            </a:r>
            <a:endParaRPr lang="en-US" sz="3200" dirty="0">
              <a:latin typeface="+mj-lt"/>
            </a:endParaRPr>
          </a:p>
        </p:txBody>
      </p:sp>
    </p:spTree>
    <p:extLst>
      <p:ext uri="{BB962C8B-B14F-4D97-AF65-F5344CB8AC3E}">
        <p14:creationId xmlns:p14="http://schemas.microsoft.com/office/powerpoint/2010/main" val="35478958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Tìm Kiếm Bảng Cơ Sở Dữ Liệu Để Biết Thông Tin Cụ Thể</a:t>
            </a:r>
            <a:endParaRPr lang="en-US" dirty="0"/>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p:txBody>
          <a:bodyPr>
            <a:noAutofit/>
          </a:bodyPr>
          <a:lstStyle/>
          <a:p>
            <a:pPr marL="0" indent="0" algn="just">
              <a:buNone/>
            </a:pPr>
            <a:r>
              <a:rPr lang="vi-VN" sz="3200" dirty="0">
                <a:latin typeface="+mj-lt"/>
              </a:rPr>
              <a:t>2. Thêm năm tiện ích QLabel, bốn tiện ích QLineEdit và một tiện ích QPushButton vào form bằng cách kéo và thả năm tiện ích Label , bốn tiện ích Line Edit và một tiện ích Push Button trên form.</a:t>
            </a:r>
            <a:endParaRPr lang="en-US" sz="3200" dirty="0">
              <a:latin typeface="+mj-lt"/>
            </a:endParaRPr>
          </a:p>
          <a:p>
            <a:pPr marL="0" indent="0" algn="just">
              <a:buNone/>
            </a:pPr>
            <a:r>
              <a:rPr lang="vi-VN" sz="3200" dirty="0">
                <a:latin typeface="+mj-lt"/>
              </a:rPr>
              <a:t>3. Đặt thuộc tính text của ba tiện ích Label  đầu tiên thành </a:t>
            </a:r>
            <a:r>
              <a:rPr lang="vi-VN" sz="3200" i="1" dirty="0">
                <a:latin typeface="+mj-lt"/>
              </a:rPr>
              <a:t>Enter database name, Enter table name</a:t>
            </a:r>
            <a:r>
              <a:rPr lang="en-US" sz="3200" i="1" dirty="0">
                <a:latin typeface="+mj-lt"/>
              </a:rPr>
              <a:t> </a:t>
            </a:r>
            <a:r>
              <a:rPr lang="vi-VN" sz="3200" i="1" dirty="0">
                <a:latin typeface="+mj-lt"/>
              </a:rPr>
              <a:t>và Email Address.</a:t>
            </a:r>
            <a:endParaRPr lang="en-US" sz="3200" i="1" dirty="0">
              <a:latin typeface="+mj-lt"/>
            </a:endParaRPr>
          </a:p>
          <a:p>
            <a:pPr marL="0" indent="0" algn="just">
              <a:buNone/>
            </a:pPr>
            <a:r>
              <a:rPr lang="vi-VN" sz="3200" dirty="0">
                <a:latin typeface="+mj-lt"/>
              </a:rPr>
              <a:t>4. Xóa thuộc tính text của tiện ích Label  thứ tư, tiện ích này được thiết lập thông qua code.</a:t>
            </a:r>
            <a:br>
              <a:rPr lang="vi-VN" sz="3200" dirty="0">
                <a:latin typeface="+mj-lt"/>
              </a:rPr>
            </a:br>
            <a:r>
              <a:rPr lang="vi-VN" sz="3200" dirty="0">
                <a:latin typeface="+mj-lt"/>
              </a:rPr>
              <a:t>5. Đặt thuộc tính text  của tiện ích Label  thứ năm thành </a:t>
            </a:r>
            <a:r>
              <a:rPr lang="vi-VN" sz="3200" i="1" dirty="0">
                <a:latin typeface="+mj-lt"/>
              </a:rPr>
              <a:t>Password</a:t>
            </a:r>
            <a:r>
              <a:rPr lang="vi-VN" sz="3200" dirty="0">
                <a:latin typeface="+mj-lt"/>
              </a:rPr>
              <a:t>.</a:t>
            </a:r>
            <a:endParaRPr lang="en-US" sz="3200" dirty="0">
              <a:latin typeface="+mj-lt"/>
            </a:endParaRPr>
          </a:p>
        </p:txBody>
      </p:sp>
    </p:spTree>
    <p:extLst>
      <p:ext uri="{BB962C8B-B14F-4D97-AF65-F5344CB8AC3E}">
        <p14:creationId xmlns:p14="http://schemas.microsoft.com/office/powerpoint/2010/main" val="3639403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Tìm Kiếm Bảng Cơ Sở Dữ Liệu Để Biết Thông Tin Cụ Thể</a:t>
            </a:r>
            <a:endParaRPr lang="en-US" dirty="0"/>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p:txBody>
          <a:bodyPr>
            <a:noAutofit/>
          </a:bodyPr>
          <a:lstStyle/>
          <a:p>
            <a:pPr marL="0" indent="0" algn="just">
              <a:buNone/>
            </a:pPr>
            <a:r>
              <a:rPr lang="vi-VN" sz="3200" dirty="0">
                <a:latin typeface="+mj-lt"/>
              </a:rPr>
              <a:t>6. Đặt thuộc tính text của nút ấn thành </a:t>
            </a:r>
            <a:r>
              <a:rPr lang="vi-VN" sz="3200" i="1">
                <a:latin typeface="+mj-lt"/>
              </a:rPr>
              <a:t>Search</a:t>
            </a:r>
            <a:r>
              <a:rPr lang="vi-VN" sz="3200">
                <a:latin typeface="+mj-lt"/>
              </a:rPr>
              <a:t>.</a:t>
            </a:r>
            <a:br>
              <a:rPr lang="vi-VN" sz="3200" dirty="0">
                <a:latin typeface="+mj-lt"/>
              </a:rPr>
            </a:br>
            <a:r>
              <a:rPr lang="vi-VN" sz="3200" dirty="0">
                <a:latin typeface="+mj-lt"/>
              </a:rPr>
              <a:t>7. Đặt thuộc tính objectName của bốn tiện ích Line Edit</a:t>
            </a:r>
            <a:r>
              <a:rPr lang="en-US" sz="3200" dirty="0">
                <a:latin typeface="+mj-lt"/>
              </a:rPr>
              <a:t> </a:t>
            </a:r>
            <a:r>
              <a:rPr lang="vi-VN" sz="3200" dirty="0">
                <a:latin typeface="+mj-lt"/>
              </a:rPr>
              <a:t>thành lineEditDBName,lineEditTableName, lineEditEmailAddress</a:t>
            </a:r>
            <a:r>
              <a:rPr lang="en-US" sz="3200" dirty="0">
                <a:latin typeface="+mj-lt"/>
              </a:rPr>
              <a:t> </a:t>
            </a:r>
            <a:r>
              <a:rPr lang="vi-VN" sz="3200" dirty="0">
                <a:latin typeface="+mj-lt"/>
              </a:rPr>
              <a:t>và lineEditPassword.</a:t>
            </a:r>
            <a:endParaRPr lang="en-US" sz="3200" dirty="0">
              <a:latin typeface="+mj-lt"/>
            </a:endParaRPr>
          </a:p>
          <a:p>
            <a:pPr marL="0" indent="0" algn="just">
              <a:buNone/>
            </a:pPr>
            <a:r>
              <a:rPr lang="vi-VN" sz="3200" dirty="0">
                <a:latin typeface="+mj-lt"/>
              </a:rPr>
              <a:t>8. Đặt thuộc tính objectName của tiện ích Push Button</a:t>
            </a:r>
            <a:r>
              <a:rPr lang="en-US" sz="3200" dirty="0">
                <a:latin typeface="+mj-lt"/>
              </a:rPr>
              <a:t> </a:t>
            </a:r>
            <a:r>
              <a:rPr lang="vi-VN" sz="3200" dirty="0">
                <a:latin typeface="+mj-lt"/>
              </a:rPr>
              <a:t>thành PushButtonSearch.</a:t>
            </a:r>
            <a:endParaRPr lang="en-US" sz="3200" dirty="0">
              <a:latin typeface="+mj-lt"/>
            </a:endParaRPr>
          </a:p>
          <a:p>
            <a:pPr marL="0" indent="0" algn="just">
              <a:buNone/>
            </a:pPr>
            <a:r>
              <a:rPr lang="vi-VN" sz="3200" dirty="0">
                <a:latin typeface="+mj-lt"/>
              </a:rPr>
              <a:t>9. Đặt thuộc tính objectName của tiện ích Label  thứ tư thành labelResponse.</a:t>
            </a:r>
            <a:endParaRPr lang="en-US" sz="3200" dirty="0">
              <a:latin typeface="+mj-lt"/>
            </a:endParaRPr>
          </a:p>
          <a:p>
            <a:pPr marL="0" indent="0" algn="just">
              <a:buNone/>
            </a:pPr>
            <a:r>
              <a:rPr lang="vi-VN" sz="3200" dirty="0">
                <a:latin typeface="+mj-lt"/>
              </a:rPr>
              <a:t>10. Lưu ứng dụng theo tên dưới dạng demoSearchRows.ui. Biểu mẫu sẽ xuất hiện như hình sau:</a:t>
            </a:r>
            <a:endParaRPr lang="en-US" sz="3200" dirty="0">
              <a:latin typeface="+mj-lt"/>
            </a:endParaRPr>
          </a:p>
        </p:txBody>
      </p:sp>
    </p:spTree>
    <p:extLst>
      <p:ext uri="{BB962C8B-B14F-4D97-AF65-F5344CB8AC3E}">
        <p14:creationId xmlns:p14="http://schemas.microsoft.com/office/powerpoint/2010/main" val="16731451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Tìm Kiếm Bảng Cơ Sở Dữ Liệu Để Biết Thông Tin Cụ Thể</a:t>
            </a:r>
            <a:endParaRPr lang="en-US" dirty="0"/>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p:txBody>
          <a:bodyPr>
            <a:noAutofit/>
          </a:bodyPr>
          <a:lstStyle/>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a:p>
            <a:pPr marL="0" indent="0" algn="just">
              <a:buNone/>
            </a:pPr>
            <a:r>
              <a:rPr lang="vi-VN" sz="3200" dirty="0">
                <a:latin typeface="+mj-lt"/>
              </a:rPr>
              <a:t>Giao diện người dùng được tạo bằng Qt Designer được lưu trữ trong file .ui, một file XML cần được chuyển đổi thành code Python thông qua ứng dụng của lệnh pyuic5. </a:t>
            </a:r>
            <a:endParaRPr lang="en-US" sz="3200" dirty="0">
              <a:latin typeface="+mj-lt"/>
            </a:endParaRPr>
          </a:p>
          <a:p>
            <a:pPr marL="0" indent="0" algn="just">
              <a:buNone/>
            </a:pPr>
            <a:r>
              <a:rPr lang="vi-VN" sz="3200" dirty="0">
                <a:latin typeface="+mj-lt"/>
              </a:rPr>
              <a:t>11. Hãy coi tập lệnh demoSearchRows.py như một file tiêu đề và nhập nó vào file mà bạn sẽ gọi thiết kế giao diện người dùng của nó.</a:t>
            </a:r>
            <a:endParaRPr lang="en-US" sz="3200" dirty="0">
              <a:latin typeface="+mj-lt"/>
            </a:endParaRPr>
          </a:p>
        </p:txBody>
      </p:sp>
      <p:pic>
        <p:nvPicPr>
          <p:cNvPr id="4" name="Picture 3" descr="sách Qt5-Python-GUI-Programming-Cookbook.pdf - Foxit Reader">
            <a:extLst>
              <a:ext uri="{FF2B5EF4-FFF2-40B4-BE49-F238E27FC236}">
                <a16:creationId xmlns:a16="http://schemas.microsoft.com/office/drawing/2014/main" id="{4A6A1854-8965-40B5-83B9-CC590904FA1B}"/>
              </a:ext>
            </a:extLst>
          </p:cNvPr>
          <p:cNvPicPr>
            <a:picLocks noChangeAspect="1"/>
          </p:cNvPicPr>
          <p:nvPr/>
        </p:nvPicPr>
        <p:blipFill rotWithShape="1">
          <a:blip r:embed="rId2">
            <a:extLst>
              <a:ext uri="{28A0092B-C50C-407E-A947-70E740481C1C}">
                <a14:useLocalDpi xmlns:a14="http://schemas.microsoft.com/office/drawing/2010/main" val="0"/>
              </a:ext>
            </a:extLst>
          </a:blip>
          <a:srcRect l="34848" t="32409" r="32727" b="27345"/>
          <a:stretch/>
        </p:blipFill>
        <p:spPr>
          <a:xfrm>
            <a:off x="2576945" y="1020279"/>
            <a:ext cx="3990110" cy="2526486"/>
          </a:xfrm>
          <a:prstGeom prst="rect">
            <a:avLst/>
          </a:prstGeom>
        </p:spPr>
      </p:pic>
    </p:spTree>
    <p:extLst>
      <p:ext uri="{BB962C8B-B14F-4D97-AF65-F5344CB8AC3E}">
        <p14:creationId xmlns:p14="http://schemas.microsoft.com/office/powerpoint/2010/main" val="11182618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pPr algn="just"/>
            <a:r>
              <a:rPr lang="vi-VN" dirty="0"/>
              <a:t>Tìm Kiếm Bảng Cơ Sở Dữ Liệu Để Biết Thông Tin Cụ Thể</a:t>
            </a:r>
            <a:endParaRPr lang="en-US" dirty="0"/>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p:txBody>
          <a:bodyPr>
            <a:noAutofit/>
          </a:bodyPr>
          <a:lstStyle/>
          <a:p>
            <a:pPr marL="0" indent="0" algn="just">
              <a:buNone/>
            </a:pPr>
            <a:r>
              <a:rPr lang="vi-VN" sz="3200" dirty="0">
                <a:latin typeface="+mj-lt"/>
              </a:rPr>
              <a:t>12. Tạo một </a:t>
            </a:r>
            <a:r>
              <a:rPr lang="en-US" sz="3200" dirty="0">
                <a:latin typeface="Times New Roman" panose="02020603050405020304" pitchFamily="18" charset="0"/>
                <a:cs typeface="Times New Roman" panose="02020603050405020304" pitchFamily="18" charset="0"/>
              </a:rPr>
              <a:t>file</a:t>
            </a:r>
            <a:r>
              <a:rPr lang="vi-VN" sz="3200" dirty="0">
                <a:latin typeface="+mj-lt"/>
              </a:rPr>
              <a:t> Python khác có tên callSearchRows.pyw và nhập </a:t>
            </a:r>
            <a:r>
              <a:rPr lang="en-US" sz="3200" dirty="0">
                <a:latin typeface="Times New Roman" panose="02020603050405020304" pitchFamily="18" charset="0"/>
                <a:cs typeface="Times New Roman" panose="02020603050405020304" pitchFamily="18" charset="0"/>
              </a:rPr>
              <a:t>code</a:t>
            </a:r>
            <a:r>
              <a:rPr lang="vi-VN" sz="3200" dirty="0">
                <a:latin typeface="+mj-lt"/>
              </a:rPr>
              <a:t> demoSearchRows.py vào đó:</a:t>
            </a:r>
            <a:endParaRPr lang="en-US" sz="3200" dirty="0">
              <a:latin typeface="+mj-lt"/>
            </a:endParaRPr>
          </a:p>
        </p:txBody>
      </p:sp>
      <p:pic>
        <p:nvPicPr>
          <p:cNvPr id="5" name="Picture 4" descr="sách Qt5-Python-GUI-Programming-Cookbook.pdf - Foxit Reader">
            <a:extLst>
              <a:ext uri="{FF2B5EF4-FFF2-40B4-BE49-F238E27FC236}">
                <a16:creationId xmlns:a16="http://schemas.microsoft.com/office/drawing/2014/main" id="{F6858582-F234-4DAB-96C6-396FADD4DDDB}"/>
              </a:ext>
            </a:extLst>
          </p:cNvPr>
          <p:cNvPicPr>
            <a:picLocks noChangeAspect="1"/>
          </p:cNvPicPr>
          <p:nvPr/>
        </p:nvPicPr>
        <p:blipFill rotWithShape="1">
          <a:blip r:embed="rId2">
            <a:extLst>
              <a:ext uri="{28A0092B-C50C-407E-A947-70E740481C1C}">
                <a14:useLocalDpi xmlns:a14="http://schemas.microsoft.com/office/drawing/2010/main" val="0"/>
              </a:ext>
            </a:extLst>
          </a:blip>
          <a:srcRect l="33333" t="11865" r="25606" b="5391"/>
          <a:stretch/>
        </p:blipFill>
        <p:spPr>
          <a:xfrm>
            <a:off x="318655" y="2341418"/>
            <a:ext cx="8686800" cy="4627417"/>
          </a:xfrm>
          <a:prstGeom prst="rect">
            <a:avLst/>
          </a:prstGeom>
        </p:spPr>
      </p:pic>
    </p:spTree>
    <p:extLst>
      <p:ext uri="{BB962C8B-B14F-4D97-AF65-F5344CB8AC3E}">
        <p14:creationId xmlns:p14="http://schemas.microsoft.com/office/powerpoint/2010/main" val="8018973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cs typeface="Times New Roman" panose="02020603050405020304" pitchFamily="18" charset="0"/>
              </a:rPr>
              <a:t>Tạo Biểu Mẫu Đăng Nhập - Áp Dụng Quy Trình Xác Thực</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p:txBody>
          <a:bodyPr>
            <a:noAutofit/>
          </a:bodyPr>
          <a:lstStyle/>
          <a:p>
            <a:pPr algn="just"/>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chúng ta sẽ tìm hiểu làm thế nào các hàng có thể được truy cập từ một bảng cụ thể và so sánh với thông tin được cung cấp.</a:t>
            </a:r>
            <a:endParaRPr lang="en-US" sz="3200" dirty="0">
              <a:latin typeface="+mj-lt"/>
            </a:endParaRPr>
          </a:p>
          <a:p>
            <a:pPr algn="just"/>
            <a:r>
              <a:rPr lang="vi-VN" sz="3200" dirty="0">
                <a:latin typeface="+mj-lt"/>
              </a:rPr>
              <a:t>Chúng t</a:t>
            </a:r>
            <a:r>
              <a:rPr lang="en-US" sz="3200" dirty="0">
                <a:latin typeface="+mj-lt"/>
              </a:rPr>
              <a:t>a</a:t>
            </a:r>
            <a:r>
              <a:rPr lang="vi-VN" sz="3200" dirty="0">
                <a:latin typeface="+mj-lt"/>
              </a:rPr>
              <a:t> giả định rằng cơ sở dữ liệu có tên ECommerce đã tồn tại và một bảng có tên Người dùng cũng tồn tại trong cơ sở dữ liệu ECommerce . Bảng Users bao gồm hai cột, EmailAddress và Password. Ngoài ra, chúng tôi giả định rằng bảng Users chứa một vài hàng trong đó. Người dùng sẽ được nhắc nhập địa chỉ email và mật khẩu của họ ở dạng đăng nhập. Bảng Users được tìm kiếm cho địa chỉ email được chỉ định. Nếu địa chỉ email được tìm thấy trong bảng</a:t>
            </a:r>
            <a:endParaRPr lang="en-US" sz="3200" dirty="0">
              <a:latin typeface="+mj-lt"/>
            </a:endParaRPr>
          </a:p>
        </p:txBody>
      </p:sp>
    </p:spTree>
    <p:extLst>
      <p:ext uri="{BB962C8B-B14F-4D97-AF65-F5344CB8AC3E}">
        <p14:creationId xmlns:p14="http://schemas.microsoft.com/office/powerpoint/2010/main" val="2581306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cs typeface="Times New Roman" panose="02020603050405020304" pitchFamily="18" charset="0"/>
              </a:rPr>
              <a:t>Tạo Biểu Mẫu Đăng Nhập - Áp Dụng Quy Trình Xác Thực</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a:xfrm>
            <a:off x="-36167" y="1158825"/>
            <a:ext cx="9102490" cy="5699175"/>
          </a:xfrm>
        </p:spPr>
        <p:txBody>
          <a:bodyPr>
            <a:noAutofit/>
          </a:bodyPr>
          <a:lstStyle/>
          <a:p>
            <a:pPr marL="234950" indent="0" algn="just">
              <a:buNone/>
            </a:pPr>
            <a:r>
              <a:rPr lang="vi-VN" sz="3200" dirty="0">
                <a:latin typeface="+mj-lt"/>
              </a:rPr>
              <a:t>Users, thì mật khẩu trong hàng đó được so sánh với mật khẩu đã nhập. Nếu hai mật khẩu khớp nhau, một thông báo chào mừng sẽ được hiển thị; mặt khác, thông báo lỗi cho biết rằng địa chỉ email hoặc mật khẩu không khớp được hiển thị</a:t>
            </a:r>
            <a:endParaRPr lang="en-US" sz="3200" dirty="0">
              <a:latin typeface="+mj-lt"/>
            </a:endParaRPr>
          </a:p>
          <a:p>
            <a:pPr algn="just"/>
            <a:r>
              <a:rPr lang="vi-VN" sz="3200" dirty="0">
                <a:latin typeface="+mj-lt"/>
              </a:rPr>
              <a:t>Dưới đây là các bước để hiểu cách dữ liệu trong bảng cơ sở dữ liệu có thể được so sánh với dữ liệu được nhập bởi người dùng và xác thực người dùng:</a:t>
            </a:r>
            <a:endParaRPr lang="en-US" sz="3200" dirty="0">
              <a:latin typeface="+mj-lt"/>
            </a:endParaRPr>
          </a:p>
          <a:p>
            <a:pPr marL="514350" indent="-514350" algn="just">
              <a:buAutoNum type="arabicPeriod"/>
            </a:pPr>
            <a:r>
              <a:rPr lang="en-US" sz="3200" dirty="0" err="1">
                <a:latin typeface="Times New Roman" panose="02020603050405020304" pitchFamily="18" charset="0"/>
                <a:cs typeface="Times New Roman" panose="02020603050405020304" pitchFamily="18" charset="0"/>
              </a:rPr>
              <a:t>Hãy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ứng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dụng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dựa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trên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mẫu</a:t>
            </a:r>
            <a:r>
              <a:rPr lang="en-US" sz="3200" dirty="0">
                <a:latin typeface="Times New Roman" panose="02020603050405020304" pitchFamily="18" charset="0"/>
                <a:cs typeface="Times New Roman" panose="02020603050405020304" pitchFamily="18" charset="0"/>
              </a:rPr>
              <a:t> Dialog without Buttons.</a:t>
            </a:r>
          </a:p>
        </p:txBody>
      </p:sp>
    </p:spTree>
    <p:extLst>
      <p:ext uri="{BB962C8B-B14F-4D97-AF65-F5344CB8AC3E}">
        <p14:creationId xmlns:p14="http://schemas.microsoft.com/office/powerpoint/2010/main" val="12955552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cs typeface="Times New Roman" panose="02020603050405020304" pitchFamily="18" charset="0"/>
              </a:rPr>
              <a:t>Tạo Biểu Mẫu Đăng Nhập - Áp Dụng Quy Trình Xác Thực</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a:xfrm>
            <a:off x="-36167" y="1158825"/>
            <a:ext cx="9102490" cy="5699175"/>
          </a:xfrm>
        </p:spPr>
        <p:txBody>
          <a:bodyPr>
            <a:noAutofit/>
          </a:bodyPr>
          <a:lstStyle/>
          <a:p>
            <a:pPr marL="0" indent="0" algn="just">
              <a:buNone/>
            </a:pPr>
            <a:r>
              <a:rPr lang="en-US" sz="3200" dirty="0">
                <a:latin typeface="Times New Roman" panose="02020603050405020304" pitchFamily="18" charset="0"/>
                <a:cs typeface="Times New Roman" panose="02020603050405020304" pitchFamily="18" charset="0"/>
              </a:rPr>
              <a:t>2. </a:t>
            </a:r>
            <a:r>
              <a:rPr lang="en-US" sz="3200" dirty="0" err="1">
                <a:latin typeface="Times New Roman" panose="02020603050405020304" pitchFamily="18" charset="0"/>
                <a:cs typeface="Times New Roman" panose="02020603050405020304" pitchFamily="18" charset="0"/>
              </a:rPr>
              <a:t>Thêm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ích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QLabel</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hai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ích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QLineEdit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ích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QPushButton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vào</a:t>
            </a:r>
            <a:r>
              <a:rPr lang="en-US" sz="3200" dirty="0">
                <a:latin typeface="Times New Roman" panose="02020603050405020304" pitchFamily="18" charset="0"/>
                <a:cs typeface="Times New Roman" panose="02020603050405020304" pitchFamily="18" charset="0"/>
              </a:rPr>
              <a:t> form </a:t>
            </a:r>
            <a:r>
              <a:rPr lang="en-US" sz="3200" dirty="0" err="1">
                <a:latin typeface="Times New Roman" panose="02020603050405020304" pitchFamily="18" charset="0"/>
                <a:cs typeface="Times New Roman" panose="02020603050405020304" pitchFamily="18" charset="0"/>
              </a:rPr>
              <a:t>bằng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kéo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thả</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ba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ích</a:t>
            </a:r>
            <a:r>
              <a:rPr lang="en-US" sz="3200" dirty="0">
                <a:latin typeface="Times New Roman" panose="02020603050405020304" pitchFamily="18" charset="0"/>
                <a:cs typeface="Times New Roman" panose="02020603050405020304" pitchFamily="18" charset="0"/>
              </a:rPr>
              <a:t> Label, </a:t>
            </a:r>
            <a:r>
              <a:rPr lang="en-US" sz="3200" dirty="0" err="1">
                <a:latin typeface="Times New Roman" panose="02020603050405020304" pitchFamily="18" charset="0"/>
                <a:cs typeface="Times New Roman" panose="02020603050405020304" pitchFamily="18" charset="0"/>
              </a:rPr>
              <a:t>hai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ích</a:t>
            </a:r>
            <a:r>
              <a:rPr lang="en-US" sz="3200" dirty="0">
                <a:latin typeface="Times New Roman" panose="02020603050405020304" pitchFamily="18" charset="0"/>
                <a:cs typeface="Times New Roman" panose="02020603050405020304" pitchFamily="18" charset="0"/>
              </a:rPr>
              <a:t> Line Edit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một</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ích</a:t>
            </a:r>
            <a:r>
              <a:rPr lang="en-US" sz="3200" dirty="0">
                <a:latin typeface="Times New Roman" panose="02020603050405020304" pitchFamily="18" charset="0"/>
                <a:cs typeface="Times New Roman" panose="02020603050405020304" pitchFamily="18" charset="0"/>
              </a:rPr>
              <a:t> Push Button </a:t>
            </a:r>
            <a:r>
              <a:rPr lang="en-US" sz="3200" dirty="0" err="1">
                <a:latin typeface="Times New Roman" panose="02020603050405020304" pitchFamily="18" charset="0"/>
                <a:cs typeface="Times New Roman" panose="02020603050405020304" pitchFamily="18" charset="0"/>
              </a:rPr>
              <a:t>trên</a:t>
            </a:r>
            <a:r>
              <a:rPr lang="en-US" sz="3200" dirty="0">
                <a:latin typeface="Times New Roman" panose="02020603050405020304" pitchFamily="18" charset="0"/>
                <a:cs typeface="Times New Roman" panose="02020603050405020304" pitchFamily="18" charset="0"/>
              </a:rPr>
              <a:t> form.</a:t>
            </a:r>
          </a:p>
          <a:p>
            <a:pPr marL="0" indent="0" algn="just">
              <a:buNone/>
            </a:pPr>
            <a:r>
              <a:rPr lang="vi-VN" sz="3200" dirty="0">
                <a:latin typeface="+mj-lt"/>
              </a:rPr>
              <a:t>3. Đặt thuộc tính text của hai tiện ích Label đầu tiên thành Email Address và Mật khẩu.</a:t>
            </a:r>
            <a:endParaRPr lang="en-US" sz="3200" dirty="0">
              <a:latin typeface="+mj-lt"/>
            </a:endParaRPr>
          </a:p>
          <a:p>
            <a:pPr marL="0" indent="0" algn="just">
              <a:buNone/>
            </a:pPr>
            <a:r>
              <a:rPr lang="vi-VN" sz="3200" dirty="0">
                <a:latin typeface="+mj-lt"/>
              </a:rPr>
              <a:t>4. Xóa thuộc tính text của tiện ích Label thứ ba, tiện ích này được thiết lập thông qua code.</a:t>
            </a:r>
            <a:endParaRPr lang="en-US" sz="3200" dirty="0">
              <a:latin typeface="+mj-lt"/>
            </a:endParaRPr>
          </a:p>
          <a:p>
            <a:pPr marL="0" indent="0" algn="just">
              <a:buNone/>
            </a:pPr>
            <a:r>
              <a:rPr lang="vi-VN" sz="3200" dirty="0">
                <a:latin typeface="+mj-lt"/>
              </a:rPr>
              <a:t>5. Đặt thuộc tính text của nút ấn thành </a:t>
            </a:r>
            <a:r>
              <a:rPr lang="vi-VN" sz="3200" i="1" dirty="0">
                <a:latin typeface="+mj-lt"/>
              </a:rPr>
              <a:t>Sign In</a:t>
            </a:r>
            <a:r>
              <a:rPr lang="vi-VN" sz="3200" dirty="0">
                <a:latin typeface="+mj-lt"/>
              </a:rPr>
              <a:t>.</a:t>
            </a:r>
            <a:br>
              <a:rPr lang="vi-VN" sz="3200" dirty="0">
                <a:latin typeface="+mj-lt"/>
              </a:rPr>
            </a:br>
            <a:r>
              <a:rPr lang="vi-VN" sz="3200" dirty="0">
                <a:latin typeface="+mj-lt"/>
              </a:rPr>
              <a:t>6. Đặt thuộc tính objectName của hai tiện ích Line Edit thành lineEditEmailAddress và lineEditPassword.</a:t>
            </a:r>
            <a:br>
              <a:rPr lang="vi-VN" sz="3200" dirty="0">
                <a:latin typeface="+mj-lt"/>
              </a:rPr>
            </a:b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26209278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cs typeface="Times New Roman" panose="02020603050405020304" pitchFamily="18" charset="0"/>
              </a:rPr>
              <a:t>Tạo Biểu Mẫu Đăng Nhập - Áp Dụng Quy Trình Xác Thực</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a:xfrm>
            <a:off x="-36167" y="1158825"/>
            <a:ext cx="9102490" cy="5699175"/>
          </a:xfrm>
        </p:spPr>
        <p:txBody>
          <a:bodyPr>
            <a:noAutofit/>
          </a:bodyPr>
          <a:lstStyle/>
          <a:p>
            <a:pPr marL="0" indent="0" algn="just">
              <a:buNone/>
            </a:pPr>
            <a:r>
              <a:rPr lang="vi-VN" sz="3200" dirty="0">
                <a:latin typeface="+mj-lt"/>
              </a:rPr>
              <a:t>7. Đặt thuộc tính objectName của tiện ích Nút ấn thành PushButtonSearch.</a:t>
            </a:r>
            <a:endParaRPr lang="en-US" sz="3200" dirty="0">
              <a:latin typeface="+mj-lt"/>
            </a:endParaRPr>
          </a:p>
          <a:p>
            <a:pPr marL="0" indent="0" algn="just">
              <a:buNone/>
            </a:pPr>
            <a:r>
              <a:rPr lang="vi-VN" sz="3200" dirty="0">
                <a:latin typeface="+mj-lt"/>
              </a:rPr>
              <a:t>8. Đặt thuộc tính objectName của tiện ích Label thứ ba thành labelResponse.</a:t>
            </a:r>
            <a:endParaRPr lang="en-US" sz="3200" dirty="0">
              <a:latin typeface="+mj-lt"/>
            </a:endParaRPr>
          </a:p>
          <a:p>
            <a:pPr marL="0" indent="0" algn="just">
              <a:buNone/>
            </a:pPr>
            <a:r>
              <a:rPr lang="vi-VN" sz="3200" dirty="0">
                <a:latin typeface="+mj-lt"/>
              </a:rPr>
              <a:t>9. Lưu ứng dụng theo tên dưới dạng demoSignInForm.ui. Biểu mẫu sẽ xuất hiện như</a:t>
            </a:r>
            <a:r>
              <a:rPr lang="en-US" sz="3200" dirty="0">
                <a:latin typeface="+mj-lt"/>
              </a:rPr>
              <a:t> </a:t>
            </a:r>
            <a:r>
              <a:rPr lang="vi-VN" sz="3200" dirty="0">
                <a:latin typeface="+mj-lt"/>
              </a:rPr>
              <a:t>hình sau:</a:t>
            </a:r>
            <a:endParaRPr lang="en-US" sz="3200" dirty="0">
              <a:latin typeface="+mj-lt"/>
              <a:cs typeface="Times New Roman" panose="02020603050405020304" pitchFamily="18" charset="0"/>
            </a:endParaRPr>
          </a:p>
        </p:txBody>
      </p:sp>
      <p:pic>
        <p:nvPicPr>
          <p:cNvPr id="4" name="Picture 3" descr="sách Qt5-Python-GUI-Programming-Cookbook.pdf - Foxit Reader">
            <a:extLst>
              <a:ext uri="{FF2B5EF4-FFF2-40B4-BE49-F238E27FC236}">
                <a16:creationId xmlns:a16="http://schemas.microsoft.com/office/drawing/2014/main" id="{9587BCD6-73A8-46E4-80AB-28B72E42DEF6}"/>
              </a:ext>
            </a:extLst>
          </p:cNvPr>
          <p:cNvPicPr>
            <a:picLocks noChangeAspect="1"/>
          </p:cNvPicPr>
          <p:nvPr/>
        </p:nvPicPr>
        <p:blipFill rotWithShape="1">
          <a:blip r:embed="rId2">
            <a:extLst>
              <a:ext uri="{28A0092B-C50C-407E-A947-70E740481C1C}">
                <a14:useLocalDpi xmlns:a14="http://schemas.microsoft.com/office/drawing/2010/main" val="0"/>
              </a:ext>
            </a:extLst>
          </a:blip>
          <a:srcRect l="36970" t="33535" r="34848" b="37476"/>
          <a:stretch/>
        </p:blipFill>
        <p:spPr>
          <a:xfrm>
            <a:off x="2493817" y="4391889"/>
            <a:ext cx="4572001" cy="2175165"/>
          </a:xfrm>
          <a:prstGeom prst="rect">
            <a:avLst/>
          </a:prstGeom>
        </p:spPr>
      </p:pic>
    </p:spTree>
    <p:extLst>
      <p:ext uri="{BB962C8B-B14F-4D97-AF65-F5344CB8AC3E}">
        <p14:creationId xmlns:p14="http://schemas.microsoft.com/office/powerpoint/2010/main" val="41718571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cs typeface="Times New Roman" panose="02020603050405020304" pitchFamily="18" charset="0"/>
              </a:rPr>
              <a:t>Tạo Biểu Mẫu Đăng Nhập - Áp Dụng Quy Trình Xác Thực</a:t>
            </a:r>
            <a:endParaRPr lang="en-US" dirty="0">
              <a:latin typeface="Times New Roman" panose="02020603050405020304" pitchFamily="18" charset="0"/>
              <a:cs typeface="Times New Roman" panose="02020603050405020304" pitchFamily="18" charset="0"/>
            </a:endParaRPr>
          </a:p>
        </p:txBody>
      </p:sp>
      <p:sp>
        <p:nvSpPr>
          <p:cNvPr id="8" name="Content Placeholder 7">
            <a:extLst>
              <a:ext uri="{FF2B5EF4-FFF2-40B4-BE49-F238E27FC236}">
                <a16:creationId xmlns:a16="http://schemas.microsoft.com/office/drawing/2014/main" id="{47E6BD08-57A0-4C7F-9745-CDD8B38AF1BC}"/>
              </a:ext>
            </a:extLst>
          </p:cNvPr>
          <p:cNvSpPr>
            <a:spLocks noGrp="1"/>
          </p:cNvSpPr>
          <p:nvPr>
            <p:ph idx="1"/>
          </p:nvPr>
        </p:nvSpPr>
        <p:spPr>
          <a:xfrm>
            <a:off x="-36167" y="1158825"/>
            <a:ext cx="9102490" cy="5699175"/>
          </a:xfrm>
        </p:spPr>
        <p:txBody>
          <a:bodyPr>
            <a:noAutofit/>
          </a:bodyPr>
          <a:lstStyle/>
          <a:p>
            <a:pPr marL="0" indent="0" algn="just">
              <a:buNone/>
            </a:pPr>
            <a:r>
              <a:rPr lang="vi-VN" sz="3200" dirty="0">
                <a:latin typeface="+mj-lt"/>
              </a:rPr>
              <a:t>Giao diện người dùng được tạo bằng Qt Designer được lưu trữ trong file .ui là file XML và cần được chuyển đổi thành code Python. Bằng cách áp dụng lệnh pyuic5, file XML có thể được chuyển đổi thành code Python. </a:t>
            </a:r>
            <a:endParaRPr lang="en-US" sz="3200" dirty="0">
              <a:latin typeface="+mj-lt"/>
            </a:endParaRPr>
          </a:p>
          <a:p>
            <a:pPr marL="0" indent="0" algn="just">
              <a:buNone/>
            </a:pPr>
            <a:r>
              <a:rPr lang="vi-VN" sz="3200" dirty="0">
                <a:latin typeface="+mj-lt"/>
              </a:rPr>
              <a:t>10. Hãy coi file demoSignInForm.py là một file tiêu đề và nhập nó vào file mà bạn sẽ gọi thiết kế giao diện người dùng của nó.</a:t>
            </a:r>
            <a:endParaRPr lang="en-US" sz="3200" dirty="0">
              <a:latin typeface="+mj-lt"/>
            </a:endParaRPr>
          </a:p>
          <a:p>
            <a:pPr marL="0" indent="0" algn="just">
              <a:buNone/>
            </a:pPr>
            <a:r>
              <a:rPr lang="vi-VN" sz="3200" dirty="0">
                <a:latin typeface="+mj-lt"/>
              </a:rPr>
              <a:t>11. Tạo một file Python khác có tên callSignInForm.pyw và nhập code demoSignInForm.py vào đó:</a:t>
            </a:r>
            <a:endParaRPr lang="en-US" sz="3200" dirty="0">
              <a:latin typeface="+mj-lt"/>
              <a:cs typeface="Times New Roman" panose="02020603050405020304" pitchFamily="18" charset="0"/>
            </a:endParaRPr>
          </a:p>
        </p:txBody>
      </p:sp>
    </p:spTree>
    <p:extLst>
      <p:ext uri="{BB962C8B-B14F-4D97-AF65-F5344CB8AC3E}">
        <p14:creationId xmlns:p14="http://schemas.microsoft.com/office/powerpoint/2010/main" val="33890449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cs typeface="Times New Roman" panose="02020603050405020304" pitchFamily="18" charset="0"/>
              </a:rPr>
              <a:t>Tạo Biểu Mẫu Đăng Nhập - Áp Dụng Quy Trình Xác Thực</a:t>
            </a:r>
            <a:endParaRPr lang="en-US" dirty="0">
              <a:latin typeface="Times New Roman" panose="02020603050405020304" pitchFamily="18" charset="0"/>
              <a:cs typeface="Times New Roman" panose="02020603050405020304" pitchFamily="18" charset="0"/>
            </a:endParaRPr>
          </a:p>
        </p:txBody>
      </p:sp>
      <p:pic>
        <p:nvPicPr>
          <p:cNvPr id="4" name="Content Placeholder 3" descr="sách Qt5-Python-GUI-Programming-Cookbook.pdf - Foxit Reader">
            <a:extLst>
              <a:ext uri="{FF2B5EF4-FFF2-40B4-BE49-F238E27FC236}">
                <a16:creationId xmlns:a16="http://schemas.microsoft.com/office/drawing/2014/main" id="{B8A93219-6747-401C-9201-B88D7E0884BF}"/>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734" t="16548" r="27303" b="4573"/>
          <a:stretch/>
        </p:blipFill>
        <p:spPr>
          <a:xfrm>
            <a:off x="263235" y="1149926"/>
            <a:ext cx="8714509" cy="5486401"/>
          </a:xfrm>
        </p:spPr>
      </p:pic>
    </p:spTree>
    <p:extLst>
      <p:ext uri="{BB962C8B-B14F-4D97-AF65-F5344CB8AC3E}">
        <p14:creationId xmlns:p14="http://schemas.microsoft.com/office/powerpoint/2010/main" val="37957712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Cập Nhật Bảng Cơ Sở Dữ Liệu - Thay Đổi Mật Khẩu Người Dùng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38C8A35-489C-4C67-950D-623FDCACAEA1}"/>
              </a:ext>
            </a:extLst>
          </p:cNvPr>
          <p:cNvSpPr>
            <a:spLocks noGrp="1"/>
          </p:cNvSpPr>
          <p:nvPr>
            <p:ph idx="1"/>
          </p:nvPr>
        </p:nvSpPr>
        <p:spPr/>
        <p:txBody>
          <a:bodyPr>
            <a:noAutofit/>
          </a:bodyPr>
          <a:lstStyle/>
          <a:p>
            <a:pPr algn="just"/>
            <a:r>
              <a:rPr lang="vi-VN" sz="3200" dirty="0">
                <a:latin typeface="+mj-lt"/>
              </a:rPr>
              <a:t>Trong </a:t>
            </a:r>
            <a:r>
              <a:rPr lang="en-US" sz="3200" dirty="0" err="1">
                <a:latin typeface="Times New Roman" panose="02020603050405020304" pitchFamily="18" charset="0"/>
                <a:cs typeface="Times New Roman" panose="02020603050405020304" pitchFamily="18" charset="0"/>
              </a:rPr>
              <a:t>phần</a:t>
            </a:r>
            <a:r>
              <a:rPr lang="en-US" sz="3200" dirty="0">
                <a:latin typeface="+mj-lt"/>
              </a:rPr>
              <a:t> </a:t>
            </a:r>
            <a:r>
              <a:rPr lang="vi-VN" sz="3200" dirty="0">
                <a:latin typeface="+mj-lt"/>
              </a:rPr>
              <a:t>này, bạn sẽ học cách cập nhật bất kỳ thông tin nào trong cơ sở dữ liệu. Thay đổi mật khẩu là một yêu cầu rất phổ biến trong hầu hết các ứng dụng. Chúng t</a:t>
            </a:r>
            <a:r>
              <a:rPr lang="en-US" sz="3200" dirty="0">
                <a:latin typeface="Times New Roman" panose="02020603050405020304" pitchFamily="18" charset="0"/>
                <a:cs typeface="Times New Roman" panose="02020603050405020304" pitchFamily="18" charset="0"/>
              </a:rPr>
              <a:t>a</a:t>
            </a:r>
            <a:r>
              <a:rPr lang="vi-VN" sz="3200" dirty="0">
                <a:latin typeface="+mj-lt"/>
              </a:rPr>
              <a:t> giả định rằng cơ sở dữ liệu có tên </a:t>
            </a:r>
            <a:r>
              <a:rPr lang="en-US" dirty="0">
                <a:latin typeface="Times New Roman" panose="02020603050405020304" pitchFamily="18" charset="0"/>
                <a:cs typeface="Times New Roman" panose="02020603050405020304" pitchFamily="18" charset="0"/>
              </a:rPr>
              <a:t>ECommerce</a:t>
            </a:r>
            <a:r>
              <a:rPr lang="en-US" sz="3200" dirty="0"/>
              <a:t>  </a:t>
            </a:r>
            <a:r>
              <a:rPr lang="vi-VN" sz="3200" dirty="0">
                <a:latin typeface="+mj-lt"/>
              </a:rPr>
              <a:t>đã tồn tại và một bảng có tên Users cũng tồn tại trong cơ sở dữ liệu </a:t>
            </a:r>
            <a:r>
              <a:rPr lang="en-US" sz="3200" dirty="0">
                <a:latin typeface="Times New Roman" panose="02020603050405020304" pitchFamily="18" charset="0"/>
                <a:cs typeface="Times New Roman" panose="02020603050405020304" pitchFamily="18" charset="0"/>
              </a:rPr>
              <a:t>ECommerce</a:t>
            </a:r>
            <a:r>
              <a:rPr lang="vi-VN" sz="3200" dirty="0">
                <a:latin typeface="+mj-lt"/>
              </a:rPr>
              <a:t>. Bảng Users bao gồm hai cột, EmailAddress và Password. Ngoài ra, chúng t</a:t>
            </a:r>
            <a:r>
              <a:rPr lang="en-US" sz="3200" dirty="0">
                <a:latin typeface="Times New Roman" panose="02020603050405020304" pitchFamily="18" charset="0"/>
                <a:cs typeface="Times New Roman" panose="02020603050405020304" pitchFamily="18" charset="0"/>
              </a:rPr>
              <a:t>a</a:t>
            </a:r>
            <a:r>
              <a:rPr lang="vi-VN" sz="3200" dirty="0">
                <a:latin typeface="+mj-lt"/>
              </a:rPr>
              <a:t> giả định rằng bảng Users</a:t>
            </a:r>
            <a:r>
              <a:rPr lang="vi-VN" sz="3200" dirty="0"/>
              <a:t> </a:t>
            </a:r>
            <a:r>
              <a:rPr lang="vi-VN" sz="3200" dirty="0">
                <a:latin typeface="+mj-lt"/>
              </a:rPr>
              <a:t>chứa một vài hàng trong đó. Users</a:t>
            </a:r>
            <a:r>
              <a:rPr lang="vi-VN" sz="3200" dirty="0"/>
              <a:t> </a:t>
            </a:r>
            <a:r>
              <a:rPr lang="vi-VN" sz="3200" dirty="0">
                <a:latin typeface="+mj-lt"/>
              </a:rPr>
              <a:t>sẽ được nhắc nhập địa chỉ email và mật khẩu của họ trong mẫu. Bảng Users được tìm kiếm cho địa chỉ email và mật khẩu được chỉ định. Nếu một hàng được tìm thấy với địa chỉ email và mật khẩu được chỉ định, người dùng sẽ</a:t>
            </a:r>
            <a:endParaRPr lang="en-US" sz="3200" dirty="0">
              <a:latin typeface="+mj-lt"/>
            </a:endParaRPr>
          </a:p>
        </p:txBody>
      </p:sp>
    </p:spTree>
    <p:extLst>
      <p:ext uri="{BB962C8B-B14F-4D97-AF65-F5344CB8AC3E}">
        <p14:creationId xmlns:p14="http://schemas.microsoft.com/office/powerpoint/2010/main" val="130453168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Cập Nhật Bảng Cơ Sở Dữ Liệu - Thay Đổi Mật Khẩu Người Dùng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38C8A35-489C-4C67-950D-623FDCACAEA1}"/>
              </a:ext>
            </a:extLst>
          </p:cNvPr>
          <p:cNvSpPr>
            <a:spLocks noGrp="1"/>
          </p:cNvSpPr>
          <p:nvPr>
            <p:ph idx="1"/>
          </p:nvPr>
        </p:nvSpPr>
        <p:spPr/>
        <p:txBody>
          <a:bodyPr>
            <a:noAutofit/>
          </a:bodyPr>
          <a:lstStyle/>
          <a:p>
            <a:pPr marL="0" indent="0" algn="just">
              <a:buNone/>
            </a:pPr>
            <a:r>
              <a:rPr lang="vi-VN" sz="3200" dirty="0">
                <a:latin typeface="+mj-lt"/>
              </a:rPr>
              <a:t>được nhắc nhập mật khẩu mới. Mật khẩu mới sẽ được yêu cầu hai lần, nghĩa là, người dùng sẽ được yêu cầu nhập mật khẩu mới của họ vào cả hộp </a:t>
            </a:r>
            <a:r>
              <a:rPr lang="vi-VN" sz="3200" i="1" dirty="0">
                <a:latin typeface="+mj-lt"/>
              </a:rPr>
              <a:t>New Password </a:t>
            </a:r>
            <a:r>
              <a:rPr lang="vi-VN" sz="3200" dirty="0">
                <a:latin typeface="+mj-lt"/>
              </a:rPr>
              <a:t>và hộp </a:t>
            </a:r>
            <a:r>
              <a:rPr lang="vi-VN" sz="3200" i="1" dirty="0">
                <a:latin typeface="+mj-lt"/>
              </a:rPr>
              <a:t>Re-enter New Password</a:t>
            </a:r>
            <a:r>
              <a:rPr lang="vi-VN" sz="3200" dirty="0">
                <a:latin typeface="+mj-lt"/>
              </a:rPr>
              <a:t>. Nếu mật khẩu được nhập trong hai hộp khớp nhau, mật khẩu sẽ được thay đổi, nghĩa là mật khẩu cũ sẽ được thay thế bằng mật khẩu mới.</a:t>
            </a:r>
            <a:endParaRPr lang="en-US" sz="3200" dirty="0">
              <a:latin typeface="+mj-lt"/>
            </a:endParaRPr>
          </a:p>
          <a:p>
            <a:pPr marL="0" indent="0" algn="just">
              <a:buNone/>
            </a:pPr>
            <a:r>
              <a:rPr lang="vi-VN" sz="3200" dirty="0">
                <a:latin typeface="+mj-lt"/>
              </a:rPr>
              <a:t>Quy trình xóa dữ liệu khỏi bảng cơ sở dữ liệu là rất quan trọng và bất kỳ sai lầm nào khi thực hiện một ứng dụng như vậy có thể dẫn đến thảm họa. Ở đây có các bước để xóa bất kỳ hàng nào khỏi bảng cơ sở dữ liệu đã cho:</a:t>
            </a:r>
            <a:endParaRPr lang="en-US" sz="3200" dirty="0">
              <a:latin typeface="+mj-lt"/>
            </a:endParaRPr>
          </a:p>
        </p:txBody>
      </p:sp>
    </p:spTree>
    <p:extLst>
      <p:ext uri="{BB962C8B-B14F-4D97-AF65-F5344CB8AC3E}">
        <p14:creationId xmlns:p14="http://schemas.microsoft.com/office/powerpoint/2010/main" val="1988221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Cập Nhật Bảng Cơ Sở Dữ Liệu - Thay Đổi Mật Khẩu Người Dùng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38C8A35-489C-4C67-950D-623FDCACAEA1}"/>
              </a:ext>
            </a:extLst>
          </p:cNvPr>
          <p:cNvSpPr>
            <a:spLocks noGrp="1"/>
          </p:cNvSpPr>
          <p:nvPr>
            <p:ph idx="1"/>
          </p:nvPr>
        </p:nvSpPr>
        <p:spPr/>
        <p:txBody>
          <a:bodyPr>
            <a:noAutofit/>
          </a:bodyPr>
          <a:lstStyle/>
          <a:p>
            <a:pPr marL="514350" indent="-514350" algn="just">
              <a:buAutoNum type="arabicPeriod"/>
            </a:pPr>
            <a:r>
              <a:rPr lang="vi-VN" sz="3200" dirty="0">
                <a:latin typeface="+mj-lt"/>
              </a:rPr>
              <a:t>Hãy tạo một ứng dụng dựa trên mẫu Dialog without Buttons.</a:t>
            </a:r>
            <a:endParaRPr lang="en-US" sz="3200" dirty="0">
              <a:latin typeface="+mj-lt"/>
            </a:endParaRPr>
          </a:p>
          <a:p>
            <a:pPr marL="514350" indent="-514350" algn="just">
              <a:buAutoNum type="arabicPeriod"/>
            </a:pPr>
            <a:r>
              <a:rPr lang="vi-VN" sz="3200" dirty="0">
                <a:latin typeface="+mj-lt"/>
              </a:rPr>
              <a:t>Thêm năm tiện ích QLabel, bốn tiện ích QLineEdit và một tiện ích QPushButton vào form bằng cách kéo và thả năm tiện ích Label , bốn tiện Line Edit và một tiện ích Push Button trên form. </a:t>
            </a:r>
            <a:endParaRPr lang="en-US" sz="3200" dirty="0">
              <a:latin typeface="+mj-lt"/>
            </a:endParaRPr>
          </a:p>
          <a:p>
            <a:pPr marL="514350" indent="-514350" algn="just">
              <a:buAutoNum type="arabicPeriod"/>
            </a:pPr>
            <a:r>
              <a:rPr lang="vi-VN" sz="3200" dirty="0">
                <a:latin typeface="+mj-lt"/>
              </a:rPr>
              <a:t>Đặt thuộc tính text của bốn tiện ích Label đầu tiên thành </a:t>
            </a:r>
            <a:r>
              <a:rPr lang="en-US" sz="3200" dirty="0">
                <a:latin typeface="Times New Roman" panose="02020603050405020304" pitchFamily="18" charset="0"/>
                <a:cs typeface="Times New Roman" panose="02020603050405020304" pitchFamily="18" charset="0"/>
              </a:rPr>
              <a:t>Email Address, Old Password, New Password </a:t>
            </a:r>
            <a:r>
              <a:rPr lang="vi-VN" sz="3200" dirty="0">
                <a:latin typeface="+mj-lt"/>
              </a:rPr>
              <a:t>và Re-enter New Password.</a:t>
            </a:r>
            <a:endParaRPr lang="en-US" sz="3200" dirty="0">
              <a:latin typeface="+mj-lt"/>
            </a:endParaRPr>
          </a:p>
          <a:p>
            <a:pPr marL="514350" indent="-514350" algn="just">
              <a:buAutoNum type="arabicPeriod"/>
            </a:pPr>
            <a:r>
              <a:rPr lang="vi-VN" sz="3200" dirty="0">
                <a:latin typeface="+mj-lt"/>
              </a:rPr>
              <a:t>Xóa thuộc tính text của tiện ích Label thứ năm, tiện ích này được thiết lập thông qua code. Đặt thuộc tính text</a:t>
            </a:r>
            <a:r>
              <a:rPr lang="vi-VN" sz="3200" dirty="0"/>
              <a:t> </a:t>
            </a:r>
            <a:r>
              <a:rPr lang="vi-VN" sz="3200" dirty="0">
                <a:latin typeface="+mj-lt"/>
              </a:rPr>
              <a:t>của nút ấn để Thay đổi Mật khẩu.</a:t>
            </a:r>
            <a:br>
              <a:rPr lang="vi-VN" sz="3200" dirty="0">
                <a:latin typeface="+mj-lt"/>
              </a:rPr>
            </a:br>
            <a:endParaRPr lang="en-US" sz="3200" dirty="0">
              <a:latin typeface="+mj-lt"/>
            </a:endParaRPr>
          </a:p>
        </p:txBody>
      </p:sp>
    </p:spTree>
    <p:extLst>
      <p:ext uri="{BB962C8B-B14F-4D97-AF65-F5344CB8AC3E}">
        <p14:creationId xmlns:p14="http://schemas.microsoft.com/office/powerpoint/2010/main" val="190237611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Cập Nhật Bảng Cơ Sở Dữ Liệu - Thay Đổi Mật Khẩu Người Dùng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38C8A35-489C-4C67-950D-623FDCACAEA1}"/>
              </a:ext>
            </a:extLst>
          </p:cNvPr>
          <p:cNvSpPr>
            <a:spLocks noGrp="1"/>
          </p:cNvSpPr>
          <p:nvPr>
            <p:ph idx="1"/>
          </p:nvPr>
        </p:nvSpPr>
        <p:spPr/>
        <p:txBody>
          <a:bodyPr>
            <a:noAutofit/>
          </a:bodyPr>
          <a:lstStyle/>
          <a:p>
            <a:pPr marL="0" indent="0" algn="just">
              <a:buNone/>
            </a:pPr>
            <a:r>
              <a:rPr lang="vi-VN" sz="3200" dirty="0">
                <a:latin typeface="+mj-lt"/>
              </a:rPr>
              <a:t>5. Đặt thuộc tính objectName của bốn tiện ích Line Edit thành lineEditEmailAddress, lineEditOldPassword, lineEditNewPassword và lineEditRePassword. Vì chúng tôi không muốn mật khẩu được hiển thị trong bất kỳ tiện ích Chỉnh sửa dòng nào được liên kết với mật khẩu, chúng tôi muốn dấu hoa thị xuất hiện khi người dùng nhập mật khẩu.</a:t>
            </a:r>
            <a:br>
              <a:rPr lang="vi-VN" sz="3200" dirty="0">
                <a:latin typeface="+mj-lt"/>
              </a:rPr>
            </a:br>
            <a:r>
              <a:rPr lang="vi-VN" sz="3200" dirty="0">
                <a:latin typeface="+mj-lt"/>
              </a:rPr>
              <a:t>6. Chọn ba tiện ích Line Edit một lần và từ cửa sổ Property Editor window.</a:t>
            </a:r>
            <a:endParaRPr lang="en-US" sz="3200" dirty="0">
              <a:latin typeface="+mj-lt"/>
            </a:endParaRPr>
          </a:p>
          <a:p>
            <a:pPr marL="0" indent="0" algn="just">
              <a:buNone/>
            </a:pPr>
            <a:r>
              <a:rPr lang="vi-VN" sz="3200" dirty="0">
                <a:latin typeface="+mj-lt"/>
              </a:rPr>
              <a:t>7. Chọn thuộc tính echoMode và đặt thành Mật khẩu thay vì Bình thường mặc định.</a:t>
            </a:r>
            <a:br>
              <a:rPr lang="vi-VN" sz="3200" dirty="0">
                <a:latin typeface="+mj-lt"/>
              </a:rPr>
            </a:br>
            <a:r>
              <a:rPr lang="vi-VN" sz="3200" dirty="0">
                <a:latin typeface="+mj-lt"/>
              </a:rPr>
              <a:t>8. Đặt thuộc tính objectName của tiện ích Nút ấn thành pushButtonChangePassword.</a:t>
            </a:r>
            <a:endParaRPr lang="en-US" sz="3200" dirty="0">
              <a:latin typeface="+mj-lt"/>
            </a:endParaRPr>
          </a:p>
        </p:txBody>
      </p:sp>
    </p:spTree>
    <p:extLst>
      <p:ext uri="{BB962C8B-B14F-4D97-AF65-F5344CB8AC3E}">
        <p14:creationId xmlns:p14="http://schemas.microsoft.com/office/powerpoint/2010/main" val="21206971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Cập Nhật Bảng Cơ Sở Dữ Liệu - Thay Đổi Mật Khẩu Người Dùng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38C8A35-489C-4C67-950D-623FDCACAEA1}"/>
              </a:ext>
            </a:extLst>
          </p:cNvPr>
          <p:cNvSpPr>
            <a:spLocks noGrp="1"/>
          </p:cNvSpPr>
          <p:nvPr>
            <p:ph idx="1"/>
          </p:nvPr>
        </p:nvSpPr>
        <p:spPr/>
        <p:txBody>
          <a:bodyPr>
            <a:noAutofit/>
          </a:bodyPr>
          <a:lstStyle/>
          <a:p>
            <a:pPr marL="0" indent="0" algn="just">
              <a:buNone/>
            </a:pPr>
            <a:r>
              <a:rPr lang="vi-VN" sz="3200" dirty="0">
                <a:latin typeface="+mj-lt"/>
              </a:rPr>
              <a:t>9. Đặt thuộc tính objectName của tiện ích Label thứ năm thành labelResponse.</a:t>
            </a:r>
            <a:endParaRPr lang="en-US" sz="3200" dirty="0">
              <a:latin typeface="+mj-lt"/>
            </a:endParaRPr>
          </a:p>
          <a:p>
            <a:pPr marL="0" indent="0" algn="just">
              <a:buNone/>
            </a:pPr>
            <a:r>
              <a:rPr lang="vi-VN" sz="3200" dirty="0">
                <a:latin typeface="+mj-lt"/>
              </a:rPr>
              <a:t>10. Lưu ứng dụng theo tên dưới dạng demoChangePassword.ui. Form sẽ xuất hiện như trong ảnh chụp màn hình sau:</a:t>
            </a:r>
            <a:endParaRPr lang="en-US" sz="3200" dirty="0">
              <a:latin typeface="+mj-lt"/>
            </a:endParaRPr>
          </a:p>
        </p:txBody>
      </p:sp>
      <p:pic>
        <p:nvPicPr>
          <p:cNvPr id="4" name="Picture 3" descr="sách Qt5-Python-GUI-Programming-Cookbook.pdf - Foxit Reader">
            <a:extLst>
              <a:ext uri="{FF2B5EF4-FFF2-40B4-BE49-F238E27FC236}">
                <a16:creationId xmlns:a16="http://schemas.microsoft.com/office/drawing/2014/main" id="{C797EC16-BF14-4F7C-8E14-83B171178F11}"/>
              </a:ext>
            </a:extLst>
          </p:cNvPr>
          <p:cNvPicPr>
            <a:picLocks noChangeAspect="1"/>
          </p:cNvPicPr>
          <p:nvPr/>
        </p:nvPicPr>
        <p:blipFill rotWithShape="1">
          <a:blip r:embed="rId2">
            <a:extLst>
              <a:ext uri="{28A0092B-C50C-407E-A947-70E740481C1C}">
                <a14:useLocalDpi xmlns:a14="http://schemas.microsoft.com/office/drawing/2010/main" val="0"/>
              </a:ext>
            </a:extLst>
          </a:blip>
          <a:srcRect l="37273" t="25937" r="34697" b="34943"/>
          <a:stretch/>
        </p:blipFill>
        <p:spPr>
          <a:xfrm>
            <a:off x="1302327" y="3429000"/>
            <a:ext cx="6040581" cy="2985655"/>
          </a:xfrm>
          <a:prstGeom prst="rect">
            <a:avLst/>
          </a:prstGeom>
        </p:spPr>
      </p:pic>
    </p:spTree>
    <p:extLst>
      <p:ext uri="{BB962C8B-B14F-4D97-AF65-F5344CB8AC3E}">
        <p14:creationId xmlns:p14="http://schemas.microsoft.com/office/powerpoint/2010/main" val="41529849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Cập Nhật Bảng Cơ Sở Dữ Liệu - Thay Đổi Mật Khẩu Người Dùng</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38C8A35-489C-4C67-950D-623FDCACAEA1}"/>
              </a:ext>
            </a:extLst>
          </p:cNvPr>
          <p:cNvSpPr>
            <a:spLocks noGrp="1"/>
          </p:cNvSpPr>
          <p:nvPr>
            <p:ph idx="1"/>
          </p:nvPr>
        </p:nvSpPr>
        <p:spPr/>
        <p:txBody>
          <a:bodyPr>
            <a:noAutofit/>
          </a:bodyPr>
          <a:lstStyle/>
          <a:p>
            <a:pPr marL="0" indent="0" algn="just">
              <a:buNone/>
            </a:pPr>
            <a:r>
              <a:rPr lang="vi-VN" sz="3200" dirty="0">
                <a:latin typeface="+mj-lt"/>
              </a:rPr>
              <a:t>Giao diện người dùng được tạo bằng Qt Designer được lưu trữ trong file .ui, là file XML và cần được chuyển đổi thành code Python. Lệnh pyuic5 được sử dụng để chuyển đổi file XML thành code Python. </a:t>
            </a:r>
            <a:endParaRPr lang="en-US" sz="3200" dirty="0">
              <a:latin typeface="+mj-lt"/>
            </a:endParaRPr>
          </a:p>
          <a:p>
            <a:pPr marL="0" indent="0" algn="just">
              <a:buNone/>
            </a:pPr>
            <a:r>
              <a:rPr lang="vi-VN" sz="3200" dirty="0">
                <a:latin typeface="+mj-lt"/>
              </a:rPr>
              <a:t>11. Hãy coi tập lệnh demoChangePassword.py là một file tiêu đề và nhập nó vào file mà bạn sẽ gọi thiết kế giao diện người dùng của nó.</a:t>
            </a:r>
            <a:endParaRPr lang="en-US" sz="3200" dirty="0">
              <a:latin typeface="+mj-lt"/>
            </a:endParaRPr>
          </a:p>
          <a:p>
            <a:pPr marL="0" indent="0" algn="just">
              <a:buNone/>
            </a:pPr>
            <a:r>
              <a:rPr lang="vi-VN" sz="3200" dirty="0">
                <a:latin typeface="+mj-lt"/>
              </a:rPr>
              <a:t>12. Tạo một file Python khác có tên callChangePassword.pyw và nhập code demoChangePassword.py vào đó:</a:t>
            </a:r>
            <a:endParaRPr lang="en-US" sz="3200" dirty="0">
              <a:latin typeface="+mj-lt"/>
            </a:endParaRPr>
          </a:p>
        </p:txBody>
      </p:sp>
    </p:spTree>
    <p:extLst>
      <p:ext uri="{BB962C8B-B14F-4D97-AF65-F5344CB8AC3E}">
        <p14:creationId xmlns:p14="http://schemas.microsoft.com/office/powerpoint/2010/main" val="24515291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Cập Nhật Bảng Cơ Sở Dữ Liệu - Thay Đổi Mật Khẩu Người Dùng</a:t>
            </a:r>
            <a:endParaRPr lang="en-US" dirty="0">
              <a:latin typeface="Times New Roman" panose="02020603050405020304" pitchFamily="18" charset="0"/>
              <a:cs typeface="Times New Roman" panose="02020603050405020304" pitchFamily="18" charset="0"/>
            </a:endParaRPr>
          </a:p>
        </p:txBody>
      </p:sp>
      <p:pic>
        <p:nvPicPr>
          <p:cNvPr id="4" name="Content Placeholder 3" descr="sách Qt5-Python-GUI-Programming-Cookbook.pdf - Foxit Reader">
            <a:extLst>
              <a:ext uri="{FF2B5EF4-FFF2-40B4-BE49-F238E27FC236}">
                <a16:creationId xmlns:a16="http://schemas.microsoft.com/office/drawing/2014/main" id="{AFBD5C50-690D-4831-B7B7-6BFA3896F1BA}"/>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393" t="15422" r="25513" b="7961"/>
          <a:stretch/>
        </p:blipFill>
        <p:spPr>
          <a:xfrm>
            <a:off x="249383" y="1047404"/>
            <a:ext cx="8340435" cy="5644341"/>
          </a:xfrm>
        </p:spPr>
      </p:pic>
    </p:spTree>
    <p:extLst>
      <p:ext uri="{BB962C8B-B14F-4D97-AF65-F5344CB8AC3E}">
        <p14:creationId xmlns:p14="http://schemas.microsoft.com/office/powerpoint/2010/main" val="40481492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Cập Nhật Bảng Cơ Sở Dữ Liệu - Thay Đổi Mật Khẩu Người Dùng</a:t>
            </a:r>
            <a:endParaRPr lang="en-US" dirty="0">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Foxit Reader">
            <a:extLst>
              <a:ext uri="{FF2B5EF4-FFF2-40B4-BE49-F238E27FC236}">
                <a16:creationId xmlns:a16="http://schemas.microsoft.com/office/drawing/2014/main" id="{BED3AEE1-CF5C-4C49-A8E0-E89F95BFF59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4306" t="23903" r="26426" b="46976"/>
          <a:stretch/>
        </p:blipFill>
        <p:spPr>
          <a:xfrm>
            <a:off x="346364" y="1047404"/>
            <a:ext cx="8506691" cy="4314305"/>
          </a:xfrm>
        </p:spPr>
      </p:pic>
    </p:spTree>
    <p:extLst>
      <p:ext uri="{BB962C8B-B14F-4D97-AF65-F5344CB8AC3E}">
        <p14:creationId xmlns:p14="http://schemas.microsoft.com/office/powerpoint/2010/main" val="30463622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Xóa Một Hàng Từ Bảng Cơ Sở Dữ Liệu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055E44B-1459-4316-9294-D0B194239636}"/>
              </a:ext>
            </a:extLst>
          </p:cNvPr>
          <p:cNvSpPr>
            <a:spLocks noGrp="1"/>
          </p:cNvSpPr>
          <p:nvPr>
            <p:ph idx="1"/>
          </p:nvPr>
        </p:nvSpPr>
        <p:spPr/>
        <p:txBody>
          <a:bodyPr>
            <a:noAutofit/>
          </a:bodyPr>
          <a:lstStyle/>
          <a:p>
            <a:pPr algn="just"/>
            <a:r>
              <a:rPr lang="vi-VN" sz="3100" dirty="0">
                <a:latin typeface="+mj-lt"/>
              </a:rPr>
              <a:t>Chúng ta sẽ học cách loại bỏ một hàng khỏi bảng cơ sở dữ liệu. Chúng ta giả định rằng cơ sở dữ liệu có tên ECommerce đã tồn tại và một bảng có tên Users cũng tồn tại trong cơ sở dữ liệu ECommerce . Bảng Users bao gồm hai cột, EmailAddress và Password. Ngoài ra, chúng tôi giả định rằng bảng Users chứa một vài hàng trong đó. Người dùng sẽ được nhắc nhập địa chỉ email và mật khẩu của họ trong mẫu. Bảng Users  được tìm kiếm cho địa chỉ email và mật khẩu được chỉ định. Nếu bất kỳ hàng nào được tìm thấy với địa chỉ email và mật khẩu được chỉ định trong Users , bạn sẽ được nhắc xác nhận xem bạn có chắc chắn muốn xóa hàng đó không. Nếu bạn nhấp vào nút </a:t>
            </a:r>
            <a:r>
              <a:rPr lang="vi-VN" sz="3100" b="1" dirty="0">
                <a:latin typeface="+mj-lt"/>
              </a:rPr>
              <a:t>Yes</a:t>
            </a:r>
            <a:r>
              <a:rPr lang="vi-VN" sz="3100" dirty="0">
                <a:latin typeface="+mj-lt"/>
              </a:rPr>
              <a:t> , hàng sẽ bị xóa.</a:t>
            </a:r>
            <a:endParaRPr lang="en-US" sz="3100" dirty="0">
              <a:latin typeface="+mj-lt"/>
            </a:endParaRPr>
          </a:p>
        </p:txBody>
      </p:sp>
    </p:spTree>
    <p:extLst>
      <p:ext uri="{BB962C8B-B14F-4D97-AF65-F5344CB8AC3E}">
        <p14:creationId xmlns:p14="http://schemas.microsoft.com/office/powerpoint/2010/main" val="14502776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Xóa Một Hàng Từ Bảng Cơ Sở Dữ Liệu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055E44B-1459-4316-9294-D0B194239636}"/>
              </a:ext>
            </a:extLst>
          </p:cNvPr>
          <p:cNvSpPr>
            <a:spLocks noGrp="1"/>
          </p:cNvSpPr>
          <p:nvPr>
            <p:ph idx="1"/>
          </p:nvPr>
        </p:nvSpPr>
        <p:spPr/>
        <p:txBody>
          <a:bodyPr>
            <a:noAutofit/>
          </a:bodyPr>
          <a:lstStyle/>
          <a:p>
            <a:pPr algn="just"/>
            <a:r>
              <a:rPr lang="vi-VN" sz="3200" dirty="0">
                <a:latin typeface="+mj-lt"/>
              </a:rPr>
              <a:t>Quy trình xóa dữ liệu khỏi bảng cơ sở dữ liệu là rất quan trọng và bất kỳ sai lầm nào khi thực hiện một ứng dụng như vậy có thể dẫn đến thảm họa. Sau đây là các bước để xóa bất kỳ hàng nào khỏi bảng cơ sở dữ liệu đã cho:</a:t>
            </a:r>
            <a:endParaRPr lang="en-US" sz="3200" dirty="0">
              <a:latin typeface="+mj-lt"/>
            </a:endParaRPr>
          </a:p>
          <a:p>
            <a:pPr marL="514350" indent="-514350" algn="just">
              <a:buAutoNum type="arabicPeriod"/>
            </a:pPr>
            <a:r>
              <a:rPr lang="vi-VN" sz="3200" dirty="0">
                <a:latin typeface="+mj-lt"/>
              </a:rPr>
              <a:t>Hãy tạo một ứng dụng dựa trên mẫu </a:t>
            </a:r>
            <a:r>
              <a:rPr lang="en-US" sz="3200" dirty="0">
                <a:latin typeface="Times New Roman" panose="02020603050405020304" pitchFamily="18" charset="0"/>
                <a:cs typeface="Times New Roman" panose="02020603050405020304" pitchFamily="18" charset="0"/>
              </a:rPr>
              <a:t>D</a:t>
            </a:r>
            <a:r>
              <a:rPr lang="vi-VN" sz="3200" dirty="0">
                <a:latin typeface="+mj-lt"/>
              </a:rPr>
              <a:t>ialog without Buttons</a:t>
            </a:r>
            <a:endParaRPr lang="en-US" sz="3200" dirty="0">
              <a:latin typeface="+mj-lt"/>
            </a:endParaRPr>
          </a:p>
          <a:p>
            <a:pPr marL="514350" indent="-514350" algn="just">
              <a:buAutoNum type="arabicPeriod"/>
            </a:pPr>
            <a:r>
              <a:rPr lang="vi-VN" sz="3200" dirty="0">
                <a:latin typeface="+mj-lt"/>
              </a:rPr>
              <a:t>Thêm bốn tiện ích QLabel, hai tiện ích QLineEdit và ba tiện ích QPushButton vào form bằng cách kéo và thả bốn tiện ích Label , hai tiện ích Line</a:t>
            </a:r>
            <a:r>
              <a:rPr lang="en-US" sz="3200" dirty="0">
                <a:latin typeface="+mj-lt"/>
              </a:rPr>
              <a:t> </a:t>
            </a:r>
            <a:r>
              <a:rPr lang="vi-VN" sz="3200" dirty="0">
                <a:latin typeface="+mj-lt"/>
              </a:rPr>
              <a:t>Edit và ba tiện ích Push Button</a:t>
            </a:r>
            <a:r>
              <a:rPr lang="en-US" sz="3200" dirty="0">
                <a:latin typeface="+mj-lt"/>
              </a:rPr>
              <a:t> </a:t>
            </a:r>
            <a:r>
              <a:rPr lang="vi-VN" sz="3200" dirty="0">
                <a:latin typeface="+mj-lt"/>
              </a:rPr>
              <a:t>trên form.</a:t>
            </a:r>
            <a:endParaRPr lang="en-US" sz="3200" dirty="0">
              <a:latin typeface="+mj-lt"/>
            </a:endParaRPr>
          </a:p>
        </p:txBody>
      </p:sp>
    </p:spTree>
    <p:extLst>
      <p:ext uri="{BB962C8B-B14F-4D97-AF65-F5344CB8AC3E}">
        <p14:creationId xmlns:p14="http://schemas.microsoft.com/office/powerpoint/2010/main" val="20956022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Xóa Một Hàng Từ Bảng Cơ Sở Dữ Liệu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055E44B-1459-4316-9294-D0B194239636}"/>
              </a:ext>
            </a:extLst>
          </p:cNvPr>
          <p:cNvSpPr>
            <a:spLocks noGrp="1"/>
          </p:cNvSpPr>
          <p:nvPr>
            <p:ph idx="1"/>
          </p:nvPr>
        </p:nvSpPr>
        <p:spPr/>
        <p:txBody>
          <a:bodyPr>
            <a:noAutofit/>
          </a:bodyPr>
          <a:lstStyle/>
          <a:p>
            <a:pPr marL="0" indent="0" algn="just">
              <a:buNone/>
            </a:pPr>
            <a:r>
              <a:rPr lang="vi-VN" sz="3200" dirty="0">
                <a:latin typeface="+mj-lt"/>
              </a:rPr>
              <a:t>3. Đặt thuộc tính text của ba tiện ích Label  đầu tiên thành Email Address,Password</a:t>
            </a:r>
            <a:r>
              <a:rPr lang="en-US" sz="3200" dirty="0">
                <a:latin typeface="+mj-lt"/>
              </a:rPr>
              <a:t> </a:t>
            </a:r>
            <a:r>
              <a:rPr lang="vi-VN" sz="3200" dirty="0">
                <a:latin typeface="+mj-lt"/>
              </a:rPr>
              <a:t>và Are you Sure?</a:t>
            </a:r>
            <a:br>
              <a:rPr lang="vi-VN" sz="3200" dirty="0">
                <a:latin typeface="+mj-lt"/>
              </a:rPr>
            </a:br>
            <a:r>
              <a:rPr lang="vi-VN" sz="3200" dirty="0">
                <a:latin typeface="+mj-lt"/>
              </a:rPr>
              <a:t>4. Xóa thuộc tính text của tiện ích Label  thứ tư, tiện ích này được thiết lập thông qua code.</a:t>
            </a:r>
            <a:endParaRPr lang="en-US" sz="3200" dirty="0">
              <a:latin typeface="+mj-lt"/>
            </a:endParaRPr>
          </a:p>
          <a:p>
            <a:pPr marL="0" indent="0" algn="just">
              <a:buNone/>
            </a:pPr>
            <a:r>
              <a:rPr lang="vi-VN" sz="3200" dirty="0">
                <a:latin typeface="+mj-lt"/>
              </a:rPr>
              <a:t>5. Đặt thuộc tính text của ba nút ấn thành </a:t>
            </a:r>
            <a:r>
              <a:rPr lang="en-US" sz="3200" i="1" dirty="0">
                <a:latin typeface="Times New Roman" panose="02020603050405020304" pitchFamily="18" charset="0"/>
                <a:cs typeface="Times New Roman" panose="02020603050405020304" pitchFamily="18" charset="0"/>
              </a:rPr>
              <a:t>Delete User, Yes, and No</a:t>
            </a:r>
            <a:r>
              <a:rPr lang="vi-VN"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a:p>
            <a:pPr marL="0" indent="0" algn="just">
              <a:buNone/>
            </a:pPr>
            <a:r>
              <a:rPr lang="vi-VN" sz="3200" dirty="0">
                <a:latin typeface="+mj-lt"/>
              </a:rPr>
              <a:t>6. Đặt thuộc tính objectName của hai tiện ích Line Edit thành lineEditEmailAddress và lineEditPassword.</a:t>
            </a:r>
            <a:endParaRPr lang="en-US" sz="3200" dirty="0">
              <a:latin typeface="+mj-lt"/>
            </a:endParaRPr>
          </a:p>
          <a:p>
            <a:pPr marL="0" indent="0" algn="just">
              <a:buNone/>
            </a:pPr>
            <a:r>
              <a:rPr lang="vi-VN" sz="3200" dirty="0">
                <a:latin typeface="+mj-lt"/>
              </a:rPr>
              <a:t>7. Đặt thuộc tính objectName của ba tiện ích Nút ấn thành PushButtonDelete, pushButtonYes và pushButtonNo.</a:t>
            </a:r>
            <a:endParaRPr lang="en-US" sz="3200" dirty="0">
              <a:latin typeface="+mj-lt"/>
            </a:endParaRPr>
          </a:p>
          <a:p>
            <a:pPr marL="0" indent="0" algn="just">
              <a:buNone/>
            </a:pPr>
            <a:r>
              <a:rPr lang="vi-VN" sz="3200" dirty="0">
                <a:latin typeface="+mj-lt"/>
              </a:rPr>
              <a:t>8. Đặt thuộc tính objectName của tiện ích Label  thứ tư thành labelResponse.</a:t>
            </a:r>
            <a:endParaRPr lang="en-US" sz="3200" dirty="0">
              <a:latin typeface="+mj-lt"/>
            </a:endParaRPr>
          </a:p>
        </p:txBody>
      </p:sp>
    </p:spTree>
    <p:extLst>
      <p:ext uri="{BB962C8B-B14F-4D97-AF65-F5344CB8AC3E}">
        <p14:creationId xmlns:p14="http://schemas.microsoft.com/office/powerpoint/2010/main" val="113576272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Xóa Một Hàng Từ Bảng Cơ Sở Dữ Liệu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055E44B-1459-4316-9294-D0B194239636}"/>
              </a:ext>
            </a:extLst>
          </p:cNvPr>
          <p:cNvSpPr>
            <a:spLocks noGrp="1"/>
          </p:cNvSpPr>
          <p:nvPr>
            <p:ph idx="1"/>
          </p:nvPr>
        </p:nvSpPr>
        <p:spPr/>
        <p:txBody>
          <a:bodyPr>
            <a:noAutofit/>
          </a:bodyPr>
          <a:lstStyle/>
          <a:p>
            <a:pPr marL="0" indent="0" algn="just">
              <a:buNone/>
            </a:pPr>
            <a:r>
              <a:rPr lang="vi-VN" sz="3200" dirty="0">
                <a:latin typeface="+mj-lt"/>
              </a:rPr>
              <a:t>9. Lưu ứng dụng theo tên như demoDeleteUser.ui. Biểu mẫu sẽ xuất hiện như trong hình sau:</a:t>
            </a:r>
            <a:endParaRPr lang="en-US" sz="3200" dirty="0">
              <a:latin typeface="+mj-lt"/>
            </a:endParaRPr>
          </a:p>
          <a:p>
            <a:pPr marL="0" indent="0" algn="just">
              <a:buNone/>
            </a:pPr>
            <a:endParaRPr lang="en-US" sz="3200" dirty="0">
              <a:latin typeface="+mj-lt"/>
            </a:endParaRPr>
          </a:p>
          <a:p>
            <a:pPr marL="0" indent="0" algn="just">
              <a:buNone/>
            </a:pPr>
            <a:endParaRPr lang="en-US" sz="3200" dirty="0">
              <a:latin typeface="+mj-lt"/>
            </a:endParaRPr>
          </a:p>
          <a:p>
            <a:pPr marL="0" indent="0" algn="just">
              <a:buNone/>
            </a:pPr>
            <a:endParaRPr lang="en-US" sz="3200" dirty="0">
              <a:latin typeface="+mj-lt"/>
            </a:endParaRPr>
          </a:p>
          <a:p>
            <a:pPr marL="0" indent="0" algn="just">
              <a:buNone/>
            </a:pPr>
            <a:endParaRPr lang="en-US" sz="3200" dirty="0">
              <a:latin typeface="+mj-lt"/>
            </a:endParaRPr>
          </a:p>
          <a:p>
            <a:pPr marL="0" indent="0" algn="just">
              <a:buNone/>
            </a:pPr>
            <a:r>
              <a:rPr lang="vi-VN" sz="3200" dirty="0">
                <a:latin typeface="+mj-lt"/>
              </a:rPr>
              <a:t>Giao diện người dùng được tạo bằng Qt Designer được lưu trữ trong file .ui, đây là file XML và cần được chuyển đổi thành code Python. Lệnh pyuic5 được sử dụng để chuyển đổi file XML thành code Python. </a:t>
            </a:r>
            <a:endParaRPr lang="en-US" sz="3200" dirty="0">
              <a:latin typeface="+mj-lt"/>
            </a:endParaRPr>
          </a:p>
        </p:txBody>
      </p:sp>
      <p:pic>
        <p:nvPicPr>
          <p:cNvPr id="5" name="Picture 4" descr="sách Qt5-Python-GUI-Programming-Cookbook.pdf - Foxit Reader">
            <a:extLst>
              <a:ext uri="{FF2B5EF4-FFF2-40B4-BE49-F238E27FC236}">
                <a16:creationId xmlns:a16="http://schemas.microsoft.com/office/drawing/2014/main" id="{D2A66428-AC74-426F-B1D0-E243030041AE}"/>
              </a:ext>
            </a:extLst>
          </p:cNvPr>
          <p:cNvPicPr>
            <a:picLocks noChangeAspect="1"/>
          </p:cNvPicPr>
          <p:nvPr/>
        </p:nvPicPr>
        <p:blipFill rotWithShape="1">
          <a:blip r:embed="rId2">
            <a:extLst>
              <a:ext uri="{28A0092B-C50C-407E-A947-70E740481C1C}">
                <a14:useLocalDpi xmlns:a14="http://schemas.microsoft.com/office/drawing/2010/main" val="0"/>
              </a:ext>
            </a:extLst>
          </a:blip>
          <a:srcRect l="39091" t="21772" r="37272" b="46482"/>
          <a:stretch/>
        </p:blipFill>
        <p:spPr>
          <a:xfrm>
            <a:off x="1496291" y="2039438"/>
            <a:ext cx="6040582" cy="1992235"/>
          </a:xfrm>
          <a:prstGeom prst="rect">
            <a:avLst/>
          </a:prstGeom>
        </p:spPr>
      </p:pic>
    </p:spTree>
    <p:extLst>
      <p:ext uri="{BB962C8B-B14F-4D97-AF65-F5344CB8AC3E}">
        <p14:creationId xmlns:p14="http://schemas.microsoft.com/office/powerpoint/2010/main" val="21583939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Xóa Một Hàng Từ Bảng Cơ Sở Dữ Liệu</a:t>
            </a:r>
            <a:endParaRPr lang="en-US"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055E44B-1459-4316-9294-D0B194239636}"/>
              </a:ext>
            </a:extLst>
          </p:cNvPr>
          <p:cNvSpPr>
            <a:spLocks noGrp="1"/>
          </p:cNvSpPr>
          <p:nvPr>
            <p:ph idx="1"/>
          </p:nvPr>
        </p:nvSpPr>
        <p:spPr/>
        <p:txBody>
          <a:bodyPr>
            <a:noAutofit/>
          </a:bodyPr>
          <a:lstStyle/>
          <a:p>
            <a:pPr marL="0" indent="0" algn="just">
              <a:buNone/>
            </a:pPr>
            <a:r>
              <a:rPr lang="vi-VN" sz="3200" dirty="0">
                <a:latin typeface="+mj-lt"/>
              </a:rPr>
              <a:t>10. Hãy coi tập lệnh demoDeleteUser.py như một file  tiêu đề và nhập nó vào file  mà bạn sẽ gọi thiết kế giao diện người dùng của nó.</a:t>
            </a:r>
            <a:endParaRPr lang="en-US" sz="3200" dirty="0">
              <a:latin typeface="+mj-lt"/>
            </a:endParaRPr>
          </a:p>
          <a:p>
            <a:pPr marL="0" indent="0" algn="just">
              <a:buNone/>
            </a:pPr>
            <a:r>
              <a:rPr lang="vi-VN" sz="3200" dirty="0">
                <a:latin typeface="+mj-lt"/>
              </a:rPr>
              <a:t>11. Tạo một file  Python khác có tên callDeleteUser.pyw và nhập code  demoDeleteUser.py vào đó:</a:t>
            </a:r>
            <a:endParaRPr lang="en-US" sz="3200" dirty="0">
              <a:latin typeface="+mj-lt"/>
            </a:endParaRPr>
          </a:p>
          <a:p>
            <a:pPr marL="0" indent="0" algn="just">
              <a:buNone/>
            </a:pPr>
            <a:r>
              <a:rPr lang="en-US" dirty="0"/>
              <a:t>import sqlite3, sys</a:t>
            </a:r>
          </a:p>
          <a:p>
            <a:pPr marL="0" indent="0" algn="just">
              <a:buNone/>
            </a:pPr>
            <a:endParaRPr lang="en-US" sz="3200" dirty="0">
              <a:latin typeface="+mj-lt"/>
            </a:endParaRPr>
          </a:p>
        </p:txBody>
      </p:sp>
      <p:pic>
        <p:nvPicPr>
          <p:cNvPr id="6" name="Picture 5" descr="sách Qt5-Python-GUI-Programming-Cookbook.pdf - Foxit Reader">
            <a:extLst>
              <a:ext uri="{FF2B5EF4-FFF2-40B4-BE49-F238E27FC236}">
                <a16:creationId xmlns:a16="http://schemas.microsoft.com/office/drawing/2014/main" id="{D295BFFB-35CE-43C5-9B83-1656E8208005}"/>
              </a:ext>
            </a:extLst>
          </p:cNvPr>
          <p:cNvPicPr>
            <a:picLocks noChangeAspect="1"/>
          </p:cNvPicPr>
          <p:nvPr/>
        </p:nvPicPr>
        <p:blipFill rotWithShape="1">
          <a:blip r:embed="rId2">
            <a:extLst>
              <a:ext uri="{28A0092B-C50C-407E-A947-70E740481C1C}">
                <a14:useLocalDpi xmlns:a14="http://schemas.microsoft.com/office/drawing/2010/main" val="0"/>
              </a:ext>
            </a:extLst>
          </a:blip>
          <a:srcRect l="32727" t="12428" r="33637" b="78228"/>
          <a:stretch/>
        </p:blipFill>
        <p:spPr>
          <a:xfrm>
            <a:off x="19251" y="4336473"/>
            <a:ext cx="6284567" cy="2119745"/>
          </a:xfrm>
          <a:prstGeom prst="rect">
            <a:avLst/>
          </a:prstGeom>
        </p:spPr>
      </p:pic>
    </p:spTree>
    <p:extLst>
      <p:ext uri="{BB962C8B-B14F-4D97-AF65-F5344CB8AC3E}">
        <p14:creationId xmlns:p14="http://schemas.microsoft.com/office/powerpoint/2010/main" val="134377084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Xóa Một Hàng Từ Bảng Cơ Sở Dữ Liệu</a:t>
            </a:r>
            <a:endParaRPr lang="en-US" dirty="0">
              <a:latin typeface="Times New Roman" panose="02020603050405020304" pitchFamily="18" charset="0"/>
              <a:cs typeface="Times New Roman" panose="02020603050405020304" pitchFamily="18" charset="0"/>
            </a:endParaRPr>
          </a:p>
        </p:txBody>
      </p:sp>
      <p:pic>
        <p:nvPicPr>
          <p:cNvPr id="5" name="Content Placeholder 4" descr="sách Qt5-Python-GUI-Programming-Cookbook.pdf - Foxit Reader">
            <a:extLst>
              <a:ext uri="{FF2B5EF4-FFF2-40B4-BE49-F238E27FC236}">
                <a16:creationId xmlns:a16="http://schemas.microsoft.com/office/drawing/2014/main" id="{66C1095A-90C8-4861-927B-6E0392B67DC5}"/>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697" t="17966" r="25057" b="9659"/>
          <a:stretch/>
        </p:blipFill>
        <p:spPr>
          <a:xfrm>
            <a:off x="429491" y="1069037"/>
            <a:ext cx="7980218" cy="5567290"/>
          </a:xfrm>
        </p:spPr>
      </p:pic>
    </p:spTree>
    <p:extLst>
      <p:ext uri="{BB962C8B-B14F-4D97-AF65-F5344CB8AC3E}">
        <p14:creationId xmlns:p14="http://schemas.microsoft.com/office/powerpoint/2010/main" val="312434505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Xóa Một Hàng Từ Bảng Cơ Sở Dữ Liệu</a:t>
            </a:r>
            <a:endParaRPr lang="en-US" dirty="0">
              <a:latin typeface="Times New Roman" panose="02020603050405020304" pitchFamily="18" charset="0"/>
              <a:cs typeface="Times New Roman" panose="02020603050405020304" pitchFamily="18" charset="0"/>
            </a:endParaRPr>
          </a:p>
        </p:txBody>
      </p:sp>
      <p:pic>
        <p:nvPicPr>
          <p:cNvPr id="7" name="Content Placeholder 6" descr="sách Qt5-Python-GUI-Programming-Cookbook.pdf - Foxit Reader">
            <a:extLst>
              <a:ext uri="{FF2B5EF4-FFF2-40B4-BE49-F238E27FC236}">
                <a16:creationId xmlns:a16="http://schemas.microsoft.com/office/drawing/2014/main" id="{2A16BBEE-2A0D-431F-89A4-3CC75ABC35B3}"/>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6741" t="48782" r="28253" b="26056"/>
          <a:stretch/>
        </p:blipFill>
        <p:spPr>
          <a:xfrm>
            <a:off x="401782" y="1274618"/>
            <a:ext cx="7647709" cy="5084618"/>
          </a:xfrm>
        </p:spPr>
      </p:pic>
    </p:spTree>
    <p:extLst>
      <p:ext uri="{BB962C8B-B14F-4D97-AF65-F5344CB8AC3E}">
        <p14:creationId xmlns:p14="http://schemas.microsoft.com/office/powerpoint/2010/main" val="708220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B9CD7-5EF1-4F22-A6C9-AC9F87B3A3FE}"/>
              </a:ext>
            </a:extLst>
          </p:cNvPr>
          <p:cNvSpPr>
            <a:spLocks noGrp="1"/>
          </p:cNvSpPr>
          <p:nvPr>
            <p:ph type="title"/>
          </p:nvPr>
        </p:nvSpPr>
        <p:spPr>
          <a:xfrm>
            <a:off x="22259" y="28244"/>
            <a:ext cx="9102490" cy="1019160"/>
          </a:xfrm>
        </p:spPr>
        <p:txBody>
          <a:bodyPr>
            <a:noAutofit/>
          </a:bodyPr>
          <a:lstStyle/>
          <a:p>
            <a:r>
              <a:rPr lang="vi-VN" dirty="0"/>
              <a:t>Xóa Một Hàng Từ Bảng Cơ Sở Dữ Liệu</a:t>
            </a:r>
            <a:endParaRPr lang="en-US" dirty="0">
              <a:latin typeface="Times New Roman" panose="02020603050405020304" pitchFamily="18" charset="0"/>
              <a:cs typeface="Times New Roman" panose="02020603050405020304" pitchFamily="18" charset="0"/>
            </a:endParaRPr>
          </a:p>
        </p:txBody>
      </p:sp>
      <p:pic>
        <p:nvPicPr>
          <p:cNvPr id="6" name="Content Placeholder 5" descr="sách Qt5-Python-GUI-Programming-Cookbook.pdf - Foxit Reader">
            <a:extLst>
              <a:ext uri="{FF2B5EF4-FFF2-40B4-BE49-F238E27FC236}">
                <a16:creationId xmlns:a16="http://schemas.microsoft.com/office/drawing/2014/main" id="{115F1CB8-0624-44B2-8737-A117DE536C7B}"/>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33393" t="28426" r="27643" b="35668"/>
          <a:stretch/>
        </p:blipFill>
        <p:spPr>
          <a:xfrm>
            <a:off x="249382" y="1357745"/>
            <a:ext cx="8215745" cy="5153891"/>
          </a:xfrm>
        </p:spPr>
      </p:pic>
    </p:spTree>
    <p:extLst>
      <p:ext uri="{BB962C8B-B14F-4D97-AF65-F5344CB8AC3E}">
        <p14:creationId xmlns:p14="http://schemas.microsoft.com/office/powerpoint/2010/main" val="40659486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4878</TotalTime>
  <Words>5864</Words>
  <Application>Microsoft Office PowerPoint</Application>
  <PresentationFormat>On-screen Show (4:3)</PresentationFormat>
  <Paragraphs>246</Paragraphs>
  <Slides>71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71</vt:i4>
      </vt:variant>
    </vt:vector>
  </HeadingPairs>
  <TitlesOfParts>
    <vt:vector size="77" baseType="lpstr">
      <vt:lpstr>Arial</vt:lpstr>
      <vt:lpstr>Calibri</vt:lpstr>
      <vt:lpstr>Calibri Light</vt:lpstr>
      <vt:lpstr>Times New Roman</vt:lpstr>
      <vt:lpstr>Wingdings</vt:lpstr>
      <vt:lpstr>Office Theme</vt:lpstr>
      <vt:lpstr>DATABASE HANGLING (XỬ LÝ CƠ SỞ DỮ LIỆU)</vt:lpstr>
      <vt:lpstr>Nội dung</vt:lpstr>
      <vt:lpstr>Nội dung</vt:lpstr>
      <vt:lpstr>Giới Thiệu</vt:lpstr>
      <vt:lpstr>Giới Thiệu</vt:lpstr>
      <vt:lpstr>Giới Thiệu</vt:lpstr>
      <vt:lpstr>Tạo Đối Tượng Cursor (Con trỏ)</vt:lpstr>
      <vt:lpstr>Tạo Đối Tượng Cursor (Con trỏ)</vt:lpstr>
      <vt:lpstr>Tạo Đối Tượng Cursor (Con trỏ)</vt:lpstr>
      <vt:lpstr>Tạo Cơ Sở Dữ Liệu</vt:lpstr>
      <vt:lpstr>Tạo Cơ Sở Dữ Liệu</vt:lpstr>
      <vt:lpstr>Tạo Cơ Sở Dữ Liệu</vt:lpstr>
      <vt:lpstr>Tạo Cơ Sở Dữ Liệu</vt:lpstr>
      <vt:lpstr>Tạo Bảng Cơ Sở Dữ Liệu</vt:lpstr>
      <vt:lpstr>Tạo Bảng Cơ Sở Dữ Liệu</vt:lpstr>
      <vt:lpstr>Tạo Bảng Cơ Sở Dữ Liệu</vt:lpstr>
      <vt:lpstr>Tạo Bảng Cơ Sở Dữ Liệu</vt:lpstr>
      <vt:lpstr>Tạo Bảng Cơ Sở Dữ Liệu</vt:lpstr>
      <vt:lpstr>Tạo Bảng Cơ Sở Dữ Liệu</vt:lpstr>
      <vt:lpstr>Tạo Bảng Cơ Sở Dữ Liệu</vt:lpstr>
      <vt:lpstr>Chèn Các Hàng Trong Bảng Cơ Sở Dữ Liệu Đã Chỉ Định</vt:lpstr>
      <vt:lpstr>Chèn Các Hàng Trong Bảng Cơ Sở Dữ Liệu Đã Chỉ Định</vt:lpstr>
      <vt:lpstr>Chèn Các Hàng Trong Bảng Cơ Sở Dữ Liệu Đã Chỉ Định</vt:lpstr>
      <vt:lpstr>Chèn Các Hàng Trong Bảng Cơ Sở Dữ Liệu Đã Chỉ Định</vt:lpstr>
      <vt:lpstr>Chèn Các Hàng Trong Bảng Cơ Sở Dữ Liệu Đã Chỉ Định</vt:lpstr>
      <vt:lpstr>Chèn Các Hàng Trong Bảng Cơ Sở Dữ Liệu Đã Chỉ Định</vt:lpstr>
      <vt:lpstr>Chèn Các Hàng Trong Bảng Cơ Sở Dữ Liệu Đã Chỉ Định</vt:lpstr>
      <vt:lpstr>Chèn Các Hàng Trong Bảng Cơ Sở Dữ Liệu Đã Chỉ Định</vt:lpstr>
      <vt:lpstr>Hiển Thị Các Hàng Trong Bảng Cơ Sở Dữ Liệu Đã Chỉ Định</vt:lpstr>
      <vt:lpstr>Hiển Thị Các Hàng Trong Bảng Cơ Sở Dữ Liệu Đã Chỉ Định</vt:lpstr>
      <vt:lpstr>Hiển Thị Các Hàng Trong Bảng Cơ Sở Dữ Liệu Đã Chỉ Định</vt:lpstr>
      <vt:lpstr>Hiển Thị Các Hàng Trong Bảng Cơ Sở Dữ Liệu Đã Chỉ Định</vt:lpstr>
      <vt:lpstr>Hiển Thị Các Hàng Trong Bảng Cơ Sở Dữ Liệu Đã Chỉ Định</vt:lpstr>
      <vt:lpstr>Hiển Thị Các Hàng Trong Bảng Cơ Sở Dữ Liệu Đã Chỉ Định</vt:lpstr>
      <vt:lpstr>Hiển Thị Các Hàng Trong Bảng Cơ Sở Dữ Liệu Đã Chỉ Định</vt:lpstr>
      <vt:lpstr>Hiển Thị Các Hàng Trong Bảng Cơ Sở Dữ Liệu Đã Chỉ Định</vt:lpstr>
      <vt:lpstr>Điều Hướng Qua Các Hàng Của Bảng Cơ Sở Dữ Liệu Đã Chỉ Định</vt:lpstr>
      <vt:lpstr>Điều Hướng Qua Các Hàng Của Bảng Cơ Sở Dữ Liệu Đã Chỉ Định</vt:lpstr>
      <vt:lpstr>Điều Hướng Qua Các Hàng Của Bảng Cơ Sở Dữ Liệu Đã Chỉ Định</vt:lpstr>
      <vt:lpstr>Điều Hướng Qua Các Hàng Của Bảng Cơ Sở Dữ Liệu Đã Chỉ Định</vt:lpstr>
      <vt:lpstr>Điều Hướng Qua Các Hàng Của Bảng Cơ Sở Dữ Liệu Đã Chỉ Định</vt:lpstr>
      <vt:lpstr>Điều Hướng Qua Các Hàng Của Bảng Cơ Sở Dữ Liệu Đã Chỉ Định</vt:lpstr>
      <vt:lpstr>Điều Hướng Qua Các Hàng Của Bảng Cơ Sở Dữ Liệu Đã Chỉ Định</vt:lpstr>
      <vt:lpstr>Điều Hướng Qua Các Hàng Của Bảng Cơ Sở Dữ Liệu Đã Chỉ Định</vt:lpstr>
      <vt:lpstr>Tìm Kiếm Bảng Cơ Sở Dữ Liệu Để Biết Thông Tin Cụ Thể</vt:lpstr>
      <vt:lpstr>Tìm Kiếm Bảng Cơ Sở Dữ Liệu Để Biết Thông Tin Cụ Thể</vt:lpstr>
      <vt:lpstr>Tìm Kiếm Bảng Cơ Sở Dữ Liệu Để Biết Thông Tin Cụ Thể</vt:lpstr>
      <vt:lpstr>Tìm Kiếm Bảng Cơ Sở Dữ Liệu Để Biết Thông Tin Cụ Thể</vt:lpstr>
      <vt:lpstr>Tìm Kiếm Bảng Cơ Sở Dữ Liệu Để Biết Thông Tin Cụ Thể</vt:lpstr>
      <vt:lpstr>Tạo Biểu Mẫu Đăng Nhập - Áp Dụng Quy Trình Xác Thực</vt:lpstr>
      <vt:lpstr>Tạo Biểu Mẫu Đăng Nhập - Áp Dụng Quy Trình Xác Thực</vt:lpstr>
      <vt:lpstr>Tạo Biểu Mẫu Đăng Nhập - Áp Dụng Quy Trình Xác Thực</vt:lpstr>
      <vt:lpstr>Tạo Biểu Mẫu Đăng Nhập - Áp Dụng Quy Trình Xác Thực</vt:lpstr>
      <vt:lpstr>Tạo Biểu Mẫu Đăng Nhập - Áp Dụng Quy Trình Xác Thực</vt:lpstr>
      <vt:lpstr>Tạo Biểu Mẫu Đăng Nhập - Áp Dụng Quy Trình Xác Thực</vt:lpstr>
      <vt:lpstr>Cập Nhật Bảng Cơ Sở Dữ Liệu - Thay Đổi Mật Khẩu Người Dùng</vt:lpstr>
      <vt:lpstr>Cập Nhật Bảng Cơ Sở Dữ Liệu - Thay Đổi Mật Khẩu Người Dùng</vt:lpstr>
      <vt:lpstr>Cập Nhật Bảng Cơ Sở Dữ Liệu - Thay Đổi Mật Khẩu Người Dùng</vt:lpstr>
      <vt:lpstr>Cập Nhật Bảng Cơ Sở Dữ Liệu - Thay Đổi Mật Khẩu Người Dùng</vt:lpstr>
      <vt:lpstr>Cập Nhật Bảng Cơ Sở Dữ Liệu - Thay Đổi Mật Khẩu Người Dùng</vt:lpstr>
      <vt:lpstr>Cập Nhật Bảng Cơ Sở Dữ Liệu - Thay Đổi Mật Khẩu Người Dùng</vt:lpstr>
      <vt:lpstr>Cập Nhật Bảng Cơ Sở Dữ Liệu - Thay Đổi Mật Khẩu Người Dùng</vt:lpstr>
      <vt:lpstr>Cập Nhật Bảng Cơ Sở Dữ Liệu - Thay Đổi Mật Khẩu Người Dùng</vt:lpstr>
      <vt:lpstr>Xóa Một Hàng Từ Bảng Cơ Sở Dữ Liệu</vt:lpstr>
      <vt:lpstr>Xóa Một Hàng Từ Bảng Cơ Sở Dữ Liệu</vt:lpstr>
      <vt:lpstr>Xóa Một Hàng Từ Bảng Cơ Sở Dữ Liệu</vt:lpstr>
      <vt:lpstr>Xóa Một Hàng Từ Bảng Cơ Sở Dữ Liệu</vt:lpstr>
      <vt:lpstr>Xóa Một Hàng Từ Bảng Cơ Sở Dữ Liệu</vt:lpstr>
      <vt:lpstr>Xóa Một Hàng Từ Bảng Cơ Sở Dữ Liệu</vt:lpstr>
      <vt:lpstr>Xóa Một Hàng Từ Bảng Cơ Sở Dữ Liệu</vt:lpstr>
      <vt:lpstr>Xóa Một Hàng Từ Bảng Cơ Sở Dữ Liệu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Tạo giao diện người dùng với các thành phần Qt</dc:title>
  <dc:creator>bruce shelby</dc:creator>
  <cp:lastModifiedBy>ly</cp:lastModifiedBy>
  <cp:revision>673</cp:revision>
  <dcterms:created xsi:type="dcterms:W3CDTF">2019-07-31T07:44:13Z</dcterms:created>
  <dcterms:modified xsi:type="dcterms:W3CDTF">2019-11-15T17:29:02Z</dcterms:modified>
</cp:coreProperties>
</file>