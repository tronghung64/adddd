
<file path=[Content_Types].xml><?xml version="1.0" encoding="utf-8"?>
<Types xmlns="http://schemas.openxmlformats.org/package/2006/content-types">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sldIdLst>
    <p:sldId id="256" r:id="rId2"/>
    <p:sldId id="257" r:id="rId3"/>
    <p:sldId id="258" r:id="rId4"/>
    <p:sldId id="334" r:id="rId5"/>
    <p:sldId id="372" r:id="rId6"/>
    <p:sldId id="308" r:id="rId7"/>
    <p:sldId id="417" r:id="rId8"/>
    <p:sldId id="418" r:id="rId9"/>
    <p:sldId id="373" r:id="rId10"/>
    <p:sldId id="335" r:id="rId11"/>
    <p:sldId id="336" r:id="rId12"/>
    <p:sldId id="337" r:id="rId13"/>
    <p:sldId id="419" r:id="rId14"/>
    <p:sldId id="374" r:id="rId15"/>
    <p:sldId id="420" r:id="rId16"/>
    <p:sldId id="375" r:id="rId17"/>
    <p:sldId id="376" r:id="rId18"/>
    <p:sldId id="421" r:id="rId19"/>
    <p:sldId id="422" r:id="rId20"/>
    <p:sldId id="378" r:id="rId21"/>
    <p:sldId id="423" r:id="rId22"/>
    <p:sldId id="424" r:id="rId23"/>
    <p:sldId id="425" r:id="rId24"/>
    <p:sldId id="426" r:id="rId25"/>
    <p:sldId id="427" r:id="rId26"/>
    <p:sldId id="429" r:id="rId27"/>
    <p:sldId id="430" r:id="rId28"/>
    <p:sldId id="431" r:id="rId29"/>
    <p:sldId id="377" r:id="rId30"/>
    <p:sldId id="432" r:id="rId31"/>
    <p:sldId id="379" r:id="rId32"/>
    <p:sldId id="380" r:id="rId33"/>
    <p:sldId id="433" r:id="rId34"/>
    <p:sldId id="434" r:id="rId35"/>
    <p:sldId id="435" r:id="rId36"/>
    <p:sldId id="437" r:id="rId37"/>
    <p:sldId id="436" r:id="rId38"/>
    <p:sldId id="438" r:id="rId39"/>
    <p:sldId id="439" r:id="rId40"/>
    <p:sldId id="440" r:id="rId41"/>
    <p:sldId id="441" r:id="rId42"/>
    <p:sldId id="442" r:id="rId43"/>
    <p:sldId id="443" r:id="rId44"/>
    <p:sldId id="444" r:id="rId45"/>
    <p:sldId id="445" r:id="rId46"/>
    <p:sldId id="381" r:id="rId47"/>
    <p:sldId id="382" r:id="rId48"/>
    <p:sldId id="383" r:id="rId4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5C59D34-11D3-4DA4-83EF-24D8FD6300F5}">
          <p14:sldIdLst>
            <p14:sldId id="256"/>
            <p14:sldId id="257"/>
            <p14:sldId id="258"/>
            <p14:sldId id="334"/>
            <p14:sldId id="372"/>
            <p14:sldId id="308"/>
            <p14:sldId id="417"/>
            <p14:sldId id="418"/>
            <p14:sldId id="373"/>
            <p14:sldId id="335"/>
            <p14:sldId id="336"/>
            <p14:sldId id="337"/>
            <p14:sldId id="419"/>
            <p14:sldId id="374"/>
            <p14:sldId id="420"/>
            <p14:sldId id="375"/>
            <p14:sldId id="376"/>
            <p14:sldId id="421"/>
            <p14:sldId id="422"/>
            <p14:sldId id="378"/>
            <p14:sldId id="423"/>
            <p14:sldId id="424"/>
            <p14:sldId id="425"/>
            <p14:sldId id="426"/>
            <p14:sldId id="427"/>
            <p14:sldId id="429"/>
            <p14:sldId id="430"/>
            <p14:sldId id="431"/>
            <p14:sldId id="377"/>
            <p14:sldId id="432"/>
            <p14:sldId id="379"/>
            <p14:sldId id="380"/>
            <p14:sldId id="433"/>
            <p14:sldId id="434"/>
            <p14:sldId id="435"/>
            <p14:sldId id="437"/>
            <p14:sldId id="436"/>
            <p14:sldId id="438"/>
            <p14:sldId id="439"/>
            <p14:sldId id="440"/>
            <p14:sldId id="441"/>
            <p14:sldId id="442"/>
            <p14:sldId id="443"/>
            <p14:sldId id="444"/>
            <p14:sldId id="445"/>
            <p14:sldId id="381"/>
            <p14:sldId id="382"/>
            <p14:sldId id="383"/>
          </p14:sldIdLst>
        </p14:section>
        <p14:section name="Radio Button" id="{1A23179E-0E45-4F2B-9B2B-53C376ECD7B0}">
          <p14:sldIdLst/>
        </p14:section>
        <p14:section name="checkboxes" id="{A00EFFBC-94E6-4C6A-A3F4-16754BAD0FC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44" autoAdjust="0"/>
    <p:restoredTop sz="81952" autoAdjust="0"/>
  </p:normalViewPr>
  <p:slideViewPr>
    <p:cSldViewPr snapToGrid="0">
      <p:cViewPr varScale="1">
        <p:scale>
          <a:sx n="56" d="100"/>
          <a:sy n="56" d="100"/>
        </p:scale>
        <p:origin x="184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A2B099-58B4-4AB1-94B8-C1C58CCB9DA3}" type="datetimeFigureOut">
              <a:rPr lang="en-US" smtClean="0"/>
              <a:t>11/16/2019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B18AA1-6D54-4DFE-8137-C54D164A4B2B}" type="slidenum">
              <a:rPr lang="en-US" smtClean="0"/>
              <a:t>‹#›</a:t>
            </a:fld>
            <a:endParaRPr lang="en-US"/>
          </a:p>
        </p:txBody>
      </p:sp>
    </p:spTree>
    <p:extLst>
      <p:ext uri="{BB962C8B-B14F-4D97-AF65-F5344CB8AC3E}">
        <p14:creationId xmlns:p14="http://schemas.microsoft.com/office/powerpoint/2010/main" val="1480592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Single Document Interface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SDI</a:t>
            </a:r>
            <a:r>
              <a:rPr lang="en-US" sz="1200" b="0" i="0" kern="1200" dirty="0">
                <a:solidFill>
                  <a:schemeClr val="tx1"/>
                </a:solidFill>
                <a:effectLst/>
                <a:latin typeface="+mn-lt"/>
                <a:ea typeface="+mn-ea"/>
                <a:cs typeface="+mn-cs"/>
              </a:rPr>
              <a:t>)</a:t>
            </a:r>
            <a:r>
              <a:rPr lang="en-US" dirty="0"/>
              <a:t> </a:t>
            </a:r>
            <a:br>
              <a:rPr lang="en-US" dirty="0"/>
            </a:br>
            <a:r>
              <a:rPr lang="en-US" sz="1200" b="1" i="0" kern="1200" dirty="0">
                <a:solidFill>
                  <a:schemeClr val="tx1"/>
                </a:solidFill>
                <a:effectLst/>
                <a:latin typeface="+mn-lt"/>
                <a:ea typeface="+mn-ea"/>
                <a:cs typeface="+mn-cs"/>
              </a:rPr>
              <a:t>Multiple Document Interface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MDI</a:t>
            </a:r>
            <a:r>
              <a:rPr lang="en-US" dirty="0"/>
              <a:t> )</a:t>
            </a:r>
          </a:p>
        </p:txBody>
      </p:sp>
      <p:sp>
        <p:nvSpPr>
          <p:cNvPr id="4" name="Slide Number Placeholder 3"/>
          <p:cNvSpPr>
            <a:spLocks noGrp="1"/>
          </p:cNvSpPr>
          <p:nvPr>
            <p:ph type="sldNum" sz="quarter" idx="5"/>
          </p:nvPr>
        </p:nvSpPr>
        <p:spPr/>
        <p:txBody>
          <a:bodyPr/>
          <a:lstStyle/>
          <a:p>
            <a:fld id="{9DB18AA1-6D54-4DFE-8137-C54D164A4B2B}" type="slidenum">
              <a:rPr lang="en-US" smtClean="0"/>
              <a:t>3</a:t>
            </a:fld>
            <a:endParaRPr lang="en-US"/>
          </a:p>
        </p:txBody>
      </p:sp>
    </p:spTree>
    <p:extLst>
      <p:ext uri="{BB962C8B-B14F-4D97-AF65-F5344CB8AC3E}">
        <p14:creationId xmlns:p14="http://schemas.microsoft.com/office/powerpoint/2010/main" val="180096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20</a:t>
            </a:fld>
            <a:endParaRPr lang="en-US"/>
          </a:p>
        </p:txBody>
      </p:sp>
    </p:spTree>
    <p:extLst>
      <p:ext uri="{BB962C8B-B14F-4D97-AF65-F5344CB8AC3E}">
        <p14:creationId xmlns:p14="http://schemas.microsoft.com/office/powerpoint/2010/main" val="3430388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21</a:t>
            </a:fld>
            <a:endParaRPr lang="en-US"/>
          </a:p>
        </p:txBody>
      </p:sp>
    </p:spTree>
    <p:extLst>
      <p:ext uri="{BB962C8B-B14F-4D97-AF65-F5344CB8AC3E}">
        <p14:creationId xmlns:p14="http://schemas.microsoft.com/office/powerpoint/2010/main" val="1920667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22</a:t>
            </a:fld>
            <a:endParaRPr lang="en-US"/>
          </a:p>
        </p:txBody>
      </p:sp>
    </p:spTree>
    <p:extLst>
      <p:ext uri="{BB962C8B-B14F-4D97-AF65-F5344CB8AC3E}">
        <p14:creationId xmlns:p14="http://schemas.microsoft.com/office/powerpoint/2010/main" val="451432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23</a:t>
            </a:fld>
            <a:endParaRPr lang="en-US"/>
          </a:p>
        </p:txBody>
      </p:sp>
    </p:spTree>
    <p:extLst>
      <p:ext uri="{BB962C8B-B14F-4D97-AF65-F5344CB8AC3E}">
        <p14:creationId xmlns:p14="http://schemas.microsoft.com/office/powerpoint/2010/main" val="32324007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24</a:t>
            </a:fld>
            <a:endParaRPr lang="en-US"/>
          </a:p>
        </p:txBody>
      </p:sp>
    </p:spTree>
    <p:extLst>
      <p:ext uri="{BB962C8B-B14F-4D97-AF65-F5344CB8AC3E}">
        <p14:creationId xmlns:p14="http://schemas.microsoft.com/office/powerpoint/2010/main" val="2151380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25</a:t>
            </a:fld>
            <a:endParaRPr lang="en-US"/>
          </a:p>
        </p:txBody>
      </p:sp>
    </p:spTree>
    <p:extLst>
      <p:ext uri="{BB962C8B-B14F-4D97-AF65-F5344CB8AC3E}">
        <p14:creationId xmlns:p14="http://schemas.microsoft.com/office/powerpoint/2010/main" val="6369867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26</a:t>
            </a:fld>
            <a:endParaRPr lang="en-US"/>
          </a:p>
        </p:txBody>
      </p:sp>
    </p:spTree>
    <p:extLst>
      <p:ext uri="{BB962C8B-B14F-4D97-AF65-F5344CB8AC3E}">
        <p14:creationId xmlns:p14="http://schemas.microsoft.com/office/powerpoint/2010/main" val="390255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27</a:t>
            </a:fld>
            <a:endParaRPr lang="en-US"/>
          </a:p>
        </p:txBody>
      </p:sp>
    </p:spTree>
    <p:extLst>
      <p:ext uri="{BB962C8B-B14F-4D97-AF65-F5344CB8AC3E}">
        <p14:creationId xmlns:p14="http://schemas.microsoft.com/office/powerpoint/2010/main" val="3072847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28</a:t>
            </a:fld>
            <a:endParaRPr lang="en-US"/>
          </a:p>
        </p:txBody>
      </p:sp>
    </p:spTree>
    <p:extLst>
      <p:ext uri="{BB962C8B-B14F-4D97-AF65-F5344CB8AC3E}">
        <p14:creationId xmlns:p14="http://schemas.microsoft.com/office/powerpoint/2010/main" val="1945655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29</a:t>
            </a:fld>
            <a:endParaRPr lang="en-US"/>
          </a:p>
        </p:txBody>
      </p:sp>
    </p:spTree>
    <p:extLst>
      <p:ext uri="{BB962C8B-B14F-4D97-AF65-F5344CB8AC3E}">
        <p14:creationId xmlns:p14="http://schemas.microsoft.com/office/powerpoint/2010/main" val="3424101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30</a:t>
            </a:fld>
            <a:endParaRPr lang="en-US"/>
          </a:p>
        </p:txBody>
      </p:sp>
    </p:spTree>
    <p:extLst>
      <p:ext uri="{BB962C8B-B14F-4D97-AF65-F5344CB8AC3E}">
        <p14:creationId xmlns:p14="http://schemas.microsoft.com/office/powerpoint/2010/main" val="12519661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31</a:t>
            </a:fld>
            <a:endParaRPr lang="en-US"/>
          </a:p>
        </p:txBody>
      </p:sp>
    </p:spTree>
    <p:extLst>
      <p:ext uri="{BB962C8B-B14F-4D97-AF65-F5344CB8AC3E}">
        <p14:creationId xmlns:p14="http://schemas.microsoft.com/office/powerpoint/2010/main" val="41211504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32</a:t>
            </a:fld>
            <a:endParaRPr lang="en-US"/>
          </a:p>
        </p:txBody>
      </p:sp>
    </p:spTree>
    <p:extLst>
      <p:ext uri="{BB962C8B-B14F-4D97-AF65-F5344CB8AC3E}">
        <p14:creationId xmlns:p14="http://schemas.microsoft.com/office/powerpoint/2010/main" val="28538629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33</a:t>
            </a:fld>
            <a:endParaRPr lang="en-US"/>
          </a:p>
        </p:txBody>
      </p:sp>
    </p:spTree>
    <p:extLst>
      <p:ext uri="{BB962C8B-B14F-4D97-AF65-F5344CB8AC3E}">
        <p14:creationId xmlns:p14="http://schemas.microsoft.com/office/powerpoint/2010/main" val="34642824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u="none" strike="noStrike" kern="1200" dirty="0">
                <a:solidFill>
                  <a:schemeClr val="tx1"/>
                </a:solidFill>
                <a:effectLst/>
                <a:latin typeface="+mn-lt"/>
                <a:ea typeface="+mn-ea"/>
                <a:cs typeface="+mn-cs"/>
              </a:rPr>
              <a:t>Hãy nhớ lại rằng chúng tôi muốn tạo hai menu trong thanh menu này bằng văn bản, Vẽ và Chỉnh sửa. Menu Draw sẽ có ba mục menu, Vẽ Circle, Vẽ hình chữ nhật và Draw Line. Sau ba mục menu này, một dấu phân cách sẽ được chèn theo sau là một mục menu thứ tư được gọi là Thuộc tính. Mục menu Thuộc tính sẽ có hai mục menu con, Thiết lập trang và Đặt mật khẩu. Menu Chỉnh sửa sẽ chứa ba mục menu, Cắt, Sao chép và Dán.</a:t>
            </a:r>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34</a:t>
            </a:fld>
            <a:endParaRPr lang="en-US"/>
          </a:p>
        </p:txBody>
      </p:sp>
    </p:spTree>
    <p:extLst>
      <p:ext uri="{BB962C8B-B14F-4D97-AF65-F5344CB8AC3E}">
        <p14:creationId xmlns:p14="http://schemas.microsoft.com/office/powerpoint/2010/main" val="12433751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35</a:t>
            </a:fld>
            <a:endParaRPr lang="en-US"/>
          </a:p>
        </p:txBody>
      </p:sp>
    </p:spTree>
    <p:extLst>
      <p:ext uri="{BB962C8B-B14F-4D97-AF65-F5344CB8AC3E}">
        <p14:creationId xmlns:p14="http://schemas.microsoft.com/office/powerpoint/2010/main" val="28124396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36</a:t>
            </a:fld>
            <a:endParaRPr lang="en-US"/>
          </a:p>
        </p:txBody>
      </p:sp>
    </p:spTree>
    <p:extLst>
      <p:ext uri="{BB962C8B-B14F-4D97-AF65-F5344CB8AC3E}">
        <p14:creationId xmlns:p14="http://schemas.microsoft.com/office/powerpoint/2010/main" val="13762818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37</a:t>
            </a:fld>
            <a:endParaRPr lang="en-US"/>
          </a:p>
        </p:txBody>
      </p:sp>
    </p:spTree>
    <p:extLst>
      <p:ext uri="{BB962C8B-B14F-4D97-AF65-F5344CB8AC3E}">
        <p14:creationId xmlns:p14="http://schemas.microsoft.com/office/powerpoint/2010/main" val="28761212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38</a:t>
            </a:fld>
            <a:endParaRPr lang="en-US"/>
          </a:p>
        </p:txBody>
      </p:sp>
    </p:spTree>
    <p:extLst>
      <p:ext uri="{BB962C8B-B14F-4D97-AF65-F5344CB8AC3E}">
        <p14:creationId xmlns:p14="http://schemas.microsoft.com/office/powerpoint/2010/main" val="19664237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39</a:t>
            </a:fld>
            <a:endParaRPr lang="en-US"/>
          </a:p>
        </p:txBody>
      </p:sp>
    </p:spTree>
    <p:extLst>
      <p:ext uri="{BB962C8B-B14F-4D97-AF65-F5344CB8AC3E}">
        <p14:creationId xmlns:p14="http://schemas.microsoft.com/office/powerpoint/2010/main" val="29427403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40</a:t>
            </a:fld>
            <a:endParaRPr lang="en-US"/>
          </a:p>
        </p:txBody>
      </p:sp>
    </p:spTree>
    <p:extLst>
      <p:ext uri="{BB962C8B-B14F-4D97-AF65-F5344CB8AC3E}">
        <p14:creationId xmlns:p14="http://schemas.microsoft.com/office/powerpoint/2010/main" val="37622335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41</a:t>
            </a:fld>
            <a:endParaRPr lang="en-US"/>
          </a:p>
        </p:txBody>
      </p:sp>
    </p:spTree>
    <p:extLst>
      <p:ext uri="{BB962C8B-B14F-4D97-AF65-F5344CB8AC3E}">
        <p14:creationId xmlns:p14="http://schemas.microsoft.com/office/powerpoint/2010/main" val="14723488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42</a:t>
            </a:fld>
            <a:endParaRPr lang="en-US"/>
          </a:p>
        </p:txBody>
      </p:sp>
    </p:spTree>
    <p:extLst>
      <p:ext uri="{BB962C8B-B14F-4D97-AF65-F5344CB8AC3E}">
        <p14:creationId xmlns:p14="http://schemas.microsoft.com/office/powerpoint/2010/main" val="22848221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43</a:t>
            </a:fld>
            <a:endParaRPr lang="en-US"/>
          </a:p>
        </p:txBody>
      </p:sp>
    </p:spTree>
    <p:extLst>
      <p:ext uri="{BB962C8B-B14F-4D97-AF65-F5344CB8AC3E}">
        <p14:creationId xmlns:p14="http://schemas.microsoft.com/office/powerpoint/2010/main" val="8280575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44</a:t>
            </a:fld>
            <a:endParaRPr lang="en-US"/>
          </a:p>
        </p:txBody>
      </p:sp>
    </p:spTree>
    <p:extLst>
      <p:ext uri="{BB962C8B-B14F-4D97-AF65-F5344CB8AC3E}">
        <p14:creationId xmlns:p14="http://schemas.microsoft.com/office/powerpoint/2010/main" val="33300231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45</a:t>
            </a:fld>
            <a:endParaRPr lang="en-US"/>
          </a:p>
        </p:txBody>
      </p:sp>
    </p:spTree>
    <p:extLst>
      <p:ext uri="{BB962C8B-B14F-4D97-AF65-F5344CB8AC3E}">
        <p14:creationId xmlns:p14="http://schemas.microsoft.com/office/powerpoint/2010/main" val="2792231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46</a:t>
            </a:fld>
            <a:endParaRPr lang="en-US"/>
          </a:p>
        </p:txBody>
      </p:sp>
    </p:spTree>
    <p:extLst>
      <p:ext uri="{BB962C8B-B14F-4D97-AF65-F5344CB8AC3E}">
        <p14:creationId xmlns:p14="http://schemas.microsoft.com/office/powerpoint/2010/main" val="22729432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47</a:t>
            </a:fld>
            <a:endParaRPr lang="en-US"/>
          </a:p>
        </p:txBody>
      </p:sp>
    </p:spTree>
    <p:extLst>
      <p:ext uri="{BB962C8B-B14F-4D97-AF65-F5344CB8AC3E}">
        <p14:creationId xmlns:p14="http://schemas.microsoft.com/office/powerpoint/2010/main" val="42745826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B18AA1-6D54-4DFE-8137-C54D164A4B2B}" type="slidenum">
              <a:rPr lang="en-US" smtClean="0"/>
              <a:t>48</a:t>
            </a:fld>
            <a:endParaRPr lang="en-US"/>
          </a:p>
        </p:txBody>
      </p:sp>
    </p:spTree>
    <p:extLst>
      <p:ext uri="{BB962C8B-B14F-4D97-AF65-F5344CB8AC3E}">
        <p14:creationId xmlns:p14="http://schemas.microsoft.com/office/powerpoint/2010/main" val="2860392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920250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4064473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78848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394314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802892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357217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2724488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915917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14818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434933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706932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59" y="28244"/>
            <a:ext cx="9102490" cy="90540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259" y="1020278"/>
            <a:ext cx="9102490" cy="58094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10505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3.tm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465AF-1E9D-4F47-A457-BB8E06933EF4}"/>
              </a:ext>
            </a:extLst>
          </p:cNvPr>
          <p:cNvSpPr>
            <a:spLocks noGrp="1"/>
          </p:cNvSpPr>
          <p:nvPr>
            <p:ph type="ctrTitle"/>
          </p:nvPr>
        </p:nvSpPr>
        <p:spPr/>
        <p:txBody>
          <a:bodyPr>
            <a:normAutofit/>
          </a:bodyPr>
          <a:lstStyle/>
          <a:p>
            <a:r>
              <a:rPr lang="en-US" dirty="0">
                <a:latin typeface="Times New Roman" panose="02020603050405020304" pitchFamily="18" charset="0"/>
                <a:cs typeface="Times New Roman" panose="02020603050405020304" pitchFamily="18" charset="0"/>
              </a:rPr>
              <a:t>INTERFACE</a:t>
            </a:r>
          </a:p>
        </p:txBody>
      </p:sp>
      <p:sp>
        <p:nvSpPr>
          <p:cNvPr id="3" name="Subtitle 2">
            <a:extLst>
              <a:ext uri="{FF2B5EF4-FFF2-40B4-BE49-F238E27FC236}">
                <a16:creationId xmlns:a16="http://schemas.microsoft.com/office/drawing/2014/main" id="{DAD84004-3706-4DD2-91FA-FF80F7B22CB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9427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958F1-071A-4A8D-8390-AD8C3E95F272}"/>
              </a:ext>
            </a:extLst>
          </p:cNvPr>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Nội</a:t>
            </a:r>
            <a:r>
              <a:rPr lang="en-US" dirty="0">
                <a:latin typeface="Times New Roman" panose="02020603050405020304" pitchFamily="18" charset="0"/>
                <a:cs typeface="Times New Roman" panose="02020603050405020304" pitchFamily="18" charset="0"/>
              </a:rPr>
              <a:t> dung</a:t>
            </a:r>
          </a:p>
        </p:txBody>
      </p:sp>
      <p:sp>
        <p:nvSpPr>
          <p:cNvPr id="3" name="Content Placeholder 2">
            <a:extLst>
              <a:ext uri="{FF2B5EF4-FFF2-40B4-BE49-F238E27FC236}">
                <a16:creationId xmlns:a16="http://schemas.microsoft.com/office/drawing/2014/main" id="{BE9A2F4A-DFA5-41F5-BD92-39E9675D4196}"/>
              </a:ext>
            </a:extLst>
          </p:cNvPr>
          <p:cNvSpPr>
            <a:spLocks noGrp="1"/>
          </p:cNvSpPr>
          <p:nvPr>
            <p:ph idx="1"/>
          </p:nvPr>
        </p:nvSpPr>
        <p:spPr/>
        <p:txBody>
          <a:bodyPr/>
          <a:lstStyle/>
          <a:p>
            <a:pPr marL="0" indent="0">
              <a:buNone/>
            </a:pPr>
            <a:r>
              <a:rPr lang="en-US" sz="3200" dirty="0" err="1">
                <a:latin typeface="Times New Roman" panose="02020603050405020304" pitchFamily="18" charset="0"/>
                <a:cs typeface="Times New Roman" panose="02020603050405020304" pitchFamily="18" charset="0"/>
              </a:rPr>
              <a:t>Chúng</a:t>
            </a: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ta sẽ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tìm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hiểu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nội</a:t>
            </a:r>
            <a:r>
              <a:rPr lang="en-US" sz="3200" dirty="0">
                <a:latin typeface="Times New Roman" panose="02020603050405020304" pitchFamily="18" charset="0"/>
                <a:cs typeface="Times New Roman" panose="02020603050405020304" pitchFamily="18" charset="0"/>
              </a:rPr>
              <a:t> dung </a:t>
            </a:r>
            <a:r>
              <a:rPr lang="en-US" sz="3200" dirty="0" err="1">
                <a:latin typeface="Times New Roman" panose="02020603050405020304" pitchFamily="18" charset="0"/>
                <a:cs typeface="Times New Roman" panose="02020603050405020304" pitchFamily="18" charset="0"/>
              </a:rPr>
              <a:t>nh</a:t>
            </a:r>
            <a:r>
              <a:rPr lang="vi-VN" sz="3200" dirty="0">
                <a:latin typeface="Times New Roman" panose="02020603050405020304" pitchFamily="18" charset="0"/>
                <a:cs typeface="Times New Roman" panose="02020603050405020304" pitchFamily="18" charset="0"/>
              </a:rPr>
              <a:t>ư</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sau</a:t>
            </a:r>
            <a:r>
              <a:rPr lang="vi-VN" sz="3200" dirty="0">
                <a:latin typeface="Times New Roman" panose="02020603050405020304" pitchFamily="18" charset="0"/>
                <a:cs typeface="Times New Roman" panose="02020603050405020304" pitchFamily="18" charset="0"/>
              </a:rPr>
              <a:t>:</a:t>
            </a:r>
          </a:p>
          <a:p>
            <a:r>
              <a:rPr lang="en-US" sz="3200" dirty="0" err="1">
                <a:latin typeface="Times New Roman" panose="02020603050405020304" pitchFamily="18" charset="0"/>
                <a:cs typeface="Times New Roman" panose="02020603050405020304" pitchFamily="18" charset="0"/>
              </a:rPr>
              <a:t>Giao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nhiều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tài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liệu</a:t>
            </a:r>
            <a:endParaRPr lang="en-US" sz="3200" dirty="0">
              <a:latin typeface="Times New Roman" panose="02020603050405020304" pitchFamily="18" charset="0"/>
              <a:cs typeface="Times New Roman" panose="02020603050405020304" pitchFamily="18" charset="0"/>
            </a:endParaRPr>
          </a:p>
          <a:p>
            <a:r>
              <a:rPr lang="en-US" sz="3200" dirty="0" err="1">
                <a:latin typeface="Times New Roman" panose="02020603050405020304" pitchFamily="18" charset="0"/>
                <a:cs typeface="Times New Roman" panose="02020603050405020304" pitchFamily="18" charset="0"/>
              </a:rPr>
              <a:t>Hiển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thị</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thông</a:t>
            </a:r>
            <a:r>
              <a:rPr lang="en-US" sz="3200" dirty="0">
                <a:latin typeface="Times New Roman" panose="02020603050405020304" pitchFamily="18" charset="0"/>
                <a:cs typeface="Times New Roman" panose="02020603050405020304" pitchFamily="18" charset="0"/>
              </a:rPr>
              <a:t> tin </a:t>
            </a:r>
            <a:r>
              <a:rPr lang="en-US" sz="3200" dirty="0" err="1">
                <a:latin typeface="Times New Roman" panose="02020603050405020304" pitchFamily="18" charset="0"/>
                <a:cs typeface="Times New Roman" panose="02020603050405020304" pitchFamily="18" charset="0"/>
              </a:rPr>
              <a:t>trong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phần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bằng</a:t>
            </a:r>
            <a:r>
              <a:rPr lang="en-US" sz="3200" dirty="0">
                <a:latin typeface="Times New Roman" panose="02020603050405020304" pitchFamily="18" charset="0"/>
                <a:cs typeface="Times New Roman" panose="02020603050405020304" pitchFamily="18" charset="0"/>
              </a:rPr>
              <a:t> Tab Widget</a:t>
            </a:r>
          </a:p>
          <a:p>
            <a:r>
              <a:rPr lang="en-US" sz="3200" dirty="0" err="1">
                <a:latin typeface="Times New Roman" panose="02020603050405020304" pitchFamily="18" charset="0"/>
                <a:cs typeface="Times New Roman" panose="02020603050405020304" pitchFamily="18" charset="0"/>
              </a:rPr>
              <a:t>Tạo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một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thanh</a:t>
            </a:r>
            <a:r>
              <a:rPr lang="en-US" sz="3200" dirty="0">
                <a:latin typeface="Times New Roman" panose="02020603050405020304" pitchFamily="18" charset="0"/>
                <a:cs typeface="Times New Roman" panose="02020603050405020304" pitchFamily="18" charset="0"/>
              </a:rPr>
              <a:t> menu (</a:t>
            </a:r>
            <a:r>
              <a:rPr lang="en-US" sz="3200">
                <a:latin typeface="Times New Roman" panose="02020603050405020304" pitchFamily="18" charset="0"/>
                <a:cs typeface="Times New Roman" panose="02020603050405020304" pitchFamily="18" charset="0"/>
              </a:rPr>
              <a:t>menu bar)</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5024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r>
              <a:rPr lang="vi-VN" sz="3200" dirty="0">
                <a:latin typeface="+mj-lt"/>
              </a:rPr>
              <a:t>Thông thường, một ứng dụng cung cấp một tài liệu trên mỗi cửa sổ chính và các ứng dụng đó được gọi là các ứng dụng </a:t>
            </a:r>
            <a:r>
              <a:rPr lang="en-US" sz="3200" dirty="0">
                <a:latin typeface="Times New Roman" panose="02020603050405020304" pitchFamily="18" charset="0"/>
                <a:cs typeface="Times New Roman" panose="02020603050405020304" pitchFamily="18" charset="0"/>
              </a:rPr>
              <a:t>g</a:t>
            </a:r>
            <a:r>
              <a:rPr lang="vi-VN" sz="3200" dirty="0">
                <a:latin typeface="+mj-lt"/>
              </a:rPr>
              <a:t>iao diện tài liệu đơn (SDI). Như tên cho thấy, một ứng dụng </a:t>
            </a:r>
            <a:r>
              <a:rPr lang="en-US" sz="3200" dirty="0">
                <a:latin typeface="Times New Roman" panose="02020603050405020304" pitchFamily="18" charset="0"/>
                <a:cs typeface="Times New Roman" panose="02020603050405020304" pitchFamily="18" charset="0"/>
              </a:rPr>
              <a:t>g</a:t>
            </a:r>
            <a:r>
              <a:rPr lang="vi-VN" sz="3200" dirty="0">
                <a:latin typeface="+mj-lt"/>
              </a:rPr>
              <a:t>iao diện nhiều tài liệu (MDI) có thể hiển thị một số tài liệu. Ứng dụng MDI bao gồm một cửa sổ chính cùng với thanh menu, thanh công cụ và không gian trung tâm. Một số tài liệu có thể được hiển thị trong không gian trung tâm, trong đó mỗi tài liệu có thể được quản lý thông qua các tiện ích cửa sổ con riêng lẻ; trong MDI, một số tài liệu có thể được hiển thị và mỗi tài liệu được hiển thị trong cửa sổ riêng của nó. Những cửa sổ con này còn được gọi là cửa sổ phụ.</a:t>
            </a:r>
            <a:endParaRPr lang="en-US" sz="3200" b="1" dirty="0">
              <a:latin typeface="+mj-lt"/>
              <a:cs typeface="Times New Roman" panose="02020603050405020304" pitchFamily="18" charset="0"/>
            </a:endParaRPr>
          </a:p>
        </p:txBody>
      </p:sp>
    </p:spTree>
    <p:extLst>
      <p:ext uri="{BB962C8B-B14F-4D97-AF65-F5344CB8AC3E}">
        <p14:creationId xmlns:p14="http://schemas.microsoft.com/office/powerpoint/2010/main" val="181101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r>
              <a:rPr lang="vi-VN" sz="3200" dirty="0">
                <a:latin typeface="+mj-lt"/>
              </a:rPr>
              <a:t>MDI được triển khai bằng cách sử dụng tiện ích MdiArea. Tiện ích MdiArea cung cấp một khu vực nơi các cửa sổ con hoặc cửa sổ con được hiển thị. Một subwindow có một tiêu đề và các nút để hiển thị, ẩn và tối đa hóa kích thước của nó. Mỗi luồng con có thể hiển thị một tài liệu riêng lẻ. Các luồng con có thể được sắp xếp theo tầng hoặc mẫu gạch bằng cách đặt thuộc tính tương ứng của tiện ích MdiArea. Tiện ích MdiArea là một thể hiện của lớp QMdiArea và các luồng con là các thể hiện của QMdiSubWindow.</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376301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341313" indent="0" algn="just">
              <a:buNone/>
            </a:pPr>
            <a:r>
              <a:rPr lang="vi-VN" sz="3200" dirty="0">
                <a:latin typeface="+mj-lt"/>
              </a:rPr>
              <a:t>Dưới đây là các phương thức được cung cấp bởi QMdiArea:</a:t>
            </a:r>
            <a:endParaRPr lang="en-US" sz="3200" dirty="0">
              <a:latin typeface="+mj-lt"/>
            </a:endParaRPr>
          </a:p>
          <a:p>
            <a:pPr marL="798513" indent="-457200" algn="just">
              <a:buFont typeface="Wingdings" panose="05000000000000000000" pitchFamily="2" charset="2"/>
              <a:buChar char="Ø"/>
            </a:pPr>
            <a:r>
              <a:rPr lang="vi-VN" sz="3200" b="1" dirty="0">
                <a:latin typeface="+mj-lt"/>
              </a:rPr>
              <a:t>subWindowList():</a:t>
            </a:r>
            <a:r>
              <a:rPr lang="vi-VN" sz="3200" dirty="0">
                <a:latin typeface="+mj-lt"/>
              </a:rPr>
              <a:t> Phương thức này trả về một danh sách tất cả các luồng con trong khu vực MDI. Danh sách trả về được sắp xếp theo thứ tự</a:t>
            </a:r>
            <a:r>
              <a:rPr lang="en-US" sz="3200" dirty="0">
                <a:latin typeface="+mj-lt"/>
              </a:rPr>
              <a:t>, </a:t>
            </a:r>
            <a:r>
              <a:rPr lang="vi-VN" sz="3200" dirty="0">
                <a:latin typeface="+mj-lt"/>
              </a:rPr>
              <a:t>thông qua hàm WindowOrder ().</a:t>
            </a:r>
            <a:endParaRPr lang="en-US" sz="3200" dirty="0">
              <a:latin typeface="+mj-lt"/>
            </a:endParaRPr>
          </a:p>
          <a:p>
            <a:pPr marL="798513" indent="-457200" algn="just">
              <a:buFont typeface="Wingdings" panose="05000000000000000000" pitchFamily="2" charset="2"/>
              <a:buChar char="Ø"/>
            </a:pPr>
            <a:r>
              <a:rPr lang="vi-VN" sz="3200" b="1" dirty="0">
                <a:latin typeface="+mj-lt"/>
              </a:rPr>
              <a:t>WindowOrder:</a:t>
            </a:r>
            <a:r>
              <a:rPr lang="vi-VN" sz="3200" dirty="0">
                <a:latin typeface="+mj-lt"/>
              </a:rPr>
              <a:t> Biến tĩnh này </a:t>
            </a:r>
            <a:r>
              <a:rPr lang="en-US" sz="3200" dirty="0" err="1">
                <a:latin typeface="Times New Roman" panose="02020603050405020304" pitchFamily="18" charset="0"/>
                <a:cs typeface="Times New Roman" panose="02020603050405020304" pitchFamily="18" charset="0"/>
              </a:rPr>
              <a:t>thiết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lập</a:t>
            </a:r>
            <a:r>
              <a:rPr lang="en-US" sz="3200" dirty="0">
                <a:latin typeface="Times New Roman" panose="02020603050405020304" pitchFamily="18" charset="0"/>
                <a:cs typeface="Times New Roman" panose="02020603050405020304" pitchFamily="18" charset="0"/>
              </a:rPr>
              <a:t> </a:t>
            </a:r>
            <a:r>
              <a:rPr lang="vi-VN" sz="3200" dirty="0">
                <a:latin typeface="+mj-lt"/>
              </a:rPr>
              <a:t>để sắp xếp danh sách các cửa sổ con. Sau đây là các giá trị hợp lệ có thể được gán cho biến tĩnh này:</a:t>
            </a:r>
            <a:endParaRPr lang="en-US" sz="3200" dirty="0">
              <a:latin typeface="+mj-lt"/>
            </a:endParaRPr>
          </a:p>
          <a:p>
            <a:pPr marL="1208088" indent="-457200" algn="just">
              <a:buFont typeface="Wingdings" panose="05000000000000000000" pitchFamily="2" charset="2"/>
              <a:buChar char="ü"/>
            </a:pPr>
            <a:r>
              <a:rPr lang="vi-VN" sz="3200" b="1" dirty="0">
                <a:latin typeface="+mj-lt"/>
              </a:rPr>
              <a:t>CreationOrder:</a:t>
            </a:r>
            <a:r>
              <a:rPr lang="vi-VN" sz="3200" dirty="0">
                <a:latin typeface="+mj-lt"/>
              </a:rPr>
              <a:t> Các cửa sổ được trả về theo thứ tự tạo của chúng. Đây là thứ tự mặc định.</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221597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1208088" indent="-457200" algn="just">
              <a:buFont typeface="Wingdings" panose="05000000000000000000" pitchFamily="2" charset="2"/>
              <a:buChar char="ü"/>
            </a:pPr>
            <a:r>
              <a:rPr lang="vi-VN" sz="3200" b="1" dirty="0">
                <a:latin typeface="+mj-lt"/>
              </a:rPr>
              <a:t>StackingOrder:</a:t>
            </a:r>
            <a:r>
              <a:rPr lang="vi-VN" sz="3200" dirty="0">
                <a:latin typeface="+mj-lt"/>
              </a:rPr>
              <a:t> Các cửa sổ được trả về theo thứ tự chúng được xếp chồng lên nhau, với cửa sổ trên cùng cuối cùng trong danh sách.</a:t>
            </a:r>
            <a:endParaRPr lang="en-US" sz="3200" dirty="0">
              <a:latin typeface="+mj-lt"/>
            </a:endParaRPr>
          </a:p>
          <a:p>
            <a:pPr marL="1208088" indent="-457200" algn="just">
              <a:buFont typeface="Wingdings" panose="05000000000000000000" pitchFamily="2" charset="2"/>
              <a:buChar char="ü"/>
            </a:pPr>
            <a:r>
              <a:rPr lang="vi-VN" sz="3200" b="1" dirty="0">
                <a:latin typeface="+mj-lt"/>
              </a:rPr>
              <a:t>ActivationHistoryOrder: </a:t>
            </a:r>
            <a:r>
              <a:rPr lang="vi-VN" sz="3200" dirty="0">
                <a:latin typeface="+mj-lt"/>
              </a:rPr>
              <a:t>Các cửa sổ được trả về theo thứ tự chúng được kích hoạt.</a:t>
            </a:r>
            <a:endParaRPr lang="en-US" sz="3200" dirty="0">
              <a:latin typeface="+mj-lt"/>
            </a:endParaRPr>
          </a:p>
          <a:p>
            <a:pPr marL="747713" indent="-457200" algn="just">
              <a:buFont typeface="Wingdings" panose="05000000000000000000" pitchFamily="2" charset="2"/>
              <a:buChar char="Ø"/>
            </a:pPr>
            <a:r>
              <a:rPr lang="vi-VN" sz="3200" b="1" dirty="0">
                <a:latin typeface="+mj-lt"/>
              </a:rPr>
              <a:t>activ</a:t>
            </a:r>
            <a:r>
              <a:rPr lang="en-US" sz="3200" b="1" dirty="0">
                <a:latin typeface="Times New Roman" panose="02020603050405020304" pitchFamily="18" charset="0"/>
                <a:cs typeface="Times New Roman" panose="02020603050405020304" pitchFamily="18" charset="0"/>
              </a:rPr>
              <a:t>ate</a:t>
            </a:r>
            <a:r>
              <a:rPr lang="vi-VN" sz="3200" b="1" dirty="0">
                <a:latin typeface="+mj-lt"/>
              </a:rPr>
              <a:t>NextSubWindow(): </a:t>
            </a:r>
            <a:r>
              <a:rPr lang="vi-VN" sz="3200" dirty="0">
                <a:latin typeface="+mj-lt"/>
              </a:rPr>
              <a:t>Phương thức này đặt </a:t>
            </a:r>
            <a:r>
              <a:rPr lang="en-US" sz="3200" dirty="0" err="1">
                <a:latin typeface="Times New Roman" panose="02020603050405020304" pitchFamily="18" charset="0"/>
                <a:cs typeface="Times New Roman" panose="02020603050405020304" pitchFamily="18" charset="0"/>
              </a:rPr>
              <a:t>trọng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tâm</a:t>
            </a:r>
            <a:r>
              <a:rPr lang="en-US" sz="3200" dirty="0">
                <a:latin typeface="Times New Roman" panose="02020603050405020304" pitchFamily="18" charset="0"/>
                <a:cs typeface="Times New Roman" panose="02020603050405020304" pitchFamily="18" charset="0"/>
              </a:rPr>
              <a:t> </a:t>
            </a:r>
            <a:r>
              <a:rPr lang="vi-VN" sz="3200" dirty="0">
                <a:latin typeface="+mj-lt"/>
              </a:rPr>
              <a:t>cho cửa sổ tiếp theo trong danh sách các cửa sổ con. Thứ tự cửa sổ hiện tại xác định cửa sổ tiếp theo sẽ được kích hoạt.</a:t>
            </a:r>
            <a:endParaRPr lang="en-US" sz="3200" dirty="0">
              <a:latin typeface="+mj-lt"/>
            </a:endParaRPr>
          </a:p>
          <a:p>
            <a:pPr marL="747713" indent="-457200" algn="just">
              <a:buFont typeface="Wingdings" panose="05000000000000000000" pitchFamily="2" charset="2"/>
              <a:buChar char="Ø"/>
            </a:pPr>
            <a:r>
              <a:rPr lang="vi-VN" sz="3200" b="1" dirty="0">
                <a:latin typeface="Times New Roman" panose="02020603050405020304" pitchFamily="18" charset="0"/>
                <a:cs typeface="Times New Roman" panose="02020603050405020304" pitchFamily="18" charset="0"/>
              </a:rPr>
              <a:t>activ</a:t>
            </a:r>
            <a:r>
              <a:rPr lang="en-US" sz="3200" b="1" dirty="0">
                <a:latin typeface="Times New Roman" panose="02020603050405020304" pitchFamily="18" charset="0"/>
                <a:cs typeface="Times New Roman" panose="02020603050405020304" pitchFamily="18" charset="0"/>
              </a:rPr>
              <a:t>ate</a:t>
            </a:r>
            <a:r>
              <a:rPr lang="vi-VN" sz="3200" b="1" dirty="0">
                <a:latin typeface="+mj-lt"/>
              </a:rPr>
              <a:t>PreinglySubWindow(): </a:t>
            </a:r>
            <a:r>
              <a:rPr lang="vi-VN" sz="3200" dirty="0">
                <a:latin typeface="+mj-lt"/>
              </a:rPr>
              <a:t>Phương thức này đặt </a:t>
            </a:r>
            <a:r>
              <a:rPr lang="en-US" sz="3200" dirty="0" err="1">
                <a:latin typeface="Times New Roman" panose="02020603050405020304" pitchFamily="18" charset="0"/>
                <a:cs typeface="Times New Roman" panose="02020603050405020304" pitchFamily="18" charset="0"/>
              </a:rPr>
              <a:t>trọng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tâm</a:t>
            </a:r>
            <a:r>
              <a:rPr lang="en-US" sz="3200" dirty="0">
                <a:latin typeface="Times New Roman" panose="02020603050405020304" pitchFamily="18" charset="0"/>
                <a:cs typeface="Times New Roman" panose="02020603050405020304" pitchFamily="18" charset="0"/>
              </a:rPr>
              <a:t> </a:t>
            </a:r>
            <a:r>
              <a:rPr lang="vi-VN" sz="3200" dirty="0">
                <a:latin typeface="+mj-lt"/>
              </a:rPr>
              <a:t>vào cửa sổ trước trong danh sách các cửa sổ con. Thứ tự cửa sổ hiện tại xác định cửa sổ trước sẽ được kích hoạt.</a:t>
            </a:r>
            <a:endParaRPr lang="en-US" sz="3200" dirty="0">
              <a:latin typeface="+mj-lt"/>
            </a:endParaRPr>
          </a:p>
        </p:txBody>
      </p:sp>
    </p:spTree>
    <p:extLst>
      <p:ext uri="{BB962C8B-B14F-4D97-AF65-F5344CB8AC3E}">
        <p14:creationId xmlns:p14="http://schemas.microsoft.com/office/powerpoint/2010/main" val="4191639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747713" indent="-457200" algn="just">
              <a:buFont typeface="Wingdings" panose="05000000000000000000" pitchFamily="2" charset="2"/>
              <a:buChar char="Ø"/>
            </a:pPr>
            <a:r>
              <a:rPr lang="vi-VN" sz="3200" b="1">
                <a:latin typeface="+mj-lt"/>
              </a:rPr>
              <a:t>cascadeSubWindows(): </a:t>
            </a:r>
            <a:r>
              <a:rPr lang="vi-VN" sz="3200" dirty="0">
                <a:latin typeface="+mj-lt"/>
              </a:rPr>
              <a:t>Phương pháp này sắp xếp các SubWindows</a:t>
            </a:r>
            <a:r>
              <a:rPr lang="en-US" sz="3200" dirty="0">
                <a:latin typeface="+mj-lt"/>
              </a:rPr>
              <a:t> </a:t>
            </a:r>
            <a:r>
              <a:rPr lang="vi-VN" sz="3200" dirty="0">
                <a:latin typeface="+mj-lt"/>
              </a:rPr>
              <a:t>theo kiểu </a:t>
            </a:r>
            <a:r>
              <a:rPr lang="en-US" sz="3200" dirty="0" err="1">
                <a:latin typeface="Times New Roman" panose="02020603050405020304" pitchFamily="18" charset="0"/>
                <a:cs typeface="Times New Roman" panose="02020603050405020304" pitchFamily="18" charset="0"/>
              </a:rPr>
              <a:t>thác</a:t>
            </a:r>
            <a:r>
              <a:rPr lang="en-US" sz="3200" dirty="0">
                <a:latin typeface="Times New Roman" panose="02020603050405020304" pitchFamily="18" charset="0"/>
                <a:cs typeface="Times New Roman" panose="02020603050405020304" pitchFamily="18" charset="0"/>
              </a:rPr>
              <a:t> n</a:t>
            </a:r>
            <a:r>
              <a:rPr lang="vi-VN" sz="3200" dirty="0">
                <a:latin typeface="Times New Roman" panose="02020603050405020304" pitchFamily="18" charset="0"/>
                <a:cs typeface="Times New Roman" panose="02020603050405020304" pitchFamily="18" charset="0"/>
              </a:rPr>
              <a:t>ư</a:t>
            </a:r>
            <a:r>
              <a:rPr lang="en-US" sz="3200" dirty="0" err="1">
                <a:latin typeface="Times New Roman" panose="02020603050405020304" pitchFamily="18" charset="0"/>
                <a:cs typeface="Times New Roman" panose="02020603050405020304" pitchFamily="18" charset="0"/>
              </a:rPr>
              <a:t>ớc</a:t>
            </a:r>
            <a:r>
              <a:rPr lang="vi-VN" sz="3200" dirty="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a:p>
            <a:pPr marL="747713" indent="-457200" algn="just">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tile</a:t>
            </a:r>
            <a:r>
              <a:rPr lang="vi-VN" sz="3200" b="1">
                <a:latin typeface="+mj-lt"/>
              </a:rPr>
              <a:t>SubWindows(): </a:t>
            </a:r>
            <a:r>
              <a:rPr lang="vi-VN" sz="3200" dirty="0">
                <a:latin typeface="+mj-lt"/>
              </a:rPr>
              <a:t>Phương thức này sắp xếp các SubWindows theo kiểu </a:t>
            </a:r>
            <a:r>
              <a:rPr lang="en-US" sz="3200" dirty="0" err="1">
                <a:latin typeface="Times New Roman" panose="02020603050405020304" pitchFamily="18" charset="0"/>
                <a:cs typeface="Times New Roman" panose="02020603050405020304" pitchFamily="18" charset="0"/>
              </a:rPr>
              <a:t>xếp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chồng</a:t>
            </a:r>
            <a:r>
              <a:rPr lang="vi-VN" sz="3200" dirty="0">
                <a:latin typeface="+mj-lt"/>
              </a:rPr>
              <a:t>.</a:t>
            </a:r>
            <a:endParaRPr lang="en-US" sz="3200" dirty="0">
              <a:latin typeface="+mj-lt"/>
            </a:endParaRPr>
          </a:p>
          <a:p>
            <a:pPr marL="747713" indent="-457200" algn="just">
              <a:buFont typeface="Wingdings" panose="05000000000000000000" pitchFamily="2" charset="2"/>
              <a:buChar char="Ø"/>
            </a:pPr>
            <a:r>
              <a:rPr lang="vi-VN" sz="3200" b="1">
                <a:latin typeface="+mj-lt"/>
              </a:rPr>
              <a:t>close ALLSubWindows(): </a:t>
            </a:r>
            <a:r>
              <a:rPr lang="vi-VN" sz="3200" dirty="0">
                <a:latin typeface="+mj-lt"/>
              </a:rPr>
              <a:t>Phương thức này đóng tất cả các SubWindows.</a:t>
            </a:r>
            <a:endParaRPr lang="en-US" sz="3200" dirty="0">
              <a:latin typeface="+mj-lt"/>
            </a:endParaRPr>
          </a:p>
          <a:p>
            <a:pPr marL="747713" indent="-457200" algn="just">
              <a:buFont typeface="Wingdings" panose="05000000000000000000" pitchFamily="2" charset="2"/>
              <a:buChar char="Ø"/>
            </a:pPr>
            <a:r>
              <a:rPr lang="vi-VN" sz="3200" b="1">
                <a:latin typeface="+mj-lt"/>
              </a:rPr>
              <a:t>setViewMode(): </a:t>
            </a:r>
            <a:r>
              <a:rPr lang="vi-VN" sz="3200">
                <a:latin typeface="+mj-lt"/>
              </a:rPr>
              <a:t>Phương </a:t>
            </a:r>
            <a:r>
              <a:rPr lang="vi-VN" sz="3200" dirty="0">
                <a:latin typeface="+mj-lt"/>
              </a:rPr>
              <a:t>thức này đặt chế độ xem của khu vực MDI. Các SubWindows</a:t>
            </a:r>
            <a:r>
              <a:rPr lang="en-US" sz="3200" dirty="0">
                <a:latin typeface="+mj-lt"/>
              </a:rPr>
              <a:t> </a:t>
            </a:r>
            <a:r>
              <a:rPr lang="vi-VN" sz="3200" dirty="0">
                <a:latin typeface="+mj-lt"/>
              </a:rPr>
              <a:t>có thể được xem ở hai chế độ, Chế độ xem SubWindow và Chế độ xem theo tab:</a:t>
            </a:r>
            <a:endParaRPr lang="en-US" sz="3200" dirty="0">
              <a:latin typeface="+mj-lt"/>
            </a:endParaRPr>
          </a:p>
        </p:txBody>
      </p:sp>
    </p:spTree>
    <p:extLst>
      <p:ext uri="{BB962C8B-B14F-4D97-AF65-F5344CB8AC3E}">
        <p14:creationId xmlns:p14="http://schemas.microsoft.com/office/powerpoint/2010/main" val="4145078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747713" indent="-457200" algn="just">
              <a:buFont typeface="Wingdings" panose="05000000000000000000" pitchFamily="2" charset="2"/>
              <a:buChar char="ü"/>
            </a:pPr>
            <a:r>
              <a:rPr lang="vi-VN" sz="3200" b="1" dirty="0">
                <a:latin typeface="+mj-lt"/>
              </a:rPr>
              <a:t>SubWindow View</a:t>
            </a:r>
            <a:r>
              <a:rPr lang="vi-VN" sz="3200" dirty="0">
                <a:latin typeface="+mj-lt"/>
              </a:rPr>
              <a:t>: Phương thức này hiển thị các </a:t>
            </a:r>
            <a:r>
              <a:rPr lang="en-US" sz="3200" dirty="0">
                <a:latin typeface="Times New Roman" panose="02020603050405020304" pitchFamily="18" charset="0"/>
                <a:cs typeface="Times New Roman" panose="02020603050405020304" pitchFamily="18" charset="0"/>
              </a:rPr>
              <a:t>s</a:t>
            </a:r>
            <a:r>
              <a:rPr lang="vi-VN" sz="3200" dirty="0">
                <a:latin typeface="+mj-lt"/>
              </a:rPr>
              <a:t>ubWindows</a:t>
            </a:r>
            <a:r>
              <a:rPr lang="en-US" sz="3200" dirty="0">
                <a:latin typeface="+mj-lt"/>
              </a:rPr>
              <a:t> </a:t>
            </a:r>
            <a:r>
              <a:rPr lang="vi-VN" sz="3200" dirty="0">
                <a:latin typeface="+mj-lt"/>
              </a:rPr>
              <a:t>với các khung cửa sổ (mặc định). Bạn có thể thấy nội dung của nhiều hơn một SubWindows</a:t>
            </a:r>
            <a:r>
              <a:rPr lang="en-US" sz="3200" dirty="0">
                <a:latin typeface="+mj-lt"/>
              </a:rPr>
              <a:t> </a:t>
            </a:r>
            <a:r>
              <a:rPr lang="vi-VN" sz="3200" dirty="0">
                <a:latin typeface="+mj-lt"/>
              </a:rPr>
              <a:t>nếu được sắp xếp theo kiểu </a:t>
            </a:r>
            <a:r>
              <a:rPr lang="en-US" sz="3200" dirty="0" err="1">
                <a:latin typeface="Times New Roman" panose="02020603050405020304" pitchFamily="18" charset="0"/>
                <a:cs typeface="Times New Roman" panose="02020603050405020304" pitchFamily="18" charset="0"/>
              </a:rPr>
              <a:t>xếp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chồng</a:t>
            </a:r>
            <a:r>
              <a:rPr lang="vi-VN" sz="3200" dirty="0">
                <a:latin typeface="+mj-lt"/>
              </a:rPr>
              <a:t>. Nó cũng được đại diện bởi một giá trị không đổi</a:t>
            </a:r>
            <a:r>
              <a:rPr lang="en-US" sz="3200" dirty="0">
                <a:latin typeface="+mj-lt"/>
              </a:rPr>
              <a:t> </a:t>
            </a:r>
            <a:r>
              <a:rPr lang="en-US" sz="3200" dirty="0" err="1">
                <a:latin typeface="Times New Roman" panose="02020603050405020304" pitchFamily="18" charset="0"/>
                <a:cs typeface="Times New Roman" panose="02020603050405020304" pitchFamily="18" charset="0"/>
              </a:rPr>
              <a:t>là</a:t>
            </a:r>
            <a:r>
              <a:rPr lang="vi-VN" sz="3200" dirty="0">
                <a:latin typeface="+mj-lt"/>
              </a:rPr>
              <a:t> 0.</a:t>
            </a:r>
            <a:endParaRPr lang="en-US" sz="3200" dirty="0">
              <a:latin typeface="+mj-lt"/>
            </a:endParaRPr>
          </a:p>
          <a:p>
            <a:pPr marL="747713" indent="-457200" algn="just">
              <a:buFont typeface="Wingdings" panose="05000000000000000000" pitchFamily="2" charset="2"/>
              <a:buChar char="ü"/>
            </a:pPr>
            <a:r>
              <a:rPr lang="vi-VN" sz="3200" b="1" dirty="0">
                <a:latin typeface="+mj-lt"/>
              </a:rPr>
              <a:t>Chế độ xem theo tab</a:t>
            </a:r>
            <a:r>
              <a:rPr lang="vi-VN" sz="3200" dirty="0">
                <a:latin typeface="+mj-lt"/>
              </a:rPr>
              <a:t>: Hiển thị các SubWindows</a:t>
            </a:r>
            <a:r>
              <a:rPr lang="en-US" sz="3200" dirty="0">
                <a:latin typeface="+mj-lt"/>
              </a:rPr>
              <a:t> </a:t>
            </a:r>
            <a:r>
              <a:rPr lang="vi-VN" sz="3200" dirty="0">
                <a:latin typeface="+mj-lt"/>
              </a:rPr>
              <a:t>với các tab trong thanh tab. Mỗi lần chỉ có thể nhìn thấy nội dung của một nội dung phụ. Nó cũng được đại diện bởi một giá trị không đổi</a:t>
            </a:r>
            <a:r>
              <a:rPr lang="en-US" sz="3200" dirty="0">
                <a:latin typeface="+mj-lt"/>
              </a:rPr>
              <a:t> </a:t>
            </a:r>
            <a:r>
              <a:rPr lang="en-US" sz="3200" dirty="0" err="1">
                <a:latin typeface="Times New Roman" panose="02020603050405020304" pitchFamily="18" charset="0"/>
                <a:cs typeface="Times New Roman" panose="02020603050405020304" pitchFamily="18" charset="0"/>
              </a:rPr>
              <a:t>là</a:t>
            </a:r>
            <a:r>
              <a:rPr lang="vi-VN" sz="3200" dirty="0">
                <a:latin typeface="Times New Roman" panose="02020603050405020304" pitchFamily="18" charset="0"/>
                <a:cs typeface="Times New Roman" panose="02020603050405020304" pitchFamily="18" charset="0"/>
              </a:rPr>
              <a:t> </a:t>
            </a:r>
            <a:r>
              <a:rPr lang="vi-VN" sz="3200" dirty="0">
                <a:latin typeface="+mj-lt"/>
              </a:rPr>
              <a:t>1.</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880318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290513" indent="0" algn="just">
              <a:buNone/>
            </a:pPr>
            <a:r>
              <a:rPr lang="vi-VN" sz="3200" dirty="0">
                <a:latin typeface="+mj-lt"/>
              </a:rPr>
              <a:t>Hãy tạo một ứng dụng bao gồm hai tài liệu và mỗi tài liệu sẽ được hiển thị thông qua luồng con riêng lẻ. Chúng t</a:t>
            </a:r>
            <a:r>
              <a:rPr lang="en-US" sz="3200" dirty="0">
                <a:latin typeface="Times New Roman" panose="02020603050405020304" pitchFamily="18" charset="0"/>
                <a:cs typeface="Times New Roman" panose="02020603050405020304" pitchFamily="18" charset="0"/>
              </a:rPr>
              <a:t>a</a:t>
            </a:r>
            <a:r>
              <a:rPr lang="vi-VN" sz="3200" dirty="0">
                <a:latin typeface="+mj-lt"/>
              </a:rPr>
              <a:t> sẽ tìm hiểu làm thế nào để sắp xếp và xem các subwindow</a:t>
            </a:r>
            <a:r>
              <a:rPr lang="en-US" sz="3200" dirty="0">
                <a:latin typeface="+mj-lt"/>
              </a:rPr>
              <a:t> </a:t>
            </a:r>
            <a:r>
              <a:rPr lang="vi-VN" sz="3200" dirty="0">
                <a:latin typeface="+mj-lt"/>
              </a:rPr>
              <a:t>này như mong muốn:</a:t>
            </a:r>
            <a:endParaRPr lang="en-US" sz="3200" dirty="0">
              <a:latin typeface="+mj-lt"/>
            </a:endParaRPr>
          </a:p>
          <a:p>
            <a:pPr marL="804863" indent="-514350" algn="just">
              <a:buAutoNum type="arabicPeriod"/>
            </a:pPr>
            <a:r>
              <a:rPr lang="vi-VN" sz="3200" dirty="0">
                <a:latin typeface="+mj-lt"/>
              </a:rPr>
              <a:t>Khởi chạy Qt Designer và tạo một ứng dụng Cửa sổ chính mới.</a:t>
            </a:r>
            <a:endParaRPr lang="en-US" sz="3200" dirty="0">
              <a:latin typeface="+mj-lt"/>
            </a:endParaRPr>
          </a:p>
          <a:p>
            <a:pPr marL="804863" indent="-514350" algn="just">
              <a:buAutoNum type="arabicPeriod"/>
            </a:pPr>
            <a:r>
              <a:rPr lang="vi-VN" sz="3200" dirty="0">
                <a:latin typeface="+mj-lt"/>
              </a:rPr>
              <a:t>Kéo và thả tiện ích MdiArea vào </a:t>
            </a:r>
            <a:r>
              <a:rPr lang="en-US" sz="3200" dirty="0">
                <a:latin typeface="Times New Roman" panose="02020603050405020304" pitchFamily="18" charset="0"/>
                <a:cs typeface="Times New Roman" panose="02020603050405020304" pitchFamily="18" charset="0"/>
              </a:rPr>
              <a:t>form</a:t>
            </a:r>
            <a:r>
              <a:rPr lang="vi-VN" sz="3200" dirty="0">
                <a:latin typeface="+mj-lt"/>
              </a:rPr>
              <a:t>.</a:t>
            </a:r>
            <a:endParaRPr lang="en-US" sz="3200" dirty="0">
              <a:latin typeface="+mj-lt"/>
            </a:endParaRPr>
          </a:p>
          <a:p>
            <a:pPr marL="804863" indent="-514350" algn="just">
              <a:buAutoNum type="arabicPeriod"/>
            </a:pPr>
            <a:r>
              <a:rPr lang="vi-VN" sz="3200" dirty="0">
                <a:latin typeface="+mj-lt"/>
              </a:rPr>
              <a:t>Nhấp chuột phải vào tiện ích và chọn </a:t>
            </a:r>
            <a:r>
              <a:rPr lang="en-US" sz="3200" dirty="0">
                <a:latin typeface="Times New Roman" panose="02020603050405020304" pitchFamily="18" charset="0"/>
                <a:cs typeface="Times New Roman" panose="02020603050405020304" pitchFamily="18" charset="0"/>
              </a:rPr>
              <a:t>t</a:t>
            </a:r>
            <a:r>
              <a:rPr lang="vi-VN" sz="3200" dirty="0">
                <a:latin typeface="+mj-lt"/>
              </a:rPr>
              <a:t>hêm Subwindow từ menu ngữ cảnh để thêm subwindow vào tiện ích MdiArea.</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4048052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290513" indent="0" algn="just">
              <a:buNone/>
            </a:pPr>
            <a:r>
              <a:rPr lang="vi-VN" sz="3200" dirty="0">
                <a:latin typeface="+mj-lt"/>
              </a:rPr>
              <a:t>Khi luồng con được thêm vào tiện ích MdiArea, tiện ích sẽ xuất hiện dưới dạng nền tối, như trong ảnh chụp màn hình sau:</a:t>
            </a:r>
            <a:endParaRPr lang="en-US" sz="3200" i="1" dirty="0">
              <a:latin typeface="+mj-lt"/>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C9FA214C-B5B0-4FB7-84F5-C60911BBDCBD}"/>
              </a:ext>
            </a:extLst>
          </p:cNvPr>
          <p:cNvPicPr>
            <a:picLocks noChangeAspect="1"/>
          </p:cNvPicPr>
          <p:nvPr/>
        </p:nvPicPr>
        <p:blipFill rotWithShape="1">
          <a:blip r:embed="rId2">
            <a:extLst>
              <a:ext uri="{28A0092B-C50C-407E-A947-70E740481C1C}">
                <a14:useLocalDpi xmlns:a14="http://schemas.microsoft.com/office/drawing/2010/main" val="0"/>
              </a:ext>
            </a:extLst>
          </a:blip>
          <a:srcRect l="25094" t="12937" r="23396" b="5401"/>
          <a:stretch/>
        </p:blipFill>
        <p:spPr>
          <a:xfrm>
            <a:off x="2196233" y="2001329"/>
            <a:ext cx="4710023" cy="4019910"/>
          </a:xfrm>
          <a:prstGeom prst="rect">
            <a:avLst/>
          </a:prstGeom>
        </p:spPr>
      </p:pic>
    </p:spTree>
    <p:extLst>
      <p:ext uri="{BB962C8B-B14F-4D97-AF65-F5344CB8AC3E}">
        <p14:creationId xmlns:p14="http://schemas.microsoft.com/office/powerpoint/2010/main" val="2135290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862148"/>
            <a:ext cx="9102490" cy="5967608"/>
          </a:xfrm>
        </p:spPr>
        <p:txBody>
          <a:bodyPr>
            <a:noAutofit/>
          </a:bodyPr>
          <a:lstStyle/>
          <a:p>
            <a:pPr marL="290513" indent="0" algn="just">
              <a:buNone/>
            </a:pPr>
            <a:r>
              <a:rPr lang="vi-VN" sz="3200" dirty="0">
                <a:latin typeface="+mj-lt"/>
              </a:rPr>
              <a:t>4. Hãy, nhấp chuột phải lần nữa vào tiện ích MdiArea và th</a:t>
            </a:r>
            <a:r>
              <a:rPr lang="en-US" sz="3200" dirty="0">
                <a:latin typeface="Times New Roman" panose="02020603050405020304" pitchFamily="18" charset="0"/>
                <a:cs typeface="Times New Roman" panose="02020603050405020304" pitchFamily="18" charset="0"/>
              </a:rPr>
              <a:t>ê</a:t>
            </a:r>
            <a:r>
              <a:rPr lang="vi-VN" sz="3200" dirty="0">
                <a:latin typeface="+mj-lt"/>
              </a:rPr>
              <a:t>m</a:t>
            </a:r>
            <a:r>
              <a:rPr lang="en-US" sz="3200" dirty="0">
                <a:latin typeface="+mj-lt"/>
              </a:rPr>
              <a:t> </a:t>
            </a:r>
            <a:r>
              <a:rPr lang="en-US" sz="3200" dirty="0" err="1">
                <a:latin typeface="Times New Roman" panose="02020603050405020304" pitchFamily="18" charset="0"/>
                <a:cs typeface="Times New Roman" panose="02020603050405020304" pitchFamily="18" charset="0"/>
              </a:rPr>
              <a:t>subwindow</a:t>
            </a:r>
            <a:r>
              <a:rPr lang="vi-VN" sz="3200" dirty="0">
                <a:latin typeface="Times New Roman" panose="02020603050405020304" pitchFamily="18" charset="0"/>
                <a:cs typeface="Times New Roman" panose="02020603050405020304" pitchFamily="18" charset="0"/>
              </a:rPr>
              <a:t> </a:t>
            </a:r>
            <a:r>
              <a:rPr lang="vi-VN" sz="3200" dirty="0">
                <a:latin typeface="+mj-lt"/>
              </a:rPr>
              <a:t>một lần nữa vào nó.</a:t>
            </a:r>
            <a:br>
              <a:rPr lang="vi-VN" sz="3200" dirty="0">
                <a:latin typeface="+mj-lt"/>
              </a:rPr>
            </a:br>
            <a:r>
              <a:rPr lang="vi-VN" sz="3200" dirty="0">
                <a:latin typeface="+mj-lt"/>
              </a:rPr>
              <a:t>5. Để biết cái nào là cái đầu tiên và cái nào là </a:t>
            </a:r>
            <a:r>
              <a:rPr lang="en-US" sz="3200" dirty="0" err="1">
                <a:latin typeface="Times New Roman" panose="02020603050405020304" pitchFamily="18" charset="0"/>
                <a:cs typeface="Times New Roman" panose="02020603050405020304" pitchFamily="18" charset="0"/>
              </a:rPr>
              <a:t>subwindow</a:t>
            </a:r>
            <a:r>
              <a:rPr lang="vi-VN" sz="3200" dirty="0">
                <a:latin typeface="+mj-lt"/>
              </a:rPr>
              <a:t> thứ hai, hãy kéo và thả một tiện ích nhãn vào mỗi </a:t>
            </a:r>
            <a:r>
              <a:rPr lang="en-US" sz="3200" dirty="0" err="1">
                <a:latin typeface="Times New Roman" panose="02020603050405020304" pitchFamily="18" charset="0"/>
                <a:cs typeface="Times New Roman" panose="02020603050405020304" pitchFamily="18" charset="0"/>
              </a:rPr>
              <a:t>subwindow</a:t>
            </a:r>
            <a:r>
              <a:rPr lang="vi-VN" sz="3200" dirty="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a:p>
            <a:pPr marL="290513" indent="0" algn="just">
              <a:buNone/>
            </a:pPr>
            <a:r>
              <a:rPr lang="vi-VN" sz="3200" dirty="0">
                <a:latin typeface="+mj-lt"/>
              </a:rPr>
              <a:t>6. Đặt thuộc tính text của tiện ích nhãn được đặt trong </a:t>
            </a:r>
            <a:r>
              <a:rPr lang="en-US" sz="3200" dirty="0" err="1">
                <a:latin typeface="Times New Roman" panose="02020603050405020304" pitchFamily="18" charset="0"/>
                <a:cs typeface="Times New Roman" panose="02020603050405020304" pitchFamily="18" charset="0"/>
              </a:rPr>
              <a:t>subwindow</a:t>
            </a:r>
            <a:r>
              <a:rPr lang="en-US" sz="3200" dirty="0">
                <a:latin typeface="+mj-lt"/>
              </a:rPr>
              <a:t> </a:t>
            </a:r>
            <a:r>
              <a:rPr lang="vi-VN" sz="3200" dirty="0">
                <a:latin typeface="+mj-lt"/>
              </a:rPr>
              <a:t>đầu tiên thành </a:t>
            </a:r>
            <a:r>
              <a:rPr lang="vi-VN" sz="3200" i="1" dirty="0">
                <a:latin typeface="+mj-lt"/>
              </a:rPr>
              <a:t>Firstsubwindow</a:t>
            </a:r>
            <a:r>
              <a:rPr lang="vi-VN" dirty="0"/>
              <a:t>.</a:t>
            </a:r>
            <a:endParaRPr lang="en-US" dirty="0"/>
          </a:p>
          <a:p>
            <a:pPr marL="290513" indent="0" algn="just">
              <a:buNone/>
            </a:pPr>
            <a:r>
              <a:rPr lang="vi-VN" sz="3200" dirty="0">
                <a:latin typeface="+mj-lt"/>
              </a:rPr>
              <a:t>7. Đặt thuộc tính text của tiện ích nhãn được đặt trong </a:t>
            </a:r>
            <a:r>
              <a:rPr lang="en-US" sz="3200" dirty="0" err="1">
                <a:latin typeface="Times New Roman" panose="02020603050405020304" pitchFamily="18" charset="0"/>
                <a:cs typeface="Times New Roman" panose="02020603050405020304" pitchFamily="18" charset="0"/>
              </a:rPr>
              <a:t>subwindow</a:t>
            </a:r>
            <a:r>
              <a:rPr lang="vi-VN" sz="3200" dirty="0">
                <a:latin typeface="+mj-lt"/>
              </a:rPr>
              <a:t> thứ hai thành </a:t>
            </a:r>
            <a:r>
              <a:rPr lang="vi-VN" sz="3200" i="1" dirty="0">
                <a:latin typeface="+mj-lt"/>
              </a:rPr>
              <a:t>Second subwindow</a:t>
            </a:r>
            <a:r>
              <a:rPr lang="vi-VN" sz="3200" dirty="0">
                <a:latin typeface="+mj-lt"/>
              </a:rPr>
              <a:t>, như được hiển thị trong ảnh chụp màn hình sau:</a:t>
            </a:r>
            <a:endParaRPr lang="en-US" sz="3200" i="1" dirty="0">
              <a:latin typeface="+mj-lt"/>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40DD1D24-BF56-466F-9F76-886651159191}"/>
              </a:ext>
            </a:extLst>
          </p:cNvPr>
          <p:cNvPicPr>
            <a:picLocks noChangeAspect="1"/>
          </p:cNvPicPr>
          <p:nvPr/>
        </p:nvPicPr>
        <p:blipFill rotWithShape="1">
          <a:blip r:embed="rId2">
            <a:extLst>
              <a:ext uri="{28A0092B-C50C-407E-A947-70E740481C1C}">
                <a14:useLocalDpi xmlns:a14="http://schemas.microsoft.com/office/drawing/2010/main" val="0"/>
              </a:ext>
            </a:extLst>
          </a:blip>
          <a:srcRect l="25282" t="18120" r="23397" b="27887"/>
          <a:stretch/>
        </p:blipFill>
        <p:spPr>
          <a:xfrm>
            <a:off x="1915064" y="2098584"/>
            <a:ext cx="6935637" cy="4759416"/>
          </a:xfrm>
          <a:prstGeom prst="rect">
            <a:avLst/>
          </a:prstGeom>
        </p:spPr>
      </p:pic>
    </p:spTree>
    <p:extLst>
      <p:ext uri="{BB962C8B-B14F-4D97-AF65-F5344CB8AC3E}">
        <p14:creationId xmlns:p14="http://schemas.microsoft.com/office/powerpoint/2010/main" val="323885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algn="just">
              <a:buFont typeface="Wingdings" panose="05000000000000000000" pitchFamily="2" charset="2"/>
              <a:buChar char="§"/>
            </a:pPr>
            <a:r>
              <a:rPr lang="vi-VN" sz="3200" dirty="0">
                <a:latin typeface="+mj-lt"/>
              </a:rPr>
              <a:t>Tiện ích MdiArea hiển thị các tài liệu được đặt trong các subwindows của nó trong hai chế độ sau:</a:t>
            </a:r>
            <a:endParaRPr lang="en-US" sz="3200" dirty="0">
              <a:latin typeface="+mj-lt"/>
            </a:endParaRPr>
          </a:p>
          <a:p>
            <a:pPr marL="690563" algn="just">
              <a:buFont typeface="Wingdings" panose="05000000000000000000" pitchFamily="2" charset="2"/>
              <a:buChar char="ü"/>
            </a:pPr>
            <a:r>
              <a:rPr lang="vi-VN" sz="3200" b="1" dirty="0">
                <a:latin typeface="+mj-lt"/>
              </a:rPr>
              <a:t>SubWindow View:</a:t>
            </a:r>
            <a:r>
              <a:rPr lang="vi-VN" sz="3200" dirty="0">
                <a:latin typeface="+mj-lt"/>
              </a:rPr>
              <a:t> Đây là chế độ xem mặc định. Các subwindows</a:t>
            </a:r>
            <a:r>
              <a:rPr lang="en-US" sz="3200" dirty="0">
                <a:latin typeface="+mj-lt"/>
              </a:rPr>
              <a:t> </a:t>
            </a:r>
            <a:r>
              <a:rPr lang="vi-VN" sz="3200" dirty="0">
                <a:latin typeface="+mj-lt"/>
              </a:rPr>
              <a:t>có thể được sắp xếp theo tầng hoặc theo kiểu </a:t>
            </a:r>
            <a:r>
              <a:rPr lang="en-US" sz="3200" dirty="0" err="1">
                <a:latin typeface="Times New Roman" panose="02020603050405020304" pitchFamily="18" charset="0"/>
                <a:cs typeface="Times New Roman" panose="02020603050405020304" pitchFamily="18" charset="0"/>
              </a:rPr>
              <a:t>xếp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chồng</a:t>
            </a:r>
            <a:r>
              <a:rPr lang="vi-VN" sz="3200" dirty="0">
                <a:latin typeface="Times New Roman" panose="02020603050405020304" pitchFamily="18" charset="0"/>
                <a:cs typeface="Times New Roman" panose="02020603050405020304" pitchFamily="18" charset="0"/>
              </a:rPr>
              <a:t> </a:t>
            </a:r>
            <a:r>
              <a:rPr lang="vi-VN" sz="3200" dirty="0">
                <a:latin typeface="+mj-lt"/>
              </a:rPr>
              <a:t>trong chế độ xem này. Khi các subwindows được sắp xếp theo kiểu </a:t>
            </a:r>
            <a:r>
              <a:rPr lang="en-US" sz="3200" dirty="0" err="1">
                <a:latin typeface="Times New Roman" panose="02020603050405020304" pitchFamily="18" charset="0"/>
                <a:cs typeface="Times New Roman" panose="02020603050405020304" pitchFamily="18" charset="0"/>
              </a:rPr>
              <a:t>xếp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chồng</a:t>
            </a:r>
            <a:r>
              <a:rPr lang="vi-VN" sz="3200" dirty="0">
                <a:latin typeface="Times New Roman" panose="02020603050405020304" pitchFamily="18" charset="0"/>
                <a:cs typeface="Times New Roman" panose="02020603050405020304" pitchFamily="18" charset="0"/>
              </a:rPr>
              <a:t> </a:t>
            </a:r>
            <a:r>
              <a:rPr lang="vi-VN" sz="3200" dirty="0">
                <a:latin typeface="+mj-lt"/>
              </a:rPr>
              <a:t>, bạn có thể thấy nội dung của nhiều subwindows đồng thời.</a:t>
            </a:r>
            <a:endParaRPr lang="en-US" sz="3200" dirty="0">
              <a:latin typeface="+mj-lt"/>
            </a:endParaRPr>
          </a:p>
          <a:p>
            <a:pPr marL="690563" algn="just">
              <a:buFont typeface="Wingdings" panose="05000000000000000000" pitchFamily="2" charset="2"/>
              <a:buChar char="ü"/>
            </a:pPr>
            <a:r>
              <a:rPr lang="vi-VN" sz="3200" b="1" dirty="0">
                <a:latin typeface="+mj-lt"/>
              </a:rPr>
              <a:t>Tabbed View: </a:t>
            </a:r>
            <a:r>
              <a:rPr lang="vi-VN" sz="3200" dirty="0">
                <a:latin typeface="+mj-lt"/>
              </a:rPr>
              <a:t>Trong chế độ này, một số tab xuất hiện trong thanh tab. Khi một tab được chọn, subwindows liên kết với nó được hiển thị. Mỗi lần chỉ có thể nhìn thấy nội dung của một subwindows.</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510433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r>
              <a:rPr lang="vi-VN" sz="3200" dirty="0">
                <a:latin typeface="+mj-lt"/>
              </a:rPr>
              <a:t>8. Để kích hoạt chế độ SubWindow View và Chế độ Tabbed View thông qua các tùy chọn menu, bấm đúp vào trình giữ chỗ Type Here trong menu </a:t>
            </a:r>
            <a:r>
              <a:rPr lang="en-US" sz="3200" dirty="0" err="1">
                <a:latin typeface="Times New Roman" panose="02020603050405020304" pitchFamily="18" charset="0"/>
                <a:cs typeface="Times New Roman" panose="02020603050405020304" pitchFamily="18" charset="0"/>
              </a:rPr>
              <a:t>của</a:t>
            </a:r>
            <a:r>
              <a:rPr lang="vi-VN" sz="3200" dirty="0">
                <a:latin typeface="+mj-lt"/>
              </a:rPr>
              <a:t> menu</a:t>
            </a:r>
            <a:r>
              <a:rPr lang="en-US" sz="3200" dirty="0">
                <a:latin typeface="+mj-lt"/>
              </a:rPr>
              <a:t> </a:t>
            </a:r>
            <a:r>
              <a:rPr lang="en-US" sz="3200" dirty="0">
                <a:latin typeface="Times New Roman" panose="02020603050405020304" pitchFamily="18" charset="0"/>
                <a:cs typeface="Times New Roman" panose="02020603050405020304" pitchFamily="18" charset="0"/>
              </a:rPr>
              <a:t>bar</a:t>
            </a:r>
            <a:r>
              <a:rPr lang="vi-VN" sz="3200" dirty="0">
                <a:latin typeface="+mj-lt"/>
              </a:rPr>
              <a:t> và thêm hai mục vào đó: Chế độ xem </a:t>
            </a:r>
            <a:r>
              <a:rPr lang="en-US" sz="3200" dirty="0" err="1">
                <a:latin typeface="Times New Roman" panose="02020603050405020304" pitchFamily="18" charset="0"/>
                <a:cs typeface="Times New Roman" panose="02020603050405020304" pitchFamily="18" charset="0"/>
              </a:rPr>
              <a:t>SubWindow</a:t>
            </a:r>
            <a:r>
              <a:rPr lang="en-US" sz="3200" dirty="0">
                <a:latin typeface="Times New Roman" panose="02020603050405020304" pitchFamily="18" charset="0"/>
                <a:cs typeface="Times New Roman" panose="02020603050405020304" pitchFamily="18" charset="0"/>
              </a:rPr>
              <a:t> View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Tabbed View.</a:t>
            </a:r>
          </a:p>
          <a:p>
            <a:pPr marL="0" indent="0" algn="just">
              <a:buNone/>
            </a:pPr>
            <a:r>
              <a:rPr lang="vi-VN" sz="3200" dirty="0">
                <a:latin typeface="+mj-lt"/>
              </a:rPr>
              <a:t>Ngoài ra, để xem cách các subwindows xuất hiện khi được sắp xếp theo kiểu </a:t>
            </a:r>
            <a:r>
              <a:rPr lang="en-US" sz="3200" dirty="0" err="1">
                <a:latin typeface="Times New Roman" panose="02020603050405020304" pitchFamily="18" charset="0"/>
                <a:cs typeface="Times New Roman" panose="02020603050405020304" pitchFamily="18" charset="0"/>
              </a:rPr>
              <a:t>thác</a:t>
            </a:r>
            <a:r>
              <a:rPr lang="en-US" sz="3200" dirty="0">
                <a:latin typeface="Times New Roman" panose="02020603050405020304" pitchFamily="18" charset="0"/>
                <a:cs typeface="Times New Roman" panose="02020603050405020304" pitchFamily="18" charset="0"/>
              </a:rPr>
              <a:t> n</a:t>
            </a:r>
            <a:r>
              <a:rPr lang="vi-VN" sz="3200" dirty="0">
                <a:latin typeface="Times New Roman" panose="02020603050405020304" pitchFamily="18" charset="0"/>
                <a:cs typeface="Times New Roman" panose="02020603050405020304" pitchFamily="18" charset="0"/>
              </a:rPr>
              <a:t>ư</a:t>
            </a:r>
            <a:r>
              <a:rPr lang="en-US" sz="3200" dirty="0" err="1">
                <a:latin typeface="Times New Roman" panose="02020603050405020304" pitchFamily="18" charset="0"/>
                <a:cs typeface="Times New Roman" panose="02020603050405020304" pitchFamily="18" charset="0"/>
              </a:rPr>
              <a:t>ớc</a:t>
            </a:r>
            <a:r>
              <a:rPr lang="en-US" sz="3200" dirty="0">
                <a:latin typeface="+mj-lt"/>
              </a:rPr>
              <a:t> </a:t>
            </a:r>
            <a:r>
              <a:rPr lang="vi-VN" sz="3200" dirty="0">
                <a:latin typeface="+mj-lt"/>
              </a:rPr>
              <a:t>và xếp chồng, hãy thêm hai mục menu khác</a:t>
            </a:r>
            <a:r>
              <a:rPr lang="en-US" sz="3200" dirty="0">
                <a:latin typeface="+mj-lt"/>
              </a:rPr>
              <a:t> </a:t>
            </a:r>
            <a:r>
              <a:rPr lang="en-US" sz="3200" dirty="0" err="1">
                <a:latin typeface="Times New Roman" panose="02020603050405020304" pitchFamily="18" charset="0"/>
                <a:cs typeface="Times New Roman" panose="02020603050405020304" pitchFamily="18" charset="0"/>
              </a:rPr>
              <a:t>là</a:t>
            </a:r>
            <a:r>
              <a:rPr lang="vi-VN" sz="32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Cascade View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Tile View</a:t>
            </a:r>
            <a:r>
              <a:rPr lang="vi-VN" sz="3200" dirty="0">
                <a:latin typeface="+mj-lt"/>
              </a:rPr>
              <a:t>, vào thanh menu như trong ảnh chụp màn hình sau:</a:t>
            </a:r>
            <a:endParaRPr lang="en-US" sz="3200" dirty="0">
              <a:latin typeface="+mj-lt"/>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6FB1BC18-BEEB-4E1A-B48E-23F7F5C8D098}"/>
              </a:ext>
            </a:extLst>
          </p:cNvPr>
          <p:cNvPicPr>
            <a:picLocks noChangeAspect="1"/>
          </p:cNvPicPr>
          <p:nvPr/>
        </p:nvPicPr>
        <p:blipFill rotWithShape="1">
          <a:blip r:embed="rId2">
            <a:extLst>
              <a:ext uri="{28A0092B-C50C-407E-A947-70E740481C1C}">
                <a14:useLocalDpi xmlns:a14="http://schemas.microsoft.com/office/drawing/2010/main" val="0"/>
              </a:ext>
            </a:extLst>
          </a:blip>
          <a:srcRect l="23963" t="32564" r="22641" b="12412"/>
          <a:stretch/>
        </p:blipFill>
        <p:spPr>
          <a:xfrm>
            <a:off x="2139351" y="2518913"/>
            <a:ext cx="6659592" cy="4339087"/>
          </a:xfrm>
          <a:prstGeom prst="rect">
            <a:avLst/>
          </a:prstGeom>
        </p:spPr>
      </p:pic>
    </p:spTree>
    <p:extLst>
      <p:ext uri="{BB962C8B-B14F-4D97-AF65-F5344CB8AC3E}">
        <p14:creationId xmlns:p14="http://schemas.microsoft.com/office/powerpoint/2010/main" val="216242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r>
              <a:rPr lang="vi-VN" sz="3200" dirty="0">
                <a:latin typeface="+mj-lt"/>
              </a:rPr>
              <a:t>9. Lưu ứng dụng dưới dạng demoMDI.ui. Giao diện người dùng được tạo bằng Qt Designer được lưu trữ </a:t>
            </a:r>
            <a:r>
              <a:rPr lang="vi-VN" sz="3200">
                <a:latin typeface="+mj-lt"/>
              </a:rPr>
              <a:t>trong </a:t>
            </a:r>
            <a:r>
              <a:rPr lang="en-US" sz="3200">
                <a:latin typeface="Times New Roman" panose="02020603050405020304" pitchFamily="18" charset="0"/>
                <a:cs typeface="Times New Roman" panose="02020603050405020304" pitchFamily="18" charset="0"/>
              </a:rPr>
              <a:t>file</a:t>
            </a:r>
            <a:r>
              <a:rPr lang="vi-VN" sz="3200">
                <a:latin typeface="+mj-lt"/>
              </a:rPr>
              <a:t> </a:t>
            </a:r>
            <a:r>
              <a:rPr lang="vi-VN" sz="3200" dirty="0">
                <a:latin typeface="+mj-lt"/>
              </a:rPr>
              <a:t>.ui </a:t>
            </a:r>
            <a:r>
              <a:rPr lang="vi-VN" sz="3200">
                <a:latin typeface="+mj-lt"/>
              </a:rPr>
              <a:t>là </a:t>
            </a:r>
            <a:r>
              <a:rPr lang="en-US" sz="3200">
                <a:latin typeface="Times New Roman" panose="02020603050405020304" pitchFamily="18" charset="0"/>
                <a:cs typeface="Times New Roman" panose="02020603050405020304" pitchFamily="18" charset="0"/>
              </a:rPr>
              <a:t>file</a:t>
            </a:r>
            <a:r>
              <a:rPr lang="vi-VN" sz="3200">
                <a:latin typeface="+mj-lt"/>
              </a:rPr>
              <a:t> </a:t>
            </a:r>
            <a:r>
              <a:rPr lang="vi-VN" sz="3200" dirty="0">
                <a:latin typeface="+mj-lt"/>
              </a:rPr>
              <a:t>XML và cần được chuyển đổi </a:t>
            </a:r>
            <a:r>
              <a:rPr lang="vi-VN" sz="3200">
                <a:latin typeface="+mj-lt"/>
              </a:rPr>
              <a:t>thành </a:t>
            </a:r>
            <a:r>
              <a:rPr lang="en-US" sz="3200">
                <a:latin typeface="Times New Roman" panose="02020603050405020304" pitchFamily="18" charset="0"/>
                <a:cs typeface="Times New Roman" panose="02020603050405020304" pitchFamily="18" charset="0"/>
              </a:rPr>
              <a:t>code</a:t>
            </a:r>
            <a:r>
              <a:rPr lang="vi-VN" sz="3200">
                <a:latin typeface="+mj-lt"/>
              </a:rPr>
              <a:t> </a:t>
            </a:r>
            <a:r>
              <a:rPr lang="vi-VN" sz="3200" dirty="0">
                <a:latin typeface="+mj-lt"/>
              </a:rPr>
              <a:t>Python. Khi áp dụng tiện ích dòng lệnh pyuic5</a:t>
            </a:r>
            <a:r>
              <a:rPr lang="vi-VN" sz="3200">
                <a:latin typeface="+mj-lt"/>
              </a:rPr>
              <a:t>, </a:t>
            </a:r>
            <a:r>
              <a:rPr lang="en-US" sz="3200">
                <a:latin typeface="Times New Roman" panose="02020603050405020304" pitchFamily="18" charset="0"/>
                <a:cs typeface="Times New Roman" panose="02020603050405020304" pitchFamily="18" charset="0"/>
              </a:rPr>
              <a:t>file</a:t>
            </a:r>
            <a:r>
              <a:rPr lang="vi-VN" sz="3200">
                <a:latin typeface="+mj-lt"/>
              </a:rPr>
              <a:t> </a:t>
            </a:r>
            <a:r>
              <a:rPr lang="vi-VN" sz="3200" dirty="0">
                <a:latin typeface="+mj-lt"/>
              </a:rPr>
              <a:t>.ui (XML) sẽ được chuyển đổi </a:t>
            </a:r>
            <a:r>
              <a:rPr lang="vi-VN" sz="3200">
                <a:latin typeface="+mj-lt"/>
              </a:rPr>
              <a:t>vào </a:t>
            </a:r>
            <a:r>
              <a:rPr lang="en-US" sz="3200">
                <a:latin typeface="Times New Roman" panose="02020603050405020304" pitchFamily="18" charset="0"/>
                <a:cs typeface="Times New Roman" panose="02020603050405020304" pitchFamily="18" charset="0"/>
              </a:rPr>
              <a:t>code</a:t>
            </a:r>
            <a:r>
              <a:rPr lang="vi-VN" sz="3200">
                <a:latin typeface="+mj-lt"/>
              </a:rPr>
              <a:t> </a:t>
            </a:r>
            <a:r>
              <a:rPr lang="vi-VN" sz="3200" dirty="0">
                <a:latin typeface="+mj-lt"/>
              </a:rPr>
              <a:t>Python:</a:t>
            </a:r>
            <a:endParaRPr lang="en-US" sz="3200" dirty="0">
              <a:latin typeface="+mj-lt"/>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C:\Pythonbook\PyQt5&gt;pyuic5 </a:t>
            </a:r>
            <a:r>
              <a:rPr lang="en-US" sz="2400" b="1" dirty="0" err="1">
                <a:latin typeface="Times New Roman" panose="02020603050405020304" pitchFamily="18" charset="0"/>
                <a:cs typeface="Times New Roman" panose="02020603050405020304" pitchFamily="18" charset="0"/>
              </a:rPr>
              <a:t>demoMDI.ui</a:t>
            </a:r>
            <a:r>
              <a:rPr lang="en-US" sz="2400" b="1" dirty="0">
                <a:latin typeface="Times New Roman" panose="02020603050405020304" pitchFamily="18" charset="0"/>
                <a:cs typeface="Times New Roman" panose="02020603050405020304" pitchFamily="18" charset="0"/>
              </a:rPr>
              <a:t> -o demoMDI.py.</a:t>
            </a:r>
            <a:r>
              <a:rPr lang="en-US" sz="2400" dirty="0">
                <a:latin typeface="Times New Roman" panose="02020603050405020304" pitchFamily="18" charset="0"/>
                <a:cs typeface="Times New Roman" panose="02020603050405020304" pitchFamily="18" charset="0"/>
              </a:rPr>
              <a:t> </a:t>
            </a:r>
            <a:br>
              <a:rPr lang="en-US" sz="3200" dirty="0"/>
            </a:b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9825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r>
              <a:rPr lang="vi-VN" sz="3200" dirty="0">
                <a:latin typeface="+mj-lt"/>
              </a:rPr>
              <a:t>10. Hãy coi </a:t>
            </a:r>
            <a:r>
              <a:rPr lang="en-US" sz="3200" dirty="0">
                <a:latin typeface="Times New Roman" panose="02020603050405020304" pitchFamily="18" charset="0"/>
                <a:cs typeface="Times New Roman" panose="02020603050405020304" pitchFamily="18" charset="0"/>
              </a:rPr>
              <a:t>code</a:t>
            </a:r>
            <a:r>
              <a:rPr lang="vi-VN" sz="3200" dirty="0">
                <a:latin typeface="+mj-lt"/>
              </a:rPr>
              <a:t> trong </a:t>
            </a:r>
            <a:r>
              <a:rPr lang="en-US" sz="3200" dirty="0">
                <a:latin typeface="Times New Roman" panose="02020603050405020304" pitchFamily="18" charset="0"/>
                <a:cs typeface="Times New Roman" panose="02020603050405020304" pitchFamily="18" charset="0"/>
              </a:rPr>
              <a:t>file</a:t>
            </a:r>
            <a:r>
              <a:rPr lang="vi-VN" sz="3200" dirty="0">
                <a:latin typeface="+mj-lt"/>
              </a:rPr>
              <a:t> demoMDI.py là </a:t>
            </a:r>
            <a:r>
              <a:rPr lang="en-US" sz="3200" dirty="0">
                <a:latin typeface="Times New Roman" panose="02020603050405020304" pitchFamily="18" charset="0"/>
                <a:cs typeface="Times New Roman" panose="02020603050405020304" pitchFamily="18" charset="0"/>
              </a:rPr>
              <a:t>file</a:t>
            </a:r>
            <a:r>
              <a:rPr lang="vi-VN" sz="3200" dirty="0">
                <a:latin typeface="+mj-lt"/>
              </a:rPr>
              <a:t> tiêu đề và bạn sẽ nhập </a:t>
            </a:r>
            <a:r>
              <a:rPr lang="en-US" sz="3200" dirty="0">
                <a:latin typeface="Times New Roman" panose="02020603050405020304" pitchFamily="18" charset="0"/>
                <a:cs typeface="Times New Roman" panose="02020603050405020304" pitchFamily="18" charset="0"/>
              </a:rPr>
              <a:t>code</a:t>
            </a:r>
            <a:r>
              <a:rPr lang="vi-VN" sz="3200" dirty="0">
                <a:latin typeface="+mj-lt"/>
              </a:rPr>
              <a:t> đó vào </a:t>
            </a:r>
            <a:r>
              <a:rPr lang="en-US" sz="3200" dirty="0">
                <a:latin typeface="Times New Roman" panose="02020603050405020304" pitchFamily="18" charset="0"/>
                <a:cs typeface="Times New Roman" panose="02020603050405020304" pitchFamily="18" charset="0"/>
              </a:rPr>
              <a:t>file</a:t>
            </a:r>
            <a:r>
              <a:rPr lang="vi-VN" sz="3200" dirty="0">
                <a:latin typeface="+mj-lt"/>
              </a:rPr>
              <a:t> mà bạn sẽ gọi thiết kế giao diện người dùng của nó. Thiết kế giao diện người dùng trong </a:t>
            </a:r>
            <a:r>
              <a:rPr lang="en-US" sz="3200" dirty="0">
                <a:latin typeface="Times New Roman" panose="02020603050405020304" pitchFamily="18" charset="0"/>
                <a:cs typeface="Times New Roman" panose="02020603050405020304" pitchFamily="18" charset="0"/>
              </a:rPr>
              <a:t>code</a:t>
            </a:r>
            <a:r>
              <a:rPr lang="vi-VN" sz="3200" dirty="0">
                <a:latin typeface="+mj-lt"/>
              </a:rPr>
              <a:t> trước đó bao gồm MdiArea để hiển thị các subwindows được tạo trong đó, cùng với các widgets. tương ứng của chúng. Tập lệnh Python mà chúng ta  tạo sẽ chứa </a:t>
            </a:r>
            <a:r>
              <a:rPr lang="en-US" sz="3200" dirty="0">
                <a:latin typeface="Times New Roman" panose="02020603050405020304" pitchFamily="18" charset="0"/>
                <a:cs typeface="Times New Roman" panose="02020603050405020304" pitchFamily="18" charset="0"/>
              </a:rPr>
              <a:t>code</a:t>
            </a:r>
            <a:r>
              <a:rPr lang="vi-VN" sz="3200" dirty="0">
                <a:latin typeface="+mj-lt"/>
              </a:rPr>
              <a:t> cho các tùy chọn menu để thực hiện các tác vụ khác nhau, chẳng hạn như xếp tầng và xếp chồng các subwindows, thay đổi chế độ xem từ SubWindow View sang Chế độ Tabbed View và ngược lại. Hãy đặt tên cho tập lệnh Python đó gọiMDI.pyw và nhập mã demoMDI.py vào nó:</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854236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89B72EB9-AD67-4FCD-8432-EA9FD3671468}"/>
              </a:ext>
            </a:extLst>
          </p:cNvPr>
          <p:cNvPicPr>
            <a:picLocks noChangeAspect="1"/>
          </p:cNvPicPr>
          <p:nvPr/>
        </p:nvPicPr>
        <p:blipFill rotWithShape="1">
          <a:blip r:embed="rId2">
            <a:extLst>
              <a:ext uri="{28A0092B-C50C-407E-A947-70E740481C1C}">
                <a14:useLocalDpi xmlns:a14="http://schemas.microsoft.com/office/drawing/2010/main" val="0"/>
              </a:ext>
            </a:extLst>
          </a:blip>
          <a:srcRect l="28679" t="18545" r="18113" b="72343"/>
          <a:stretch/>
        </p:blipFill>
        <p:spPr>
          <a:xfrm>
            <a:off x="224286" y="626621"/>
            <a:ext cx="8212348" cy="744313"/>
          </a:xfrm>
          <a:prstGeom prst="rect">
            <a:avLst/>
          </a:prstGeom>
        </p:spPr>
      </p:pic>
      <p:pic>
        <p:nvPicPr>
          <p:cNvPr id="8" name="Picture 7" descr="sách Qt5-Python-GUI-Programming-Cookbook.pdf - Foxit Reader">
            <a:extLst>
              <a:ext uri="{FF2B5EF4-FFF2-40B4-BE49-F238E27FC236}">
                <a16:creationId xmlns:a16="http://schemas.microsoft.com/office/drawing/2014/main" id="{67836AB6-7A5E-4641-9787-5DBDA111F76D}"/>
              </a:ext>
            </a:extLst>
          </p:cNvPr>
          <p:cNvPicPr>
            <a:picLocks noChangeAspect="1"/>
          </p:cNvPicPr>
          <p:nvPr/>
        </p:nvPicPr>
        <p:blipFill rotWithShape="1">
          <a:blip r:embed="rId3">
            <a:extLst>
              <a:ext uri="{28A0092B-C50C-407E-A947-70E740481C1C}">
                <a14:useLocalDpi xmlns:a14="http://schemas.microsoft.com/office/drawing/2010/main" val="0"/>
              </a:ext>
            </a:extLst>
          </a:blip>
          <a:srcRect l="32075" t="17289" r="21887" b="9190"/>
          <a:stretch/>
        </p:blipFill>
        <p:spPr>
          <a:xfrm>
            <a:off x="362307" y="1370935"/>
            <a:ext cx="8212347" cy="5487066"/>
          </a:xfrm>
          <a:prstGeom prst="rect">
            <a:avLst/>
          </a:prstGeom>
        </p:spPr>
      </p:pic>
    </p:spTree>
    <p:extLst>
      <p:ext uri="{BB962C8B-B14F-4D97-AF65-F5344CB8AC3E}">
        <p14:creationId xmlns:p14="http://schemas.microsoft.com/office/powerpoint/2010/main" val="1315556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89531"/>
            <a:ext cx="9102490" cy="833905"/>
          </a:xfrm>
        </p:spPr>
        <p:txBody>
          <a:bodyPr>
            <a:noAutofit/>
          </a:bodyPr>
          <a:lstStyle/>
          <a:p>
            <a:r>
              <a:rPr lang="en-US" dirty="0" err="1">
                <a:latin typeface="Times New Roman" panose="02020603050405020304" pitchFamily="18" charset="0"/>
                <a:cs typeface="Times New Roman" panose="02020603050405020304" pitchFamily="18" charset="0"/>
              </a:rPr>
              <a:t>Hiển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Tab Widget</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1213217"/>
            <a:ext cx="9102490" cy="5967608"/>
          </a:xfrm>
        </p:spPr>
        <p:txBody>
          <a:bodyPr>
            <a:noAutofit/>
          </a:bodyPr>
          <a:lstStyle/>
          <a:p>
            <a:pPr algn="just">
              <a:buFont typeface="Wingdings" panose="05000000000000000000" pitchFamily="2" charset="2"/>
              <a:buChar char="§"/>
            </a:pPr>
            <a:r>
              <a:rPr lang="vi-VN" sz="3200" dirty="0">
                <a:latin typeface="+mj-lt"/>
              </a:rPr>
              <a:t>Trong ứng dụng này, chúng t</a:t>
            </a:r>
            <a:r>
              <a:rPr lang="en-US" sz="3200" dirty="0">
                <a:latin typeface="+mj-lt"/>
              </a:rPr>
              <a:t>a</a:t>
            </a:r>
            <a:r>
              <a:rPr lang="vi-VN" sz="3200" dirty="0">
                <a:latin typeface="+mj-lt"/>
              </a:rPr>
              <a:t> sẽ tạo một giỏ mua hàng nhỏ sẽ hiển thị một số sản phẩm được bán trong một tab; sau khi chọn các sản phẩm mong muốn từ tab đầu tiên, khi người dùng chọn tab thứ hai, họ sẽ được nhắc nhập tùy chọn thanh toán ưa thích. Tab thứ ba sẽ yêu cầu người dùng nhập địa chỉ để phân phối sản phẩm.</a:t>
            </a:r>
            <a:endParaRPr lang="en-US" sz="3200" dirty="0">
              <a:latin typeface="+mj-lt"/>
            </a:endParaRPr>
          </a:p>
          <a:p>
            <a:pPr algn="just">
              <a:buFont typeface="Wingdings" panose="05000000000000000000" pitchFamily="2" charset="2"/>
              <a:buChar char="§"/>
            </a:pPr>
            <a:r>
              <a:rPr lang="vi-VN" sz="3200" dirty="0">
                <a:latin typeface="+mj-lt"/>
              </a:rPr>
              <a:t>Chúng t</a:t>
            </a:r>
            <a:r>
              <a:rPr lang="en-US" sz="3200" dirty="0">
                <a:latin typeface="Times New Roman" panose="02020603050405020304" pitchFamily="18" charset="0"/>
                <a:cs typeface="Times New Roman" panose="02020603050405020304" pitchFamily="18" charset="0"/>
              </a:rPr>
              <a:t>a</a:t>
            </a:r>
            <a:r>
              <a:rPr lang="vi-VN" sz="3200" dirty="0">
                <a:latin typeface="+mj-lt"/>
              </a:rPr>
              <a:t> sẽ sử dụng Tab Widget để cho phép chúng tôi chọn và điền thông tin mong muốn vào các khối, vì vậy bạn phải tự hỏi, Tab Widget là gì?</a:t>
            </a:r>
            <a:endParaRPr lang="en-US" sz="3200" dirty="0">
              <a:latin typeface="+mj-lt"/>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890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89531"/>
            <a:ext cx="9102490" cy="833905"/>
          </a:xfrm>
        </p:spPr>
        <p:txBody>
          <a:bodyPr>
            <a:noAutofit/>
          </a:bodyPr>
          <a:lstStyle/>
          <a:p>
            <a:r>
              <a:rPr lang="en-US" dirty="0" err="1">
                <a:latin typeface="Times New Roman" panose="02020603050405020304" pitchFamily="18" charset="0"/>
                <a:cs typeface="Times New Roman" panose="02020603050405020304" pitchFamily="18" charset="0"/>
              </a:rPr>
              <a:t>Hiển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Tab Widget</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1213217"/>
            <a:ext cx="9102490" cy="5967608"/>
          </a:xfrm>
        </p:spPr>
        <p:txBody>
          <a:bodyPr>
            <a:noAutofit/>
          </a:bodyPr>
          <a:lstStyle/>
          <a:p>
            <a:pPr algn="just">
              <a:buFont typeface="Wingdings" panose="05000000000000000000" pitchFamily="2" charset="2"/>
              <a:buChar char="§"/>
            </a:pPr>
            <a:r>
              <a:rPr lang="vi-VN" sz="3200" dirty="0">
                <a:latin typeface="+mj-lt"/>
              </a:rPr>
              <a:t>Khi thông tin nhất định được chia thành các phần nhỏ và bạn muốn hiển thị thông tin cho phần mà người dùng yêu cầu, thì bạn cần sử dụng Tab Widget. Trong bộ chứa Widget Tab, có một số tab và khi người dùng chọn bất kỳ tab nào, thông tin được gán cho tab đó sẽ được hiển thị.</a:t>
            </a:r>
            <a:endParaRPr lang="en-US" sz="3200" dirty="0">
              <a:latin typeface="+mj-lt"/>
            </a:endParaRPr>
          </a:p>
          <a:p>
            <a:pPr algn="just">
              <a:buFont typeface="Wingdings" panose="05000000000000000000" pitchFamily="2" charset="2"/>
              <a:buChar char="§"/>
            </a:pPr>
            <a:r>
              <a:rPr lang="vi-VN" sz="3200" dirty="0">
                <a:latin typeface="+mj-lt"/>
              </a:rPr>
              <a:t>Dưới đây là quy trình từng bước để tạo một ứng dụng hiển thị thông tin theo từng đoạn bằng các tab:</a:t>
            </a:r>
            <a:br>
              <a:rPr lang="vi-VN" sz="3200" dirty="0">
                <a:latin typeface="+mj-lt"/>
              </a:rPr>
            </a:b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04201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89531"/>
            <a:ext cx="9102490" cy="833905"/>
          </a:xfrm>
        </p:spPr>
        <p:txBody>
          <a:bodyPr>
            <a:noAutofit/>
          </a:bodyPr>
          <a:lstStyle/>
          <a:p>
            <a:r>
              <a:rPr lang="en-US" dirty="0" err="1">
                <a:latin typeface="Times New Roman" panose="02020603050405020304" pitchFamily="18" charset="0"/>
                <a:cs typeface="Times New Roman" panose="02020603050405020304" pitchFamily="18" charset="0"/>
              </a:rPr>
              <a:t>Hiển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Tab Widget</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1213217"/>
            <a:ext cx="9102490" cy="5967608"/>
          </a:xfrm>
        </p:spPr>
        <p:txBody>
          <a:bodyPr>
            <a:noAutofit/>
          </a:bodyPr>
          <a:lstStyle/>
          <a:p>
            <a:pPr marL="0" indent="0" algn="just">
              <a:buNone/>
            </a:pPr>
            <a:r>
              <a:rPr lang="vi-VN" sz="3200" dirty="0">
                <a:latin typeface="+mj-lt"/>
              </a:rPr>
              <a:t>1. Hãy tạo một ứng dụng mới dựa trên mẫu Dialog without Buttons.</a:t>
            </a:r>
            <a:endParaRPr lang="en-US" sz="3200" dirty="0">
              <a:latin typeface="+mj-lt"/>
            </a:endParaRPr>
          </a:p>
          <a:p>
            <a:pPr marL="0" indent="0" algn="just">
              <a:buNone/>
            </a:pPr>
            <a:r>
              <a:rPr lang="vi-VN" sz="3200" dirty="0">
                <a:latin typeface="+mj-lt"/>
              </a:rPr>
              <a:t>2. Kéo và thả Tab Widget vào </a:t>
            </a:r>
            <a:r>
              <a:rPr lang="en-US" sz="3200" dirty="0">
                <a:latin typeface="Times New Roman" panose="02020603050405020304" pitchFamily="18" charset="0"/>
                <a:cs typeface="Times New Roman" panose="02020603050405020304" pitchFamily="18" charset="0"/>
              </a:rPr>
              <a:t>form</a:t>
            </a:r>
            <a:r>
              <a:rPr lang="vi-VN" sz="3200" dirty="0">
                <a:latin typeface="+mj-lt"/>
              </a:rPr>
              <a:t>. Khi bạn kéo Widget Tab vào một hộp thoại, nó sẽ xuất hiện với hai nút tab mặc định, được gắn nhãn Tab1 và Tab2, như trong ảnh chụp màn hình sau:</a:t>
            </a:r>
            <a:endParaRPr lang="en-US" sz="3200" dirty="0">
              <a:latin typeface="+mj-lt"/>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p:txBody>
      </p:sp>
      <p:pic>
        <p:nvPicPr>
          <p:cNvPr id="7" name="Picture 6" descr="sách Qt5-Python-GUI-Programming-Cookbook.pdf - Foxit Reader">
            <a:extLst>
              <a:ext uri="{FF2B5EF4-FFF2-40B4-BE49-F238E27FC236}">
                <a16:creationId xmlns:a16="http://schemas.microsoft.com/office/drawing/2014/main" id="{EA33A979-6B27-48F8-9B83-AE5E0C0D7A51}"/>
              </a:ext>
            </a:extLst>
          </p:cNvPr>
          <p:cNvPicPr>
            <a:picLocks noChangeAspect="1"/>
          </p:cNvPicPr>
          <p:nvPr/>
        </p:nvPicPr>
        <p:blipFill rotWithShape="1">
          <a:blip r:embed="rId2">
            <a:extLst>
              <a:ext uri="{28A0092B-C50C-407E-A947-70E740481C1C}">
                <a14:useLocalDpi xmlns:a14="http://schemas.microsoft.com/office/drawing/2010/main" val="0"/>
              </a:ext>
            </a:extLst>
          </a:blip>
          <a:srcRect l="35094" t="46233" r="33585" b="13112"/>
          <a:stretch/>
        </p:blipFill>
        <p:spPr>
          <a:xfrm>
            <a:off x="1500996" y="3950898"/>
            <a:ext cx="5727940" cy="2907102"/>
          </a:xfrm>
          <a:prstGeom prst="rect">
            <a:avLst/>
          </a:prstGeom>
        </p:spPr>
      </p:pic>
    </p:spTree>
    <p:extLst>
      <p:ext uri="{BB962C8B-B14F-4D97-AF65-F5344CB8AC3E}">
        <p14:creationId xmlns:p14="http://schemas.microsoft.com/office/powerpoint/2010/main" val="1025740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93049"/>
            <a:ext cx="9102490" cy="833905"/>
          </a:xfrm>
        </p:spPr>
        <p:txBody>
          <a:bodyPr>
            <a:noAutofit/>
          </a:bodyPr>
          <a:lstStyle/>
          <a:p>
            <a:r>
              <a:rPr lang="en-US" dirty="0" err="1">
                <a:latin typeface="Times New Roman" panose="02020603050405020304" pitchFamily="18" charset="0"/>
                <a:cs typeface="Times New Roman" panose="02020603050405020304" pitchFamily="18" charset="0"/>
              </a:rPr>
              <a:t>Hiển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Tab Widget</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1333988"/>
            <a:ext cx="9102490" cy="5967608"/>
          </a:xfrm>
        </p:spPr>
        <p:txBody>
          <a:bodyPr>
            <a:noAutofit/>
          </a:bodyPr>
          <a:lstStyle/>
          <a:p>
            <a:pPr marL="0" indent="0" algn="just">
              <a:buNone/>
            </a:pPr>
            <a:r>
              <a:rPr lang="vi-VN" sz="3200" dirty="0">
                <a:latin typeface="+mj-lt"/>
              </a:rPr>
              <a:t>3. Bạn có thể thêm nhiều nút tab hơn vào Tab Widget và xóa các nút hiện có nếu bạn muốn bằng cách thêm nút tab mới; nhấp chuột phải vào một trong hai nút tab và chọn </a:t>
            </a:r>
            <a:r>
              <a:rPr lang="en-US" sz="3200" b="1" dirty="0">
                <a:latin typeface="Times New Roman" panose="02020603050405020304" pitchFamily="18" charset="0"/>
                <a:cs typeface="Times New Roman" panose="02020603050405020304" pitchFamily="18" charset="0"/>
              </a:rPr>
              <a:t>Insert Page </a:t>
            </a:r>
            <a:r>
              <a:rPr lang="en-US" sz="3200" dirty="0" err="1">
                <a:latin typeface="Times New Roman" panose="02020603050405020304" pitchFamily="18" charset="0"/>
                <a:cs typeface="Times New Roman" panose="02020603050405020304" pitchFamily="18" charset="0"/>
              </a:rPr>
              <a:t>từ</a:t>
            </a:r>
            <a:r>
              <a:rPr lang="en-US" sz="3200" b="1" dirty="0">
                <a:latin typeface="Times New Roman" panose="02020603050405020304" pitchFamily="18" charset="0"/>
                <a:cs typeface="Times New Roman" panose="02020603050405020304" pitchFamily="18" charset="0"/>
              </a:rPr>
              <a:t> </a:t>
            </a:r>
            <a:r>
              <a:rPr lang="vi-VN" sz="3200" dirty="0">
                <a:latin typeface="+mj-lt"/>
              </a:rPr>
              <a:t>menu bật lên. Bạn sẽ thấy hai mục con </a:t>
            </a:r>
            <a:r>
              <a:rPr lang="en-US" sz="3200" dirty="0">
                <a:latin typeface="Times New Roman" panose="02020603050405020304" pitchFamily="18" charset="0"/>
                <a:cs typeface="Times New Roman" panose="02020603050405020304" pitchFamily="18" charset="0"/>
              </a:rPr>
              <a:t>After Current Page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Before Current Page</a:t>
            </a:r>
            <a:r>
              <a:rPr lang="vi-VN" sz="3200" dirty="0">
                <a:latin typeface="+mj-lt"/>
              </a:rPr>
              <a:t>.</a:t>
            </a:r>
            <a:br>
              <a:rPr lang="vi-VN" sz="3200" dirty="0">
                <a:latin typeface="+mj-lt"/>
              </a:rPr>
            </a:br>
            <a:r>
              <a:rPr lang="vi-VN" sz="3200" dirty="0">
                <a:latin typeface="+mj-lt"/>
              </a:rPr>
              <a:t>4. Chọn mục con </a:t>
            </a:r>
            <a:r>
              <a:rPr lang="en-US" sz="3200" dirty="0">
                <a:latin typeface="Times New Roman" panose="02020603050405020304" pitchFamily="18" charset="0"/>
                <a:cs typeface="Times New Roman" panose="02020603050405020304" pitchFamily="18" charset="0"/>
              </a:rPr>
              <a:t>After Current Page</a:t>
            </a:r>
            <a:r>
              <a:rPr lang="vi-VN" sz="3200" dirty="0">
                <a:latin typeface="Times New Roman" panose="02020603050405020304" pitchFamily="18" charset="0"/>
                <a:cs typeface="Times New Roman" panose="02020603050405020304" pitchFamily="18" charset="0"/>
              </a:rPr>
              <a:t> </a:t>
            </a:r>
            <a:r>
              <a:rPr lang="vi-VN" sz="3200" dirty="0">
                <a:latin typeface="+mj-lt"/>
              </a:rPr>
              <a:t>để thêm tab mới sau tab hiện tại. Tab mới sẽ có Trang văn bản mặc định mà bạn luôn có thể thay đổi. Ứng dụng mà chúng tôi sẽ thực hiện bao gồm</a:t>
            </a:r>
            <a:endParaRPr lang="en-US" sz="3200" dirty="0">
              <a:latin typeface="+mj-lt"/>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14307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93049"/>
            <a:ext cx="9102490" cy="833905"/>
          </a:xfrm>
        </p:spPr>
        <p:txBody>
          <a:bodyPr>
            <a:noAutofit/>
          </a:bodyPr>
          <a:lstStyle/>
          <a:p>
            <a:r>
              <a:rPr lang="en-US" dirty="0" err="1">
                <a:latin typeface="Times New Roman" panose="02020603050405020304" pitchFamily="18" charset="0"/>
                <a:cs typeface="Times New Roman" panose="02020603050405020304" pitchFamily="18" charset="0"/>
              </a:rPr>
              <a:t>Hiển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Tab Widget</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1333988"/>
            <a:ext cx="9102490" cy="5967608"/>
          </a:xfrm>
        </p:spPr>
        <p:txBody>
          <a:bodyPr>
            <a:noAutofit/>
          </a:bodyPr>
          <a:lstStyle/>
          <a:p>
            <a:pPr algn="just">
              <a:buFont typeface="Wingdings" panose="05000000000000000000" pitchFamily="2" charset="2"/>
              <a:buChar char="§"/>
            </a:pPr>
            <a:r>
              <a:rPr lang="vi-VN" sz="3200" dirty="0">
                <a:latin typeface="+mj-lt"/>
              </a:rPr>
              <a:t>Tab đầu tiên hiển thị một số sản phẩm cùng với giá của chúng. Người dùng có thể chọn bất kỳ số lượng sản phẩm nào từ tab đầu tiên, sau đó nhấp vào nút Add to Cart</a:t>
            </a:r>
            <a:r>
              <a:rPr lang="en-US" sz="3200" dirty="0">
                <a:latin typeface="+mj-lt"/>
              </a:rPr>
              <a:t> </a:t>
            </a:r>
            <a:r>
              <a:rPr lang="en-US" sz="3200" dirty="0">
                <a:latin typeface="Times New Roman" panose="02020603050405020304" pitchFamily="18" charset="0"/>
                <a:cs typeface="Times New Roman" panose="02020603050405020304" pitchFamily="18" charset="0"/>
              </a:rPr>
              <a:t>(</a:t>
            </a:r>
            <a:r>
              <a:rPr lang="en-US" sz="3200" dirty="0" err="1">
                <a:latin typeface="Times New Roman" panose="02020603050405020304" pitchFamily="18" charset="0"/>
                <a:cs typeface="Times New Roman" panose="02020603050405020304" pitchFamily="18" charset="0"/>
              </a:rPr>
              <a:t>Thêm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giỏ</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hàng</a:t>
            </a:r>
            <a:r>
              <a:rPr lang="en-US" sz="32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r>
              <a:rPr lang="vi-VN" sz="3200" dirty="0">
                <a:latin typeface="+mj-lt"/>
              </a:rPr>
              <a:t>Khi chọn tab thứ hai, tất cả các tùy chọn thanh toán sẽ được hiển thị. Người dùng có thể chọn thanh toán qua </a:t>
            </a:r>
            <a:r>
              <a:rPr lang="en-US" sz="3200" dirty="0">
                <a:latin typeface="Times New Roman" panose="02020603050405020304" pitchFamily="18" charset="0"/>
                <a:cs typeface="Times New Roman" panose="02020603050405020304" pitchFamily="18" charset="0"/>
              </a:rPr>
              <a:t>Debit Card </a:t>
            </a:r>
            <a:r>
              <a:rPr lang="en-US" sz="3200" dirty="0">
                <a:latin typeface="+mj-lt"/>
              </a:rPr>
              <a:t>(</a:t>
            </a:r>
            <a:r>
              <a:rPr lang="vi-VN" sz="3200" dirty="0">
                <a:latin typeface="+mj-lt"/>
              </a:rPr>
              <a:t>Thẻ ghi nợ</a:t>
            </a:r>
            <a:r>
              <a:rPr lang="en-US" sz="3200" dirty="0">
                <a:latin typeface="+mj-lt"/>
              </a:rPr>
              <a:t>)</a:t>
            </a:r>
            <a:r>
              <a:rPr lang="vi-VN" sz="3200" dirty="0">
                <a:latin typeface="+mj-lt"/>
              </a:rPr>
              <a:t>, </a:t>
            </a:r>
            <a:r>
              <a:rPr lang="en-US" sz="3200" dirty="0">
                <a:latin typeface="Times New Roman" panose="02020603050405020304" pitchFamily="18" charset="0"/>
                <a:cs typeface="Times New Roman" panose="02020603050405020304" pitchFamily="18" charset="0"/>
              </a:rPr>
              <a:t>Credit Card </a:t>
            </a:r>
            <a:r>
              <a:rPr lang="en-US" sz="3200" dirty="0">
                <a:latin typeface="+mj-lt"/>
              </a:rPr>
              <a:t>(</a:t>
            </a:r>
            <a:r>
              <a:rPr lang="vi-VN" sz="3200" dirty="0">
                <a:latin typeface="+mj-lt"/>
              </a:rPr>
              <a:t>Thẻ tín dụng</a:t>
            </a:r>
            <a:r>
              <a:rPr lang="en-US" sz="3200" dirty="0">
                <a:latin typeface="+mj-lt"/>
              </a:rPr>
              <a:t>)</a:t>
            </a:r>
            <a:r>
              <a:rPr lang="vi-VN" sz="3200" dirty="0">
                <a:latin typeface="+mj-lt"/>
              </a:rPr>
              <a:t>, </a:t>
            </a:r>
            <a:r>
              <a:rPr lang="en-US" sz="3200" dirty="0">
                <a:latin typeface="Times New Roman" panose="02020603050405020304" pitchFamily="18" charset="0"/>
                <a:cs typeface="Times New Roman" panose="02020603050405020304" pitchFamily="18" charset="0"/>
              </a:rPr>
              <a:t>Net Banking </a:t>
            </a:r>
            <a:r>
              <a:rPr lang="en-US" sz="3200" dirty="0">
                <a:latin typeface="+mj-lt"/>
              </a:rPr>
              <a:t>(</a:t>
            </a:r>
            <a:r>
              <a:rPr lang="vi-VN" sz="3200" dirty="0">
                <a:latin typeface="+mj-lt"/>
              </a:rPr>
              <a:t>Ngân h</a:t>
            </a:r>
            <a:r>
              <a:rPr lang="en-US" sz="3200" dirty="0">
                <a:latin typeface="+mj-lt"/>
              </a:rPr>
              <a:t>à</a:t>
            </a:r>
            <a:r>
              <a:rPr lang="vi-VN" sz="3200" dirty="0">
                <a:latin typeface="+mj-lt"/>
              </a:rPr>
              <a:t>ng</a:t>
            </a:r>
            <a:r>
              <a:rPr lang="en-US" sz="3200" dirty="0">
                <a:latin typeface="+mj-lt"/>
              </a:rPr>
              <a:t>)</a:t>
            </a:r>
            <a:r>
              <a:rPr lang="vi-VN" sz="3200" dirty="0">
                <a:latin typeface="+mj-lt"/>
              </a:rPr>
              <a:t> hoặc </a:t>
            </a:r>
            <a:r>
              <a:rPr lang="en-US" sz="3200" dirty="0">
                <a:latin typeface="Times New Roman" panose="02020603050405020304" pitchFamily="18" charset="0"/>
                <a:cs typeface="Times New Roman" panose="02020603050405020304" pitchFamily="18" charset="0"/>
              </a:rPr>
              <a:t>Cash </a:t>
            </a:r>
            <a:r>
              <a:rPr lang="en-US" sz="3200" dirty="0">
                <a:latin typeface="+mj-lt"/>
              </a:rPr>
              <a:t>(</a:t>
            </a:r>
            <a:r>
              <a:rPr lang="vi-VN" sz="3200" dirty="0">
                <a:latin typeface="+mj-lt"/>
              </a:rPr>
              <a:t>Tiền mặt</a:t>
            </a:r>
            <a:r>
              <a:rPr lang="en-US" sz="3200" dirty="0">
                <a:latin typeface="+mj-lt"/>
              </a:rPr>
              <a:t>)</a:t>
            </a:r>
            <a:r>
              <a:rPr lang="vi-VN" sz="3200" dirty="0">
                <a:latin typeface="+mj-lt"/>
              </a:rPr>
              <a:t> khi giao hàng.</a:t>
            </a:r>
            <a:endParaRPr lang="en-US" sz="3200" dirty="0">
              <a:latin typeface="+mj-lt"/>
            </a:endParaRPr>
          </a:p>
          <a:p>
            <a:pPr algn="just">
              <a:buFont typeface="Wingdings" panose="05000000000000000000" pitchFamily="2" charset="2"/>
              <a:buChar char="§"/>
            </a:pPr>
            <a:r>
              <a:rPr lang="vi-VN" sz="3200" dirty="0">
                <a:latin typeface="+mj-lt"/>
              </a:rPr>
              <a:t>Tab thứ ba, khi được chọn, sẽ nhắc người dùng về địa chỉ giao hàng: địa chỉ đầy đủ của khách hàng cùng với tiểu bang, quốc gia và số liên lạc.</a:t>
            </a:r>
            <a:endParaRPr lang="en-US" sz="3200" dirty="0">
              <a:latin typeface="+mj-lt"/>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30695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93049"/>
            <a:ext cx="9102490" cy="833905"/>
          </a:xfrm>
        </p:spPr>
        <p:txBody>
          <a:bodyPr>
            <a:noAutofit/>
          </a:bodyPr>
          <a:lstStyle/>
          <a:p>
            <a:r>
              <a:rPr lang="en-US" dirty="0" err="1">
                <a:latin typeface="Times New Roman" panose="02020603050405020304" pitchFamily="18" charset="0"/>
                <a:cs typeface="Times New Roman" panose="02020603050405020304" pitchFamily="18" charset="0"/>
              </a:rPr>
              <a:t>Hiển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Tab Widget</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1333988"/>
            <a:ext cx="9102490" cy="5967608"/>
          </a:xfrm>
        </p:spPr>
        <p:txBody>
          <a:bodyPr>
            <a:noAutofit/>
          </a:bodyPr>
          <a:lstStyle/>
          <a:p>
            <a:pPr algn="just">
              <a:buFont typeface="Wingdings" panose="05000000000000000000" pitchFamily="2" charset="2"/>
              <a:buChar char="§"/>
            </a:pPr>
            <a:r>
              <a:rPr lang="vi-VN" sz="3200" dirty="0">
                <a:latin typeface="+mj-lt"/>
              </a:rPr>
              <a:t>Nhiệm vụ đầu tiên mà chúng ta sẽ làm là thay đổi văn bản mặc định của các tab:</a:t>
            </a:r>
            <a:endParaRPr lang="en-US" sz="3200" dirty="0">
              <a:latin typeface="+mj-lt"/>
            </a:endParaRPr>
          </a:p>
          <a:p>
            <a:pPr marL="514350" indent="-514350" algn="just">
              <a:buAutoNum type="arabicPeriod"/>
            </a:pPr>
            <a:r>
              <a:rPr lang="vi-VN" sz="3200" dirty="0">
                <a:latin typeface="+mj-lt"/>
              </a:rPr>
              <a:t>Sử dụng thuộc tính currentTabText của Tab Widget, thay đổi văn bản hiển thị trên mỗi nút tab.</a:t>
            </a:r>
            <a:endParaRPr lang="en-US" sz="3200" dirty="0">
              <a:latin typeface="+mj-lt"/>
            </a:endParaRPr>
          </a:p>
          <a:p>
            <a:pPr marL="514350" indent="-514350" algn="just">
              <a:buAutoNum type="arabicPeriod"/>
            </a:pPr>
            <a:r>
              <a:rPr lang="vi-VN" sz="3200" dirty="0">
                <a:latin typeface="+mj-lt"/>
              </a:rPr>
              <a:t>Đặt thuộc tính text của nút tab đầu tiên thành Product Listin và thuộc tính của nút tab thứ hai thành</a:t>
            </a:r>
            <a:r>
              <a:rPr lang="en-US" sz="3200" dirty="0">
                <a:latin typeface="+mj-lt"/>
              </a:rPr>
              <a:t> </a:t>
            </a:r>
            <a:r>
              <a:rPr lang="en-US" sz="3200" dirty="0">
                <a:latin typeface="Times New Roman" panose="02020603050405020304" pitchFamily="18" charset="0"/>
                <a:cs typeface="Times New Roman" panose="02020603050405020304" pitchFamily="18" charset="0"/>
              </a:rPr>
              <a:t>Payment Method </a:t>
            </a:r>
            <a:r>
              <a:rPr lang="en-US" sz="3200" dirty="0">
                <a:latin typeface="+mj-lt"/>
              </a:rPr>
              <a:t>(</a:t>
            </a:r>
            <a:r>
              <a:rPr lang="vi-VN" sz="3200" dirty="0">
                <a:latin typeface="+mj-lt"/>
              </a:rPr>
              <a:t>Phương thức thanh toán</a:t>
            </a:r>
            <a:r>
              <a:rPr lang="en-US" sz="3200" dirty="0">
                <a:latin typeface="+mj-lt"/>
              </a:rPr>
              <a:t>)</a:t>
            </a:r>
            <a:r>
              <a:rPr lang="vi-VN" sz="3200" dirty="0">
                <a:latin typeface="+mj-lt"/>
              </a:rPr>
              <a:t>.</a:t>
            </a:r>
            <a:endParaRPr lang="en-US" sz="3200" dirty="0">
              <a:latin typeface="+mj-lt"/>
            </a:endParaRPr>
          </a:p>
          <a:p>
            <a:pPr marL="514350" indent="-514350" algn="just">
              <a:buAutoNum type="arabicPeriod"/>
            </a:pPr>
            <a:r>
              <a:rPr lang="vi-VN" sz="3200" dirty="0">
                <a:latin typeface="+mj-lt"/>
              </a:rPr>
              <a:t>Để thêm nút tab mới, nhấp chuột phải vào tab </a:t>
            </a:r>
            <a:r>
              <a:rPr lang="en-US" sz="3200" dirty="0">
                <a:latin typeface="Times New Roman" panose="02020603050405020304" pitchFamily="18" charset="0"/>
                <a:cs typeface="Times New Roman" panose="02020603050405020304" pitchFamily="18" charset="0"/>
              </a:rPr>
              <a:t>Payment Method </a:t>
            </a:r>
            <a:r>
              <a:rPr lang="vi-VN" sz="3200" dirty="0">
                <a:latin typeface="+mj-lt"/>
              </a:rPr>
              <a:t>và chọn</a:t>
            </a:r>
            <a:r>
              <a:rPr lang="en-US" sz="3200" dirty="0">
                <a:latin typeface="+mj-lt"/>
              </a:rPr>
              <a:t> </a:t>
            </a:r>
            <a:r>
              <a:rPr lang="en-US" sz="3200" dirty="0">
                <a:latin typeface="Times New Roman" panose="02020603050405020304" pitchFamily="18" charset="0"/>
                <a:cs typeface="Times New Roman" panose="02020603050405020304" pitchFamily="18" charset="0"/>
              </a:rPr>
              <a:t>Insert Page </a:t>
            </a:r>
            <a:r>
              <a:rPr lang="en-US" sz="3200" dirty="0">
                <a:latin typeface="+mj-lt"/>
              </a:rPr>
              <a:t>(</a:t>
            </a:r>
            <a:r>
              <a:rPr lang="vi-VN" sz="3200" dirty="0">
                <a:latin typeface="+mj-lt"/>
              </a:rPr>
              <a:t>Chèn trang</a:t>
            </a:r>
            <a:r>
              <a:rPr lang="en-US" sz="3200" dirty="0">
                <a:latin typeface="+mj-lt"/>
              </a:rPr>
              <a:t>)</a:t>
            </a:r>
            <a:r>
              <a:rPr lang="vi-VN" sz="3200" dirty="0">
                <a:latin typeface="+mj-lt"/>
              </a:rPr>
              <a:t> từ menu ngữ cảnh xuất hiện.</a:t>
            </a:r>
            <a:endParaRPr lang="en-US" sz="3200" dirty="0">
              <a:latin typeface="+mj-lt"/>
            </a:endParaRPr>
          </a:p>
          <a:p>
            <a:pPr marL="0" indent="0" algn="just">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1157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93049"/>
            <a:ext cx="9102490" cy="833905"/>
          </a:xfrm>
        </p:spPr>
        <p:txBody>
          <a:bodyPr>
            <a:noAutofit/>
          </a:bodyPr>
          <a:lstStyle/>
          <a:p>
            <a:r>
              <a:rPr lang="en-US" dirty="0" err="1">
                <a:latin typeface="Times New Roman" panose="02020603050405020304" pitchFamily="18" charset="0"/>
                <a:cs typeface="Times New Roman" panose="02020603050405020304" pitchFamily="18" charset="0"/>
              </a:rPr>
              <a:t>Hiển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Tab Widget</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1333988"/>
            <a:ext cx="9102490" cy="5967608"/>
          </a:xfrm>
        </p:spPr>
        <p:txBody>
          <a:bodyPr>
            <a:noAutofit/>
          </a:bodyPr>
          <a:lstStyle/>
          <a:p>
            <a:pPr marL="0" indent="0" algn="just">
              <a:buNone/>
            </a:pPr>
            <a:r>
              <a:rPr lang="en-US" sz="3200" dirty="0">
                <a:latin typeface="Times New Roman" panose="02020603050405020304" pitchFamily="18" charset="0"/>
                <a:cs typeface="Times New Roman" panose="02020603050405020304" pitchFamily="18" charset="0"/>
              </a:rPr>
              <a:t>4.</a:t>
            </a:r>
            <a:r>
              <a:rPr lang="en-US" sz="3200" dirty="0">
                <a:latin typeface="+mj-lt"/>
              </a:rPr>
              <a:t> </a:t>
            </a:r>
            <a:r>
              <a:rPr lang="vi-VN" sz="3200" dirty="0">
                <a:latin typeface="+mj-lt"/>
              </a:rPr>
              <a:t>Từ hai tùy chọn xuất hiện, After Current Page</a:t>
            </a:r>
            <a:r>
              <a:rPr lang="en-US" sz="3200" dirty="0">
                <a:latin typeface="+mj-lt"/>
              </a:rPr>
              <a:t> </a:t>
            </a:r>
            <a:r>
              <a:rPr lang="en-US" sz="3200" dirty="0">
                <a:latin typeface="Times New Roman" panose="02020603050405020304" pitchFamily="18" charset="0"/>
                <a:cs typeface="Times New Roman" panose="02020603050405020304" pitchFamily="18" charset="0"/>
              </a:rPr>
              <a:t>(Sau</a:t>
            </a:r>
            <a:r>
              <a:rPr lang="vi-VN" sz="3200" dirty="0">
                <a:latin typeface="Times New Roman" panose="02020603050405020304" pitchFamily="18" charset="0"/>
                <a:cs typeface="Times New Roman" panose="02020603050405020304" pitchFamily="18" charset="0"/>
              </a:rPr>
              <a:t> </a:t>
            </a:r>
            <a:r>
              <a:rPr lang="vi-VN" sz="3200" dirty="0">
                <a:latin typeface="+mj-lt"/>
              </a:rPr>
              <a:t>Trang hiện tại</a:t>
            </a:r>
            <a:r>
              <a:rPr lang="en-US" sz="3200" dirty="0">
                <a:latin typeface="+mj-lt"/>
              </a:rPr>
              <a:t>)</a:t>
            </a:r>
            <a:r>
              <a:rPr lang="vi-VN" sz="3200" dirty="0">
                <a:latin typeface="+mj-lt"/>
              </a:rPr>
              <a:t> và Before Current Page </a:t>
            </a:r>
            <a:r>
              <a:rPr lang="en-US" sz="3200" dirty="0">
                <a:latin typeface="+mj-lt"/>
              </a:rPr>
              <a:t>(</a:t>
            </a:r>
            <a:r>
              <a:rPr lang="vi-VN" sz="3200" dirty="0">
                <a:latin typeface="+mj-lt"/>
              </a:rPr>
              <a:t>Trước Trang hiện tại</a:t>
            </a:r>
            <a:r>
              <a:rPr lang="en-US" sz="3200" dirty="0">
                <a:latin typeface="+mj-lt"/>
              </a:rPr>
              <a:t>)</a:t>
            </a:r>
            <a:r>
              <a:rPr lang="vi-VN" sz="3200" dirty="0">
                <a:latin typeface="+mj-lt"/>
              </a:rPr>
              <a:t>, chọn After Current Page để thêm tab mới sau tab </a:t>
            </a:r>
            <a:r>
              <a:rPr lang="en-US" sz="3200" dirty="0">
                <a:latin typeface="Times New Roman" panose="02020603050405020304" pitchFamily="18" charset="0"/>
                <a:cs typeface="Times New Roman" panose="02020603050405020304" pitchFamily="18" charset="0"/>
              </a:rPr>
              <a:t>Payment Method </a:t>
            </a:r>
            <a:r>
              <a:rPr lang="vi-VN" sz="3200" dirty="0">
                <a:latin typeface="+mj-lt"/>
              </a:rPr>
              <a:t>. Tab mới sẽ có Trang văn bản mặc định.</a:t>
            </a:r>
            <a:endParaRPr lang="en-US" sz="3200" dirty="0">
              <a:latin typeface="+mj-lt"/>
            </a:endParaRPr>
          </a:p>
          <a:p>
            <a:pPr marL="0" indent="0" algn="just">
              <a:buNone/>
            </a:pPr>
            <a:r>
              <a:rPr lang="en-US" sz="3200" dirty="0">
                <a:latin typeface="Times New Roman" panose="02020603050405020304" pitchFamily="18" charset="0"/>
                <a:cs typeface="Times New Roman" panose="02020603050405020304" pitchFamily="18" charset="0"/>
              </a:rPr>
              <a:t>5. </a:t>
            </a:r>
            <a:r>
              <a:rPr lang="vi-VN" sz="3200" dirty="0">
                <a:latin typeface="+mj-lt"/>
              </a:rPr>
              <a:t>Sử dụng thuộc tính currentTabText, thay đổi văn bản của nó thành</a:t>
            </a:r>
            <a:r>
              <a:rPr lang="en-US" sz="3200" dirty="0">
                <a:latin typeface="+mj-lt"/>
              </a:rPr>
              <a:t> </a:t>
            </a:r>
            <a:r>
              <a:rPr lang="en-US" sz="3200" dirty="0">
                <a:latin typeface="Times New Roman" panose="02020603050405020304" pitchFamily="18" charset="0"/>
                <a:cs typeface="Times New Roman" panose="02020603050405020304" pitchFamily="18" charset="0"/>
              </a:rPr>
              <a:t>Delivery Address </a:t>
            </a:r>
            <a:r>
              <a:rPr lang="en-US" sz="3200" dirty="0">
                <a:latin typeface="+mj-lt"/>
              </a:rPr>
              <a:t>(</a:t>
            </a:r>
            <a:r>
              <a:rPr lang="vi-VN" sz="3200" dirty="0">
                <a:latin typeface="+mj-lt"/>
              </a:rPr>
              <a:t>Địa chỉ giao hang</a:t>
            </a:r>
            <a:r>
              <a:rPr lang="en-US" sz="3200" dirty="0">
                <a:latin typeface="+mj-lt"/>
              </a:rPr>
              <a:t>)</a:t>
            </a:r>
            <a:r>
              <a:rPr lang="vi-VN" sz="3200" dirty="0">
                <a:latin typeface="+mj-lt"/>
              </a:rPr>
              <a:t>.</a:t>
            </a:r>
            <a:endParaRPr lang="en-US" sz="3200" dirty="0">
              <a:latin typeface="+mj-lt"/>
            </a:endParaRPr>
          </a:p>
          <a:p>
            <a:pPr marL="0" indent="0" algn="just">
              <a:buNone/>
            </a:pPr>
            <a:r>
              <a:rPr lang="en-US" sz="3200" dirty="0">
                <a:latin typeface="Times New Roman" panose="02020603050405020304" pitchFamily="18" charset="0"/>
                <a:cs typeface="Times New Roman" panose="02020603050405020304" pitchFamily="18" charset="0"/>
              </a:rPr>
              <a:t>6.</a:t>
            </a:r>
            <a:r>
              <a:rPr lang="vi-VN" sz="3200" dirty="0">
                <a:latin typeface="+mj-lt"/>
              </a:rPr>
              <a:t>Mở rộng Widget Tab bằng cách chọn và kéo các nút của nó để cung cấp một khoảng trống bên dưới các nút tab, như trong ảnh chụp màn hình sau:</a:t>
            </a:r>
            <a:endParaRPr lang="en-US" sz="3200" dirty="0">
              <a:latin typeface="+mj-lt"/>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D9929781-7D6F-4DF2-9773-B267CDF83EBD}"/>
              </a:ext>
            </a:extLst>
          </p:cNvPr>
          <p:cNvPicPr>
            <a:picLocks noChangeAspect="1"/>
          </p:cNvPicPr>
          <p:nvPr/>
        </p:nvPicPr>
        <p:blipFill rotWithShape="1">
          <a:blip r:embed="rId3">
            <a:extLst>
              <a:ext uri="{28A0092B-C50C-407E-A947-70E740481C1C}">
                <a14:useLocalDpi xmlns:a14="http://schemas.microsoft.com/office/drawing/2010/main" val="0"/>
              </a:ext>
            </a:extLst>
          </a:blip>
          <a:srcRect l="34528" t="21349" r="32075" b="39748"/>
          <a:stretch/>
        </p:blipFill>
        <p:spPr>
          <a:xfrm>
            <a:off x="2605178" y="2725946"/>
            <a:ext cx="6280030" cy="3968151"/>
          </a:xfrm>
          <a:prstGeom prst="rect">
            <a:avLst/>
          </a:prstGeom>
        </p:spPr>
      </p:pic>
    </p:spTree>
    <p:extLst>
      <p:ext uri="{BB962C8B-B14F-4D97-AF65-F5344CB8AC3E}">
        <p14:creationId xmlns:p14="http://schemas.microsoft.com/office/powerpoint/2010/main" val="166871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93049"/>
            <a:ext cx="9102490" cy="833905"/>
          </a:xfrm>
        </p:spPr>
        <p:txBody>
          <a:bodyPr>
            <a:noAutofit/>
          </a:bodyPr>
          <a:lstStyle/>
          <a:p>
            <a:r>
              <a:rPr lang="en-US" dirty="0" err="1">
                <a:latin typeface="Times New Roman" panose="02020603050405020304" pitchFamily="18" charset="0"/>
                <a:cs typeface="Times New Roman" panose="02020603050405020304" pitchFamily="18" charset="0"/>
              </a:rPr>
              <a:t>Hiển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Tab Widget</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1333988"/>
            <a:ext cx="9102490" cy="5967608"/>
          </a:xfrm>
        </p:spPr>
        <p:txBody>
          <a:bodyPr>
            <a:noAutofit/>
          </a:bodyPr>
          <a:lstStyle/>
          <a:p>
            <a:pPr marL="0" indent="0" algn="just">
              <a:buNone/>
            </a:pPr>
            <a:r>
              <a:rPr lang="vi-VN" sz="3200" dirty="0">
                <a:latin typeface="+mj-lt"/>
              </a:rPr>
              <a:t>7. Chọn từng nút tab và thả các widgets mong muốn vào chỗ trống được cung cấp. Ví dụ: thả bốn tiện ích Hộp kiểm vào nút tab đầu tiên, Danh sách sản phẩm, để hiển thị các mặt hàng có sẵn để bán.</a:t>
            </a:r>
            <a:endParaRPr lang="en-US" sz="3200" dirty="0">
              <a:latin typeface="+mj-lt"/>
            </a:endParaRPr>
          </a:p>
          <a:p>
            <a:pPr marL="0" indent="0" algn="just">
              <a:buNone/>
            </a:pPr>
            <a:r>
              <a:rPr lang="vi-VN" sz="3200" dirty="0">
                <a:latin typeface="+mj-lt"/>
              </a:rPr>
              <a:t>8. Thả tiện ích Push Button trên biểu mẫu.</a:t>
            </a:r>
            <a:br>
              <a:rPr lang="vi-VN" sz="3200" dirty="0">
                <a:latin typeface="+mj-lt"/>
              </a:rPr>
            </a:br>
            <a:r>
              <a:rPr lang="vi-VN" sz="3200" dirty="0">
                <a:latin typeface="+mj-lt"/>
              </a:rPr>
              <a:t>9. Thay đổi thuộc tính văn bản của bốn hộp kiểm thành </a:t>
            </a:r>
            <a:r>
              <a:rPr lang="en-US" sz="3200" dirty="0">
                <a:latin typeface="Times New Roman" panose="02020603050405020304" pitchFamily="18" charset="0"/>
                <a:cs typeface="Times New Roman" panose="02020603050405020304" pitchFamily="18" charset="0"/>
              </a:rPr>
              <a:t>Cell Phone $150, Laptop $500, Camera $250,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Shoes $200.</a:t>
            </a:r>
          </a:p>
          <a:p>
            <a:pPr marL="0" indent="0" algn="just">
              <a:buNone/>
            </a:pPr>
            <a:r>
              <a:rPr lang="vi-VN" sz="3200" dirty="0">
                <a:latin typeface="+mj-lt"/>
              </a:rPr>
              <a:t>10. Thay đổi thuộc tính text của tiện ích Push Button thành Thêm vào giỏ h</a:t>
            </a:r>
            <a:r>
              <a:rPr lang="en-US" sz="3200" dirty="0">
                <a:latin typeface="+mj-lt"/>
              </a:rPr>
              <a:t>à</a:t>
            </a:r>
            <a:r>
              <a:rPr lang="vi-VN" sz="3200" dirty="0">
                <a:latin typeface="+mj-lt"/>
              </a:rPr>
              <a:t>ng</a:t>
            </a:r>
            <a:r>
              <a:rPr lang="en-US" sz="3200" dirty="0">
                <a:latin typeface="+mj-lt"/>
              </a:rPr>
              <a:t> </a:t>
            </a:r>
            <a:r>
              <a:rPr lang="en-US" sz="3200" dirty="0">
                <a:latin typeface="Times New Roman" panose="02020603050405020304" pitchFamily="18" charset="0"/>
                <a:cs typeface="Times New Roman" panose="02020603050405020304" pitchFamily="18" charset="0"/>
              </a:rPr>
              <a:t>(Add to Cart)</a:t>
            </a:r>
            <a:r>
              <a:rPr lang="vi-VN" sz="3200" dirty="0">
                <a:latin typeface="+mj-lt"/>
              </a:rPr>
              <a:t>, như thể hiện trong ảnh chụp màn hình sau:</a:t>
            </a:r>
            <a:endParaRPr lang="en-US" sz="3200" dirty="0">
              <a:latin typeface="+mj-lt"/>
              <a:cs typeface="Times New Roman" panose="02020603050405020304" pitchFamily="18" charset="0"/>
            </a:endParaRPr>
          </a:p>
        </p:txBody>
      </p:sp>
      <p:pic>
        <p:nvPicPr>
          <p:cNvPr id="6" name="Picture 5" descr="sách Qt5-Python-GUI-Programming-Cookbook.pdf - Foxit Reader">
            <a:extLst>
              <a:ext uri="{FF2B5EF4-FFF2-40B4-BE49-F238E27FC236}">
                <a16:creationId xmlns:a16="http://schemas.microsoft.com/office/drawing/2014/main" id="{2345D42B-A1A1-4523-A26D-531368CDD089}"/>
              </a:ext>
            </a:extLst>
          </p:cNvPr>
          <p:cNvPicPr>
            <a:picLocks noChangeAspect="1"/>
          </p:cNvPicPr>
          <p:nvPr/>
        </p:nvPicPr>
        <p:blipFill rotWithShape="1">
          <a:blip r:embed="rId3">
            <a:extLst>
              <a:ext uri="{28A0092B-C50C-407E-A947-70E740481C1C}">
                <a14:useLocalDpi xmlns:a14="http://schemas.microsoft.com/office/drawing/2010/main" val="0"/>
              </a:ext>
            </a:extLst>
          </a:blip>
          <a:srcRect l="34717" t="30461" r="31698" b="29935"/>
          <a:stretch/>
        </p:blipFill>
        <p:spPr>
          <a:xfrm>
            <a:off x="3864634" y="1673525"/>
            <a:ext cx="4779034" cy="4891426"/>
          </a:xfrm>
          <a:prstGeom prst="rect">
            <a:avLst/>
          </a:prstGeom>
        </p:spPr>
      </p:pic>
    </p:spTree>
    <p:extLst>
      <p:ext uri="{BB962C8B-B14F-4D97-AF65-F5344CB8AC3E}">
        <p14:creationId xmlns:p14="http://schemas.microsoft.com/office/powerpoint/2010/main" val="3758219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93049"/>
            <a:ext cx="9102490" cy="833905"/>
          </a:xfrm>
        </p:spPr>
        <p:txBody>
          <a:bodyPr>
            <a:noAutofit/>
          </a:bodyPr>
          <a:lstStyle/>
          <a:p>
            <a:r>
              <a:rPr lang="en-US" dirty="0" err="1">
                <a:latin typeface="Times New Roman" panose="02020603050405020304" pitchFamily="18" charset="0"/>
                <a:cs typeface="Times New Roman" panose="02020603050405020304" pitchFamily="18" charset="0"/>
              </a:rPr>
              <a:t>Hiển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Tab Widget</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1333988"/>
            <a:ext cx="9102490" cy="5967608"/>
          </a:xfrm>
        </p:spPr>
        <p:txBody>
          <a:bodyPr>
            <a:noAutofit/>
          </a:bodyPr>
          <a:lstStyle/>
          <a:p>
            <a:pPr marL="0" indent="0" algn="just">
              <a:buNone/>
            </a:pPr>
            <a:r>
              <a:rPr lang="vi-VN" sz="3200" dirty="0">
                <a:latin typeface="+mj-lt"/>
              </a:rPr>
              <a:t>11. Tương tự, để cung cấp các phương thức thanh toán khác nhau, chọn tab thứ hai và đặt bốn nút radio trong không gian có sẵn.</a:t>
            </a:r>
            <a:endParaRPr lang="en-US" sz="3200" dirty="0">
              <a:latin typeface="+mj-lt"/>
            </a:endParaRPr>
          </a:p>
          <a:p>
            <a:pPr marL="0" indent="0" algn="just">
              <a:buNone/>
            </a:pPr>
            <a:r>
              <a:rPr lang="en-US" sz="3200" dirty="0">
                <a:latin typeface="Times New Roman" panose="02020603050405020304" pitchFamily="18" charset="0"/>
                <a:cs typeface="Times New Roman" panose="02020603050405020304" pitchFamily="18" charset="0"/>
              </a:rPr>
              <a:t>12. </a:t>
            </a:r>
            <a:r>
              <a:rPr lang="vi-VN" sz="3200" dirty="0">
                <a:latin typeface="Times New Roman" panose="02020603050405020304" pitchFamily="18" charset="0"/>
                <a:cs typeface="Times New Roman" panose="02020603050405020304" pitchFamily="18" charset="0"/>
              </a:rPr>
              <a:t>Đặt thuộc tính văn bản của bốn nút radio thành </a:t>
            </a:r>
            <a:r>
              <a:rPr lang="en-US" sz="3200" dirty="0">
                <a:latin typeface="Times New Roman" panose="02020603050405020304" pitchFamily="18" charset="0"/>
                <a:cs typeface="Times New Roman" panose="02020603050405020304" pitchFamily="18" charset="0"/>
              </a:rPr>
              <a:t>Debit Card, Credit </a:t>
            </a:r>
            <a:r>
              <a:rPr lang="en-US" sz="3200" dirty="0" err="1">
                <a:latin typeface="Times New Roman" panose="02020603050405020304" pitchFamily="18" charset="0"/>
                <a:cs typeface="Times New Roman" panose="02020603050405020304" pitchFamily="18" charset="0"/>
              </a:rPr>
              <a:t>Card,Net</a:t>
            </a:r>
            <a:r>
              <a:rPr lang="en-US" sz="3200" dirty="0">
                <a:latin typeface="Times New Roman" panose="02020603050405020304" pitchFamily="18" charset="0"/>
                <a:cs typeface="Times New Roman" panose="02020603050405020304" pitchFamily="18" charset="0"/>
              </a:rPr>
              <a:t> Banking, and Cash</a:t>
            </a:r>
            <a:r>
              <a:rPr lang="vi-VN" sz="3200" dirty="0">
                <a:latin typeface="Times New Roman" panose="02020603050405020304" pitchFamily="18" charset="0"/>
                <a:cs typeface="Times New Roman" panose="02020603050405020304" pitchFamily="18" charset="0"/>
              </a:rPr>
              <a:t> như được hiển thị trong phần sau:</a:t>
            </a:r>
            <a:endParaRPr lang="en-US" sz="3200" dirty="0">
              <a:latin typeface="Times New Roman" panose="02020603050405020304" pitchFamily="18" charset="0"/>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6BA36BBC-07CA-4024-B41B-BD0A3F71A54C}"/>
              </a:ext>
            </a:extLst>
          </p:cNvPr>
          <p:cNvPicPr>
            <a:picLocks noChangeAspect="1"/>
          </p:cNvPicPr>
          <p:nvPr/>
        </p:nvPicPr>
        <p:blipFill rotWithShape="1">
          <a:blip r:embed="rId3">
            <a:extLst>
              <a:ext uri="{28A0092B-C50C-407E-A947-70E740481C1C}">
                <a14:useLocalDpi xmlns:a14="http://schemas.microsoft.com/office/drawing/2010/main" val="0"/>
              </a:ext>
            </a:extLst>
          </a:blip>
          <a:srcRect l="33962" t="43429" r="31132" b="17668"/>
          <a:stretch/>
        </p:blipFill>
        <p:spPr>
          <a:xfrm>
            <a:off x="2191109" y="4241436"/>
            <a:ext cx="6711351" cy="2565152"/>
          </a:xfrm>
          <a:prstGeom prst="rect">
            <a:avLst/>
          </a:prstGeom>
        </p:spPr>
      </p:pic>
    </p:spTree>
    <p:extLst>
      <p:ext uri="{BB962C8B-B14F-4D97-AF65-F5344CB8AC3E}">
        <p14:creationId xmlns:p14="http://schemas.microsoft.com/office/powerpoint/2010/main" val="34953440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93049"/>
            <a:ext cx="9102490" cy="833905"/>
          </a:xfrm>
        </p:spPr>
        <p:txBody>
          <a:bodyPr>
            <a:noAutofit/>
          </a:bodyPr>
          <a:lstStyle/>
          <a:p>
            <a:r>
              <a:rPr lang="en-US" dirty="0" err="1">
                <a:latin typeface="Times New Roman" panose="02020603050405020304" pitchFamily="18" charset="0"/>
                <a:cs typeface="Times New Roman" panose="02020603050405020304" pitchFamily="18" charset="0"/>
              </a:rPr>
              <a:t>Hiển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Tab Widget</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1333988"/>
            <a:ext cx="9102490" cy="5967608"/>
          </a:xfrm>
        </p:spPr>
        <p:txBody>
          <a:bodyPr>
            <a:noAutofit/>
          </a:bodyPr>
          <a:lstStyle/>
          <a:p>
            <a:pPr marL="0" indent="0" algn="just">
              <a:buNone/>
            </a:pPr>
            <a:r>
              <a:rPr lang="vi-VN" sz="3200" dirty="0">
                <a:latin typeface="+mj-lt"/>
              </a:rPr>
              <a:t>13. Chọn tab thứ ba và kéo</a:t>
            </a:r>
            <a:r>
              <a:rPr lang="en-US" sz="3200" dirty="0">
                <a:latin typeface="+mj-lt"/>
              </a:rPr>
              <a:t>,</a:t>
            </a:r>
            <a:r>
              <a:rPr lang="vi-VN" sz="3200" dirty="0">
                <a:latin typeface="+mj-lt"/>
              </a:rPr>
              <a:t> thả một vài tiện ích Chỉnh sửa dòng nhắc người dùng cung cấp địa chỉ giao hàng.</a:t>
            </a:r>
            <a:br>
              <a:rPr lang="vi-VN" sz="3200" dirty="0">
                <a:latin typeface="+mj-lt"/>
              </a:rPr>
            </a:br>
            <a:r>
              <a:rPr lang="vi-VN" sz="3200" dirty="0">
                <a:latin typeface="+mj-lt"/>
              </a:rPr>
              <a:t>14. Kéo và thả sáu vật dụng </a:t>
            </a:r>
            <a:r>
              <a:rPr lang="en-US" sz="3200" dirty="0">
                <a:latin typeface="Times New Roman" panose="02020603050405020304" pitchFamily="18" charset="0"/>
                <a:cs typeface="Times New Roman" panose="02020603050405020304" pitchFamily="18" charset="0"/>
              </a:rPr>
              <a:t>Label</a:t>
            </a:r>
            <a:r>
              <a:rPr lang="vi-VN" sz="3200" dirty="0">
                <a:latin typeface="+mj-lt"/>
              </a:rPr>
              <a:t> và sáu </a:t>
            </a:r>
            <a:r>
              <a:rPr lang="en-US" sz="3200" dirty="0">
                <a:latin typeface="Times New Roman" panose="02020603050405020304" pitchFamily="18" charset="0"/>
                <a:cs typeface="Times New Roman" panose="02020603050405020304" pitchFamily="18" charset="0"/>
              </a:rPr>
              <a:t>Line Edit</a:t>
            </a:r>
            <a:r>
              <a:rPr lang="vi-VN" sz="3200" dirty="0">
                <a:latin typeface="Times New Roman" panose="02020603050405020304" pitchFamily="18" charset="0"/>
                <a:cs typeface="Times New Roman" panose="02020603050405020304" pitchFamily="18" charset="0"/>
              </a:rPr>
              <a:t> </a:t>
            </a:r>
            <a:r>
              <a:rPr lang="vi-VN" sz="3200" dirty="0">
                <a:latin typeface="+mj-lt"/>
              </a:rPr>
              <a:t>vào biểu mẫu.</a:t>
            </a:r>
            <a:endParaRPr lang="en-US" sz="3200" dirty="0">
              <a:latin typeface="+mj-lt"/>
            </a:endParaRPr>
          </a:p>
          <a:p>
            <a:pPr marL="0" indent="0" algn="just">
              <a:buNone/>
            </a:pPr>
            <a:r>
              <a:rPr lang="vi-VN" sz="3200" dirty="0">
                <a:latin typeface="+mj-lt"/>
              </a:rPr>
              <a:t>15. Đặt thuộc tính </a:t>
            </a:r>
            <a:r>
              <a:rPr lang="en-US" sz="3200" dirty="0">
                <a:latin typeface="Times New Roman" panose="02020603050405020304" pitchFamily="18" charset="0"/>
                <a:cs typeface="Times New Roman" panose="02020603050405020304" pitchFamily="18" charset="0"/>
              </a:rPr>
              <a:t>text</a:t>
            </a:r>
            <a:r>
              <a:rPr lang="en-US" sz="3200" dirty="0">
                <a:latin typeface="+mj-lt"/>
              </a:rPr>
              <a:t> </a:t>
            </a:r>
            <a:r>
              <a:rPr lang="vi-VN" sz="3200" dirty="0">
                <a:latin typeface="+mj-lt"/>
              </a:rPr>
              <a:t>của các tiện ích </a:t>
            </a:r>
            <a:r>
              <a:rPr lang="en-US" sz="3200" dirty="0">
                <a:latin typeface="Times New Roman" panose="02020603050405020304" pitchFamily="18" charset="0"/>
                <a:cs typeface="Times New Roman" panose="02020603050405020304" pitchFamily="18" charset="0"/>
              </a:rPr>
              <a:t>label</a:t>
            </a:r>
            <a:r>
              <a:rPr lang="vi-VN" sz="3200" dirty="0">
                <a:latin typeface="+mj-lt"/>
              </a:rPr>
              <a:t> thành </a:t>
            </a:r>
            <a:r>
              <a:rPr lang="en-US" sz="3200" dirty="0">
                <a:latin typeface="Times New Roman" panose="02020603050405020304" pitchFamily="18" charset="0"/>
                <a:cs typeface="Times New Roman" panose="02020603050405020304" pitchFamily="18" charset="0"/>
              </a:rPr>
              <a:t>Address 1, Address 2, </a:t>
            </a:r>
            <a:r>
              <a:rPr lang="en-US" sz="3200" dirty="0" err="1">
                <a:latin typeface="Times New Roman" panose="02020603050405020304" pitchFamily="18" charset="0"/>
                <a:cs typeface="Times New Roman" panose="02020603050405020304" pitchFamily="18" charset="0"/>
              </a:rPr>
              <a:t>State,Country</a:t>
            </a:r>
            <a:r>
              <a:rPr lang="en-US" sz="3200" dirty="0">
                <a:latin typeface="Times New Roman" panose="02020603050405020304" pitchFamily="18" charset="0"/>
                <a:cs typeface="Times New Roman" panose="02020603050405020304" pitchFamily="18" charset="0"/>
              </a:rPr>
              <a:t>, Zip Code,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Contact Number</a:t>
            </a:r>
            <a:r>
              <a:rPr lang="vi-VN" sz="3200" dirty="0">
                <a:latin typeface="+mj-lt"/>
              </a:rPr>
              <a:t>. Các tiện ích </a:t>
            </a:r>
            <a:r>
              <a:rPr lang="en-US" sz="3200" dirty="0">
                <a:latin typeface="Times New Roman" panose="02020603050405020304" pitchFamily="18" charset="0"/>
                <a:cs typeface="Times New Roman" panose="02020603050405020304" pitchFamily="18" charset="0"/>
              </a:rPr>
              <a:t>Line Edit</a:t>
            </a:r>
            <a:r>
              <a:rPr lang="en-US" sz="3200" dirty="0">
                <a:latin typeface="+mj-lt"/>
              </a:rPr>
              <a:t> </a:t>
            </a:r>
            <a:r>
              <a:rPr lang="vi-VN" sz="3200" dirty="0">
                <a:latin typeface="+mj-lt"/>
              </a:rPr>
              <a:t>ở phía trước mỗi tiện ích Nhãn sẽ được sử dụng để nhận địa chỉ giao hàng, như được hiển thị trong ảnh chụp màn hình sau:</a:t>
            </a:r>
            <a:endParaRPr lang="en-US" sz="3200" dirty="0">
              <a:latin typeface="+mj-lt"/>
              <a:cs typeface="Times New Roman" panose="02020603050405020304" pitchFamily="18" charset="0"/>
            </a:endParaRPr>
          </a:p>
        </p:txBody>
      </p:sp>
      <p:pic>
        <p:nvPicPr>
          <p:cNvPr id="6" name="Picture 5" descr="sách Qt5-Python-GUI-Programming-Cookbook.pdf - Foxit Reader">
            <a:extLst>
              <a:ext uri="{FF2B5EF4-FFF2-40B4-BE49-F238E27FC236}">
                <a16:creationId xmlns:a16="http://schemas.microsoft.com/office/drawing/2014/main" id="{A72453F6-9DC9-410A-8E02-4F3B86C417F1}"/>
              </a:ext>
            </a:extLst>
          </p:cNvPr>
          <p:cNvPicPr>
            <a:picLocks noChangeAspect="1"/>
          </p:cNvPicPr>
          <p:nvPr/>
        </p:nvPicPr>
        <p:blipFill rotWithShape="1">
          <a:blip r:embed="rId3">
            <a:extLst>
              <a:ext uri="{28A0092B-C50C-407E-A947-70E740481C1C}">
                <a14:useLocalDpi xmlns:a14="http://schemas.microsoft.com/office/drawing/2010/main" val="0"/>
              </a:ext>
            </a:extLst>
          </a:blip>
          <a:srcRect l="34151" t="34317" r="30943" b="23977"/>
          <a:stretch/>
        </p:blipFill>
        <p:spPr>
          <a:xfrm>
            <a:off x="3623095" y="2167893"/>
            <a:ext cx="5158596" cy="4397058"/>
          </a:xfrm>
          <a:prstGeom prst="rect">
            <a:avLst/>
          </a:prstGeom>
        </p:spPr>
      </p:pic>
    </p:spTree>
    <p:extLst>
      <p:ext uri="{BB962C8B-B14F-4D97-AF65-F5344CB8AC3E}">
        <p14:creationId xmlns:p14="http://schemas.microsoft.com/office/powerpoint/2010/main" val="26262281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93049"/>
            <a:ext cx="9102490" cy="833905"/>
          </a:xfrm>
        </p:spPr>
        <p:txBody>
          <a:bodyPr>
            <a:noAutofit/>
          </a:bodyPr>
          <a:lstStyle/>
          <a:p>
            <a:r>
              <a:rPr lang="en-US" dirty="0" err="1">
                <a:latin typeface="Times New Roman" panose="02020603050405020304" pitchFamily="18" charset="0"/>
                <a:cs typeface="Times New Roman" panose="02020603050405020304" pitchFamily="18" charset="0"/>
              </a:rPr>
              <a:t>Hiển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Tab Widget</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1333988"/>
            <a:ext cx="9102490" cy="5967608"/>
          </a:xfrm>
        </p:spPr>
        <p:txBody>
          <a:bodyPr>
            <a:noAutofit/>
          </a:bodyPr>
          <a:lstStyle/>
          <a:p>
            <a:pPr marL="0" indent="0" algn="just">
              <a:buNone/>
            </a:pPr>
            <a:r>
              <a:rPr lang="vi-VN" sz="3200" dirty="0">
                <a:latin typeface="+mj-lt"/>
              </a:rPr>
              <a:t>16. Lưu ứng dụng dưới dạng demoTabWidget.ui.</a:t>
            </a:r>
            <a:br>
              <a:rPr lang="vi-VN" sz="3200" dirty="0">
                <a:latin typeface="+mj-lt"/>
              </a:rPr>
            </a:br>
            <a:r>
              <a:rPr lang="vi-VN" sz="3200" dirty="0">
                <a:latin typeface="+mj-lt"/>
              </a:rPr>
              <a:t>17. Giao diện người dùng được tạo bằng Qt Designer được lưu trữ trong tệp .ui là tệp XML và cần được chuyển đổi thành mã Python. Để thực hiện chuyển đổi, bạn cần mở cửa sổ Dấu nhắc Lệnh, điều hướng đến thư mục lưu tệp và phát lệnh này:</a:t>
            </a:r>
            <a:endParaRPr lang="en-US" sz="3200" dirty="0">
              <a:latin typeface="+mj-lt"/>
            </a:endParaRPr>
          </a:p>
          <a:p>
            <a:pPr marL="0" indent="0" algn="just">
              <a:buNone/>
            </a:pPr>
            <a:r>
              <a:rPr lang="en-US" sz="2400" b="1" i="1" dirty="0">
                <a:latin typeface="Times New Roman" panose="02020603050405020304" pitchFamily="18" charset="0"/>
                <a:cs typeface="Times New Roman" panose="02020603050405020304" pitchFamily="18" charset="0"/>
              </a:rPr>
              <a:t>C:PythonbookPyQt5&gt;pyuic5 </a:t>
            </a:r>
            <a:r>
              <a:rPr lang="en-US" sz="2400" b="1" i="1" dirty="0" err="1">
                <a:latin typeface="Times New Roman" panose="02020603050405020304" pitchFamily="18" charset="0"/>
                <a:cs typeface="Times New Roman" panose="02020603050405020304" pitchFamily="18" charset="0"/>
              </a:rPr>
              <a:t>demoTabWidget.ui</a:t>
            </a:r>
            <a:r>
              <a:rPr lang="en-US" sz="2400" b="1" i="1" dirty="0">
                <a:latin typeface="Times New Roman" panose="02020603050405020304" pitchFamily="18" charset="0"/>
                <a:cs typeface="Times New Roman" panose="02020603050405020304" pitchFamily="18" charset="0"/>
              </a:rPr>
              <a:t> -o demoTabWidget.py</a:t>
            </a:r>
            <a:r>
              <a:rPr lang="en-US" sz="2400" i="1" dirty="0">
                <a:latin typeface="Times New Roman" panose="02020603050405020304" pitchFamily="18" charset="0"/>
                <a:cs typeface="Times New Roman" panose="02020603050405020304" pitchFamily="18" charset="0"/>
              </a:rPr>
              <a:t> </a:t>
            </a:r>
            <a:br>
              <a:rPr lang="en-US" sz="2400" i="1"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18. </a:t>
            </a:r>
            <a:r>
              <a:rPr lang="en-US" sz="3200" dirty="0" err="1">
                <a:latin typeface="Times New Roman" panose="02020603050405020304" pitchFamily="18" charset="0"/>
                <a:cs typeface="Times New Roman" panose="02020603050405020304" pitchFamily="18" charset="0"/>
              </a:rPr>
              <a:t>Tạo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một</a:t>
            </a:r>
            <a:r>
              <a:rPr lang="en-US" sz="3200" dirty="0">
                <a:latin typeface="Times New Roman" panose="02020603050405020304" pitchFamily="18" charset="0"/>
                <a:cs typeface="Times New Roman" panose="02020603050405020304" pitchFamily="18" charset="0"/>
              </a:rPr>
              <a:t> file Python </a:t>
            </a:r>
            <a:r>
              <a:rPr lang="en-US" sz="3200" dirty="0" err="1">
                <a:latin typeface="Times New Roman" panose="02020603050405020304" pitchFamily="18" charset="0"/>
                <a:cs typeface="Times New Roman" panose="02020603050405020304" pitchFamily="18" charset="0"/>
              </a:rPr>
              <a:t>khác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có</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tên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callTabWidget.pyw</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nhập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mã</a:t>
            </a:r>
            <a:r>
              <a:rPr lang="en-US" sz="3200" dirty="0">
                <a:latin typeface="Times New Roman" panose="02020603050405020304" pitchFamily="18" charset="0"/>
                <a:cs typeface="Times New Roman" panose="02020603050405020304" pitchFamily="18" charset="0"/>
              </a:rPr>
              <a:t> demoTabWidget.py </a:t>
            </a:r>
            <a:r>
              <a:rPr lang="en-US" sz="3200" dirty="0" err="1">
                <a:latin typeface="Times New Roman" panose="02020603050405020304" pitchFamily="18" charset="0"/>
                <a:cs typeface="Times New Roman" panose="02020603050405020304" pitchFamily="18" charset="0"/>
              </a:rPr>
              <a:t>vào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đó</a:t>
            </a:r>
            <a:r>
              <a:rPr lang="en-US" sz="3200" dirty="0">
                <a:latin typeface="Times New Roman" panose="02020603050405020304" pitchFamily="18" charset="0"/>
                <a:cs typeface="Times New Roman" panose="02020603050405020304" pitchFamily="18" charset="0"/>
              </a:rPr>
              <a:t>:</a:t>
            </a:r>
            <a:endParaRPr lang="en-US" sz="3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38301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93049"/>
            <a:ext cx="9102490" cy="833905"/>
          </a:xfrm>
        </p:spPr>
        <p:txBody>
          <a:bodyPr>
            <a:noAutofit/>
          </a:bodyPr>
          <a:lstStyle/>
          <a:p>
            <a:r>
              <a:rPr lang="en-US" dirty="0" err="1">
                <a:latin typeface="Times New Roman" panose="02020603050405020304" pitchFamily="18" charset="0"/>
                <a:cs typeface="Times New Roman" panose="02020603050405020304" pitchFamily="18" charset="0"/>
              </a:rPr>
              <a:t>Hiển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Tab Widget</a:t>
            </a:r>
          </a:p>
        </p:txBody>
      </p:sp>
      <p:pic>
        <p:nvPicPr>
          <p:cNvPr id="5" name="Content Placeholder 4" descr="sách Qt5-Python-GUI-Programming-Cookbook.pdf - Foxit Reader">
            <a:extLst>
              <a:ext uri="{FF2B5EF4-FFF2-40B4-BE49-F238E27FC236}">
                <a16:creationId xmlns:a16="http://schemas.microsoft.com/office/drawing/2014/main" id="{DCAD6606-6F3D-40FF-8ACB-21F80D7AF41F}"/>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31084" t="35484" r="33473" b="28957"/>
          <a:stretch/>
        </p:blipFill>
        <p:spPr>
          <a:xfrm>
            <a:off x="431321" y="1466491"/>
            <a:ext cx="7125419" cy="4261449"/>
          </a:xfrm>
        </p:spPr>
      </p:pic>
    </p:spTree>
    <p:extLst>
      <p:ext uri="{BB962C8B-B14F-4D97-AF65-F5344CB8AC3E}">
        <p14:creationId xmlns:p14="http://schemas.microsoft.com/office/powerpoint/2010/main" val="39380913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algn="just">
              <a:buFont typeface="Wingdings" panose="05000000000000000000" pitchFamily="2" charset="2"/>
              <a:buChar char="§"/>
            </a:pPr>
            <a:r>
              <a:rPr lang="vi-VN" sz="3200" dirty="0">
                <a:latin typeface="+mj-lt"/>
              </a:rPr>
              <a:t>Một ứng dụng lớn thường được chia thành các mô-đun nhỏ, độc lập và có thể quản lý. Các mô-đun này có thể được gọi bằng cách tạo các nút thanh công cụ hoặc các mục menu khác nhau. Đó là, chúng ta có thể gọi một mô-đun khi nhấp vào một mục menu. Chúng tôi đã thấy</a:t>
            </a:r>
            <a:r>
              <a:rPr lang="en-US" sz="3200" dirty="0">
                <a:latin typeface="+mj-lt"/>
              </a:rPr>
              <a:t> </a:t>
            </a:r>
            <a:r>
              <a:rPr lang="en-US" sz="3200" b="1" dirty="0">
                <a:latin typeface="Times New Roman" panose="02020603050405020304" pitchFamily="18" charset="0"/>
                <a:cs typeface="Times New Roman" panose="02020603050405020304" pitchFamily="18" charset="0"/>
              </a:rPr>
              <a:t>File</a:t>
            </a:r>
            <a:r>
              <a:rPr lang="vi-VN" sz="3200" b="1" dirty="0">
                <a:latin typeface="+mj-lt"/>
              </a:rPr>
              <a:t> menu,</a:t>
            </a:r>
            <a:r>
              <a:rPr lang="en-US" sz="3200" b="1" dirty="0">
                <a:latin typeface="+mj-lt"/>
              </a:rPr>
              <a:t> </a:t>
            </a:r>
            <a:r>
              <a:rPr lang="en-US" sz="3200" b="1" dirty="0">
                <a:latin typeface="Times New Roman" panose="02020603050405020304" pitchFamily="18" charset="0"/>
                <a:cs typeface="Times New Roman" panose="02020603050405020304" pitchFamily="18" charset="0"/>
              </a:rPr>
              <a:t>Edit</a:t>
            </a:r>
            <a:r>
              <a:rPr lang="vi-VN" sz="3200" b="1" dirty="0">
                <a:latin typeface="+mj-lt"/>
              </a:rPr>
              <a:t> menu</a:t>
            </a:r>
            <a:r>
              <a:rPr lang="vi-VN" sz="3200" dirty="0">
                <a:latin typeface="+mj-lt"/>
              </a:rPr>
              <a:t>,</a:t>
            </a:r>
            <a:r>
              <a:rPr lang="en-US" sz="3200" dirty="0">
                <a:latin typeface="+mj-lt"/>
              </a:rPr>
              <a:t>..</a:t>
            </a:r>
            <a:r>
              <a:rPr lang="vi-VN" sz="3200" dirty="0">
                <a:latin typeface="+mj-lt"/>
              </a:rPr>
              <a:t>. trong các gói khác nhau, vì vậy hãy tìm hiểu để tạo một thanh menu tùy chỉnh của riêng </a:t>
            </a:r>
            <a:r>
              <a:rPr lang="en-US" sz="3200" dirty="0" err="1">
                <a:latin typeface="Times New Roman" panose="02020603050405020304" pitchFamily="18" charset="0"/>
                <a:cs typeface="Times New Roman" panose="02020603050405020304" pitchFamily="18" charset="0"/>
              </a:rPr>
              <a:t>mình</a:t>
            </a:r>
            <a:r>
              <a:rPr lang="vi-VN" sz="3200" dirty="0">
                <a:latin typeface="+mj-lt"/>
              </a:rPr>
              <a:t>.</a:t>
            </a:r>
            <a:endParaRPr lang="en-US" sz="3200" dirty="0">
              <a:latin typeface="+mj-lt"/>
              <a:cs typeface="Times New Roman" panose="02020603050405020304" pitchFamily="18" charset="0"/>
            </a:endParaRPr>
          </a:p>
          <a:p>
            <a:pPr algn="just">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C</a:t>
            </a:r>
            <a:r>
              <a:rPr lang="vi-VN" sz="3200" dirty="0">
                <a:latin typeface="Times New Roman" panose="02020603050405020304" pitchFamily="18" charset="0"/>
                <a:cs typeface="Times New Roman" panose="02020603050405020304" pitchFamily="18" charset="0"/>
              </a:rPr>
              <a:t>húng ta sẽ học cách tạo một menu</a:t>
            </a:r>
            <a:r>
              <a:rPr lang="en-US" sz="3200" dirty="0">
                <a:latin typeface="Times New Roman" panose="02020603050405020304" pitchFamily="18" charset="0"/>
                <a:cs typeface="Times New Roman" panose="02020603050405020304" pitchFamily="18" charset="0"/>
              </a:rPr>
              <a:t> bar</a:t>
            </a:r>
            <a:r>
              <a:rPr lang="vi-VN" sz="3200" dirty="0">
                <a:latin typeface="Times New Roman" panose="02020603050405020304" pitchFamily="18" charset="0"/>
                <a:cs typeface="Times New Roman" panose="02020603050405020304" pitchFamily="18" charset="0"/>
              </a:rPr>
              <a:t> hiển thị các mục menu nhất định. Chúng ta sẽ học cách thêm các mục menu, thêm các mục menu con vào một mục menu, thêm dấu phân cách giữa các mục menu, thêm phím tắt</a:t>
            </a:r>
            <a:r>
              <a:rPr lang="en-US" sz="3200" dirty="0">
                <a:latin typeface="Times New Roman" panose="02020603050405020304" pitchFamily="18" charset="0"/>
                <a:cs typeface="Times New Roman" panose="02020603050405020304" pitchFamily="18" charset="0"/>
              </a:rPr>
              <a:t> (shortcuts)</a:t>
            </a:r>
            <a:r>
              <a:rPr lang="vi-VN" sz="3200" dirty="0">
                <a:latin typeface="Times New Roman" panose="02020603050405020304" pitchFamily="18" charset="0"/>
                <a:cs typeface="Times New Roman" panose="02020603050405020304" pitchFamily="18" charset="0"/>
              </a:rPr>
              <a:t> và </a:t>
            </a:r>
            <a:r>
              <a:rPr lang="en-US" sz="3200" dirty="0">
                <a:latin typeface="Times New Roman" panose="02020603050405020304" pitchFamily="18" charset="0"/>
                <a:cs typeface="Times New Roman" panose="02020603050405020304" pitchFamily="18" charset="0"/>
              </a:rPr>
              <a:t>tool tips </a:t>
            </a:r>
            <a:r>
              <a:rPr lang="vi-VN" sz="3200" dirty="0">
                <a:latin typeface="Times New Roman" panose="02020603050405020304" pitchFamily="18" charset="0"/>
                <a:cs typeface="Times New Roman" panose="02020603050405020304" pitchFamily="18" charset="0"/>
              </a:rPr>
              <a:t>vào các mục menu, và nhiều hơn nữa. Chúng t</a:t>
            </a:r>
            <a:r>
              <a:rPr lang="en-US" sz="3200" dirty="0">
                <a:latin typeface="Times New Roman" panose="02020603050405020304" pitchFamily="18" charset="0"/>
                <a:cs typeface="Times New Roman" panose="02020603050405020304" pitchFamily="18" charset="0"/>
              </a:rPr>
              <a:t>a</a:t>
            </a:r>
            <a:r>
              <a:rPr lang="vi-VN" sz="3200" dirty="0">
                <a:latin typeface="Times New Roman" panose="02020603050405020304" pitchFamily="18" charset="0"/>
                <a:cs typeface="Times New Roman" panose="02020603050405020304" pitchFamily="18" charset="0"/>
              </a:rPr>
              <a:t> cũng sẽ học cách thêm</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52964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r>
              <a:rPr lang="vi-VN" sz="3200" dirty="0">
                <a:latin typeface="Times New Roman" panose="02020603050405020304" pitchFamily="18" charset="0"/>
                <a:cs typeface="Times New Roman" panose="02020603050405020304" pitchFamily="18" charset="0"/>
              </a:rPr>
              <a:t>các hành động vào các mục menu này, để khi bất kỳ mục menu nào được nhấp, một hành động nhất định sẽ diễn ra</a:t>
            </a:r>
            <a:r>
              <a:rPr lang="vi-VN" dirty="0"/>
              <a:t>.</a:t>
            </a:r>
            <a:endParaRPr lang="en-US" dirty="0"/>
          </a:p>
          <a:p>
            <a:pPr marL="0" indent="0" algn="just">
              <a:buNone/>
            </a:pPr>
            <a:r>
              <a:rPr lang="vi-VN" sz="3200" dirty="0">
                <a:latin typeface="+mj-lt"/>
              </a:rPr>
              <a:t>Thanh menu của chúng t</a:t>
            </a:r>
            <a:r>
              <a:rPr lang="en-US" sz="3200" dirty="0">
                <a:latin typeface="Times New Roman" panose="02020603050405020304" pitchFamily="18" charset="0"/>
                <a:cs typeface="Times New Roman" panose="02020603050405020304" pitchFamily="18" charset="0"/>
              </a:rPr>
              <a:t>a </a:t>
            </a:r>
            <a:r>
              <a:rPr lang="en-US" sz="3200" dirty="0" err="1">
                <a:latin typeface="Times New Roman" panose="02020603050405020304" pitchFamily="18" charset="0"/>
                <a:cs typeface="Times New Roman" panose="02020603050405020304" pitchFamily="18" charset="0"/>
              </a:rPr>
              <a:t>tạo</a:t>
            </a:r>
            <a:r>
              <a:rPr lang="en-US" sz="3200" dirty="0">
                <a:latin typeface="Times New Roman" panose="02020603050405020304" pitchFamily="18" charset="0"/>
                <a:cs typeface="Times New Roman" panose="02020603050405020304" pitchFamily="18" charset="0"/>
              </a:rPr>
              <a:t> ra</a:t>
            </a:r>
            <a:r>
              <a:rPr lang="vi-VN" sz="3200" dirty="0">
                <a:latin typeface="+mj-lt"/>
              </a:rPr>
              <a:t> sẽ bao gồm hai menu, </a:t>
            </a:r>
            <a:r>
              <a:rPr lang="vi-VN" sz="3200" b="1" dirty="0">
                <a:latin typeface="+mj-lt"/>
              </a:rPr>
              <a:t>Draw</a:t>
            </a:r>
            <a:r>
              <a:rPr lang="vi-VN" sz="3200" dirty="0">
                <a:latin typeface="+mj-lt"/>
              </a:rPr>
              <a:t> </a:t>
            </a:r>
            <a:r>
              <a:rPr lang="en-US" sz="3200" dirty="0" err="1">
                <a:latin typeface="Times New Roman" panose="02020603050405020304" pitchFamily="18" charset="0"/>
                <a:cs typeface="Times New Roman" panose="02020603050405020304" pitchFamily="18" charset="0"/>
              </a:rPr>
              <a:t>và</a:t>
            </a:r>
            <a:r>
              <a:rPr lang="vi-VN" sz="3200" dirty="0">
                <a:latin typeface="+mj-lt"/>
              </a:rPr>
              <a:t> </a:t>
            </a:r>
            <a:r>
              <a:rPr lang="vi-VN" sz="3200" b="1" dirty="0">
                <a:latin typeface="+mj-lt"/>
              </a:rPr>
              <a:t>Edit</a:t>
            </a:r>
            <a:r>
              <a:rPr lang="vi-VN" sz="3200" dirty="0">
                <a:latin typeface="+mj-lt"/>
              </a:rPr>
              <a:t>. Menu Draw sẽ bao gồm bốn mục menu, </a:t>
            </a:r>
            <a:r>
              <a:rPr lang="vi-VN" sz="3200" b="1" dirty="0">
                <a:latin typeface="+mj-lt"/>
              </a:rPr>
              <a:t>Draw Circle</a:t>
            </a:r>
            <a:r>
              <a:rPr lang="en-US" sz="3200" b="1" dirty="0">
                <a:latin typeface="+mj-lt"/>
              </a:rPr>
              <a:t> </a:t>
            </a:r>
            <a:r>
              <a:rPr lang="en-US" sz="3200" dirty="0">
                <a:latin typeface="+mj-lt"/>
              </a:rPr>
              <a:t>(</a:t>
            </a:r>
            <a:r>
              <a:rPr lang="vi-VN" sz="3200" dirty="0">
                <a:latin typeface="+mj-lt"/>
              </a:rPr>
              <a:t>Vẽ vòng tròn</a:t>
            </a:r>
            <a:r>
              <a:rPr lang="en-US" sz="3200" dirty="0">
                <a:latin typeface="+mj-lt"/>
              </a:rPr>
              <a:t>)</a:t>
            </a:r>
            <a:r>
              <a:rPr lang="vi-VN" sz="3200" dirty="0">
                <a:latin typeface="+mj-lt"/>
              </a:rPr>
              <a:t>, </a:t>
            </a:r>
            <a:r>
              <a:rPr lang="vi-VN" sz="3200" b="1" dirty="0">
                <a:latin typeface="+mj-lt"/>
              </a:rPr>
              <a:t>Draw Rectangle</a:t>
            </a:r>
            <a:r>
              <a:rPr lang="en-US" sz="3200" b="1" dirty="0">
                <a:latin typeface="+mj-lt"/>
              </a:rPr>
              <a:t> </a:t>
            </a:r>
            <a:r>
              <a:rPr lang="en-US" sz="3200" dirty="0">
                <a:latin typeface="+mj-lt"/>
              </a:rPr>
              <a:t>(</a:t>
            </a:r>
            <a:r>
              <a:rPr lang="vi-VN" sz="3200" dirty="0">
                <a:latin typeface="+mj-lt"/>
              </a:rPr>
              <a:t>Vẽ hình chữ nhật</a:t>
            </a:r>
            <a:r>
              <a:rPr lang="en-US" sz="3200" dirty="0">
                <a:latin typeface="+mj-lt"/>
              </a:rPr>
              <a:t>)</a:t>
            </a:r>
            <a:r>
              <a:rPr lang="vi-VN" sz="3200" dirty="0">
                <a:latin typeface="+mj-lt"/>
              </a:rPr>
              <a:t>, </a:t>
            </a:r>
            <a:r>
              <a:rPr lang="vi-VN" sz="3200" b="1" dirty="0">
                <a:latin typeface="+mj-lt"/>
              </a:rPr>
              <a:t>Draw Line</a:t>
            </a:r>
            <a:r>
              <a:rPr lang="en-US" sz="3200" b="1" dirty="0">
                <a:latin typeface="+mj-lt"/>
              </a:rPr>
              <a:t> </a:t>
            </a:r>
            <a:r>
              <a:rPr lang="en-US" sz="3200" dirty="0">
                <a:latin typeface="+mj-lt"/>
              </a:rPr>
              <a:t>(</a:t>
            </a:r>
            <a:r>
              <a:rPr lang="vi-VN" sz="3200" dirty="0">
                <a:latin typeface="+mj-lt"/>
              </a:rPr>
              <a:t>Vẽ đường thẳng</a:t>
            </a:r>
            <a:r>
              <a:rPr lang="en-US" sz="3200" dirty="0">
                <a:latin typeface="+mj-lt"/>
              </a:rPr>
              <a:t>)</a:t>
            </a:r>
            <a:r>
              <a:rPr lang="vi-VN" sz="3200" dirty="0">
                <a:latin typeface="+mj-lt"/>
              </a:rPr>
              <a:t> và Thuộc tính. Mục menu Thuộc tính sẽ bao gồm hai mục menu con, </a:t>
            </a:r>
            <a:r>
              <a:rPr lang="en-US" sz="3200" b="1" dirty="0">
                <a:latin typeface="+mj-lt"/>
              </a:rPr>
              <a:t>Page setup </a:t>
            </a:r>
            <a:r>
              <a:rPr lang="en-US" sz="3200" dirty="0">
                <a:latin typeface="+mj-lt"/>
              </a:rPr>
              <a:t>(</a:t>
            </a:r>
            <a:r>
              <a:rPr lang="vi-VN" sz="3200" dirty="0">
                <a:latin typeface="+mj-lt"/>
              </a:rPr>
              <a:t>Thiết lập trang</a:t>
            </a:r>
            <a:r>
              <a:rPr lang="en-US" sz="3200" dirty="0">
                <a:latin typeface="+mj-lt"/>
              </a:rPr>
              <a:t>)</a:t>
            </a:r>
            <a:r>
              <a:rPr lang="vi-VN" sz="3200" dirty="0">
                <a:latin typeface="+mj-lt"/>
              </a:rPr>
              <a:t> và</a:t>
            </a:r>
            <a:r>
              <a:rPr lang="en-US" sz="3200" dirty="0">
                <a:latin typeface="+mj-lt"/>
              </a:rPr>
              <a:t> </a:t>
            </a:r>
            <a:r>
              <a:rPr lang="en-US" sz="3200" b="1" dirty="0">
                <a:latin typeface="+mj-lt"/>
              </a:rPr>
              <a:t>Set Password</a:t>
            </a:r>
            <a:r>
              <a:rPr lang="en-US" sz="3200" dirty="0">
                <a:latin typeface="+mj-lt"/>
              </a:rPr>
              <a:t> (</a:t>
            </a:r>
            <a:r>
              <a:rPr lang="vi-VN" sz="3200" dirty="0">
                <a:latin typeface="+mj-lt"/>
              </a:rPr>
              <a:t>Đặt mật khẩu</a:t>
            </a:r>
            <a:r>
              <a:rPr lang="en-US" sz="3200" dirty="0">
                <a:latin typeface="+mj-lt"/>
              </a:rPr>
              <a:t>)</a:t>
            </a:r>
            <a:r>
              <a:rPr lang="vi-VN" sz="3200" dirty="0">
                <a:latin typeface="+mj-lt"/>
              </a:rPr>
              <a:t>. Menu thứ hai, Chỉnh sửa, sẽ bao gồm ba mục menu, </a:t>
            </a:r>
            <a:r>
              <a:rPr lang="en-US" sz="3200" b="1" dirty="0">
                <a:latin typeface="Times New Roman" panose="02020603050405020304" pitchFamily="18" charset="0"/>
                <a:cs typeface="Times New Roman" panose="02020603050405020304" pitchFamily="18" charset="0"/>
              </a:rPr>
              <a:t>Cut</a:t>
            </a:r>
            <a:r>
              <a:rPr lang="en-US" sz="3200" dirty="0">
                <a:latin typeface="+mj-lt"/>
              </a:rPr>
              <a:t> (</a:t>
            </a:r>
            <a:r>
              <a:rPr lang="vi-VN" sz="3200" dirty="0">
                <a:latin typeface="+mj-lt"/>
              </a:rPr>
              <a:t>Cắt</a:t>
            </a:r>
            <a:r>
              <a:rPr lang="en-US" sz="3200" dirty="0">
                <a:latin typeface="+mj-lt"/>
              </a:rPr>
              <a:t>)</a:t>
            </a:r>
            <a:r>
              <a:rPr lang="vi-VN" sz="3200" dirty="0">
                <a:latin typeface="+mj-lt"/>
              </a:rPr>
              <a:t>,</a:t>
            </a:r>
            <a:r>
              <a:rPr lang="en-US" sz="3200" b="1" dirty="0">
                <a:latin typeface="Times New Roman" panose="02020603050405020304" pitchFamily="18" charset="0"/>
                <a:cs typeface="Times New Roman" panose="02020603050405020304" pitchFamily="18" charset="0"/>
              </a:rPr>
              <a:t>Copy</a:t>
            </a:r>
            <a:r>
              <a:rPr lang="en-US" sz="3200" dirty="0">
                <a:latin typeface="+mj-lt"/>
              </a:rPr>
              <a:t>(</a:t>
            </a:r>
            <a:r>
              <a:rPr lang="vi-VN" sz="3200" dirty="0">
                <a:latin typeface="+mj-lt"/>
              </a:rPr>
              <a:t>Sao chép</a:t>
            </a:r>
            <a:r>
              <a:rPr lang="en-US" sz="3200" dirty="0">
                <a:latin typeface="+mj-lt"/>
              </a:rPr>
              <a:t>)</a:t>
            </a:r>
            <a:r>
              <a:rPr lang="vi-VN" sz="3200" dirty="0">
                <a:latin typeface="+mj-lt"/>
              </a:rPr>
              <a:t> và</a:t>
            </a:r>
            <a:r>
              <a:rPr lang="en-US" sz="3200" dirty="0">
                <a:latin typeface="+mj-lt"/>
              </a:rPr>
              <a:t> </a:t>
            </a:r>
            <a:r>
              <a:rPr lang="en-US" sz="3200" b="1" dirty="0">
                <a:latin typeface="Times New Roman" panose="02020603050405020304" pitchFamily="18" charset="0"/>
                <a:cs typeface="Times New Roman" panose="02020603050405020304" pitchFamily="18" charset="0"/>
              </a:rPr>
              <a:t>Paste</a:t>
            </a:r>
            <a:r>
              <a:rPr lang="en-US" sz="3200" dirty="0">
                <a:latin typeface="+mj-lt"/>
              </a:rPr>
              <a:t> (</a:t>
            </a:r>
            <a:r>
              <a:rPr lang="vi-VN" sz="3200" dirty="0">
                <a:latin typeface="+mj-lt"/>
              </a:rPr>
              <a:t>Dán</a:t>
            </a:r>
            <a:r>
              <a:rPr lang="en-US" sz="3200" dirty="0">
                <a:latin typeface="+mj-lt"/>
              </a:rPr>
              <a:t>)</a:t>
            </a:r>
            <a:r>
              <a:rPr lang="vi-VN" sz="3200" dirty="0">
                <a:latin typeface="+mj-lt"/>
              </a:rPr>
              <a:t>. </a:t>
            </a:r>
            <a:r>
              <a:rPr lang="en-US" sz="3200" dirty="0">
                <a:latin typeface="+mj-lt"/>
              </a:rPr>
              <a:t>T</a:t>
            </a:r>
            <a:r>
              <a:rPr lang="vi-VN" sz="3200" dirty="0">
                <a:latin typeface="+mj-lt"/>
              </a:rPr>
              <a:t>ạo một ứng dụng mới để hiểu cách tạo thanh menu này một cách thực tế</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15894763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r>
              <a:rPr lang="en-US" sz="3200" dirty="0" err="1">
                <a:latin typeface="Times New Roman" panose="02020603050405020304" pitchFamily="18" charset="0"/>
                <a:cs typeface="Times New Roman" panose="02020603050405020304" pitchFamily="18" charset="0"/>
              </a:rPr>
              <a:t>Các</a:t>
            </a:r>
            <a:r>
              <a:rPr lang="en-US" sz="3200" dirty="0">
                <a:latin typeface="Times New Roman" panose="02020603050405020304" pitchFamily="18" charset="0"/>
                <a:cs typeface="Times New Roman" panose="02020603050405020304" pitchFamily="18" charset="0"/>
              </a:rPr>
              <a:t> b</a:t>
            </a:r>
            <a:r>
              <a:rPr lang="vi-VN" sz="3200" dirty="0">
                <a:latin typeface="Times New Roman" panose="02020603050405020304" pitchFamily="18" charset="0"/>
                <a:cs typeface="Times New Roman" panose="02020603050405020304" pitchFamily="18" charset="0"/>
              </a:rPr>
              <a:t>ư</a:t>
            </a:r>
            <a:r>
              <a:rPr lang="en-US" sz="3200" dirty="0" err="1">
                <a:latin typeface="Times New Roman" panose="02020603050405020304" pitchFamily="18" charset="0"/>
                <a:cs typeface="Times New Roman" panose="02020603050405020304" pitchFamily="18" charset="0"/>
              </a:rPr>
              <a:t>ớc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tạo</a:t>
            </a:r>
            <a:r>
              <a:rPr lang="en-US" sz="3200" dirty="0">
                <a:latin typeface="Times New Roman" panose="02020603050405020304" pitchFamily="18" charset="0"/>
                <a:cs typeface="Times New Roman" panose="02020603050405020304" pitchFamily="18" charset="0"/>
              </a:rPr>
              <a:t> Menu Bar:</a:t>
            </a:r>
          </a:p>
          <a:p>
            <a:pPr marL="514350" indent="-514350" algn="just">
              <a:buAutoNum type="arabicPeriod"/>
            </a:pPr>
            <a:r>
              <a:rPr lang="en-US" sz="3200" dirty="0" err="1">
                <a:latin typeface="Times New Roman" panose="02020603050405020304" pitchFamily="18" charset="0"/>
                <a:cs typeface="Times New Roman" panose="02020603050405020304" pitchFamily="18" charset="0"/>
              </a:rPr>
              <a:t>Khởi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chạy</a:t>
            </a:r>
            <a:r>
              <a:rPr lang="en-US" sz="3200" dirty="0">
                <a:latin typeface="Times New Roman" panose="02020603050405020304" pitchFamily="18" charset="0"/>
                <a:cs typeface="Times New Roman" panose="02020603050405020304" pitchFamily="18" charset="0"/>
              </a:rPr>
              <a:t> Qt Designer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tạo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ứng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dụng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dựa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trên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mẫu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Cửa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sổ</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chính</a:t>
            </a:r>
            <a:r>
              <a:rPr lang="en-US" sz="3200" dirty="0">
                <a:latin typeface="Times New Roman" panose="02020603050405020304" pitchFamily="18" charset="0"/>
                <a:cs typeface="Times New Roman" panose="02020603050405020304" pitchFamily="18" charset="0"/>
              </a:rPr>
              <a:t>.</a:t>
            </a:r>
          </a:p>
          <a:p>
            <a:pPr marL="569913" indent="0" algn="just">
              <a:buNone/>
            </a:pPr>
            <a:r>
              <a:rPr lang="vi-VN" sz="3200" dirty="0">
                <a:latin typeface="+mj-lt"/>
              </a:rPr>
              <a:t>Bạn nhận được ứng dụng mới với thanh menu mặc định vì mẫu Cửa sổ chính của Qt Designer cung cấp một cửa sổ ứng dụng chính hiển thị thanh menu theo mặc định. Thanh menu mặc định xuất hiện như trong ảnh chụp màn hình sau:</a:t>
            </a:r>
            <a:endParaRPr lang="en-US" sz="3200" dirty="0">
              <a:latin typeface="+mj-lt"/>
              <a:cs typeface="Times New Roman" panose="02020603050405020304" pitchFamily="18" charset="0"/>
            </a:endParaRPr>
          </a:p>
          <a:p>
            <a:pPr marL="0" indent="0" algn="just">
              <a:buNone/>
            </a:pPr>
            <a:endParaRPr lang="en-US" sz="3200" dirty="0">
              <a:latin typeface="+mj-lt"/>
              <a:cs typeface="Times New Roman" panose="02020603050405020304" pitchFamily="18" charset="0"/>
            </a:endParaRPr>
          </a:p>
          <a:p>
            <a:pPr marL="0" indent="0" algn="just">
              <a:buNone/>
            </a:pPr>
            <a:endParaRPr lang="en-US" sz="3200" dirty="0">
              <a:latin typeface="+mj-lt"/>
              <a:cs typeface="Times New Roman" panose="02020603050405020304" pitchFamily="18" charset="0"/>
            </a:endParaRPr>
          </a:p>
          <a:p>
            <a:pPr marL="0" indent="0" algn="just">
              <a:buNone/>
            </a:pPr>
            <a:endParaRPr lang="en-US" sz="3200" dirty="0">
              <a:latin typeface="+mj-lt"/>
              <a:cs typeface="Times New Roman" panose="02020603050405020304" pitchFamily="18" charset="0"/>
            </a:endParaRPr>
          </a:p>
          <a:p>
            <a:pPr marL="0" indent="0" algn="just">
              <a:buNone/>
            </a:pPr>
            <a:endParaRPr lang="en-US" sz="3200" dirty="0">
              <a:latin typeface="+mj-lt"/>
              <a:cs typeface="Times New Roman" panose="02020603050405020304" pitchFamily="18" charset="0"/>
            </a:endParaRPr>
          </a:p>
          <a:p>
            <a:pPr marL="0" indent="0" algn="just">
              <a:buNone/>
            </a:pPr>
            <a:endParaRPr lang="en-US" sz="3200" dirty="0">
              <a:latin typeface="+mj-lt"/>
              <a:cs typeface="Times New Roman" panose="02020603050405020304" pitchFamily="18" charset="0"/>
            </a:endParaRPr>
          </a:p>
          <a:p>
            <a:pPr marL="0" indent="0" algn="just">
              <a:buNone/>
            </a:pPr>
            <a:br>
              <a:rPr lang="vi-VN" sz="3200" dirty="0">
                <a:latin typeface="+mj-lt"/>
              </a:rPr>
            </a:br>
            <a:endParaRPr lang="en-US" sz="3200" dirty="0">
              <a:latin typeface="+mj-lt"/>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p:txBody>
      </p:sp>
      <p:pic>
        <p:nvPicPr>
          <p:cNvPr id="6" name="Picture 5" descr="sách Qt5-Python-GUI-Programming-Cookbook.pdf - Foxit Reader">
            <a:extLst>
              <a:ext uri="{FF2B5EF4-FFF2-40B4-BE49-F238E27FC236}">
                <a16:creationId xmlns:a16="http://schemas.microsoft.com/office/drawing/2014/main" id="{1E15860C-144A-4804-A7DA-F8CFF3BDAAAD}"/>
              </a:ext>
            </a:extLst>
          </p:cNvPr>
          <p:cNvPicPr>
            <a:picLocks noChangeAspect="1"/>
          </p:cNvPicPr>
          <p:nvPr/>
        </p:nvPicPr>
        <p:blipFill rotWithShape="1">
          <a:blip r:embed="rId3">
            <a:extLst>
              <a:ext uri="{28A0092B-C50C-407E-A947-70E740481C1C}">
                <a14:useLocalDpi xmlns:a14="http://schemas.microsoft.com/office/drawing/2010/main" val="0"/>
              </a:ext>
            </a:extLst>
          </a:blip>
          <a:srcRect l="27736" t="16442" r="26604" b="17318"/>
          <a:stretch/>
        </p:blipFill>
        <p:spPr>
          <a:xfrm>
            <a:off x="3174521" y="3597215"/>
            <a:ext cx="4796287" cy="3260785"/>
          </a:xfrm>
          <a:prstGeom prst="rect">
            <a:avLst/>
          </a:prstGeom>
        </p:spPr>
      </p:pic>
    </p:spTree>
    <p:extLst>
      <p:ext uri="{BB962C8B-B14F-4D97-AF65-F5344CB8AC3E}">
        <p14:creationId xmlns:p14="http://schemas.microsoft.com/office/powerpoint/2010/main" val="29772618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r>
              <a:rPr lang="en-US" sz="3200" dirty="0">
                <a:latin typeface="Times New Roman" panose="02020603050405020304" pitchFamily="18" charset="0"/>
                <a:cs typeface="Times New Roman" panose="02020603050405020304" pitchFamily="18" charset="0"/>
              </a:rPr>
              <a:t>2. </a:t>
            </a:r>
            <a:r>
              <a:rPr lang="en-US" sz="3200" dirty="0" err="1">
                <a:latin typeface="Times New Roman" panose="02020603050405020304" pitchFamily="18" charset="0"/>
                <a:cs typeface="Times New Roman" panose="02020603050405020304" pitchFamily="18" charset="0"/>
              </a:rPr>
              <a:t>Chúng</a:t>
            </a:r>
            <a:r>
              <a:rPr lang="en-US" sz="3200" dirty="0">
                <a:latin typeface="Times New Roman" panose="02020603050405020304" pitchFamily="18" charset="0"/>
                <a:cs typeface="Times New Roman" panose="02020603050405020304" pitchFamily="18" charset="0"/>
              </a:rPr>
              <a:t> ta </a:t>
            </a:r>
            <a:r>
              <a:rPr lang="en-US" sz="3200" dirty="0" err="1">
                <a:latin typeface="Times New Roman" panose="02020603050405020304" pitchFamily="18" charset="0"/>
                <a:cs typeface="Times New Roman" panose="02020603050405020304" pitchFamily="18" charset="0"/>
              </a:rPr>
              <a:t>luôn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có</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thể</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xóa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thanh</a:t>
            </a:r>
            <a:r>
              <a:rPr lang="en-US" sz="3200" dirty="0">
                <a:latin typeface="Times New Roman" panose="02020603050405020304" pitchFamily="18" charset="0"/>
                <a:cs typeface="Times New Roman" panose="02020603050405020304" pitchFamily="18" charset="0"/>
              </a:rPr>
              <a:t> menu </a:t>
            </a:r>
            <a:r>
              <a:rPr lang="en-US" sz="3200" dirty="0" err="1">
                <a:latin typeface="Times New Roman" panose="02020603050405020304" pitchFamily="18" charset="0"/>
                <a:cs typeface="Times New Roman" panose="02020603050405020304" pitchFamily="18" charset="0"/>
              </a:rPr>
              <a:t>mặc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bằng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cách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nhấp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chuột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phải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cửa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sổ</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chính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chọn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tùy</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chọn</a:t>
            </a: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Remove  Menu Bar</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từ</a:t>
            </a:r>
            <a:r>
              <a:rPr lang="en-US" sz="3200" dirty="0">
                <a:latin typeface="Times New Roman" panose="02020603050405020304" pitchFamily="18" charset="0"/>
                <a:cs typeface="Times New Roman" panose="02020603050405020304" pitchFamily="18" charset="0"/>
              </a:rPr>
              <a:t> menu </a:t>
            </a:r>
            <a:r>
              <a:rPr lang="en-US" sz="3200" dirty="0" err="1">
                <a:latin typeface="Times New Roman" panose="02020603050405020304" pitchFamily="18" charset="0"/>
                <a:cs typeface="Times New Roman" panose="02020603050405020304" pitchFamily="18" charset="0"/>
              </a:rPr>
              <a:t>ngữ</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cảnh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bật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lên</a:t>
            </a:r>
            <a:r>
              <a:rPr lang="en-US" sz="3200" dirty="0">
                <a:latin typeface="Times New Roman" panose="02020603050405020304" pitchFamily="18" charset="0"/>
                <a:cs typeface="Times New Roman" panose="02020603050405020304" pitchFamily="18" charset="0"/>
              </a:rPr>
              <a:t>.</a:t>
            </a:r>
          </a:p>
          <a:p>
            <a:pPr marL="0" indent="0" algn="just">
              <a:buNone/>
            </a:pPr>
            <a:r>
              <a:rPr lang="en-US" sz="3200" dirty="0">
                <a:latin typeface="Times New Roman" panose="02020603050405020304" pitchFamily="18" charset="0"/>
                <a:cs typeface="Times New Roman" panose="02020603050405020304" pitchFamily="18" charset="0"/>
              </a:rPr>
              <a:t>3. </a:t>
            </a:r>
            <a:r>
              <a:rPr lang="en-US" sz="3200" dirty="0" err="1">
                <a:latin typeface="Times New Roman" panose="02020603050405020304" pitchFamily="18" charset="0"/>
                <a:cs typeface="Times New Roman" panose="02020603050405020304" pitchFamily="18" charset="0"/>
              </a:rPr>
              <a:t>Bạn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cũng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có</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thể</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thêm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một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thanh</a:t>
            </a:r>
            <a:r>
              <a:rPr lang="en-US" sz="3200" dirty="0">
                <a:latin typeface="Times New Roman" panose="02020603050405020304" pitchFamily="18" charset="0"/>
                <a:cs typeface="Times New Roman" panose="02020603050405020304" pitchFamily="18" charset="0"/>
              </a:rPr>
              <a:t> menu </a:t>
            </a:r>
            <a:r>
              <a:rPr lang="en-US" sz="3200" dirty="0" err="1">
                <a:latin typeface="Times New Roman" panose="02020603050405020304" pitchFamily="18" charset="0"/>
                <a:cs typeface="Times New Roman" panose="02020603050405020304" pitchFamily="18" charset="0"/>
              </a:rPr>
              <a:t>sau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bằng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cách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chọn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tùy</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chọn</a:t>
            </a: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Create Menu Bar </a:t>
            </a:r>
            <a:r>
              <a:rPr lang="en-US" sz="3200" dirty="0" err="1">
                <a:latin typeface="Times New Roman" panose="02020603050405020304" pitchFamily="18" charset="0"/>
                <a:cs typeface="Times New Roman" panose="02020603050405020304" pitchFamily="18" charset="0"/>
              </a:rPr>
              <a:t>từ</a:t>
            </a:r>
            <a:r>
              <a:rPr lang="en-US" sz="3200" dirty="0">
                <a:latin typeface="Times New Roman" panose="02020603050405020304" pitchFamily="18" charset="0"/>
                <a:cs typeface="Times New Roman" panose="02020603050405020304" pitchFamily="18" charset="0"/>
              </a:rPr>
              <a:t> menu </a:t>
            </a:r>
            <a:r>
              <a:rPr lang="en-US" sz="3200" dirty="0" err="1">
                <a:latin typeface="Times New Roman" panose="02020603050405020304" pitchFamily="18" charset="0"/>
                <a:cs typeface="Times New Roman" panose="02020603050405020304" pitchFamily="18" charset="0"/>
              </a:rPr>
              <a:t>ngữ</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cảnh</a:t>
            </a:r>
            <a:r>
              <a:rPr lang="en-US" sz="3200" dirty="0">
                <a:latin typeface="Times New Roman" panose="02020603050405020304" pitchFamily="18" charset="0"/>
                <a:cs typeface="Times New Roman" panose="02020603050405020304" pitchFamily="18" charset="0"/>
              </a:rPr>
              <a:t>.</a:t>
            </a:r>
          </a:p>
          <a:p>
            <a:pPr marL="0" indent="0" algn="just">
              <a:buNone/>
            </a:pPr>
            <a:r>
              <a:rPr lang="vi-VN" sz="3200" dirty="0">
                <a:latin typeface="+mj-lt"/>
              </a:rPr>
              <a:t>4. Nhấp vào</a:t>
            </a:r>
            <a:r>
              <a:rPr lang="en-US" sz="3200" dirty="0">
                <a:latin typeface="+mj-lt"/>
              </a:rPr>
              <a:t> </a:t>
            </a:r>
            <a:r>
              <a:rPr lang="vi-VN" sz="3200" dirty="0">
                <a:latin typeface="+mj-lt"/>
              </a:rPr>
              <a:t>trình giữ chỗ để tô sáng nó và gõ để sửa đổi </a:t>
            </a:r>
            <a:r>
              <a:rPr lang="en-US" sz="3200" dirty="0">
                <a:latin typeface="Times New Roman" panose="02020603050405020304" pitchFamily="18" charset="0"/>
                <a:cs typeface="Times New Roman" panose="02020603050405020304" pitchFamily="18" charset="0"/>
              </a:rPr>
              <a:t>text</a:t>
            </a:r>
            <a:r>
              <a:rPr lang="vi-VN" sz="3200" dirty="0">
                <a:latin typeface="+mj-lt"/>
              </a:rPr>
              <a:t> của nó. Khi bạn thêm một mục menu, Type Here xuất hiện bên dưới mục menu mới.</a:t>
            </a:r>
            <a:br>
              <a:rPr lang="vi-VN" sz="3200" dirty="0">
                <a:latin typeface="+mj-lt"/>
              </a:rPr>
            </a:br>
            <a:r>
              <a:rPr lang="vi-VN" sz="3200" dirty="0">
                <a:latin typeface="+mj-lt"/>
              </a:rPr>
              <a:t>5. Một lần nữa, chỉ cần nhấp chuột trái vào trình giữ chỗ Type Here để chọn nó</a:t>
            </a:r>
            <a:r>
              <a:rPr lang="en-US" sz="3200" dirty="0">
                <a:latin typeface="+mj-lt"/>
              </a:rPr>
              <a:t>,</a:t>
            </a:r>
            <a:r>
              <a:rPr lang="vi-VN" sz="3200" dirty="0">
                <a:latin typeface="+mj-lt"/>
              </a:rPr>
              <a:t> chỉ cần nhập </a:t>
            </a:r>
            <a:r>
              <a:rPr lang="en-US" sz="3200" dirty="0">
                <a:latin typeface="Times New Roman" panose="02020603050405020304" pitchFamily="18" charset="0"/>
                <a:cs typeface="Times New Roman" panose="02020603050405020304" pitchFamily="18" charset="0"/>
              </a:rPr>
              <a:t>text</a:t>
            </a:r>
            <a:r>
              <a:rPr lang="en-US" sz="3200" dirty="0">
                <a:latin typeface="+mj-lt"/>
              </a:rPr>
              <a:t> </a:t>
            </a:r>
            <a:r>
              <a:rPr lang="vi-VN" sz="3200" dirty="0">
                <a:latin typeface="+mj-lt"/>
              </a:rPr>
              <a:t>cho mục menu tiếp theo.</a:t>
            </a:r>
            <a:endParaRPr lang="en-US" sz="3200" dirty="0">
              <a:latin typeface="+mj-lt"/>
            </a:endParaRPr>
          </a:p>
          <a:p>
            <a:pPr marL="0" indent="0" algn="just">
              <a:buNone/>
            </a:pPr>
            <a:endParaRPr lang="en-US" sz="3200" dirty="0">
              <a:latin typeface="+mj-lt"/>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55079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r>
              <a:rPr lang="vi-VN" sz="3200" dirty="0">
                <a:latin typeface="+mj-lt"/>
              </a:rPr>
              <a:t>6. Bạn có thể xóa bất kỳ mục trình đơn nào bằng cách nhấp chuột phải vào mục đó và từ menu ngữ cảnh bật lên, chọn tùy chọn Remove Action action_name.</a:t>
            </a:r>
            <a:endParaRPr lang="en-US" sz="3200" dirty="0">
              <a:latin typeface="+mj-lt"/>
            </a:endParaRPr>
          </a:p>
          <a:p>
            <a:pPr marL="0" indent="0" algn="just">
              <a:buNone/>
            </a:pPr>
            <a:r>
              <a:rPr lang="vi-VN" sz="3200" dirty="0">
                <a:latin typeface="+mj-lt"/>
              </a:rPr>
              <a:t>Các menu và các mục menu trong thanh menu có thể được sắp xếp bằng cách kéo và thả chúng vào vị trí mong muốn.</a:t>
            </a:r>
            <a:endParaRPr lang="en-US" sz="3200" dirty="0">
              <a:latin typeface="+mj-lt"/>
            </a:endParaRPr>
          </a:p>
          <a:p>
            <a:pPr marL="0" indent="0" algn="just">
              <a:buNone/>
            </a:pPr>
            <a:r>
              <a:rPr lang="vi-VN" sz="3200" dirty="0">
                <a:latin typeface="+mj-lt"/>
              </a:rPr>
              <a:t>Trong khi viết menu hoặc menu item text, nếu bạn thêm ký tự dấu</a:t>
            </a:r>
            <a:r>
              <a:rPr lang="en-US" sz="3200" dirty="0">
                <a:latin typeface="+mj-lt"/>
              </a:rPr>
              <a:t> (&amp;)</a:t>
            </a:r>
            <a:r>
              <a:rPr lang="vi-VN" sz="3200" dirty="0">
                <a:latin typeface="+mj-lt"/>
              </a:rPr>
              <a:t> trước bất kỳ ký tự nào, ký tự đó trong menu sẽ xuất hiện dưới dạng gạch chân và sẽ được coi là phím tắt. Chúng ta cũng sẽ tìm hiểu cách gán phím tắt cho một mục menu sau này.</a:t>
            </a:r>
            <a:endParaRPr lang="en-US" sz="3200" dirty="0">
              <a:latin typeface="+mj-lt"/>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0299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r>
              <a:rPr lang="vi-VN" sz="3200" dirty="0">
                <a:latin typeface="+mj-lt"/>
              </a:rPr>
              <a:t>7. Khi bạn tạo một mục menu mới bằng cách thay thế các phần giữ chỗ </a:t>
            </a:r>
            <a:r>
              <a:rPr lang="vi-VN" sz="3200" b="1" dirty="0">
                <a:latin typeface="+mj-lt"/>
              </a:rPr>
              <a:t>Type Here</a:t>
            </a:r>
            <a:r>
              <a:rPr lang="vi-VN" sz="3200" dirty="0">
                <a:latin typeface="+mj-lt"/>
              </a:rPr>
              <a:t>, mục menu đó sẽ xuất hiện dưới dạng một hành động riêng lẻ trong hộp </a:t>
            </a:r>
            <a:r>
              <a:rPr lang="vi-VN" sz="3200" b="1" dirty="0">
                <a:latin typeface="+mj-lt"/>
              </a:rPr>
              <a:t>Action Editor</a:t>
            </a:r>
            <a:r>
              <a:rPr lang="vi-VN" sz="3200" dirty="0">
                <a:latin typeface="+mj-lt"/>
              </a:rPr>
              <a:t>, từ đó bạn có thể định cấu hình các thuộc tính của nó.</a:t>
            </a:r>
            <a:endParaRPr lang="en-US" sz="3200" dirty="0">
              <a:latin typeface="+mj-lt"/>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8. </a:t>
            </a:r>
            <a:r>
              <a:rPr lang="en-US" sz="3200" dirty="0" err="1">
                <a:latin typeface="Times New Roman" panose="02020603050405020304" pitchFamily="18" charset="0"/>
                <a:cs typeface="Times New Roman" panose="02020603050405020304" pitchFamily="18" charset="0"/>
              </a:rPr>
              <a:t>Nhấp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đúp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giữ</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chỗ</a:t>
            </a:r>
            <a:r>
              <a:rPr lang="en-US" sz="3200" dirty="0">
                <a:latin typeface="Times New Roman" panose="02020603050405020304" pitchFamily="18" charset="0"/>
                <a:cs typeface="Times New Roman" panose="02020603050405020304" pitchFamily="18" charset="0"/>
              </a:rPr>
              <a:t> </a:t>
            </a:r>
            <a:r>
              <a:rPr lang="vi-VN" sz="3200" b="1" dirty="0">
                <a:latin typeface="Times New Roman" panose="02020603050405020304" pitchFamily="18" charset="0"/>
                <a:cs typeface="Times New Roman" panose="02020603050405020304" pitchFamily="18" charset="0"/>
              </a:rPr>
              <a:t>Type Here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nhập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văn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bản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cho</a:t>
            </a:r>
            <a:r>
              <a:rPr lang="en-US" sz="3200" dirty="0">
                <a:latin typeface="Times New Roman" panose="02020603050405020304" pitchFamily="18" charset="0"/>
                <a:cs typeface="Times New Roman" panose="02020603050405020304" pitchFamily="18" charset="0"/>
              </a:rPr>
              <a:t> menu </a:t>
            </a:r>
            <a:r>
              <a:rPr lang="en-US" sz="3200" dirty="0" err="1">
                <a:latin typeface="Times New Roman" panose="02020603050405020304" pitchFamily="18" charset="0"/>
                <a:cs typeface="Times New Roman" panose="02020603050405020304" pitchFamily="18" charset="0"/>
              </a:rPr>
              <a:t>đầu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tiên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là</a:t>
            </a:r>
            <a:r>
              <a:rPr lang="en-US" sz="3200" dirty="0">
                <a:latin typeface="Times New Roman" panose="02020603050405020304" pitchFamily="18" charset="0"/>
                <a:cs typeface="Times New Roman" panose="02020603050405020304" pitchFamily="18" charset="0"/>
              </a:rPr>
              <a:t> Draw.</a:t>
            </a:r>
          </a:p>
          <a:p>
            <a:pPr marL="0" indent="0" algn="just">
              <a:buNone/>
            </a:pPr>
            <a:r>
              <a:rPr lang="vi-VN" sz="3200" dirty="0">
                <a:latin typeface="+mj-lt"/>
              </a:rPr>
              <a:t>Phím mũi tên xuống trên menu Draw sẽ hiển thị các tùy chọn Type Here và Add separator, như thể hiện trong ảnh chụp màn hình sau:</a:t>
            </a:r>
            <a:endParaRPr lang="en-US" sz="3200" dirty="0">
              <a:latin typeface="+mj-lt"/>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51C796A9-B3B6-4A66-AF76-DB47A10125FE}"/>
              </a:ext>
            </a:extLst>
          </p:cNvPr>
          <p:cNvPicPr>
            <a:picLocks noChangeAspect="1"/>
          </p:cNvPicPr>
          <p:nvPr/>
        </p:nvPicPr>
        <p:blipFill rotWithShape="1">
          <a:blip r:embed="rId3">
            <a:extLst>
              <a:ext uri="{28A0092B-C50C-407E-A947-70E740481C1C}">
                <a14:useLocalDpi xmlns:a14="http://schemas.microsoft.com/office/drawing/2010/main" val="0"/>
              </a:ext>
            </a:extLst>
          </a:blip>
          <a:srcRect l="28679" t="20647" r="26604" b="13814"/>
          <a:stretch/>
        </p:blipFill>
        <p:spPr>
          <a:xfrm>
            <a:off x="3847382" y="3429000"/>
            <a:ext cx="4796286" cy="3226280"/>
          </a:xfrm>
          <a:prstGeom prst="rect">
            <a:avLst/>
          </a:prstGeom>
        </p:spPr>
      </p:pic>
    </p:spTree>
    <p:extLst>
      <p:ext uri="{BB962C8B-B14F-4D97-AF65-F5344CB8AC3E}">
        <p14:creationId xmlns:p14="http://schemas.microsoft.com/office/powerpoint/2010/main" val="2614496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r>
              <a:rPr lang="vi-VN" sz="3200" dirty="0">
                <a:latin typeface="+mj-lt"/>
              </a:rPr>
              <a:t>9. Nhấp đúp vào </a:t>
            </a:r>
            <a:r>
              <a:rPr lang="vi-VN" sz="3200" b="1" dirty="0">
                <a:latin typeface="+mj-lt"/>
              </a:rPr>
              <a:t>Type</a:t>
            </a:r>
            <a:r>
              <a:rPr lang="vi-VN" sz="3200" dirty="0">
                <a:latin typeface="+mj-lt"/>
              </a:rPr>
              <a:t> </a:t>
            </a:r>
            <a:r>
              <a:rPr lang="vi-VN" sz="3200" b="1" dirty="0">
                <a:latin typeface="+mj-lt"/>
              </a:rPr>
              <a:t>Here</a:t>
            </a:r>
            <a:r>
              <a:rPr lang="vi-VN" sz="3200" dirty="0">
                <a:latin typeface="+mj-lt"/>
              </a:rPr>
              <a:t> và nhập </a:t>
            </a:r>
            <a:r>
              <a:rPr lang="vi-VN" sz="3200" b="1" dirty="0">
                <a:latin typeface="+mj-lt"/>
              </a:rPr>
              <a:t>Draw</a:t>
            </a:r>
            <a:r>
              <a:rPr lang="vi-VN" sz="3200" dirty="0">
                <a:latin typeface="+mj-lt"/>
              </a:rPr>
              <a:t> </a:t>
            </a:r>
            <a:r>
              <a:rPr lang="vi-VN" sz="3200" b="1" dirty="0">
                <a:latin typeface="+mj-lt"/>
              </a:rPr>
              <a:t>Circle</a:t>
            </a:r>
            <a:r>
              <a:rPr lang="vi-VN" sz="3200" dirty="0">
                <a:latin typeface="+mj-lt"/>
              </a:rPr>
              <a:t> cho mục menu đầu tiên trong menu </a:t>
            </a:r>
            <a:r>
              <a:rPr lang="vi-VN" sz="3200" b="1" dirty="0">
                <a:latin typeface="+mj-lt"/>
              </a:rPr>
              <a:t>Draw</a:t>
            </a:r>
            <a:r>
              <a:rPr lang="vi-VN" sz="3200" dirty="0">
                <a:latin typeface="+mj-lt"/>
              </a:rPr>
              <a:t>. Phím mũi tên xuống trên menu </a:t>
            </a:r>
            <a:r>
              <a:rPr lang="vi-VN" sz="3200" b="1" dirty="0">
                <a:latin typeface="+mj-lt"/>
              </a:rPr>
              <a:t>Draw</a:t>
            </a:r>
            <a:r>
              <a:rPr lang="vi-VN" sz="3200" dirty="0">
                <a:latin typeface="+mj-lt"/>
              </a:rPr>
              <a:t> </a:t>
            </a:r>
            <a:r>
              <a:rPr lang="vi-VN" sz="3200" b="1" dirty="0">
                <a:latin typeface="+mj-lt"/>
              </a:rPr>
              <a:t>Circle</a:t>
            </a:r>
            <a:r>
              <a:rPr lang="vi-VN" sz="3200" dirty="0">
                <a:latin typeface="+mj-lt"/>
              </a:rPr>
              <a:t> cung cấp các tùy chọn </a:t>
            </a:r>
            <a:r>
              <a:rPr lang="vi-VN" sz="3200" b="1" dirty="0">
                <a:latin typeface="+mj-lt"/>
              </a:rPr>
              <a:t>Type</a:t>
            </a:r>
            <a:r>
              <a:rPr lang="vi-VN" sz="3200" dirty="0">
                <a:latin typeface="+mj-lt"/>
              </a:rPr>
              <a:t> </a:t>
            </a:r>
            <a:r>
              <a:rPr lang="vi-VN" sz="3200" b="1" dirty="0">
                <a:latin typeface="+mj-lt"/>
              </a:rPr>
              <a:t>Here</a:t>
            </a:r>
            <a:r>
              <a:rPr lang="vi-VN" sz="3200" dirty="0">
                <a:latin typeface="+mj-lt"/>
              </a:rPr>
              <a:t> và </a:t>
            </a:r>
            <a:r>
              <a:rPr lang="vi-VN" sz="3200" b="1" dirty="0">
                <a:latin typeface="+mj-lt"/>
              </a:rPr>
              <a:t>Add</a:t>
            </a:r>
            <a:r>
              <a:rPr lang="vi-VN" sz="3200" dirty="0">
                <a:latin typeface="+mj-lt"/>
              </a:rPr>
              <a:t> </a:t>
            </a:r>
            <a:r>
              <a:rPr lang="vi-VN" sz="3200" b="1" dirty="0">
                <a:latin typeface="+mj-lt"/>
              </a:rPr>
              <a:t>Separator</a:t>
            </a:r>
            <a:r>
              <a:rPr lang="vi-VN" sz="3200" dirty="0">
                <a:latin typeface="+mj-lt"/>
              </a:rPr>
              <a:t> một lần nữa.</a:t>
            </a:r>
            <a:endParaRPr lang="en-US" sz="3200" dirty="0">
              <a:latin typeface="+mj-lt"/>
            </a:endParaRPr>
          </a:p>
          <a:p>
            <a:pPr marL="0" indent="0" algn="just">
              <a:buNone/>
            </a:pPr>
            <a:r>
              <a:rPr lang="vi-VN" sz="3200" dirty="0">
                <a:latin typeface="+mj-lt"/>
              </a:rPr>
              <a:t>10. Nhấp đúp vào </a:t>
            </a:r>
            <a:r>
              <a:rPr lang="vi-VN" sz="3200" b="1" dirty="0">
                <a:latin typeface="+mj-lt"/>
              </a:rPr>
              <a:t>Type</a:t>
            </a:r>
            <a:r>
              <a:rPr lang="vi-VN" sz="3200" dirty="0">
                <a:latin typeface="+mj-lt"/>
              </a:rPr>
              <a:t> </a:t>
            </a:r>
            <a:r>
              <a:rPr lang="vi-VN" sz="3200" b="1" dirty="0">
                <a:latin typeface="+mj-lt"/>
              </a:rPr>
              <a:t>Here</a:t>
            </a:r>
            <a:r>
              <a:rPr lang="vi-VN" sz="3200" dirty="0">
                <a:latin typeface="+mj-lt"/>
              </a:rPr>
              <a:t> và nhập </a:t>
            </a:r>
            <a:r>
              <a:rPr lang="vi-VN" sz="3200" b="1" dirty="0">
                <a:latin typeface="+mj-lt"/>
              </a:rPr>
              <a:t>Draw</a:t>
            </a:r>
            <a:r>
              <a:rPr lang="vi-VN" sz="3200" dirty="0">
                <a:latin typeface="+mj-lt"/>
              </a:rPr>
              <a:t> </a:t>
            </a:r>
            <a:r>
              <a:rPr lang="vi-VN" sz="3200" b="1" dirty="0">
                <a:latin typeface="+mj-lt"/>
              </a:rPr>
              <a:t>Rectangle</a:t>
            </a:r>
            <a:r>
              <a:rPr lang="vi-VN" sz="3200" dirty="0">
                <a:latin typeface="+mj-lt"/>
              </a:rPr>
              <a:t> cho mục menu.</a:t>
            </a:r>
            <a:endParaRPr lang="en-US" sz="3200" dirty="0">
              <a:latin typeface="+mj-lt"/>
            </a:endParaRPr>
          </a:p>
          <a:p>
            <a:pPr marL="0" indent="0" algn="just">
              <a:buNone/>
            </a:pPr>
            <a:r>
              <a:rPr lang="vi-VN" sz="3200" dirty="0">
                <a:latin typeface="+mj-lt"/>
              </a:rPr>
              <a:t>11. Nhấn phím mũi tên xuống để có hai tùy chọn </a:t>
            </a:r>
            <a:r>
              <a:rPr lang="vi-VN" sz="3200" b="1" dirty="0">
                <a:latin typeface="+mj-lt"/>
              </a:rPr>
              <a:t>Type</a:t>
            </a:r>
            <a:r>
              <a:rPr lang="vi-VN" sz="3200" dirty="0">
                <a:latin typeface="+mj-lt"/>
              </a:rPr>
              <a:t> </a:t>
            </a:r>
            <a:r>
              <a:rPr lang="vi-VN" sz="3200" b="1" dirty="0">
                <a:latin typeface="+mj-lt"/>
              </a:rPr>
              <a:t>Here</a:t>
            </a:r>
            <a:r>
              <a:rPr lang="vi-VN" sz="3200" dirty="0">
                <a:latin typeface="+mj-lt"/>
              </a:rPr>
              <a:t> và </a:t>
            </a:r>
            <a:r>
              <a:rPr lang="vi-VN" sz="3200" b="1" dirty="0">
                <a:latin typeface="+mj-lt"/>
              </a:rPr>
              <a:t>Add</a:t>
            </a:r>
            <a:r>
              <a:rPr lang="vi-VN" sz="3200" dirty="0">
                <a:latin typeface="+mj-lt"/>
              </a:rPr>
              <a:t> </a:t>
            </a:r>
            <a:r>
              <a:rPr lang="vi-VN" sz="3200" b="1" dirty="0">
                <a:latin typeface="+mj-lt"/>
              </a:rPr>
              <a:t>Separator</a:t>
            </a:r>
            <a:r>
              <a:rPr lang="vi-VN" sz="3200" dirty="0">
                <a:latin typeface="+mj-lt"/>
              </a:rPr>
              <a:t> .</a:t>
            </a:r>
            <a:endParaRPr lang="en-US" sz="3200" dirty="0">
              <a:latin typeface="+mj-lt"/>
            </a:endParaRPr>
          </a:p>
          <a:p>
            <a:pPr marL="0" indent="0" algn="just">
              <a:buNone/>
            </a:pPr>
            <a:r>
              <a:rPr lang="vi-VN" sz="3200" dirty="0">
                <a:latin typeface="+mj-lt"/>
              </a:rPr>
              <a:t>12. Nhấp đúp vào </a:t>
            </a:r>
            <a:r>
              <a:rPr lang="vi-VN" sz="3200" b="1" dirty="0">
                <a:latin typeface="+mj-lt"/>
              </a:rPr>
              <a:t>Type</a:t>
            </a:r>
            <a:r>
              <a:rPr lang="vi-VN" sz="3200" dirty="0">
                <a:latin typeface="+mj-lt"/>
              </a:rPr>
              <a:t> </a:t>
            </a:r>
            <a:r>
              <a:rPr lang="vi-VN" sz="3200" b="1" dirty="0">
                <a:latin typeface="+mj-lt"/>
              </a:rPr>
              <a:t>Here</a:t>
            </a:r>
            <a:r>
              <a:rPr lang="vi-VN" sz="3200" dirty="0">
                <a:latin typeface="+mj-lt"/>
              </a:rPr>
              <a:t> và gõ </a:t>
            </a:r>
            <a:r>
              <a:rPr lang="vi-VN" sz="3200" b="1" dirty="0">
                <a:latin typeface="+mj-lt"/>
              </a:rPr>
              <a:t>Draw</a:t>
            </a:r>
            <a:r>
              <a:rPr lang="vi-VN" sz="3200" dirty="0">
                <a:latin typeface="+mj-lt"/>
              </a:rPr>
              <a:t> </a:t>
            </a:r>
            <a:r>
              <a:rPr lang="vi-VN" sz="3200" b="1" dirty="0">
                <a:latin typeface="+mj-lt"/>
              </a:rPr>
              <a:t>Line</a:t>
            </a:r>
            <a:r>
              <a:rPr lang="vi-VN" sz="3200" dirty="0">
                <a:latin typeface="+mj-lt"/>
              </a:rPr>
              <a:t> cho mục menu thứ ba.</a:t>
            </a:r>
            <a:endParaRPr lang="en-US" sz="3200" dirty="0">
              <a:latin typeface="+mj-lt"/>
            </a:endParaRPr>
          </a:p>
          <a:p>
            <a:pPr marL="0" indent="0" algn="just">
              <a:buNone/>
            </a:pPr>
            <a:r>
              <a:rPr lang="vi-VN" sz="3200" dirty="0">
                <a:latin typeface="+mj-lt"/>
              </a:rPr>
              <a:t>13. Khi nhấn phím mũi tên xuống, một lần nữa bạn sẽ có hai tùy chọn </a:t>
            </a:r>
            <a:r>
              <a:rPr lang="vi-VN" sz="3200" b="1" dirty="0">
                <a:latin typeface="+mj-lt"/>
              </a:rPr>
              <a:t>Type</a:t>
            </a:r>
            <a:r>
              <a:rPr lang="vi-VN" sz="3200" dirty="0">
                <a:latin typeface="+mj-lt"/>
              </a:rPr>
              <a:t> </a:t>
            </a:r>
            <a:r>
              <a:rPr lang="vi-VN" sz="3200" b="1" dirty="0">
                <a:latin typeface="+mj-lt"/>
              </a:rPr>
              <a:t>Here</a:t>
            </a:r>
            <a:r>
              <a:rPr lang="vi-VN" sz="3200" dirty="0">
                <a:latin typeface="+mj-lt"/>
              </a:rPr>
              <a:t> và </a:t>
            </a:r>
            <a:r>
              <a:rPr lang="vi-VN" sz="3200" b="1" dirty="0">
                <a:latin typeface="+mj-lt"/>
              </a:rPr>
              <a:t>Add</a:t>
            </a:r>
            <a:r>
              <a:rPr lang="vi-VN" sz="3200" dirty="0">
                <a:latin typeface="+mj-lt"/>
              </a:rPr>
              <a:t> </a:t>
            </a:r>
            <a:r>
              <a:rPr lang="vi-VN" sz="3200" b="1" dirty="0">
                <a:latin typeface="+mj-lt"/>
              </a:rPr>
              <a:t>Separator</a:t>
            </a:r>
            <a:r>
              <a:rPr lang="vi-VN" sz="3200" dirty="0">
                <a:latin typeface="+mj-lt"/>
              </a:rPr>
              <a:t>, như hiển thị trong ảnh chụp màn hình sau:</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18738625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endParaRPr lang="en-US" sz="3200" dirty="0">
              <a:latin typeface="+mj-lt"/>
              <a:cs typeface="Times New Roman" panose="02020603050405020304" pitchFamily="18" charset="0"/>
            </a:endParaRPr>
          </a:p>
        </p:txBody>
      </p:sp>
      <p:pic>
        <p:nvPicPr>
          <p:cNvPr id="6" name="Picture 5" descr="sách Qt5-Python-GUI-Programming-Cookbook.pdf - Foxit Reader">
            <a:extLst>
              <a:ext uri="{FF2B5EF4-FFF2-40B4-BE49-F238E27FC236}">
                <a16:creationId xmlns:a16="http://schemas.microsoft.com/office/drawing/2014/main" id="{5DD1080D-F648-4D51-B7B2-8F89EDBD1929}"/>
              </a:ext>
            </a:extLst>
          </p:cNvPr>
          <p:cNvPicPr>
            <a:picLocks noChangeAspect="1"/>
          </p:cNvPicPr>
          <p:nvPr/>
        </p:nvPicPr>
        <p:blipFill rotWithShape="1">
          <a:blip r:embed="rId3">
            <a:extLst>
              <a:ext uri="{28A0092B-C50C-407E-A947-70E740481C1C}">
                <a14:useLocalDpi xmlns:a14="http://schemas.microsoft.com/office/drawing/2010/main" val="0"/>
              </a:ext>
            </a:extLst>
          </a:blip>
          <a:srcRect l="28868" t="25554" r="26226" b="8556"/>
          <a:stretch/>
        </p:blipFill>
        <p:spPr>
          <a:xfrm>
            <a:off x="327804" y="820050"/>
            <a:ext cx="7384211" cy="5774178"/>
          </a:xfrm>
          <a:prstGeom prst="rect">
            <a:avLst/>
          </a:prstGeom>
        </p:spPr>
      </p:pic>
    </p:spTree>
    <p:extLst>
      <p:ext uri="{BB962C8B-B14F-4D97-AF65-F5344CB8AC3E}">
        <p14:creationId xmlns:p14="http://schemas.microsoft.com/office/powerpoint/2010/main" val="39893689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r>
              <a:rPr lang="vi-VN" sz="3200" dirty="0">
                <a:latin typeface="+mj-lt"/>
              </a:rPr>
              <a:t>14. Chọn </a:t>
            </a:r>
            <a:r>
              <a:rPr lang="vi-VN" sz="3200" b="1" dirty="0">
                <a:latin typeface="+mj-lt"/>
              </a:rPr>
              <a:t>Add</a:t>
            </a:r>
            <a:r>
              <a:rPr lang="vi-VN" sz="3200" dirty="0">
                <a:latin typeface="+mj-lt"/>
              </a:rPr>
              <a:t> </a:t>
            </a:r>
            <a:r>
              <a:rPr lang="vi-VN" sz="3200" b="1" dirty="0">
                <a:latin typeface="+mj-lt"/>
              </a:rPr>
              <a:t>Separator</a:t>
            </a:r>
            <a:r>
              <a:rPr lang="en-US" sz="3200" dirty="0">
                <a:latin typeface="+mj-lt"/>
              </a:rPr>
              <a:t> </a:t>
            </a:r>
            <a:r>
              <a:rPr lang="vi-VN" sz="3200" dirty="0">
                <a:latin typeface="+mj-lt"/>
              </a:rPr>
              <a:t>để thêm dấu phân cách sau ba mục menu đầu tiên.</a:t>
            </a:r>
            <a:endParaRPr lang="en-US" sz="3200" dirty="0">
              <a:latin typeface="+mj-lt"/>
            </a:endParaRPr>
          </a:p>
          <a:p>
            <a:pPr marL="0" indent="0" algn="just">
              <a:buNone/>
            </a:pPr>
            <a:r>
              <a:rPr lang="vi-VN" sz="3200" dirty="0">
                <a:latin typeface="+mj-lt"/>
              </a:rPr>
              <a:t>15. Nhấn phím mũi tên xuống sau dấu phân cách và thêm một mục menu thứ tư</a:t>
            </a:r>
            <a:r>
              <a:rPr lang="en-US" sz="3200" dirty="0">
                <a:latin typeface="+mj-lt"/>
              </a:rPr>
              <a:t> </a:t>
            </a:r>
            <a:r>
              <a:rPr lang="en-US" sz="3200" dirty="0" err="1">
                <a:latin typeface="Times New Roman" panose="02020603050405020304" pitchFamily="18" charset="0"/>
                <a:cs typeface="Times New Roman" panose="02020603050405020304" pitchFamily="18" charset="0"/>
              </a:rPr>
              <a:t>là</a:t>
            </a:r>
            <a:r>
              <a:rPr lang="en-US" sz="3200" dirty="0">
                <a:latin typeface="+mj-lt"/>
              </a:rPr>
              <a:t> </a:t>
            </a:r>
            <a:r>
              <a:rPr lang="en-US" sz="3200" b="1" dirty="0">
                <a:latin typeface="Times New Roman" panose="02020603050405020304" pitchFamily="18" charset="0"/>
                <a:cs typeface="Times New Roman" panose="02020603050405020304" pitchFamily="18" charset="0"/>
              </a:rPr>
              <a:t>Properties</a:t>
            </a:r>
            <a:r>
              <a:rPr lang="vi-VN" sz="3200" dirty="0">
                <a:latin typeface="+mj-lt"/>
              </a:rPr>
              <a:t>. Điều này được thực hiện bởi vì muốn</a:t>
            </a:r>
            <a:r>
              <a:rPr lang="en-US" sz="3200" dirty="0">
                <a:latin typeface="+mj-lt"/>
              </a:rPr>
              <a:t> </a:t>
            </a:r>
            <a:r>
              <a:rPr lang="en-US" sz="3200" dirty="0" err="1">
                <a:latin typeface="Times New Roman" panose="02020603050405020304" pitchFamily="18" charset="0"/>
                <a:cs typeface="Times New Roman" panose="02020603050405020304" pitchFamily="18" charset="0"/>
              </a:rPr>
              <a:t>tạo</a:t>
            </a:r>
            <a:r>
              <a:rPr lang="vi-VN" sz="3200" dirty="0">
                <a:latin typeface="+mj-lt"/>
              </a:rPr>
              <a:t> hai mục menu con cho mục menu </a:t>
            </a:r>
            <a:r>
              <a:rPr lang="en-US" sz="3200" b="1" dirty="0">
                <a:latin typeface="Times New Roman" panose="02020603050405020304" pitchFamily="18" charset="0"/>
                <a:cs typeface="Times New Roman" panose="02020603050405020304" pitchFamily="18" charset="0"/>
              </a:rPr>
              <a:t>Properties</a:t>
            </a:r>
            <a:r>
              <a:rPr lang="vi-VN" sz="3200" dirty="0">
                <a:latin typeface="+mj-lt"/>
              </a:rPr>
              <a:t>.</a:t>
            </a:r>
            <a:endParaRPr lang="en-US" sz="3200" dirty="0">
              <a:latin typeface="+mj-lt"/>
            </a:endParaRPr>
          </a:p>
          <a:p>
            <a:pPr marL="0" indent="0" algn="just">
              <a:buNone/>
            </a:pPr>
            <a:r>
              <a:rPr lang="vi-VN" sz="3200" dirty="0">
                <a:latin typeface="+mj-lt"/>
              </a:rPr>
              <a:t>16. Chọn mũi tên phải để thêm các mục menu con vào menu </a:t>
            </a:r>
            <a:r>
              <a:rPr lang="en-US" sz="3200" b="1" dirty="0">
                <a:latin typeface="Times New Roman" panose="02020603050405020304" pitchFamily="18" charset="0"/>
                <a:cs typeface="Times New Roman" panose="02020603050405020304" pitchFamily="18" charset="0"/>
              </a:rPr>
              <a:t>Properties</a:t>
            </a:r>
            <a:r>
              <a:rPr lang="vi-VN" sz="3200" dirty="0">
                <a:latin typeface="+mj-lt"/>
              </a:rPr>
              <a:t>.</a:t>
            </a:r>
            <a:endParaRPr lang="en-US" sz="3200" dirty="0">
              <a:latin typeface="+mj-lt"/>
            </a:endParaRPr>
          </a:p>
          <a:p>
            <a:pPr marL="0" indent="0" algn="just">
              <a:buNone/>
            </a:pPr>
            <a:r>
              <a:rPr lang="vi-VN" sz="3200" dirty="0">
                <a:latin typeface="+mj-lt"/>
              </a:rPr>
              <a:t>17. Nhấn phím mũi tên phải trên bất kỳ mục menu nào để thêm một mục menu con vào nó. Trong mục menu con, chọn </a:t>
            </a:r>
            <a:r>
              <a:rPr lang="vi-VN" sz="3200" b="1" dirty="0">
                <a:latin typeface="+mj-lt"/>
              </a:rPr>
              <a:t>Type</a:t>
            </a:r>
            <a:r>
              <a:rPr lang="vi-VN" sz="3200" dirty="0">
                <a:latin typeface="+mj-lt"/>
              </a:rPr>
              <a:t> </a:t>
            </a:r>
            <a:r>
              <a:rPr lang="vi-VN" sz="3200" b="1" dirty="0">
                <a:latin typeface="+mj-lt"/>
              </a:rPr>
              <a:t>Here</a:t>
            </a:r>
            <a:r>
              <a:rPr lang="vi-VN" sz="3200" dirty="0">
                <a:latin typeface="+mj-lt"/>
              </a:rPr>
              <a:t> và nhập menu con đầu tiên</a:t>
            </a:r>
            <a:r>
              <a:rPr lang="en-US" sz="3200" dirty="0">
                <a:latin typeface="+mj-lt"/>
              </a:rPr>
              <a:t> </a:t>
            </a:r>
            <a:r>
              <a:rPr lang="en-US" sz="3200" dirty="0" err="1">
                <a:latin typeface="Times New Roman" panose="02020603050405020304" pitchFamily="18" charset="0"/>
                <a:cs typeface="Times New Roman" panose="02020603050405020304" pitchFamily="18" charset="0"/>
              </a:rPr>
              <a:t>là</a:t>
            </a:r>
            <a:r>
              <a:rPr lang="vi-VN" sz="3200" dirty="0">
                <a:latin typeface="+mj-lt"/>
              </a:rPr>
              <a:t> </a:t>
            </a:r>
            <a:r>
              <a:rPr lang="vi-VN" sz="3200" b="1" dirty="0">
                <a:latin typeface="+mj-lt"/>
              </a:rPr>
              <a:t>Page</a:t>
            </a:r>
            <a:r>
              <a:rPr lang="vi-VN" sz="3200" dirty="0">
                <a:latin typeface="+mj-lt"/>
              </a:rPr>
              <a:t> </a:t>
            </a:r>
            <a:r>
              <a:rPr lang="vi-VN" sz="3200" b="1" dirty="0">
                <a:latin typeface="+mj-lt"/>
              </a:rPr>
              <a:t>Setup</a:t>
            </a:r>
            <a:endParaRPr lang="en-US" sz="3200" b="1" dirty="0">
              <a:latin typeface="+mj-lt"/>
              <a:cs typeface="Times New Roman" panose="02020603050405020304" pitchFamily="18" charset="0"/>
            </a:endParaRPr>
          </a:p>
        </p:txBody>
      </p:sp>
    </p:spTree>
    <p:extLst>
      <p:ext uri="{BB962C8B-B14F-4D97-AF65-F5344CB8AC3E}">
        <p14:creationId xmlns:p14="http://schemas.microsoft.com/office/powerpoint/2010/main" val="18950620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r>
              <a:rPr lang="vi-VN" sz="3200" dirty="0">
                <a:latin typeface="+mj-lt"/>
              </a:rPr>
              <a:t>18. Chọn mũi tên xuống và nhập Set Password bên dưới mục menu con Page Setup, như được hiển thị trong ảnh chụp màn hình sau:</a:t>
            </a:r>
            <a:endParaRPr lang="en-US" sz="3200" b="1" dirty="0">
              <a:latin typeface="+mj-lt"/>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C1DE03B4-277A-4C62-85F6-38554E1428C8}"/>
              </a:ext>
            </a:extLst>
          </p:cNvPr>
          <p:cNvPicPr>
            <a:picLocks noChangeAspect="1"/>
          </p:cNvPicPr>
          <p:nvPr/>
        </p:nvPicPr>
        <p:blipFill rotWithShape="1">
          <a:blip r:embed="rId3">
            <a:extLst>
              <a:ext uri="{28A0092B-C50C-407E-A947-70E740481C1C}">
                <a14:useLocalDpi xmlns:a14="http://schemas.microsoft.com/office/drawing/2010/main" val="0"/>
              </a:ext>
            </a:extLst>
          </a:blip>
          <a:srcRect l="28491" t="14689" r="26604" b="20472"/>
          <a:stretch/>
        </p:blipFill>
        <p:spPr>
          <a:xfrm>
            <a:off x="1759788" y="2014537"/>
            <a:ext cx="5883216" cy="4216841"/>
          </a:xfrm>
          <a:prstGeom prst="rect">
            <a:avLst/>
          </a:prstGeom>
        </p:spPr>
      </p:pic>
    </p:spTree>
    <p:extLst>
      <p:ext uri="{BB962C8B-B14F-4D97-AF65-F5344CB8AC3E}">
        <p14:creationId xmlns:p14="http://schemas.microsoft.com/office/powerpoint/2010/main" val="16448275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r>
              <a:rPr lang="vi-VN" sz="3200" dirty="0">
                <a:latin typeface="+mj-lt"/>
              </a:rPr>
              <a:t>19. Menu đầu tiên </a:t>
            </a:r>
            <a:r>
              <a:rPr lang="vi-VN" sz="3200" b="1" dirty="0">
                <a:latin typeface="+mj-lt"/>
              </a:rPr>
              <a:t>Draw</a:t>
            </a:r>
            <a:r>
              <a:rPr lang="vi-VN" sz="3200" dirty="0">
                <a:latin typeface="+mj-lt"/>
              </a:rPr>
              <a:t> đã hoàn thành. Bây giờ, chúng ta cần thêm một menu khác</a:t>
            </a:r>
            <a:r>
              <a:rPr lang="en-US" sz="3200" dirty="0">
                <a:latin typeface="+mj-lt"/>
              </a:rPr>
              <a:t> </a:t>
            </a:r>
            <a:r>
              <a:rPr lang="en-US" sz="3200" dirty="0" err="1">
                <a:latin typeface="Times New Roman" panose="02020603050405020304" pitchFamily="18" charset="0"/>
                <a:cs typeface="Times New Roman" panose="02020603050405020304" pitchFamily="18" charset="0"/>
              </a:rPr>
              <a:t>là</a:t>
            </a:r>
            <a:r>
              <a:rPr lang="vi-VN" sz="3200" dirty="0">
                <a:latin typeface="+mj-lt"/>
              </a:rPr>
              <a:t> </a:t>
            </a:r>
            <a:r>
              <a:rPr lang="vi-VN" sz="3200" b="1" dirty="0">
                <a:latin typeface="+mj-lt"/>
              </a:rPr>
              <a:t>Edit</a:t>
            </a:r>
            <a:r>
              <a:rPr lang="vi-VN" sz="3200" dirty="0">
                <a:latin typeface="+mj-lt"/>
              </a:rPr>
              <a:t>. Chọn menu </a:t>
            </a:r>
            <a:r>
              <a:rPr lang="vi-VN" sz="3200" b="1" dirty="0">
                <a:latin typeface="+mj-lt"/>
              </a:rPr>
              <a:t>Draw</a:t>
            </a:r>
            <a:r>
              <a:rPr lang="vi-VN" sz="3200" dirty="0">
                <a:latin typeface="+mj-lt"/>
              </a:rPr>
              <a:t> và nhấn phím mũi tên phải để cho biết rằng bạn muốn thêm menu thứ hai vào thanh menu.</a:t>
            </a:r>
            <a:br>
              <a:rPr lang="vi-VN" sz="3200" dirty="0">
                <a:latin typeface="+mj-lt"/>
              </a:rPr>
            </a:br>
            <a:r>
              <a:rPr lang="vi-VN" sz="3200" dirty="0">
                <a:latin typeface="+mj-lt"/>
              </a:rPr>
              <a:t>20. Thay thế </a:t>
            </a:r>
            <a:r>
              <a:rPr lang="vi-VN" sz="3200" b="1" dirty="0">
                <a:latin typeface="+mj-lt"/>
              </a:rPr>
              <a:t>Type</a:t>
            </a:r>
            <a:r>
              <a:rPr lang="vi-VN" sz="3200" dirty="0">
                <a:latin typeface="+mj-lt"/>
              </a:rPr>
              <a:t> </a:t>
            </a:r>
            <a:r>
              <a:rPr lang="vi-VN" sz="3200" b="1" dirty="0">
                <a:latin typeface="+mj-lt"/>
              </a:rPr>
              <a:t>Here</a:t>
            </a:r>
            <a:r>
              <a:rPr lang="vi-VN" sz="3200" dirty="0">
                <a:latin typeface="+mj-lt"/>
              </a:rPr>
              <a:t> bằng </a:t>
            </a:r>
            <a:r>
              <a:rPr lang="vi-VN" sz="3200" b="1" dirty="0">
                <a:latin typeface="+mj-lt"/>
              </a:rPr>
              <a:t>Edit</a:t>
            </a:r>
            <a:r>
              <a:rPr lang="vi-VN" sz="3200" dirty="0">
                <a:latin typeface="+mj-lt"/>
              </a:rPr>
              <a:t>.</a:t>
            </a:r>
            <a:endParaRPr lang="en-US" sz="3200" dirty="0">
              <a:latin typeface="+mj-lt"/>
            </a:endParaRPr>
          </a:p>
          <a:p>
            <a:pPr marL="0" indent="0" algn="just">
              <a:buNone/>
            </a:pPr>
            <a:r>
              <a:rPr lang="vi-VN" sz="3200" dirty="0">
                <a:latin typeface="+mj-lt"/>
              </a:rPr>
              <a:t>21. Nhấn mũi tên xuống và thêm ba mục menu, </a:t>
            </a:r>
            <a:r>
              <a:rPr lang="vi-VN" sz="3200" b="1" dirty="0">
                <a:latin typeface="+mj-lt"/>
              </a:rPr>
              <a:t>Cut</a:t>
            </a:r>
            <a:r>
              <a:rPr lang="vi-VN" sz="3200" dirty="0">
                <a:latin typeface="+mj-lt"/>
              </a:rPr>
              <a:t>, </a:t>
            </a:r>
            <a:r>
              <a:rPr lang="vi-VN" sz="3200" b="1" dirty="0">
                <a:latin typeface="+mj-lt"/>
              </a:rPr>
              <a:t>Copy</a:t>
            </a:r>
            <a:r>
              <a:rPr lang="en-US" sz="3200" b="1" dirty="0">
                <a:latin typeface="+mj-lt"/>
              </a:rPr>
              <a:t> </a:t>
            </a:r>
            <a:r>
              <a:rPr lang="vi-VN" sz="3200" dirty="0">
                <a:latin typeface="+mj-lt"/>
              </a:rPr>
              <a:t>và </a:t>
            </a:r>
            <a:r>
              <a:rPr lang="vi-VN" sz="3200" b="1" dirty="0">
                <a:latin typeface="+mj-lt"/>
              </a:rPr>
              <a:t>Paste</a:t>
            </a:r>
            <a:r>
              <a:rPr lang="vi-VN" sz="3200" dirty="0">
                <a:latin typeface="+mj-lt"/>
              </a:rPr>
              <a:t>, như thể hiện trong ảnh chụp màn hình sau:</a:t>
            </a:r>
            <a:endParaRPr lang="en-US" sz="3200" b="1" dirty="0">
              <a:latin typeface="+mj-lt"/>
              <a:cs typeface="Times New Roman" panose="02020603050405020304" pitchFamily="18" charset="0"/>
            </a:endParaRPr>
          </a:p>
        </p:txBody>
      </p:sp>
      <p:pic>
        <p:nvPicPr>
          <p:cNvPr id="6" name="Picture 5" descr="sách Qt5-Python-GUI-Programming-Cookbook.pdf - Foxit Reader">
            <a:extLst>
              <a:ext uri="{FF2B5EF4-FFF2-40B4-BE49-F238E27FC236}">
                <a16:creationId xmlns:a16="http://schemas.microsoft.com/office/drawing/2014/main" id="{5ED07E66-ADCA-4B5C-A738-8D3DF70214C6}"/>
              </a:ext>
            </a:extLst>
          </p:cNvPr>
          <p:cNvPicPr>
            <a:picLocks noChangeAspect="1"/>
          </p:cNvPicPr>
          <p:nvPr/>
        </p:nvPicPr>
        <p:blipFill rotWithShape="1">
          <a:blip r:embed="rId3">
            <a:extLst>
              <a:ext uri="{28A0092B-C50C-407E-A947-70E740481C1C}">
                <a14:useLocalDpi xmlns:a14="http://schemas.microsoft.com/office/drawing/2010/main" val="0"/>
              </a:ext>
            </a:extLst>
          </a:blip>
          <a:srcRect l="28868" t="19245" r="26226" b="15916"/>
          <a:stretch/>
        </p:blipFill>
        <p:spPr>
          <a:xfrm>
            <a:off x="3243531" y="3666225"/>
            <a:ext cx="4106175" cy="3191775"/>
          </a:xfrm>
          <a:prstGeom prst="rect">
            <a:avLst/>
          </a:prstGeom>
        </p:spPr>
      </p:pic>
    </p:spTree>
    <p:extLst>
      <p:ext uri="{BB962C8B-B14F-4D97-AF65-F5344CB8AC3E}">
        <p14:creationId xmlns:p14="http://schemas.microsoft.com/office/powerpoint/2010/main" val="19104367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r>
              <a:rPr lang="vi-VN" sz="3200" dirty="0">
                <a:latin typeface="+mj-lt"/>
              </a:rPr>
              <a:t>Các hành động cho tất cả các mục menu sẽ tự động xuất hiện trong hộp </a:t>
            </a:r>
            <a:r>
              <a:rPr lang="en-US" sz="3200" dirty="0">
                <a:latin typeface="Times New Roman" panose="02020603050405020304" pitchFamily="18" charset="0"/>
                <a:cs typeface="Times New Roman" panose="02020603050405020304" pitchFamily="18" charset="0"/>
              </a:rPr>
              <a:t>Action</a:t>
            </a:r>
            <a:r>
              <a:rPr lang="en-US" sz="3200" dirty="0">
                <a:latin typeface="+mj-lt"/>
              </a:rPr>
              <a:t> </a:t>
            </a:r>
            <a:r>
              <a:rPr lang="en-US" sz="3200" dirty="0">
                <a:latin typeface="Times New Roman" panose="02020603050405020304" pitchFamily="18" charset="0"/>
                <a:cs typeface="Times New Roman" panose="02020603050405020304" pitchFamily="18" charset="0"/>
              </a:rPr>
              <a:t>Editor</a:t>
            </a:r>
            <a:r>
              <a:rPr lang="vi-VN" sz="3200" dirty="0">
                <a:latin typeface="+mj-lt"/>
              </a:rPr>
              <a:t>, như được hiển thị trong ảnh chụp màn hình sau:</a:t>
            </a:r>
            <a:endParaRPr lang="en-US" sz="3200" dirty="0">
              <a:latin typeface="+mj-lt"/>
            </a:endParaRPr>
          </a:p>
          <a:p>
            <a:pPr marL="0" indent="0" algn="just">
              <a:buNone/>
            </a:pPr>
            <a:endParaRPr lang="en-US" sz="3200" b="1" dirty="0">
              <a:latin typeface="+mj-lt"/>
              <a:cs typeface="Times New Roman" panose="02020603050405020304" pitchFamily="18" charset="0"/>
            </a:endParaRPr>
          </a:p>
          <a:p>
            <a:pPr marL="0" indent="0" algn="just">
              <a:buNone/>
            </a:pPr>
            <a:endParaRPr lang="en-US" sz="3200" b="1" dirty="0">
              <a:latin typeface="+mj-lt"/>
              <a:cs typeface="Times New Roman" panose="02020603050405020304" pitchFamily="18" charset="0"/>
            </a:endParaRPr>
          </a:p>
          <a:p>
            <a:pPr marL="0" indent="0" algn="just">
              <a:buNone/>
            </a:pPr>
            <a:endParaRPr lang="en-US" sz="3200" b="1" dirty="0">
              <a:latin typeface="+mj-lt"/>
              <a:cs typeface="Times New Roman" panose="02020603050405020304" pitchFamily="18" charset="0"/>
            </a:endParaRPr>
          </a:p>
          <a:p>
            <a:pPr marL="0" indent="0" algn="just">
              <a:buNone/>
            </a:pPr>
            <a:endParaRPr lang="en-US" sz="3200" b="1" dirty="0">
              <a:latin typeface="+mj-lt"/>
              <a:cs typeface="Times New Roman" panose="02020603050405020304" pitchFamily="18" charset="0"/>
            </a:endParaRPr>
          </a:p>
          <a:p>
            <a:pPr marL="0" indent="0" algn="just">
              <a:buNone/>
            </a:pPr>
            <a:r>
              <a:rPr lang="vi-VN" sz="3200" dirty="0">
                <a:latin typeface="+mj-lt"/>
              </a:rPr>
              <a:t>Bạn có thể thấy rằng các tên hành động được tạo bằng cách thêm tiền tố vào hành động văn bản cho mọi văn bản trình đơn và thay thế khoảng trắng bằng dấu gạch dưới. Những hành động này có thể được sử dụng để cấu hình các mục menu.</a:t>
            </a:r>
            <a:endParaRPr lang="en-US" sz="3200" b="1" dirty="0">
              <a:latin typeface="+mj-lt"/>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EB8A5F37-AE9B-4BCC-8A9E-2FB0E5B26D74}"/>
              </a:ext>
            </a:extLst>
          </p:cNvPr>
          <p:cNvPicPr>
            <a:picLocks noChangeAspect="1"/>
          </p:cNvPicPr>
          <p:nvPr/>
        </p:nvPicPr>
        <p:blipFill rotWithShape="1">
          <a:blip r:embed="rId3">
            <a:extLst>
              <a:ext uri="{28A0092B-C50C-407E-A947-70E740481C1C}">
                <a14:useLocalDpi xmlns:a14="http://schemas.microsoft.com/office/drawing/2010/main" val="0"/>
              </a:ext>
            </a:extLst>
          </a:blip>
          <a:srcRect l="24717" t="35368" r="21698" b="25028"/>
          <a:stretch/>
        </p:blipFill>
        <p:spPr>
          <a:xfrm>
            <a:off x="1035169" y="2070338"/>
            <a:ext cx="7108167" cy="2311881"/>
          </a:xfrm>
          <a:prstGeom prst="rect">
            <a:avLst/>
          </a:prstGeom>
        </p:spPr>
      </p:pic>
    </p:spTree>
    <p:extLst>
      <p:ext uri="{BB962C8B-B14F-4D97-AF65-F5344CB8AC3E}">
        <p14:creationId xmlns:p14="http://schemas.microsoft.com/office/powerpoint/2010/main" val="14617626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r>
              <a:rPr lang="vi-VN" sz="2900" dirty="0">
                <a:latin typeface="+mj-lt"/>
              </a:rPr>
              <a:t>22. Để thêm một thông báo chú giải</a:t>
            </a:r>
            <a:r>
              <a:rPr lang="en-US" sz="2900" dirty="0">
                <a:latin typeface="+mj-lt"/>
              </a:rPr>
              <a:t> </a:t>
            </a:r>
            <a:r>
              <a:rPr lang="en-US" sz="2900" dirty="0">
                <a:latin typeface="Times New Roman" panose="02020603050405020304" pitchFamily="18" charset="0"/>
                <a:cs typeface="Times New Roman" panose="02020603050405020304" pitchFamily="18" charset="0"/>
              </a:rPr>
              <a:t>(tooltip message)</a:t>
            </a:r>
            <a:r>
              <a:rPr lang="vi-VN" sz="2900" dirty="0">
                <a:latin typeface="Times New Roman" panose="02020603050405020304" pitchFamily="18" charset="0"/>
                <a:cs typeface="Times New Roman" panose="02020603050405020304" pitchFamily="18" charset="0"/>
              </a:rPr>
              <a:t> </a:t>
            </a:r>
            <a:r>
              <a:rPr lang="vi-VN" sz="2900" dirty="0">
                <a:latin typeface="+mj-lt"/>
              </a:rPr>
              <a:t>công cụ xuất hiện khi người dùng di chuyển qua bất kỳ mục menu nào, bạn có thể sử dụng thuộc tính </a:t>
            </a:r>
            <a:r>
              <a:rPr lang="vi-VN" sz="2900" b="1" dirty="0">
                <a:latin typeface="+mj-lt"/>
              </a:rPr>
              <a:t>ToolTip</a:t>
            </a:r>
            <a:r>
              <a:rPr lang="vi-VN" sz="2900" dirty="0">
                <a:latin typeface="+mj-lt"/>
              </a:rPr>
              <a:t>.</a:t>
            </a:r>
            <a:endParaRPr lang="en-US" sz="2900" dirty="0">
              <a:latin typeface="+mj-lt"/>
            </a:endParaRPr>
          </a:p>
          <a:p>
            <a:pPr marL="0" indent="0" algn="just">
              <a:buNone/>
            </a:pPr>
            <a:r>
              <a:rPr lang="vi-VN" sz="2900" dirty="0">
                <a:latin typeface="+mj-lt"/>
              </a:rPr>
              <a:t>23. Để gán thông báo chú giải công cụ cho mục menu </a:t>
            </a:r>
            <a:r>
              <a:rPr lang="vi-VN" sz="2900" b="1" dirty="0">
                <a:latin typeface="+mj-lt"/>
              </a:rPr>
              <a:t>Draw</a:t>
            </a:r>
            <a:r>
              <a:rPr lang="vi-VN" sz="2900" dirty="0">
                <a:latin typeface="+mj-lt"/>
              </a:rPr>
              <a:t> </a:t>
            </a:r>
            <a:r>
              <a:rPr lang="vi-VN" sz="2900" b="1" dirty="0">
                <a:latin typeface="+mj-lt"/>
              </a:rPr>
              <a:t>Circle</a:t>
            </a:r>
            <a:r>
              <a:rPr lang="vi-VN" sz="2900" dirty="0">
                <a:latin typeface="+mj-lt"/>
              </a:rPr>
              <a:t> của menu </a:t>
            </a:r>
            <a:r>
              <a:rPr lang="vi-VN" sz="2900" b="1" dirty="0">
                <a:latin typeface="+mj-lt"/>
              </a:rPr>
              <a:t>Draw</a:t>
            </a:r>
            <a:r>
              <a:rPr lang="vi-VN" sz="2900" dirty="0">
                <a:latin typeface="+mj-lt"/>
              </a:rPr>
              <a:t>, chọn </a:t>
            </a:r>
            <a:r>
              <a:rPr lang="vi-VN" sz="2900" b="1" dirty="0">
                <a:latin typeface="+mj-lt"/>
              </a:rPr>
              <a:t>actionDraw_Circle </a:t>
            </a:r>
            <a:r>
              <a:rPr lang="vi-VN" sz="2900" dirty="0">
                <a:latin typeface="+mj-lt"/>
              </a:rPr>
              <a:t>trong hộp </a:t>
            </a:r>
            <a:r>
              <a:rPr lang="vi-VN" sz="2900" b="1" dirty="0">
                <a:latin typeface="+mj-lt"/>
              </a:rPr>
              <a:t>Action Editor </a:t>
            </a:r>
            <a:r>
              <a:rPr lang="vi-VN" sz="2900" dirty="0">
                <a:latin typeface="+mj-lt"/>
              </a:rPr>
              <a:t>và đặt thuộc tính </a:t>
            </a:r>
            <a:r>
              <a:rPr lang="vi-VN" sz="2900" b="1" dirty="0">
                <a:latin typeface="+mj-lt"/>
              </a:rPr>
              <a:t>ToolTip</a:t>
            </a:r>
            <a:r>
              <a:rPr lang="vi-VN" sz="2900" dirty="0">
                <a:latin typeface="+mj-lt"/>
              </a:rPr>
              <a:t> thành </a:t>
            </a:r>
            <a:r>
              <a:rPr lang="vi-VN" sz="2900" b="1" dirty="0">
                <a:latin typeface="+mj-lt"/>
              </a:rPr>
              <a:t>To draw a circle</a:t>
            </a:r>
            <a:r>
              <a:rPr lang="vi-VN" sz="2900" dirty="0">
                <a:latin typeface="+mj-lt"/>
              </a:rPr>
              <a:t>. Tương tự, bạn có thể gán tin nhắn chú giải công cụ cho tất cả các mục menu.</a:t>
            </a:r>
            <a:endParaRPr lang="en-US" sz="2900" dirty="0">
              <a:latin typeface="+mj-lt"/>
            </a:endParaRPr>
          </a:p>
          <a:p>
            <a:pPr marL="0" indent="0" algn="just">
              <a:buNone/>
            </a:pPr>
            <a:r>
              <a:rPr lang="vi-VN" sz="2900" dirty="0">
                <a:latin typeface="+mj-lt"/>
              </a:rPr>
              <a:t>24. Để gán phím tắt cho bất kỳ mục menu nào, hãy mở hành động của nó từ hộp </a:t>
            </a:r>
            <a:r>
              <a:rPr lang="vi-VN" sz="2900" b="1" dirty="0">
                <a:latin typeface="+mj-lt"/>
              </a:rPr>
              <a:t>Action Editor </a:t>
            </a:r>
            <a:r>
              <a:rPr lang="vi-VN" sz="2900" dirty="0">
                <a:latin typeface="+mj-lt"/>
              </a:rPr>
              <a:t>và nhấp vào bên trong hộp </a:t>
            </a:r>
            <a:r>
              <a:rPr lang="vi-VN" sz="2900" b="1" dirty="0">
                <a:latin typeface="+mj-lt"/>
              </a:rPr>
              <a:t>Shortcu</a:t>
            </a:r>
            <a:r>
              <a:rPr lang="vi-VN" sz="2900" dirty="0">
                <a:latin typeface="+mj-lt"/>
              </a:rPr>
              <a:t>t</a:t>
            </a:r>
            <a:r>
              <a:rPr lang="en-US" sz="2900" dirty="0">
                <a:latin typeface="+mj-lt"/>
              </a:rPr>
              <a:t> (</a:t>
            </a:r>
            <a:r>
              <a:rPr lang="vi-VN" sz="2900" dirty="0">
                <a:latin typeface="+mj-lt"/>
              </a:rPr>
              <a:t>Phím tắt</a:t>
            </a:r>
            <a:r>
              <a:rPr lang="en-US" sz="2900" dirty="0">
                <a:latin typeface="+mj-lt"/>
              </a:rPr>
              <a:t>)</a:t>
            </a:r>
            <a:r>
              <a:rPr lang="vi-VN" sz="2900" dirty="0">
                <a:latin typeface="+mj-lt"/>
              </a:rPr>
              <a:t>.</a:t>
            </a:r>
            <a:endParaRPr lang="en-US" sz="2900" dirty="0">
              <a:latin typeface="+mj-lt"/>
            </a:endParaRPr>
          </a:p>
          <a:p>
            <a:pPr marL="0" indent="0" algn="just">
              <a:buNone/>
            </a:pPr>
            <a:r>
              <a:rPr lang="vi-VN" sz="2900" dirty="0">
                <a:latin typeface="+mj-lt"/>
              </a:rPr>
              <a:t>25. Trong hộp </a:t>
            </a:r>
            <a:r>
              <a:rPr lang="vi-VN" sz="2900" b="1" dirty="0">
                <a:latin typeface="+mj-lt"/>
              </a:rPr>
              <a:t>Shortcut</a:t>
            </a:r>
            <a:r>
              <a:rPr lang="vi-VN" sz="2900" dirty="0">
                <a:latin typeface="+mj-lt"/>
              </a:rPr>
              <a:t>, bấm tổ hợp phím mà bạn muốn gán cho mục menu đã chọn. Ví dụ: nếu bạn nhấn </a:t>
            </a:r>
            <a:r>
              <a:rPr lang="vi-VN" sz="2900" b="1" dirty="0">
                <a:latin typeface="+mj-lt"/>
              </a:rPr>
              <a:t>Ctrl + C </a:t>
            </a:r>
            <a:r>
              <a:rPr lang="vi-VN" sz="2900" dirty="0">
                <a:latin typeface="+mj-lt"/>
              </a:rPr>
              <a:t>trong hộp </a:t>
            </a:r>
            <a:r>
              <a:rPr lang="vi-VN" sz="2900" b="1" dirty="0">
                <a:latin typeface="+mj-lt"/>
              </a:rPr>
              <a:t>Shortcut</a:t>
            </a:r>
            <a:r>
              <a:rPr lang="vi-VN" sz="2900" dirty="0">
                <a:latin typeface="+mj-lt"/>
              </a:rPr>
              <a:t>, </a:t>
            </a:r>
            <a:r>
              <a:rPr lang="vi-VN" sz="2900" b="1" dirty="0">
                <a:latin typeface="+mj-lt"/>
              </a:rPr>
              <a:t>Ctrl + C </a:t>
            </a:r>
            <a:r>
              <a:rPr lang="vi-VN" sz="2900" dirty="0">
                <a:latin typeface="+mj-lt"/>
              </a:rPr>
              <a:t>sẽ xuất hiện trong hộp, như hiển thị trong ảnh chụp màn hình sau :</a:t>
            </a:r>
            <a:endParaRPr lang="en-US" sz="2900" b="1" dirty="0">
              <a:latin typeface="+mj-lt"/>
              <a:cs typeface="Times New Roman" panose="02020603050405020304" pitchFamily="18" charset="0"/>
            </a:endParaRPr>
          </a:p>
        </p:txBody>
      </p:sp>
    </p:spTree>
    <p:extLst>
      <p:ext uri="{BB962C8B-B14F-4D97-AF65-F5344CB8AC3E}">
        <p14:creationId xmlns:p14="http://schemas.microsoft.com/office/powerpoint/2010/main" val="3489320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endParaRPr lang="en-US" sz="2900" b="1" dirty="0">
              <a:latin typeface="+mj-lt"/>
              <a:cs typeface="Times New Roman" panose="02020603050405020304" pitchFamily="18" charset="0"/>
            </a:endParaRPr>
          </a:p>
          <a:p>
            <a:pPr marL="0" indent="0" algn="just">
              <a:buNone/>
            </a:pPr>
            <a:endParaRPr lang="en-US" sz="2900" b="1" dirty="0">
              <a:latin typeface="+mj-lt"/>
              <a:cs typeface="Times New Roman" panose="02020603050405020304" pitchFamily="18" charset="0"/>
            </a:endParaRPr>
          </a:p>
          <a:p>
            <a:pPr marL="0" indent="0" algn="just">
              <a:buNone/>
            </a:pPr>
            <a:endParaRPr lang="en-US" sz="2900" b="1" dirty="0">
              <a:latin typeface="+mj-lt"/>
              <a:cs typeface="Times New Roman" panose="02020603050405020304" pitchFamily="18" charset="0"/>
            </a:endParaRPr>
          </a:p>
          <a:p>
            <a:pPr marL="0" indent="0" algn="just">
              <a:buNone/>
            </a:pPr>
            <a:endParaRPr lang="en-US" sz="2900" b="1" dirty="0">
              <a:latin typeface="+mj-lt"/>
              <a:cs typeface="Times New Roman" panose="02020603050405020304" pitchFamily="18" charset="0"/>
            </a:endParaRPr>
          </a:p>
          <a:p>
            <a:pPr marL="0" indent="0" algn="just">
              <a:buNone/>
            </a:pPr>
            <a:endParaRPr lang="en-US" sz="2900" b="1" dirty="0">
              <a:latin typeface="+mj-lt"/>
              <a:cs typeface="Times New Roman" panose="02020603050405020304" pitchFamily="18" charset="0"/>
            </a:endParaRPr>
          </a:p>
          <a:p>
            <a:pPr marL="0" indent="0" algn="just">
              <a:buNone/>
            </a:pPr>
            <a:r>
              <a:rPr lang="vi-VN" sz="3200" dirty="0">
                <a:latin typeface="+mj-lt"/>
              </a:rPr>
              <a:t>Bạn có thể có bất kỳ tổ hợp phím tắt nào, chẳng hạn như phím Shift +, phím Alt + và phím Ctrl + Shift + cho bất kỳ mục menu nào. Các phím tắt sẽ tự động xuất hiện với mục menu trong thanh menu. Bạn cũng có thể làm cho bất kỳ mục menu nào có thể kiểm tra được, nghĩa là, bạn có thể biến nó thành một mục menu chuyển đổi.</a:t>
            </a:r>
            <a:endParaRPr lang="en-US" sz="3200" b="1" dirty="0">
              <a:latin typeface="+mj-lt"/>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5E4F2778-980D-4A70-9079-B94C9B87BFFE}"/>
              </a:ext>
            </a:extLst>
          </p:cNvPr>
          <p:cNvPicPr>
            <a:picLocks noChangeAspect="1"/>
          </p:cNvPicPr>
          <p:nvPr/>
        </p:nvPicPr>
        <p:blipFill rotWithShape="1">
          <a:blip r:embed="rId3">
            <a:extLst>
              <a:ext uri="{28A0092B-C50C-407E-A947-70E740481C1C}">
                <a14:useLocalDpi xmlns:a14="http://schemas.microsoft.com/office/drawing/2010/main" val="0"/>
              </a:ext>
            </a:extLst>
          </a:blip>
          <a:srcRect l="33396" t="27307" r="30943" b="18019"/>
          <a:stretch/>
        </p:blipFill>
        <p:spPr>
          <a:xfrm>
            <a:off x="2346384" y="718654"/>
            <a:ext cx="4347713" cy="2524878"/>
          </a:xfrm>
          <a:prstGeom prst="rect">
            <a:avLst/>
          </a:prstGeom>
        </p:spPr>
      </p:pic>
    </p:spTree>
    <p:extLst>
      <p:ext uri="{BB962C8B-B14F-4D97-AF65-F5344CB8AC3E}">
        <p14:creationId xmlns:p14="http://schemas.microsoft.com/office/powerpoint/2010/main" val="30308882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r>
              <a:rPr lang="en-US" sz="3200" dirty="0">
                <a:latin typeface="Times New Roman" panose="02020603050405020304" pitchFamily="18" charset="0"/>
                <a:cs typeface="Times New Roman" panose="02020603050405020304" pitchFamily="18" charset="0"/>
              </a:rPr>
              <a:t>26. </a:t>
            </a:r>
            <a:r>
              <a:rPr lang="vi-VN" sz="3200" dirty="0">
                <a:latin typeface="Times New Roman" panose="02020603050405020304" pitchFamily="18" charset="0"/>
                <a:cs typeface="Times New Roman" panose="02020603050405020304" pitchFamily="18" charset="0"/>
              </a:rPr>
              <a:t>Để làm như vậy, chọn hành động của mục menu mong muốn và chọn hộp kiểm </a:t>
            </a:r>
            <a:r>
              <a:rPr lang="vi-VN" sz="3200" b="1" dirty="0">
                <a:latin typeface="Times New Roman" panose="02020603050405020304" pitchFamily="18" charset="0"/>
                <a:cs typeface="Times New Roman" panose="02020603050405020304" pitchFamily="18" charset="0"/>
              </a:rPr>
              <a:t>Checkable</a:t>
            </a:r>
            <a:r>
              <a:rPr lang="vi-VN" sz="3200" dirty="0">
                <a:latin typeface="Times New Roman" panose="02020603050405020304" pitchFamily="18" charset="0"/>
                <a:cs typeface="Times New Roman" panose="02020603050405020304" pitchFamily="18" charset="0"/>
              </a:rPr>
              <a:t> . Các hành động của từng mục menu, </a:t>
            </a:r>
            <a:r>
              <a:rPr lang="en-US" sz="3200" dirty="0">
                <a:latin typeface="Times New Roman" panose="02020603050405020304" pitchFamily="18" charset="0"/>
                <a:cs typeface="Times New Roman" panose="02020603050405020304" pitchFamily="18" charset="0"/>
              </a:rPr>
              <a:t>action name, menu </a:t>
            </a:r>
            <a:r>
              <a:rPr lang="en-US" sz="3200" dirty="0" err="1">
                <a:latin typeface="Times New Roman" panose="02020603050405020304" pitchFamily="18" charset="0"/>
                <a:cs typeface="Times New Roman" panose="02020603050405020304" pitchFamily="18" charset="0"/>
              </a:rPr>
              <a:t>text,shortcut</a:t>
            </a:r>
            <a:r>
              <a:rPr lang="en-US" sz="3200" dirty="0">
                <a:latin typeface="Times New Roman" panose="02020603050405020304" pitchFamily="18" charset="0"/>
                <a:cs typeface="Times New Roman" panose="02020603050405020304" pitchFamily="18" charset="0"/>
              </a:rPr>
              <a:t> keys, checkable status,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tooltip </a:t>
            </a:r>
            <a:r>
              <a:rPr lang="vi-VN" sz="3200" dirty="0">
                <a:latin typeface="Times New Roman" panose="02020603050405020304" pitchFamily="18" charset="0"/>
                <a:cs typeface="Times New Roman" panose="02020603050405020304" pitchFamily="18" charset="0"/>
              </a:rPr>
              <a:t>xuất hiện trong hộp Action Editor. Ảnh chụp màn hình sau đây cho thấy hành động của mục menu con </a:t>
            </a:r>
            <a:r>
              <a:rPr lang="vi-VN" sz="3200" b="1" dirty="0">
                <a:latin typeface="Times New Roman" panose="02020603050405020304" pitchFamily="18" charset="0"/>
                <a:cs typeface="Times New Roman" panose="02020603050405020304" pitchFamily="18" charset="0"/>
              </a:rPr>
              <a:t>Set Password</a:t>
            </a:r>
            <a:r>
              <a:rPr lang="vi-VN" sz="3200" dirty="0">
                <a:latin typeface="Times New Roman" panose="02020603050405020304" pitchFamily="18" charset="0"/>
                <a:cs typeface="Times New Roman" panose="02020603050405020304" pitchFamily="18" charset="0"/>
              </a:rPr>
              <a:t>, xác nhận rằng phím tắt của nó là Shift + P và có thể kiểm tra được:</a:t>
            </a:r>
            <a:endParaRPr lang="en-US" sz="3200" b="1" dirty="0">
              <a:latin typeface="Times New Roman" panose="02020603050405020304" pitchFamily="18" charset="0"/>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E240DF81-AF40-4BB1-943F-8281F3F7A8B6}"/>
              </a:ext>
            </a:extLst>
          </p:cNvPr>
          <p:cNvPicPr>
            <a:picLocks noChangeAspect="1"/>
          </p:cNvPicPr>
          <p:nvPr/>
        </p:nvPicPr>
        <p:blipFill rotWithShape="1">
          <a:blip r:embed="rId3">
            <a:extLst>
              <a:ext uri="{28A0092B-C50C-407E-A947-70E740481C1C}">
                <a14:useLocalDpi xmlns:a14="http://schemas.microsoft.com/office/drawing/2010/main" val="0"/>
              </a:ext>
            </a:extLst>
          </a:blip>
          <a:srcRect l="23963" t="33965" r="21698" b="27483"/>
          <a:stretch/>
        </p:blipFill>
        <p:spPr>
          <a:xfrm>
            <a:off x="1124803" y="4157932"/>
            <a:ext cx="6552705" cy="2436297"/>
          </a:xfrm>
          <a:prstGeom prst="rect">
            <a:avLst/>
          </a:prstGeom>
        </p:spPr>
      </p:pic>
    </p:spTree>
    <p:extLst>
      <p:ext uri="{BB962C8B-B14F-4D97-AF65-F5344CB8AC3E}">
        <p14:creationId xmlns:p14="http://schemas.microsoft.com/office/powerpoint/2010/main" val="2017592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r>
              <a:rPr lang="vi-VN" sz="3200" dirty="0">
                <a:latin typeface="+mj-lt"/>
              </a:rPr>
              <a:t>27. Đối với các mục </a:t>
            </a:r>
            <a:r>
              <a:rPr lang="en-US" sz="3200" dirty="0">
                <a:latin typeface="Times New Roman" panose="02020603050405020304" pitchFamily="18" charset="0"/>
                <a:cs typeface="Times New Roman" panose="02020603050405020304" pitchFamily="18" charset="0"/>
              </a:rPr>
              <a:t>Draw Circle, Draw Rectangle, Draw Line</a:t>
            </a:r>
            <a:r>
              <a:rPr lang="vi-VN" sz="3200" dirty="0">
                <a:latin typeface="+mj-lt"/>
              </a:rPr>
              <a:t>, chúng t</a:t>
            </a:r>
            <a:r>
              <a:rPr lang="en-US" sz="3200" dirty="0">
                <a:latin typeface="+mj-lt"/>
              </a:rPr>
              <a:t>a</a:t>
            </a:r>
            <a:r>
              <a:rPr lang="vi-VN" sz="3200" dirty="0">
                <a:latin typeface="+mj-lt"/>
              </a:rPr>
              <a:t> sẽ thêm </a:t>
            </a:r>
            <a:r>
              <a:rPr lang="en-US" sz="3200" dirty="0">
                <a:latin typeface="Times New Roman" panose="02020603050405020304" pitchFamily="18" charset="0"/>
                <a:cs typeface="Times New Roman" panose="02020603050405020304" pitchFamily="18" charset="0"/>
              </a:rPr>
              <a:t>code</a:t>
            </a:r>
            <a:r>
              <a:rPr lang="vi-VN" sz="3200" dirty="0">
                <a:latin typeface="+mj-lt"/>
              </a:rPr>
              <a:t> để vẽ vòng tròn, vẽ hình chữ nhật và vẽ một đường tương ứng.</a:t>
            </a:r>
            <a:endParaRPr lang="en-US" sz="3200" dirty="0">
              <a:latin typeface="+mj-lt"/>
            </a:endParaRPr>
          </a:p>
          <a:p>
            <a:pPr marL="0" indent="0" algn="just">
              <a:buNone/>
            </a:pPr>
            <a:r>
              <a:rPr lang="vi-VN" sz="3200" dirty="0">
                <a:latin typeface="+mj-lt"/>
              </a:rPr>
              <a:t>28. Đối với phần còn lại của các mục menu,</a:t>
            </a:r>
            <a:r>
              <a:rPr lang="en-US" sz="3200" dirty="0">
                <a:latin typeface="+mj-lt"/>
              </a:rPr>
              <a:t> </a:t>
            </a:r>
            <a:r>
              <a:rPr lang="vi-VN" sz="3200" dirty="0">
                <a:latin typeface="+mj-lt"/>
              </a:rPr>
              <a:t>muốn khi người dùng chọn bất kỳ mục nào trong số chúng, một tin nhắn văn bản xuất hiện trên </a:t>
            </a:r>
            <a:r>
              <a:rPr lang="en-US" sz="3200" dirty="0">
                <a:latin typeface="Times New Roman" panose="02020603050405020304" pitchFamily="18" charset="0"/>
                <a:cs typeface="Times New Roman" panose="02020603050405020304" pitchFamily="18" charset="0"/>
              </a:rPr>
              <a:t>form</a:t>
            </a:r>
            <a:r>
              <a:rPr lang="vi-VN" sz="3200" dirty="0">
                <a:latin typeface="+mj-lt"/>
              </a:rPr>
              <a:t> cho biết mục menu nào được chọn.</a:t>
            </a:r>
            <a:endParaRPr lang="en-US" sz="3200" dirty="0">
              <a:latin typeface="+mj-lt"/>
            </a:endParaRPr>
          </a:p>
          <a:p>
            <a:pPr marL="0" indent="0" algn="just">
              <a:buNone/>
            </a:pPr>
            <a:r>
              <a:rPr lang="vi-VN" sz="3200" dirty="0">
                <a:latin typeface="+mj-lt"/>
              </a:rPr>
              <a:t>29. Để hiển thị thông báo, hãy kéo và thả tiện ích </a:t>
            </a:r>
            <a:r>
              <a:rPr lang="vi-VN" sz="3200" b="1" dirty="0">
                <a:latin typeface="+mj-lt"/>
              </a:rPr>
              <a:t>Label</a:t>
            </a:r>
            <a:r>
              <a:rPr lang="vi-VN" sz="3200" dirty="0">
                <a:latin typeface="+mj-lt"/>
              </a:rPr>
              <a:t> vào </a:t>
            </a:r>
            <a:r>
              <a:rPr lang="en-US" sz="3200" dirty="0">
                <a:latin typeface="Times New Roman" panose="02020603050405020304" pitchFamily="18" charset="0"/>
                <a:cs typeface="Times New Roman" panose="02020603050405020304" pitchFamily="18" charset="0"/>
              </a:rPr>
              <a:t>form</a:t>
            </a:r>
            <a:r>
              <a:rPr lang="vi-VN" sz="3200" dirty="0">
                <a:latin typeface="+mj-lt"/>
              </a:rPr>
              <a:t>.</a:t>
            </a:r>
            <a:endParaRPr lang="en-US" sz="3200" dirty="0">
              <a:latin typeface="+mj-lt"/>
            </a:endParaRPr>
          </a:p>
          <a:p>
            <a:pPr marL="0" indent="0" algn="just">
              <a:buNone/>
            </a:pPr>
            <a:r>
              <a:rPr lang="vi-VN" sz="3200" dirty="0">
                <a:latin typeface="+mj-lt"/>
              </a:rPr>
              <a:t>30. Thanh menu đã hoàn thành</a:t>
            </a:r>
            <a:r>
              <a:rPr lang="en-US" sz="3200" dirty="0">
                <a:latin typeface="+mj-lt"/>
              </a:rPr>
              <a:t>,</a:t>
            </a:r>
            <a:r>
              <a:rPr lang="vi-VN" sz="3200" dirty="0">
                <a:latin typeface="+mj-lt"/>
              </a:rPr>
              <a:t> lưu ứng dụng với tên demoMothyBar.ui.</a:t>
            </a:r>
            <a:endParaRPr lang="en-US" sz="3200" dirty="0">
              <a:latin typeface="+mj-lt"/>
            </a:endParaRPr>
          </a:p>
          <a:p>
            <a:pPr marL="0" indent="0" algn="just">
              <a:buNone/>
            </a:pPr>
            <a:r>
              <a:rPr lang="vi-VN" sz="3200" dirty="0">
                <a:latin typeface="+mj-lt"/>
              </a:rPr>
              <a:t>31. </a:t>
            </a:r>
            <a:r>
              <a:rPr lang="en-US" sz="3200" dirty="0">
                <a:latin typeface="Times New Roman" panose="02020603050405020304" pitchFamily="18" charset="0"/>
                <a:cs typeface="Times New Roman" panose="02020603050405020304" pitchFamily="18" charset="0"/>
              </a:rPr>
              <a:t>S</a:t>
            </a:r>
            <a:r>
              <a:rPr lang="vi-VN" sz="3200" dirty="0">
                <a:latin typeface="+mj-lt"/>
              </a:rPr>
              <a:t>ử dụng tiện ích dòng lệnh pyuic5 để chuyển </a:t>
            </a:r>
            <a:r>
              <a:rPr lang="vi-VN" sz="3200">
                <a:latin typeface="+mj-lt"/>
              </a:rPr>
              <a:t>đổi </a:t>
            </a:r>
            <a:r>
              <a:rPr lang="en-US" sz="3200">
                <a:latin typeface="Times New Roman" panose="02020603050405020304" pitchFamily="18" charset="0"/>
                <a:cs typeface="Times New Roman" panose="02020603050405020304" pitchFamily="18" charset="0"/>
              </a:rPr>
              <a:t>file</a:t>
            </a:r>
            <a:r>
              <a:rPr lang="vi-VN" sz="3200">
                <a:latin typeface="+mj-lt"/>
              </a:rPr>
              <a:t> </a:t>
            </a:r>
            <a:r>
              <a:rPr lang="vi-VN" sz="3200" dirty="0">
                <a:latin typeface="+mj-lt"/>
              </a:rPr>
              <a:t>.ui (XML) thành </a:t>
            </a:r>
            <a:r>
              <a:rPr lang="en-US" sz="3200" dirty="0">
                <a:latin typeface="Times New Roman" panose="02020603050405020304" pitchFamily="18" charset="0"/>
                <a:cs typeface="Times New Roman" panose="02020603050405020304" pitchFamily="18" charset="0"/>
              </a:rPr>
              <a:t>code</a:t>
            </a:r>
            <a:r>
              <a:rPr lang="vi-VN" sz="3200" dirty="0">
                <a:latin typeface="+mj-lt"/>
              </a:rPr>
              <a:t> Python.</a:t>
            </a:r>
            <a:endParaRPr lang="en-US" sz="3200" b="1" dirty="0">
              <a:latin typeface="+mj-lt"/>
              <a:cs typeface="Times New Roman" panose="02020603050405020304" pitchFamily="18" charset="0"/>
            </a:endParaRPr>
          </a:p>
        </p:txBody>
      </p:sp>
    </p:spTree>
    <p:extLst>
      <p:ext uri="{BB962C8B-B14F-4D97-AF65-F5344CB8AC3E}">
        <p14:creationId xmlns:p14="http://schemas.microsoft.com/office/powerpoint/2010/main" val="18666512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r>
              <a:rPr lang="vi-VN" sz="3200" dirty="0">
                <a:latin typeface="+mj-lt"/>
              </a:rPr>
              <a:t>32. Tạo tập lệnh Python với tên callMothyBar.pyw, nhập </a:t>
            </a:r>
            <a:r>
              <a:rPr lang="en-US" sz="3200" dirty="0">
                <a:latin typeface="Times New Roman" panose="02020603050405020304" pitchFamily="18" charset="0"/>
                <a:cs typeface="Times New Roman" panose="02020603050405020304" pitchFamily="18" charset="0"/>
              </a:rPr>
              <a:t>code</a:t>
            </a:r>
            <a:r>
              <a:rPr lang="vi-VN" sz="3200" dirty="0">
                <a:latin typeface="+mj-lt"/>
              </a:rPr>
              <a:t> trước đó</a:t>
            </a:r>
            <a:r>
              <a:rPr lang="en-US" sz="3200" dirty="0">
                <a:latin typeface="+mj-lt"/>
              </a:rPr>
              <a:t> </a:t>
            </a:r>
            <a:r>
              <a:rPr lang="en-US" sz="3200" dirty="0" err="1">
                <a:latin typeface="Times New Roman" panose="02020603050405020304" pitchFamily="18" charset="0"/>
                <a:cs typeface="Times New Roman" panose="02020603050405020304" pitchFamily="18" charset="0"/>
              </a:rPr>
              <a:t>là</a:t>
            </a:r>
            <a:r>
              <a:rPr lang="vi-VN" sz="3200" dirty="0">
                <a:latin typeface="+mj-lt"/>
              </a:rPr>
              <a:t> demoMothyBar.py, để gọi menu và hiển thị tin nhắn văn bản với tiện ích </a:t>
            </a:r>
            <a:r>
              <a:rPr lang="en-US" sz="3200" dirty="0">
                <a:latin typeface="Times New Roman" panose="02020603050405020304" pitchFamily="18" charset="0"/>
                <a:cs typeface="Times New Roman" panose="02020603050405020304" pitchFamily="18" charset="0"/>
              </a:rPr>
              <a:t>Label</a:t>
            </a:r>
            <a:r>
              <a:rPr lang="vi-VN" sz="3200" dirty="0">
                <a:latin typeface="+mj-lt"/>
              </a:rPr>
              <a:t> khi chọn mục menu.</a:t>
            </a:r>
            <a:endParaRPr lang="en-US" sz="3200" dirty="0">
              <a:latin typeface="+mj-lt"/>
            </a:endParaRPr>
          </a:p>
          <a:p>
            <a:pPr marL="0" indent="0" algn="just">
              <a:buNone/>
            </a:pPr>
            <a:r>
              <a:rPr lang="vi-VN" sz="3200" dirty="0">
                <a:latin typeface="+mj-lt"/>
              </a:rPr>
              <a:t>Bạn muốn một thông báo xuất hiện cho biết mục menu nào được chọn. Ngoài ra, bạn muốn vẽ một hình tròn, hình chữ nhật và đường thẳng khi các mục menu </a:t>
            </a:r>
            <a:r>
              <a:rPr lang="en-US" sz="3200" dirty="0">
                <a:latin typeface="Times New Roman" panose="02020603050405020304" pitchFamily="18" charset="0"/>
                <a:cs typeface="Times New Roman" panose="02020603050405020304" pitchFamily="18" charset="0"/>
              </a:rPr>
              <a:t>Draw Circle, Draw Rectangle, Draw Line</a:t>
            </a:r>
            <a:r>
              <a:rPr lang="en-US" sz="3200" dirty="0">
                <a:latin typeface="+mj-lt"/>
              </a:rPr>
              <a:t> </a:t>
            </a:r>
            <a:r>
              <a:rPr lang="vi-VN" sz="3200" dirty="0">
                <a:latin typeface="+mj-lt"/>
              </a:rPr>
              <a:t>được chọn tương ứng. </a:t>
            </a:r>
            <a:r>
              <a:rPr lang="en-US" sz="3200" dirty="0">
                <a:latin typeface="Times New Roman" panose="02020603050405020304" pitchFamily="18" charset="0"/>
                <a:cs typeface="Times New Roman" panose="02020603050405020304" pitchFamily="18" charset="0"/>
              </a:rPr>
              <a:t>Code</a:t>
            </a:r>
            <a:r>
              <a:rPr lang="vi-VN" sz="3200" dirty="0">
                <a:latin typeface="+mj-lt"/>
              </a:rPr>
              <a:t> trong tập lệnh Python callMothyBar.pyw sẽ xuất hiện như sau:</a:t>
            </a:r>
            <a:endParaRPr lang="en-US" sz="3200" b="1" dirty="0">
              <a:latin typeface="+mj-lt"/>
              <a:cs typeface="Times New Roman" panose="02020603050405020304" pitchFamily="18" charset="0"/>
            </a:endParaRPr>
          </a:p>
        </p:txBody>
      </p:sp>
    </p:spTree>
    <p:extLst>
      <p:ext uri="{BB962C8B-B14F-4D97-AF65-F5344CB8AC3E}">
        <p14:creationId xmlns:p14="http://schemas.microsoft.com/office/powerpoint/2010/main" val="12560222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p:txBody>
      </p:sp>
      <p:pic>
        <p:nvPicPr>
          <p:cNvPr id="6" name="Picture 5" descr="sách Qt5-Python-GUI-Programming-Cookbook.pdf - Foxit Reader">
            <a:extLst>
              <a:ext uri="{FF2B5EF4-FFF2-40B4-BE49-F238E27FC236}">
                <a16:creationId xmlns:a16="http://schemas.microsoft.com/office/drawing/2014/main" id="{F4C22E77-B0B8-450E-9DA9-3C2B498AA374}"/>
              </a:ext>
            </a:extLst>
          </p:cNvPr>
          <p:cNvPicPr>
            <a:picLocks noChangeAspect="1"/>
          </p:cNvPicPr>
          <p:nvPr/>
        </p:nvPicPr>
        <p:blipFill rotWithShape="1">
          <a:blip r:embed="rId3">
            <a:extLst>
              <a:ext uri="{28A0092B-C50C-407E-A947-70E740481C1C}">
                <a14:useLocalDpi xmlns:a14="http://schemas.microsoft.com/office/drawing/2010/main" val="0"/>
              </a:ext>
            </a:extLst>
          </a:blip>
          <a:srcRect l="31509" t="12937" r="23397" b="7855"/>
          <a:stretch/>
        </p:blipFill>
        <p:spPr>
          <a:xfrm>
            <a:off x="448573" y="820049"/>
            <a:ext cx="8057072" cy="5967607"/>
          </a:xfrm>
          <a:prstGeom prst="rect">
            <a:avLst/>
          </a:prstGeom>
        </p:spPr>
      </p:pic>
    </p:spTree>
    <p:extLst>
      <p:ext uri="{BB962C8B-B14F-4D97-AF65-F5344CB8AC3E}">
        <p14:creationId xmlns:p14="http://schemas.microsoft.com/office/powerpoint/2010/main" val="39762205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80BC964E-3A55-41E7-AC69-D603BE43152A}"/>
              </a:ext>
            </a:extLst>
          </p:cNvPr>
          <p:cNvPicPr>
            <a:picLocks noChangeAspect="1"/>
          </p:cNvPicPr>
          <p:nvPr/>
        </p:nvPicPr>
        <p:blipFill rotWithShape="1">
          <a:blip r:embed="rId3">
            <a:extLst>
              <a:ext uri="{28A0092B-C50C-407E-A947-70E740481C1C}">
                <a14:useLocalDpi xmlns:a14="http://schemas.microsoft.com/office/drawing/2010/main" val="0"/>
              </a:ext>
            </a:extLst>
          </a:blip>
          <a:srcRect l="33585" t="16793" r="21887" b="6103"/>
          <a:stretch/>
        </p:blipFill>
        <p:spPr>
          <a:xfrm>
            <a:off x="310551" y="820049"/>
            <a:ext cx="8229600" cy="5967607"/>
          </a:xfrm>
          <a:prstGeom prst="rect">
            <a:avLst/>
          </a:prstGeom>
        </p:spPr>
      </p:pic>
    </p:spTree>
    <p:extLst>
      <p:ext uri="{BB962C8B-B14F-4D97-AF65-F5344CB8AC3E}">
        <p14:creationId xmlns:p14="http://schemas.microsoft.com/office/powerpoint/2010/main" val="12051097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13855"/>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Thanh Menu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endParaRPr lang="en-US" sz="3200" dirty="0">
              <a:latin typeface="Times New Roman" panose="02020603050405020304" pitchFamily="18" charset="0"/>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93F19309-5207-4499-8263-1964FBD9E9C1}"/>
              </a:ext>
            </a:extLst>
          </p:cNvPr>
          <p:cNvPicPr>
            <a:picLocks noChangeAspect="1"/>
          </p:cNvPicPr>
          <p:nvPr/>
        </p:nvPicPr>
        <p:blipFill rotWithShape="1">
          <a:blip r:embed="rId3">
            <a:extLst>
              <a:ext uri="{28A0092B-C50C-407E-A947-70E740481C1C}">
                <a14:useLocalDpi xmlns:a14="http://schemas.microsoft.com/office/drawing/2010/main" val="0"/>
              </a:ext>
            </a:extLst>
          </a:blip>
          <a:srcRect l="34339" t="12937" r="20755" b="47459"/>
          <a:stretch/>
        </p:blipFill>
        <p:spPr>
          <a:xfrm>
            <a:off x="759123" y="820049"/>
            <a:ext cx="7953556" cy="2992825"/>
          </a:xfrm>
          <a:prstGeom prst="rect">
            <a:avLst/>
          </a:prstGeom>
        </p:spPr>
      </p:pic>
      <p:pic>
        <p:nvPicPr>
          <p:cNvPr id="7" name="Picture 6" descr="sách Qt5-Python-GUI-Programming-Cookbook.pdf - Foxit Reader">
            <a:extLst>
              <a:ext uri="{FF2B5EF4-FFF2-40B4-BE49-F238E27FC236}">
                <a16:creationId xmlns:a16="http://schemas.microsoft.com/office/drawing/2014/main" id="{BBED08EC-DF16-44D8-A357-9EAFBF86E16B}"/>
              </a:ext>
            </a:extLst>
          </p:cNvPr>
          <p:cNvPicPr>
            <a:picLocks noChangeAspect="1"/>
          </p:cNvPicPr>
          <p:nvPr/>
        </p:nvPicPr>
        <p:blipFill rotWithShape="1">
          <a:blip r:embed="rId4">
            <a:extLst>
              <a:ext uri="{28A0092B-C50C-407E-A947-70E740481C1C}">
                <a14:useLocalDpi xmlns:a14="http://schemas.microsoft.com/office/drawing/2010/main" val="0"/>
              </a:ext>
            </a:extLst>
          </a:blip>
          <a:srcRect l="30189" t="36770" r="26226" b="42202"/>
          <a:stretch/>
        </p:blipFill>
        <p:spPr>
          <a:xfrm>
            <a:off x="41510" y="3812874"/>
            <a:ext cx="6918386" cy="2482288"/>
          </a:xfrm>
          <a:prstGeom prst="rect">
            <a:avLst/>
          </a:prstGeom>
        </p:spPr>
      </p:pic>
    </p:spTree>
    <p:extLst>
      <p:ext uri="{BB962C8B-B14F-4D97-AF65-F5344CB8AC3E}">
        <p14:creationId xmlns:p14="http://schemas.microsoft.com/office/powerpoint/2010/main" val="306691021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4809</TotalTime>
  <Words>4673</Words>
  <Application>Microsoft Office PowerPoint</Application>
  <PresentationFormat>On-screen Show (4:3)</PresentationFormat>
  <Paragraphs>229</Paragraphs>
  <Slides>48</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Calibri</vt:lpstr>
      <vt:lpstr>Calibri Light</vt:lpstr>
      <vt:lpstr>Times New Roman</vt:lpstr>
      <vt:lpstr>Wingdings</vt:lpstr>
      <vt:lpstr>Office Theme</vt:lpstr>
      <vt:lpstr>INTERFACE</vt:lpstr>
      <vt:lpstr>Nội dung</vt:lpstr>
      <vt:lpstr>Giao Diện Nhiều Tài Liệu</vt:lpstr>
      <vt:lpstr>Giao Diện Nhiều Tài Liệu</vt:lpstr>
      <vt:lpstr>Giao Diện Nhiều Tài Liệu</vt:lpstr>
      <vt:lpstr>Giao Diện Nhiều Tài Liệu</vt:lpstr>
      <vt:lpstr>Giao Diện Nhiều Tài Liệu</vt:lpstr>
      <vt:lpstr>Giao Diện Nhiều Tài Liệu</vt:lpstr>
      <vt:lpstr>Giao Diện Nhiều Tài Liệu</vt:lpstr>
      <vt:lpstr>Giao Diện Nhiều Tài Liệu</vt:lpstr>
      <vt:lpstr>Giao Diện Nhiều Tài Liệu</vt:lpstr>
      <vt:lpstr>Giao Diện Nhiều Tài Liệu</vt:lpstr>
      <vt:lpstr>Giao Diện Nhiều Tài Liệu</vt:lpstr>
      <vt:lpstr>Giao Diện Nhiều Tài Liệu</vt:lpstr>
      <vt:lpstr>Giao Diện Nhiều Tài Liệu</vt:lpstr>
      <vt:lpstr>Giao Diện Nhiều Tài Liệu</vt:lpstr>
      <vt:lpstr>Hiển Thị Thông Tin Trong Các Phần Bằng Tab Widget</vt:lpstr>
      <vt:lpstr>Hiển Thị Thông Tin Trong Các Phần Bằng Tab Widget</vt:lpstr>
      <vt:lpstr>Hiển Thị Thông Tin Trong Các Phần Bằng Tab Widget</vt:lpstr>
      <vt:lpstr>Hiển Thị Thông Tin Trong Các Phần Bằng Tab Widget</vt:lpstr>
      <vt:lpstr>Hiển Thị Thông Tin Trong Các Phần Bằng Tab Widget</vt:lpstr>
      <vt:lpstr>Hiển Thị Thông Tin Trong Các Phần Bằng Tab Widget</vt:lpstr>
      <vt:lpstr>Hiển Thị Thông Tin Trong Các Phần Bằng Tab Widget</vt:lpstr>
      <vt:lpstr>Hiển Thị Thông Tin Trong Các Phần Bằng Tab Widget</vt:lpstr>
      <vt:lpstr>Hiển Thị Thông Tin Trong Các Phần Bằng Tab Widget</vt:lpstr>
      <vt:lpstr>Hiển Thị Thông Tin Trong Các Phần Bằng Tab Widget</vt:lpstr>
      <vt:lpstr>Hiển Thị Thông Tin Trong Các Phần Bằng Tab Widget</vt:lpstr>
      <vt:lpstr>Hiển Thị Thông Tin Trong Các Phần Bằng Tab Widget</vt:lpstr>
      <vt:lpstr>Tạo Thanh Menu</vt:lpstr>
      <vt:lpstr>Tạo Thanh Menu</vt:lpstr>
      <vt:lpstr>Tạo Thanh Menu</vt:lpstr>
      <vt:lpstr>Tạo Thanh Menu</vt:lpstr>
      <vt:lpstr>Tạo Thanh Menu</vt:lpstr>
      <vt:lpstr>Tạo Thanh Menu</vt:lpstr>
      <vt:lpstr>Tạo Thanh Menu</vt:lpstr>
      <vt:lpstr>Tạo Thanh Menu</vt:lpstr>
      <vt:lpstr>Tạo Thanh Menu</vt:lpstr>
      <vt:lpstr>Tạo Thanh Menu</vt:lpstr>
      <vt:lpstr>Tạo Thanh Menu</vt:lpstr>
      <vt:lpstr>Tạo Thanh Menu</vt:lpstr>
      <vt:lpstr>Tạo Thanh Menu</vt:lpstr>
      <vt:lpstr>Tạo Thanh Menu</vt:lpstr>
      <vt:lpstr>Tạo Thanh Menu</vt:lpstr>
      <vt:lpstr>Tạo Thanh Menu</vt:lpstr>
      <vt:lpstr>Tạo Thanh Menu</vt:lpstr>
      <vt:lpstr>Tạo Thanh Menu</vt:lpstr>
      <vt:lpstr>Tạo Thanh Menu</vt:lpstr>
      <vt:lpstr>Tạo Thanh Menu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Tạo giao diện người dùng với các thành phần Qt</dc:title>
  <dc:creator>bruce shelby</dc:creator>
  <cp:lastModifiedBy>ly</cp:lastModifiedBy>
  <cp:revision>643</cp:revision>
  <dcterms:created xsi:type="dcterms:W3CDTF">2019-07-31T07:44:13Z</dcterms:created>
  <dcterms:modified xsi:type="dcterms:W3CDTF">2019-11-15T17:14:06Z</dcterms:modified>
</cp:coreProperties>
</file>