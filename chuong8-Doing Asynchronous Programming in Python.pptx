
<file path=[Content_Types].xml><?xml version="1.0" encoding="utf-8"?>
<Types xmlns="http://schemas.openxmlformats.org/package/2006/content-types">
  <Default Extension="jpeg" ContentType="image/jpe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2"/>
  </p:notesMasterIdLst>
  <p:sldIdLst>
    <p:sldId id="256" r:id="rId2"/>
    <p:sldId id="257" r:id="rId3"/>
    <p:sldId id="258" r:id="rId4"/>
    <p:sldId id="334" r:id="rId5"/>
    <p:sldId id="372" r:id="rId6"/>
    <p:sldId id="373" r:id="rId7"/>
    <p:sldId id="308" r:id="rId8"/>
    <p:sldId id="335" r:id="rId9"/>
    <p:sldId id="374" r:id="rId10"/>
    <p:sldId id="375" r:id="rId11"/>
    <p:sldId id="336" r:id="rId12"/>
    <p:sldId id="376" r:id="rId13"/>
    <p:sldId id="377" r:id="rId14"/>
    <p:sldId id="378" r:id="rId15"/>
    <p:sldId id="379" r:id="rId16"/>
    <p:sldId id="380" r:id="rId17"/>
    <p:sldId id="381" r:id="rId18"/>
    <p:sldId id="382" r:id="rId19"/>
    <p:sldId id="383" r:id="rId20"/>
    <p:sldId id="384" r:id="rId21"/>
    <p:sldId id="385" r:id="rId22"/>
    <p:sldId id="386" r:id="rId23"/>
    <p:sldId id="387" r:id="rId24"/>
    <p:sldId id="388" r:id="rId25"/>
    <p:sldId id="389" r:id="rId26"/>
    <p:sldId id="390" r:id="rId27"/>
    <p:sldId id="391" r:id="rId28"/>
    <p:sldId id="392" r:id="rId29"/>
    <p:sldId id="393" r:id="rId30"/>
    <p:sldId id="394" r:id="rId31"/>
    <p:sldId id="395" r:id="rId32"/>
    <p:sldId id="396" r:id="rId33"/>
    <p:sldId id="397" r:id="rId34"/>
    <p:sldId id="398" r:id="rId35"/>
    <p:sldId id="399" r:id="rId36"/>
    <p:sldId id="400" r:id="rId37"/>
    <p:sldId id="401" r:id="rId38"/>
    <p:sldId id="402" r:id="rId39"/>
    <p:sldId id="403" r:id="rId40"/>
    <p:sldId id="404" r:id="rId41"/>
    <p:sldId id="405" r:id="rId42"/>
    <p:sldId id="406" r:id="rId43"/>
    <p:sldId id="407" r:id="rId44"/>
    <p:sldId id="409" r:id="rId45"/>
    <p:sldId id="408" r:id="rId46"/>
    <p:sldId id="410" r:id="rId47"/>
    <p:sldId id="411" r:id="rId48"/>
    <p:sldId id="412" r:id="rId49"/>
    <p:sldId id="413" r:id="rId50"/>
    <p:sldId id="414" r:id="rId5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35C59D34-11D3-4DA4-83EF-24D8FD6300F5}">
          <p14:sldIdLst>
            <p14:sldId id="256"/>
            <p14:sldId id="257"/>
            <p14:sldId id="258"/>
            <p14:sldId id="334"/>
            <p14:sldId id="372"/>
            <p14:sldId id="373"/>
            <p14:sldId id="308"/>
            <p14:sldId id="335"/>
            <p14:sldId id="374"/>
            <p14:sldId id="375"/>
            <p14:sldId id="336"/>
            <p14:sldId id="376"/>
            <p14:sldId id="377"/>
            <p14:sldId id="378"/>
            <p14:sldId id="379"/>
            <p14:sldId id="380"/>
            <p14:sldId id="381"/>
            <p14:sldId id="382"/>
            <p14:sldId id="383"/>
            <p14:sldId id="384"/>
            <p14:sldId id="385"/>
            <p14:sldId id="386"/>
            <p14:sldId id="387"/>
            <p14:sldId id="388"/>
            <p14:sldId id="389"/>
            <p14:sldId id="390"/>
            <p14:sldId id="391"/>
            <p14:sldId id="392"/>
            <p14:sldId id="393"/>
            <p14:sldId id="394"/>
            <p14:sldId id="395"/>
            <p14:sldId id="396"/>
            <p14:sldId id="397"/>
            <p14:sldId id="398"/>
            <p14:sldId id="399"/>
            <p14:sldId id="400"/>
            <p14:sldId id="401"/>
            <p14:sldId id="402"/>
            <p14:sldId id="403"/>
            <p14:sldId id="404"/>
            <p14:sldId id="405"/>
            <p14:sldId id="406"/>
            <p14:sldId id="407"/>
            <p14:sldId id="409"/>
            <p14:sldId id="408"/>
            <p14:sldId id="410"/>
            <p14:sldId id="411"/>
            <p14:sldId id="412"/>
            <p14:sldId id="413"/>
            <p14:sldId id="414"/>
          </p14:sldIdLst>
        </p14:section>
        <p14:section name="Radio Button" id="{1A23179E-0E45-4F2B-9B2B-53C376ECD7B0}">
          <p14:sldIdLst/>
        </p14:section>
        <p14:section name="checkboxes" id="{A00EFFBC-94E6-4C6A-A3F4-16754BAD0FC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644" autoAdjust="0"/>
    <p:restoredTop sz="81952" autoAdjust="0"/>
  </p:normalViewPr>
  <p:slideViewPr>
    <p:cSldViewPr snapToGrid="0">
      <p:cViewPr varScale="1">
        <p:scale>
          <a:sx n="56" d="100"/>
          <a:sy n="56" d="100"/>
        </p:scale>
        <p:origin x="1842"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EA2B099-58B4-4AB1-94B8-C1C58CCB9DA3}" type="datetimeFigureOut">
              <a:rPr lang="en-US" smtClean="0"/>
              <a:t>11/16/2019</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DB18AA1-6D54-4DFE-8137-C54D164A4B2B}" type="slidenum">
              <a:rPr lang="en-US" smtClean="0"/>
              <a:t>‹#›</a:t>
            </a:fld>
            <a:endParaRPr lang="en-US"/>
          </a:p>
        </p:txBody>
      </p:sp>
    </p:spTree>
    <p:extLst>
      <p:ext uri="{BB962C8B-B14F-4D97-AF65-F5344CB8AC3E}">
        <p14:creationId xmlns:p14="http://schemas.microsoft.com/office/powerpoint/2010/main" val="14805927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DB18AA1-6D54-4DFE-8137-C54D164A4B2B}" type="slidenum">
              <a:rPr lang="en-US" smtClean="0"/>
              <a:t>9</a:t>
            </a:fld>
            <a:endParaRPr lang="en-US"/>
          </a:p>
        </p:txBody>
      </p:sp>
    </p:spTree>
    <p:extLst>
      <p:ext uri="{BB962C8B-B14F-4D97-AF65-F5344CB8AC3E}">
        <p14:creationId xmlns:p14="http://schemas.microsoft.com/office/powerpoint/2010/main" val="35161290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DB18AA1-6D54-4DFE-8137-C54D164A4B2B}" type="slidenum">
              <a:rPr lang="en-US" smtClean="0"/>
              <a:t>10</a:t>
            </a:fld>
            <a:endParaRPr lang="en-US"/>
          </a:p>
        </p:txBody>
      </p:sp>
    </p:spTree>
    <p:extLst>
      <p:ext uri="{BB962C8B-B14F-4D97-AF65-F5344CB8AC3E}">
        <p14:creationId xmlns:p14="http://schemas.microsoft.com/office/powerpoint/2010/main" val="7993528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893E9BC8-F243-46BB-89DF-344D1B27DC49}" type="datetimeFigureOut">
              <a:rPr lang="en-US" smtClean="0"/>
              <a:t>11/16/2019</a:t>
            </a:fld>
            <a:endParaRPr lang="en-US"/>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DF45BF12-F24D-4D4A-A4E8-28B531AFDEAA}" type="slidenum">
              <a:rPr lang="en-US" smtClean="0"/>
              <a:t>‹#›</a:t>
            </a:fld>
            <a:endParaRPr lang="en-US"/>
          </a:p>
        </p:txBody>
      </p:sp>
    </p:spTree>
    <p:extLst>
      <p:ext uri="{BB962C8B-B14F-4D97-AF65-F5344CB8AC3E}">
        <p14:creationId xmlns:p14="http://schemas.microsoft.com/office/powerpoint/2010/main" val="39202508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893E9BC8-F243-46BB-89DF-344D1B27DC49}" type="datetimeFigureOut">
              <a:rPr lang="en-US" smtClean="0"/>
              <a:t>11/16/2019</a:t>
            </a:fld>
            <a:endParaRPr lang="en-US"/>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DF45BF12-F24D-4D4A-A4E8-28B531AFDEAA}" type="slidenum">
              <a:rPr lang="en-US" smtClean="0"/>
              <a:t>‹#›</a:t>
            </a:fld>
            <a:endParaRPr lang="en-US"/>
          </a:p>
        </p:txBody>
      </p:sp>
    </p:spTree>
    <p:extLst>
      <p:ext uri="{BB962C8B-B14F-4D97-AF65-F5344CB8AC3E}">
        <p14:creationId xmlns:p14="http://schemas.microsoft.com/office/powerpoint/2010/main" val="40644733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893E9BC8-F243-46BB-89DF-344D1B27DC49}" type="datetimeFigureOut">
              <a:rPr lang="en-US" smtClean="0"/>
              <a:t>11/16/2019</a:t>
            </a:fld>
            <a:endParaRPr lang="en-US"/>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DF45BF12-F24D-4D4A-A4E8-28B531AFDEAA}" type="slidenum">
              <a:rPr lang="en-US" smtClean="0"/>
              <a:t>‹#›</a:t>
            </a:fld>
            <a:endParaRPr lang="en-US"/>
          </a:p>
        </p:txBody>
      </p:sp>
    </p:spTree>
    <p:extLst>
      <p:ext uri="{BB962C8B-B14F-4D97-AF65-F5344CB8AC3E}">
        <p14:creationId xmlns:p14="http://schemas.microsoft.com/office/powerpoint/2010/main" val="1788480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a:xfrm>
            <a:off x="628650" y="6356351"/>
            <a:ext cx="2057400" cy="365125"/>
          </a:xfrm>
          <a:prstGeom prst="rect">
            <a:avLst/>
          </a:prstGeom>
        </p:spPr>
        <p:txBody>
          <a:bodyPr/>
          <a:lstStyle/>
          <a:p>
            <a:fld id="{893E9BC8-F243-46BB-89DF-344D1B27DC49}" type="datetimeFigureOut">
              <a:rPr lang="en-US" smtClean="0"/>
              <a:t>11/16/2019</a:t>
            </a:fld>
            <a:endParaRPr lang="en-US"/>
          </a:p>
        </p:txBody>
      </p:sp>
      <p:sp>
        <p:nvSpPr>
          <p:cNvPr id="6" name="Footer Placeholder 5"/>
          <p:cNvSpPr>
            <a:spLocks noGrp="1"/>
          </p:cNvSpPr>
          <p:nvPr>
            <p:ph type="ftr" sz="quarter" idx="11"/>
          </p:nvPr>
        </p:nvSpPr>
        <p:spPr>
          <a:xfrm>
            <a:off x="3028950" y="6356351"/>
            <a:ext cx="30861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6457950" y="6356351"/>
            <a:ext cx="2057400" cy="365125"/>
          </a:xfrm>
          <a:prstGeom prst="rect">
            <a:avLst/>
          </a:prstGeom>
        </p:spPr>
        <p:txBody>
          <a:bodyPr/>
          <a:lstStyle/>
          <a:p>
            <a:fld id="{DF45BF12-F24D-4D4A-A4E8-28B531AFDEAA}" type="slidenum">
              <a:rPr lang="en-US" smtClean="0"/>
              <a:t>‹#›</a:t>
            </a:fld>
            <a:endParaRPr lang="en-US"/>
          </a:p>
        </p:txBody>
      </p:sp>
    </p:spTree>
    <p:extLst>
      <p:ext uri="{BB962C8B-B14F-4D97-AF65-F5344CB8AC3E}">
        <p14:creationId xmlns:p14="http://schemas.microsoft.com/office/powerpoint/2010/main" val="33943140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a:xfrm>
            <a:off x="628650" y="6356351"/>
            <a:ext cx="2057400" cy="365125"/>
          </a:xfrm>
          <a:prstGeom prst="rect">
            <a:avLst/>
          </a:prstGeom>
        </p:spPr>
        <p:txBody>
          <a:bodyPr/>
          <a:lstStyle/>
          <a:p>
            <a:fld id="{893E9BC8-F243-46BB-89DF-344D1B27DC49}" type="datetimeFigureOut">
              <a:rPr lang="en-US" smtClean="0"/>
              <a:t>11/16/2019</a:t>
            </a:fld>
            <a:endParaRPr lang="en-US"/>
          </a:p>
        </p:txBody>
      </p:sp>
      <p:sp>
        <p:nvSpPr>
          <p:cNvPr id="8" name="Footer Placeholder 7"/>
          <p:cNvSpPr>
            <a:spLocks noGrp="1"/>
          </p:cNvSpPr>
          <p:nvPr>
            <p:ph type="ftr" sz="quarter" idx="11"/>
          </p:nvPr>
        </p:nvSpPr>
        <p:spPr>
          <a:xfrm>
            <a:off x="3028950" y="6356351"/>
            <a:ext cx="30861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6457950" y="6356351"/>
            <a:ext cx="2057400" cy="365125"/>
          </a:xfrm>
          <a:prstGeom prst="rect">
            <a:avLst/>
          </a:prstGeom>
        </p:spPr>
        <p:txBody>
          <a:bodyPr/>
          <a:lstStyle/>
          <a:p>
            <a:fld id="{DF45BF12-F24D-4D4A-A4E8-28B531AFDEAA}" type="slidenum">
              <a:rPr lang="en-US" smtClean="0"/>
              <a:t>‹#›</a:t>
            </a:fld>
            <a:endParaRPr lang="en-US"/>
          </a:p>
        </p:txBody>
      </p:sp>
    </p:spTree>
    <p:extLst>
      <p:ext uri="{BB962C8B-B14F-4D97-AF65-F5344CB8AC3E}">
        <p14:creationId xmlns:p14="http://schemas.microsoft.com/office/powerpoint/2010/main" val="38028925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a:xfrm>
            <a:off x="628650" y="6356351"/>
            <a:ext cx="2057400" cy="365125"/>
          </a:xfrm>
          <a:prstGeom prst="rect">
            <a:avLst/>
          </a:prstGeom>
        </p:spPr>
        <p:txBody>
          <a:bodyPr/>
          <a:lstStyle/>
          <a:p>
            <a:fld id="{893E9BC8-F243-46BB-89DF-344D1B27DC49}" type="datetimeFigureOut">
              <a:rPr lang="en-US" smtClean="0"/>
              <a:t>11/16/2019</a:t>
            </a:fld>
            <a:endParaRPr lang="en-US"/>
          </a:p>
        </p:txBody>
      </p:sp>
      <p:sp>
        <p:nvSpPr>
          <p:cNvPr id="4" name="Footer Placeholder 3"/>
          <p:cNvSpPr>
            <a:spLocks noGrp="1"/>
          </p:cNvSpPr>
          <p:nvPr>
            <p:ph type="ftr" sz="quarter" idx="11"/>
          </p:nvPr>
        </p:nvSpPr>
        <p:spPr>
          <a:xfrm>
            <a:off x="3028950" y="6356351"/>
            <a:ext cx="30861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6457950" y="6356351"/>
            <a:ext cx="2057400" cy="365125"/>
          </a:xfrm>
          <a:prstGeom prst="rect">
            <a:avLst/>
          </a:prstGeom>
        </p:spPr>
        <p:txBody>
          <a:bodyPr/>
          <a:lstStyle/>
          <a:p>
            <a:fld id="{DF45BF12-F24D-4D4A-A4E8-28B531AFDEAA}" type="slidenum">
              <a:rPr lang="en-US" smtClean="0"/>
              <a:t>‹#›</a:t>
            </a:fld>
            <a:endParaRPr lang="en-US"/>
          </a:p>
        </p:txBody>
      </p:sp>
    </p:spTree>
    <p:extLst>
      <p:ext uri="{BB962C8B-B14F-4D97-AF65-F5344CB8AC3E}">
        <p14:creationId xmlns:p14="http://schemas.microsoft.com/office/powerpoint/2010/main" val="33572175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28650" y="6356351"/>
            <a:ext cx="2057400" cy="365125"/>
          </a:xfrm>
          <a:prstGeom prst="rect">
            <a:avLst/>
          </a:prstGeom>
        </p:spPr>
        <p:txBody>
          <a:bodyPr/>
          <a:lstStyle/>
          <a:p>
            <a:fld id="{893E9BC8-F243-46BB-89DF-344D1B27DC49}" type="datetimeFigureOut">
              <a:rPr lang="en-US" smtClean="0"/>
              <a:t>11/16/2019</a:t>
            </a:fld>
            <a:endParaRPr lang="en-US"/>
          </a:p>
        </p:txBody>
      </p:sp>
      <p:sp>
        <p:nvSpPr>
          <p:cNvPr id="3" name="Footer Placeholder 2"/>
          <p:cNvSpPr>
            <a:spLocks noGrp="1"/>
          </p:cNvSpPr>
          <p:nvPr>
            <p:ph type="ftr" sz="quarter" idx="11"/>
          </p:nvPr>
        </p:nvSpPr>
        <p:spPr>
          <a:xfrm>
            <a:off x="3028950" y="6356351"/>
            <a:ext cx="30861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6457950" y="6356351"/>
            <a:ext cx="2057400" cy="365125"/>
          </a:xfrm>
          <a:prstGeom prst="rect">
            <a:avLst/>
          </a:prstGeom>
        </p:spPr>
        <p:txBody>
          <a:bodyPr/>
          <a:lstStyle/>
          <a:p>
            <a:fld id="{DF45BF12-F24D-4D4A-A4E8-28B531AFDEAA}" type="slidenum">
              <a:rPr lang="en-US" smtClean="0"/>
              <a:t>‹#›</a:t>
            </a:fld>
            <a:endParaRPr lang="en-US"/>
          </a:p>
        </p:txBody>
      </p:sp>
    </p:spTree>
    <p:extLst>
      <p:ext uri="{BB962C8B-B14F-4D97-AF65-F5344CB8AC3E}">
        <p14:creationId xmlns:p14="http://schemas.microsoft.com/office/powerpoint/2010/main" val="27244887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628650" y="6356351"/>
            <a:ext cx="2057400" cy="365125"/>
          </a:xfrm>
          <a:prstGeom prst="rect">
            <a:avLst/>
          </a:prstGeom>
        </p:spPr>
        <p:txBody>
          <a:bodyPr/>
          <a:lstStyle/>
          <a:p>
            <a:fld id="{893E9BC8-F243-46BB-89DF-344D1B27DC49}" type="datetimeFigureOut">
              <a:rPr lang="en-US" smtClean="0"/>
              <a:t>11/16/2019</a:t>
            </a:fld>
            <a:endParaRPr lang="en-US"/>
          </a:p>
        </p:txBody>
      </p:sp>
      <p:sp>
        <p:nvSpPr>
          <p:cNvPr id="6" name="Footer Placeholder 5"/>
          <p:cNvSpPr>
            <a:spLocks noGrp="1"/>
          </p:cNvSpPr>
          <p:nvPr>
            <p:ph type="ftr" sz="quarter" idx="11"/>
          </p:nvPr>
        </p:nvSpPr>
        <p:spPr>
          <a:xfrm>
            <a:off x="3028950" y="6356351"/>
            <a:ext cx="30861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6457950" y="6356351"/>
            <a:ext cx="2057400" cy="365125"/>
          </a:xfrm>
          <a:prstGeom prst="rect">
            <a:avLst/>
          </a:prstGeom>
        </p:spPr>
        <p:txBody>
          <a:bodyPr/>
          <a:lstStyle/>
          <a:p>
            <a:fld id="{DF45BF12-F24D-4D4A-A4E8-28B531AFDEAA}" type="slidenum">
              <a:rPr lang="en-US" smtClean="0"/>
              <a:t>‹#›</a:t>
            </a:fld>
            <a:endParaRPr lang="en-US"/>
          </a:p>
        </p:txBody>
      </p:sp>
    </p:spTree>
    <p:extLst>
      <p:ext uri="{BB962C8B-B14F-4D97-AF65-F5344CB8AC3E}">
        <p14:creationId xmlns:p14="http://schemas.microsoft.com/office/powerpoint/2010/main" val="39159178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628650" y="6356351"/>
            <a:ext cx="2057400" cy="365125"/>
          </a:xfrm>
          <a:prstGeom prst="rect">
            <a:avLst/>
          </a:prstGeom>
        </p:spPr>
        <p:txBody>
          <a:bodyPr/>
          <a:lstStyle/>
          <a:p>
            <a:fld id="{893E9BC8-F243-46BB-89DF-344D1B27DC49}" type="datetimeFigureOut">
              <a:rPr lang="en-US" smtClean="0"/>
              <a:t>11/16/2019</a:t>
            </a:fld>
            <a:endParaRPr lang="en-US"/>
          </a:p>
        </p:txBody>
      </p:sp>
      <p:sp>
        <p:nvSpPr>
          <p:cNvPr id="6" name="Footer Placeholder 5"/>
          <p:cNvSpPr>
            <a:spLocks noGrp="1"/>
          </p:cNvSpPr>
          <p:nvPr>
            <p:ph type="ftr" sz="quarter" idx="11"/>
          </p:nvPr>
        </p:nvSpPr>
        <p:spPr>
          <a:xfrm>
            <a:off x="3028950" y="6356351"/>
            <a:ext cx="30861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6457950" y="6356351"/>
            <a:ext cx="2057400" cy="365125"/>
          </a:xfrm>
          <a:prstGeom prst="rect">
            <a:avLst/>
          </a:prstGeom>
        </p:spPr>
        <p:txBody>
          <a:bodyPr/>
          <a:lstStyle/>
          <a:p>
            <a:fld id="{DF45BF12-F24D-4D4A-A4E8-28B531AFDEAA}" type="slidenum">
              <a:rPr lang="en-US" smtClean="0"/>
              <a:t>‹#›</a:t>
            </a:fld>
            <a:endParaRPr lang="en-US"/>
          </a:p>
        </p:txBody>
      </p:sp>
    </p:spTree>
    <p:extLst>
      <p:ext uri="{BB962C8B-B14F-4D97-AF65-F5344CB8AC3E}">
        <p14:creationId xmlns:p14="http://schemas.microsoft.com/office/powerpoint/2010/main" val="1148185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893E9BC8-F243-46BB-89DF-344D1B27DC49}" type="datetimeFigureOut">
              <a:rPr lang="en-US" smtClean="0"/>
              <a:t>11/16/2019</a:t>
            </a:fld>
            <a:endParaRPr lang="en-US"/>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DF45BF12-F24D-4D4A-A4E8-28B531AFDEAA}" type="slidenum">
              <a:rPr lang="en-US" smtClean="0"/>
              <a:t>‹#›</a:t>
            </a:fld>
            <a:endParaRPr lang="en-US"/>
          </a:p>
        </p:txBody>
      </p:sp>
    </p:spTree>
    <p:extLst>
      <p:ext uri="{BB962C8B-B14F-4D97-AF65-F5344CB8AC3E}">
        <p14:creationId xmlns:p14="http://schemas.microsoft.com/office/powerpoint/2010/main" val="34349336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893E9BC8-F243-46BB-89DF-344D1B27DC49}" type="datetimeFigureOut">
              <a:rPr lang="en-US" smtClean="0"/>
              <a:t>11/16/2019</a:t>
            </a:fld>
            <a:endParaRPr lang="en-US"/>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DF45BF12-F24D-4D4A-A4E8-28B531AFDEAA}" type="slidenum">
              <a:rPr lang="en-US" smtClean="0"/>
              <a:t>‹#›</a:t>
            </a:fld>
            <a:endParaRPr lang="en-US"/>
          </a:p>
        </p:txBody>
      </p:sp>
    </p:spTree>
    <p:extLst>
      <p:ext uri="{BB962C8B-B14F-4D97-AF65-F5344CB8AC3E}">
        <p14:creationId xmlns:p14="http://schemas.microsoft.com/office/powerpoint/2010/main" val="17069325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2259" y="28244"/>
            <a:ext cx="9102490" cy="90540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259" y="1020278"/>
            <a:ext cx="9102490" cy="580947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98105053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tmp"/><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tmp"/><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tmp"/><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tmp"/><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tmp"/><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6.tmp"/><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7.tmp"/><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8.tmp"/><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9.tmp"/><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0.tmp"/><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1.tmp"/><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2.tmp"/><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3.tmp"/><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4.tmp"/><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5465AF-1E9D-4F47-A457-BB8E06933EF4}"/>
              </a:ext>
            </a:extLst>
          </p:cNvPr>
          <p:cNvSpPr>
            <a:spLocks noGrp="1"/>
          </p:cNvSpPr>
          <p:nvPr>
            <p:ph type="ctrTitle"/>
          </p:nvPr>
        </p:nvSpPr>
        <p:spPr>
          <a:xfrm>
            <a:off x="685800" y="1604501"/>
            <a:ext cx="7772400" cy="2387600"/>
          </a:xfrm>
        </p:spPr>
        <p:txBody>
          <a:bodyPr>
            <a:noAutofit/>
          </a:bodyPr>
          <a:lstStyle/>
          <a:p>
            <a:r>
              <a:rPr lang="en-US" dirty="0">
                <a:latin typeface="Times New Roman" panose="02020603050405020304" pitchFamily="18" charset="0"/>
                <a:cs typeface="Times New Roman" panose="02020603050405020304" pitchFamily="18" charset="0"/>
              </a:rPr>
              <a:t>LẬP TRÌNH KHÔNG ĐỒNG BỘ TRONG PYTHON</a:t>
            </a:r>
          </a:p>
        </p:txBody>
      </p:sp>
    </p:spTree>
    <p:extLst>
      <p:ext uri="{BB962C8B-B14F-4D97-AF65-F5344CB8AC3E}">
        <p14:creationId xmlns:p14="http://schemas.microsoft.com/office/powerpoint/2010/main" val="1594278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9958F1-071A-4A8D-8390-AD8C3E95F272}"/>
              </a:ext>
            </a:extLst>
          </p:cNvPr>
          <p:cNvSpPr>
            <a:spLocks noGrp="1"/>
          </p:cNvSpPr>
          <p:nvPr>
            <p:ph type="title"/>
          </p:nvPr>
        </p:nvSpPr>
        <p:spPr/>
        <p:txBody>
          <a:bodyPr/>
          <a:lstStyle/>
          <a:p>
            <a:r>
              <a:rPr lang="en-US" dirty="0" err="1">
                <a:latin typeface="Times New Roman" panose="02020603050405020304" pitchFamily="18" charset="0"/>
                <a:cs typeface="Times New Roman" panose="02020603050405020304" pitchFamily="18" charset="0"/>
              </a:rPr>
              <a:t>Nội</a:t>
            </a:r>
            <a:r>
              <a:rPr lang="en-US" dirty="0">
                <a:latin typeface="Times New Roman" panose="02020603050405020304" pitchFamily="18" charset="0"/>
                <a:cs typeface="Times New Roman" panose="02020603050405020304" pitchFamily="18" charset="0"/>
              </a:rPr>
              <a:t> dung</a:t>
            </a:r>
          </a:p>
        </p:txBody>
      </p:sp>
      <p:sp>
        <p:nvSpPr>
          <p:cNvPr id="3" name="Content Placeholder 2">
            <a:extLst>
              <a:ext uri="{FF2B5EF4-FFF2-40B4-BE49-F238E27FC236}">
                <a16:creationId xmlns:a16="http://schemas.microsoft.com/office/drawing/2014/main" id="{BE9A2F4A-DFA5-41F5-BD92-39E9675D4196}"/>
              </a:ext>
            </a:extLst>
          </p:cNvPr>
          <p:cNvSpPr>
            <a:spLocks noGrp="1"/>
          </p:cNvSpPr>
          <p:nvPr>
            <p:ph idx="1"/>
          </p:nvPr>
        </p:nvSpPr>
        <p:spPr/>
        <p:txBody>
          <a:bodyPr/>
          <a:lstStyle/>
          <a:p>
            <a:pPr marL="0" indent="0">
              <a:buNone/>
            </a:pPr>
            <a:r>
              <a:rPr lang="en-US" sz="3200" dirty="0" err="1">
                <a:latin typeface="Times New Roman" panose="02020603050405020304" pitchFamily="18" charset="0"/>
                <a:cs typeface="Times New Roman" panose="02020603050405020304" pitchFamily="18" charset="0"/>
              </a:rPr>
              <a:t>Chúng</a:t>
            </a:r>
            <a:r>
              <a:rPr lang="en-US" sz="3200" dirty="0">
                <a:latin typeface="Times New Roman" panose="02020603050405020304" pitchFamily="18" charset="0"/>
                <a:cs typeface="Times New Roman" panose="02020603050405020304" pitchFamily="18" charset="0"/>
              </a:rPr>
              <a:t> </a:t>
            </a:r>
            <a:r>
              <a:rPr lang="vi-VN" sz="3200" dirty="0">
                <a:latin typeface="Times New Roman" panose="02020603050405020304" pitchFamily="18" charset="0"/>
                <a:cs typeface="Times New Roman" panose="02020603050405020304" pitchFamily="18" charset="0"/>
              </a:rPr>
              <a:t>ta sẽ</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tìm</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hiểu</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nội</a:t>
            </a:r>
            <a:r>
              <a:rPr lang="en-US" sz="3200" dirty="0">
                <a:latin typeface="Times New Roman" panose="02020603050405020304" pitchFamily="18" charset="0"/>
                <a:cs typeface="Times New Roman" panose="02020603050405020304" pitchFamily="18" charset="0"/>
              </a:rPr>
              <a:t> dung </a:t>
            </a:r>
            <a:r>
              <a:rPr lang="en-US" sz="3200" dirty="0" err="1">
                <a:latin typeface="Times New Roman" panose="02020603050405020304" pitchFamily="18" charset="0"/>
                <a:cs typeface="Times New Roman" panose="02020603050405020304" pitchFamily="18" charset="0"/>
              </a:rPr>
              <a:t>nh</a:t>
            </a:r>
            <a:r>
              <a:rPr lang="vi-VN" sz="3200" dirty="0">
                <a:latin typeface="Times New Roman" panose="02020603050405020304" pitchFamily="18" charset="0"/>
                <a:cs typeface="Times New Roman" panose="02020603050405020304" pitchFamily="18" charset="0"/>
              </a:rPr>
              <a:t>ư</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sau</a:t>
            </a:r>
            <a:r>
              <a:rPr lang="vi-VN" sz="3200" dirty="0">
                <a:latin typeface="Times New Roman" panose="02020603050405020304" pitchFamily="18" charset="0"/>
                <a:cs typeface="Times New Roman" panose="02020603050405020304" pitchFamily="18" charset="0"/>
              </a:rPr>
              <a:t>:</a:t>
            </a:r>
          </a:p>
          <a:p>
            <a:r>
              <a:rPr lang="vi-VN" sz="3200" dirty="0">
                <a:latin typeface="Times New Roman" panose="02020603050405020304" pitchFamily="18" charset="0"/>
                <a:cs typeface="Times New Roman" panose="02020603050405020304" pitchFamily="18" charset="0"/>
              </a:rPr>
              <a:t>Cập nhật một thanh tiến trình bằng cách sử dụng</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một</a:t>
            </a:r>
            <a:r>
              <a:rPr lang="en-US" sz="3200" dirty="0">
                <a:latin typeface="Times New Roman" panose="02020603050405020304" pitchFamily="18" charset="0"/>
                <a:cs typeface="Times New Roman" panose="02020603050405020304" pitchFamily="18" charset="0"/>
              </a:rPr>
              <a:t> thread (</a:t>
            </a:r>
            <a:r>
              <a:rPr lang="en-US" sz="3200" dirty="0" err="1">
                <a:latin typeface="Times New Roman" panose="02020603050405020304" pitchFamily="18" charset="0"/>
                <a:cs typeface="Times New Roman" panose="02020603050405020304" pitchFamily="18" charset="0"/>
              </a:rPr>
              <a:t>luồng</a:t>
            </a:r>
            <a:r>
              <a:rPr lang="en-US" sz="3200" dirty="0">
                <a:latin typeface="Times New Roman" panose="02020603050405020304" pitchFamily="18" charset="0"/>
                <a:cs typeface="Times New Roman" panose="02020603050405020304" pitchFamily="18" charset="0"/>
              </a:rPr>
              <a:t>)</a:t>
            </a:r>
            <a:endParaRPr lang="vi-VN" sz="3200" dirty="0">
              <a:latin typeface="Times New Roman" panose="02020603050405020304" pitchFamily="18" charset="0"/>
              <a:cs typeface="Times New Roman" panose="02020603050405020304" pitchFamily="18" charset="0"/>
            </a:endParaRPr>
          </a:p>
          <a:p>
            <a:r>
              <a:rPr lang="vi-VN" sz="3200" dirty="0">
                <a:latin typeface="Times New Roman" panose="02020603050405020304" pitchFamily="18" charset="0"/>
                <a:cs typeface="Times New Roman" panose="02020603050405020304" pitchFamily="18" charset="0"/>
              </a:rPr>
              <a:t>Cập nhật hai thanh tiến trình bằng hai luồng</a:t>
            </a:r>
          </a:p>
          <a:p>
            <a:r>
              <a:rPr lang="vi-VN" sz="3200" dirty="0">
                <a:latin typeface="Times New Roman" panose="02020603050405020304" pitchFamily="18" charset="0"/>
                <a:cs typeface="Times New Roman" panose="02020603050405020304" pitchFamily="18" charset="0"/>
              </a:rPr>
              <a:t>Cập nhật các thanh tiến trình bằng cách sử dụng các luồng bị ràng buộc với một cơ chế khóa</a:t>
            </a:r>
          </a:p>
          <a:p>
            <a:r>
              <a:rPr lang="vi-VN" sz="3200" dirty="0">
                <a:latin typeface="Times New Roman" panose="02020603050405020304" pitchFamily="18" charset="0"/>
                <a:cs typeface="Times New Roman" panose="02020603050405020304" pitchFamily="18" charset="0"/>
              </a:rPr>
              <a:t>Cập nhật các thanh tiến trình đồng thời bằng các hoạt động không đồng bộ</a:t>
            </a:r>
          </a:p>
          <a:p>
            <a:r>
              <a:rPr lang="vi-VN" sz="3200" dirty="0">
                <a:latin typeface="Times New Roman" panose="02020603050405020304" pitchFamily="18" charset="0"/>
                <a:cs typeface="Times New Roman" panose="02020603050405020304" pitchFamily="18" charset="0"/>
              </a:rPr>
              <a:t>Quản lý tài nguyên bằng trình quản lý bối cảnh</a:t>
            </a:r>
          </a:p>
        </p:txBody>
      </p:sp>
    </p:spTree>
    <p:extLst>
      <p:ext uri="{BB962C8B-B14F-4D97-AF65-F5344CB8AC3E}">
        <p14:creationId xmlns:p14="http://schemas.microsoft.com/office/powerpoint/2010/main" val="21750240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2259" y="28244"/>
            <a:ext cx="9102490" cy="833905"/>
          </a:xfrm>
        </p:spPr>
        <p:txBody>
          <a:bodyPr/>
          <a:lstStyle/>
          <a:p>
            <a:r>
              <a:rPr lang="en-US">
                <a:latin typeface="Times New Roman" panose="02020603050405020304" pitchFamily="18" charset="0"/>
                <a:cs typeface="Times New Roman" panose="02020603050405020304" pitchFamily="18" charset="0"/>
              </a:rPr>
              <a:t>Gi</a:t>
            </a:r>
            <a:r>
              <a:rPr lang="vi-VN">
                <a:latin typeface="Times New Roman" panose="02020603050405020304" pitchFamily="18" charset="0"/>
                <a:cs typeface="Times New Roman" panose="02020603050405020304" pitchFamily="18" charset="0"/>
              </a:rPr>
              <a:t>ớ</a:t>
            </a:r>
            <a:r>
              <a:rPr lang="en-US" err="1">
                <a:latin typeface="Times New Roman" panose="02020603050405020304" pitchFamily="18" charset="0"/>
                <a:cs typeface="Times New Roman" panose="02020603050405020304" pitchFamily="18" charset="0"/>
              </a:rPr>
              <a:t>i</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Thiệu</a:t>
            </a:r>
            <a:endParaRPr lang="en-US">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E2F2880-FDDD-4613-BCF9-F95D0AC31339}"/>
              </a:ext>
            </a:extLst>
          </p:cNvPr>
          <p:cNvSpPr>
            <a:spLocks noGrp="1"/>
          </p:cNvSpPr>
          <p:nvPr>
            <p:ph idx="1"/>
          </p:nvPr>
        </p:nvSpPr>
        <p:spPr>
          <a:xfrm>
            <a:off x="22259" y="862149"/>
            <a:ext cx="9102490" cy="5967608"/>
          </a:xfrm>
        </p:spPr>
        <p:txBody>
          <a:bodyPr>
            <a:noAutofit/>
          </a:bodyPr>
          <a:lstStyle/>
          <a:p>
            <a:pPr algn="just"/>
            <a:r>
              <a:rPr lang="vi-VN" sz="3200" dirty="0">
                <a:latin typeface="Times New Roman" panose="02020603050405020304" pitchFamily="18" charset="0"/>
                <a:cs typeface="Times New Roman" panose="02020603050405020304" pitchFamily="18" charset="0"/>
              </a:rPr>
              <a:t>Các luồng được sử dụng để chạy một số chương trình đồng thời trong một quy trình duy nhất, vì vậy chúng giúp thực hiện đa </a:t>
            </a:r>
            <a:r>
              <a:rPr lang="vi-VN" sz="3200">
                <a:latin typeface="Times New Roman" panose="02020603050405020304" pitchFamily="18" charset="0"/>
                <a:cs typeface="Times New Roman" panose="02020603050405020304" pitchFamily="18" charset="0"/>
              </a:rPr>
              <a:t>nhiệm.</a:t>
            </a:r>
            <a:r>
              <a:rPr lang="en-US" sz="3200">
                <a:latin typeface="Times New Roman" panose="02020603050405020304" pitchFamily="18" charset="0"/>
                <a:cs typeface="Times New Roman" panose="02020603050405020304" pitchFamily="18" charset="0"/>
              </a:rPr>
              <a:t> L</a:t>
            </a:r>
            <a:r>
              <a:rPr lang="vi-VN" sz="3200" dirty="0">
                <a:latin typeface="Times New Roman" panose="02020603050405020304" pitchFamily="18" charset="0"/>
                <a:cs typeface="Times New Roman" panose="02020603050405020304" pitchFamily="18" charset="0"/>
              </a:rPr>
              <a:t>uồng một khi được tạo, thực hiện đồng thời và độc lập với nhau. </a:t>
            </a:r>
            <a:r>
              <a:rPr lang="en-US" sz="3200" dirty="0">
                <a:latin typeface="Times New Roman" panose="02020603050405020304" pitchFamily="18" charset="0"/>
                <a:cs typeface="Times New Roman" panose="02020603050405020304" pitchFamily="18" charset="0"/>
              </a:rPr>
              <a:t>L</a:t>
            </a:r>
            <a:r>
              <a:rPr lang="vi-VN" sz="3200" dirty="0">
                <a:latin typeface="Times New Roman" panose="02020603050405020304" pitchFamily="18" charset="0"/>
                <a:cs typeface="Times New Roman" panose="02020603050405020304" pitchFamily="18" charset="0"/>
              </a:rPr>
              <a:t>uồng về cơ bản là các quy trình nhỏ được tạo ra để thực hiện các tác vụ nhất định một cách độc lập. </a:t>
            </a:r>
            <a:r>
              <a:rPr lang="en-US" sz="3200" dirty="0">
                <a:latin typeface="Times New Roman" panose="02020603050405020304" pitchFamily="18" charset="0"/>
                <a:cs typeface="Times New Roman" panose="02020603050405020304" pitchFamily="18" charset="0"/>
              </a:rPr>
              <a:t>L</a:t>
            </a:r>
            <a:r>
              <a:rPr lang="vi-VN" sz="3200" dirty="0">
                <a:latin typeface="Times New Roman" panose="02020603050405020304" pitchFamily="18" charset="0"/>
                <a:cs typeface="Times New Roman" panose="02020603050405020304" pitchFamily="18" charset="0"/>
              </a:rPr>
              <a:t>uồng có thể được làm trống trước, nghĩa là tạm thời bị gián đoạn hoặc dừng bằng cách đặt chúng ở chế độ ngủ và sau đó tiếp tục thực hiện.</a:t>
            </a:r>
            <a:endParaRPr lang="en-US" sz="3200" dirty="0">
              <a:latin typeface="Times New Roman" panose="02020603050405020304" pitchFamily="18" charset="0"/>
              <a:cs typeface="Times New Roman" panose="02020603050405020304" pitchFamily="18" charset="0"/>
            </a:endParaRPr>
          </a:p>
          <a:p>
            <a:pPr algn="just"/>
            <a:r>
              <a:rPr lang="vi-VN" sz="3200" dirty="0">
                <a:latin typeface="Times New Roman" panose="02020603050405020304" pitchFamily="18" charset="0"/>
                <a:cs typeface="Times New Roman" panose="02020603050405020304" pitchFamily="18" charset="0"/>
              </a:rPr>
              <a:t>Để làm việc với các luồng trong Python, chúng ta sẽ sử dụng mô đun luồng của nó. Mô-đun luồng cung cấp một số phương thức</a:t>
            </a:r>
            <a:r>
              <a:rPr lang="en-US" sz="3200" dirty="0">
                <a:latin typeface="Times New Roman" panose="02020603050405020304" pitchFamily="18" charset="0"/>
                <a:cs typeface="Times New Roman" panose="02020603050405020304" pitchFamily="18" charset="0"/>
              </a:rPr>
              <a:t>,</a:t>
            </a:r>
            <a:r>
              <a:rPr lang="vi-VN" sz="3200" dirty="0">
                <a:latin typeface="Times New Roman" panose="02020603050405020304" pitchFamily="18" charset="0"/>
                <a:cs typeface="Times New Roman" panose="02020603050405020304" pitchFamily="18" charset="0"/>
              </a:rPr>
              <a:t> cung cấp thông tin về các luồng hiện đang hoạt động. </a:t>
            </a: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11017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2259" y="28244"/>
            <a:ext cx="9102490" cy="833905"/>
          </a:xfrm>
        </p:spPr>
        <p:txBody>
          <a:bodyPr/>
          <a:lstStyle/>
          <a:p>
            <a:r>
              <a:rPr lang="en-US">
                <a:latin typeface="Times New Roman" panose="02020603050405020304" pitchFamily="18" charset="0"/>
                <a:cs typeface="Times New Roman" panose="02020603050405020304" pitchFamily="18" charset="0"/>
              </a:rPr>
              <a:t>Gi</a:t>
            </a:r>
            <a:r>
              <a:rPr lang="vi-VN">
                <a:latin typeface="Times New Roman" panose="02020603050405020304" pitchFamily="18" charset="0"/>
                <a:cs typeface="Times New Roman" panose="02020603050405020304" pitchFamily="18" charset="0"/>
              </a:rPr>
              <a:t>ớ</a:t>
            </a:r>
            <a:r>
              <a:rPr lang="en-US" err="1">
                <a:latin typeface="Times New Roman" panose="02020603050405020304" pitchFamily="18" charset="0"/>
                <a:cs typeface="Times New Roman" panose="02020603050405020304" pitchFamily="18" charset="0"/>
              </a:rPr>
              <a:t>i</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Thiệu</a:t>
            </a:r>
            <a:endParaRPr lang="en-US">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E2F2880-FDDD-4613-BCF9-F95D0AC31339}"/>
              </a:ext>
            </a:extLst>
          </p:cNvPr>
          <p:cNvSpPr>
            <a:spLocks noGrp="1"/>
          </p:cNvSpPr>
          <p:nvPr>
            <p:ph idx="1"/>
          </p:nvPr>
        </p:nvSpPr>
        <p:spPr>
          <a:xfrm>
            <a:off x="22259" y="862149"/>
            <a:ext cx="9102490" cy="5967608"/>
          </a:xfrm>
        </p:spPr>
        <p:txBody>
          <a:bodyPr>
            <a:noAutofit/>
          </a:bodyPr>
          <a:lstStyle/>
          <a:p>
            <a:pPr algn="just"/>
            <a:r>
              <a:rPr lang="vi-VN" sz="3200" dirty="0">
                <a:latin typeface="Times New Roman" panose="02020603050405020304" pitchFamily="18" charset="0"/>
                <a:cs typeface="Times New Roman" panose="02020603050405020304" pitchFamily="18" charset="0"/>
              </a:rPr>
              <a:t>Một số phương thức được cung cấp bởi mô-đun luồng như sau:</a:t>
            </a:r>
            <a:endParaRPr lang="en-US" sz="3200" dirty="0">
              <a:latin typeface="Times New Roman" panose="02020603050405020304" pitchFamily="18" charset="0"/>
              <a:cs typeface="Times New Roman" panose="02020603050405020304" pitchFamily="18" charset="0"/>
            </a:endParaRPr>
          </a:p>
          <a:p>
            <a:pPr marL="914400" algn="just">
              <a:buFont typeface="Wingdings" panose="05000000000000000000" pitchFamily="2" charset="2"/>
              <a:buChar char="Ø"/>
            </a:pPr>
            <a:r>
              <a:rPr lang="vi-VN" sz="3200" b="1" dirty="0">
                <a:latin typeface="Times New Roman" panose="02020603050405020304" pitchFamily="18" charset="0"/>
                <a:cs typeface="Times New Roman" panose="02020603050405020304" pitchFamily="18" charset="0"/>
              </a:rPr>
              <a:t>threading.activeCount</a:t>
            </a:r>
            <a:r>
              <a:rPr lang="en-US" sz="3200" b="1" dirty="0">
                <a:latin typeface="Times New Roman" panose="02020603050405020304" pitchFamily="18" charset="0"/>
                <a:cs typeface="Times New Roman" panose="02020603050405020304" pitchFamily="18" charset="0"/>
              </a:rPr>
              <a:t>(</a:t>
            </a:r>
            <a:r>
              <a:rPr lang="vi-VN" sz="3200" b="1" dirty="0">
                <a:latin typeface="Times New Roman" panose="02020603050405020304" pitchFamily="18" charset="0"/>
                <a:cs typeface="Times New Roman" panose="02020603050405020304" pitchFamily="18" charset="0"/>
              </a:rPr>
              <a:t>): </a:t>
            </a:r>
            <a:r>
              <a:rPr lang="vi-VN" sz="3200" dirty="0">
                <a:latin typeface="Times New Roman" panose="02020603050405020304" pitchFamily="18" charset="0"/>
                <a:cs typeface="Times New Roman" panose="02020603050405020304" pitchFamily="18" charset="0"/>
              </a:rPr>
              <a:t>Phương thức này trả về số lượng đối tượng luồng hiện đang hoạt động</a:t>
            </a:r>
          </a:p>
          <a:p>
            <a:pPr marL="914400" algn="just">
              <a:buFont typeface="Wingdings" panose="05000000000000000000" pitchFamily="2" charset="2"/>
              <a:buChar char="Ø"/>
            </a:pPr>
            <a:r>
              <a:rPr lang="vi-VN" sz="3200" b="1" dirty="0">
                <a:latin typeface="Times New Roman" panose="02020603050405020304" pitchFamily="18" charset="0"/>
                <a:cs typeface="Times New Roman" panose="02020603050405020304" pitchFamily="18" charset="0"/>
              </a:rPr>
              <a:t>threading.currentThread(): </a:t>
            </a:r>
            <a:r>
              <a:rPr lang="vi-VN" sz="3200" dirty="0">
                <a:latin typeface="Times New Roman" panose="02020603050405020304" pitchFamily="18" charset="0"/>
                <a:cs typeface="Times New Roman" panose="02020603050405020304" pitchFamily="18" charset="0"/>
              </a:rPr>
              <a:t>Phương thức này trả về đối tượng luồng hiện tại</a:t>
            </a:r>
          </a:p>
          <a:p>
            <a:pPr marL="914400" algn="just">
              <a:buFont typeface="Wingdings" panose="05000000000000000000" pitchFamily="2" charset="2"/>
              <a:buChar char="Ø"/>
            </a:pPr>
            <a:r>
              <a:rPr lang="vi-VN" sz="3200" b="1" dirty="0">
                <a:latin typeface="Times New Roman" panose="02020603050405020304" pitchFamily="18" charset="0"/>
                <a:cs typeface="Times New Roman" panose="02020603050405020304" pitchFamily="18" charset="0"/>
              </a:rPr>
              <a:t>threading.enumerate(): </a:t>
            </a:r>
            <a:r>
              <a:rPr lang="vi-VN" sz="3200" dirty="0">
                <a:latin typeface="Times New Roman" panose="02020603050405020304" pitchFamily="18" charset="0"/>
                <a:cs typeface="Times New Roman" panose="02020603050405020304" pitchFamily="18" charset="0"/>
              </a:rPr>
              <a:t>Phương thức này trả về một danh sách tất cả các đối tượng luồng hiện đang hoạt động</a:t>
            </a:r>
          </a:p>
          <a:p>
            <a:pPr algn="just"/>
            <a:r>
              <a:rPr lang="vi-VN" sz="3200" dirty="0">
                <a:latin typeface="Times New Roman" panose="02020603050405020304" pitchFamily="18" charset="0"/>
                <a:cs typeface="Times New Roman" panose="02020603050405020304" pitchFamily="18" charset="0"/>
              </a:rPr>
              <a:t>Bên cạnh các phương thức trước, mô đun luồng có lớp Thread, thực hiện luồng. Sau đây là các phương thức được cung cấp bởi lớp Thread:</a:t>
            </a:r>
          </a:p>
          <a:p>
            <a:pPr algn="just"/>
            <a:r>
              <a:rPr lang="vi-VN" sz="3200" dirty="0">
                <a:latin typeface="Times New Roman" panose="02020603050405020304" pitchFamily="18" charset="0"/>
                <a:cs typeface="Times New Roman" panose="02020603050405020304" pitchFamily="18" charset="0"/>
              </a:rPr>
              <a:t>run (): Phương thức này bắt đầu thực thi một luồng</a:t>
            </a:r>
          </a:p>
          <a:p>
            <a:pPr algn="just"/>
            <a:r>
              <a:rPr lang="vi-VN" sz="3200" dirty="0">
                <a:latin typeface="Times New Roman" panose="02020603050405020304" pitchFamily="18" charset="0"/>
                <a:cs typeface="Times New Roman" panose="02020603050405020304" pitchFamily="18" charset="0"/>
              </a:rPr>
              <a:t>start (): Phương thức này bắt đầu một luồng bằng cách gọi phương thức run</a:t>
            </a:r>
          </a:p>
          <a:p>
            <a:pPr algn="just"/>
            <a:r>
              <a:rPr lang="vi-VN" sz="3200" dirty="0">
                <a:latin typeface="Times New Roman" panose="02020603050405020304" pitchFamily="18" charset="0"/>
                <a:cs typeface="Times New Roman" panose="02020603050405020304" pitchFamily="18" charset="0"/>
              </a:rPr>
              <a:t>join([time]): Phương thức này chờ các luồng kết thúc</a:t>
            </a:r>
          </a:p>
          <a:p>
            <a:pPr algn="just"/>
            <a:r>
              <a:rPr lang="vi-VN" sz="3200" dirty="0">
                <a:latin typeface="Times New Roman" panose="02020603050405020304" pitchFamily="18" charset="0"/>
                <a:cs typeface="Times New Roman" panose="02020603050405020304" pitchFamily="18" charset="0"/>
              </a:rPr>
              <a:t> isAlive (): Phương thức này kiểm tra xem một luồng có đang thực thi hay không</a:t>
            </a:r>
          </a:p>
          <a:p>
            <a:pPr algn="just"/>
            <a:r>
              <a:rPr lang="vi-VN" sz="3200" dirty="0">
                <a:latin typeface="Times New Roman" panose="02020603050405020304" pitchFamily="18" charset="0"/>
                <a:cs typeface="Times New Roman" panose="02020603050405020304" pitchFamily="18" charset="0"/>
              </a:rPr>
              <a:t>getName () : Phương thức này trả về tên của một luồng</a:t>
            </a:r>
          </a:p>
          <a:p>
            <a:pPr algn="just"/>
            <a:r>
              <a:rPr lang="vi-VN" sz="3200" dirty="0">
                <a:latin typeface="Times New Roman" panose="02020603050405020304" pitchFamily="18" charset="0"/>
                <a:cs typeface="Times New Roman" panose="02020603050405020304" pitchFamily="18" charset="0"/>
              </a:rPr>
              <a:t>setName (): Phương thức này đặt tên của một luồng</a:t>
            </a: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763015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0" y="28244"/>
            <a:ext cx="9102490" cy="833905"/>
          </a:xfrm>
        </p:spPr>
        <p:txBody>
          <a:bodyPr/>
          <a:lstStyle/>
          <a:p>
            <a:r>
              <a:rPr lang="en-US" dirty="0" err="1">
                <a:latin typeface="Times New Roman" panose="02020603050405020304" pitchFamily="18" charset="0"/>
                <a:cs typeface="Times New Roman" panose="02020603050405020304" pitchFamily="18" charset="0"/>
              </a:rPr>
              <a:t>Gi</a:t>
            </a:r>
            <a:r>
              <a:rPr lang="vi-VN" dirty="0">
                <a:latin typeface="Times New Roman" panose="02020603050405020304" pitchFamily="18" charset="0"/>
                <a:cs typeface="Times New Roman" panose="02020603050405020304" pitchFamily="18" charset="0"/>
              </a:rPr>
              <a:t>ớ</a:t>
            </a:r>
            <a:r>
              <a:rPr lang="en-US" dirty="0" err="1">
                <a:latin typeface="Times New Roman" panose="02020603050405020304" pitchFamily="18" charset="0"/>
                <a:cs typeface="Times New Roman" panose="02020603050405020304" pitchFamily="18" charset="0"/>
              </a:rPr>
              <a:t>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Thiệu</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E2F2880-FDDD-4613-BCF9-F95D0AC31339}"/>
              </a:ext>
            </a:extLst>
          </p:cNvPr>
          <p:cNvSpPr>
            <a:spLocks noGrp="1"/>
          </p:cNvSpPr>
          <p:nvPr>
            <p:ph idx="1"/>
          </p:nvPr>
        </p:nvSpPr>
        <p:spPr>
          <a:xfrm>
            <a:off x="22259" y="862149"/>
            <a:ext cx="9102490" cy="5967608"/>
          </a:xfrm>
        </p:spPr>
        <p:txBody>
          <a:bodyPr>
            <a:noAutofit/>
          </a:bodyPr>
          <a:lstStyle/>
          <a:p>
            <a:pPr algn="just"/>
            <a:r>
              <a:rPr lang="vi-VN" sz="3200" dirty="0">
                <a:latin typeface="Times New Roman" panose="02020603050405020304" pitchFamily="18" charset="0"/>
                <a:cs typeface="Times New Roman" panose="02020603050405020304" pitchFamily="18" charset="0"/>
              </a:rPr>
              <a:t>Bên cạnh các phương thức trước, mô đun luồng có lớp Thread, thực hiện luồng. Sau đây là các phương thức được cung cấp bởi lớp Thread:</a:t>
            </a:r>
          </a:p>
          <a:p>
            <a:pPr marL="520700" algn="just">
              <a:buFont typeface="Wingdings" panose="05000000000000000000" pitchFamily="2" charset="2"/>
              <a:buChar char="Ø"/>
            </a:pPr>
            <a:r>
              <a:rPr lang="vi-VN" sz="3000" b="1" dirty="0">
                <a:latin typeface="Times New Roman" panose="02020603050405020304" pitchFamily="18" charset="0"/>
                <a:cs typeface="Times New Roman" panose="02020603050405020304" pitchFamily="18" charset="0"/>
              </a:rPr>
              <a:t>run (): </a:t>
            </a:r>
            <a:r>
              <a:rPr lang="vi-VN" sz="3000" dirty="0">
                <a:latin typeface="Times New Roman" panose="02020603050405020304" pitchFamily="18" charset="0"/>
                <a:cs typeface="Times New Roman" panose="02020603050405020304" pitchFamily="18" charset="0"/>
              </a:rPr>
              <a:t>Phương thức này bắt đầu thực thi một luồng</a:t>
            </a:r>
          </a:p>
          <a:p>
            <a:pPr marL="520700" algn="just">
              <a:buFont typeface="Wingdings" panose="05000000000000000000" pitchFamily="2" charset="2"/>
              <a:buChar char="Ø"/>
            </a:pPr>
            <a:r>
              <a:rPr lang="vi-VN" sz="3000" b="1" dirty="0">
                <a:latin typeface="Times New Roman" panose="02020603050405020304" pitchFamily="18" charset="0"/>
                <a:cs typeface="Times New Roman" panose="02020603050405020304" pitchFamily="18" charset="0"/>
              </a:rPr>
              <a:t>start ()</a:t>
            </a:r>
            <a:r>
              <a:rPr lang="vi-VN" sz="3000" dirty="0">
                <a:latin typeface="Times New Roman" panose="02020603050405020304" pitchFamily="18" charset="0"/>
                <a:cs typeface="Times New Roman" panose="02020603050405020304" pitchFamily="18" charset="0"/>
              </a:rPr>
              <a:t>: Phương thức này bắt đầu một luồng bằng cách gọi phương thức run</a:t>
            </a:r>
          </a:p>
          <a:p>
            <a:pPr marL="520700" algn="just">
              <a:buFont typeface="Wingdings" panose="05000000000000000000" pitchFamily="2" charset="2"/>
              <a:buChar char="Ø"/>
            </a:pPr>
            <a:r>
              <a:rPr lang="vi-VN" sz="3000" b="1" dirty="0">
                <a:latin typeface="Times New Roman" panose="02020603050405020304" pitchFamily="18" charset="0"/>
                <a:cs typeface="Times New Roman" panose="02020603050405020304" pitchFamily="18" charset="0"/>
              </a:rPr>
              <a:t>join([time]): </a:t>
            </a:r>
            <a:r>
              <a:rPr lang="vi-VN" sz="3000" dirty="0">
                <a:latin typeface="Times New Roman" panose="02020603050405020304" pitchFamily="18" charset="0"/>
                <a:cs typeface="Times New Roman" panose="02020603050405020304" pitchFamily="18" charset="0"/>
              </a:rPr>
              <a:t>Phương thức này chờ các luồng kết thúc</a:t>
            </a:r>
          </a:p>
          <a:p>
            <a:pPr marL="520700" algn="just">
              <a:buFont typeface="Wingdings" panose="05000000000000000000" pitchFamily="2" charset="2"/>
              <a:buChar char="Ø"/>
            </a:pPr>
            <a:r>
              <a:rPr lang="vi-VN" sz="3000" dirty="0">
                <a:latin typeface="Times New Roman" panose="02020603050405020304" pitchFamily="18" charset="0"/>
                <a:cs typeface="Times New Roman" panose="02020603050405020304" pitchFamily="18" charset="0"/>
              </a:rPr>
              <a:t> </a:t>
            </a:r>
            <a:r>
              <a:rPr lang="vi-VN" sz="3000" b="1" dirty="0">
                <a:latin typeface="Times New Roman" panose="02020603050405020304" pitchFamily="18" charset="0"/>
                <a:cs typeface="Times New Roman" panose="02020603050405020304" pitchFamily="18" charset="0"/>
              </a:rPr>
              <a:t>isAlive (): </a:t>
            </a:r>
            <a:r>
              <a:rPr lang="vi-VN" sz="3000" dirty="0">
                <a:latin typeface="Times New Roman" panose="02020603050405020304" pitchFamily="18" charset="0"/>
                <a:cs typeface="Times New Roman" panose="02020603050405020304" pitchFamily="18" charset="0"/>
              </a:rPr>
              <a:t>Phương thức này kiểm tra xem một luồng có đang thực thi hay không</a:t>
            </a:r>
          </a:p>
          <a:p>
            <a:pPr marL="520700" algn="just">
              <a:buFont typeface="Wingdings" panose="05000000000000000000" pitchFamily="2" charset="2"/>
              <a:buChar char="Ø"/>
            </a:pPr>
            <a:r>
              <a:rPr lang="vi-VN" sz="3000" b="1" dirty="0">
                <a:latin typeface="Times New Roman" panose="02020603050405020304" pitchFamily="18" charset="0"/>
                <a:cs typeface="Times New Roman" panose="02020603050405020304" pitchFamily="18" charset="0"/>
              </a:rPr>
              <a:t>getName() </a:t>
            </a:r>
            <a:r>
              <a:rPr lang="vi-VN" sz="3000" dirty="0">
                <a:latin typeface="Times New Roman" panose="02020603050405020304" pitchFamily="18" charset="0"/>
                <a:cs typeface="Times New Roman" panose="02020603050405020304" pitchFamily="18" charset="0"/>
              </a:rPr>
              <a:t>: Phương thức này trả về tên của một luồng</a:t>
            </a:r>
          </a:p>
          <a:p>
            <a:pPr marL="520700" algn="just">
              <a:buFont typeface="Wingdings" panose="05000000000000000000" pitchFamily="2" charset="2"/>
              <a:buChar char="Ø"/>
            </a:pPr>
            <a:r>
              <a:rPr lang="vi-VN" sz="3000" b="1" dirty="0">
                <a:latin typeface="Times New Roman" panose="02020603050405020304" pitchFamily="18" charset="0"/>
                <a:cs typeface="Times New Roman" panose="02020603050405020304" pitchFamily="18" charset="0"/>
              </a:rPr>
              <a:t>setName (): </a:t>
            </a:r>
            <a:r>
              <a:rPr lang="vi-VN" sz="3000" dirty="0">
                <a:latin typeface="Times New Roman" panose="02020603050405020304" pitchFamily="18" charset="0"/>
                <a:cs typeface="Times New Roman" panose="02020603050405020304" pitchFamily="18" charset="0"/>
              </a:rPr>
              <a:t>Phương thức này đặt tên của một luồng</a:t>
            </a:r>
            <a:endParaRPr lang="en-US" sz="3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159869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2259" y="28244"/>
            <a:ext cx="9102490" cy="833905"/>
          </a:xfrm>
        </p:spPr>
        <p:txBody>
          <a:bodyPr/>
          <a:lstStyle/>
          <a:p>
            <a:r>
              <a:rPr lang="en-US" dirty="0" err="1">
                <a:latin typeface="Times New Roman" panose="02020603050405020304" pitchFamily="18" charset="0"/>
                <a:cs typeface="Times New Roman" panose="02020603050405020304" pitchFamily="18" charset="0"/>
              </a:rPr>
              <a:t>Gi</a:t>
            </a:r>
            <a:r>
              <a:rPr lang="vi-VN" dirty="0">
                <a:cs typeface="Times New Roman" panose="02020603050405020304" pitchFamily="18" charset="0"/>
              </a:rPr>
              <a:t>ớ</a:t>
            </a:r>
            <a:r>
              <a:rPr lang="en-US" dirty="0" err="1">
                <a:latin typeface="Times New Roman" panose="02020603050405020304" pitchFamily="18" charset="0"/>
                <a:cs typeface="Times New Roman" panose="02020603050405020304" pitchFamily="18" charset="0"/>
              </a:rPr>
              <a:t>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Thiệu</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E2F2880-FDDD-4613-BCF9-F95D0AC31339}"/>
              </a:ext>
            </a:extLst>
          </p:cNvPr>
          <p:cNvSpPr>
            <a:spLocks noGrp="1"/>
          </p:cNvSpPr>
          <p:nvPr>
            <p:ph idx="1"/>
          </p:nvPr>
        </p:nvSpPr>
        <p:spPr>
          <a:xfrm>
            <a:off x="22259" y="862149"/>
            <a:ext cx="9102490" cy="5967608"/>
          </a:xfrm>
        </p:spPr>
        <p:txBody>
          <a:bodyPr>
            <a:noAutofit/>
          </a:bodyPr>
          <a:lstStyle/>
          <a:p>
            <a:pPr marL="457200" indent="-457200" algn="just">
              <a:buFont typeface="Wingdings" panose="05000000000000000000" pitchFamily="2" charset="2"/>
              <a:buChar char="§"/>
            </a:pPr>
            <a:r>
              <a:rPr lang="vi-VN" sz="3200" dirty="0">
                <a:latin typeface="Times New Roman" panose="02020603050405020304" pitchFamily="18" charset="0"/>
                <a:cs typeface="Times New Roman" panose="02020603050405020304" pitchFamily="18" charset="0"/>
              </a:rPr>
              <a:t>Trong đa luồng</a:t>
            </a:r>
            <a:r>
              <a:rPr lang="en-US" sz="3200" dirty="0">
                <a:latin typeface="Times New Roman" panose="02020603050405020304" pitchFamily="18" charset="0"/>
                <a:cs typeface="Times New Roman" panose="02020603050405020304" pitchFamily="18" charset="0"/>
              </a:rPr>
              <a:t> </a:t>
            </a:r>
            <a:r>
              <a:rPr lang="vi-VN" sz="3200" dirty="0">
                <a:latin typeface="Times New Roman" panose="02020603050405020304" pitchFamily="18" charset="0"/>
                <a:cs typeface="Times New Roman" panose="02020603050405020304" pitchFamily="18" charset="0"/>
              </a:rPr>
              <a:t>nhiều hơn một luồng chạy đồng thời. Do đó, tính toán và các công việc khác được thực hiện nhanh hơn. Điều này là do thời gian thường bị lãng phí trong việc chờ đợi các hoạt động I / O được sử dụng bởi một luồng khác để thực hiện nhiệm vụ của nó.</a:t>
            </a:r>
            <a:endParaRPr lang="en-US" sz="3200" dirty="0">
              <a:latin typeface="Times New Roman" panose="02020603050405020304" pitchFamily="18" charset="0"/>
              <a:cs typeface="Times New Roman" panose="02020603050405020304" pitchFamily="18" charset="0"/>
            </a:endParaRPr>
          </a:p>
          <a:p>
            <a:pPr marL="457200" indent="-457200" algn="just">
              <a:buFont typeface="Wingdings" panose="05000000000000000000" pitchFamily="2" charset="2"/>
              <a:buChar char="§"/>
            </a:pPr>
            <a:r>
              <a:rPr lang="vi-VN" sz="3200" dirty="0">
                <a:latin typeface="Times New Roman" panose="02020603050405020304" pitchFamily="18" charset="0"/>
                <a:cs typeface="Times New Roman" panose="02020603050405020304" pitchFamily="18" charset="0"/>
              </a:rPr>
              <a:t>Khi hai hoặc nhiều luồng chạy đồng thời, có thể có một tình huống mơ hồ trong đó hai hoặc nhiều luồng cố gắng chạy một khối các câu lệnh cùng nhau. Trong tình huống như vậy, chúng ta cần thực hiện một cơ chế làm cho một luồng chờ cho đến khi luồng hiện tại kết thúc quá trình xử lý của nó trên một khối các câu lệnh. Khi luồng hiện tại kết thúc</a:t>
            </a: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691262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2259" y="28244"/>
            <a:ext cx="9102490" cy="833905"/>
          </a:xfrm>
        </p:spPr>
        <p:txBody>
          <a:bodyPr/>
          <a:lstStyle/>
          <a:p>
            <a:r>
              <a:rPr lang="en-US" dirty="0" err="1">
                <a:latin typeface="Times New Roman" panose="02020603050405020304" pitchFamily="18" charset="0"/>
                <a:cs typeface="Times New Roman" panose="02020603050405020304" pitchFamily="18" charset="0"/>
              </a:rPr>
              <a:t>Gi</a:t>
            </a:r>
            <a:r>
              <a:rPr lang="vi-VN" dirty="0">
                <a:cs typeface="Times New Roman" panose="02020603050405020304" pitchFamily="18" charset="0"/>
              </a:rPr>
              <a:t>ớ</a:t>
            </a:r>
            <a:r>
              <a:rPr lang="en-US" dirty="0" err="1">
                <a:latin typeface="Times New Roman" panose="02020603050405020304" pitchFamily="18" charset="0"/>
                <a:cs typeface="Times New Roman" panose="02020603050405020304" pitchFamily="18" charset="0"/>
              </a:rPr>
              <a:t>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Thiệu</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E2F2880-FDDD-4613-BCF9-F95D0AC31339}"/>
              </a:ext>
            </a:extLst>
          </p:cNvPr>
          <p:cNvSpPr>
            <a:spLocks noGrp="1"/>
          </p:cNvSpPr>
          <p:nvPr>
            <p:ph idx="1"/>
          </p:nvPr>
        </p:nvSpPr>
        <p:spPr>
          <a:xfrm>
            <a:off x="22259" y="862149"/>
            <a:ext cx="9102490" cy="5967608"/>
          </a:xfrm>
        </p:spPr>
        <p:txBody>
          <a:bodyPr>
            <a:noAutofit/>
          </a:bodyPr>
          <a:lstStyle/>
          <a:p>
            <a:pPr marL="290513" indent="0" algn="just">
              <a:buNone/>
            </a:pPr>
            <a:r>
              <a:rPr lang="vi-VN" sz="3200" dirty="0">
                <a:latin typeface="Times New Roman" panose="02020603050405020304" pitchFamily="18" charset="0"/>
                <a:cs typeface="Times New Roman" panose="02020603050405020304" pitchFamily="18" charset="0"/>
              </a:rPr>
              <a:t>quá trình xử lý của nó, chỉ sau đó một luồng khác được phép xử lý các câu lệnh đó. Một cơ chế như vậy được gọi là đồng bộ hóa các </a:t>
            </a:r>
            <a:r>
              <a:rPr lang="en-US" sz="3200" dirty="0" err="1">
                <a:latin typeface="Times New Roman" panose="02020603050405020304" pitchFamily="18" charset="0"/>
                <a:cs typeface="Times New Roman" panose="02020603050405020304" pitchFamily="18" charset="0"/>
              </a:rPr>
              <a:t>luồng</a:t>
            </a:r>
            <a:r>
              <a:rPr lang="vi-VN" sz="3200" dirty="0">
                <a:latin typeface="Times New Roman" panose="02020603050405020304" pitchFamily="18" charset="0"/>
                <a:cs typeface="Times New Roman" panose="02020603050405020304" pitchFamily="18" charset="0"/>
              </a:rPr>
              <a:t>. Khóa là một kỹ thuật phổ biến được sử dụng trong đồng bộ hóa các </a:t>
            </a:r>
            <a:r>
              <a:rPr lang="en-US" sz="3200" dirty="0" err="1">
                <a:latin typeface="Times New Roman" panose="02020603050405020304" pitchFamily="18" charset="0"/>
                <a:cs typeface="Times New Roman" panose="02020603050405020304" pitchFamily="18" charset="0"/>
              </a:rPr>
              <a:t>luồng</a:t>
            </a:r>
            <a:r>
              <a:rPr lang="vi-VN" sz="3200" dirty="0">
                <a:latin typeface="Times New Roman" panose="02020603050405020304" pitchFamily="18" charset="0"/>
                <a:cs typeface="Times New Roman" panose="02020603050405020304" pitchFamily="18" charset="0"/>
              </a:rPr>
              <a:t>. Khi một luồng muốn thực thi một khối các câu lệnh được chia sẻ, nó sẽ có được một khóa. Không có luồng nào có thể thực thi các câu lệnh có khóa được lấy bởi một luồng khác, do đó các luồng như vậy được yêu cầu chờ để mở khóa các câu lệnh đó. Chuỗi thu được khóa xử lý các câu lệnh đó và khi hoàn thành, sẽ giải phóng khóa. Chuỗi chờ sau đó có thể có được khóa trên khối lệnh đó và bắt đầu thực thi.</a:t>
            </a: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916398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2259" y="28244"/>
            <a:ext cx="9102490" cy="833905"/>
          </a:xfrm>
        </p:spPr>
        <p:txBody>
          <a:bodyPr/>
          <a:lstStyle/>
          <a:p>
            <a:r>
              <a:rPr lang="en-US" dirty="0" err="1">
                <a:latin typeface="Times New Roman" panose="02020603050405020304" pitchFamily="18" charset="0"/>
                <a:cs typeface="Times New Roman" panose="02020603050405020304" pitchFamily="18" charset="0"/>
              </a:rPr>
              <a:t>Gi</a:t>
            </a:r>
            <a:r>
              <a:rPr lang="vi-VN" dirty="0">
                <a:cs typeface="Times New Roman" panose="02020603050405020304" pitchFamily="18" charset="0"/>
              </a:rPr>
              <a:t>ớ</a:t>
            </a:r>
            <a:r>
              <a:rPr lang="en-US" dirty="0" err="1">
                <a:latin typeface="Times New Roman" panose="02020603050405020304" pitchFamily="18" charset="0"/>
                <a:cs typeface="Times New Roman" panose="02020603050405020304" pitchFamily="18" charset="0"/>
              </a:rPr>
              <a:t>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Thiệu</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E2F2880-FDDD-4613-BCF9-F95D0AC31339}"/>
              </a:ext>
            </a:extLst>
          </p:cNvPr>
          <p:cNvSpPr>
            <a:spLocks noGrp="1"/>
          </p:cNvSpPr>
          <p:nvPr>
            <p:ph idx="1"/>
          </p:nvPr>
        </p:nvSpPr>
        <p:spPr>
          <a:xfrm>
            <a:off x="0" y="626621"/>
            <a:ext cx="9102490" cy="5967608"/>
          </a:xfrm>
        </p:spPr>
        <p:txBody>
          <a:bodyPr>
            <a:noAutofit/>
          </a:bodyPr>
          <a:lstStyle/>
          <a:p>
            <a:pPr marL="290513" indent="0" algn="just">
              <a:buNone/>
            </a:pPr>
            <a:r>
              <a:rPr lang="vi-VN" sz="3200" dirty="0">
                <a:latin typeface="Times New Roman" panose="02020603050405020304" pitchFamily="18" charset="0"/>
                <a:cs typeface="Times New Roman" panose="02020603050405020304" pitchFamily="18" charset="0"/>
              </a:rPr>
              <a:t>Lập trình không đồng bộ làm cho việc xử lý nhanh hơn rất nhiều vì có nhiều hơn một tác vụ thực thi song song với luồng chính. Một thư viện Python được sử dụng rất phổ biến trong lập trình không đồng bộ là </a:t>
            </a:r>
            <a:r>
              <a:rPr lang="vi-VN" sz="3200" i="1" dirty="0">
                <a:latin typeface="Times New Roman" panose="02020603050405020304" pitchFamily="18" charset="0"/>
                <a:cs typeface="Times New Roman" panose="02020603050405020304" pitchFamily="18" charset="0"/>
              </a:rPr>
              <a:t>asyncio</a:t>
            </a:r>
            <a:r>
              <a:rPr lang="vi-VN" sz="3200" dirty="0">
                <a:latin typeface="Times New Roman" panose="02020603050405020304" pitchFamily="18" charset="0"/>
                <a:cs typeface="Times New Roman" panose="02020603050405020304" pitchFamily="18" charset="0"/>
              </a:rPr>
              <a:t>. Để lập trình không đồng bộ, bạn cần một vòng lặp sự kiện lên lịch các tác vụ không đồng bộ, nghĩa là vòng lặp sự kiện sẽ chọn một tác vụ đang chờ trong hàng đợi để xử lý. Các hàm cần được chạy không đồng bộ cần phải được thêm tiền tố với từ khóa </a:t>
            </a:r>
            <a:r>
              <a:rPr lang="vi-VN" sz="3200" i="1" dirty="0">
                <a:latin typeface="Times New Roman" panose="02020603050405020304" pitchFamily="18" charset="0"/>
                <a:cs typeface="Times New Roman" panose="02020603050405020304" pitchFamily="18" charset="0"/>
              </a:rPr>
              <a:t>async</a:t>
            </a:r>
            <a:r>
              <a:rPr lang="vi-VN" sz="3200" dirty="0">
                <a:latin typeface="Times New Roman" panose="02020603050405020304" pitchFamily="18" charset="0"/>
                <a:cs typeface="Times New Roman" panose="02020603050405020304" pitchFamily="18" charset="0"/>
              </a:rPr>
              <a:t>.</a:t>
            </a: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352906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2259" y="28244"/>
            <a:ext cx="9102490" cy="833905"/>
          </a:xfrm>
        </p:spPr>
        <p:txBody>
          <a:bodyPr/>
          <a:lstStyle/>
          <a:p>
            <a:r>
              <a:rPr lang="en-US" dirty="0" err="1">
                <a:latin typeface="Times New Roman" panose="02020603050405020304" pitchFamily="18" charset="0"/>
                <a:cs typeface="Times New Roman" panose="02020603050405020304" pitchFamily="18" charset="0"/>
              </a:rPr>
              <a:t>Gi</a:t>
            </a:r>
            <a:r>
              <a:rPr lang="vi-VN" dirty="0">
                <a:cs typeface="Times New Roman" panose="02020603050405020304" pitchFamily="18" charset="0"/>
              </a:rPr>
              <a:t>ớ</a:t>
            </a:r>
            <a:r>
              <a:rPr lang="en-US" dirty="0" err="1">
                <a:latin typeface="Times New Roman" panose="02020603050405020304" pitchFamily="18" charset="0"/>
                <a:cs typeface="Times New Roman" panose="02020603050405020304" pitchFamily="18" charset="0"/>
              </a:rPr>
              <a:t>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Thiệu</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E2F2880-FDDD-4613-BCF9-F95D0AC31339}"/>
              </a:ext>
            </a:extLst>
          </p:cNvPr>
          <p:cNvSpPr>
            <a:spLocks noGrp="1"/>
          </p:cNvSpPr>
          <p:nvPr>
            <p:ph idx="1"/>
          </p:nvPr>
        </p:nvSpPr>
        <p:spPr>
          <a:xfrm>
            <a:off x="0" y="626621"/>
            <a:ext cx="9102490" cy="5967608"/>
          </a:xfrm>
        </p:spPr>
        <p:txBody>
          <a:bodyPr>
            <a:noAutofit/>
          </a:bodyPr>
          <a:lstStyle/>
          <a:p>
            <a:pPr marL="747713" indent="-457200" algn="just">
              <a:buFont typeface="Wingdings" panose="05000000000000000000" pitchFamily="2" charset="2"/>
              <a:buChar char="§"/>
            </a:pPr>
            <a:r>
              <a:rPr lang="vi-VN" sz="3200" dirty="0">
                <a:latin typeface="Times New Roman" panose="02020603050405020304" pitchFamily="18" charset="0"/>
                <a:cs typeface="Times New Roman" panose="02020603050405020304" pitchFamily="18" charset="0"/>
              </a:rPr>
              <a:t>Các chức năng sẽ được thực hiện không đồng bộ được đánh dấu bằng từ khóa </a:t>
            </a:r>
            <a:r>
              <a:rPr lang="vi-VN" sz="3200" i="1" dirty="0">
                <a:latin typeface="Times New Roman" panose="02020603050405020304" pitchFamily="18" charset="0"/>
                <a:cs typeface="Times New Roman" panose="02020603050405020304" pitchFamily="18" charset="0"/>
              </a:rPr>
              <a:t>async</a:t>
            </a:r>
            <a:r>
              <a:rPr lang="vi-VN" sz="3200" dirty="0">
                <a:latin typeface="Times New Roman" panose="02020603050405020304" pitchFamily="18" charset="0"/>
                <a:cs typeface="Times New Roman" panose="02020603050405020304" pitchFamily="18" charset="0"/>
              </a:rPr>
              <a:t>. Vòng lặp sự kiện nhận ra chức năng không đồng bộ thông qua tiền tố </a:t>
            </a:r>
            <a:r>
              <a:rPr lang="vi-VN" sz="3200" i="1" dirty="0">
                <a:latin typeface="Times New Roman" panose="02020603050405020304" pitchFamily="18" charset="0"/>
                <a:cs typeface="Times New Roman" panose="02020603050405020304" pitchFamily="18" charset="0"/>
              </a:rPr>
              <a:t>async</a:t>
            </a:r>
            <a:r>
              <a:rPr lang="vi-VN" sz="3200" dirty="0">
                <a:latin typeface="Times New Roman" panose="02020603050405020304" pitchFamily="18" charset="0"/>
                <a:cs typeface="Times New Roman" panose="02020603050405020304" pitchFamily="18" charset="0"/>
              </a:rPr>
              <a:t>. Tất cả các chức năng không đồng bộ được gọi là </a:t>
            </a:r>
            <a:r>
              <a:rPr lang="vi-VN" sz="3200" i="1" dirty="0">
                <a:latin typeface="Times New Roman" panose="02020603050405020304" pitchFamily="18" charset="0"/>
                <a:cs typeface="Times New Roman" panose="02020603050405020304" pitchFamily="18" charset="0"/>
              </a:rPr>
              <a:t>coroutine</a:t>
            </a:r>
            <a:r>
              <a:rPr lang="vi-VN" sz="3200" dirty="0">
                <a:latin typeface="Times New Roman" panose="02020603050405020304" pitchFamily="18" charset="0"/>
                <a:cs typeface="Times New Roman" panose="02020603050405020304" pitchFamily="18" charset="0"/>
              </a:rPr>
              <a:t>. Bất kỳ chức năng không đồng bộ (coroutine) nào sau khi bắt đầu một nhiệm vụ, tiếp tục nhiệm vụ của nó cho đến khi nhiệm vụ kết thúc hoặc nó được yêu cầu chờ đợi bởi cuộc gọi chờ. Hàm không đồng bộ sẽ tạm dừng thực thi nếu cuộc gọi chờ xảy ra. Thời gian đình chỉ được xác định bằng phương pháp await asyncio.s</a:t>
            </a:r>
            <a:r>
              <a:rPr lang="en-US" sz="3200" dirty="0" err="1">
                <a:latin typeface="Times New Roman" panose="02020603050405020304" pitchFamily="18" charset="0"/>
                <a:cs typeface="Times New Roman" panose="02020603050405020304" pitchFamily="18" charset="0"/>
              </a:rPr>
              <a:t>leep</a:t>
            </a:r>
            <a:r>
              <a:rPr lang="vi-VN" sz="3200" dirty="0">
                <a:latin typeface="Times New Roman" panose="02020603050405020304" pitchFamily="18" charset="0"/>
                <a:cs typeface="Times New Roman" panose="02020603050405020304" pitchFamily="18" charset="0"/>
              </a:rPr>
              <a:t> (trì hoãn). Các chức năng sẽ đi ngủ trong thời gian trì hoãn được chỉ định.</a:t>
            </a: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514770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2259" y="28244"/>
            <a:ext cx="9102490" cy="833905"/>
          </a:xfrm>
        </p:spPr>
        <p:txBody>
          <a:bodyPr/>
          <a:lstStyle/>
          <a:p>
            <a:r>
              <a:rPr lang="en-US" dirty="0" err="1">
                <a:latin typeface="Times New Roman" panose="02020603050405020304" pitchFamily="18" charset="0"/>
                <a:cs typeface="Times New Roman" panose="02020603050405020304" pitchFamily="18" charset="0"/>
              </a:rPr>
              <a:t>Gi</a:t>
            </a:r>
            <a:r>
              <a:rPr lang="vi-VN" dirty="0">
                <a:cs typeface="Times New Roman" panose="02020603050405020304" pitchFamily="18" charset="0"/>
              </a:rPr>
              <a:t>ớ</a:t>
            </a:r>
            <a:r>
              <a:rPr lang="en-US" dirty="0" err="1">
                <a:latin typeface="Times New Roman" panose="02020603050405020304" pitchFamily="18" charset="0"/>
                <a:cs typeface="Times New Roman" panose="02020603050405020304" pitchFamily="18" charset="0"/>
              </a:rPr>
              <a:t>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Thiệu</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E2F2880-FDDD-4613-BCF9-F95D0AC31339}"/>
              </a:ext>
            </a:extLst>
          </p:cNvPr>
          <p:cNvSpPr>
            <a:spLocks noGrp="1"/>
          </p:cNvSpPr>
          <p:nvPr>
            <p:ph idx="1"/>
          </p:nvPr>
        </p:nvSpPr>
        <p:spPr>
          <a:xfrm>
            <a:off x="0" y="626621"/>
            <a:ext cx="9102490" cy="5967608"/>
          </a:xfrm>
        </p:spPr>
        <p:txBody>
          <a:bodyPr>
            <a:noAutofit/>
          </a:bodyPr>
          <a:lstStyle/>
          <a:p>
            <a:pPr marL="747713" indent="-457200" algn="just">
              <a:buFont typeface="Wingdings" panose="05000000000000000000" pitchFamily="2" charset="2"/>
              <a:buChar char="§"/>
            </a:pPr>
            <a:r>
              <a:rPr lang="vi-VN" sz="3200" dirty="0">
                <a:latin typeface="Times New Roman" panose="02020603050405020304" pitchFamily="18" charset="0"/>
                <a:cs typeface="Times New Roman" panose="02020603050405020304" pitchFamily="18" charset="0"/>
              </a:rPr>
              <a:t>Sau đây là các phương thức được yêu cầu trong lập trình không đồng bộ:</a:t>
            </a:r>
            <a:endParaRPr lang="en-US" sz="3200" dirty="0">
              <a:latin typeface="Times New Roman" panose="02020603050405020304" pitchFamily="18" charset="0"/>
              <a:cs typeface="Times New Roman" panose="02020603050405020304" pitchFamily="18" charset="0"/>
            </a:endParaRPr>
          </a:p>
          <a:p>
            <a:pPr marL="1147763" indent="-457200" algn="just" defTabSz="1022350">
              <a:buFont typeface="Wingdings" panose="05000000000000000000" pitchFamily="2" charset="2"/>
              <a:buChar char="Ø"/>
            </a:pPr>
            <a:r>
              <a:rPr lang="vi-VN" sz="3200" b="1" dirty="0">
                <a:latin typeface="Times New Roman" panose="02020603050405020304" pitchFamily="18" charset="0"/>
                <a:cs typeface="Times New Roman" panose="02020603050405020304" pitchFamily="18" charset="0"/>
              </a:rPr>
              <a:t>asyncio.get_event_loop()</a:t>
            </a:r>
            <a:r>
              <a:rPr lang="vi-VN" sz="3200" dirty="0">
                <a:latin typeface="Times New Roman" panose="02020603050405020304" pitchFamily="18" charset="0"/>
                <a:cs typeface="Times New Roman" panose="02020603050405020304" pitchFamily="18" charset="0"/>
              </a:rPr>
              <a:t>: Phương thức này được sử dụng để lấy sự kiện mặc định</a:t>
            </a:r>
          </a:p>
          <a:p>
            <a:pPr marL="1147763" indent="-457200" algn="just" defTabSz="1022350">
              <a:buFont typeface="Wingdings" panose="05000000000000000000" pitchFamily="2" charset="2"/>
              <a:buChar char="Ø"/>
            </a:pPr>
            <a:r>
              <a:rPr lang="vi-VN" sz="3200" dirty="0">
                <a:latin typeface="Times New Roman" panose="02020603050405020304" pitchFamily="18" charset="0"/>
                <a:cs typeface="Times New Roman" panose="02020603050405020304" pitchFamily="18" charset="0"/>
              </a:rPr>
              <a:t> </a:t>
            </a:r>
            <a:r>
              <a:rPr lang="vi-VN" sz="3200" b="1" dirty="0">
                <a:latin typeface="Times New Roman" panose="02020603050405020304" pitchFamily="18" charset="0"/>
                <a:cs typeface="Times New Roman" panose="02020603050405020304" pitchFamily="18" charset="0"/>
              </a:rPr>
              <a:t>loop().</a:t>
            </a:r>
            <a:r>
              <a:rPr lang="vi-VN" sz="3200" dirty="0">
                <a:latin typeface="Times New Roman" panose="02020603050405020304" pitchFamily="18" charset="0"/>
                <a:cs typeface="Times New Roman" panose="02020603050405020304" pitchFamily="18" charset="0"/>
              </a:rPr>
              <a:t> Vòng lặp sự kiện lên lịch và chạy các tác vụ không đồng bộ.</a:t>
            </a:r>
          </a:p>
          <a:p>
            <a:pPr marL="1147763" indent="-457200" algn="just" defTabSz="1022350">
              <a:buFont typeface="Wingdings" panose="05000000000000000000" pitchFamily="2" charset="2"/>
              <a:buChar char="Ø"/>
            </a:pPr>
            <a:r>
              <a:rPr lang="vi-VN" sz="3200" b="1">
                <a:latin typeface="Times New Roman" panose="02020603050405020304" pitchFamily="18" charset="0"/>
                <a:cs typeface="Times New Roman" panose="02020603050405020304" pitchFamily="18" charset="0"/>
              </a:rPr>
              <a:t>loop.run_until_complete():</a:t>
            </a:r>
            <a:r>
              <a:rPr lang="vi-VN" sz="3200">
                <a:latin typeface="Times New Roman" panose="02020603050405020304" pitchFamily="18" charset="0"/>
                <a:cs typeface="Times New Roman" panose="02020603050405020304" pitchFamily="18" charset="0"/>
              </a:rPr>
              <a:t> </a:t>
            </a:r>
            <a:r>
              <a:rPr lang="vi-VN" sz="3200" dirty="0">
                <a:latin typeface="Times New Roman" panose="02020603050405020304" pitchFamily="18" charset="0"/>
                <a:cs typeface="Times New Roman" panose="02020603050405020304" pitchFamily="18" charset="0"/>
              </a:rPr>
              <a:t>Phương thức này sẽ không trả về cho đến khi tất cả các tác vụ không đồng bộ được thực hiện.</a:t>
            </a:r>
          </a:p>
        </p:txBody>
      </p:sp>
    </p:spTree>
    <p:extLst>
      <p:ext uri="{BB962C8B-B14F-4D97-AF65-F5344CB8AC3E}">
        <p14:creationId xmlns:p14="http://schemas.microsoft.com/office/powerpoint/2010/main" val="34964340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0755" y="200772"/>
            <a:ext cx="9102490" cy="833905"/>
          </a:xfrm>
        </p:spPr>
        <p:txBody>
          <a:bodyPr>
            <a:noAutofit/>
          </a:bodyPr>
          <a:lstStyle/>
          <a:p>
            <a:r>
              <a:rPr lang="en-US" dirty="0" err="1">
                <a:latin typeface="Times New Roman" panose="02020603050405020304" pitchFamily="18" charset="0"/>
                <a:cs typeface="Times New Roman" panose="02020603050405020304" pitchFamily="18" charset="0"/>
              </a:rPr>
              <a:t>Cập</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Nhật</a:t>
            </a:r>
            <a:r>
              <a:rPr lang="en-US" dirty="0">
                <a:latin typeface="Times New Roman" panose="02020603050405020304" pitchFamily="18" charset="0"/>
                <a:cs typeface="Times New Roman" panose="02020603050405020304" pitchFamily="18" charset="0"/>
              </a:rPr>
              <a:t> Thanh </a:t>
            </a:r>
            <a:r>
              <a:rPr lang="en-US" dirty="0" err="1">
                <a:latin typeface="Times New Roman" panose="02020603050405020304" pitchFamily="18" charset="0"/>
                <a:cs typeface="Times New Roman" panose="02020603050405020304" pitchFamily="18" charset="0"/>
              </a:rPr>
              <a:t>Tiến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Trình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Bằng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Cách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Sử</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Dụng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Luồng</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E2F2880-FDDD-4613-BCF9-F95D0AC31339}"/>
              </a:ext>
            </a:extLst>
          </p:cNvPr>
          <p:cNvSpPr>
            <a:spLocks noGrp="1"/>
          </p:cNvSpPr>
          <p:nvPr>
            <p:ph idx="1"/>
          </p:nvPr>
        </p:nvSpPr>
        <p:spPr>
          <a:xfrm>
            <a:off x="20755" y="1161458"/>
            <a:ext cx="9102490" cy="5696542"/>
          </a:xfrm>
        </p:spPr>
        <p:txBody>
          <a:bodyPr>
            <a:noAutofit/>
          </a:bodyPr>
          <a:lstStyle/>
          <a:p>
            <a:pPr marL="747713" indent="-457200" algn="just">
              <a:buFont typeface="Wingdings" panose="05000000000000000000" pitchFamily="2" charset="2"/>
              <a:buChar char="§"/>
            </a:pPr>
            <a:r>
              <a:rPr lang="vi-VN" sz="3200" dirty="0">
                <a:latin typeface="+mj-lt"/>
              </a:rPr>
              <a:t>Thanh tiến trình được sử dụng tích cực trong các ứng dụng để chỉ ra rằng một tác vụ đang hoạt động ở chế độ nền. </a:t>
            </a:r>
            <a:r>
              <a:rPr lang="en-US" sz="3200" dirty="0" err="1">
                <a:latin typeface="Times New Roman" panose="02020603050405020304" pitchFamily="18" charset="0"/>
                <a:cs typeface="Times New Roman" panose="02020603050405020304" pitchFamily="18" charset="0"/>
              </a:rPr>
              <a:t>Luồng</a:t>
            </a:r>
            <a:r>
              <a:rPr lang="en-US" sz="3200" dirty="0">
                <a:latin typeface="+mj-lt"/>
                <a:cs typeface="Times New Roman" panose="02020603050405020304" pitchFamily="18" charset="0"/>
              </a:rPr>
              <a:t> </a:t>
            </a:r>
            <a:r>
              <a:rPr lang="vi-VN" sz="3200" dirty="0">
                <a:latin typeface="+mj-lt"/>
              </a:rPr>
              <a:t>cũng làm tương tự và làm nhiệm vụ được giao. Chúng ta hãy xem làm thế nào thanh tiến trình và </a:t>
            </a:r>
            <a:r>
              <a:rPr lang="en-US" sz="3200" dirty="0" err="1">
                <a:latin typeface="Times New Roman" panose="02020603050405020304" pitchFamily="18" charset="0"/>
                <a:cs typeface="Times New Roman" panose="02020603050405020304" pitchFamily="18" charset="0"/>
              </a:rPr>
              <a:t>luồng</a:t>
            </a:r>
            <a:r>
              <a:rPr lang="en-US" sz="3200" dirty="0">
                <a:latin typeface="+mj-lt"/>
                <a:cs typeface="Times New Roman" panose="02020603050405020304" pitchFamily="18" charset="0"/>
              </a:rPr>
              <a:t> </a:t>
            </a:r>
            <a:r>
              <a:rPr lang="vi-VN" sz="3200" dirty="0">
                <a:latin typeface="+mj-lt"/>
              </a:rPr>
              <a:t>có thể được liên kết.</a:t>
            </a:r>
            <a:endParaRPr lang="en-US" sz="3200" dirty="0">
              <a:latin typeface="+mj-lt"/>
            </a:endParaRPr>
          </a:p>
          <a:p>
            <a:pPr marL="747713" indent="-457200" algn="just">
              <a:buFont typeface="Wingdings" panose="05000000000000000000" pitchFamily="2" charset="2"/>
              <a:buChar char="§"/>
            </a:pPr>
            <a:r>
              <a:rPr lang="vi-VN" sz="3200" dirty="0">
                <a:latin typeface="+mj-lt"/>
              </a:rPr>
              <a:t>Trong </a:t>
            </a:r>
            <a:r>
              <a:rPr lang="en-US" sz="3200" dirty="0" err="1">
                <a:latin typeface="Times New Roman" panose="02020603050405020304" pitchFamily="18" charset="0"/>
                <a:cs typeface="Times New Roman" panose="02020603050405020304" pitchFamily="18" charset="0"/>
              </a:rPr>
              <a:t>bài</a:t>
            </a:r>
            <a:r>
              <a:rPr lang="en-US" sz="3200" dirty="0">
                <a:latin typeface="+mj-lt"/>
              </a:rPr>
              <a:t> </a:t>
            </a:r>
            <a:r>
              <a:rPr lang="vi-VN" sz="3200" dirty="0">
                <a:latin typeface="+mj-lt"/>
              </a:rPr>
              <a:t>này, chúng t</a:t>
            </a:r>
            <a:r>
              <a:rPr lang="en-US" sz="3200" dirty="0">
                <a:latin typeface="+mj-lt"/>
              </a:rPr>
              <a:t>a</a:t>
            </a:r>
            <a:r>
              <a:rPr lang="vi-VN" sz="3200" dirty="0">
                <a:latin typeface="+mj-lt"/>
              </a:rPr>
              <a:t> sẽ hiển thị một thanh tiến trình đang được cập nhật bằng các luồng. Giá trị trong thanh tiến trình sẽ được cập nhật thông qua một luồng đang chạy.</a:t>
            </a:r>
            <a:endParaRPr lang="en-US" sz="3200" i="1" dirty="0">
              <a:latin typeface="+mj-lt"/>
              <a:cs typeface="Times New Roman" panose="02020603050405020304" pitchFamily="18" charset="0"/>
            </a:endParaRPr>
          </a:p>
        </p:txBody>
      </p:sp>
    </p:spTree>
    <p:extLst>
      <p:ext uri="{BB962C8B-B14F-4D97-AF65-F5344CB8AC3E}">
        <p14:creationId xmlns:p14="http://schemas.microsoft.com/office/powerpoint/2010/main" val="3238851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0755" y="200772"/>
            <a:ext cx="9102490" cy="833905"/>
          </a:xfrm>
        </p:spPr>
        <p:txBody>
          <a:bodyPr>
            <a:noAutofit/>
          </a:bodyPr>
          <a:lstStyle/>
          <a:p>
            <a:r>
              <a:rPr lang="en-US" dirty="0" err="1">
                <a:latin typeface="Times New Roman" panose="02020603050405020304" pitchFamily="18" charset="0"/>
                <a:cs typeface="Times New Roman" panose="02020603050405020304" pitchFamily="18" charset="0"/>
              </a:rPr>
              <a:t>Cập</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Nhật</a:t>
            </a:r>
            <a:r>
              <a:rPr lang="en-US" dirty="0">
                <a:latin typeface="Times New Roman" panose="02020603050405020304" pitchFamily="18" charset="0"/>
                <a:cs typeface="Times New Roman" panose="02020603050405020304" pitchFamily="18" charset="0"/>
              </a:rPr>
              <a:t> Thanh </a:t>
            </a:r>
            <a:r>
              <a:rPr lang="en-US" dirty="0" err="1">
                <a:latin typeface="Times New Roman" panose="02020603050405020304" pitchFamily="18" charset="0"/>
                <a:cs typeface="Times New Roman" panose="02020603050405020304" pitchFamily="18" charset="0"/>
              </a:rPr>
              <a:t>Tiến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Trình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Bằng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Cách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Sử</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Dụng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Luồng</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E2F2880-FDDD-4613-BCF9-F95D0AC31339}"/>
              </a:ext>
            </a:extLst>
          </p:cNvPr>
          <p:cNvSpPr>
            <a:spLocks noGrp="1"/>
          </p:cNvSpPr>
          <p:nvPr>
            <p:ph idx="1"/>
          </p:nvPr>
        </p:nvSpPr>
        <p:spPr>
          <a:xfrm>
            <a:off x="20755" y="1161458"/>
            <a:ext cx="9102490" cy="5696542"/>
          </a:xfrm>
        </p:spPr>
        <p:txBody>
          <a:bodyPr>
            <a:noAutofit/>
          </a:bodyPr>
          <a:lstStyle/>
          <a:p>
            <a:pPr marL="747713" indent="-457200" algn="just">
              <a:buFont typeface="Wingdings" panose="05000000000000000000" pitchFamily="2" charset="2"/>
              <a:buChar char="§"/>
            </a:pPr>
            <a:r>
              <a:rPr lang="vi-VN" sz="3200" dirty="0">
                <a:latin typeface="+mj-lt"/>
              </a:rPr>
              <a:t>Thanh tiến trình được sử dụng tích cực trong các ứng dụng để chỉ ra rằng một tác vụ đang hoạt động ở chế độ nền. </a:t>
            </a:r>
            <a:r>
              <a:rPr lang="en-US" sz="3200" dirty="0" err="1">
                <a:latin typeface="Times New Roman" panose="02020603050405020304" pitchFamily="18" charset="0"/>
                <a:cs typeface="Times New Roman" panose="02020603050405020304" pitchFamily="18" charset="0"/>
              </a:rPr>
              <a:t>Luồng</a:t>
            </a:r>
            <a:r>
              <a:rPr lang="en-US" sz="3200" dirty="0">
                <a:latin typeface="+mj-lt"/>
                <a:cs typeface="Times New Roman" panose="02020603050405020304" pitchFamily="18" charset="0"/>
              </a:rPr>
              <a:t> </a:t>
            </a:r>
            <a:r>
              <a:rPr lang="vi-VN" sz="3200" dirty="0">
                <a:latin typeface="+mj-lt"/>
              </a:rPr>
              <a:t>cũng làm tương tự và làm nhiệm vụ được giao. Chúng ta hãy xem làm thế nào thanh tiến trình và </a:t>
            </a:r>
            <a:r>
              <a:rPr lang="en-US" sz="3200" dirty="0" err="1">
                <a:latin typeface="Times New Roman" panose="02020603050405020304" pitchFamily="18" charset="0"/>
                <a:cs typeface="Times New Roman" panose="02020603050405020304" pitchFamily="18" charset="0"/>
              </a:rPr>
              <a:t>luồng</a:t>
            </a:r>
            <a:r>
              <a:rPr lang="en-US" sz="3200" dirty="0">
                <a:latin typeface="+mj-lt"/>
                <a:cs typeface="Times New Roman" panose="02020603050405020304" pitchFamily="18" charset="0"/>
              </a:rPr>
              <a:t> </a:t>
            </a:r>
            <a:r>
              <a:rPr lang="vi-VN" sz="3200" dirty="0">
                <a:latin typeface="+mj-lt"/>
              </a:rPr>
              <a:t>có thể được liên kết.</a:t>
            </a:r>
            <a:endParaRPr lang="en-US" sz="3200" dirty="0">
              <a:latin typeface="+mj-lt"/>
            </a:endParaRPr>
          </a:p>
          <a:p>
            <a:pPr marL="747713" indent="-457200" algn="just">
              <a:buFont typeface="Wingdings" panose="05000000000000000000" pitchFamily="2" charset="2"/>
              <a:buChar char="§"/>
            </a:pPr>
            <a:r>
              <a:rPr lang="vi-VN" sz="3200" dirty="0">
                <a:latin typeface="+mj-lt"/>
              </a:rPr>
              <a:t>Trong </a:t>
            </a:r>
            <a:r>
              <a:rPr lang="en-US" sz="3200" dirty="0" err="1">
                <a:latin typeface="Times New Roman" panose="02020603050405020304" pitchFamily="18" charset="0"/>
                <a:cs typeface="Times New Roman" panose="02020603050405020304" pitchFamily="18" charset="0"/>
              </a:rPr>
              <a:t>bài</a:t>
            </a:r>
            <a:r>
              <a:rPr lang="en-US" sz="3200" dirty="0">
                <a:latin typeface="+mj-lt"/>
              </a:rPr>
              <a:t> </a:t>
            </a:r>
            <a:r>
              <a:rPr lang="vi-VN" sz="3200" dirty="0">
                <a:latin typeface="+mj-lt"/>
              </a:rPr>
              <a:t>này, chúng t</a:t>
            </a:r>
            <a:r>
              <a:rPr lang="en-US" sz="3200" dirty="0">
                <a:latin typeface="+mj-lt"/>
              </a:rPr>
              <a:t>a</a:t>
            </a:r>
            <a:r>
              <a:rPr lang="vi-VN" sz="3200" dirty="0">
                <a:latin typeface="+mj-lt"/>
              </a:rPr>
              <a:t> sẽ hiển thị một thanh tiến trình đang được cập nhật bằng các luồng. Giá trị trong thanh tiến trình sẽ được cập nhật thông qua một luồng đang chạy.</a:t>
            </a:r>
            <a:endParaRPr lang="en-US" sz="3200" dirty="0">
              <a:latin typeface="+mj-lt"/>
            </a:endParaRPr>
          </a:p>
          <a:p>
            <a:pPr marL="747713" indent="-457200" algn="just">
              <a:buFont typeface="Wingdings" panose="05000000000000000000" pitchFamily="2" charset="2"/>
              <a:buChar char="§"/>
            </a:pPr>
            <a:r>
              <a:rPr lang="vi-VN" sz="3200" dirty="0">
                <a:latin typeface="+mj-lt"/>
              </a:rPr>
              <a:t>Để liên kết thanh tiến trình với một luồng và để cập nhật thanh tiến trình tương tác thông qua luồng, sử dụng các bước sau:</a:t>
            </a:r>
            <a:endParaRPr lang="en-US" sz="3200" i="1" dirty="0">
              <a:latin typeface="+mj-lt"/>
              <a:cs typeface="Times New Roman" panose="02020603050405020304" pitchFamily="18" charset="0"/>
            </a:endParaRPr>
          </a:p>
        </p:txBody>
      </p:sp>
    </p:spTree>
    <p:extLst>
      <p:ext uri="{BB962C8B-B14F-4D97-AF65-F5344CB8AC3E}">
        <p14:creationId xmlns:p14="http://schemas.microsoft.com/office/powerpoint/2010/main" val="4202115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0755" y="200772"/>
            <a:ext cx="9102490" cy="833905"/>
          </a:xfrm>
        </p:spPr>
        <p:txBody>
          <a:bodyPr>
            <a:noAutofit/>
          </a:bodyPr>
          <a:lstStyle/>
          <a:p>
            <a:r>
              <a:rPr lang="en-US" dirty="0" err="1">
                <a:latin typeface="Times New Roman" panose="02020603050405020304" pitchFamily="18" charset="0"/>
                <a:cs typeface="Times New Roman" panose="02020603050405020304" pitchFamily="18" charset="0"/>
              </a:rPr>
              <a:t>Cập</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Nhật</a:t>
            </a:r>
            <a:r>
              <a:rPr lang="en-US" dirty="0">
                <a:latin typeface="Times New Roman" panose="02020603050405020304" pitchFamily="18" charset="0"/>
                <a:cs typeface="Times New Roman" panose="02020603050405020304" pitchFamily="18" charset="0"/>
              </a:rPr>
              <a:t> Thanh </a:t>
            </a:r>
            <a:r>
              <a:rPr lang="en-US" dirty="0" err="1">
                <a:latin typeface="Times New Roman" panose="02020603050405020304" pitchFamily="18" charset="0"/>
                <a:cs typeface="Times New Roman" panose="02020603050405020304" pitchFamily="18" charset="0"/>
              </a:rPr>
              <a:t>Tiến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Trình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Bằng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Cách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Sử</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Dụng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Luồng</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E2F2880-FDDD-4613-BCF9-F95D0AC31339}"/>
              </a:ext>
            </a:extLst>
          </p:cNvPr>
          <p:cNvSpPr>
            <a:spLocks noGrp="1"/>
          </p:cNvSpPr>
          <p:nvPr>
            <p:ph idx="1"/>
          </p:nvPr>
        </p:nvSpPr>
        <p:spPr>
          <a:xfrm>
            <a:off x="20755" y="1161458"/>
            <a:ext cx="9102490" cy="5696542"/>
          </a:xfrm>
        </p:spPr>
        <p:txBody>
          <a:bodyPr>
            <a:noAutofit/>
          </a:bodyPr>
          <a:lstStyle/>
          <a:p>
            <a:pPr marL="804863" indent="-514350" algn="just">
              <a:buAutoNum type="arabicPeriod"/>
            </a:pPr>
            <a:r>
              <a:rPr lang="en-US" sz="3200" dirty="0" err="1">
                <a:latin typeface="Times New Roman" panose="02020603050405020304" pitchFamily="18" charset="0"/>
                <a:cs typeface="Times New Roman" panose="02020603050405020304" pitchFamily="18" charset="0"/>
              </a:rPr>
              <a:t>Hãy</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tạo</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một</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ứng</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dụng</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dựa</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trên</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mẫu</a:t>
            </a:r>
            <a:r>
              <a:rPr lang="en-US" sz="3200" dirty="0">
                <a:latin typeface="Times New Roman" panose="02020603050405020304" pitchFamily="18" charset="0"/>
                <a:cs typeface="Times New Roman" panose="02020603050405020304" pitchFamily="18" charset="0"/>
              </a:rPr>
              <a:t> </a:t>
            </a:r>
            <a:r>
              <a:rPr lang="en-US" sz="3200" b="1" dirty="0">
                <a:latin typeface="Times New Roman" panose="02020603050405020304" pitchFamily="18" charset="0"/>
                <a:cs typeface="Times New Roman" panose="02020603050405020304" pitchFamily="18" charset="0"/>
              </a:rPr>
              <a:t>Dialog without Buttons </a:t>
            </a:r>
          </a:p>
          <a:p>
            <a:pPr marL="804863" indent="-514350" algn="just">
              <a:buAutoNum type="arabicPeriod"/>
            </a:pPr>
            <a:r>
              <a:rPr lang="vi-VN" sz="3200" dirty="0">
                <a:latin typeface="Times New Roman" panose="02020603050405020304" pitchFamily="18" charset="0"/>
                <a:cs typeface="Times New Roman" panose="02020603050405020304" pitchFamily="18" charset="0"/>
              </a:rPr>
              <a:t>Thêm các tiện ích QLabel và QProgressBar vào form bằng cách kéo và thả các tiện ích Label và Progress Bar vào form.</a:t>
            </a:r>
            <a:endParaRPr lang="en-US" sz="3200" dirty="0">
              <a:latin typeface="Times New Roman" panose="02020603050405020304" pitchFamily="18" charset="0"/>
              <a:cs typeface="Times New Roman" panose="02020603050405020304" pitchFamily="18" charset="0"/>
            </a:endParaRPr>
          </a:p>
          <a:p>
            <a:pPr marL="804863" indent="-514350" algn="just">
              <a:buAutoNum type="arabicPeriod"/>
            </a:pPr>
            <a:r>
              <a:rPr lang="vi-VN" sz="3200" dirty="0">
                <a:latin typeface="Times New Roman" panose="02020603050405020304" pitchFamily="18" charset="0"/>
                <a:cs typeface="Times New Roman" panose="02020603050405020304" pitchFamily="18" charset="0"/>
              </a:rPr>
              <a:t>Đặt thuộc </a:t>
            </a:r>
            <a:r>
              <a:rPr lang="vi-VN" sz="3200">
                <a:latin typeface="Times New Roman" panose="02020603050405020304" pitchFamily="18" charset="0"/>
                <a:cs typeface="Times New Roman" panose="02020603050405020304" pitchFamily="18" charset="0"/>
              </a:rPr>
              <a:t>tính </a:t>
            </a:r>
            <a:r>
              <a:rPr lang="en-US" sz="3200">
                <a:latin typeface="Times New Roman" panose="02020603050405020304" pitchFamily="18" charset="0"/>
                <a:cs typeface="Times New Roman" panose="02020603050405020304" pitchFamily="18" charset="0"/>
              </a:rPr>
              <a:t>text </a:t>
            </a:r>
            <a:r>
              <a:rPr lang="vi-VN" sz="3200">
                <a:latin typeface="Times New Roman" panose="02020603050405020304" pitchFamily="18" charset="0"/>
                <a:cs typeface="Times New Roman" panose="02020603050405020304" pitchFamily="18" charset="0"/>
              </a:rPr>
              <a:t>của </a:t>
            </a:r>
            <a:r>
              <a:rPr lang="vi-VN" sz="3200" dirty="0">
                <a:latin typeface="Times New Roman" panose="02020603050405020304" pitchFamily="18" charset="0"/>
                <a:cs typeface="Times New Roman" panose="02020603050405020304" pitchFamily="18" charset="0"/>
              </a:rPr>
              <a:t>tiện ích Label thành Downloading the file.</a:t>
            </a:r>
            <a:endParaRPr lang="en-US" sz="3200" dirty="0">
              <a:latin typeface="Times New Roman" panose="02020603050405020304" pitchFamily="18" charset="0"/>
              <a:cs typeface="Times New Roman" panose="02020603050405020304" pitchFamily="18" charset="0"/>
            </a:endParaRPr>
          </a:p>
          <a:p>
            <a:pPr marL="804863" indent="-514350" algn="just">
              <a:buAutoNum type="arabicPeriod"/>
            </a:pPr>
            <a:r>
              <a:rPr lang="vi-VN" sz="3200" dirty="0">
                <a:latin typeface="Times New Roman" panose="02020603050405020304" pitchFamily="18" charset="0"/>
                <a:cs typeface="Times New Roman" panose="02020603050405020304" pitchFamily="18" charset="0"/>
              </a:rPr>
              <a:t>Đặt thuộc tính objectName của tiện ích Progress Bar là mặc định ProgressBar.</a:t>
            </a:r>
            <a:endParaRPr lang="en-US" sz="3200" dirty="0">
              <a:latin typeface="Times New Roman" panose="02020603050405020304" pitchFamily="18" charset="0"/>
              <a:cs typeface="Times New Roman" panose="02020603050405020304" pitchFamily="18" charset="0"/>
            </a:endParaRPr>
          </a:p>
          <a:p>
            <a:pPr marL="804863" indent="-514350" algn="just">
              <a:buAutoNum type="arabicPeriod"/>
            </a:pPr>
            <a:r>
              <a:rPr lang="vi-VN" sz="3200" dirty="0">
                <a:latin typeface="Times New Roman" panose="02020603050405020304" pitchFamily="18" charset="0"/>
                <a:cs typeface="Times New Roman" panose="02020603050405020304" pitchFamily="18" charset="0"/>
              </a:rPr>
              <a:t>Lưu ứng dụng dưới dạng demoProTHERBarThread.ui</a:t>
            </a:r>
            <a:r>
              <a:rPr lang="en-US" sz="3200" dirty="0">
                <a:latin typeface="Times New Roman" panose="02020603050405020304" pitchFamily="18" charset="0"/>
                <a:cs typeface="Times New Roman" panose="02020603050405020304" pitchFamily="18" charset="0"/>
              </a:rPr>
              <a:t>,</a:t>
            </a:r>
            <a:r>
              <a:rPr lang="vi-VN" sz="3200" dirty="0">
                <a:latin typeface="Times New Roman" panose="02020603050405020304" pitchFamily="18" charset="0"/>
                <a:cs typeface="Times New Roman" panose="02020603050405020304" pitchFamily="18" charset="0"/>
              </a:rPr>
              <a:t> form sẽ xuất hiện như trong ảnh chụp màn hình sau:</a:t>
            </a:r>
            <a:endParaRPr lang="en-US" sz="3200"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860558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0755" y="200772"/>
            <a:ext cx="9102490" cy="833905"/>
          </a:xfrm>
        </p:spPr>
        <p:txBody>
          <a:bodyPr>
            <a:noAutofit/>
          </a:bodyPr>
          <a:lstStyle/>
          <a:p>
            <a:r>
              <a:rPr lang="en-US" dirty="0" err="1">
                <a:latin typeface="Times New Roman" panose="02020603050405020304" pitchFamily="18" charset="0"/>
                <a:cs typeface="Times New Roman" panose="02020603050405020304" pitchFamily="18" charset="0"/>
              </a:rPr>
              <a:t>Cập</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Nhật</a:t>
            </a:r>
            <a:r>
              <a:rPr lang="en-US" dirty="0">
                <a:latin typeface="Times New Roman" panose="02020603050405020304" pitchFamily="18" charset="0"/>
                <a:cs typeface="Times New Roman" panose="02020603050405020304" pitchFamily="18" charset="0"/>
              </a:rPr>
              <a:t> Thanh </a:t>
            </a:r>
            <a:r>
              <a:rPr lang="en-US" dirty="0" err="1">
                <a:latin typeface="Times New Roman" panose="02020603050405020304" pitchFamily="18" charset="0"/>
                <a:cs typeface="Times New Roman" panose="02020603050405020304" pitchFamily="18" charset="0"/>
              </a:rPr>
              <a:t>Tiến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Trình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Bằng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Cách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Sử</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Dụng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Luồng</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E2F2880-FDDD-4613-BCF9-F95D0AC31339}"/>
              </a:ext>
            </a:extLst>
          </p:cNvPr>
          <p:cNvSpPr>
            <a:spLocks noGrp="1"/>
          </p:cNvSpPr>
          <p:nvPr>
            <p:ph idx="1"/>
          </p:nvPr>
        </p:nvSpPr>
        <p:spPr>
          <a:xfrm>
            <a:off x="20755" y="1161458"/>
            <a:ext cx="9102490" cy="5696542"/>
          </a:xfrm>
        </p:spPr>
        <p:txBody>
          <a:bodyPr>
            <a:noAutofit/>
          </a:bodyPr>
          <a:lstStyle/>
          <a:p>
            <a:pPr marL="804863" indent="-514350" algn="just">
              <a:buAutoNum type="arabicPeriod"/>
            </a:pPr>
            <a:endParaRPr lang="en-US" sz="3200" dirty="0">
              <a:latin typeface="Times New Roman" panose="02020603050405020304" pitchFamily="18" charset="0"/>
              <a:cs typeface="Times New Roman" panose="02020603050405020304" pitchFamily="18" charset="0"/>
            </a:endParaRPr>
          </a:p>
          <a:p>
            <a:pPr marL="804863" indent="-514350" algn="just">
              <a:buAutoNum type="arabicPeriod"/>
            </a:pPr>
            <a:endParaRPr lang="en-US" sz="3200" dirty="0">
              <a:latin typeface="Times New Roman" panose="02020603050405020304" pitchFamily="18" charset="0"/>
              <a:cs typeface="Times New Roman" panose="02020603050405020304" pitchFamily="18" charset="0"/>
            </a:endParaRPr>
          </a:p>
          <a:p>
            <a:pPr marL="804863" indent="-514350" algn="just">
              <a:buAutoNum type="arabicPeriod"/>
            </a:pPr>
            <a:endParaRPr lang="en-US" sz="3200" dirty="0">
              <a:latin typeface="Times New Roman" panose="02020603050405020304" pitchFamily="18" charset="0"/>
              <a:cs typeface="Times New Roman" panose="02020603050405020304" pitchFamily="18" charset="0"/>
            </a:endParaRPr>
          </a:p>
          <a:p>
            <a:pPr marL="804863" indent="-514350" algn="just">
              <a:buAutoNum type="arabicPeriod"/>
            </a:pPr>
            <a:endParaRPr lang="en-US" sz="3200" dirty="0">
              <a:latin typeface="Times New Roman" panose="02020603050405020304" pitchFamily="18" charset="0"/>
              <a:cs typeface="Times New Roman" panose="02020603050405020304" pitchFamily="18" charset="0"/>
            </a:endParaRPr>
          </a:p>
          <a:p>
            <a:pPr marL="804863" indent="-514350" algn="just">
              <a:buAutoNum type="arabicPeriod"/>
            </a:pPr>
            <a:endParaRPr lang="en-US" sz="3200" dirty="0">
              <a:latin typeface="Times New Roman" panose="02020603050405020304" pitchFamily="18" charset="0"/>
              <a:cs typeface="Times New Roman" panose="02020603050405020304" pitchFamily="18" charset="0"/>
            </a:endParaRPr>
          </a:p>
          <a:p>
            <a:pPr marL="290513" indent="0" algn="just">
              <a:buNone/>
            </a:pPr>
            <a:endParaRPr lang="en-US" sz="3200" dirty="0">
              <a:latin typeface="Times New Roman" panose="02020603050405020304" pitchFamily="18" charset="0"/>
              <a:cs typeface="Times New Roman" panose="02020603050405020304" pitchFamily="18" charset="0"/>
            </a:endParaRPr>
          </a:p>
          <a:p>
            <a:pPr marL="290513" indent="0" algn="just">
              <a:buNone/>
            </a:pPr>
            <a:r>
              <a:rPr lang="vi-VN" sz="3200" dirty="0">
                <a:latin typeface="+mj-lt"/>
              </a:rPr>
              <a:t>Giao diện người dùng được tạo bằng Qt Designer được lưu trữ trong file .ui, đây là file XML và cần được chuyển đổi thành </a:t>
            </a:r>
            <a:r>
              <a:rPr lang="en-US" sz="3200" dirty="0">
                <a:latin typeface="Times New Roman" panose="02020603050405020304" pitchFamily="18" charset="0"/>
                <a:cs typeface="Times New Roman" panose="02020603050405020304" pitchFamily="18" charset="0"/>
              </a:rPr>
              <a:t>code</a:t>
            </a:r>
            <a:r>
              <a:rPr lang="vi-VN" sz="3200" dirty="0">
                <a:latin typeface="+mj-lt"/>
              </a:rPr>
              <a:t> Python. </a:t>
            </a:r>
            <a:endParaRPr lang="en-US" sz="3200" i="1" dirty="0">
              <a:latin typeface="+mj-lt"/>
              <a:cs typeface="Times New Roman" panose="02020603050405020304" pitchFamily="18" charset="0"/>
            </a:endParaRPr>
          </a:p>
        </p:txBody>
      </p:sp>
      <p:pic>
        <p:nvPicPr>
          <p:cNvPr id="5" name="Picture 4" descr="sách Qt5-Python-GUI-Programming-Cookbook.pdf - Foxit Reader">
            <a:extLst>
              <a:ext uri="{FF2B5EF4-FFF2-40B4-BE49-F238E27FC236}">
                <a16:creationId xmlns:a16="http://schemas.microsoft.com/office/drawing/2014/main" id="{2BEDD709-3805-4ACA-AD48-4FB19A8BB2CE}"/>
              </a:ext>
            </a:extLst>
          </p:cNvPr>
          <p:cNvPicPr>
            <a:picLocks noChangeAspect="1"/>
          </p:cNvPicPr>
          <p:nvPr/>
        </p:nvPicPr>
        <p:blipFill rotWithShape="1">
          <a:blip r:embed="rId2">
            <a:extLst>
              <a:ext uri="{28A0092B-C50C-407E-A947-70E740481C1C}">
                <a14:useLocalDpi xmlns:a14="http://schemas.microsoft.com/office/drawing/2010/main" val="0"/>
              </a:ext>
            </a:extLst>
          </a:blip>
          <a:srcRect l="33774" t="37821" r="31509" b="33089"/>
          <a:stretch/>
        </p:blipFill>
        <p:spPr>
          <a:xfrm>
            <a:off x="1293962" y="1161457"/>
            <a:ext cx="5658929" cy="2979222"/>
          </a:xfrm>
          <a:prstGeom prst="rect">
            <a:avLst/>
          </a:prstGeom>
        </p:spPr>
      </p:pic>
    </p:spTree>
    <p:extLst>
      <p:ext uri="{BB962C8B-B14F-4D97-AF65-F5344CB8AC3E}">
        <p14:creationId xmlns:p14="http://schemas.microsoft.com/office/powerpoint/2010/main" val="26996807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0755" y="200772"/>
            <a:ext cx="9102490" cy="833905"/>
          </a:xfrm>
        </p:spPr>
        <p:txBody>
          <a:bodyPr>
            <a:noAutofit/>
          </a:bodyPr>
          <a:lstStyle/>
          <a:p>
            <a:r>
              <a:rPr lang="en-US" dirty="0" err="1">
                <a:latin typeface="Times New Roman" panose="02020603050405020304" pitchFamily="18" charset="0"/>
                <a:cs typeface="Times New Roman" panose="02020603050405020304" pitchFamily="18" charset="0"/>
              </a:rPr>
              <a:t>Cập</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Nhật</a:t>
            </a:r>
            <a:r>
              <a:rPr lang="en-US" dirty="0">
                <a:latin typeface="Times New Roman" panose="02020603050405020304" pitchFamily="18" charset="0"/>
                <a:cs typeface="Times New Roman" panose="02020603050405020304" pitchFamily="18" charset="0"/>
              </a:rPr>
              <a:t> Thanh </a:t>
            </a:r>
            <a:r>
              <a:rPr lang="en-US" dirty="0" err="1">
                <a:latin typeface="Times New Roman" panose="02020603050405020304" pitchFamily="18" charset="0"/>
                <a:cs typeface="Times New Roman" panose="02020603050405020304" pitchFamily="18" charset="0"/>
              </a:rPr>
              <a:t>Tiến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Trình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Bằng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Cách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Sử</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Dụng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Luồng</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E2F2880-FDDD-4613-BCF9-F95D0AC31339}"/>
              </a:ext>
            </a:extLst>
          </p:cNvPr>
          <p:cNvSpPr>
            <a:spLocks noGrp="1"/>
          </p:cNvSpPr>
          <p:nvPr>
            <p:ph idx="1"/>
          </p:nvPr>
        </p:nvSpPr>
        <p:spPr>
          <a:xfrm>
            <a:off x="20755" y="1161458"/>
            <a:ext cx="9102490" cy="5696542"/>
          </a:xfrm>
        </p:spPr>
        <p:txBody>
          <a:bodyPr>
            <a:noAutofit/>
          </a:bodyPr>
          <a:lstStyle/>
          <a:p>
            <a:pPr marL="290513" indent="0" algn="just">
              <a:buNone/>
            </a:pPr>
            <a:r>
              <a:rPr lang="vi-VN" dirty="0"/>
              <a:t>6. </a:t>
            </a:r>
            <a:r>
              <a:rPr lang="vi-VN" sz="3200" dirty="0">
                <a:latin typeface="+mj-lt"/>
              </a:rPr>
              <a:t>Hãy coi tập lệnh demoProTHERBarThread.py là một file tiêu đề và nhập nó vào file mà bạn sẽ gọi thiết kế giao diện người dùng của nó.</a:t>
            </a:r>
            <a:endParaRPr lang="en-US" sz="3200" dirty="0">
              <a:latin typeface="+mj-lt"/>
            </a:endParaRPr>
          </a:p>
          <a:p>
            <a:pPr marL="290513" indent="0" algn="just">
              <a:buNone/>
            </a:pPr>
            <a:r>
              <a:rPr lang="vi-VN" sz="3200" dirty="0">
                <a:latin typeface="+mj-lt"/>
              </a:rPr>
              <a:t>7. Tạo một file Python khác với tên callProTHERBar.pyw và nhập </a:t>
            </a:r>
            <a:r>
              <a:rPr lang="en-US" sz="3200" dirty="0">
                <a:latin typeface="+mj-lt"/>
              </a:rPr>
              <a:t>code</a:t>
            </a:r>
            <a:r>
              <a:rPr lang="vi-VN" sz="3200" dirty="0">
                <a:latin typeface="+mj-lt"/>
              </a:rPr>
              <a:t> demoProTHERBarThread.py vào đó:</a:t>
            </a:r>
            <a:endParaRPr lang="en-US" sz="3200" i="1" dirty="0">
              <a:latin typeface="+mj-lt"/>
              <a:cs typeface="Times New Roman" panose="02020603050405020304" pitchFamily="18" charset="0"/>
            </a:endParaRPr>
          </a:p>
        </p:txBody>
      </p:sp>
      <p:pic>
        <p:nvPicPr>
          <p:cNvPr id="6" name="Picture 5" descr="sách Qt5-Python-GUI-Programming-Cookbook.pdf - Foxit Reader">
            <a:extLst>
              <a:ext uri="{FF2B5EF4-FFF2-40B4-BE49-F238E27FC236}">
                <a16:creationId xmlns:a16="http://schemas.microsoft.com/office/drawing/2014/main" id="{BF7E2A0A-BBD3-4530-ABCE-25E74D648068}"/>
              </a:ext>
            </a:extLst>
          </p:cNvPr>
          <p:cNvPicPr>
            <a:picLocks noChangeAspect="1"/>
          </p:cNvPicPr>
          <p:nvPr/>
        </p:nvPicPr>
        <p:blipFill rotWithShape="1">
          <a:blip r:embed="rId2">
            <a:extLst>
              <a:ext uri="{28A0092B-C50C-407E-A947-70E740481C1C}">
                <a14:useLocalDpi xmlns:a14="http://schemas.microsoft.com/office/drawing/2010/main" val="0"/>
              </a:ext>
            </a:extLst>
          </a:blip>
          <a:srcRect l="31132" t="22049" r="30943" b="39398"/>
          <a:stretch/>
        </p:blipFill>
        <p:spPr>
          <a:xfrm>
            <a:off x="914400" y="4009729"/>
            <a:ext cx="7056407" cy="2846716"/>
          </a:xfrm>
          <a:prstGeom prst="rect">
            <a:avLst/>
          </a:prstGeom>
        </p:spPr>
      </p:pic>
    </p:spTree>
    <p:extLst>
      <p:ext uri="{BB962C8B-B14F-4D97-AF65-F5344CB8AC3E}">
        <p14:creationId xmlns:p14="http://schemas.microsoft.com/office/powerpoint/2010/main" val="3836286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0755" y="200772"/>
            <a:ext cx="9102490" cy="833905"/>
          </a:xfrm>
        </p:spPr>
        <p:txBody>
          <a:bodyPr>
            <a:noAutofit/>
          </a:bodyPr>
          <a:lstStyle/>
          <a:p>
            <a:r>
              <a:rPr lang="en-US" dirty="0" err="1">
                <a:latin typeface="Times New Roman" panose="02020603050405020304" pitchFamily="18" charset="0"/>
                <a:cs typeface="Times New Roman" panose="02020603050405020304" pitchFamily="18" charset="0"/>
              </a:rPr>
              <a:t>Cập</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Nhật</a:t>
            </a:r>
            <a:r>
              <a:rPr lang="en-US" dirty="0">
                <a:latin typeface="Times New Roman" panose="02020603050405020304" pitchFamily="18" charset="0"/>
                <a:cs typeface="Times New Roman" panose="02020603050405020304" pitchFamily="18" charset="0"/>
              </a:rPr>
              <a:t> Thanh </a:t>
            </a:r>
            <a:r>
              <a:rPr lang="en-US" dirty="0" err="1">
                <a:latin typeface="Times New Roman" panose="02020603050405020304" pitchFamily="18" charset="0"/>
                <a:cs typeface="Times New Roman" panose="02020603050405020304" pitchFamily="18" charset="0"/>
              </a:rPr>
              <a:t>Tiến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Trình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Bằng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Cách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Sử</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Dụng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Luồng</a:t>
            </a:r>
            <a:endParaRPr lang="en-US" dirty="0">
              <a:latin typeface="Times New Roman" panose="02020603050405020304" pitchFamily="18" charset="0"/>
              <a:cs typeface="Times New Roman" panose="02020603050405020304" pitchFamily="18" charset="0"/>
            </a:endParaRPr>
          </a:p>
        </p:txBody>
      </p:sp>
      <p:pic>
        <p:nvPicPr>
          <p:cNvPr id="5" name="Content Placeholder 4" descr="sách Qt5-Python-GUI-Programming-Cookbook.pdf - Foxit Reader">
            <a:extLst>
              <a:ext uri="{FF2B5EF4-FFF2-40B4-BE49-F238E27FC236}">
                <a16:creationId xmlns:a16="http://schemas.microsoft.com/office/drawing/2014/main" id="{E5EBB63C-88A8-4BF1-8650-6F523B47CE03}"/>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31425" t="12179" r="29152" b="45573"/>
          <a:stretch/>
        </p:blipFill>
        <p:spPr>
          <a:xfrm>
            <a:off x="534838" y="1358661"/>
            <a:ext cx="7988059" cy="4041475"/>
          </a:xfrm>
        </p:spPr>
      </p:pic>
    </p:spTree>
    <p:extLst>
      <p:ext uri="{BB962C8B-B14F-4D97-AF65-F5344CB8AC3E}">
        <p14:creationId xmlns:p14="http://schemas.microsoft.com/office/powerpoint/2010/main" val="42309564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0755" y="200772"/>
            <a:ext cx="9102490" cy="833905"/>
          </a:xfrm>
        </p:spPr>
        <p:txBody>
          <a:bodyPr>
            <a:noAutofit/>
          </a:bodyPr>
          <a:lstStyle/>
          <a:p>
            <a:r>
              <a:rPr lang="vi-VN" dirty="0">
                <a:cs typeface="Times New Roman" panose="02020603050405020304" pitchFamily="18" charset="0"/>
              </a:rPr>
              <a:t>Cập Nhật Hai Thanh Tiến Trình Bằng Hai Luồng</a:t>
            </a:r>
          </a:p>
        </p:txBody>
      </p:sp>
      <p:sp>
        <p:nvSpPr>
          <p:cNvPr id="4" name="Content Placeholder 3">
            <a:extLst>
              <a:ext uri="{FF2B5EF4-FFF2-40B4-BE49-F238E27FC236}">
                <a16:creationId xmlns:a16="http://schemas.microsoft.com/office/drawing/2014/main" id="{4546ABD8-FC6D-4FB1-A1EC-421E8CC0379D}"/>
              </a:ext>
            </a:extLst>
          </p:cNvPr>
          <p:cNvSpPr>
            <a:spLocks noGrp="1"/>
          </p:cNvSpPr>
          <p:nvPr>
            <p:ph idx="1"/>
          </p:nvPr>
        </p:nvSpPr>
        <p:spPr/>
        <p:txBody>
          <a:bodyPr>
            <a:noAutofit/>
          </a:bodyPr>
          <a:lstStyle/>
          <a:p>
            <a:pPr algn="just"/>
            <a:r>
              <a:rPr lang="vi-VN" sz="3200" dirty="0">
                <a:latin typeface="+mj-lt"/>
              </a:rPr>
              <a:t>Để đa nhiệm, bạn cần nhiều hơn một luồng chạy cùng lúc. Trọng tâm của </a:t>
            </a:r>
            <a:r>
              <a:rPr lang="en-US" sz="3200" dirty="0" err="1">
                <a:latin typeface="Times New Roman" panose="02020603050405020304" pitchFamily="18" charset="0"/>
                <a:cs typeface="Times New Roman" panose="02020603050405020304" pitchFamily="18" charset="0"/>
              </a:rPr>
              <a:t>bài</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này</a:t>
            </a:r>
            <a:r>
              <a:rPr lang="en-US" sz="3200" dirty="0">
                <a:latin typeface="Times New Roman" panose="02020603050405020304" pitchFamily="18" charset="0"/>
                <a:cs typeface="Times New Roman" panose="02020603050405020304" pitchFamily="18" charset="0"/>
              </a:rPr>
              <a:t> </a:t>
            </a:r>
            <a:r>
              <a:rPr lang="vi-VN" sz="3200" dirty="0">
                <a:latin typeface="+mj-lt"/>
              </a:rPr>
              <a:t>là tìm hiểu làm thế nào hai tác vụ có thể được thực hiện không đồng bộ thông qua hai luồng, nghĩa là thời gian CPU được phân bổ cho hai luồng này và cách chuyển đổi được thực hiện giữa chúng.</a:t>
            </a:r>
            <a:endParaRPr lang="en-US" sz="3200" dirty="0">
              <a:latin typeface="+mj-lt"/>
            </a:endParaRPr>
          </a:p>
          <a:p>
            <a:pPr algn="just"/>
            <a:r>
              <a:rPr lang="en-US" sz="3200" dirty="0" err="1">
                <a:latin typeface="Times New Roman" panose="02020603050405020304" pitchFamily="18" charset="0"/>
                <a:cs typeface="Times New Roman" panose="02020603050405020304" pitchFamily="18" charset="0"/>
              </a:rPr>
              <a:t>Bài</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này</a:t>
            </a:r>
            <a:r>
              <a:rPr lang="vi-VN" sz="3200" dirty="0">
                <a:latin typeface="Times New Roman" panose="02020603050405020304" pitchFamily="18" charset="0"/>
                <a:cs typeface="Times New Roman" panose="02020603050405020304" pitchFamily="18" charset="0"/>
              </a:rPr>
              <a:t> </a:t>
            </a:r>
            <a:r>
              <a:rPr lang="vi-VN" sz="3200" dirty="0">
                <a:latin typeface="+mj-lt"/>
              </a:rPr>
              <a:t>sẽ giúp bạn hiểu làm thế nào hai luồng chạy độc lập mà không can thiệp lẫn nhau. Chúng t</a:t>
            </a:r>
            <a:r>
              <a:rPr lang="en-US" sz="3200" dirty="0">
                <a:latin typeface="Times New Roman" panose="02020603050405020304" pitchFamily="18" charset="0"/>
                <a:cs typeface="Times New Roman" panose="02020603050405020304" pitchFamily="18" charset="0"/>
              </a:rPr>
              <a:t>a</a:t>
            </a:r>
            <a:r>
              <a:rPr lang="vi-VN" sz="3200" dirty="0">
                <a:latin typeface="+mj-lt"/>
              </a:rPr>
              <a:t> sẽ sử dụng hai thanh tiến trình trong </a:t>
            </a:r>
            <a:r>
              <a:rPr lang="en-US" sz="3200" dirty="0" err="1">
                <a:latin typeface="Times New Roman" panose="02020603050405020304" pitchFamily="18" charset="0"/>
                <a:cs typeface="Times New Roman" panose="02020603050405020304" pitchFamily="18" charset="0"/>
              </a:rPr>
              <a:t>bài</a:t>
            </a:r>
            <a:r>
              <a:rPr lang="en-US" sz="3200" dirty="0">
                <a:latin typeface="+mj-lt"/>
              </a:rPr>
              <a:t> </a:t>
            </a:r>
            <a:r>
              <a:rPr lang="vi-VN" sz="3200" dirty="0">
                <a:latin typeface="+mj-lt"/>
              </a:rPr>
              <a:t>này. Một thanh tiến trình sẽ biểu thị tiến trình tải xuống file và thanh tiến trình khác sẽ biểu thị tiến trình quét vi-rút trên ổ đĩa hiện tại. Cả hai thanh tiến trình sẽ tiến triển độc lập với nhau thông qua hai luồng khác nhau.</a:t>
            </a:r>
            <a:endParaRPr lang="en-US" sz="3200" dirty="0">
              <a:latin typeface="+mj-lt"/>
            </a:endParaRPr>
          </a:p>
        </p:txBody>
      </p:sp>
    </p:spTree>
    <p:extLst>
      <p:ext uri="{BB962C8B-B14F-4D97-AF65-F5344CB8AC3E}">
        <p14:creationId xmlns:p14="http://schemas.microsoft.com/office/powerpoint/2010/main" val="8155869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0755" y="200772"/>
            <a:ext cx="9102490" cy="833905"/>
          </a:xfrm>
        </p:spPr>
        <p:txBody>
          <a:bodyPr>
            <a:noAutofit/>
          </a:bodyPr>
          <a:lstStyle/>
          <a:p>
            <a:r>
              <a:rPr lang="vi-VN" dirty="0">
                <a:cs typeface="Times New Roman" panose="02020603050405020304" pitchFamily="18" charset="0"/>
              </a:rPr>
              <a:t>Cập Nhật Hai Thanh Tiến Trình Bằng Hai Luồng</a:t>
            </a:r>
          </a:p>
        </p:txBody>
      </p:sp>
      <p:sp>
        <p:nvSpPr>
          <p:cNvPr id="4" name="Content Placeholder 3">
            <a:extLst>
              <a:ext uri="{FF2B5EF4-FFF2-40B4-BE49-F238E27FC236}">
                <a16:creationId xmlns:a16="http://schemas.microsoft.com/office/drawing/2014/main" id="{4546ABD8-FC6D-4FB1-A1EC-421E8CC0379D}"/>
              </a:ext>
            </a:extLst>
          </p:cNvPr>
          <p:cNvSpPr>
            <a:spLocks noGrp="1"/>
          </p:cNvSpPr>
          <p:nvPr>
            <p:ph idx="1"/>
          </p:nvPr>
        </p:nvSpPr>
        <p:spPr/>
        <p:txBody>
          <a:bodyPr>
            <a:noAutofit/>
          </a:bodyPr>
          <a:lstStyle/>
          <a:p>
            <a:pPr algn="just"/>
            <a:r>
              <a:rPr lang="vi-VN" sz="3200" dirty="0">
                <a:latin typeface="+mj-lt"/>
              </a:rPr>
              <a:t>Chúng ta hãy tìm hiểu làm thế nào hai thanh tiến trình được quản lý bởi hai luồng. Để hiểu cách thời gian CPU được phân bổ cho mỗi luồng đang chạy để thực hiện đồng thời hai tác vụ, hãy thực hiện các bước sau:</a:t>
            </a:r>
            <a:endParaRPr lang="en-US" sz="3200" dirty="0">
              <a:latin typeface="+mj-lt"/>
            </a:endParaRPr>
          </a:p>
          <a:p>
            <a:pPr marL="514350" indent="-514350" algn="just">
              <a:buAutoNum type="arabicPeriod"/>
            </a:pPr>
            <a:r>
              <a:rPr lang="vi-VN" sz="3200" dirty="0">
                <a:latin typeface="+mj-lt"/>
              </a:rPr>
              <a:t>Hãy tạo một ứng dụng dựa trên mẫu Dialog without Buttons. </a:t>
            </a:r>
            <a:r>
              <a:rPr lang="vi-VN" sz="3200">
                <a:latin typeface="+mj-lt"/>
              </a:rPr>
              <a:t>Chúng t</a:t>
            </a:r>
            <a:r>
              <a:rPr lang="en-US" sz="3200">
                <a:latin typeface="Times New Roman" panose="02020603050405020304" pitchFamily="18" charset="0"/>
                <a:cs typeface="Times New Roman" panose="02020603050405020304" pitchFamily="18" charset="0"/>
              </a:rPr>
              <a:t>a</a:t>
            </a:r>
            <a:r>
              <a:rPr lang="vi-VN" sz="3200">
                <a:latin typeface="+mj-lt"/>
              </a:rPr>
              <a:t> </a:t>
            </a:r>
            <a:r>
              <a:rPr lang="vi-VN" sz="3200" dirty="0">
                <a:latin typeface="+mj-lt"/>
              </a:rPr>
              <a:t>cần hai cặp widget </a:t>
            </a:r>
            <a:r>
              <a:rPr lang="vi-VN" sz="3200" b="1" dirty="0">
                <a:latin typeface="+mj-lt"/>
              </a:rPr>
              <a:t>QLabel</a:t>
            </a:r>
            <a:r>
              <a:rPr lang="vi-VN" sz="3200" dirty="0">
                <a:latin typeface="+mj-lt"/>
              </a:rPr>
              <a:t> và </a:t>
            </a:r>
            <a:r>
              <a:rPr lang="vi-VN" sz="3200" b="1" dirty="0">
                <a:latin typeface="+mj-lt"/>
              </a:rPr>
              <a:t>QProgressBar</a:t>
            </a:r>
            <a:r>
              <a:rPr lang="vi-VN" sz="3200" dirty="0">
                <a:latin typeface="+mj-lt"/>
              </a:rPr>
              <a:t> trong ứng dụng này.</a:t>
            </a:r>
            <a:endParaRPr lang="en-US" sz="3200" dirty="0">
              <a:latin typeface="+mj-lt"/>
            </a:endParaRPr>
          </a:p>
          <a:p>
            <a:pPr marL="514350" indent="-514350" algn="just">
              <a:buAutoNum type="arabicPeriod"/>
            </a:pPr>
            <a:r>
              <a:rPr lang="vi-VN" sz="3200" dirty="0">
                <a:latin typeface="+mj-lt"/>
              </a:rPr>
              <a:t>Thêm một </a:t>
            </a:r>
            <a:r>
              <a:rPr lang="vi-VN" sz="3200" b="1" dirty="0">
                <a:latin typeface="+mj-lt"/>
              </a:rPr>
              <a:t>QLabel</a:t>
            </a:r>
            <a:r>
              <a:rPr lang="vi-VN" sz="3200" b="1" dirty="0"/>
              <a:t> </a:t>
            </a:r>
            <a:r>
              <a:rPr lang="vi-VN" sz="3200" dirty="0">
                <a:latin typeface="+mj-lt"/>
              </a:rPr>
              <a:t>và tiện ích </a:t>
            </a:r>
            <a:r>
              <a:rPr lang="vi-VN" sz="3200" b="1" dirty="0">
                <a:latin typeface="+mj-lt"/>
              </a:rPr>
              <a:t>QProgressBar</a:t>
            </a:r>
            <a:r>
              <a:rPr lang="vi-VN" sz="3200" dirty="0">
                <a:latin typeface="+mj-lt"/>
              </a:rPr>
              <a:t> vào biểu mẫu bằng cách kéo và thả tiện ích </a:t>
            </a:r>
            <a:r>
              <a:rPr lang="vi-VN" sz="3200" b="1" dirty="0">
                <a:latin typeface="+mj-lt"/>
              </a:rPr>
              <a:t>Label</a:t>
            </a:r>
            <a:r>
              <a:rPr lang="vi-VN" sz="3200" dirty="0">
                <a:latin typeface="+mj-lt"/>
              </a:rPr>
              <a:t> vào </a:t>
            </a:r>
            <a:r>
              <a:rPr lang="en-US" sz="3200" dirty="0">
                <a:latin typeface="Times New Roman" panose="02020603050405020304" pitchFamily="18" charset="0"/>
                <a:cs typeface="Times New Roman" panose="02020603050405020304" pitchFamily="18" charset="0"/>
              </a:rPr>
              <a:t>form</a:t>
            </a:r>
            <a:r>
              <a:rPr lang="en-US" sz="3200" dirty="0">
                <a:latin typeface="+mj-lt"/>
              </a:rPr>
              <a:t> </a:t>
            </a:r>
            <a:r>
              <a:rPr lang="vi-VN" sz="3200" dirty="0">
                <a:latin typeface="+mj-lt"/>
              </a:rPr>
              <a:t>và bên dưới tiện ích </a:t>
            </a:r>
            <a:r>
              <a:rPr lang="vi-VN" sz="3200" b="1" dirty="0">
                <a:latin typeface="+mj-lt"/>
              </a:rPr>
              <a:t>Label</a:t>
            </a:r>
            <a:r>
              <a:rPr lang="vi-VN" sz="3200" dirty="0">
                <a:latin typeface="+mj-lt"/>
              </a:rPr>
              <a:t>, kéo và thả thanh tiến trình trên </a:t>
            </a:r>
            <a:r>
              <a:rPr lang="en-US" sz="3200" dirty="0">
                <a:latin typeface="Times New Roman" panose="02020603050405020304" pitchFamily="18" charset="0"/>
                <a:cs typeface="Times New Roman" panose="02020603050405020304" pitchFamily="18" charset="0"/>
              </a:rPr>
              <a:t>form</a:t>
            </a:r>
            <a:r>
              <a:rPr lang="vi-VN" sz="3200" dirty="0">
                <a:latin typeface="+mj-lt"/>
              </a:rPr>
              <a:t>.</a:t>
            </a:r>
            <a:endParaRPr lang="en-US" sz="3200" dirty="0">
              <a:latin typeface="+mj-lt"/>
            </a:endParaRPr>
          </a:p>
        </p:txBody>
      </p:sp>
    </p:spTree>
    <p:extLst>
      <p:ext uri="{BB962C8B-B14F-4D97-AF65-F5344CB8AC3E}">
        <p14:creationId xmlns:p14="http://schemas.microsoft.com/office/powerpoint/2010/main" val="26758794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0755" y="200772"/>
            <a:ext cx="9102490" cy="833905"/>
          </a:xfrm>
        </p:spPr>
        <p:txBody>
          <a:bodyPr>
            <a:noAutofit/>
          </a:bodyPr>
          <a:lstStyle/>
          <a:p>
            <a:r>
              <a:rPr lang="vi-VN" dirty="0">
                <a:cs typeface="Times New Roman" panose="02020603050405020304" pitchFamily="18" charset="0"/>
              </a:rPr>
              <a:t>Cập Nhật Hai Thanh Tiến Trình Bằng Hai Luồng</a:t>
            </a:r>
          </a:p>
        </p:txBody>
      </p:sp>
      <p:sp>
        <p:nvSpPr>
          <p:cNvPr id="4" name="Content Placeholder 3">
            <a:extLst>
              <a:ext uri="{FF2B5EF4-FFF2-40B4-BE49-F238E27FC236}">
                <a16:creationId xmlns:a16="http://schemas.microsoft.com/office/drawing/2014/main" id="{4546ABD8-FC6D-4FB1-A1EC-421E8CC0379D}"/>
              </a:ext>
            </a:extLst>
          </p:cNvPr>
          <p:cNvSpPr>
            <a:spLocks noGrp="1"/>
          </p:cNvSpPr>
          <p:nvPr>
            <p:ph idx="1"/>
          </p:nvPr>
        </p:nvSpPr>
        <p:spPr/>
        <p:txBody>
          <a:bodyPr>
            <a:noAutofit/>
          </a:bodyPr>
          <a:lstStyle/>
          <a:p>
            <a:pPr marL="0" indent="0" algn="just">
              <a:buNone/>
            </a:pPr>
            <a:r>
              <a:rPr lang="vi-VN" sz="3200" dirty="0">
                <a:latin typeface="+mj-lt"/>
              </a:rPr>
              <a:t>3. Lặp lại quy trình cho một cặp tiện ích Label và Progress Bar khác.</a:t>
            </a:r>
            <a:endParaRPr lang="en-US" sz="3200" dirty="0">
              <a:latin typeface="+mj-lt"/>
            </a:endParaRPr>
          </a:p>
          <a:p>
            <a:pPr marL="0" indent="0" algn="just">
              <a:buNone/>
            </a:pPr>
            <a:r>
              <a:rPr lang="vi-VN" sz="3200" dirty="0">
                <a:latin typeface="+mj-lt"/>
              </a:rPr>
              <a:t>4. Đặt thuộc tính </a:t>
            </a:r>
            <a:r>
              <a:rPr lang="en-US" sz="3200" dirty="0">
                <a:latin typeface="Times New Roman" panose="02020603050405020304" pitchFamily="18" charset="0"/>
                <a:cs typeface="Times New Roman" panose="02020603050405020304" pitchFamily="18" charset="0"/>
              </a:rPr>
              <a:t>text</a:t>
            </a:r>
            <a:r>
              <a:rPr lang="en-US" sz="3200" dirty="0">
                <a:latin typeface="+mj-lt"/>
              </a:rPr>
              <a:t> </a:t>
            </a:r>
            <a:r>
              <a:rPr lang="vi-VN" sz="3200" dirty="0">
                <a:latin typeface="+mj-lt"/>
              </a:rPr>
              <a:t>của tiện ích Label đầu tiên thành </a:t>
            </a:r>
            <a:r>
              <a:rPr lang="vi-VN" sz="3200" i="1" dirty="0">
                <a:latin typeface="+mj-lt"/>
              </a:rPr>
              <a:t>Downloading the file</a:t>
            </a:r>
            <a:r>
              <a:rPr lang="vi-VN" sz="3200" dirty="0">
                <a:latin typeface="+mj-lt"/>
              </a:rPr>
              <a:t>.</a:t>
            </a:r>
            <a:endParaRPr lang="en-US" sz="3200" dirty="0">
              <a:latin typeface="+mj-lt"/>
            </a:endParaRPr>
          </a:p>
          <a:p>
            <a:pPr marL="0" indent="0" algn="just">
              <a:buNone/>
            </a:pPr>
            <a:r>
              <a:rPr lang="vi-VN" sz="3200" dirty="0">
                <a:latin typeface="+mj-lt"/>
              </a:rPr>
              <a:t>5. Đặt thuộc tính </a:t>
            </a:r>
            <a:r>
              <a:rPr lang="en-US" sz="3200" dirty="0">
                <a:latin typeface="Times New Roman" panose="02020603050405020304" pitchFamily="18" charset="0"/>
                <a:cs typeface="Times New Roman" panose="02020603050405020304" pitchFamily="18" charset="0"/>
              </a:rPr>
              <a:t>text</a:t>
            </a:r>
            <a:r>
              <a:rPr lang="en-US" sz="3200" dirty="0">
                <a:latin typeface="+mj-lt"/>
              </a:rPr>
              <a:t> </a:t>
            </a:r>
            <a:r>
              <a:rPr lang="vi-VN" sz="3200" dirty="0">
                <a:latin typeface="+mj-lt"/>
              </a:rPr>
              <a:t>của tiện ích Label thứ hai thành Scanning for Virus.</a:t>
            </a:r>
            <a:endParaRPr lang="en-US" sz="3200" dirty="0">
              <a:latin typeface="+mj-lt"/>
            </a:endParaRPr>
          </a:p>
          <a:p>
            <a:pPr marL="0" indent="0" algn="just">
              <a:buNone/>
            </a:pPr>
            <a:r>
              <a:rPr lang="vi-VN" sz="3200" dirty="0">
                <a:latin typeface="+mj-lt"/>
              </a:rPr>
              <a:t>6. Đặt thuộc tính objectName của thanh tiến trình đầu tiên thành progressBarFileDownload.</a:t>
            </a:r>
            <a:endParaRPr lang="en-US" sz="3200" dirty="0">
              <a:latin typeface="+mj-lt"/>
            </a:endParaRPr>
          </a:p>
          <a:p>
            <a:pPr marL="0" indent="0" algn="just">
              <a:buNone/>
            </a:pPr>
            <a:r>
              <a:rPr lang="vi-VN" sz="3200" dirty="0">
                <a:latin typeface="+mj-lt"/>
              </a:rPr>
              <a:t>7. Đặt thuộc tính objectName của thanh tiến trình thứ hai thành </a:t>
            </a:r>
            <a:r>
              <a:rPr lang="en-US" sz="3200" dirty="0">
                <a:latin typeface="+mj-lt"/>
              </a:rPr>
              <a:t>p</a:t>
            </a:r>
            <a:r>
              <a:rPr lang="vi-VN" sz="3200" dirty="0">
                <a:latin typeface="+mj-lt"/>
              </a:rPr>
              <a:t>rogressBarVirusScan.</a:t>
            </a:r>
            <a:endParaRPr lang="en-US" sz="3200" dirty="0">
              <a:latin typeface="+mj-lt"/>
            </a:endParaRPr>
          </a:p>
        </p:txBody>
      </p:sp>
    </p:spTree>
    <p:extLst>
      <p:ext uri="{BB962C8B-B14F-4D97-AF65-F5344CB8AC3E}">
        <p14:creationId xmlns:p14="http://schemas.microsoft.com/office/powerpoint/2010/main" val="26494694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0755" y="200772"/>
            <a:ext cx="9102490" cy="833905"/>
          </a:xfrm>
        </p:spPr>
        <p:txBody>
          <a:bodyPr>
            <a:noAutofit/>
          </a:bodyPr>
          <a:lstStyle/>
          <a:p>
            <a:r>
              <a:rPr lang="vi-VN" dirty="0">
                <a:cs typeface="Times New Roman" panose="02020603050405020304" pitchFamily="18" charset="0"/>
              </a:rPr>
              <a:t>Cập Nhật Hai Thanh Tiến Trình Bằng Hai Luồng</a:t>
            </a:r>
          </a:p>
        </p:txBody>
      </p:sp>
      <p:sp>
        <p:nvSpPr>
          <p:cNvPr id="4" name="Content Placeholder 3">
            <a:extLst>
              <a:ext uri="{FF2B5EF4-FFF2-40B4-BE49-F238E27FC236}">
                <a16:creationId xmlns:a16="http://schemas.microsoft.com/office/drawing/2014/main" id="{4546ABD8-FC6D-4FB1-A1EC-421E8CC0379D}"/>
              </a:ext>
            </a:extLst>
          </p:cNvPr>
          <p:cNvSpPr>
            <a:spLocks noGrp="1"/>
          </p:cNvSpPr>
          <p:nvPr>
            <p:ph idx="1"/>
          </p:nvPr>
        </p:nvSpPr>
        <p:spPr/>
        <p:txBody>
          <a:bodyPr>
            <a:noAutofit/>
          </a:bodyPr>
          <a:lstStyle/>
          <a:p>
            <a:pPr marL="0" indent="0" algn="just">
              <a:buNone/>
            </a:pPr>
            <a:r>
              <a:rPr lang="vi-VN" sz="3200" dirty="0">
                <a:latin typeface="+mj-lt"/>
              </a:rPr>
              <a:t>8. Lưu ứng dụng dưới dạng demoTwoProTHERBars.ui. Sau khi thực hiện các bước trước, biểu mẫu sẽ xuất hiện như được hiển thị trong ảnh chụp màn hình sau:</a:t>
            </a:r>
            <a:endParaRPr lang="en-US" sz="3200" dirty="0">
              <a:latin typeface="+mj-lt"/>
            </a:endParaRPr>
          </a:p>
        </p:txBody>
      </p:sp>
      <p:pic>
        <p:nvPicPr>
          <p:cNvPr id="5" name="Picture 4" descr="sách Qt5-Python-GUI-Programming-Cookbook.pdf - Foxit Reader">
            <a:extLst>
              <a:ext uri="{FF2B5EF4-FFF2-40B4-BE49-F238E27FC236}">
                <a16:creationId xmlns:a16="http://schemas.microsoft.com/office/drawing/2014/main" id="{33D24EBD-F761-4AE2-84CE-9847DFD2B834}"/>
              </a:ext>
            </a:extLst>
          </p:cNvPr>
          <p:cNvPicPr>
            <a:picLocks noChangeAspect="1"/>
          </p:cNvPicPr>
          <p:nvPr/>
        </p:nvPicPr>
        <p:blipFill rotWithShape="1">
          <a:blip r:embed="rId2">
            <a:extLst>
              <a:ext uri="{28A0092B-C50C-407E-A947-70E740481C1C}">
                <a14:useLocalDpi xmlns:a14="http://schemas.microsoft.com/office/drawing/2010/main" val="0"/>
              </a:ext>
            </a:extLst>
          </a:blip>
          <a:srcRect l="36604" t="32212" r="34717" b="22225"/>
          <a:stretch/>
        </p:blipFill>
        <p:spPr>
          <a:xfrm>
            <a:off x="2225614" y="2733739"/>
            <a:ext cx="4692771" cy="3923489"/>
          </a:xfrm>
          <a:prstGeom prst="rect">
            <a:avLst/>
          </a:prstGeom>
        </p:spPr>
      </p:pic>
    </p:spTree>
    <p:extLst>
      <p:ext uri="{BB962C8B-B14F-4D97-AF65-F5344CB8AC3E}">
        <p14:creationId xmlns:p14="http://schemas.microsoft.com/office/powerpoint/2010/main" val="9339564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0755" y="200772"/>
            <a:ext cx="9102490" cy="833905"/>
          </a:xfrm>
        </p:spPr>
        <p:txBody>
          <a:bodyPr>
            <a:noAutofit/>
          </a:bodyPr>
          <a:lstStyle/>
          <a:p>
            <a:r>
              <a:rPr lang="vi-VN" dirty="0">
                <a:cs typeface="Times New Roman" panose="02020603050405020304" pitchFamily="18" charset="0"/>
              </a:rPr>
              <a:t>Cập Nhật Hai Thanh Tiến Trình Bằng Hai Luồng</a:t>
            </a:r>
          </a:p>
        </p:txBody>
      </p:sp>
      <p:sp>
        <p:nvSpPr>
          <p:cNvPr id="4" name="Content Placeholder 3">
            <a:extLst>
              <a:ext uri="{FF2B5EF4-FFF2-40B4-BE49-F238E27FC236}">
                <a16:creationId xmlns:a16="http://schemas.microsoft.com/office/drawing/2014/main" id="{4546ABD8-FC6D-4FB1-A1EC-421E8CC0379D}"/>
              </a:ext>
            </a:extLst>
          </p:cNvPr>
          <p:cNvSpPr>
            <a:spLocks noGrp="1"/>
          </p:cNvSpPr>
          <p:nvPr>
            <p:ph idx="1"/>
          </p:nvPr>
        </p:nvSpPr>
        <p:spPr/>
        <p:txBody>
          <a:bodyPr>
            <a:noAutofit/>
          </a:bodyPr>
          <a:lstStyle/>
          <a:p>
            <a:pPr marL="0" indent="0" algn="just">
              <a:buNone/>
            </a:pPr>
            <a:r>
              <a:rPr lang="vi-VN" sz="3200" dirty="0">
                <a:latin typeface="+mj-lt"/>
              </a:rPr>
              <a:t>Giao diện người dùng được tạo bằng Qt Designer được lưu trữ trong file .ui là file XML. Bằng cách áp dụng tiện ích pyuic5, file XML có thể được chuyển đổi thành mã Python. </a:t>
            </a:r>
            <a:endParaRPr lang="en-US" sz="3200" dirty="0">
              <a:latin typeface="+mj-lt"/>
            </a:endParaRPr>
          </a:p>
          <a:p>
            <a:pPr marL="0" indent="0" algn="just">
              <a:buNone/>
            </a:pPr>
            <a:r>
              <a:rPr lang="vi-VN" sz="3200" dirty="0">
                <a:latin typeface="+mj-lt"/>
              </a:rPr>
              <a:t>9. Hãy coi tập lệnh demoTwoProTHERBars.py như một </a:t>
            </a:r>
            <a:r>
              <a:rPr lang="en-US" sz="3200" dirty="0">
                <a:latin typeface="Times New Roman" panose="02020603050405020304" pitchFamily="18" charset="0"/>
                <a:cs typeface="Times New Roman" panose="02020603050405020304" pitchFamily="18" charset="0"/>
              </a:rPr>
              <a:t>file</a:t>
            </a:r>
            <a:r>
              <a:rPr lang="vi-VN" sz="3200" dirty="0">
                <a:latin typeface="+mj-lt"/>
              </a:rPr>
              <a:t> tiêu đề và nhập nó vào </a:t>
            </a:r>
            <a:r>
              <a:rPr lang="en-US" sz="3200" dirty="0">
                <a:latin typeface="Times New Roman" panose="02020603050405020304" pitchFamily="18" charset="0"/>
                <a:cs typeface="Times New Roman" panose="02020603050405020304" pitchFamily="18" charset="0"/>
              </a:rPr>
              <a:t>file</a:t>
            </a:r>
            <a:r>
              <a:rPr lang="vi-VN" sz="3200" dirty="0">
                <a:latin typeface="+mj-lt"/>
              </a:rPr>
              <a:t> mà bạn sẽ gọi thiết kế giao diện người dùng của </a:t>
            </a:r>
            <a:r>
              <a:rPr lang="vi-VN" sz="3200">
                <a:latin typeface="+mj-lt"/>
              </a:rPr>
              <a:t>nó.</a:t>
            </a:r>
            <a:endParaRPr lang="en-US" sz="3200">
              <a:latin typeface="+mj-lt"/>
            </a:endParaRPr>
          </a:p>
          <a:p>
            <a:pPr marL="0" indent="0" algn="just">
              <a:buNone/>
            </a:pPr>
            <a:r>
              <a:rPr lang="vi-VN" sz="3200">
                <a:latin typeface="+mj-lt"/>
              </a:rPr>
              <a:t>10</a:t>
            </a:r>
            <a:r>
              <a:rPr lang="vi-VN" sz="3200" dirty="0">
                <a:latin typeface="+mj-lt"/>
              </a:rPr>
              <a:t>. Tạo một </a:t>
            </a:r>
            <a:r>
              <a:rPr lang="en-US" sz="3200" dirty="0">
                <a:latin typeface="Times New Roman" panose="02020603050405020304" pitchFamily="18" charset="0"/>
                <a:cs typeface="Times New Roman" panose="02020603050405020304" pitchFamily="18" charset="0"/>
              </a:rPr>
              <a:t>file</a:t>
            </a:r>
            <a:r>
              <a:rPr lang="vi-VN" sz="3200" dirty="0">
                <a:latin typeface="+mj-lt"/>
              </a:rPr>
              <a:t> Python khác với tên callProTHERBarTwoThreads.pyw và </a:t>
            </a:r>
            <a:r>
              <a:rPr lang="vi-VN" sz="3200">
                <a:latin typeface="+mj-lt"/>
              </a:rPr>
              <a:t>nhập </a:t>
            </a:r>
            <a:r>
              <a:rPr lang="en-US" sz="3200">
                <a:latin typeface="Times New Roman" panose="02020603050405020304" pitchFamily="18" charset="0"/>
                <a:cs typeface="Times New Roman" panose="02020603050405020304" pitchFamily="18" charset="0"/>
              </a:rPr>
              <a:t>code</a:t>
            </a:r>
            <a:r>
              <a:rPr lang="vi-VN" sz="3200">
                <a:latin typeface="+mj-lt"/>
              </a:rPr>
              <a:t> </a:t>
            </a:r>
            <a:r>
              <a:rPr lang="vi-VN" sz="3200" dirty="0">
                <a:latin typeface="+mj-lt"/>
              </a:rPr>
              <a:t>demoTwoProTHERBars.py vào đó:</a:t>
            </a:r>
            <a:endParaRPr lang="en-US" sz="3200" dirty="0">
              <a:latin typeface="+mj-lt"/>
            </a:endParaRPr>
          </a:p>
        </p:txBody>
      </p:sp>
    </p:spTree>
    <p:extLst>
      <p:ext uri="{BB962C8B-B14F-4D97-AF65-F5344CB8AC3E}">
        <p14:creationId xmlns:p14="http://schemas.microsoft.com/office/powerpoint/2010/main" val="35724139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0755" y="200772"/>
            <a:ext cx="9102490" cy="833905"/>
          </a:xfrm>
        </p:spPr>
        <p:txBody>
          <a:bodyPr>
            <a:noAutofit/>
          </a:bodyPr>
          <a:lstStyle/>
          <a:p>
            <a:r>
              <a:rPr lang="vi-VN" dirty="0">
                <a:cs typeface="Times New Roman" panose="02020603050405020304" pitchFamily="18" charset="0"/>
              </a:rPr>
              <a:t>Cập Nhật Hai Thanh Tiến Trình Bằng Hai Luồng</a:t>
            </a:r>
          </a:p>
        </p:txBody>
      </p:sp>
      <p:sp>
        <p:nvSpPr>
          <p:cNvPr id="4" name="Content Placeholder 3">
            <a:extLst>
              <a:ext uri="{FF2B5EF4-FFF2-40B4-BE49-F238E27FC236}">
                <a16:creationId xmlns:a16="http://schemas.microsoft.com/office/drawing/2014/main" id="{4546ABD8-FC6D-4FB1-A1EC-421E8CC0379D}"/>
              </a:ext>
            </a:extLst>
          </p:cNvPr>
          <p:cNvSpPr>
            <a:spLocks noGrp="1"/>
          </p:cNvSpPr>
          <p:nvPr>
            <p:ph idx="1"/>
          </p:nvPr>
        </p:nvSpPr>
        <p:spPr/>
        <p:txBody>
          <a:bodyPr>
            <a:noAutofit/>
          </a:bodyPr>
          <a:lstStyle/>
          <a:p>
            <a:pPr marL="0" indent="0" algn="just">
              <a:buNone/>
            </a:pPr>
            <a:endParaRPr lang="en-US" sz="3200" dirty="0">
              <a:latin typeface="+mj-lt"/>
            </a:endParaRPr>
          </a:p>
        </p:txBody>
      </p:sp>
      <p:pic>
        <p:nvPicPr>
          <p:cNvPr id="5" name="Picture 4" descr="sách Qt5-Python-GUI-Programming-Cookbook.pdf - Foxit Reader">
            <a:extLst>
              <a:ext uri="{FF2B5EF4-FFF2-40B4-BE49-F238E27FC236}">
                <a16:creationId xmlns:a16="http://schemas.microsoft.com/office/drawing/2014/main" id="{BC6105BE-E6EB-45C6-B46A-2483FBC05B64}"/>
              </a:ext>
            </a:extLst>
          </p:cNvPr>
          <p:cNvPicPr>
            <a:picLocks noChangeAspect="1"/>
          </p:cNvPicPr>
          <p:nvPr/>
        </p:nvPicPr>
        <p:blipFill rotWithShape="1">
          <a:blip r:embed="rId2">
            <a:extLst>
              <a:ext uri="{28A0092B-C50C-407E-A947-70E740481C1C}">
                <a14:useLocalDpi xmlns:a14="http://schemas.microsoft.com/office/drawing/2010/main" val="0"/>
              </a:ext>
            </a:extLst>
          </a:blip>
          <a:srcRect l="31132" t="15390" r="28491" b="20822"/>
          <a:stretch/>
        </p:blipFill>
        <p:spPr>
          <a:xfrm>
            <a:off x="19250" y="1034677"/>
            <a:ext cx="8538153" cy="5622551"/>
          </a:xfrm>
          <a:prstGeom prst="rect">
            <a:avLst/>
          </a:prstGeom>
        </p:spPr>
      </p:pic>
    </p:spTree>
    <p:extLst>
      <p:ext uri="{BB962C8B-B14F-4D97-AF65-F5344CB8AC3E}">
        <p14:creationId xmlns:p14="http://schemas.microsoft.com/office/powerpoint/2010/main" val="5783500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0755" y="200772"/>
            <a:ext cx="9102490" cy="833905"/>
          </a:xfrm>
        </p:spPr>
        <p:txBody>
          <a:bodyPr>
            <a:noAutofit/>
          </a:bodyPr>
          <a:lstStyle/>
          <a:p>
            <a:r>
              <a:rPr lang="vi-VN" dirty="0">
                <a:cs typeface="Times New Roman" panose="02020603050405020304" pitchFamily="18" charset="0"/>
              </a:rPr>
              <a:t>Cập Nhật Hai Thanh Tiến Trình Bằng Hai Luồng</a:t>
            </a:r>
          </a:p>
        </p:txBody>
      </p:sp>
      <p:pic>
        <p:nvPicPr>
          <p:cNvPr id="6" name="Content Placeholder 5" descr="sách Qt5-Python-GUI-Programming-Cookbook.pdf - Foxit Reader">
            <a:extLst>
              <a:ext uri="{FF2B5EF4-FFF2-40B4-BE49-F238E27FC236}">
                <a16:creationId xmlns:a16="http://schemas.microsoft.com/office/drawing/2014/main" id="{812B9A8C-83A5-441D-91B9-53BBA013E9D8}"/>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31787" t="30107" r="28600" b="41728"/>
          <a:stretch/>
        </p:blipFill>
        <p:spPr>
          <a:xfrm>
            <a:off x="258792" y="1328467"/>
            <a:ext cx="7919050" cy="3709359"/>
          </a:xfrm>
        </p:spPr>
      </p:pic>
    </p:spTree>
    <p:extLst>
      <p:ext uri="{BB962C8B-B14F-4D97-AF65-F5344CB8AC3E}">
        <p14:creationId xmlns:p14="http://schemas.microsoft.com/office/powerpoint/2010/main" val="37156495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0" y="223240"/>
            <a:ext cx="9102490" cy="1314623"/>
          </a:xfrm>
        </p:spPr>
        <p:txBody>
          <a:bodyPr>
            <a:noAutofit/>
          </a:bodyPr>
          <a:lstStyle/>
          <a:p>
            <a:r>
              <a:rPr lang="vi-VN" dirty="0"/>
              <a:t>Cập Nhật Các Thanh Tiến Trình Bằng Cách Sử Dụng Các Luồng Bị Ràng Buộc Với Một Cơ Chế Khóa</a:t>
            </a:r>
            <a:endParaRPr lang="vi-VN" dirty="0">
              <a:cs typeface="Times New Roman" panose="02020603050405020304" pitchFamily="18" charset="0"/>
            </a:endParaRPr>
          </a:p>
        </p:txBody>
      </p:sp>
      <p:sp>
        <p:nvSpPr>
          <p:cNvPr id="4" name="Content Placeholder 3">
            <a:extLst>
              <a:ext uri="{FF2B5EF4-FFF2-40B4-BE49-F238E27FC236}">
                <a16:creationId xmlns:a16="http://schemas.microsoft.com/office/drawing/2014/main" id="{2718221C-0E3F-4F00-80D5-83C7874A666E}"/>
              </a:ext>
            </a:extLst>
          </p:cNvPr>
          <p:cNvSpPr>
            <a:spLocks noGrp="1"/>
          </p:cNvSpPr>
          <p:nvPr>
            <p:ph idx="1"/>
          </p:nvPr>
        </p:nvSpPr>
        <p:spPr>
          <a:xfrm>
            <a:off x="41510" y="1742536"/>
            <a:ext cx="9102490" cy="5115464"/>
          </a:xfrm>
        </p:spPr>
        <p:txBody>
          <a:bodyPr>
            <a:normAutofit/>
          </a:bodyPr>
          <a:lstStyle/>
          <a:p>
            <a:pPr algn="just"/>
            <a:r>
              <a:rPr lang="en-US" sz="3200" dirty="0" err="1">
                <a:latin typeface="Times New Roman" panose="02020603050405020304" pitchFamily="18" charset="0"/>
                <a:cs typeface="Times New Roman" panose="02020603050405020304" pitchFamily="18" charset="0"/>
              </a:rPr>
              <a:t>Phần</a:t>
            </a:r>
            <a:r>
              <a:rPr lang="en-US" sz="3200" dirty="0">
                <a:latin typeface="Times New Roman" panose="02020603050405020304" pitchFamily="18" charset="0"/>
                <a:cs typeface="Times New Roman" panose="02020603050405020304" pitchFamily="18" charset="0"/>
              </a:rPr>
              <a:t> </a:t>
            </a:r>
            <a:r>
              <a:rPr lang="vi-VN" sz="3200" dirty="0">
                <a:latin typeface="Times New Roman" panose="02020603050405020304" pitchFamily="18" charset="0"/>
                <a:cs typeface="Times New Roman" panose="02020603050405020304" pitchFamily="18" charset="0"/>
              </a:rPr>
              <a:t>này sẽ giúp bạn hiểu làm thế nào hai </a:t>
            </a:r>
            <a:r>
              <a:rPr lang="en-US" sz="3200" dirty="0" err="1">
                <a:latin typeface="Times New Roman" panose="02020603050405020304" pitchFamily="18" charset="0"/>
                <a:cs typeface="Times New Roman" panose="02020603050405020304" pitchFamily="18" charset="0"/>
              </a:rPr>
              <a:t>luồng</a:t>
            </a:r>
            <a:r>
              <a:rPr lang="en-US" sz="3200" dirty="0">
                <a:latin typeface="Times New Roman" panose="02020603050405020304" pitchFamily="18" charset="0"/>
                <a:cs typeface="Times New Roman" panose="02020603050405020304" pitchFamily="18" charset="0"/>
              </a:rPr>
              <a:t> </a:t>
            </a:r>
            <a:r>
              <a:rPr lang="vi-VN" sz="3200" dirty="0">
                <a:latin typeface="Times New Roman" panose="02020603050405020304" pitchFamily="18" charset="0"/>
                <a:cs typeface="Times New Roman" panose="02020603050405020304" pitchFamily="18" charset="0"/>
              </a:rPr>
              <a:t>có thể tránh sự mơ hồ bằng cách sử dụng các khóa. Đó là cách các tài nguyên được chia sẻ có thể được truy cập và thao tác bởi hai luồng đồng thời, mà không đưa ra kết quả mơ hồ.</a:t>
            </a:r>
            <a:endParaRPr lang="en-US" sz="3200" dirty="0">
              <a:latin typeface="Times New Roman" panose="02020603050405020304" pitchFamily="18" charset="0"/>
              <a:cs typeface="Times New Roman" panose="02020603050405020304" pitchFamily="18" charset="0"/>
            </a:endParaRPr>
          </a:p>
          <a:p>
            <a:pPr algn="just"/>
            <a:r>
              <a:rPr lang="vi-VN" sz="3200" dirty="0">
                <a:latin typeface="Times New Roman" panose="02020603050405020304" pitchFamily="18" charset="0"/>
                <a:cs typeface="Times New Roman" panose="02020603050405020304" pitchFamily="18" charset="0"/>
              </a:rPr>
              <a:t>Chúng t</a:t>
            </a:r>
            <a:r>
              <a:rPr lang="en-US" sz="3200" dirty="0">
                <a:latin typeface="Times New Roman" panose="02020603050405020304" pitchFamily="18" charset="0"/>
                <a:cs typeface="Times New Roman" panose="02020603050405020304" pitchFamily="18" charset="0"/>
              </a:rPr>
              <a:t>a</a:t>
            </a:r>
            <a:r>
              <a:rPr lang="vi-VN" sz="3200" dirty="0">
                <a:latin typeface="Times New Roman" panose="02020603050405020304" pitchFamily="18" charset="0"/>
                <a:cs typeface="Times New Roman" panose="02020603050405020304" pitchFamily="18" charset="0"/>
              </a:rPr>
              <a:t> sẽ sử dụng hai thanh tiến trình trong </a:t>
            </a:r>
            <a:r>
              <a:rPr lang="en-US" sz="3200" dirty="0" err="1">
                <a:latin typeface="Times New Roman" panose="02020603050405020304" pitchFamily="18" charset="0"/>
                <a:cs typeface="Times New Roman" panose="02020603050405020304" pitchFamily="18" charset="0"/>
              </a:rPr>
              <a:t>phần</a:t>
            </a:r>
            <a:r>
              <a:rPr lang="vi-VN" sz="3200" dirty="0">
                <a:latin typeface="Times New Roman" panose="02020603050405020304" pitchFamily="18" charset="0"/>
                <a:cs typeface="Times New Roman" panose="02020603050405020304" pitchFamily="18" charset="0"/>
              </a:rPr>
              <a:t> này. Một thanh tiến trình sẽ biểu thị tiến trình tải </a:t>
            </a:r>
            <a:r>
              <a:rPr lang="en-US" sz="3200" dirty="0">
                <a:latin typeface="Times New Roman" panose="02020603050405020304" pitchFamily="18" charset="0"/>
                <a:cs typeface="Times New Roman" panose="02020603050405020304" pitchFamily="18" charset="0"/>
              </a:rPr>
              <a:t>file </a:t>
            </a:r>
            <a:r>
              <a:rPr lang="vi-VN" sz="3200" dirty="0">
                <a:latin typeface="Times New Roman" panose="02020603050405020304" pitchFamily="18" charset="0"/>
                <a:cs typeface="Times New Roman" panose="02020603050405020304" pitchFamily="18" charset="0"/>
              </a:rPr>
              <a:t>xuống và thanh tiến trình khác sẽ biểu thị tiến trình quét vi-rút trên ổ đĩa hiện tại. Chỉ một thanh tiến trình sẽ tiến triển tại một thời điểm.</a:t>
            </a: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75141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0" y="223240"/>
            <a:ext cx="9102490" cy="1314623"/>
          </a:xfrm>
        </p:spPr>
        <p:txBody>
          <a:bodyPr>
            <a:noAutofit/>
          </a:bodyPr>
          <a:lstStyle/>
          <a:p>
            <a:r>
              <a:rPr lang="vi-VN" dirty="0"/>
              <a:t>Cập Nhật Các Thanh Tiến Trình Bằng Cách Sử Dụng Các Luồng Bị Ràng Buộc Với Một Cơ Chế Khóa</a:t>
            </a:r>
            <a:endParaRPr lang="vi-VN" dirty="0">
              <a:cs typeface="Times New Roman" panose="02020603050405020304" pitchFamily="18" charset="0"/>
            </a:endParaRPr>
          </a:p>
        </p:txBody>
      </p:sp>
      <p:sp>
        <p:nvSpPr>
          <p:cNvPr id="4" name="Content Placeholder 3">
            <a:extLst>
              <a:ext uri="{FF2B5EF4-FFF2-40B4-BE49-F238E27FC236}">
                <a16:creationId xmlns:a16="http://schemas.microsoft.com/office/drawing/2014/main" id="{2718221C-0E3F-4F00-80D5-83C7874A666E}"/>
              </a:ext>
            </a:extLst>
          </p:cNvPr>
          <p:cNvSpPr>
            <a:spLocks noGrp="1"/>
          </p:cNvSpPr>
          <p:nvPr>
            <p:ph idx="1"/>
          </p:nvPr>
        </p:nvSpPr>
        <p:spPr>
          <a:xfrm>
            <a:off x="41510" y="1742536"/>
            <a:ext cx="9102490" cy="5115464"/>
          </a:xfrm>
        </p:spPr>
        <p:txBody>
          <a:bodyPr>
            <a:normAutofit fontScale="77500" lnSpcReduction="20000"/>
          </a:bodyPr>
          <a:lstStyle/>
          <a:p>
            <a:pPr marL="0" indent="0" algn="just">
              <a:buNone/>
            </a:pPr>
            <a:r>
              <a:rPr lang="vi-VN" sz="4100" dirty="0">
                <a:latin typeface="+mj-lt"/>
              </a:rPr>
              <a:t>Các bước sau đây sẽ giúp bạn hiểu làm thế nào hai luồng có thể chạy đồng thời, cập nhật tài nguyên có thể chia sẻ chung mà không đưa ra kết quả mơ hồ:</a:t>
            </a:r>
            <a:br>
              <a:rPr lang="vi-VN" sz="4100" dirty="0">
                <a:latin typeface="+mj-lt"/>
              </a:rPr>
            </a:br>
            <a:r>
              <a:rPr lang="vi-VN" sz="4100" dirty="0">
                <a:latin typeface="+mj-lt"/>
              </a:rPr>
              <a:t>1. Hãy tạo một ứng dụng dựa trên mẫu </a:t>
            </a:r>
            <a:r>
              <a:rPr lang="vi-VN" sz="4100" b="1" dirty="0">
                <a:latin typeface="+mj-lt"/>
              </a:rPr>
              <a:t>Dialog without Buttons</a:t>
            </a:r>
            <a:r>
              <a:rPr lang="vi-VN" sz="4100" dirty="0">
                <a:latin typeface="+mj-lt"/>
              </a:rPr>
              <a:t>. Chúng t</a:t>
            </a:r>
            <a:r>
              <a:rPr lang="en-US" sz="4100" dirty="0">
                <a:latin typeface="Times New Roman" panose="02020603050405020304" pitchFamily="18" charset="0"/>
                <a:cs typeface="Times New Roman" panose="02020603050405020304" pitchFamily="18" charset="0"/>
              </a:rPr>
              <a:t>a</a:t>
            </a:r>
            <a:r>
              <a:rPr lang="vi-VN" sz="4100" dirty="0">
                <a:latin typeface="+mj-lt"/>
              </a:rPr>
              <a:t> cần hai cặp widget QLabel và QProgressBar trong ứng dụng này.</a:t>
            </a:r>
            <a:endParaRPr lang="en-US" sz="4100" dirty="0">
              <a:latin typeface="+mj-lt"/>
            </a:endParaRPr>
          </a:p>
          <a:p>
            <a:pPr marL="0" indent="0" algn="just">
              <a:buNone/>
            </a:pPr>
            <a:r>
              <a:rPr lang="vi-VN" sz="4100" dirty="0">
                <a:latin typeface="+mj-lt"/>
              </a:rPr>
              <a:t>2. Thêm tiện ích QLabel và tiện ích QProgressBar vào </a:t>
            </a:r>
            <a:r>
              <a:rPr lang="en-US" sz="4100" dirty="0">
                <a:latin typeface="Times New Roman" panose="02020603050405020304" pitchFamily="18" charset="0"/>
                <a:cs typeface="Times New Roman" panose="02020603050405020304" pitchFamily="18" charset="0"/>
              </a:rPr>
              <a:t>form</a:t>
            </a:r>
            <a:r>
              <a:rPr lang="vi-VN" sz="4100" dirty="0">
                <a:latin typeface="+mj-lt"/>
              </a:rPr>
              <a:t> bằng cách kéo và thả tiện ích Label trên </a:t>
            </a:r>
            <a:r>
              <a:rPr lang="en-US" sz="4100" dirty="0">
                <a:latin typeface="Times New Roman" panose="02020603050405020304" pitchFamily="18" charset="0"/>
                <a:cs typeface="Times New Roman" panose="02020603050405020304" pitchFamily="18" charset="0"/>
              </a:rPr>
              <a:t>form</a:t>
            </a:r>
            <a:r>
              <a:rPr lang="en-US" sz="4100" dirty="0">
                <a:latin typeface="+mj-lt"/>
              </a:rPr>
              <a:t> </a:t>
            </a:r>
            <a:r>
              <a:rPr lang="vi-VN" sz="4100" dirty="0">
                <a:latin typeface="+mj-lt"/>
              </a:rPr>
              <a:t>và bên dưới tiện ích Label , kéo và thả tiện ích</a:t>
            </a:r>
            <a:r>
              <a:rPr lang="en-US" sz="4100" dirty="0">
                <a:latin typeface="+mj-lt"/>
              </a:rPr>
              <a:t> </a:t>
            </a:r>
            <a:r>
              <a:rPr lang="en-US" sz="4100" dirty="0">
                <a:latin typeface="Times New Roman" panose="02020603050405020304" pitchFamily="18" charset="0"/>
                <a:cs typeface="Times New Roman" panose="02020603050405020304" pitchFamily="18" charset="0"/>
              </a:rPr>
              <a:t>Progress</a:t>
            </a:r>
            <a:r>
              <a:rPr lang="en-US" sz="4100" dirty="0">
                <a:latin typeface="+mj-lt"/>
              </a:rPr>
              <a:t> </a:t>
            </a:r>
            <a:r>
              <a:rPr lang="en-US" sz="4100" dirty="0">
                <a:latin typeface="Times New Roman" panose="02020603050405020304" pitchFamily="18" charset="0"/>
                <a:cs typeface="Times New Roman" panose="02020603050405020304" pitchFamily="18" charset="0"/>
              </a:rPr>
              <a:t>Bar</a:t>
            </a:r>
            <a:r>
              <a:rPr lang="en-US" sz="4100" dirty="0">
                <a:latin typeface="+mj-lt"/>
              </a:rPr>
              <a:t> (</a:t>
            </a:r>
            <a:r>
              <a:rPr lang="vi-VN" sz="4100" dirty="0">
                <a:latin typeface="+mj-lt"/>
              </a:rPr>
              <a:t>Thanh tiến trình</a:t>
            </a:r>
            <a:r>
              <a:rPr lang="en-US" sz="4100" dirty="0">
                <a:latin typeface="+mj-lt"/>
              </a:rPr>
              <a:t>)</a:t>
            </a:r>
            <a:r>
              <a:rPr lang="vi-VN" sz="4100" dirty="0">
                <a:latin typeface="+mj-lt"/>
              </a:rPr>
              <a:t> trên </a:t>
            </a:r>
            <a:r>
              <a:rPr lang="en-US" sz="4100" dirty="0">
                <a:latin typeface="Times New Roman" panose="02020603050405020304" pitchFamily="18" charset="0"/>
                <a:cs typeface="Times New Roman" panose="02020603050405020304" pitchFamily="18" charset="0"/>
              </a:rPr>
              <a:t>form</a:t>
            </a:r>
            <a:r>
              <a:rPr lang="vi-VN" sz="4100" dirty="0">
                <a:latin typeface="+mj-lt"/>
              </a:rPr>
              <a:t>.</a:t>
            </a:r>
            <a:endParaRPr lang="en-US" sz="4100" dirty="0">
              <a:latin typeface="+mj-lt"/>
            </a:endParaRPr>
          </a:p>
          <a:p>
            <a:pPr marL="0" indent="0" algn="just">
              <a:buNone/>
            </a:pPr>
            <a:r>
              <a:rPr lang="vi-VN" sz="4100" dirty="0">
                <a:latin typeface="+mj-lt"/>
              </a:rPr>
              <a:t>3. Lặp lại quy trình cho một cặp tiện ích Label và </a:t>
            </a:r>
            <a:r>
              <a:rPr lang="en-US" sz="4100" dirty="0">
                <a:latin typeface="Times New Roman" panose="02020603050405020304" pitchFamily="18" charset="0"/>
                <a:cs typeface="Times New Roman" panose="02020603050405020304" pitchFamily="18" charset="0"/>
              </a:rPr>
              <a:t>Progress</a:t>
            </a:r>
            <a:r>
              <a:rPr lang="en-US" sz="4100" dirty="0">
                <a:latin typeface="+mj-lt"/>
              </a:rPr>
              <a:t> </a:t>
            </a:r>
            <a:r>
              <a:rPr lang="en-US" sz="4100" dirty="0">
                <a:latin typeface="Times New Roman" panose="02020603050405020304" pitchFamily="18" charset="0"/>
                <a:cs typeface="Times New Roman" panose="02020603050405020304" pitchFamily="18" charset="0"/>
              </a:rPr>
              <a:t>Bar</a:t>
            </a:r>
            <a:r>
              <a:rPr lang="vi-VN" sz="4100" dirty="0">
                <a:latin typeface="+mj-lt"/>
              </a:rPr>
              <a:t> khác.</a:t>
            </a:r>
            <a:endParaRPr lang="en-US" sz="4100" dirty="0">
              <a:latin typeface="+mj-lt"/>
            </a:endParaRPr>
          </a:p>
          <a:p>
            <a:pPr marL="0" indent="0" algn="just">
              <a:buNone/>
            </a:pP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536603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0" y="223240"/>
            <a:ext cx="9102490" cy="1314623"/>
          </a:xfrm>
        </p:spPr>
        <p:txBody>
          <a:bodyPr>
            <a:noAutofit/>
          </a:bodyPr>
          <a:lstStyle/>
          <a:p>
            <a:r>
              <a:rPr lang="vi-VN" dirty="0"/>
              <a:t>Cập Nhật Các Thanh Tiến Trình Bằng Cách Sử Dụng Các Luồng Bị Ràng Buộc Với Một Cơ Chế Khóa</a:t>
            </a:r>
            <a:endParaRPr lang="vi-VN" dirty="0">
              <a:cs typeface="Times New Roman" panose="02020603050405020304" pitchFamily="18" charset="0"/>
            </a:endParaRPr>
          </a:p>
        </p:txBody>
      </p:sp>
      <p:sp>
        <p:nvSpPr>
          <p:cNvPr id="4" name="Content Placeholder 3">
            <a:extLst>
              <a:ext uri="{FF2B5EF4-FFF2-40B4-BE49-F238E27FC236}">
                <a16:creationId xmlns:a16="http://schemas.microsoft.com/office/drawing/2014/main" id="{2718221C-0E3F-4F00-80D5-83C7874A666E}"/>
              </a:ext>
            </a:extLst>
          </p:cNvPr>
          <p:cNvSpPr>
            <a:spLocks noGrp="1"/>
          </p:cNvSpPr>
          <p:nvPr>
            <p:ph idx="1"/>
          </p:nvPr>
        </p:nvSpPr>
        <p:spPr>
          <a:xfrm>
            <a:off x="41510" y="1742536"/>
            <a:ext cx="9102490" cy="5115464"/>
          </a:xfrm>
        </p:spPr>
        <p:txBody>
          <a:bodyPr>
            <a:normAutofit/>
          </a:bodyPr>
          <a:lstStyle/>
          <a:p>
            <a:pPr marL="0" indent="0" algn="just">
              <a:buNone/>
            </a:pPr>
            <a:r>
              <a:rPr lang="vi-VN" sz="3200" dirty="0">
                <a:latin typeface="+mj-lt"/>
              </a:rPr>
              <a:t>4. Đặt thuộc tính </a:t>
            </a:r>
            <a:r>
              <a:rPr lang="en-US" sz="3200" dirty="0">
                <a:latin typeface="Times New Roman" panose="02020603050405020304" pitchFamily="18" charset="0"/>
                <a:cs typeface="Times New Roman" panose="02020603050405020304" pitchFamily="18" charset="0"/>
              </a:rPr>
              <a:t>text</a:t>
            </a:r>
            <a:r>
              <a:rPr lang="en-US" sz="3200" dirty="0">
                <a:latin typeface="+mj-lt"/>
              </a:rPr>
              <a:t> </a:t>
            </a:r>
            <a:r>
              <a:rPr lang="vi-VN" sz="3200" dirty="0">
                <a:latin typeface="+mj-lt"/>
              </a:rPr>
              <a:t>của tiện ích Label đầu tiên thành </a:t>
            </a:r>
            <a:r>
              <a:rPr lang="vi-VN" sz="3200" i="1" dirty="0">
                <a:latin typeface="+mj-lt"/>
              </a:rPr>
              <a:t>Downloading the file </a:t>
            </a:r>
            <a:r>
              <a:rPr lang="vi-VN" sz="3200" dirty="0">
                <a:latin typeface="+mj-lt"/>
              </a:rPr>
              <a:t>và tiện ích Label thứ hai thành </a:t>
            </a:r>
            <a:r>
              <a:rPr lang="vi-VN" sz="3200" i="1" dirty="0">
                <a:latin typeface="+mj-lt"/>
              </a:rPr>
              <a:t>Scanning for Virus.</a:t>
            </a:r>
            <a:endParaRPr lang="en-US" sz="3200" i="1" dirty="0">
              <a:latin typeface="+mj-lt"/>
            </a:endParaRPr>
          </a:p>
          <a:p>
            <a:pPr marL="0" indent="0" algn="just">
              <a:buNone/>
            </a:pPr>
            <a:r>
              <a:rPr lang="vi-VN" sz="3200" dirty="0">
                <a:latin typeface="+mj-lt"/>
              </a:rPr>
              <a:t>5. Đặt thuộc tính objectName của tiện ích Thanh tiến trình đầu tiên thành </a:t>
            </a:r>
            <a:r>
              <a:rPr lang="vi-VN" sz="3200" b="1" dirty="0">
                <a:latin typeface="+mj-lt"/>
              </a:rPr>
              <a:t>progressBarFileDownload</a:t>
            </a:r>
            <a:r>
              <a:rPr lang="vi-VN" sz="3200" dirty="0">
                <a:latin typeface="+mj-lt"/>
              </a:rPr>
              <a:t>.</a:t>
            </a:r>
            <a:br>
              <a:rPr lang="vi-VN" sz="3200" dirty="0">
                <a:latin typeface="+mj-lt"/>
              </a:rPr>
            </a:br>
            <a:r>
              <a:rPr lang="vi-VN" sz="3200" dirty="0">
                <a:latin typeface="+mj-lt"/>
              </a:rPr>
              <a:t>6. Đặt thuộc tính objectName của tiện ích Thanh tiến trình thứ hai thành </a:t>
            </a:r>
            <a:r>
              <a:rPr lang="vi-VN" sz="3200" b="1" dirty="0">
                <a:latin typeface="+mj-lt"/>
              </a:rPr>
              <a:t>ProgressBarVirusScan</a:t>
            </a:r>
            <a:r>
              <a:rPr lang="vi-VN" sz="3200" dirty="0">
                <a:latin typeface="+mj-lt"/>
              </a:rPr>
              <a:t>.</a:t>
            </a:r>
            <a:endParaRPr lang="en-US" sz="3200" dirty="0">
              <a:latin typeface="+mj-lt"/>
            </a:endParaRPr>
          </a:p>
          <a:p>
            <a:pPr marL="0" indent="0" algn="just">
              <a:buNone/>
            </a:pPr>
            <a:r>
              <a:rPr lang="vi-VN" sz="3200" dirty="0">
                <a:latin typeface="+mj-lt"/>
              </a:rPr>
              <a:t>7. Lưu ứng dụng dưới dạng demoTwoProTHERBarsLocks.ui. </a:t>
            </a:r>
            <a:r>
              <a:rPr lang="en-US" sz="3200" dirty="0">
                <a:latin typeface="Times New Roman" panose="02020603050405020304" pitchFamily="18" charset="0"/>
                <a:cs typeface="Times New Roman" panose="02020603050405020304" pitchFamily="18" charset="0"/>
              </a:rPr>
              <a:t>Form</a:t>
            </a:r>
            <a:r>
              <a:rPr lang="en-US" sz="3200" dirty="0">
                <a:latin typeface="+mj-lt"/>
              </a:rPr>
              <a:t> </a:t>
            </a:r>
            <a:r>
              <a:rPr lang="vi-VN" sz="3200" dirty="0">
                <a:latin typeface="+mj-lt"/>
              </a:rPr>
              <a:t>sẽ xuất hiện như được hiển thị trong ảnh chụp sau:</a:t>
            </a:r>
            <a:endParaRPr lang="en-US" sz="3200" dirty="0">
              <a:latin typeface="+mj-lt"/>
              <a:cs typeface="Times New Roman" panose="02020603050405020304" pitchFamily="18" charset="0"/>
            </a:endParaRPr>
          </a:p>
        </p:txBody>
      </p:sp>
    </p:spTree>
    <p:extLst>
      <p:ext uri="{BB962C8B-B14F-4D97-AF65-F5344CB8AC3E}">
        <p14:creationId xmlns:p14="http://schemas.microsoft.com/office/powerpoint/2010/main" val="170589432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0" y="223240"/>
            <a:ext cx="9102490" cy="1314623"/>
          </a:xfrm>
        </p:spPr>
        <p:txBody>
          <a:bodyPr>
            <a:noAutofit/>
          </a:bodyPr>
          <a:lstStyle/>
          <a:p>
            <a:r>
              <a:rPr lang="vi-VN" dirty="0"/>
              <a:t>Cập Nhật Các Thanh Tiến Trình Bằng Cách Sử Dụng Các Luồng Bị Ràng Buộc Với Một Cơ Chế Khóa</a:t>
            </a:r>
            <a:endParaRPr lang="vi-VN" dirty="0">
              <a:cs typeface="Times New Roman" panose="02020603050405020304" pitchFamily="18" charset="0"/>
            </a:endParaRPr>
          </a:p>
        </p:txBody>
      </p:sp>
      <p:sp>
        <p:nvSpPr>
          <p:cNvPr id="4" name="Content Placeholder 3">
            <a:extLst>
              <a:ext uri="{FF2B5EF4-FFF2-40B4-BE49-F238E27FC236}">
                <a16:creationId xmlns:a16="http://schemas.microsoft.com/office/drawing/2014/main" id="{2718221C-0E3F-4F00-80D5-83C7874A666E}"/>
              </a:ext>
            </a:extLst>
          </p:cNvPr>
          <p:cNvSpPr>
            <a:spLocks noGrp="1"/>
          </p:cNvSpPr>
          <p:nvPr>
            <p:ph idx="1"/>
          </p:nvPr>
        </p:nvSpPr>
        <p:spPr>
          <a:xfrm>
            <a:off x="41510" y="1742536"/>
            <a:ext cx="9102490" cy="5115464"/>
          </a:xfrm>
        </p:spPr>
        <p:txBody>
          <a:bodyPr>
            <a:normAutofit fontScale="92500" lnSpcReduction="10000"/>
          </a:bodyPr>
          <a:lstStyle/>
          <a:p>
            <a:pPr marL="0" indent="0" algn="just">
              <a:buNone/>
            </a:pPr>
            <a:endParaRPr lang="en-US" sz="3200" dirty="0">
              <a:latin typeface="+mj-lt"/>
              <a:cs typeface="Times New Roman" panose="02020603050405020304" pitchFamily="18" charset="0"/>
            </a:endParaRPr>
          </a:p>
          <a:p>
            <a:pPr marL="0" indent="0" algn="just">
              <a:buNone/>
            </a:pPr>
            <a:endParaRPr lang="en-US" sz="3200" dirty="0">
              <a:latin typeface="+mj-lt"/>
              <a:cs typeface="Times New Roman" panose="02020603050405020304" pitchFamily="18" charset="0"/>
            </a:endParaRPr>
          </a:p>
          <a:p>
            <a:pPr marL="0" indent="0" algn="just">
              <a:buNone/>
            </a:pPr>
            <a:endParaRPr lang="en-US" sz="3200" dirty="0">
              <a:latin typeface="+mj-lt"/>
              <a:cs typeface="Times New Roman" panose="02020603050405020304" pitchFamily="18" charset="0"/>
            </a:endParaRPr>
          </a:p>
          <a:p>
            <a:pPr marL="0" indent="0" algn="just">
              <a:buNone/>
            </a:pPr>
            <a:endParaRPr lang="en-US" sz="3200" dirty="0">
              <a:latin typeface="+mj-lt"/>
              <a:cs typeface="Times New Roman" panose="02020603050405020304" pitchFamily="18" charset="0"/>
            </a:endParaRPr>
          </a:p>
          <a:p>
            <a:pPr marL="0" indent="0" algn="just">
              <a:buNone/>
            </a:pPr>
            <a:endParaRPr lang="en-US" sz="3200" dirty="0">
              <a:latin typeface="+mj-lt"/>
              <a:cs typeface="Times New Roman" panose="02020603050405020304" pitchFamily="18" charset="0"/>
            </a:endParaRPr>
          </a:p>
          <a:p>
            <a:pPr marL="0" indent="0" algn="just">
              <a:buNone/>
            </a:pPr>
            <a:endParaRPr lang="en-US" sz="3200" dirty="0">
              <a:latin typeface="+mj-lt"/>
              <a:cs typeface="Times New Roman" panose="02020603050405020304" pitchFamily="18" charset="0"/>
            </a:endParaRPr>
          </a:p>
          <a:p>
            <a:pPr marL="0" indent="0" algn="just">
              <a:buNone/>
            </a:pPr>
            <a:endParaRPr lang="en-US" sz="3200" dirty="0">
              <a:latin typeface="+mj-lt"/>
              <a:cs typeface="Times New Roman" panose="02020603050405020304" pitchFamily="18" charset="0"/>
            </a:endParaRPr>
          </a:p>
          <a:p>
            <a:pPr marL="0" indent="0" algn="just">
              <a:buNone/>
            </a:pPr>
            <a:r>
              <a:rPr lang="vi-VN" sz="3500" dirty="0">
                <a:latin typeface="+mj-lt"/>
              </a:rPr>
              <a:t>Giao diện người dùng được tạo bằng Qt Designer được lưu trữ trong </a:t>
            </a:r>
            <a:r>
              <a:rPr lang="en-US" sz="3500" dirty="0">
                <a:latin typeface="Times New Roman" panose="02020603050405020304" pitchFamily="18" charset="0"/>
                <a:cs typeface="Times New Roman" panose="02020603050405020304" pitchFamily="18" charset="0"/>
              </a:rPr>
              <a:t>file</a:t>
            </a:r>
            <a:r>
              <a:rPr lang="vi-VN" sz="3500" dirty="0">
                <a:latin typeface="+mj-lt"/>
              </a:rPr>
              <a:t> .ui, là </a:t>
            </a:r>
            <a:r>
              <a:rPr lang="en-US" sz="3500" dirty="0">
                <a:latin typeface="Times New Roman" panose="02020603050405020304" pitchFamily="18" charset="0"/>
                <a:cs typeface="Times New Roman" panose="02020603050405020304" pitchFamily="18" charset="0"/>
              </a:rPr>
              <a:t>file</a:t>
            </a:r>
            <a:r>
              <a:rPr lang="vi-VN" sz="3500" dirty="0">
                <a:latin typeface="+mj-lt"/>
              </a:rPr>
              <a:t> XML và cần chuyển đổi thành mã Python. Lệnh pyuic5 được sử dụng để chuyển đổi </a:t>
            </a:r>
            <a:r>
              <a:rPr lang="en-US" sz="3500" dirty="0">
                <a:latin typeface="Times New Roman" panose="02020603050405020304" pitchFamily="18" charset="0"/>
                <a:cs typeface="Times New Roman" panose="02020603050405020304" pitchFamily="18" charset="0"/>
              </a:rPr>
              <a:t>file</a:t>
            </a:r>
            <a:r>
              <a:rPr lang="vi-VN" sz="3500" dirty="0">
                <a:latin typeface="+mj-lt"/>
              </a:rPr>
              <a:t> XML thành tập lệnh Python. </a:t>
            </a:r>
            <a:endParaRPr lang="en-US" sz="3500" dirty="0">
              <a:latin typeface="+mj-lt"/>
              <a:cs typeface="Times New Roman" panose="02020603050405020304" pitchFamily="18" charset="0"/>
            </a:endParaRPr>
          </a:p>
        </p:txBody>
      </p:sp>
      <p:pic>
        <p:nvPicPr>
          <p:cNvPr id="5" name="Picture 4" descr="sách Qt5-Python-GUI-Programming-Cookbook.pdf - Foxit Reader">
            <a:extLst>
              <a:ext uri="{FF2B5EF4-FFF2-40B4-BE49-F238E27FC236}">
                <a16:creationId xmlns:a16="http://schemas.microsoft.com/office/drawing/2014/main" id="{A2E20039-5147-4B7C-A110-7E12C98CC195}"/>
              </a:ext>
            </a:extLst>
          </p:cNvPr>
          <p:cNvPicPr>
            <a:picLocks noChangeAspect="1"/>
          </p:cNvPicPr>
          <p:nvPr/>
        </p:nvPicPr>
        <p:blipFill rotWithShape="1">
          <a:blip r:embed="rId2">
            <a:extLst>
              <a:ext uri="{28A0092B-C50C-407E-A947-70E740481C1C}">
                <a14:useLocalDpi xmlns:a14="http://schemas.microsoft.com/office/drawing/2010/main" val="0"/>
              </a:ext>
            </a:extLst>
          </a:blip>
          <a:srcRect l="36792" t="47284" r="35661" b="8906"/>
          <a:stretch/>
        </p:blipFill>
        <p:spPr>
          <a:xfrm>
            <a:off x="1431984" y="1742537"/>
            <a:ext cx="5831457" cy="3433312"/>
          </a:xfrm>
          <a:prstGeom prst="rect">
            <a:avLst/>
          </a:prstGeom>
        </p:spPr>
      </p:pic>
    </p:spTree>
    <p:extLst>
      <p:ext uri="{BB962C8B-B14F-4D97-AF65-F5344CB8AC3E}">
        <p14:creationId xmlns:p14="http://schemas.microsoft.com/office/powerpoint/2010/main" val="1596400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0" y="223240"/>
            <a:ext cx="9102490" cy="1314623"/>
          </a:xfrm>
        </p:spPr>
        <p:txBody>
          <a:bodyPr>
            <a:noAutofit/>
          </a:bodyPr>
          <a:lstStyle/>
          <a:p>
            <a:r>
              <a:rPr lang="vi-VN" dirty="0"/>
              <a:t>Cập Nhật Các Thanh Tiến Trình Bằng Cách Sử Dụng Các Luồng Bị Ràng Buộc Với Một Cơ Chế Khóa</a:t>
            </a:r>
            <a:endParaRPr lang="vi-VN" dirty="0">
              <a:cs typeface="Times New Roman" panose="02020603050405020304" pitchFamily="18" charset="0"/>
            </a:endParaRPr>
          </a:p>
        </p:txBody>
      </p:sp>
      <p:sp>
        <p:nvSpPr>
          <p:cNvPr id="4" name="Content Placeholder 3">
            <a:extLst>
              <a:ext uri="{FF2B5EF4-FFF2-40B4-BE49-F238E27FC236}">
                <a16:creationId xmlns:a16="http://schemas.microsoft.com/office/drawing/2014/main" id="{2718221C-0E3F-4F00-80D5-83C7874A666E}"/>
              </a:ext>
            </a:extLst>
          </p:cNvPr>
          <p:cNvSpPr>
            <a:spLocks noGrp="1"/>
          </p:cNvSpPr>
          <p:nvPr>
            <p:ph idx="1"/>
          </p:nvPr>
        </p:nvSpPr>
        <p:spPr>
          <a:xfrm>
            <a:off x="41510" y="1742536"/>
            <a:ext cx="9102490" cy="5115464"/>
          </a:xfrm>
        </p:spPr>
        <p:txBody>
          <a:bodyPr>
            <a:normAutofit/>
          </a:bodyPr>
          <a:lstStyle/>
          <a:p>
            <a:pPr marL="0" indent="0" algn="just">
              <a:buNone/>
            </a:pPr>
            <a:r>
              <a:rPr lang="vi-VN" sz="3200" dirty="0">
                <a:latin typeface="+mj-lt"/>
              </a:rPr>
              <a:t>8. Hãy coi </a:t>
            </a:r>
            <a:r>
              <a:rPr lang="en-US" sz="3200" dirty="0">
                <a:latin typeface="Times New Roman" panose="02020603050405020304" pitchFamily="18" charset="0"/>
                <a:cs typeface="Times New Roman" panose="02020603050405020304" pitchFamily="18" charset="0"/>
              </a:rPr>
              <a:t>file</a:t>
            </a:r>
            <a:r>
              <a:rPr lang="vi-VN" sz="3200" dirty="0">
                <a:latin typeface="+mj-lt"/>
              </a:rPr>
              <a:t> demoTwoProTHERBarsLocks.py là một </a:t>
            </a:r>
            <a:r>
              <a:rPr lang="en-US" sz="3200" dirty="0">
                <a:latin typeface="Times New Roman" panose="02020603050405020304" pitchFamily="18" charset="0"/>
                <a:cs typeface="Times New Roman" panose="02020603050405020304" pitchFamily="18" charset="0"/>
              </a:rPr>
              <a:t>file</a:t>
            </a:r>
            <a:r>
              <a:rPr lang="vi-VN" sz="3200" dirty="0">
                <a:latin typeface="+mj-lt"/>
              </a:rPr>
              <a:t> tiêu đề và nhập nó vào </a:t>
            </a:r>
            <a:r>
              <a:rPr lang="en-US" sz="3200" dirty="0">
                <a:latin typeface="Times New Roman" panose="02020603050405020304" pitchFamily="18" charset="0"/>
                <a:cs typeface="Times New Roman" panose="02020603050405020304" pitchFamily="18" charset="0"/>
              </a:rPr>
              <a:t>file</a:t>
            </a:r>
            <a:r>
              <a:rPr lang="vi-VN" sz="3200" dirty="0">
                <a:latin typeface="+mj-lt"/>
              </a:rPr>
              <a:t> mà bạn sẽ gọi thiết kế giao diện người dùng của nó.</a:t>
            </a:r>
            <a:endParaRPr lang="en-US" sz="3200" dirty="0">
              <a:latin typeface="+mj-lt"/>
            </a:endParaRPr>
          </a:p>
          <a:p>
            <a:pPr marL="0" indent="0" algn="just">
              <a:buNone/>
            </a:pPr>
            <a:r>
              <a:rPr lang="vi-VN" sz="3200" dirty="0">
                <a:latin typeface="+mj-lt"/>
              </a:rPr>
              <a:t>9. Tạo một </a:t>
            </a:r>
            <a:r>
              <a:rPr lang="en-US" sz="3200" dirty="0">
                <a:latin typeface="Times New Roman" panose="02020603050405020304" pitchFamily="18" charset="0"/>
                <a:cs typeface="Times New Roman" panose="02020603050405020304" pitchFamily="18" charset="0"/>
              </a:rPr>
              <a:t>file</a:t>
            </a:r>
            <a:r>
              <a:rPr lang="vi-VN" sz="3200" dirty="0">
                <a:latin typeface="+mj-lt"/>
              </a:rPr>
              <a:t> Python khác có tên</a:t>
            </a:r>
            <a:r>
              <a:rPr lang="en-US" sz="3200" dirty="0">
                <a:latin typeface="+mj-lt"/>
              </a:rPr>
              <a:t> </a:t>
            </a:r>
            <a:r>
              <a:rPr lang="en-US" sz="3200" dirty="0" err="1">
                <a:latin typeface="Times New Roman" panose="02020603050405020304" pitchFamily="18" charset="0"/>
                <a:cs typeface="Times New Roman" panose="02020603050405020304" pitchFamily="18" charset="0"/>
              </a:rPr>
              <a:t>callProTHERBarTwoThreadsLocks.pyw</a:t>
            </a:r>
            <a:r>
              <a:rPr lang="en-US" sz="3200" dirty="0">
                <a:latin typeface="+mj-lt"/>
              </a:rPr>
              <a:t> </a:t>
            </a:r>
            <a:r>
              <a:rPr lang="en-US" sz="3200" dirty="0" err="1">
                <a:latin typeface="Times New Roman" panose="02020603050405020304" pitchFamily="18" charset="0"/>
                <a:cs typeface="Times New Roman" panose="02020603050405020304" pitchFamily="18" charset="0"/>
              </a:rPr>
              <a:t>và</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nhập</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mã</a:t>
            </a:r>
            <a:r>
              <a:rPr lang="en-US" sz="3200" dirty="0">
                <a:latin typeface="+mj-lt"/>
              </a:rPr>
              <a:t> </a:t>
            </a:r>
            <a:r>
              <a:rPr lang="en-US" sz="3200" dirty="0">
                <a:latin typeface="Times New Roman" panose="02020603050405020304" pitchFamily="18" charset="0"/>
                <a:cs typeface="Times New Roman" panose="02020603050405020304" pitchFamily="18" charset="0"/>
              </a:rPr>
              <a:t>demoTwoProTHERBarsLocks.py </a:t>
            </a:r>
            <a:r>
              <a:rPr lang="en-US" sz="3200" dirty="0" err="1">
                <a:latin typeface="Times New Roman" panose="02020603050405020304" pitchFamily="18" charset="0"/>
                <a:cs typeface="Times New Roman" panose="02020603050405020304" pitchFamily="18" charset="0"/>
              </a:rPr>
              <a:t>vào</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nó</a:t>
            </a:r>
            <a:r>
              <a:rPr lang="en-US" sz="3200" dirty="0">
                <a:latin typeface="+mj-lt"/>
              </a:rPr>
              <a:t>:</a:t>
            </a:r>
            <a:endParaRPr lang="en-US" sz="3200" dirty="0">
              <a:latin typeface="+mj-lt"/>
              <a:cs typeface="Times New Roman" panose="02020603050405020304" pitchFamily="18" charset="0"/>
            </a:endParaRPr>
          </a:p>
        </p:txBody>
      </p:sp>
    </p:spTree>
    <p:extLst>
      <p:ext uri="{BB962C8B-B14F-4D97-AF65-F5344CB8AC3E}">
        <p14:creationId xmlns:p14="http://schemas.microsoft.com/office/powerpoint/2010/main" val="269686938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0" y="223240"/>
            <a:ext cx="9102490" cy="1314623"/>
          </a:xfrm>
        </p:spPr>
        <p:txBody>
          <a:bodyPr>
            <a:noAutofit/>
          </a:bodyPr>
          <a:lstStyle/>
          <a:p>
            <a:r>
              <a:rPr lang="vi-VN" dirty="0"/>
              <a:t>Cập Nhật Các Thanh Tiến Trình Bằng Cách Sử Dụng Các Luồng Bị Ràng Buộc Với Một Cơ Chế Khóa</a:t>
            </a:r>
            <a:endParaRPr lang="vi-VN" dirty="0">
              <a:cs typeface="Times New Roman" panose="02020603050405020304" pitchFamily="18" charset="0"/>
            </a:endParaRPr>
          </a:p>
        </p:txBody>
      </p:sp>
      <p:pic>
        <p:nvPicPr>
          <p:cNvPr id="5" name="Content Placeholder 4" descr="sách Qt5-Python-GUI-Programming-Cookbook.pdf - Foxit Reader">
            <a:extLst>
              <a:ext uri="{FF2B5EF4-FFF2-40B4-BE49-F238E27FC236}">
                <a16:creationId xmlns:a16="http://schemas.microsoft.com/office/drawing/2014/main" id="{2D94D420-839D-4BCB-AEE9-EC7E8E51325D}"/>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31010" t="28782" r="32979" b="38123"/>
          <a:stretch/>
        </p:blipFill>
        <p:spPr>
          <a:xfrm>
            <a:off x="379561" y="1807233"/>
            <a:ext cx="8022567" cy="4524556"/>
          </a:xfrm>
        </p:spPr>
      </p:pic>
    </p:spTree>
    <p:extLst>
      <p:ext uri="{BB962C8B-B14F-4D97-AF65-F5344CB8AC3E}">
        <p14:creationId xmlns:p14="http://schemas.microsoft.com/office/powerpoint/2010/main" val="51668271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0" y="223240"/>
            <a:ext cx="9102490" cy="1314623"/>
          </a:xfrm>
        </p:spPr>
        <p:txBody>
          <a:bodyPr>
            <a:noAutofit/>
          </a:bodyPr>
          <a:lstStyle/>
          <a:p>
            <a:r>
              <a:rPr lang="vi-VN" dirty="0"/>
              <a:t>Cập Nhật Các Thanh Tiến Trình Bằng Cách Sử Dụng Các Luồng Bị Ràng Buộc Với Một Cơ Chế Khóa</a:t>
            </a:r>
            <a:endParaRPr lang="vi-VN" dirty="0">
              <a:cs typeface="Times New Roman" panose="02020603050405020304" pitchFamily="18" charset="0"/>
            </a:endParaRPr>
          </a:p>
        </p:txBody>
      </p:sp>
      <p:pic>
        <p:nvPicPr>
          <p:cNvPr id="7" name="Content Placeholder 6" descr="sách Qt5-Python-GUI-Programming-Cookbook.pdf - Foxit Reader">
            <a:extLst>
              <a:ext uri="{FF2B5EF4-FFF2-40B4-BE49-F238E27FC236}">
                <a16:creationId xmlns:a16="http://schemas.microsoft.com/office/drawing/2014/main" id="{6ED90F12-A5E0-4CF8-9064-8EBA4A41C89A}"/>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30650" t="12856" r="27084" b="14267"/>
          <a:stretch/>
        </p:blipFill>
        <p:spPr>
          <a:xfrm>
            <a:off x="327803" y="1880558"/>
            <a:ext cx="8402129" cy="4520242"/>
          </a:xfrm>
        </p:spPr>
      </p:pic>
    </p:spTree>
    <p:extLst>
      <p:ext uri="{BB962C8B-B14F-4D97-AF65-F5344CB8AC3E}">
        <p14:creationId xmlns:p14="http://schemas.microsoft.com/office/powerpoint/2010/main" val="59766592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0" y="223240"/>
            <a:ext cx="9102490" cy="1314623"/>
          </a:xfrm>
        </p:spPr>
        <p:txBody>
          <a:bodyPr>
            <a:noAutofit/>
          </a:bodyPr>
          <a:lstStyle/>
          <a:p>
            <a:r>
              <a:rPr lang="vi-VN" dirty="0">
                <a:cs typeface="Times New Roman" panose="02020603050405020304" pitchFamily="18" charset="0"/>
              </a:rPr>
              <a:t>Cập Nhật Các Thanh Tiến Trình Đồng Thời Bằng Các Hoạt Động Không Đồng Bộ</a:t>
            </a:r>
          </a:p>
        </p:txBody>
      </p:sp>
      <p:sp>
        <p:nvSpPr>
          <p:cNvPr id="4" name="Content Placeholder 3">
            <a:extLst>
              <a:ext uri="{FF2B5EF4-FFF2-40B4-BE49-F238E27FC236}">
                <a16:creationId xmlns:a16="http://schemas.microsoft.com/office/drawing/2014/main" id="{4E5B4C60-25E3-4A0F-AF04-39A98A20D4D0}"/>
              </a:ext>
            </a:extLst>
          </p:cNvPr>
          <p:cNvSpPr>
            <a:spLocks noGrp="1"/>
          </p:cNvSpPr>
          <p:nvPr>
            <p:ph idx="1"/>
          </p:nvPr>
        </p:nvSpPr>
        <p:spPr>
          <a:xfrm>
            <a:off x="22259" y="1759789"/>
            <a:ext cx="9102490" cy="5069968"/>
          </a:xfrm>
        </p:spPr>
        <p:txBody>
          <a:bodyPr>
            <a:normAutofit fontScale="85000" lnSpcReduction="20000"/>
          </a:bodyPr>
          <a:lstStyle/>
          <a:p>
            <a:pPr algn="just"/>
            <a:r>
              <a:rPr lang="en-US" sz="4100" dirty="0" err="1">
                <a:latin typeface="Times New Roman" panose="02020603050405020304" pitchFamily="18" charset="0"/>
                <a:cs typeface="Times New Roman" panose="02020603050405020304" pitchFamily="18" charset="0"/>
              </a:rPr>
              <a:t>Phần</a:t>
            </a:r>
            <a:r>
              <a:rPr lang="en-US" sz="4100" dirty="0"/>
              <a:t> </a:t>
            </a:r>
            <a:r>
              <a:rPr lang="vi-VN" sz="4100" dirty="0">
                <a:latin typeface="+mj-lt"/>
              </a:rPr>
              <a:t>này sẽ giúp bạn hiểu cách các hoạt động không đồng bộ được thực hiện trong Python. asyncio là một thư viện trong Python hỗ trợ lập trình không đồng bộ. Phương tiện không đồng bộ, ngoài luồng chính, một hoặc nhiều tác vụ cũng sẽ thực thi song song. Trong khi sử dụng asyncio, bạn nên nhớ rằng chỉ có </a:t>
            </a:r>
            <a:r>
              <a:rPr lang="en-US" sz="3800" dirty="0">
                <a:latin typeface="Times New Roman" panose="02020603050405020304" pitchFamily="18" charset="0"/>
                <a:cs typeface="Times New Roman" panose="02020603050405020304" pitchFamily="18" charset="0"/>
              </a:rPr>
              <a:t>code</a:t>
            </a:r>
            <a:r>
              <a:rPr lang="vi-VN" sz="4100" dirty="0">
                <a:latin typeface="+mj-lt"/>
              </a:rPr>
              <a:t> được viết trong các phương thức được gắn cờ là async mới có thể gọi bất kỳ </a:t>
            </a:r>
            <a:r>
              <a:rPr lang="en-US" sz="3800" dirty="0">
                <a:latin typeface="Times New Roman" panose="02020603050405020304" pitchFamily="18" charset="0"/>
                <a:cs typeface="Times New Roman" panose="02020603050405020304" pitchFamily="18" charset="0"/>
              </a:rPr>
              <a:t>code</a:t>
            </a:r>
            <a:r>
              <a:rPr lang="vi-VN" sz="4100" dirty="0">
                <a:latin typeface="+mj-lt"/>
              </a:rPr>
              <a:t> nào theo cách không đồng bộ. Bên cạnh đó, </a:t>
            </a:r>
            <a:r>
              <a:rPr lang="en-US" sz="4400" dirty="0">
                <a:latin typeface="Times New Roman" panose="02020603050405020304" pitchFamily="18" charset="0"/>
                <a:cs typeface="Times New Roman" panose="02020603050405020304" pitchFamily="18" charset="0"/>
              </a:rPr>
              <a:t>code</a:t>
            </a:r>
            <a:r>
              <a:rPr lang="vi-VN" sz="4100" dirty="0">
                <a:latin typeface="+mj-lt"/>
              </a:rPr>
              <a:t> async chỉ có thể chạy bên trong một vòng lặp sự kiện. Vòng lặp sự kiện là mã thực hiện đa nhiệm. </a:t>
            </a:r>
            <a:endParaRPr lang="en-US" dirty="0">
              <a:latin typeface="+mj-lt"/>
            </a:endParaRPr>
          </a:p>
        </p:txBody>
      </p:sp>
    </p:spTree>
    <p:extLst>
      <p:ext uri="{BB962C8B-B14F-4D97-AF65-F5344CB8AC3E}">
        <p14:creationId xmlns:p14="http://schemas.microsoft.com/office/powerpoint/2010/main" val="124177471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0" y="223240"/>
            <a:ext cx="9102490" cy="1314623"/>
          </a:xfrm>
        </p:spPr>
        <p:txBody>
          <a:bodyPr>
            <a:noAutofit/>
          </a:bodyPr>
          <a:lstStyle/>
          <a:p>
            <a:r>
              <a:rPr lang="vi-VN" dirty="0">
                <a:cs typeface="Times New Roman" panose="02020603050405020304" pitchFamily="18" charset="0"/>
              </a:rPr>
              <a:t>Cập Nhật Các Thanh Tiến Trình Đồng Thời Bằng Các Hoạt Động Không Đồng Bộ</a:t>
            </a:r>
          </a:p>
        </p:txBody>
      </p:sp>
      <p:sp>
        <p:nvSpPr>
          <p:cNvPr id="4" name="Content Placeholder 3">
            <a:extLst>
              <a:ext uri="{FF2B5EF4-FFF2-40B4-BE49-F238E27FC236}">
                <a16:creationId xmlns:a16="http://schemas.microsoft.com/office/drawing/2014/main" id="{4E5B4C60-25E3-4A0F-AF04-39A98A20D4D0}"/>
              </a:ext>
            </a:extLst>
          </p:cNvPr>
          <p:cNvSpPr>
            <a:spLocks noGrp="1"/>
          </p:cNvSpPr>
          <p:nvPr>
            <p:ph idx="1"/>
          </p:nvPr>
        </p:nvSpPr>
        <p:spPr>
          <a:xfrm>
            <a:off x="22259" y="1759789"/>
            <a:ext cx="9102490" cy="5069968"/>
          </a:xfrm>
        </p:spPr>
        <p:txBody>
          <a:bodyPr>
            <a:normAutofit/>
          </a:bodyPr>
          <a:lstStyle/>
          <a:p>
            <a:pPr algn="just"/>
            <a:r>
              <a:rPr lang="vi-VN" sz="3200" dirty="0">
                <a:latin typeface="+mj-lt"/>
              </a:rPr>
              <a:t>Điều đó cũng có nghĩa là để thực hiện lập trình không đồng bộ trong Python, chúng ta cần tạo một vòng lặp sự kiện hoặc lấy đối tượng vòng lặp sự kiện mặc định của luồng hiện tại.</a:t>
            </a:r>
            <a:endParaRPr lang="en-US" sz="3200" dirty="0">
              <a:latin typeface="+mj-lt"/>
            </a:endParaRPr>
          </a:p>
          <a:p>
            <a:pPr algn="just"/>
            <a:r>
              <a:rPr lang="vi-VN" sz="3200" dirty="0">
                <a:latin typeface="+mj-lt"/>
              </a:rPr>
              <a:t>Chúng t</a:t>
            </a:r>
            <a:r>
              <a:rPr lang="en-US" sz="3200" dirty="0">
                <a:latin typeface="+mj-lt"/>
              </a:rPr>
              <a:t>a</a:t>
            </a:r>
            <a:r>
              <a:rPr lang="vi-VN" sz="3200" dirty="0">
                <a:latin typeface="+mj-lt"/>
              </a:rPr>
              <a:t> sẽ sử dụng hai thanh tiến trình và cả hai sẽ được cập nhật đồng thời thông qua các hoạt động không đồng bộ.</a:t>
            </a:r>
            <a:endParaRPr lang="en-US" sz="3200" dirty="0">
              <a:latin typeface="+mj-lt"/>
            </a:endParaRPr>
          </a:p>
        </p:txBody>
      </p:sp>
    </p:spTree>
    <p:extLst>
      <p:ext uri="{BB962C8B-B14F-4D97-AF65-F5344CB8AC3E}">
        <p14:creationId xmlns:p14="http://schemas.microsoft.com/office/powerpoint/2010/main" val="75541504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0" y="223240"/>
            <a:ext cx="9102490" cy="1314623"/>
          </a:xfrm>
        </p:spPr>
        <p:txBody>
          <a:bodyPr>
            <a:noAutofit/>
          </a:bodyPr>
          <a:lstStyle/>
          <a:p>
            <a:r>
              <a:rPr lang="vi-VN" dirty="0">
                <a:cs typeface="Times New Roman" panose="02020603050405020304" pitchFamily="18" charset="0"/>
              </a:rPr>
              <a:t>Cập Nhật Các Thanh Tiến Trình Đồng Thời Bằng Các Hoạt Động Không Đồng Bộ</a:t>
            </a:r>
          </a:p>
        </p:txBody>
      </p:sp>
      <p:sp>
        <p:nvSpPr>
          <p:cNvPr id="4" name="Content Placeholder 3">
            <a:extLst>
              <a:ext uri="{FF2B5EF4-FFF2-40B4-BE49-F238E27FC236}">
                <a16:creationId xmlns:a16="http://schemas.microsoft.com/office/drawing/2014/main" id="{4E5B4C60-25E3-4A0F-AF04-39A98A20D4D0}"/>
              </a:ext>
            </a:extLst>
          </p:cNvPr>
          <p:cNvSpPr>
            <a:spLocks noGrp="1"/>
          </p:cNvSpPr>
          <p:nvPr>
            <p:ph idx="1"/>
          </p:nvPr>
        </p:nvSpPr>
        <p:spPr>
          <a:xfrm>
            <a:off x="22259" y="1759789"/>
            <a:ext cx="9102490" cy="5069968"/>
          </a:xfrm>
        </p:spPr>
        <p:txBody>
          <a:bodyPr>
            <a:normAutofit/>
          </a:bodyPr>
          <a:lstStyle/>
          <a:p>
            <a:pPr algn="just"/>
            <a:r>
              <a:rPr lang="vi-VN" sz="3200" dirty="0">
                <a:latin typeface="+mj-lt"/>
              </a:rPr>
              <a:t>Điều đó cũng có nghĩa là để thực hiện lập trình không đồng bộ trong Python, chúng ta cần tạo một vòng lặp sự kiện hoặc lấy đối tượng vòng lặp sự kiện mặc định của luồng hiện tại.</a:t>
            </a:r>
            <a:endParaRPr lang="en-US" sz="3200" dirty="0">
              <a:latin typeface="+mj-lt"/>
            </a:endParaRPr>
          </a:p>
          <a:p>
            <a:pPr algn="just"/>
            <a:r>
              <a:rPr lang="vi-VN" sz="3200" dirty="0">
                <a:latin typeface="+mj-lt"/>
              </a:rPr>
              <a:t>Chúng t</a:t>
            </a:r>
            <a:r>
              <a:rPr lang="en-US" sz="3200" dirty="0">
                <a:latin typeface="+mj-lt"/>
              </a:rPr>
              <a:t>a</a:t>
            </a:r>
            <a:r>
              <a:rPr lang="vi-VN" sz="3200" dirty="0">
                <a:latin typeface="+mj-lt"/>
              </a:rPr>
              <a:t> sẽ sử dụng hai thanh tiến trình và cả hai sẽ được cập nhật đồng thời thông qua các hoạt động không đồng bộ.</a:t>
            </a:r>
            <a:endParaRPr lang="en-US" sz="3200" dirty="0">
              <a:latin typeface="+mj-lt"/>
            </a:endParaRPr>
          </a:p>
          <a:p>
            <a:pPr algn="just"/>
            <a:r>
              <a:rPr lang="vi-VN" sz="3200" dirty="0">
                <a:latin typeface="+mj-lt"/>
              </a:rPr>
              <a:t>Thực hiện các bước sau để hiểu cách thực hiện các thao tác không đồng bộ:</a:t>
            </a:r>
            <a:r>
              <a:rPr lang="en-US" sz="3200" dirty="0">
                <a:latin typeface="+mj-lt"/>
              </a:rPr>
              <a:t> </a:t>
            </a:r>
          </a:p>
        </p:txBody>
      </p:sp>
    </p:spTree>
    <p:extLst>
      <p:ext uri="{BB962C8B-B14F-4D97-AF65-F5344CB8AC3E}">
        <p14:creationId xmlns:p14="http://schemas.microsoft.com/office/powerpoint/2010/main" val="286838825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0" y="223240"/>
            <a:ext cx="9102490" cy="1314623"/>
          </a:xfrm>
        </p:spPr>
        <p:txBody>
          <a:bodyPr>
            <a:noAutofit/>
          </a:bodyPr>
          <a:lstStyle/>
          <a:p>
            <a:r>
              <a:rPr lang="vi-VN" dirty="0">
                <a:cs typeface="Times New Roman" panose="02020603050405020304" pitchFamily="18" charset="0"/>
              </a:rPr>
              <a:t>Cập Nhật Các Thanh Tiến Trình Đồng Thời Bằng Các Hoạt Động Không Đồng Bộ</a:t>
            </a:r>
          </a:p>
        </p:txBody>
      </p:sp>
      <p:sp>
        <p:nvSpPr>
          <p:cNvPr id="4" name="Content Placeholder 3">
            <a:extLst>
              <a:ext uri="{FF2B5EF4-FFF2-40B4-BE49-F238E27FC236}">
                <a16:creationId xmlns:a16="http://schemas.microsoft.com/office/drawing/2014/main" id="{4E5B4C60-25E3-4A0F-AF04-39A98A20D4D0}"/>
              </a:ext>
            </a:extLst>
          </p:cNvPr>
          <p:cNvSpPr>
            <a:spLocks noGrp="1"/>
          </p:cNvSpPr>
          <p:nvPr>
            <p:ph idx="1"/>
          </p:nvPr>
        </p:nvSpPr>
        <p:spPr>
          <a:xfrm>
            <a:off x="22259" y="1759789"/>
            <a:ext cx="9102490" cy="5069968"/>
          </a:xfrm>
        </p:spPr>
        <p:txBody>
          <a:bodyPr>
            <a:noAutofit/>
          </a:bodyPr>
          <a:lstStyle/>
          <a:p>
            <a:pPr marL="0" indent="0" algn="just">
              <a:buNone/>
            </a:pPr>
            <a:r>
              <a:rPr lang="en-US" sz="3200" dirty="0">
                <a:latin typeface="Times New Roman" panose="02020603050405020304" pitchFamily="18" charset="0"/>
                <a:cs typeface="Times New Roman" panose="02020603050405020304" pitchFamily="18" charset="0"/>
              </a:rPr>
              <a:t>1. </a:t>
            </a:r>
            <a:r>
              <a:rPr lang="en-US" sz="3200" dirty="0" err="1">
                <a:latin typeface="Times New Roman" panose="02020603050405020304" pitchFamily="18" charset="0"/>
                <a:cs typeface="Times New Roman" panose="02020603050405020304" pitchFamily="18" charset="0"/>
              </a:rPr>
              <a:t>Hãy</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tạo</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một</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ứng</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dụng</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dựa</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trên</a:t>
            </a:r>
            <a:r>
              <a:rPr lang="en-US" sz="3200"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mẫu</a:t>
            </a:r>
            <a:r>
              <a:rPr lang="en-US" sz="3200" b="1" dirty="0">
                <a:latin typeface="Times New Roman" panose="02020603050405020304" pitchFamily="18" charset="0"/>
                <a:cs typeface="Times New Roman" panose="02020603050405020304" pitchFamily="18" charset="0"/>
              </a:rPr>
              <a:t> Dialog without Buttons </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Chúng</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tôi</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sẽ</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yêu</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cầu</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hai</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cặp</a:t>
            </a:r>
            <a:r>
              <a:rPr lang="en-US" sz="3200" dirty="0">
                <a:latin typeface="Times New Roman" panose="02020603050405020304" pitchFamily="18" charset="0"/>
                <a:cs typeface="Times New Roman" panose="02020603050405020304" pitchFamily="18" charset="0"/>
              </a:rPr>
              <a:t> widget </a:t>
            </a:r>
            <a:r>
              <a:rPr lang="en-US" sz="3200" dirty="0" err="1">
                <a:latin typeface="Times New Roman" panose="02020603050405020304" pitchFamily="18" charset="0"/>
                <a:cs typeface="Times New Roman" panose="02020603050405020304" pitchFamily="18" charset="0"/>
              </a:rPr>
              <a:t>QLabel</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và</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QProgressBar</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trong</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ứng</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dụng</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này</a:t>
            </a:r>
            <a:r>
              <a:rPr lang="en-US" sz="3200" dirty="0">
                <a:latin typeface="Times New Roman" panose="02020603050405020304" pitchFamily="18" charset="0"/>
                <a:cs typeface="Times New Roman" panose="02020603050405020304" pitchFamily="18" charset="0"/>
              </a:rPr>
              <a:t>.</a:t>
            </a:r>
          </a:p>
          <a:p>
            <a:pPr marL="0" indent="0" algn="just">
              <a:buNone/>
            </a:pPr>
            <a:r>
              <a:rPr lang="vi-VN" sz="3200" dirty="0">
                <a:latin typeface="Times New Roman" panose="02020603050405020304" pitchFamily="18" charset="0"/>
                <a:cs typeface="Times New Roman" panose="02020603050405020304" pitchFamily="18" charset="0"/>
              </a:rPr>
              <a:t>2. Thêm tiện ích QLabel và tiện ích QProgressBar vào </a:t>
            </a:r>
            <a:r>
              <a:rPr lang="en-US" sz="3200" dirty="0">
                <a:latin typeface="Times New Roman" panose="02020603050405020304" pitchFamily="18" charset="0"/>
                <a:cs typeface="Times New Roman" panose="02020603050405020304" pitchFamily="18" charset="0"/>
              </a:rPr>
              <a:t>form</a:t>
            </a:r>
            <a:r>
              <a:rPr lang="vi-VN" sz="3200" dirty="0">
                <a:latin typeface="Times New Roman" panose="02020603050405020304" pitchFamily="18" charset="0"/>
                <a:cs typeface="Times New Roman" panose="02020603050405020304" pitchFamily="18" charset="0"/>
              </a:rPr>
              <a:t> bằng cách kéo và thả tiện ích Label trên </a:t>
            </a:r>
            <a:r>
              <a:rPr lang="en-US" sz="3200" dirty="0">
                <a:latin typeface="Times New Roman" panose="02020603050405020304" pitchFamily="18" charset="0"/>
                <a:cs typeface="Times New Roman" panose="02020603050405020304" pitchFamily="18" charset="0"/>
              </a:rPr>
              <a:t>form </a:t>
            </a:r>
            <a:r>
              <a:rPr lang="vi-VN" sz="3200" dirty="0">
                <a:latin typeface="Times New Roman" panose="02020603050405020304" pitchFamily="18" charset="0"/>
                <a:cs typeface="Times New Roman" panose="02020603050405020304" pitchFamily="18" charset="0"/>
              </a:rPr>
              <a:t>và bên dưới tiện ích Label , kéo và thả tiện ích</a:t>
            </a:r>
            <a:r>
              <a:rPr lang="en-US" sz="3200" dirty="0">
                <a:latin typeface="Times New Roman" panose="02020603050405020304" pitchFamily="18" charset="0"/>
                <a:cs typeface="Times New Roman" panose="02020603050405020304" pitchFamily="18" charset="0"/>
              </a:rPr>
              <a:t> Progress Bar (</a:t>
            </a:r>
            <a:r>
              <a:rPr lang="vi-VN" sz="3200" dirty="0">
                <a:latin typeface="Times New Roman" panose="02020603050405020304" pitchFamily="18" charset="0"/>
                <a:cs typeface="Times New Roman" panose="02020603050405020304" pitchFamily="18" charset="0"/>
              </a:rPr>
              <a:t>Thanh tiến trình</a:t>
            </a:r>
            <a:r>
              <a:rPr lang="en-US" sz="3200" dirty="0">
                <a:latin typeface="Times New Roman" panose="02020603050405020304" pitchFamily="18" charset="0"/>
                <a:cs typeface="Times New Roman" panose="02020603050405020304" pitchFamily="18" charset="0"/>
              </a:rPr>
              <a:t>)</a:t>
            </a:r>
            <a:r>
              <a:rPr lang="vi-VN" sz="3200" dirty="0">
                <a:latin typeface="Times New Roman" panose="02020603050405020304" pitchFamily="18" charset="0"/>
                <a:cs typeface="Times New Roman" panose="02020603050405020304" pitchFamily="18" charset="0"/>
              </a:rPr>
              <a:t> trên </a:t>
            </a:r>
            <a:r>
              <a:rPr lang="en-US" sz="3200" dirty="0">
                <a:latin typeface="Times New Roman" panose="02020603050405020304" pitchFamily="18" charset="0"/>
                <a:cs typeface="Times New Roman" panose="02020603050405020304" pitchFamily="18" charset="0"/>
              </a:rPr>
              <a:t>form</a:t>
            </a:r>
            <a:r>
              <a:rPr lang="vi-VN" sz="3200" dirty="0">
                <a:latin typeface="Times New Roman" panose="02020603050405020304" pitchFamily="18" charset="0"/>
                <a:cs typeface="Times New Roman" panose="02020603050405020304" pitchFamily="18" charset="0"/>
              </a:rPr>
              <a:t>.</a:t>
            </a:r>
            <a:endParaRPr lang="en-US" sz="3200" dirty="0">
              <a:latin typeface="Times New Roman" panose="02020603050405020304" pitchFamily="18" charset="0"/>
              <a:cs typeface="Times New Roman" panose="02020603050405020304" pitchFamily="18" charset="0"/>
            </a:endParaRPr>
          </a:p>
          <a:p>
            <a:pPr marL="0" indent="0" algn="just">
              <a:buNone/>
            </a:pPr>
            <a:r>
              <a:rPr lang="vi-VN" sz="3200" dirty="0">
                <a:latin typeface="Times New Roman" panose="02020603050405020304" pitchFamily="18" charset="0"/>
                <a:cs typeface="Times New Roman" panose="02020603050405020304" pitchFamily="18" charset="0"/>
              </a:rPr>
              <a:t>3. Lặp lại quy trình cho một cặp tiện ích Label và </a:t>
            </a:r>
            <a:r>
              <a:rPr lang="en-US" sz="3200" dirty="0">
                <a:latin typeface="Times New Roman" panose="02020603050405020304" pitchFamily="18" charset="0"/>
                <a:cs typeface="Times New Roman" panose="02020603050405020304" pitchFamily="18" charset="0"/>
              </a:rPr>
              <a:t>Progress Bar</a:t>
            </a:r>
            <a:r>
              <a:rPr lang="vi-VN" sz="3200" dirty="0">
                <a:latin typeface="Times New Roman" panose="02020603050405020304" pitchFamily="18" charset="0"/>
                <a:cs typeface="Times New Roman" panose="02020603050405020304" pitchFamily="18" charset="0"/>
              </a:rPr>
              <a:t> khác.</a:t>
            </a:r>
            <a:endParaRPr lang="en-US" sz="3200" dirty="0">
              <a:latin typeface="Times New Roman" panose="02020603050405020304" pitchFamily="18" charset="0"/>
              <a:cs typeface="Times New Roman" panose="02020603050405020304" pitchFamily="18" charset="0"/>
            </a:endParaRPr>
          </a:p>
          <a:p>
            <a:pPr algn="just"/>
            <a:r>
              <a:rPr lang="vi-VN" sz="3200" dirty="0">
                <a:latin typeface="Times New Roman" panose="02020603050405020304" pitchFamily="18" charset="0"/>
                <a:cs typeface="Times New Roman" panose="02020603050405020304" pitchFamily="18" charset="0"/>
              </a:rPr>
              <a:t>4. Trên cặp Label và Thanh tiến trình, kéo và thả nút ấn trên </a:t>
            </a:r>
            <a:r>
              <a:rPr lang="en-US" sz="3200" dirty="0">
                <a:latin typeface="Times New Roman" panose="02020603050405020304" pitchFamily="18" charset="0"/>
                <a:cs typeface="Times New Roman" panose="02020603050405020304" pitchFamily="18" charset="0"/>
              </a:rPr>
              <a:t>form</a:t>
            </a:r>
            <a:r>
              <a:rPr lang="vi-VN" sz="3200" dirty="0">
                <a:latin typeface="Times New Roman" panose="02020603050405020304" pitchFamily="18" charset="0"/>
                <a:cs typeface="Times New Roman" panose="02020603050405020304" pitchFamily="18" charset="0"/>
              </a:rPr>
              <a:t>.</a:t>
            </a: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9442070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0" y="223240"/>
            <a:ext cx="9102490" cy="1314623"/>
          </a:xfrm>
        </p:spPr>
        <p:txBody>
          <a:bodyPr>
            <a:noAutofit/>
          </a:bodyPr>
          <a:lstStyle/>
          <a:p>
            <a:r>
              <a:rPr lang="vi-VN" dirty="0">
                <a:cs typeface="Times New Roman" panose="02020603050405020304" pitchFamily="18" charset="0"/>
              </a:rPr>
              <a:t>Cập Nhật Các Thanh Tiến Trình Đồng Thời Bằng Các Hoạt Động Không Đồng Bộ</a:t>
            </a:r>
          </a:p>
        </p:txBody>
      </p:sp>
      <p:sp>
        <p:nvSpPr>
          <p:cNvPr id="4" name="Content Placeholder 3">
            <a:extLst>
              <a:ext uri="{FF2B5EF4-FFF2-40B4-BE49-F238E27FC236}">
                <a16:creationId xmlns:a16="http://schemas.microsoft.com/office/drawing/2014/main" id="{4E5B4C60-25E3-4A0F-AF04-39A98A20D4D0}"/>
              </a:ext>
            </a:extLst>
          </p:cNvPr>
          <p:cNvSpPr>
            <a:spLocks noGrp="1"/>
          </p:cNvSpPr>
          <p:nvPr>
            <p:ph idx="1"/>
          </p:nvPr>
        </p:nvSpPr>
        <p:spPr>
          <a:xfrm>
            <a:off x="22259" y="1759789"/>
            <a:ext cx="9102490" cy="5069968"/>
          </a:xfrm>
        </p:spPr>
        <p:txBody>
          <a:bodyPr>
            <a:noAutofit/>
          </a:bodyPr>
          <a:lstStyle/>
          <a:p>
            <a:pPr marL="0" indent="0" algn="just">
              <a:buNone/>
            </a:pPr>
            <a:r>
              <a:rPr lang="vi-VN" sz="3200" dirty="0">
                <a:latin typeface="+mj-lt"/>
                <a:cs typeface="Times New Roman" panose="02020603050405020304" pitchFamily="18" charset="0"/>
              </a:rPr>
              <a:t>5. Đặt thuộc tính </a:t>
            </a:r>
            <a:r>
              <a:rPr lang="en-US" sz="3200" dirty="0">
                <a:latin typeface="Times New Roman" panose="02020603050405020304" pitchFamily="18" charset="0"/>
                <a:cs typeface="Times New Roman" panose="02020603050405020304" pitchFamily="18" charset="0"/>
              </a:rPr>
              <a:t>text</a:t>
            </a:r>
            <a:r>
              <a:rPr lang="en-US" sz="3200" dirty="0">
                <a:latin typeface="+mj-lt"/>
                <a:cs typeface="Times New Roman" panose="02020603050405020304" pitchFamily="18" charset="0"/>
              </a:rPr>
              <a:t> </a:t>
            </a:r>
            <a:r>
              <a:rPr lang="vi-VN" sz="3200" dirty="0">
                <a:latin typeface="+mj-lt"/>
                <a:cs typeface="Times New Roman" panose="02020603050405020304" pitchFamily="18" charset="0"/>
              </a:rPr>
              <a:t>của nút ấn thành </a:t>
            </a:r>
            <a:r>
              <a:rPr lang="vi-VN" sz="3200" b="1" dirty="0">
                <a:latin typeface="+mj-lt"/>
                <a:cs typeface="Times New Roman" panose="02020603050405020304" pitchFamily="18" charset="0"/>
              </a:rPr>
              <a:t>Start</a:t>
            </a:r>
            <a:r>
              <a:rPr lang="vi-VN" sz="3200" dirty="0">
                <a:latin typeface="+mj-lt"/>
                <a:cs typeface="Times New Roman" panose="02020603050405020304" pitchFamily="18" charset="0"/>
              </a:rPr>
              <a:t>.</a:t>
            </a:r>
            <a:endParaRPr lang="en-US" sz="3200" dirty="0">
              <a:latin typeface="+mj-lt"/>
              <a:cs typeface="Times New Roman" panose="02020603050405020304" pitchFamily="18" charset="0"/>
            </a:endParaRPr>
          </a:p>
          <a:p>
            <a:pPr marL="0" indent="0" algn="just">
              <a:buNone/>
            </a:pPr>
            <a:r>
              <a:rPr lang="vi-VN" sz="3200" dirty="0">
                <a:latin typeface="+mj-lt"/>
              </a:rPr>
              <a:t>6. Đặt thuộc tính </a:t>
            </a:r>
            <a:r>
              <a:rPr lang="en-US" sz="3200" dirty="0">
                <a:latin typeface="Times New Roman" panose="02020603050405020304" pitchFamily="18" charset="0"/>
                <a:cs typeface="Times New Roman" panose="02020603050405020304" pitchFamily="18" charset="0"/>
              </a:rPr>
              <a:t>text</a:t>
            </a:r>
            <a:r>
              <a:rPr lang="en-US" sz="3200" dirty="0">
                <a:latin typeface="+mj-lt"/>
                <a:cs typeface="Times New Roman" panose="02020603050405020304" pitchFamily="18" charset="0"/>
              </a:rPr>
              <a:t> </a:t>
            </a:r>
            <a:r>
              <a:rPr lang="vi-VN" sz="3200" dirty="0">
                <a:latin typeface="+mj-lt"/>
              </a:rPr>
              <a:t>của tiện ích </a:t>
            </a:r>
            <a:r>
              <a:rPr lang="vi-VN" sz="3200" dirty="0">
                <a:latin typeface="+mj-lt"/>
                <a:cs typeface="Times New Roman" panose="02020603050405020304" pitchFamily="18" charset="0"/>
              </a:rPr>
              <a:t>Label</a:t>
            </a:r>
            <a:r>
              <a:rPr lang="vi-VN" sz="3200" dirty="0">
                <a:latin typeface="+mj-lt"/>
              </a:rPr>
              <a:t> đầu tiên thành </a:t>
            </a:r>
            <a:r>
              <a:rPr lang="vi-VN" sz="3200" i="1" dirty="0">
                <a:latin typeface="+mj-lt"/>
              </a:rPr>
              <a:t>Downloading the file </a:t>
            </a:r>
            <a:r>
              <a:rPr lang="vi-VN" sz="3200" dirty="0">
                <a:latin typeface="+mj-lt"/>
              </a:rPr>
              <a:t>và tiện </a:t>
            </a:r>
            <a:r>
              <a:rPr lang="vi-VN" sz="3200">
                <a:latin typeface="+mj-lt"/>
              </a:rPr>
              <a:t>ích </a:t>
            </a:r>
            <a:r>
              <a:rPr lang="vi-VN" sz="3200">
                <a:latin typeface="+mj-lt"/>
                <a:cs typeface="Times New Roman" panose="02020603050405020304" pitchFamily="18" charset="0"/>
              </a:rPr>
              <a:t>Label</a:t>
            </a:r>
            <a:r>
              <a:rPr lang="vi-VN" sz="3200">
                <a:latin typeface="+mj-lt"/>
              </a:rPr>
              <a:t> </a:t>
            </a:r>
            <a:r>
              <a:rPr lang="vi-VN" sz="3200" dirty="0">
                <a:latin typeface="+mj-lt"/>
              </a:rPr>
              <a:t>thứ hai thành </a:t>
            </a:r>
            <a:r>
              <a:rPr lang="vi-VN" sz="3200" i="1" dirty="0">
                <a:latin typeface="+mj-lt"/>
              </a:rPr>
              <a:t>Scanning for Virus </a:t>
            </a:r>
            <a:endParaRPr lang="en-US" sz="3200" i="1" dirty="0">
              <a:latin typeface="+mj-lt"/>
            </a:endParaRPr>
          </a:p>
          <a:p>
            <a:pPr marL="0" indent="0" algn="just">
              <a:buNone/>
            </a:pPr>
            <a:r>
              <a:rPr lang="vi-VN" sz="3200" dirty="0">
                <a:latin typeface="+mj-lt"/>
              </a:rPr>
              <a:t>7. Đặt thuộc tính objectName của nút ấn thành </a:t>
            </a:r>
            <a:r>
              <a:rPr lang="vi-VN" sz="3200" i="1" dirty="0">
                <a:latin typeface="+mj-lt"/>
              </a:rPr>
              <a:t>pushButtonStart</a:t>
            </a:r>
            <a:r>
              <a:rPr lang="vi-VN" sz="3200" dirty="0">
                <a:latin typeface="+mj-lt"/>
              </a:rPr>
              <a:t>.</a:t>
            </a:r>
            <a:endParaRPr lang="en-US" sz="3200" dirty="0">
              <a:latin typeface="+mj-lt"/>
            </a:endParaRPr>
          </a:p>
          <a:p>
            <a:pPr marL="0" indent="0" algn="just">
              <a:buNone/>
            </a:pPr>
            <a:r>
              <a:rPr lang="vi-VN" sz="3200" dirty="0">
                <a:latin typeface="+mj-lt"/>
              </a:rPr>
              <a:t>8. Đặt thuộc tính objectName của tiện ích Thanh tiến trình đầu tiên thành </a:t>
            </a:r>
            <a:r>
              <a:rPr lang="vi-VN" sz="3200" i="1" dirty="0">
                <a:latin typeface="+mj-lt"/>
              </a:rPr>
              <a:t>progressBarFileDownload</a:t>
            </a:r>
            <a:r>
              <a:rPr lang="vi-VN" sz="3200" dirty="0">
                <a:latin typeface="+mj-lt"/>
              </a:rPr>
              <a:t> và thuộc tính của thanh tiến trình thứ hai thành </a:t>
            </a:r>
            <a:r>
              <a:rPr lang="vi-VN" sz="3200" i="1" dirty="0">
                <a:latin typeface="+mj-lt"/>
              </a:rPr>
              <a:t>ProgressBarVirusScan</a:t>
            </a:r>
            <a:r>
              <a:rPr lang="vi-VN" sz="3200" dirty="0">
                <a:latin typeface="+mj-lt"/>
              </a:rPr>
              <a:t>.</a:t>
            </a:r>
            <a:endParaRPr lang="en-US" sz="3200" dirty="0">
              <a:latin typeface="+mj-lt"/>
            </a:endParaRPr>
          </a:p>
        </p:txBody>
      </p:sp>
    </p:spTree>
    <p:extLst>
      <p:ext uri="{BB962C8B-B14F-4D97-AF65-F5344CB8AC3E}">
        <p14:creationId xmlns:p14="http://schemas.microsoft.com/office/powerpoint/2010/main" val="366010268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0" y="223240"/>
            <a:ext cx="9102490" cy="1314623"/>
          </a:xfrm>
        </p:spPr>
        <p:txBody>
          <a:bodyPr>
            <a:noAutofit/>
          </a:bodyPr>
          <a:lstStyle/>
          <a:p>
            <a:r>
              <a:rPr lang="vi-VN" dirty="0">
                <a:cs typeface="Times New Roman" panose="02020603050405020304" pitchFamily="18" charset="0"/>
              </a:rPr>
              <a:t>Cập Nhật Các Thanh Tiến Trình Đồng Thời Bằng Các Hoạt Động Không Đồng Bộ</a:t>
            </a:r>
          </a:p>
        </p:txBody>
      </p:sp>
      <p:sp>
        <p:nvSpPr>
          <p:cNvPr id="4" name="Content Placeholder 3">
            <a:extLst>
              <a:ext uri="{FF2B5EF4-FFF2-40B4-BE49-F238E27FC236}">
                <a16:creationId xmlns:a16="http://schemas.microsoft.com/office/drawing/2014/main" id="{4E5B4C60-25E3-4A0F-AF04-39A98A20D4D0}"/>
              </a:ext>
            </a:extLst>
          </p:cNvPr>
          <p:cNvSpPr>
            <a:spLocks noGrp="1"/>
          </p:cNvSpPr>
          <p:nvPr>
            <p:ph idx="1"/>
          </p:nvPr>
        </p:nvSpPr>
        <p:spPr>
          <a:xfrm>
            <a:off x="22259" y="1759789"/>
            <a:ext cx="9102490" cy="5069968"/>
          </a:xfrm>
        </p:spPr>
        <p:txBody>
          <a:bodyPr>
            <a:noAutofit/>
          </a:bodyPr>
          <a:lstStyle/>
          <a:p>
            <a:pPr marL="0" indent="0" algn="just">
              <a:buNone/>
            </a:pPr>
            <a:r>
              <a:rPr lang="vi-VN" sz="3200" dirty="0">
                <a:latin typeface="+mj-lt"/>
              </a:rPr>
              <a:t>9. Lưu ứng dụng dưới dạng demoTwoProTHERBarsAsync.ui. </a:t>
            </a:r>
            <a:r>
              <a:rPr lang="en-US" sz="3200" dirty="0">
                <a:latin typeface="Times New Roman" panose="02020603050405020304" pitchFamily="18" charset="0"/>
                <a:cs typeface="Times New Roman" panose="02020603050405020304" pitchFamily="18" charset="0"/>
              </a:rPr>
              <a:t>Form</a:t>
            </a:r>
            <a:r>
              <a:rPr lang="en-US" sz="3200" dirty="0">
                <a:latin typeface="+mj-lt"/>
              </a:rPr>
              <a:t> </a:t>
            </a:r>
            <a:r>
              <a:rPr lang="vi-VN" sz="3200" dirty="0">
                <a:latin typeface="+mj-lt"/>
              </a:rPr>
              <a:t>sẽ xuất hiện như hình sau:</a:t>
            </a:r>
            <a:endParaRPr lang="en-US" sz="3200" dirty="0">
              <a:latin typeface="+mj-lt"/>
              <a:cs typeface="Times New Roman" panose="02020603050405020304" pitchFamily="18" charset="0"/>
            </a:endParaRPr>
          </a:p>
        </p:txBody>
      </p:sp>
      <p:pic>
        <p:nvPicPr>
          <p:cNvPr id="5" name="Picture 4" descr="sách Qt5-Python-GUI-Programming-Cookbook.pdf - Foxit Reader">
            <a:extLst>
              <a:ext uri="{FF2B5EF4-FFF2-40B4-BE49-F238E27FC236}">
                <a16:creationId xmlns:a16="http://schemas.microsoft.com/office/drawing/2014/main" id="{2A8BD62D-86BA-4ACA-B09F-C963DD64EE47}"/>
              </a:ext>
            </a:extLst>
          </p:cNvPr>
          <p:cNvPicPr>
            <a:picLocks noChangeAspect="1"/>
          </p:cNvPicPr>
          <p:nvPr/>
        </p:nvPicPr>
        <p:blipFill rotWithShape="1">
          <a:blip r:embed="rId2">
            <a:extLst>
              <a:ext uri="{28A0092B-C50C-407E-A947-70E740481C1C}">
                <a14:useLocalDpi xmlns:a14="http://schemas.microsoft.com/office/drawing/2010/main" val="0"/>
              </a:ext>
            </a:extLst>
          </a:blip>
          <a:srcRect l="37924" t="37120" r="35850" b="21174"/>
          <a:stretch/>
        </p:blipFill>
        <p:spPr>
          <a:xfrm>
            <a:off x="2173855" y="3140014"/>
            <a:ext cx="4830793" cy="3088257"/>
          </a:xfrm>
          <a:prstGeom prst="rect">
            <a:avLst/>
          </a:prstGeom>
        </p:spPr>
      </p:pic>
    </p:spTree>
    <p:extLst>
      <p:ext uri="{BB962C8B-B14F-4D97-AF65-F5344CB8AC3E}">
        <p14:creationId xmlns:p14="http://schemas.microsoft.com/office/powerpoint/2010/main" val="147166194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0" y="223240"/>
            <a:ext cx="9102490" cy="1314623"/>
          </a:xfrm>
        </p:spPr>
        <p:txBody>
          <a:bodyPr>
            <a:noAutofit/>
          </a:bodyPr>
          <a:lstStyle/>
          <a:p>
            <a:r>
              <a:rPr lang="vi-VN" dirty="0">
                <a:cs typeface="Times New Roman" panose="02020603050405020304" pitchFamily="18" charset="0"/>
              </a:rPr>
              <a:t>Cập Nhật Các Thanh Tiến Trình Đồng Thời Bằng Các Hoạt Động Không Đồng Bộ</a:t>
            </a:r>
          </a:p>
        </p:txBody>
      </p:sp>
      <p:sp>
        <p:nvSpPr>
          <p:cNvPr id="4" name="Content Placeholder 3">
            <a:extLst>
              <a:ext uri="{FF2B5EF4-FFF2-40B4-BE49-F238E27FC236}">
                <a16:creationId xmlns:a16="http://schemas.microsoft.com/office/drawing/2014/main" id="{4E5B4C60-25E3-4A0F-AF04-39A98A20D4D0}"/>
              </a:ext>
            </a:extLst>
          </p:cNvPr>
          <p:cNvSpPr>
            <a:spLocks noGrp="1"/>
          </p:cNvSpPr>
          <p:nvPr>
            <p:ph idx="1"/>
          </p:nvPr>
        </p:nvSpPr>
        <p:spPr>
          <a:xfrm>
            <a:off x="22259" y="1759789"/>
            <a:ext cx="9102490" cy="5069968"/>
          </a:xfrm>
        </p:spPr>
        <p:txBody>
          <a:bodyPr>
            <a:noAutofit/>
          </a:bodyPr>
          <a:lstStyle/>
          <a:p>
            <a:pPr marL="0" indent="0" algn="just">
              <a:buNone/>
            </a:pPr>
            <a:r>
              <a:rPr lang="vi-VN" sz="3200" dirty="0">
                <a:latin typeface="+mj-lt"/>
              </a:rPr>
              <a:t>Giao diện người dùng được tạo bằng Qt Designer được lưu trữ trong </a:t>
            </a:r>
            <a:r>
              <a:rPr lang="en-US" sz="3200" dirty="0">
                <a:latin typeface="Times New Roman" panose="02020603050405020304" pitchFamily="18" charset="0"/>
                <a:cs typeface="Times New Roman" panose="02020603050405020304" pitchFamily="18" charset="0"/>
              </a:rPr>
              <a:t>file</a:t>
            </a:r>
            <a:r>
              <a:rPr lang="vi-VN" sz="3200" dirty="0">
                <a:latin typeface="+mj-lt"/>
              </a:rPr>
              <a:t> .ui, đây là </a:t>
            </a:r>
            <a:r>
              <a:rPr lang="en-US" sz="3200" dirty="0">
                <a:latin typeface="Times New Roman" panose="02020603050405020304" pitchFamily="18" charset="0"/>
                <a:cs typeface="Times New Roman" panose="02020603050405020304" pitchFamily="18" charset="0"/>
              </a:rPr>
              <a:t>file</a:t>
            </a:r>
            <a:r>
              <a:rPr lang="vi-VN" sz="3200" dirty="0">
                <a:latin typeface="+mj-lt"/>
              </a:rPr>
              <a:t> XML và cần chuyển đổi thành </a:t>
            </a:r>
            <a:r>
              <a:rPr lang="en-US" sz="3200" dirty="0">
                <a:latin typeface="Times New Roman" panose="02020603050405020304" pitchFamily="18" charset="0"/>
                <a:cs typeface="Times New Roman" panose="02020603050405020304" pitchFamily="18" charset="0"/>
              </a:rPr>
              <a:t>code</a:t>
            </a:r>
            <a:r>
              <a:rPr lang="vi-VN" sz="3200" dirty="0">
                <a:latin typeface="+mj-lt"/>
              </a:rPr>
              <a:t> Python. Lệnh pyuic5 được sử dụng để chuyển đổi </a:t>
            </a:r>
            <a:r>
              <a:rPr lang="en-US" sz="3200" dirty="0">
                <a:latin typeface="Times New Roman" panose="02020603050405020304" pitchFamily="18" charset="0"/>
                <a:cs typeface="Times New Roman" panose="02020603050405020304" pitchFamily="18" charset="0"/>
              </a:rPr>
              <a:t>file</a:t>
            </a:r>
            <a:r>
              <a:rPr lang="vi-VN" sz="3200" dirty="0">
                <a:latin typeface="+mj-lt"/>
              </a:rPr>
              <a:t> XML thành </a:t>
            </a:r>
            <a:r>
              <a:rPr lang="en-US" sz="3200" dirty="0">
                <a:latin typeface="Times New Roman" panose="02020603050405020304" pitchFamily="18" charset="0"/>
                <a:cs typeface="Times New Roman" panose="02020603050405020304" pitchFamily="18" charset="0"/>
              </a:rPr>
              <a:t>code</a:t>
            </a:r>
            <a:r>
              <a:rPr lang="vi-VN" sz="3200" dirty="0">
                <a:latin typeface="+mj-lt"/>
              </a:rPr>
              <a:t> Python.</a:t>
            </a:r>
            <a:endParaRPr lang="en-US" sz="3200" dirty="0">
              <a:latin typeface="+mj-lt"/>
            </a:endParaRPr>
          </a:p>
          <a:p>
            <a:pPr marL="0" indent="0" algn="just">
              <a:buNone/>
            </a:pPr>
            <a:r>
              <a:rPr lang="vi-VN" sz="3200" dirty="0">
                <a:latin typeface="+mj-lt"/>
              </a:rPr>
              <a:t>10. Hãy coi tập lệnh</a:t>
            </a:r>
            <a:r>
              <a:rPr lang="en-US" sz="3200" dirty="0">
                <a:latin typeface="+mj-lt"/>
              </a:rPr>
              <a:t> </a:t>
            </a:r>
            <a:r>
              <a:rPr lang="vi-VN" sz="3200" dirty="0">
                <a:latin typeface="+mj-lt"/>
              </a:rPr>
              <a:t>demoTwoProTHERBarsAsync.py như một </a:t>
            </a:r>
            <a:r>
              <a:rPr lang="en-US" sz="3200" dirty="0">
                <a:latin typeface="Times New Roman" panose="02020603050405020304" pitchFamily="18" charset="0"/>
                <a:cs typeface="Times New Roman" panose="02020603050405020304" pitchFamily="18" charset="0"/>
              </a:rPr>
              <a:t>file</a:t>
            </a:r>
            <a:r>
              <a:rPr lang="vi-VN" sz="3200" dirty="0">
                <a:latin typeface="+mj-lt"/>
              </a:rPr>
              <a:t> tiêu đề và nhập nó vào </a:t>
            </a:r>
            <a:r>
              <a:rPr lang="en-US" sz="3200" dirty="0">
                <a:latin typeface="Times New Roman" panose="02020603050405020304" pitchFamily="18" charset="0"/>
                <a:cs typeface="Times New Roman" panose="02020603050405020304" pitchFamily="18" charset="0"/>
              </a:rPr>
              <a:t>file</a:t>
            </a:r>
            <a:r>
              <a:rPr lang="vi-VN" sz="3200" dirty="0">
                <a:latin typeface="+mj-lt"/>
              </a:rPr>
              <a:t> mà bạn sẽ gọi thiết kế giao diện người dùng của nó.</a:t>
            </a:r>
            <a:endParaRPr lang="en-US" sz="3200" dirty="0">
              <a:latin typeface="+mj-lt"/>
            </a:endParaRPr>
          </a:p>
          <a:p>
            <a:pPr marL="0" indent="0" algn="just">
              <a:buNone/>
            </a:pPr>
            <a:r>
              <a:rPr lang="vi-VN" sz="3200" dirty="0">
                <a:latin typeface="+mj-lt"/>
              </a:rPr>
              <a:t>11. Tạo một </a:t>
            </a:r>
            <a:r>
              <a:rPr lang="en-US" sz="3200" dirty="0">
                <a:latin typeface="Times New Roman" panose="02020603050405020304" pitchFamily="18" charset="0"/>
                <a:cs typeface="Times New Roman" panose="02020603050405020304" pitchFamily="18" charset="0"/>
              </a:rPr>
              <a:t>file</a:t>
            </a:r>
            <a:r>
              <a:rPr lang="vi-VN" sz="3200" dirty="0">
                <a:latin typeface="+mj-lt"/>
              </a:rPr>
              <a:t> Python khác với tên callProTHERBarAsync1.pyw và nhập </a:t>
            </a:r>
            <a:r>
              <a:rPr lang="en-US" sz="3200" dirty="0">
                <a:latin typeface="Times New Roman" panose="02020603050405020304" pitchFamily="18" charset="0"/>
                <a:cs typeface="Times New Roman" panose="02020603050405020304" pitchFamily="18" charset="0"/>
              </a:rPr>
              <a:t>code</a:t>
            </a:r>
            <a:r>
              <a:rPr lang="vi-VN" sz="3200" dirty="0">
                <a:latin typeface="+mj-lt"/>
              </a:rPr>
              <a:t> demoTwoProTHERBarsAsync.py vào nó</a:t>
            </a:r>
            <a:endParaRPr lang="en-US" sz="3200" dirty="0">
              <a:latin typeface="+mj-lt"/>
              <a:cs typeface="Times New Roman" panose="02020603050405020304" pitchFamily="18" charset="0"/>
            </a:endParaRPr>
          </a:p>
        </p:txBody>
      </p:sp>
    </p:spTree>
    <p:extLst>
      <p:ext uri="{BB962C8B-B14F-4D97-AF65-F5344CB8AC3E}">
        <p14:creationId xmlns:p14="http://schemas.microsoft.com/office/powerpoint/2010/main" val="412354603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0" y="223240"/>
            <a:ext cx="9102490" cy="1314623"/>
          </a:xfrm>
        </p:spPr>
        <p:txBody>
          <a:bodyPr>
            <a:noAutofit/>
          </a:bodyPr>
          <a:lstStyle/>
          <a:p>
            <a:r>
              <a:rPr lang="vi-VN" dirty="0">
                <a:cs typeface="Times New Roman" panose="02020603050405020304" pitchFamily="18" charset="0"/>
              </a:rPr>
              <a:t>Cập Nhật Các Thanh Tiến Trình Đồng Thời Bằng Các Hoạt Động Không Đồng Bộ</a:t>
            </a:r>
          </a:p>
        </p:txBody>
      </p:sp>
      <p:sp>
        <p:nvSpPr>
          <p:cNvPr id="4" name="Content Placeholder 3">
            <a:extLst>
              <a:ext uri="{FF2B5EF4-FFF2-40B4-BE49-F238E27FC236}">
                <a16:creationId xmlns:a16="http://schemas.microsoft.com/office/drawing/2014/main" id="{4E5B4C60-25E3-4A0F-AF04-39A98A20D4D0}"/>
              </a:ext>
            </a:extLst>
          </p:cNvPr>
          <p:cNvSpPr>
            <a:spLocks noGrp="1"/>
          </p:cNvSpPr>
          <p:nvPr>
            <p:ph idx="1"/>
          </p:nvPr>
        </p:nvSpPr>
        <p:spPr>
          <a:xfrm>
            <a:off x="22259" y="1759789"/>
            <a:ext cx="9102490" cy="5069968"/>
          </a:xfrm>
        </p:spPr>
        <p:txBody>
          <a:bodyPr>
            <a:noAutofit/>
          </a:bodyPr>
          <a:lstStyle/>
          <a:p>
            <a:pPr marL="0" indent="0" algn="just">
              <a:buNone/>
            </a:pPr>
            <a:endParaRPr lang="en-US" sz="3200" dirty="0">
              <a:latin typeface="+mj-lt"/>
              <a:cs typeface="Times New Roman" panose="02020603050405020304" pitchFamily="18" charset="0"/>
            </a:endParaRPr>
          </a:p>
        </p:txBody>
      </p:sp>
      <p:pic>
        <p:nvPicPr>
          <p:cNvPr id="5" name="Picture 4" descr="sách Qt5-Python-GUI-Programming-Cookbook.pdf - Foxit Reader">
            <a:extLst>
              <a:ext uri="{FF2B5EF4-FFF2-40B4-BE49-F238E27FC236}">
                <a16:creationId xmlns:a16="http://schemas.microsoft.com/office/drawing/2014/main" id="{CBB3B137-5102-447C-88D1-77A9EDB09F03}"/>
              </a:ext>
            </a:extLst>
          </p:cNvPr>
          <p:cNvPicPr>
            <a:picLocks noChangeAspect="1"/>
          </p:cNvPicPr>
          <p:nvPr/>
        </p:nvPicPr>
        <p:blipFill rotWithShape="1">
          <a:blip r:embed="rId2">
            <a:extLst>
              <a:ext uri="{28A0092B-C50C-407E-A947-70E740481C1C}">
                <a14:useLocalDpi xmlns:a14="http://schemas.microsoft.com/office/drawing/2010/main" val="0"/>
              </a:ext>
            </a:extLst>
          </a:blip>
          <a:srcRect l="31621" t="11583" r="22718" b="8906"/>
          <a:stretch/>
        </p:blipFill>
        <p:spPr>
          <a:xfrm>
            <a:off x="34504" y="1759789"/>
            <a:ext cx="9109495" cy="5069968"/>
          </a:xfrm>
          <a:prstGeom prst="rect">
            <a:avLst/>
          </a:prstGeom>
        </p:spPr>
      </p:pic>
    </p:spTree>
    <p:extLst>
      <p:ext uri="{BB962C8B-B14F-4D97-AF65-F5344CB8AC3E}">
        <p14:creationId xmlns:p14="http://schemas.microsoft.com/office/powerpoint/2010/main" val="216745057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0" y="223240"/>
            <a:ext cx="9102490" cy="1314623"/>
          </a:xfrm>
        </p:spPr>
        <p:txBody>
          <a:bodyPr>
            <a:noAutofit/>
          </a:bodyPr>
          <a:lstStyle/>
          <a:p>
            <a:r>
              <a:rPr lang="vi-VN" dirty="0">
                <a:cs typeface="Times New Roman" panose="02020603050405020304" pitchFamily="18" charset="0"/>
              </a:rPr>
              <a:t>Quản Lý Tài Nguyên Bằng Trình Quản Lý Bối Cảnh</a:t>
            </a:r>
          </a:p>
        </p:txBody>
      </p:sp>
      <p:sp>
        <p:nvSpPr>
          <p:cNvPr id="4" name="Content Placeholder 3">
            <a:extLst>
              <a:ext uri="{FF2B5EF4-FFF2-40B4-BE49-F238E27FC236}">
                <a16:creationId xmlns:a16="http://schemas.microsoft.com/office/drawing/2014/main" id="{4E5B4C60-25E3-4A0F-AF04-39A98A20D4D0}"/>
              </a:ext>
            </a:extLst>
          </p:cNvPr>
          <p:cNvSpPr>
            <a:spLocks noGrp="1"/>
          </p:cNvSpPr>
          <p:nvPr>
            <p:ph idx="1"/>
          </p:nvPr>
        </p:nvSpPr>
        <p:spPr>
          <a:xfrm>
            <a:off x="22259" y="1759789"/>
            <a:ext cx="9102490" cy="5069968"/>
          </a:xfrm>
        </p:spPr>
        <p:txBody>
          <a:bodyPr>
            <a:noAutofit/>
          </a:bodyPr>
          <a:lstStyle/>
          <a:p>
            <a:pPr marL="0" indent="0" algn="just">
              <a:buNone/>
            </a:pPr>
            <a:r>
              <a:rPr lang="vi-VN" sz="3200" dirty="0">
                <a:latin typeface="+mj-lt"/>
              </a:rPr>
              <a:t>Trong </a:t>
            </a:r>
            <a:r>
              <a:rPr lang="en-US" sz="3200" dirty="0" err="1">
                <a:latin typeface="Times New Roman" panose="02020603050405020304" pitchFamily="18" charset="0"/>
                <a:cs typeface="Times New Roman" panose="02020603050405020304" pitchFamily="18" charset="0"/>
              </a:rPr>
              <a:t>phần</a:t>
            </a:r>
            <a:r>
              <a:rPr lang="en-US" sz="3200" dirty="0">
                <a:latin typeface="+mj-lt"/>
              </a:rPr>
              <a:t> </a:t>
            </a:r>
            <a:r>
              <a:rPr lang="vi-VN" sz="3200" dirty="0">
                <a:latin typeface="+mj-lt"/>
              </a:rPr>
              <a:t>này, bạn sẽ học cách cập nhật đồng thời hai thanh tiến trình bằng cách sử dụng hai luồng. Việc đồng bộ hóa giữa hai luồng và khóa chúng sẽ được xử lý thông qua trình quản lý bối cảnh. Quản lý bối cảnh là gì? </a:t>
            </a:r>
            <a:endParaRPr lang="en-US" sz="3200" dirty="0">
              <a:latin typeface="+mj-lt"/>
            </a:endParaRPr>
          </a:p>
          <a:p>
            <a:pPr marL="0" indent="0" algn="just">
              <a:buNone/>
            </a:pPr>
            <a:r>
              <a:rPr lang="vi-VN" sz="3200" dirty="0">
                <a:latin typeface="+mj-lt"/>
              </a:rPr>
              <a:t>Trình quản lý bối cảnh cho phép chúng t</a:t>
            </a:r>
            <a:r>
              <a:rPr lang="en-US" sz="3200" dirty="0">
                <a:latin typeface="Times New Roman" panose="02020603050405020304" pitchFamily="18" charset="0"/>
                <a:cs typeface="Times New Roman" panose="02020603050405020304" pitchFamily="18" charset="0"/>
              </a:rPr>
              <a:t>a</a:t>
            </a:r>
            <a:r>
              <a:rPr lang="vi-VN" sz="3200" dirty="0">
                <a:latin typeface="+mj-lt"/>
              </a:rPr>
              <a:t> phân bổ và giải phóng tài nguyên bất cứ khi nào muốn. Để tối ưu hóa việc sử dụng tài nguyên, điều cần thiết là, khi bất kỳ tài nguyên nào được phân bổ bởi bất kỳ ứng dụng hoặc luồng nào, chúng sẽ được giải phóng hoặc dọn sạch để chúng có thể được sử dụng bởi một số ứng</a:t>
            </a:r>
            <a:endParaRPr lang="en-US" sz="3200" dirty="0">
              <a:latin typeface="+mj-lt"/>
              <a:cs typeface="Times New Roman" panose="02020603050405020304" pitchFamily="18" charset="0"/>
            </a:endParaRPr>
          </a:p>
        </p:txBody>
      </p:sp>
    </p:spTree>
    <p:extLst>
      <p:ext uri="{BB962C8B-B14F-4D97-AF65-F5344CB8AC3E}">
        <p14:creationId xmlns:p14="http://schemas.microsoft.com/office/powerpoint/2010/main" val="71728106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0" y="223240"/>
            <a:ext cx="9102490" cy="1314623"/>
          </a:xfrm>
        </p:spPr>
        <p:txBody>
          <a:bodyPr>
            <a:noAutofit/>
          </a:bodyPr>
          <a:lstStyle/>
          <a:p>
            <a:r>
              <a:rPr lang="vi-VN" dirty="0">
                <a:cs typeface="Times New Roman" panose="02020603050405020304" pitchFamily="18" charset="0"/>
              </a:rPr>
              <a:t>Quản Lý Tài Nguyên Bằng Trình Quản Lý Bối Cảnh</a:t>
            </a:r>
          </a:p>
        </p:txBody>
      </p:sp>
      <p:sp>
        <p:nvSpPr>
          <p:cNvPr id="4" name="Content Placeholder 3">
            <a:extLst>
              <a:ext uri="{FF2B5EF4-FFF2-40B4-BE49-F238E27FC236}">
                <a16:creationId xmlns:a16="http://schemas.microsoft.com/office/drawing/2014/main" id="{4E5B4C60-25E3-4A0F-AF04-39A98A20D4D0}"/>
              </a:ext>
            </a:extLst>
          </p:cNvPr>
          <p:cNvSpPr>
            <a:spLocks noGrp="1"/>
          </p:cNvSpPr>
          <p:nvPr>
            <p:ph idx="1"/>
          </p:nvPr>
        </p:nvSpPr>
        <p:spPr>
          <a:xfrm>
            <a:off x="22259" y="1759789"/>
            <a:ext cx="9102490" cy="5069968"/>
          </a:xfrm>
        </p:spPr>
        <p:txBody>
          <a:bodyPr>
            <a:noAutofit/>
          </a:bodyPr>
          <a:lstStyle/>
          <a:p>
            <a:pPr marL="0" indent="0" algn="just">
              <a:buNone/>
            </a:pPr>
            <a:r>
              <a:rPr lang="vi-VN" sz="3200" dirty="0">
                <a:latin typeface="+mj-lt"/>
              </a:rPr>
              <a:t>hoặc luồng khác. Nhưng đôi khi chương trình gặp sự cố trong khi thực thi hoặc vì một số lý do khác khiến chương trình không kết thúc đúng cách</a:t>
            </a:r>
            <a:r>
              <a:rPr lang="en-US" sz="3200" dirty="0">
                <a:latin typeface="+mj-lt"/>
              </a:rPr>
              <a:t>,</a:t>
            </a:r>
            <a:r>
              <a:rPr lang="vi-VN" sz="3200" dirty="0">
                <a:latin typeface="+mj-lt"/>
              </a:rPr>
              <a:t> do đó các tài nguyên được phân bổ không được giải phóng đúng cách. Các nhà quản lý bối cảnh giúp đỡ trong các tình huống như vậy bằng cách đảm bảo việc dọn sạch các tài nguyên được phân bổ diễn ra. Đây là một ví dụ nhỏ về việc sử dụng trình quản lý bối cảnh:</a:t>
            </a:r>
            <a:endParaRPr lang="en-US" sz="3200" dirty="0">
              <a:latin typeface="+mj-lt"/>
              <a:cs typeface="Times New Roman" panose="02020603050405020304" pitchFamily="18" charset="0"/>
            </a:endParaRPr>
          </a:p>
        </p:txBody>
      </p:sp>
    </p:spTree>
    <p:extLst>
      <p:ext uri="{BB962C8B-B14F-4D97-AF65-F5344CB8AC3E}">
        <p14:creationId xmlns:p14="http://schemas.microsoft.com/office/powerpoint/2010/main" val="251489317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0" y="223240"/>
            <a:ext cx="9102490" cy="1314623"/>
          </a:xfrm>
        </p:spPr>
        <p:txBody>
          <a:bodyPr>
            <a:noAutofit/>
          </a:bodyPr>
          <a:lstStyle/>
          <a:p>
            <a:r>
              <a:rPr lang="vi-VN" dirty="0">
                <a:cs typeface="Times New Roman" panose="02020603050405020304" pitchFamily="18" charset="0"/>
              </a:rPr>
              <a:t>Quản Lý Tài Nguyên Bằng Trình Quản Lý Bối Cảnh</a:t>
            </a:r>
          </a:p>
        </p:txBody>
      </p:sp>
      <p:sp>
        <p:nvSpPr>
          <p:cNvPr id="4" name="Content Placeholder 3">
            <a:extLst>
              <a:ext uri="{FF2B5EF4-FFF2-40B4-BE49-F238E27FC236}">
                <a16:creationId xmlns:a16="http://schemas.microsoft.com/office/drawing/2014/main" id="{4E5B4C60-25E3-4A0F-AF04-39A98A20D4D0}"/>
              </a:ext>
            </a:extLst>
          </p:cNvPr>
          <p:cNvSpPr>
            <a:spLocks noGrp="1"/>
          </p:cNvSpPr>
          <p:nvPr>
            <p:ph idx="1"/>
          </p:nvPr>
        </p:nvSpPr>
        <p:spPr>
          <a:xfrm>
            <a:off x="0" y="1419454"/>
            <a:ext cx="9102490" cy="5069968"/>
          </a:xfrm>
        </p:spPr>
        <p:txBody>
          <a:bodyPr>
            <a:noAutofit/>
          </a:bodyPr>
          <a:lstStyle/>
          <a:p>
            <a:pPr marL="0" indent="0" algn="just">
              <a:buNone/>
            </a:pPr>
            <a:r>
              <a:rPr lang="en-US" sz="3200" i="1" dirty="0">
                <a:latin typeface="Times New Roman" panose="02020603050405020304" pitchFamily="18" charset="0"/>
                <a:cs typeface="Times New Roman" panose="02020603050405020304" pitchFamily="18" charset="0"/>
              </a:rPr>
              <a:t>with </a:t>
            </a:r>
            <a:r>
              <a:rPr lang="en-US" sz="3200" i="1" dirty="0" err="1">
                <a:latin typeface="Times New Roman" panose="02020603050405020304" pitchFamily="18" charset="0"/>
                <a:cs typeface="Times New Roman" panose="02020603050405020304" pitchFamily="18" charset="0"/>
              </a:rPr>
              <a:t>method_call</a:t>
            </a:r>
            <a:r>
              <a:rPr lang="en-US" sz="3200" i="1" dirty="0">
                <a:latin typeface="Times New Roman" panose="02020603050405020304" pitchFamily="18" charset="0"/>
                <a:cs typeface="Times New Roman" panose="02020603050405020304" pitchFamily="18" charset="0"/>
              </a:rPr>
              <a:t>() as </a:t>
            </a:r>
            <a:r>
              <a:rPr lang="en-US" sz="3200" i="1" dirty="0" err="1">
                <a:latin typeface="Times New Roman" panose="02020603050405020304" pitchFamily="18" charset="0"/>
                <a:cs typeface="Times New Roman" panose="02020603050405020304" pitchFamily="18" charset="0"/>
              </a:rPr>
              <a:t>variable_name</a:t>
            </a:r>
            <a:r>
              <a:rPr lang="en-US" sz="3200" i="1" dirty="0">
                <a:latin typeface="Times New Roman" panose="02020603050405020304" pitchFamily="18" charset="0"/>
                <a:cs typeface="Times New Roman" panose="02020603050405020304" pitchFamily="18" charset="0"/>
              </a:rPr>
              <a:t>:</a:t>
            </a:r>
          </a:p>
          <a:p>
            <a:pPr marL="0" indent="0" algn="just">
              <a:buNone/>
            </a:pPr>
            <a:r>
              <a:rPr lang="en-US" sz="3200" i="1" dirty="0">
                <a:latin typeface="Times New Roman" panose="02020603050405020304" pitchFamily="18" charset="0"/>
                <a:cs typeface="Times New Roman" panose="02020603050405020304" pitchFamily="18" charset="0"/>
              </a:rPr>
              <a:t>statements that use </a:t>
            </a:r>
            <a:r>
              <a:rPr lang="en-US" sz="3200" i="1" dirty="0" err="1">
                <a:latin typeface="Times New Roman" panose="02020603050405020304" pitchFamily="18" charset="0"/>
                <a:cs typeface="Times New Roman" panose="02020603050405020304" pitchFamily="18" charset="0"/>
              </a:rPr>
              <a:t>variable_name</a:t>
            </a:r>
            <a:endParaRPr lang="en-US" sz="3200" i="1" dirty="0">
              <a:latin typeface="Times New Roman" panose="02020603050405020304" pitchFamily="18" charset="0"/>
              <a:cs typeface="Times New Roman" panose="02020603050405020304" pitchFamily="18" charset="0"/>
            </a:endParaRPr>
          </a:p>
          <a:p>
            <a:pPr marL="0" indent="0" algn="just">
              <a:buNone/>
            </a:pPr>
            <a:r>
              <a:rPr lang="en-US" sz="3200" i="1" dirty="0">
                <a:latin typeface="Times New Roman" panose="02020603050405020304" pitchFamily="18" charset="0"/>
                <a:cs typeface="Times New Roman" panose="02020603050405020304" pitchFamily="18" charset="0"/>
              </a:rPr>
              <a:t>..........</a:t>
            </a:r>
          </a:p>
          <a:p>
            <a:pPr marL="0" indent="0" algn="just">
              <a:buNone/>
            </a:pPr>
            <a:r>
              <a:rPr lang="en-US" sz="3200" i="1" dirty="0">
                <a:latin typeface="Times New Roman" panose="02020603050405020304" pitchFamily="18" charset="0"/>
                <a:cs typeface="Times New Roman" panose="02020603050405020304" pitchFamily="18" charset="0"/>
              </a:rPr>
              <a:t>..........</a:t>
            </a:r>
          </a:p>
          <a:p>
            <a:pPr marL="0" indent="0" algn="just">
              <a:buNone/>
            </a:pPr>
            <a:r>
              <a:rPr lang="en-US" sz="3200" i="1" dirty="0" err="1">
                <a:latin typeface="Times New Roman" panose="02020603050405020304" pitchFamily="18" charset="0"/>
                <a:cs typeface="Times New Roman" panose="02020603050405020304" pitchFamily="18" charset="0"/>
              </a:rPr>
              <a:t>variable_name</a:t>
            </a:r>
            <a:r>
              <a:rPr lang="en-US" sz="3200" i="1" dirty="0">
                <a:latin typeface="Times New Roman" panose="02020603050405020304" pitchFamily="18" charset="0"/>
                <a:cs typeface="Times New Roman" panose="02020603050405020304" pitchFamily="18" charset="0"/>
              </a:rPr>
              <a:t> is automatically cleaned</a:t>
            </a:r>
          </a:p>
          <a:p>
            <a:pPr marL="0" indent="0" algn="just">
              <a:buNone/>
            </a:pPr>
            <a:r>
              <a:rPr lang="vi-VN" sz="3200" dirty="0">
                <a:latin typeface="+mj-lt"/>
              </a:rPr>
              <a:t>Từ khóa</a:t>
            </a:r>
            <a:r>
              <a:rPr lang="en-US" sz="3200" dirty="0">
                <a:latin typeface="+mj-lt"/>
              </a:rPr>
              <a:t> </a:t>
            </a:r>
            <a:r>
              <a:rPr lang="vi-VN" sz="3200" i="1" dirty="0">
                <a:latin typeface="+mj-lt"/>
              </a:rPr>
              <a:t>with</a:t>
            </a:r>
            <a:r>
              <a:rPr lang="vi-VN" sz="3200" dirty="0">
                <a:latin typeface="+mj-lt"/>
              </a:rPr>
              <a:t> đóng vai trò chính trong trình quản lý bối cảnh. Sử dụng từ khóa </a:t>
            </a:r>
            <a:r>
              <a:rPr lang="vi-VN" sz="3200" i="1" dirty="0">
                <a:latin typeface="+mj-lt"/>
              </a:rPr>
              <a:t>with</a:t>
            </a:r>
            <a:r>
              <a:rPr lang="vi-VN" sz="3200" dirty="0">
                <a:latin typeface="+mj-lt"/>
              </a:rPr>
              <a:t>, chúng ta có thể gọi bất kỳ phương thức nào trả về trình quản lý bối cảnh. Chúng t</a:t>
            </a:r>
            <a:r>
              <a:rPr lang="en-US" sz="3200" dirty="0">
                <a:latin typeface="+mj-lt"/>
              </a:rPr>
              <a:t>a</a:t>
            </a:r>
            <a:r>
              <a:rPr lang="vi-VN" sz="3200" dirty="0">
                <a:latin typeface="+mj-lt"/>
              </a:rPr>
              <a:t> gán trình quản lý bối cảnh được trả về cho bất kỳ biến nào bằng cách sử dụng, dưới dạng </a:t>
            </a:r>
            <a:r>
              <a:rPr lang="en-US" sz="3200" i="1" dirty="0" err="1">
                <a:latin typeface="Times New Roman" panose="02020603050405020304" pitchFamily="18" charset="0"/>
                <a:cs typeface="Times New Roman" panose="02020603050405020304" pitchFamily="18" charset="0"/>
              </a:rPr>
              <a:t>variable_name</a:t>
            </a:r>
            <a:r>
              <a:rPr lang="vi-VN" sz="3200" dirty="0">
                <a:latin typeface="+mj-lt"/>
              </a:rPr>
              <a:t>. </a:t>
            </a:r>
            <a:endParaRPr lang="en-US" sz="3200" dirty="0">
              <a:latin typeface="+mj-lt"/>
              <a:cs typeface="Times New Roman" panose="02020603050405020304" pitchFamily="18" charset="0"/>
            </a:endParaRPr>
          </a:p>
        </p:txBody>
      </p:sp>
    </p:spTree>
    <p:extLst>
      <p:ext uri="{BB962C8B-B14F-4D97-AF65-F5344CB8AC3E}">
        <p14:creationId xmlns:p14="http://schemas.microsoft.com/office/powerpoint/2010/main" val="15676672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0" y="223240"/>
            <a:ext cx="9102490" cy="1314623"/>
          </a:xfrm>
        </p:spPr>
        <p:txBody>
          <a:bodyPr>
            <a:noAutofit/>
          </a:bodyPr>
          <a:lstStyle/>
          <a:p>
            <a:r>
              <a:rPr lang="vi-VN" dirty="0">
                <a:cs typeface="Times New Roman" panose="02020603050405020304" pitchFamily="18" charset="0"/>
              </a:rPr>
              <a:t>Quản Lý Tài Nguyên Bằng Trình Quản Lý Bối Cảnh</a:t>
            </a:r>
          </a:p>
        </p:txBody>
      </p:sp>
      <p:sp>
        <p:nvSpPr>
          <p:cNvPr id="4" name="Content Placeholder 3">
            <a:extLst>
              <a:ext uri="{FF2B5EF4-FFF2-40B4-BE49-F238E27FC236}">
                <a16:creationId xmlns:a16="http://schemas.microsoft.com/office/drawing/2014/main" id="{4E5B4C60-25E3-4A0F-AF04-39A98A20D4D0}"/>
              </a:ext>
            </a:extLst>
          </p:cNvPr>
          <p:cNvSpPr>
            <a:spLocks noGrp="1"/>
          </p:cNvSpPr>
          <p:nvPr>
            <p:ph idx="1"/>
          </p:nvPr>
        </p:nvSpPr>
        <p:spPr>
          <a:xfrm>
            <a:off x="41510" y="1362973"/>
            <a:ext cx="9102490" cy="5069968"/>
          </a:xfrm>
        </p:spPr>
        <p:txBody>
          <a:bodyPr>
            <a:noAutofit/>
          </a:bodyPr>
          <a:lstStyle/>
          <a:p>
            <a:pPr marL="0" indent="0" algn="just">
              <a:buNone/>
            </a:pPr>
            <a:r>
              <a:rPr lang="en-US" sz="3200" i="1" dirty="0" err="1">
                <a:latin typeface="Times New Roman" panose="02020603050405020304" pitchFamily="18" charset="0"/>
                <a:cs typeface="Times New Roman" panose="02020603050405020304" pitchFamily="18" charset="0"/>
              </a:rPr>
              <a:t>variable_name</a:t>
            </a:r>
            <a:r>
              <a:rPr lang="en-US" sz="3200" i="1" dirty="0">
                <a:latin typeface="Times New Roman" panose="02020603050405020304" pitchFamily="18" charset="0"/>
                <a:cs typeface="Times New Roman" panose="02020603050405020304" pitchFamily="18" charset="0"/>
              </a:rPr>
              <a:t> </a:t>
            </a:r>
            <a:r>
              <a:rPr lang="vi-VN" sz="3200" dirty="0">
                <a:latin typeface="Times New Roman" panose="02020603050405020304" pitchFamily="18" charset="0"/>
                <a:cs typeface="Times New Roman" panose="02020603050405020304" pitchFamily="18" charset="0"/>
              </a:rPr>
              <a:t>sẽ chỉ tồn tại trong khối thụt lề của câu lệnh </a:t>
            </a:r>
            <a:r>
              <a:rPr lang="vi-VN" sz="3200" i="1" dirty="0">
                <a:latin typeface="Times New Roman" panose="02020603050405020304" pitchFamily="18" charset="0"/>
                <a:cs typeface="Times New Roman" panose="02020603050405020304" pitchFamily="18" charset="0"/>
              </a:rPr>
              <a:t>with</a:t>
            </a:r>
            <a:r>
              <a:rPr lang="vi-VN" sz="3200" dirty="0">
                <a:latin typeface="Times New Roman" panose="02020603050405020304" pitchFamily="18" charset="0"/>
                <a:cs typeface="Times New Roman" panose="02020603050405020304" pitchFamily="18" charset="0"/>
              </a:rPr>
              <a:t> và sẽ được tự động dọn sạch khi khối kết thúc.</a:t>
            </a:r>
            <a:endParaRPr lang="en-US" sz="3200" dirty="0">
              <a:latin typeface="Times New Roman" panose="02020603050405020304" pitchFamily="18" charset="0"/>
              <a:cs typeface="Times New Roman" panose="02020603050405020304" pitchFamily="18" charset="0"/>
            </a:endParaRPr>
          </a:p>
          <a:p>
            <a:pPr marL="0" indent="0" algn="just">
              <a:buNone/>
            </a:pPr>
            <a:r>
              <a:rPr lang="vi-VN" sz="3200" dirty="0">
                <a:latin typeface="Times New Roman" panose="02020603050405020304" pitchFamily="18" charset="0"/>
                <a:cs typeface="Times New Roman" panose="02020603050405020304" pitchFamily="18" charset="0"/>
              </a:rPr>
              <a:t>Trình quản lý bối cảnh rất hữu ích trong khi sử dụng nhiều luồng. Trong khi sử dụng nhiều luồng, bạn cần có được các khóa khi một luồng truy cập vào một tài nguyên chung. Ngoài ra, khi một tác vụ trên tài nguyên chung được thực hiện, bạn cần giải phóng khóa. Nếu các khóa không được phát hành vì một số ngoại lệ, nó có thể dẫn đến bế tắc. Trình quản lý bối cảnh sẽ tự động giải phóng khóa bằng cách sử dụng khóa với từ khóa</a:t>
            </a:r>
            <a:r>
              <a:rPr lang="en-US" sz="3200" dirty="0">
                <a:latin typeface="Times New Roman" panose="02020603050405020304" pitchFamily="18" charset="0"/>
                <a:cs typeface="Times New Roman" panose="02020603050405020304" pitchFamily="18" charset="0"/>
              </a:rPr>
              <a:t> </a:t>
            </a:r>
            <a:r>
              <a:rPr lang="vi-VN" sz="3200" i="1" dirty="0">
                <a:latin typeface="Times New Roman" panose="02020603050405020304" pitchFamily="18" charset="0"/>
                <a:cs typeface="Times New Roman" panose="02020603050405020304" pitchFamily="18" charset="0"/>
              </a:rPr>
              <a:t>with</a:t>
            </a:r>
            <a:r>
              <a:rPr lang="vi-VN" sz="3200" dirty="0">
                <a:latin typeface="Times New Roman" panose="02020603050405020304" pitchFamily="18" charset="0"/>
                <a:cs typeface="Times New Roman" panose="02020603050405020304" pitchFamily="18" charset="0"/>
              </a:rPr>
              <a:t>. Đây là một ví dụ nhỏ cho thấy việc mua và giải phóng các khóa:</a:t>
            </a: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7640937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0" y="223240"/>
            <a:ext cx="9102490" cy="1314623"/>
          </a:xfrm>
        </p:spPr>
        <p:txBody>
          <a:bodyPr>
            <a:noAutofit/>
          </a:bodyPr>
          <a:lstStyle/>
          <a:p>
            <a:r>
              <a:rPr lang="vi-VN" dirty="0">
                <a:cs typeface="Times New Roman" panose="02020603050405020304" pitchFamily="18" charset="0"/>
              </a:rPr>
              <a:t>Quản Lý Tài Nguyên Bằng Trình Quản Lý Bối Cảnh</a:t>
            </a:r>
          </a:p>
        </p:txBody>
      </p:sp>
      <p:sp>
        <p:nvSpPr>
          <p:cNvPr id="4" name="Content Placeholder 3">
            <a:extLst>
              <a:ext uri="{FF2B5EF4-FFF2-40B4-BE49-F238E27FC236}">
                <a16:creationId xmlns:a16="http://schemas.microsoft.com/office/drawing/2014/main" id="{4E5B4C60-25E3-4A0F-AF04-39A98A20D4D0}"/>
              </a:ext>
            </a:extLst>
          </p:cNvPr>
          <p:cNvSpPr>
            <a:spLocks noGrp="1"/>
          </p:cNvSpPr>
          <p:nvPr>
            <p:ph idx="1"/>
          </p:nvPr>
        </p:nvSpPr>
        <p:spPr>
          <a:xfrm>
            <a:off x="41510" y="1362973"/>
            <a:ext cx="9102490" cy="5069968"/>
          </a:xfrm>
        </p:spPr>
        <p:txBody>
          <a:bodyPr>
            <a:noAutofit/>
          </a:bodyPr>
          <a:lstStyle/>
          <a:p>
            <a:pPr marL="0" indent="0" algn="just">
              <a:buNone/>
            </a:pPr>
            <a:r>
              <a:rPr lang="en-US" sz="3200" i="1" dirty="0" err="1">
                <a:latin typeface="Times New Roman" panose="02020603050405020304" pitchFamily="18" charset="0"/>
                <a:cs typeface="Times New Roman" panose="02020603050405020304" pitchFamily="18" charset="0"/>
              </a:rPr>
              <a:t>threadLock.acquire</a:t>
            </a:r>
            <a:r>
              <a:rPr lang="en-US" sz="3200" i="1" dirty="0">
                <a:latin typeface="Times New Roman" panose="02020603050405020304" pitchFamily="18" charset="0"/>
                <a:cs typeface="Times New Roman" panose="02020603050405020304" pitchFamily="18" charset="0"/>
              </a:rPr>
              <a:t>()</a:t>
            </a:r>
          </a:p>
          <a:p>
            <a:pPr marL="0" indent="0" algn="just">
              <a:buNone/>
            </a:pPr>
            <a:r>
              <a:rPr lang="en-US" sz="3200" i="1" dirty="0">
                <a:latin typeface="Times New Roman" panose="02020603050405020304" pitchFamily="18" charset="0"/>
                <a:cs typeface="Times New Roman" panose="02020603050405020304" pitchFamily="18" charset="0"/>
              </a:rPr>
              <a:t>statements that use resource</a:t>
            </a:r>
          </a:p>
          <a:p>
            <a:pPr marL="0" indent="0" algn="just">
              <a:buNone/>
            </a:pPr>
            <a:r>
              <a:rPr lang="en-US" sz="3200" i="1" dirty="0">
                <a:latin typeface="Times New Roman" panose="02020603050405020304" pitchFamily="18" charset="0"/>
                <a:cs typeface="Times New Roman" panose="02020603050405020304" pitchFamily="18" charset="0"/>
              </a:rPr>
              <a:t>...................</a:t>
            </a:r>
          </a:p>
          <a:p>
            <a:pPr marL="0" indent="0" algn="just">
              <a:buNone/>
            </a:pPr>
            <a:r>
              <a:rPr lang="en-US" sz="3200" i="1" dirty="0">
                <a:latin typeface="Times New Roman" panose="02020603050405020304" pitchFamily="18" charset="0"/>
                <a:cs typeface="Times New Roman" panose="02020603050405020304" pitchFamily="18" charset="0"/>
              </a:rPr>
              <a:t>...................</a:t>
            </a:r>
          </a:p>
          <a:p>
            <a:pPr marL="0" indent="0" algn="just">
              <a:buNone/>
            </a:pPr>
            <a:r>
              <a:rPr lang="en-US" sz="3200" i="1" dirty="0" err="1">
                <a:latin typeface="Times New Roman" panose="02020603050405020304" pitchFamily="18" charset="0"/>
                <a:cs typeface="Times New Roman" panose="02020603050405020304" pitchFamily="18" charset="0"/>
              </a:rPr>
              <a:t>threadLock.release</a:t>
            </a:r>
            <a:r>
              <a:rPr lang="en-US" sz="3200" i="1" dirty="0">
                <a:latin typeface="Times New Roman" panose="02020603050405020304" pitchFamily="18" charset="0"/>
                <a:cs typeface="Times New Roman" panose="02020603050405020304" pitchFamily="18" charset="0"/>
              </a:rPr>
              <a:t>()</a:t>
            </a:r>
          </a:p>
          <a:p>
            <a:pPr marL="0" indent="0" algn="just">
              <a:buNone/>
            </a:pPr>
            <a:r>
              <a:rPr lang="vi-VN" sz="3200" dirty="0">
                <a:latin typeface="+mj-lt"/>
              </a:rPr>
              <a:t>Bạn có thể thấy rằng một khi khóa được lấy, tài nguyên được sử dụng và cuối cùng khóa được giải phóng. </a:t>
            </a:r>
            <a:r>
              <a:rPr lang="vi-VN" sz="3200">
                <a:latin typeface="+mj-lt"/>
              </a:rPr>
              <a:t>Nhưng </a:t>
            </a:r>
            <a:r>
              <a:rPr lang="en-US" sz="3200">
                <a:latin typeface="Times New Roman" panose="02020603050405020304" pitchFamily="18" charset="0"/>
                <a:cs typeface="Times New Roman" panose="02020603050405020304" pitchFamily="18" charset="0"/>
              </a:rPr>
              <a:t>code</a:t>
            </a:r>
            <a:r>
              <a:rPr lang="vi-VN" sz="3200">
                <a:latin typeface="+mj-lt"/>
              </a:rPr>
              <a:t> </a:t>
            </a:r>
            <a:r>
              <a:rPr lang="vi-VN" sz="3200" dirty="0">
                <a:latin typeface="+mj-lt"/>
              </a:rPr>
              <a:t>này có thể gây ra thảm họa nếu lệnh threadLock.release () không thực thi do một số ngoại lệ trong các câu lệnh trước. Trong tình huống như vậy, tốt hơn là sử dụng trình quản lý bối cảnh. Đây là cú</a:t>
            </a:r>
            <a:endParaRPr lang="en-US" sz="3200" b="1" i="1" dirty="0">
              <a:latin typeface="+mj-lt"/>
              <a:cs typeface="Times New Roman" panose="02020603050405020304" pitchFamily="18" charset="0"/>
            </a:endParaRPr>
          </a:p>
          <a:p>
            <a:pPr marL="0" indent="0" algn="just">
              <a:buNone/>
            </a:pPr>
            <a:br>
              <a:rPr lang="en-US" sz="3200" dirty="0"/>
            </a:b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4756199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0" y="223240"/>
            <a:ext cx="9102490" cy="1314623"/>
          </a:xfrm>
        </p:spPr>
        <p:txBody>
          <a:bodyPr>
            <a:noAutofit/>
          </a:bodyPr>
          <a:lstStyle/>
          <a:p>
            <a:r>
              <a:rPr lang="vi-VN" dirty="0">
                <a:cs typeface="Times New Roman" panose="02020603050405020304" pitchFamily="18" charset="0"/>
              </a:rPr>
              <a:t>Quản Lý Tài Nguyên Bằng Trình Quản Lý Bối Cảnh</a:t>
            </a:r>
          </a:p>
        </p:txBody>
      </p:sp>
      <p:sp>
        <p:nvSpPr>
          <p:cNvPr id="4" name="Content Placeholder 3">
            <a:extLst>
              <a:ext uri="{FF2B5EF4-FFF2-40B4-BE49-F238E27FC236}">
                <a16:creationId xmlns:a16="http://schemas.microsoft.com/office/drawing/2014/main" id="{4E5B4C60-25E3-4A0F-AF04-39A98A20D4D0}"/>
              </a:ext>
            </a:extLst>
          </p:cNvPr>
          <p:cNvSpPr>
            <a:spLocks noGrp="1"/>
          </p:cNvSpPr>
          <p:nvPr>
            <p:ph idx="1"/>
          </p:nvPr>
        </p:nvSpPr>
        <p:spPr>
          <a:xfrm>
            <a:off x="41510" y="1362973"/>
            <a:ext cx="9102490" cy="5069968"/>
          </a:xfrm>
        </p:spPr>
        <p:txBody>
          <a:bodyPr>
            <a:noAutofit/>
          </a:bodyPr>
          <a:lstStyle/>
          <a:p>
            <a:pPr marL="0" indent="0" algn="just">
              <a:buNone/>
            </a:pPr>
            <a:r>
              <a:rPr lang="vi-VN" sz="3200" dirty="0">
                <a:latin typeface="+mj-lt"/>
              </a:rPr>
              <a:t>pháp để tự động phát hành khóa bằng trình quản lý bối cảnh:</a:t>
            </a:r>
            <a:endParaRPr lang="en-US" sz="3200" dirty="0">
              <a:latin typeface="+mj-lt"/>
            </a:endParaRPr>
          </a:p>
          <a:p>
            <a:pPr marL="0" indent="0" algn="just">
              <a:buNone/>
            </a:pPr>
            <a:r>
              <a:rPr lang="en-US" sz="3200" i="1" dirty="0">
                <a:latin typeface="Times New Roman" panose="02020603050405020304" pitchFamily="18" charset="0"/>
                <a:cs typeface="Times New Roman" panose="02020603050405020304" pitchFamily="18" charset="0"/>
              </a:rPr>
              <a:t>with </a:t>
            </a:r>
            <a:r>
              <a:rPr lang="en-US" sz="3200" i="1" dirty="0" err="1">
                <a:latin typeface="Times New Roman" panose="02020603050405020304" pitchFamily="18" charset="0"/>
                <a:cs typeface="Times New Roman" panose="02020603050405020304" pitchFamily="18" charset="0"/>
              </a:rPr>
              <a:t>threadLock</a:t>
            </a:r>
            <a:r>
              <a:rPr lang="en-US" sz="3200" i="1" dirty="0">
                <a:latin typeface="Times New Roman" panose="02020603050405020304" pitchFamily="18" charset="0"/>
                <a:cs typeface="Times New Roman" panose="02020603050405020304" pitchFamily="18" charset="0"/>
              </a:rPr>
              <a:t>:</a:t>
            </a:r>
          </a:p>
          <a:p>
            <a:pPr marL="0" indent="0" algn="just">
              <a:buNone/>
            </a:pPr>
            <a:r>
              <a:rPr lang="en-US" sz="3200" i="1" dirty="0">
                <a:latin typeface="Times New Roman" panose="02020603050405020304" pitchFamily="18" charset="0"/>
                <a:cs typeface="Times New Roman" panose="02020603050405020304" pitchFamily="18" charset="0"/>
              </a:rPr>
              <a:t>statements that use resource</a:t>
            </a:r>
          </a:p>
          <a:p>
            <a:pPr marL="0" indent="0" algn="just">
              <a:buNone/>
            </a:pPr>
            <a:r>
              <a:rPr lang="en-US" sz="3200" i="1" dirty="0">
                <a:latin typeface="Times New Roman" panose="02020603050405020304" pitchFamily="18" charset="0"/>
                <a:cs typeface="Times New Roman" panose="02020603050405020304" pitchFamily="18" charset="0"/>
              </a:rPr>
              <a:t>...................</a:t>
            </a:r>
          </a:p>
          <a:p>
            <a:pPr marL="0" indent="0" algn="just">
              <a:buNone/>
            </a:pPr>
            <a:r>
              <a:rPr lang="en-US" sz="3200" i="1" dirty="0">
                <a:latin typeface="Times New Roman" panose="02020603050405020304" pitchFamily="18" charset="0"/>
                <a:cs typeface="Times New Roman" panose="02020603050405020304" pitchFamily="18" charset="0"/>
              </a:rPr>
              <a:t>...................</a:t>
            </a:r>
          </a:p>
          <a:p>
            <a:pPr marL="0" indent="0" algn="just">
              <a:buNone/>
            </a:pPr>
            <a:r>
              <a:rPr lang="en-US" sz="3200" i="1" dirty="0">
                <a:latin typeface="Times New Roman" panose="02020603050405020304" pitchFamily="18" charset="0"/>
                <a:cs typeface="Times New Roman" panose="02020603050405020304" pitchFamily="18" charset="0"/>
              </a:rPr>
              <a:t>lock is released automatically</a:t>
            </a:r>
          </a:p>
          <a:p>
            <a:pPr marL="0" indent="0" algn="just">
              <a:buNone/>
            </a:pPr>
            <a:r>
              <a:rPr lang="vi-VN" sz="3200" dirty="0">
                <a:latin typeface="+mj-lt"/>
              </a:rPr>
              <a:t>Bạn có thể thấy trong cú pháp trước đó rằng thời điểm khối kết thúc, khóa được tự động giải phóng mà không cần thực hiện phương thức release ().</a:t>
            </a:r>
            <a:endParaRPr lang="en-US" sz="3200" b="1" i="1" dirty="0">
              <a:latin typeface="+mj-lt"/>
              <a:cs typeface="Times New Roman" panose="02020603050405020304" pitchFamily="18" charset="0"/>
            </a:endParaRPr>
          </a:p>
          <a:p>
            <a:pPr marL="0" indent="0" algn="just">
              <a:buNone/>
            </a:pPr>
            <a:br>
              <a:rPr lang="en-US" sz="3200" dirty="0"/>
            </a:b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2121308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0" y="223240"/>
            <a:ext cx="9102490" cy="1314623"/>
          </a:xfrm>
        </p:spPr>
        <p:txBody>
          <a:bodyPr>
            <a:noAutofit/>
          </a:bodyPr>
          <a:lstStyle/>
          <a:p>
            <a:r>
              <a:rPr lang="vi-VN" dirty="0">
                <a:cs typeface="Times New Roman" panose="02020603050405020304" pitchFamily="18" charset="0"/>
              </a:rPr>
              <a:t>Quản Lý Tài Nguyên Bằng Trình Quản Lý Bối Cảnh</a:t>
            </a:r>
          </a:p>
        </p:txBody>
      </p:sp>
      <p:sp>
        <p:nvSpPr>
          <p:cNvPr id="4" name="Content Placeholder 3">
            <a:extLst>
              <a:ext uri="{FF2B5EF4-FFF2-40B4-BE49-F238E27FC236}">
                <a16:creationId xmlns:a16="http://schemas.microsoft.com/office/drawing/2014/main" id="{4E5B4C60-25E3-4A0F-AF04-39A98A20D4D0}"/>
              </a:ext>
            </a:extLst>
          </p:cNvPr>
          <p:cNvSpPr>
            <a:spLocks noGrp="1"/>
          </p:cNvSpPr>
          <p:nvPr>
            <p:ph idx="1"/>
          </p:nvPr>
        </p:nvSpPr>
        <p:spPr>
          <a:xfrm>
            <a:off x="41510" y="1436707"/>
            <a:ext cx="9102490" cy="5069968"/>
          </a:xfrm>
        </p:spPr>
        <p:txBody>
          <a:bodyPr>
            <a:noAutofit/>
          </a:bodyPr>
          <a:lstStyle/>
          <a:p>
            <a:pPr marL="0" indent="0" algn="just">
              <a:buNone/>
            </a:pPr>
            <a:r>
              <a:rPr lang="vi-VN" sz="3200" dirty="0">
                <a:latin typeface="+mj-lt"/>
              </a:rPr>
              <a:t>Hãy bắt đầu với việc tạo một ứng dụng trong đó hai thanh tiến trình được cập nhật bằng hai luồng và các khóa trong luồng được xử lý bằng trình quản lý ngữ cảnh.</a:t>
            </a:r>
            <a:endParaRPr lang="en-US" sz="3200" i="1" dirty="0">
              <a:latin typeface="+mj-lt"/>
            </a:endParaRPr>
          </a:p>
          <a:p>
            <a:pPr marL="0" indent="0" algn="just">
              <a:buNone/>
            </a:pPr>
            <a:r>
              <a:rPr lang="vi-VN" sz="3200" dirty="0">
                <a:latin typeface="+mj-lt"/>
              </a:rPr>
              <a:t>Hãy cùng nhau tạo một ứng dụng dựa trên mẫu Dialog without Buttons với các bước sau:</a:t>
            </a:r>
            <a:endParaRPr lang="en-US" sz="3200" dirty="0">
              <a:latin typeface="+mj-lt"/>
            </a:endParaRPr>
          </a:p>
          <a:p>
            <a:pPr marL="514350" indent="-514350" algn="just">
              <a:buAutoNum type="arabicPeriod"/>
            </a:pPr>
            <a:r>
              <a:rPr lang="vi-VN" sz="3200" dirty="0">
                <a:latin typeface="+mj-lt"/>
              </a:rPr>
              <a:t>Chúng tôi cần hai cặp widget QLabel và QProgressBar trong ứng dụng này. Thêm tiện ích QLabel vào form bằng cách kéo và thả tiện ích Label trên form.</a:t>
            </a:r>
            <a:endParaRPr lang="en-US" sz="3200" dirty="0">
              <a:latin typeface="+mj-lt"/>
            </a:endParaRPr>
          </a:p>
          <a:p>
            <a:pPr marL="514350" indent="-514350" algn="just">
              <a:buAutoNum type="arabicPeriod"/>
            </a:pPr>
            <a:r>
              <a:rPr lang="vi-VN" sz="3200" dirty="0">
                <a:latin typeface="+mj-lt"/>
              </a:rPr>
              <a:t>Bên dưới tiện ích Label, kéo và thả tiện ích Thanh tiến trình trên form.</a:t>
            </a:r>
            <a:endParaRPr lang="en-US" sz="3200" dirty="0">
              <a:latin typeface="+mj-lt"/>
              <a:cs typeface="Times New Roman" panose="02020603050405020304" pitchFamily="18" charset="0"/>
            </a:endParaRPr>
          </a:p>
        </p:txBody>
      </p:sp>
    </p:spTree>
    <p:extLst>
      <p:ext uri="{BB962C8B-B14F-4D97-AF65-F5344CB8AC3E}">
        <p14:creationId xmlns:p14="http://schemas.microsoft.com/office/powerpoint/2010/main" val="406422156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0" y="223240"/>
            <a:ext cx="9102490" cy="1314623"/>
          </a:xfrm>
        </p:spPr>
        <p:txBody>
          <a:bodyPr>
            <a:noAutofit/>
          </a:bodyPr>
          <a:lstStyle/>
          <a:p>
            <a:r>
              <a:rPr lang="vi-VN" dirty="0">
                <a:cs typeface="Times New Roman" panose="02020603050405020304" pitchFamily="18" charset="0"/>
              </a:rPr>
              <a:t>Quản Lý Tài Nguyên Bằng Trình Quản Lý Bối Cảnh</a:t>
            </a:r>
          </a:p>
        </p:txBody>
      </p:sp>
      <p:sp>
        <p:nvSpPr>
          <p:cNvPr id="4" name="Content Placeholder 3">
            <a:extLst>
              <a:ext uri="{FF2B5EF4-FFF2-40B4-BE49-F238E27FC236}">
                <a16:creationId xmlns:a16="http://schemas.microsoft.com/office/drawing/2014/main" id="{4E5B4C60-25E3-4A0F-AF04-39A98A20D4D0}"/>
              </a:ext>
            </a:extLst>
          </p:cNvPr>
          <p:cNvSpPr>
            <a:spLocks noGrp="1"/>
          </p:cNvSpPr>
          <p:nvPr>
            <p:ph idx="1"/>
          </p:nvPr>
        </p:nvSpPr>
        <p:spPr>
          <a:xfrm>
            <a:off x="41510" y="1436707"/>
            <a:ext cx="9102490" cy="5069968"/>
          </a:xfrm>
        </p:spPr>
        <p:txBody>
          <a:bodyPr>
            <a:noAutofit/>
          </a:bodyPr>
          <a:lstStyle/>
          <a:p>
            <a:pPr marL="0" indent="0" algn="just">
              <a:buNone/>
            </a:pPr>
            <a:r>
              <a:rPr lang="vi-VN" sz="3200" dirty="0">
                <a:latin typeface="+mj-lt"/>
              </a:rPr>
              <a:t>3. Lặp lại quy trình cho một cặp tiện ích Label và Thanh tiến trình khác.</a:t>
            </a:r>
            <a:endParaRPr lang="en-US" sz="3200" dirty="0">
              <a:latin typeface="+mj-lt"/>
            </a:endParaRPr>
          </a:p>
          <a:p>
            <a:pPr marL="0" indent="0" algn="just">
              <a:buNone/>
            </a:pPr>
            <a:r>
              <a:rPr lang="vi-VN" sz="3200" dirty="0">
                <a:latin typeface="+mj-lt"/>
              </a:rPr>
              <a:t>4. Đặt thuộc tính text của tiện ích Label đầu tiên thành </a:t>
            </a:r>
            <a:r>
              <a:rPr lang="vi-VN" sz="3200" i="1" dirty="0">
                <a:latin typeface="+mj-lt"/>
              </a:rPr>
              <a:t>Downloading the file </a:t>
            </a:r>
            <a:r>
              <a:rPr lang="vi-VN" sz="3200" dirty="0">
                <a:latin typeface="+mj-lt"/>
              </a:rPr>
              <a:t>và tiện ích Label thứ hai thành Scanning for Virus.</a:t>
            </a:r>
            <a:endParaRPr lang="en-US" sz="3200" dirty="0">
              <a:latin typeface="+mj-lt"/>
            </a:endParaRPr>
          </a:p>
          <a:p>
            <a:pPr marL="0" indent="0" algn="just">
              <a:buNone/>
            </a:pPr>
            <a:r>
              <a:rPr lang="vi-VN" sz="3200" dirty="0">
                <a:latin typeface="+mj-lt"/>
              </a:rPr>
              <a:t>5. Đặt thuộc tính objectName của tiện ích Thanh tiến trình đầu tiên thành </a:t>
            </a:r>
            <a:r>
              <a:rPr lang="vi-VN" sz="3200" i="1" dirty="0">
                <a:latin typeface="+mj-lt"/>
              </a:rPr>
              <a:t>progressBarFileDownload</a:t>
            </a:r>
            <a:r>
              <a:rPr lang="vi-VN" sz="3200" dirty="0">
                <a:latin typeface="+mj-lt"/>
              </a:rPr>
              <a:t>.</a:t>
            </a:r>
            <a:endParaRPr lang="en-US" sz="3200" dirty="0">
              <a:latin typeface="+mj-lt"/>
            </a:endParaRPr>
          </a:p>
          <a:p>
            <a:pPr marL="0" indent="0" algn="just">
              <a:buNone/>
            </a:pPr>
            <a:r>
              <a:rPr lang="vi-VN" sz="3200" dirty="0">
                <a:latin typeface="+mj-lt"/>
              </a:rPr>
              <a:t>6. Đặt thuộc tính objectName của tiện ích Thanh tiến trình thứ hai thành </a:t>
            </a:r>
            <a:r>
              <a:rPr lang="vi-VN" sz="3200" i="1" dirty="0">
                <a:latin typeface="+mj-lt"/>
              </a:rPr>
              <a:t>ProgressBarVirusScan</a:t>
            </a:r>
            <a:r>
              <a:rPr lang="vi-VN" sz="3200" dirty="0">
                <a:latin typeface="+mj-lt"/>
              </a:rPr>
              <a:t>.</a:t>
            </a:r>
            <a:endParaRPr lang="en-US" sz="3200" b="1" i="1" dirty="0">
              <a:latin typeface="+mj-lt"/>
              <a:cs typeface="Times New Roman" panose="02020603050405020304" pitchFamily="18" charset="0"/>
            </a:endParaRPr>
          </a:p>
          <a:p>
            <a:pPr marL="0" indent="0" algn="just">
              <a:buNone/>
            </a:pPr>
            <a:br>
              <a:rPr lang="en-US" sz="3200" dirty="0"/>
            </a:b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537919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0" y="223240"/>
            <a:ext cx="9102490" cy="1314623"/>
          </a:xfrm>
        </p:spPr>
        <p:txBody>
          <a:bodyPr>
            <a:noAutofit/>
          </a:bodyPr>
          <a:lstStyle/>
          <a:p>
            <a:r>
              <a:rPr lang="vi-VN" dirty="0">
                <a:cs typeface="Times New Roman" panose="02020603050405020304" pitchFamily="18" charset="0"/>
              </a:rPr>
              <a:t>Quản Lý Tài Nguyên Bằng Trình Quản Lý Bối Cảnh</a:t>
            </a:r>
          </a:p>
        </p:txBody>
      </p:sp>
      <p:sp>
        <p:nvSpPr>
          <p:cNvPr id="4" name="Content Placeholder 3">
            <a:extLst>
              <a:ext uri="{FF2B5EF4-FFF2-40B4-BE49-F238E27FC236}">
                <a16:creationId xmlns:a16="http://schemas.microsoft.com/office/drawing/2014/main" id="{4E5B4C60-25E3-4A0F-AF04-39A98A20D4D0}"/>
              </a:ext>
            </a:extLst>
          </p:cNvPr>
          <p:cNvSpPr>
            <a:spLocks noGrp="1"/>
          </p:cNvSpPr>
          <p:nvPr>
            <p:ph idx="1"/>
          </p:nvPr>
        </p:nvSpPr>
        <p:spPr>
          <a:xfrm>
            <a:off x="41510" y="1436707"/>
            <a:ext cx="9102490" cy="5069968"/>
          </a:xfrm>
        </p:spPr>
        <p:txBody>
          <a:bodyPr>
            <a:noAutofit/>
          </a:bodyPr>
          <a:lstStyle/>
          <a:p>
            <a:pPr marL="0" indent="0" algn="just">
              <a:buNone/>
            </a:pPr>
            <a:r>
              <a:rPr lang="vi-VN" sz="3200" dirty="0">
                <a:latin typeface="+mj-lt"/>
              </a:rPr>
              <a:t>7. Lưu ứng dụng dưới dạng demoTwoProTHERBarsContextManager.ui. Form sẽ xuất hiện như sau:</a:t>
            </a:r>
            <a:endParaRPr lang="en-US" sz="3200" dirty="0">
              <a:latin typeface="+mj-lt"/>
            </a:endParaRPr>
          </a:p>
          <a:p>
            <a:pPr marL="0" indent="0" algn="just">
              <a:buNone/>
            </a:pPr>
            <a:endParaRPr lang="en-US" sz="3200" dirty="0">
              <a:latin typeface="+mj-lt"/>
              <a:cs typeface="Times New Roman" panose="02020603050405020304" pitchFamily="18" charset="0"/>
            </a:endParaRPr>
          </a:p>
          <a:p>
            <a:pPr marL="0" indent="0" algn="just">
              <a:buNone/>
            </a:pPr>
            <a:endParaRPr lang="en-US" sz="3200" dirty="0">
              <a:latin typeface="+mj-lt"/>
              <a:cs typeface="Times New Roman" panose="02020603050405020304" pitchFamily="18" charset="0"/>
            </a:endParaRPr>
          </a:p>
          <a:p>
            <a:pPr marL="0" indent="0" algn="just">
              <a:buNone/>
            </a:pPr>
            <a:endParaRPr lang="en-US" sz="3200" dirty="0">
              <a:latin typeface="+mj-lt"/>
              <a:cs typeface="Times New Roman" panose="02020603050405020304" pitchFamily="18" charset="0"/>
            </a:endParaRPr>
          </a:p>
          <a:p>
            <a:pPr marL="0" indent="0" algn="just">
              <a:buNone/>
            </a:pPr>
            <a:endParaRPr lang="en-US" sz="3200" dirty="0">
              <a:latin typeface="+mj-lt"/>
              <a:cs typeface="Times New Roman" panose="02020603050405020304" pitchFamily="18" charset="0"/>
            </a:endParaRPr>
          </a:p>
          <a:p>
            <a:pPr marL="0" indent="0" algn="just">
              <a:buNone/>
            </a:pPr>
            <a:r>
              <a:rPr lang="vi-VN" sz="3200" dirty="0">
                <a:latin typeface="+mj-lt"/>
              </a:rPr>
              <a:t>Giao diện người dùng được tạo bằng Qt Designer được lưu trữ trong file .ui, đây là file XML và cần chuyển đổi thành code Python. Tiện ích pyuic5 được sử dụng để chuyển đổi file XML thành code Python</a:t>
            </a:r>
            <a:endParaRPr lang="en-US" sz="3200" dirty="0">
              <a:latin typeface="+mj-lt"/>
              <a:cs typeface="Times New Roman" panose="02020603050405020304" pitchFamily="18" charset="0"/>
            </a:endParaRPr>
          </a:p>
        </p:txBody>
      </p:sp>
      <p:pic>
        <p:nvPicPr>
          <p:cNvPr id="5" name="Picture 4" descr="sách Qt5-Python-GUI-Programming-Cookbook.pdf - Foxit Reader">
            <a:extLst>
              <a:ext uri="{FF2B5EF4-FFF2-40B4-BE49-F238E27FC236}">
                <a16:creationId xmlns:a16="http://schemas.microsoft.com/office/drawing/2014/main" id="{2E473213-06B4-44F2-8923-D11872D58A36}"/>
              </a:ext>
            </a:extLst>
          </p:cNvPr>
          <p:cNvPicPr>
            <a:picLocks noChangeAspect="1"/>
          </p:cNvPicPr>
          <p:nvPr/>
        </p:nvPicPr>
        <p:blipFill rotWithShape="1">
          <a:blip r:embed="rId2">
            <a:extLst>
              <a:ext uri="{28A0092B-C50C-407E-A947-70E740481C1C}">
                <a14:useLocalDpi xmlns:a14="http://schemas.microsoft.com/office/drawing/2010/main" val="0"/>
              </a:ext>
            </a:extLst>
          </a:blip>
          <a:srcRect l="36415" t="32213" r="33962" b="23977"/>
          <a:stretch/>
        </p:blipFill>
        <p:spPr>
          <a:xfrm>
            <a:off x="1863307" y="2751330"/>
            <a:ext cx="5779698" cy="2156604"/>
          </a:xfrm>
          <a:prstGeom prst="rect">
            <a:avLst/>
          </a:prstGeom>
        </p:spPr>
      </p:pic>
    </p:spTree>
    <p:extLst>
      <p:ext uri="{BB962C8B-B14F-4D97-AF65-F5344CB8AC3E}">
        <p14:creationId xmlns:p14="http://schemas.microsoft.com/office/powerpoint/2010/main" val="386218325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0" y="223240"/>
            <a:ext cx="9102490" cy="1314623"/>
          </a:xfrm>
        </p:spPr>
        <p:txBody>
          <a:bodyPr>
            <a:noAutofit/>
          </a:bodyPr>
          <a:lstStyle/>
          <a:p>
            <a:r>
              <a:rPr lang="vi-VN" dirty="0">
                <a:cs typeface="Times New Roman" panose="02020603050405020304" pitchFamily="18" charset="0"/>
              </a:rPr>
              <a:t>Quản Lý Tài Nguyên Bằng Trình Quản Lý Bối Cảnh</a:t>
            </a:r>
          </a:p>
        </p:txBody>
      </p:sp>
      <p:sp>
        <p:nvSpPr>
          <p:cNvPr id="4" name="Content Placeholder 3">
            <a:extLst>
              <a:ext uri="{FF2B5EF4-FFF2-40B4-BE49-F238E27FC236}">
                <a16:creationId xmlns:a16="http://schemas.microsoft.com/office/drawing/2014/main" id="{4E5B4C60-25E3-4A0F-AF04-39A98A20D4D0}"/>
              </a:ext>
            </a:extLst>
          </p:cNvPr>
          <p:cNvSpPr>
            <a:spLocks noGrp="1"/>
          </p:cNvSpPr>
          <p:nvPr>
            <p:ph idx="1"/>
          </p:nvPr>
        </p:nvSpPr>
        <p:spPr>
          <a:xfrm>
            <a:off x="41510" y="1436707"/>
            <a:ext cx="9102490" cy="5069968"/>
          </a:xfrm>
        </p:spPr>
        <p:txBody>
          <a:bodyPr>
            <a:noAutofit/>
          </a:bodyPr>
          <a:lstStyle/>
          <a:p>
            <a:pPr marL="0" indent="0" algn="just">
              <a:buNone/>
            </a:pPr>
            <a:r>
              <a:rPr lang="vi-VN" sz="3200" dirty="0">
                <a:latin typeface="+mj-lt"/>
              </a:rPr>
              <a:t>8. Hãy coi </a:t>
            </a:r>
            <a:r>
              <a:rPr lang="en-US" sz="3200" dirty="0">
                <a:latin typeface="Times New Roman" panose="02020603050405020304" pitchFamily="18" charset="0"/>
                <a:cs typeface="Times New Roman" panose="02020603050405020304" pitchFamily="18" charset="0"/>
              </a:rPr>
              <a:t>file</a:t>
            </a:r>
            <a:r>
              <a:rPr lang="en-US" sz="3200" dirty="0">
                <a:latin typeface="+mj-lt"/>
              </a:rPr>
              <a:t> </a:t>
            </a:r>
            <a:r>
              <a:rPr lang="vi-VN" sz="3200" dirty="0">
                <a:latin typeface="+mj-lt"/>
              </a:rPr>
              <a:t>demoTwoProTHERBarsContextManager.py làm </a:t>
            </a:r>
            <a:r>
              <a:rPr lang="en-US" sz="3200" dirty="0">
                <a:latin typeface="Times New Roman" panose="02020603050405020304" pitchFamily="18" charset="0"/>
                <a:cs typeface="Times New Roman" panose="02020603050405020304" pitchFamily="18" charset="0"/>
              </a:rPr>
              <a:t>file</a:t>
            </a:r>
            <a:r>
              <a:rPr lang="vi-VN" sz="3200" dirty="0">
                <a:latin typeface="+mj-lt"/>
              </a:rPr>
              <a:t> tiêu đề và nhập nó vào </a:t>
            </a:r>
            <a:r>
              <a:rPr lang="en-US" sz="3200" dirty="0">
                <a:latin typeface="+mj-lt"/>
              </a:rPr>
              <a:t>file</a:t>
            </a:r>
            <a:r>
              <a:rPr lang="vi-VN" sz="3200" dirty="0">
                <a:latin typeface="+mj-lt"/>
              </a:rPr>
              <a:t> mà bạn sẽ gọi thiết kế giao diện người dùng của nó.</a:t>
            </a:r>
            <a:r>
              <a:rPr lang="en-US" sz="3200" dirty="0">
                <a:latin typeface="+mj-lt"/>
              </a:rPr>
              <a:t> </a:t>
            </a:r>
          </a:p>
          <a:p>
            <a:pPr marL="0" indent="0" algn="just">
              <a:buNone/>
            </a:pPr>
            <a:r>
              <a:rPr lang="vi-VN" sz="3200" dirty="0">
                <a:latin typeface="+mj-lt"/>
              </a:rPr>
              <a:t>9. Tạo một </a:t>
            </a:r>
            <a:r>
              <a:rPr lang="en-US" sz="3200" dirty="0">
                <a:latin typeface="Times New Roman" panose="02020603050405020304" pitchFamily="18" charset="0"/>
                <a:cs typeface="Times New Roman" panose="02020603050405020304" pitchFamily="18" charset="0"/>
              </a:rPr>
              <a:t>file</a:t>
            </a:r>
            <a:r>
              <a:rPr lang="vi-VN" sz="3200" dirty="0">
                <a:latin typeface="+mj-lt"/>
              </a:rPr>
              <a:t> Python khác có tên</a:t>
            </a:r>
            <a:r>
              <a:rPr lang="en-US" sz="3200" dirty="0">
                <a:latin typeface="+mj-lt"/>
              </a:rPr>
              <a:t> </a:t>
            </a:r>
            <a:r>
              <a:rPr lang="en-US" sz="3200" dirty="0" err="1">
                <a:latin typeface="Times New Roman" panose="02020603050405020304" pitchFamily="18" charset="0"/>
                <a:cs typeface="Times New Roman" panose="02020603050405020304" pitchFamily="18" charset="0"/>
              </a:rPr>
              <a:t>callProTHERBarContextManager.pyw</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và</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nhập</a:t>
            </a:r>
            <a:br>
              <a:rPr lang="en-US" sz="3200" dirty="0">
                <a:latin typeface="Times New Roman" panose="02020603050405020304" pitchFamily="18" charset="0"/>
                <a:cs typeface="Times New Roman" panose="02020603050405020304" pitchFamily="18" charset="0"/>
              </a:rPr>
            </a:br>
            <a:r>
              <a:rPr lang="en-US" sz="3200" dirty="0" err="1">
                <a:latin typeface="Times New Roman" panose="02020603050405020304" pitchFamily="18" charset="0"/>
                <a:cs typeface="Times New Roman" panose="02020603050405020304" pitchFamily="18" charset="0"/>
              </a:rPr>
              <a:t>mã</a:t>
            </a:r>
            <a:r>
              <a:rPr lang="en-US" sz="3200" dirty="0">
                <a:latin typeface="Times New Roman" panose="02020603050405020304" pitchFamily="18" charset="0"/>
                <a:cs typeface="Times New Roman" panose="02020603050405020304" pitchFamily="18" charset="0"/>
              </a:rPr>
              <a:t> demoTwoProTHERBarsContextManager.py </a:t>
            </a:r>
            <a:r>
              <a:rPr lang="en-US" sz="3200" dirty="0" err="1">
                <a:latin typeface="Times New Roman" panose="02020603050405020304" pitchFamily="18" charset="0"/>
                <a:cs typeface="Times New Roman" panose="02020603050405020304" pitchFamily="18" charset="0"/>
              </a:rPr>
              <a:t>vào</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nó</a:t>
            </a:r>
            <a:r>
              <a:rPr lang="en-US" sz="32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88887889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0" y="223240"/>
            <a:ext cx="9102490" cy="1314623"/>
          </a:xfrm>
        </p:spPr>
        <p:txBody>
          <a:bodyPr>
            <a:noAutofit/>
          </a:bodyPr>
          <a:lstStyle/>
          <a:p>
            <a:r>
              <a:rPr lang="vi-VN" dirty="0">
                <a:cs typeface="Times New Roman" panose="02020603050405020304" pitchFamily="18" charset="0"/>
              </a:rPr>
              <a:t>Quản Lý Tài Nguyên Bằng Trình Quản Lý Bối Cảnh</a:t>
            </a:r>
          </a:p>
        </p:txBody>
      </p:sp>
      <p:pic>
        <p:nvPicPr>
          <p:cNvPr id="5" name="Content Placeholder 4" descr="sách Qt5-Python-GUI-Programming-Cookbook.pdf - Foxit Reader">
            <a:extLst>
              <a:ext uri="{FF2B5EF4-FFF2-40B4-BE49-F238E27FC236}">
                <a16:creationId xmlns:a16="http://schemas.microsoft.com/office/drawing/2014/main" id="{0176524B-8F4E-4ED7-B1D7-878182141E3A}"/>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31957" t="29855" r="31842" b="40219"/>
          <a:stretch/>
        </p:blipFill>
        <p:spPr>
          <a:xfrm>
            <a:off x="310551" y="1537862"/>
            <a:ext cx="7504981" cy="4034801"/>
          </a:xfrm>
        </p:spPr>
      </p:pic>
    </p:spTree>
    <p:extLst>
      <p:ext uri="{BB962C8B-B14F-4D97-AF65-F5344CB8AC3E}">
        <p14:creationId xmlns:p14="http://schemas.microsoft.com/office/powerpoint/2010/main" val="52596675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0" y="223240"/>
            <a:ext cx="9102490" cy="1314623"/>
          </a:xfrm>
        </p:spPr>
        <p:txBody>
          <a:bodyPr>
            <a:noAutofit/>
          </a:bodyPr>
          <a:lstStyle/>
          <a:p>
            <a:r>
              <a:rPr lang="vi-VN" dirty="0">
                <a:cs typeface="Times New Roman" panose="02020603050405020304" pitchFamily="18" charset="0"/>
              </a:rPr>
              <a:t>Quản Lý Tài Nguyên Bằng Trình Quản Lý Bối Cảnh</a:t>
            </a:r>
          </a:p>
        </p:txBody>
      </p:sp>
      <p:pic>
        <p:nvPicPr>
          <p:cNvPr id="7" name="Content Placeholder 6" descr="sách Qt5-Python-GUI-Programming-Cookbook.pdf - Foxit Reader">
            <a:extLst>
              <a:ext uri="{FF2B5EF4-FFF2-40B4-BE49-F238E27FC236}">
                <a16:creationId xmlns:a16="http://schemas.microsoft.com/office/drawing/2014/main" id="{1941D2F4-06C9-4348-A27C-B33EF2058ED2}"/>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30840" t="11799" r="24809" b="10042"/>
          <a:stretch/>
        </p:blipFill>
        <p:spPr>
          <a:xfrm>
            <a:off x="534837" y="1513935"/>
            <a:ext cx="8177841" cy="4990381"/>
          </a:xfrm>
        </p:spPr>
      </p:pic>
    </p:spTree>
    <p:extLst>
      <p:ext uri="{BB962C8B-B14F-4D97-AF65-F5344CB8AC3E}">
        <p14:creationId xmlns:p14="http://schemas.microsoft.com/office/powerpoint/2010/main" val="855183146"/>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3671</TotalTime>
  <Words>4439</Words>
  <Application>Microsoft Office PowerPoint</Application>
  <PresentationFormat>On-screen Show (4:3)</PresentationFormat>
  <Paragraphs>199</Paragraphs>
  <Slides>50</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50</vt:i4>
      </vt:variant>
    </vt:vector>
  </HeadingPairs>
  <TitlesOfParts>
    <vt:vector size="56" baseType="lpstr">
      <vt:lpstr>Arial</vt:lpstr>
      <vt:lpstr>Calibri</vt:lpstr>
      <vt:lpstr>Calibri Light</vt:lpstr>
      <vt:lpstr>Times New Roman</vt:lpstr>
      <vt:lpstr>Wingdings</vt:lpstr>
      <vt:lpstr>Office Theme</vt:lpstr>
      <vt:lpstr>LẬP TRÌNH KHÔNG ĐỒNG BỘ TRONG PYTHON</vt:lpstr>
      <vt:lpstr>Nội dung</vt:lpstr>
      <vt:lpstr>Giới Thiệu</vt:lpstr>
      <vt:lpstr>Giới Thiệu</vt:lpstr>
      <vt:lpstr>Giới Thiệu</vt:lpstr>
      <vt:lpstr>Giới Thiệu</vt:lpstr>
      <vt:lpstr>Giới Thiệu</vt:lpstr>
      <vt:lpstr>Giới Thiệu</vt:lpstr>
      <vt:lpstr>Giới Thiệu</vt:lpstr>
      <vt:lpstr>Giới Thiệu</vt:lpstr>
      <vt:lpstr>Cập Nhật Thanh Tiến Trình Bằng Cách Sử Dụng Luồng</vt:lpstr>
      <vt:lpstr>Cập Nhật Thanh Tiến Trình Bằng Cách Sử Dụng Luồng</vt:lpstr>
      <vt:lpstr>Cập Nhật Thanh Tiến Trình Bằng Cách Sử Dụng Luồng</vt:lpstr>
      <vt:lpstr>Cập Nhật Thanh Tiến Trình Bằng Cách Sử Dụng Luồng</vt:lpstr>
      <vt:lpstr>Cập Nhật Thanh Tiến Trình Bằng Cách Sử Dụng Luồng</vt:lpstr>
      <vt:lpstr>Cập Nhật Thanh Tiến Trình Bằng Cách Sử Dụng Luồng</vt:lpstr>
      <vt:lpstr>Cập Nhật Hai Thanh Tiến Trình Bằng Hai Luồng</vt:lpstr>
      <vt:lpstr>Cập Nhật Hai Thanh Tiến Trình Bằng Hai Luồng</vt:lpstr>
      <vt:lpstr>Cập Nhật Hai Thanh Tiến Trình Bằng Hai Luồng</vt:lpstr>
      <vt:lpstr>Cập Nhật Hai Thanh Tiến Trình Bằng Hai Luồng</vt:lpstr>
      <vt:lpstr>Cập Nhật Hai Thanh Tiến Trình Bằng Hai Luồng</vt:lpstr>
      <vt:lpstr>Cập Nhật Hai Thanh Tiến Trình Bằng Hai Luồng</vt:lpstr>
      <vt:lpstr>Cập Nhật Hai Thanh Tiến Trình Bằng Hai Luồng</vt:lpstr>
      <vt:lpstr>Cập Nhật Các Thanh Tiến Trình Bằng Cách Sử Dụng Các Luồng Bị Ràng Buộc Với Một Cơ Chế Khóa</vt:lpstr>
      <vt:lpstr>Cập Nhật Các Thanh Tiến Trình Bằng Cách Sử Dụng Các Luồng Bị Ràng Buộc Với Một Cơ Chế Khóa</vt:lpstr>
      <vt:lpstr>Cập Nhật Các Thanh Tiến Trình Bằng Cách Sử Dụng Các Luồng Bị Ràng Buộc Với Một Cơ Chế Khóa</vt:lpstr>
      <vt:lpstr>Cập Nhật Các Thanh Tiến Trình Bằng Cách Sử Dụng Các Luồng Bị Ràng Buộc Với Một Cơ Chế Khóa</vt:lpstr>
      <vt:lpstr>Cập Nhật Các Thanh Tiến Trình Bằng Cách Sử Dụng Các Luồng Bị Ràng Buộc Với Một Cơ Chế Khóa</vt:lpstr>
      <vt:lpstr>Cập Nhật Các Thanh Tiến Trình Bằng Cách Sử Dụng Các Luồng Bị Ràng Buộc Với Một Cơ Chế Khóa</vt:lpstr>
      <vt:lpstr>Cập Nhật Các Thanh Tiến Trình Bằng Cách Sử Dụng Các Luồng Bị Ràng Buộc Với Một Cơ Chế Khóa</vt:lpstr>
      <vt:lpstr>Cập Nhật Các Thanh Tiến Trình Đồng Thời Bằng Các Hoạt Động Không Đồng Bộ</vt:lpstr>
      <vt:lpstr>Cập Nhật Các Thanh Tiến Trình Đồng Thời Bằng Các Hoạt Động Không Đồng Bộ</vt:lpstr>
      <vt:lpstr>Cập Nhật Các Thanh Tiến Trình Đồng Thời Bằng Các Hoạt Động Không Đồng Bộ</vt:lpstr>
      <vt:lpstr>Cập Nhật Các Thanh Tiến Trình Đồng Thời Bằng Các Hoạt Động Không Đồng Bộ</vt:lpstr>
      <vt:lpstr>Cập Nhật Các Thanh Tiến Trình Đồng Thời Bằng Các Hoạt Động Không Đồng Bộ</vt:lpstr>
      <vt:lpstr>Cập Nhật Các Thanh Tiến Trình Đồng Thời Bằng Các Hoạt Động Không Đồng Bộ</vt:lpstr>
      <vt:lpstr>Cập Nhật Các Thanh Tiến Trình Đồng Thời Bằng Các Hoạt Động Không Đồng Bộ</vt:lpstr>
      <vt:lpstr>Cập Nhật Các Thanh Tiến Trình Đồng Thời Bằng Các Hoạt Động Không Đồng Bộ</vt:lpstr>
      <vt:lpstr>Quản Lý Tài Nguyên Bằng Trình Quản Lý Bối Cảnh</vt:lpstr>
      <vt:lpstr>Quản Lý Tài Nguyên Bằng Trình Quản Lý Bối Cảnh</vt:lpstr>
      <vt:lpstr>Quản Lý Tài Nguyên Bằng Trình Quản Lý Bối Cảnh</vt:lpstr>
      <vt:lpstr>Quản Lý Tài Nguyên Bằng Trình Quản Lý Bối Cảnh</vt:lpstr>
      <vt:lpstr>Quản Lý Tài Nguyên Bằng Trình Quản Lý Bối Cảnh</vt:lpstr>
      <vt:lpstr>Quản Lý Tài Nguyên Bằng Trình Quản Lý Bối Cảnh</vt:lpstr>
      <vt:lpstr>Quản Lý Tài Nguyên Bằng Trình Quản Lý Bối Cảnh</vt:lpstr>
      <vt:lpstr>Quản Lý Tài Nguyên Bằng Trình Quản Lý Bối Cảnh</vt:lpstr>
      <vt:lpstr>Quản Lý Tài Nguyên Bằng Trình Quản Lý Bối Cảnh</vt:lpstr>
      <vt:lpstr>Quản Lý Tài Nguyên Bằng Trình Quản Lý Bối Cảnh</vt:lpstr>
      <vt:lpstr>Quản Lý Tài Nguyên Bằng Trình Quản Lý Bối Cảnh</vt:lpstr>
      <vt:lpstr>Quản Lý Tài Nguyên Bằng Trình Quản Lý Bối Cảnh</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Tạo giao diện người dùng với các thành phần Qt</dc:title>
  <dc:creator>bruce shelby</dc:creator>
  <cp:lastModifiedBy>ly</cp:lastModifiedBy>
  <cp:revision>585</cp:revision>
  <dcterms:created xsi:type="dcterms:W3CDTF">2019-07-31T07:44:13Z</dcterms:created>
  <dcterms:modified xsi:type="dcterms:W3CDTF">2019-11-15T17:23:00Z</dcterms:modified>
</cp:coreProperties>
</file>