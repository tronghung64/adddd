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7"/>
  </p:notesMasterIdLst>
  <p:sldIdLst>
    <p:sldId id="256" r:id="rId2"/>
    <p:sldId id="257" r:id="rId3"/>
    <p:sldId id="258" r:id="rId4"/>
    <p:sldId id="259" r:id="rId5"/>
    <p:sldId id="261" r:id="rId6"/>
    <p:sldId id="260" r:id="rId7"/>
    <p:sldId id="262" r:id="rId8"/>
    <p:sldId id="263" r:id="rId9"/>
    <p:sldId id="264" r:id="rId10"/>
    <p:sldId id="265" r:id="rId11"/>
    <p:sldId id="267" r:id="rId12"/>
    <p:sldId id="268" r:id="rId13"/>
    <p:sldId id="269" r:id="rId14"/>
    <p:sldId id="266"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3" r:id="rId118"/>
    <p:sldId id="372" r:id="rId119"/>
    <p:sldId id="374" r:id="rId120"/>
    <p:sldId id="375" r:id="rId121"/>
    <p:sldId id="376" r:id="rId122"/>
    <p:sldId id="377" r:id="rId123"/>
    <p:sldId id="378" r:id="rId124"/>
    <p:sldId id="380" r:id="rId125"/>
    <p:sldId id="379" r:id="rId126"/>
    <p:sldId id="381" r:id="rId127"/>
    <p:sldId id="382" r:id="rId128"/>
    <p:sldId id="383" r:id="rId129"/>
    <p:sldId id="384" r:id="rId130"/>
    <p:sldId id="385" r:id="rId131"/>
    <p:sldId id="386" r:id="rId132"/>
    <p:sldId id="387" r:id="rId133"/>
    <p:sldId id="389" r:id="rId134"/>
    <p:sldId id="388" r:id="rId135"/>
    <p:sldId id="390" r:id="rId136"/>
    <p:sldId id="391" r:id="rId137"/>
    <p:sldId id="392" r:id="rId138"/>
    <p:sldId id="393" r:id="rId139"/>
    <p:sldId id="394" r:id="rId140"/>
    <p:sldId id="395" r:id="rId141"/>
    <p:sldId id="396" r:id="rId142"/>
    <p:sldId id="397" r:id="rId143"/>
    <p:sldId id="398" r:id="rId144"/>
    <p:sldId id="399" r:id="rId145"/>
    <p:sldId id="400" r:id="rId1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B80232-FDA7-49B3-B124-79AE2219974E}">
          <p14:sldIdLst>
            <p14:sldId id="256"/>
            <p14:sldId id="257"/>
            <p14:sldId id="258"/>
            <p14:sldId id="259"/>
            <p14:sldId id="261"/>
          </p14:sldIdLst>
        </p14:section>
        <p14:section name="Cách tạo QPushButton trong PyQt5" id="{878D1FB7-8CAC-4A36-B92F-0CDF6C3B9DC3}">
          <p14:sldIdLst>
            <p14:sldId id="260"/>
            <p14:sldId id="262"/>
            <p14:sldId id="263"/>
            <p14:sldId id="264"/>
            <p14:sldId id="265"/>
          </p14:sldIdLst>
        </p14:section>
        <p14:section name="Bố cục PyQt5 QHBox và Bố cục QVBox" id="{95489758-9691-4A43-A9F5-07A7944192CA}">
          <p14:sldIdLst>
            <p14:sldId id="267"/>
            <p14:sldId id="268"/>
            <p14:sldId id="269"/>
            <p14:sldId id="266"/>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3"/>
            <p14:sldId id="372"/>
            <p14:sldId id="374"/>
            <p14:sldId id="375"/>
            <p14:sldId id="376"/>
            <p14:sldId id="377"/>
            <p14:sldId id="378"/>
            <p14:sldId id="380"/>
            <p14:sldId id="379"/>
            <p14:sldId id="381"/>
            <p14:sldId id="382"/>
            <p14:sldId id="383"/>
            <p14:sldId id="384"/>
            <p14:sldId id="385"/>
            <p14:sldId id="386"/>
            <p14:sldId id="387"/>
            <p14:sldId id="389"/>
            <p14:sldId id="388"/>
            <p14:sldId id="390"/>
            <p14:sldId id="391"/>
            <p14:sldId id="392"/>
            <p14:sldId id="393"/>
            <p14:sldId id="394"/>
            <p14:sldId id="395"/>
            <p14:sldId id="396"/>
            <p14:sldId id="397"/>
            <p14:sldId id="398"/>
            <p14:sldId id="399"/>
            <p14:sldId id="4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878" autoAdjust="0"/>
  </p:normalViewPr>
  <p:slideViewPr>
    <p:cSldViewPr snapToGrid="0">
      <p:cViewPr>
        <p:scale>
          <a:sx n="75" d="100"/>
          <a:sy n="75" d="100"/>
        </p:scale>
        <p:origin x="1084" y="36"/>
      </p:cViewPr>
      <p:guideLst/>
    </p:cSldViewPr>
  </p:slideViewPr>
  <p:notesTextViewPr>
    <p:cViewPr>
      <p:scale>
        <a:sx n="1" d="1"/>
        <a:sy n="1" d="1"/>
      </p:scale>
      <p:origin x="0" y="-6284"/>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2FD73-9DD8-4A7D-8964-7B891EA72030}" type="datetimeFigureOut">
              <a:rPr lang="en-US" smtClean="0"/>
              <a:t>08/08/2019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32BE71-59B5-4A99-9468-026A94D25631}" type="slidenum">
              <a:rPr lang="en-US" smtClean="0"/>
              <a:t>‹#›</a:t>
            </a:fld>
            <a:endParaRPr lang="en-US"/>
          </a:p>
        </p:txBody>
      </p:sp>
    </p:spTree>
    <p:extLst>
      <p:ext uri="{BB962C8B-B14F-4D97-AF65-F5344CB8AC3E}">
        <p14:creationId xmlns:p14="http://schemas.microsoft.com/office/powerpoint/2010/main" val="3097908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odeloop.org/pyqt5-creating-first-window/"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codeloop.org/pyqt5-grid-layout-python-gui-development/"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codeloop.org/pyqt5-how-to-add-image-in-pyqt-window/"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codeloop.org/pyqt5-creating-qradiobutton-with-toggled-signa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codeloop.org/pyqt5-creating-qcheckbox-with-signal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codeloop.org/pyqt5-creating-whatisthis-class-widget/"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codeloop.org/pyqt5-creating-qlineedit-with-returnpressed-signa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codeloop.org/pyqt5-gui-how-to-create-qbuttongroup/"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codeloop.org/pyqt5-gui-creating-qgroupbox-in-pyqt/"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codeloop.org/how-to-create-frameless-window-in-pyqt5/"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codeloop.org/how-to-create-frame-in-pyqt5-qframe/"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codeloop.org/what-is-pyqt5-qsplitter-with-practical-example-python-gui-development/"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codeloop.org/how-to-create-qslider-in-pyqt5/"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codeloop.org/pyqt5-gui-creating-qscrollarea/"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codeloop.org/pyqt5-qdial-example-with-valuechanged-signal/"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codeloop.org/how-to-create-qspinbox-in-pyqt5/"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codeloop.org/pyqt5-random-generator-application-with-qlcdnumber/"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codeloop.org/pyqt5-qprogressbar-with-qthread-practical-example/"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codeloop.org/pyqt5-desktop-applications-creating-qtoolbox/"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codeloop.org/pyqt5-desktop-application-development-qmenubar/"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codeloop.org/pyqt5-desktop-application-development-creating-qtoolbar/"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codeloop.org/how-to-create-qcolordialog-in-pyqt5/" TargetMode="External"/><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codeloop.org/creating-qprintdialog-in-pyqt5/"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codeloop.org/pyqt5-creating-print-preview-dialog-qprintpreviewdialog/"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codeloop.org/how-to-export-file-as-pdf-in-pyqt5/"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codeloop.org/pyqt5-qmessagebox-practical-example/" TargetMode="External"/><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codeloop.org/how-to-create-context-menu-in-pyqt5/" TargetMode="External"/><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codeloop.org/how-to-create-qtabwidget-in-pyqt5/" TargetMode="External"/><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s://codeloop.org/pyqt5-how-to-create-qstackdwidget/"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codeloop.org/pyqt5-how-to-create-dockable-widget/" TargetMode="External"/><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s://codeloop.org/how-to-create-qcombobox-in-pyqt5/" TargetMode="External"/><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s://codeloop.org/pyqt5-creating-qcompleter-practical-example/" TargetMode="External"/><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s://codeloop.org/pyqt5-open-second-dialog-by-clicking-button/" TargetMode="External"/><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codeloop.org/pyqt5-creating-qtimeedit/" TargetMode="External"/><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codeloop.org/pyqt5-qlistwidget-practical-example/" TargetMode="External"/><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codeloop.org/pyqt5-simple-project-with-qlistwidget/" TargetMode="External"/><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hyperlink" Target="https://codeloop.org/pyqt5-creating-tables-with-qtablewidget/" TargetMode="External"/><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3" Type="http://schemas.openxmlformats.org/officeDocument/2006/relationships/hyperlink" Target="https://codeloop.org/qplaintextedit-example-in-pyqt5/" TargetMode="External"/><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codeloop.org/pyqt5-gui-creating-wizard-page-with-qwizard/" TargetMode="External"/><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hyperlink" Target="https://codeloop.org/pyqt5-qfiledialog-browsing-an-image/" TargetMode="External"/><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https://codeloop.org/pyqt5-creating-first-window/</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a:t>
            </a:fld>
            <a:endParaRPr lang="en-US"/>
          </a:p>
        </p:txBody>
      </p:sp>
    </p:spTree>
    <p:extLst>
      <p:ext uri="{BB962C8B-B14F-4D97-AF65-F5344CB8AC3E}">
        <p14:creationId xmlns:p14="http://schemas.microsoft.com/office/powerpoint/2010/main" val="120260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a:t>
            </a:fld>
            <a:endParaRPr lang="en-US"/>
          </a:p>
        </p:txBody>
      </p:sp>
    </p:spTree>
    <p:extLst>
      <p:ext uri="{BB962C8B-B14F-4D97-AF65-F5344CB8AC3E}">
        <p14:creationId xmlns:p14="http://schemas.microsoft.com/office/powerpoint/2010/main" val="781902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QMainWindow</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class Window(QMainWindow):</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Window"</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a:t>
            </a:fld>
            <a:endParaRPr lang="en-US"/>
          </a:p>
        </p:txBody>
      </p:sp>
    </p:spTree>
    <p:extLst>
      <p:ext uri="{BB962C8B-B14F-4D97-AF65-F5344CB8AC3E}">
        <p14:creationId xmlns:p14="http://schemas.microsoft.com/office/powerpoint/2010/main" val="483404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PyQt5.QtWidgets import QApplication, QMainWindow, QPushButton</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PyQt5.QtCore import QRect</a:t>
            </a:r>
          </a:p>
          <a:p>
            <a:r>
              <a:rPr lang="en-US" sz="1200" b="0" i="0" kern="1200">
                <a:solidFill>
                  <a:schemeClr val="tx1"/>
                </a:solidFill>
                <a:effectLst/>
                <a:latin typeface="+mn-lt"/>
                <a:ea typeface="+mn-ea"/>
                <a:cs typeface="+mn-cs"/>
              </a:rPr>
              <a:t>from PyQt5 import QtCore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Window(QMainWindow):</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title = "PyQt5 Signal And Slots</a:t>
            </a:r>
          </a:p>
          <a:p>
            <a:r>
              <a:rPr lang="en-US" sz="1200" b="0" i="0" kern="1200">
                <a:solidFill>
                  <a:schemeClr val="tx1"/>
                </a:solidFill>
                <a:effectLst/>
                <a:latin typeface="+mn-lt"/>
                <a:ea typeface="+mn-ea"/>
                <a:cs typeface="+mn-cs"/>
              </a:rPr>
              <a:t>        left = 500</a:t>
            </a:r>
          </a:p>
          <a:p>
            <a:r>
              <a:rPr lang="en-US" sz="1200" b="0" i="0" kern="1200">
                <a:solidFill>
                  <a:schemeClr val="tx1"/>
                </a:solidFill>
                <a:effectLst/>
                <a:latin typeface="+mn-lt"/>
                <a:ea typeface="+mn-ea"/>
                <a:cs typeface="+mn-cs"/>
              </a:rPr>
              <a:t>        top = 200</a:t>
            </a:r>
          </a:p>
          <a:p>
            <a:r>
              <a:rPr lang="en-US" sz="1200" b="0" i="0" kern="1200">
                <a:solidFill>
                  <a:schemeClr val="tx1"/>
                </a:solidFill>
                <a:effectLst/>
                <a:latin typeface="+mn-lt"/>
                <a:ea typeface="+mn-ea"/>
                <a:cs typeface="+mn-cs"/>
              </a:rPr>
              <a:t>        width = 300</a:t>
            </a:r>
          </a:p>
          <a:p>
            <a:r>
              <a:rPr lang="en-US" sz="1200" b="0" i="0" kern="1200">
                <a:solidFill>
                  <a:schemeClr val="tx1"/>
                </a:solidFill>
                <a:effectLst/>
                <a:latin typeface="+mn-lt"/>
                <a:ea typeface="+mn-ea"/>
                <a:cs typeface="+mn-cs"/>
              </a:rPr>
              <a:t>        height = 250</a:t>
            </a:r>
          </a:p>
          <a:p>
            <a:r>
              <a:rPr lang="en-US" sz="1200" b="0" i="0" kern="1200">
                <a:solidFill>
                  <a:schemeClr val="tx1"/>
                </a:solidFill>
                <a:effectLst/>
                <a:latin typeface="+mn-lt"/>
                <a:ea typeface="+mn-ea"/>
                <a:cs typeface="+mn-cs"/>
              </a:rPr>
              <a:t>        iconName = "icon.png"</a:t>
            </a:r>
          </a:p>
          <a:p>
            <a:r>
              <a:rPr lang="en-US" sz="1200" b="0" i="0" kern="1200">
                <a:solidFill>
                  <a:schemeClr val="tx1"/>
                </a:solidFill>
                <a:effectLst/>
                <a:latin typeface="+mn-lt"/>
                <a:ea typeface="+mn-ea"/>
                <a:cs typeface="+mn-cs"/>
              </a:rPr>
              <a:t>        self.setWindowTitle(title)</a:t>
            </a:r>
          </a:p>
          <a:p>
            <a:r>
              <a:rPr lang="en-US" sz="1200" b="0" i="0" kern="1200">
                <a:solidFill>
                  <a:schemeClr val="tx1"/>
                </a:solidFill>
                <a:effectLst/>
                <a:latin typeface="+mn-lt"/>
                <a:ea typeface="+mn-ea"/>
                <a:cs typeface="+mn-cs"/>
              </a:rPr>
              <a:t>        self.setWindowIcon(QtGui.QIcon(iconName))</a:t>
            </a:r>
          </a:p>
          <a:p>
            <a:r>
              <a:rPr lang="en-US" sz="1200" b="0" i="0" kern="1200">
                <a:solidFill>
                  <a:schemeClr val="tx1"/>
                </a:solidFill>
                <a:effectLst/>
                <a:latin typeface="+mn-lt"/>
                <a:ea typeface="+mn-ea"/>
                <a:cs typeface="+mn-cs"/>
              </a:rPr>
              <a:t>        self.setGeometry(left,  top, width, height)</a:t>
            </a:r>
          </a:p>
          <a:p>
            <a:r>
              <a:rPr lang="en-US" sz="1200" b="0" i="0" kern="1200">
                <a:solidFill>
                  <a:schemeClr val="tx1"/>
                </a:solidFill>
                <a:effectLst/>
                <a:latin typeface="+mn-lt"/>
                <a:ea typeface="+mn-ea"/>
                <a:cs typeface="+mn-cs"/>
              </a:rPr>
              <a:t>        self.CreateButton()</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CreateButton(self):</a:t>
            </a:r>
          </a:p>
          <a:p>
            <a:r>
              <a:rPr lang="en-US" sz="1200" b="0" i="0" kern="1200">
                <a:solidFill>
                  <a:schemeClr val="tx1"/>
                </a:solidFill>
                <a:effectLst/>
                <a:latin typeface="+mn-lt"/>
                <a:ea typeface="+mn-ea"/>
                <a:cs typeface="+mn-cs"/>
              </a:rPr>
              <a:t>        button = QPushButton("Close Application", self)</a:t>
            </a:r>
          </a:p>
          <a:p>
            <a:r>
              <a:rPr lang="en-US" sz="1200" b="0" i="0" kern="1200">
                <a:solidFill>
                  <a:schemeClr val="tx1"/>
                </a:solidFill>
                <a:effectLst/>
                <a:latin typeface="+mn-lt"/>
                <a:ea typeface="+mn-ea"/>
                <a:cs typeface="+mn-cs"/>
              </a:rPr>
              <a:t>        button.setGeometry(QRect(100,100,111,28))</a:t>
            </a:r>
          </a:p>
          <a:p>
            <a:r>
              <a:rPr lang="en-US" sz="1200" b="0" i="0" kern="1200">
                <a:solidFill>
                  <a:schemeClr val="tx1"/>
                </a:solidFill>
                <a:effectLst/>
                <a:latin typeface="+mn-lt"/>
                <a:ea typeface="+mn-ea"/>
                <a:cs typeface="+mn-cs"/>
              </a:rPr>
              <a:t>        button.setIcon(QtGui.QIcon("icon.png"))</a:t>
            </a:r>
          </a:p>
          <a:p>
            <a:r>
              <a:rPr lang="en-US" sz="1200" b="0" i="0" kern="1200">
                <a:solidFill>
                  <a:schemeClr val="tx1"/>
                </a:solidFill>
                <a:effectLst/>
                <a:latin typeface="+mn-lt"/>
                <a:ea typeface="+mn-ea"/>
                <a:cs typeface="+mn-cs"/>
              </a:rPr>
              <a:t>        button.setIconSize(QtCore.QSize(40,40))</a:t>
            </a:r>
          </a:p>
          <a:p>
            <a:r>
              <a:rPr lang="en-US" sz="1200" b="0" i="0" kern="1200">
                <a:solidFill>
                  <a:schemeClr val="tx1"/>
                </a:solidFill>
                <a:effectLst/>
                <a:latin typeface="+mn-lt"/>
                <a:ea typeface="+mn-ea"/>
                <a:cs typeface="+mn-cs"/>
              </a:rPr>
              <a:t>        button.clicked.connect(self.ButtonAction)</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ButtonAction(self):</a:t>
            </a:r>
          </a:p>
          <a:p>
            <a:r>
              <a:rPr lang="en-US" sz="1200" b="0" i="0" kern="1200">
                <a:solidFill>
                  <a:schemeClr val="tx1"/>
                </a:solidFill>
                <a:effectLst/>
                <a:latin typeface="+mn-lt"/>
                <a:ea typeface="+mn-ea"/>
                <a:cs typeface="+mn-cs"/>
              </a:rPr>
              <a:t>         sys.exit()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10</a:t>
            </a:fld>
            <a:endParaRPr lang="en-US"/>
          </a:p>
        </p:txBody>
      </p:sp>
    </p:spTree>
    <p:extLst>
      <p:ext uri="{BB962C8B-B14F-4D97-AF65-F5344CB8AC3E}">
        <p14:creationId xmlns:p14="http://schemas.microsoft.com/office/powerpoint/2010/main" val="78559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11</a:t>
            </a:fld>
            <a:endParaRPr lang="en-US"/>
          </a:p>
        </p:txBody>
      </p:sp>
    </p:spTree>
    <p:extLst>
      <p:ext uri="{BB962C8B-B14F-4D97-AF65-F5344CB8AC3E}">
        <p14:creationId xmlns:p14="http://schemas.microsoft.com/office/powerpoint/2010/main" val="496246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PyQt5.QtWidgets import QApplication, QDialog, QPushButton, QHBoxLayout, QGroupBox, QVBoxLayout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PyQt5.QtCore import QRect</a:t>
            </a:r>
          </a:p>
          <a:p>
            <a:r>
              <a:rPr lang="en-US" sz="1200" b="0" i="0" kern="1200">
                <a:solidFill>
                  <a:schemeClr val="tx1"/>
                </a:solidFill>
                <a:effectLst/>
                <a:latin typeface="+mn-lt"/>
                <a:ea typeface="+mn-ea"/>
                <a:cs typeface="+mn-cs"/>
              </a:rPr>
              <a:t>from PyQt5 import QtCore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self.title = "HBox Layout"</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400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100</a:t>
            </a:r>
          </a:p>
          <a:p>
            <a:r>
              <a:rPr lang="en-US" sz="1200" b="0" i="0" kern="1200">
                <a:solidFill>
                  <a:schemeClr val="tx1"/>
                </a:solidFill>
                <a:effectLst/>
                <a:latin typeface="+mn-lt"/>
                <a:ea typeface="+mn-ea"/>
                <a:cs typeface="+mn-cs"/>
              </a:rPr>
              <a:t>        self.iconName = "icon.png"</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self.setWindowIcon(QtGui.QIcon(self.iconName))</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self.CreateLayout()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vbox.addWidget(self.groupBox)</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CreateLayout(self):</a:t>
            </a:r>
          </a:p>
          <a:p>
            <a:r>
              <a:rPr lang="en-US" sz="1200" b="0" i="0" kern="1200">
                <a:solidFill>
                  <a:schemeClr val="tx1"/>
                </a:solidFill>
                <a:effectLst/>
                <a:latin typeface="+mn-lt"/>
                <a:ea typeface="+mn-ea"/>
                <a:cs typeface="+mn-cs"/>
              </a:rPr>
              <a:t>        self.groupBox = QGroupBox("What Is Your Favorite Programming Language ?")</a:t>
            </a:r>
          </a:p>
          <a:p>
            <a:r>
              <a:rPr lang="en-US" sz="1200" b="0" i="0" kern="1200">
                <a:solidFill>
                  <a:schemeClr val="tx1"/>
                </a:solidFill>
                <a:effectLst/>
                <a:latin typeface="+mn-lt"/>
                <a:ea typeface="+mn-ea"/>
                <a:cs typeface="+mn-cs"/>
              </a:rPr>
              <a:t>        hboxLayout = QHBoxLayout()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self.button = QPushButton("Football", self)</a:t>
            </a:r>
          </a:p>
          <a:p>
            <a:r>
              <a:rPr lang="en-US" sz="1200" b="0" i="0" kern="1200">
                <a:solidFill>
                  <a:schemeClr val="tx1"/>
                </a:solidFill>
                <a:effectLst/>
                <a:latin typeface="+mn-lt"/>
                <a:ea typeface="+mn-ea"/>
                <a:cs typeface="+mn-cs"/>
              </a:rPr>
              <a:t>        self.button.setIcon(QtGui.QIcon("football.png"))</a:t>
            </a:r>
          </a:p>
          <a:p>
            <a:r>
              <a:rPr lang="en-US" sz="1200" b="0" i="0" kern="1200">
                <a:solidFill>
                  <a:schemeClr val="tx1"/>
                </a:solidFill>
                <a:effectLst/>
                <a:latin typeface="+mn-lt"/>
                <a:ea typeface="+mn-ea"/>
                <a:cs typeface="+mn-cs"/>
              </a:rPr>
              <a:t>        self.button.setIconSize(QtCore.QSize(40, 40))</a:t>
            </a:r>
          </a:p>
          <a:p>
            <a:r>
              <a:rPr lang="en-US" sz="1200" b="0" i="0" kern="1200">
                <a:solidFill>
                  <a:schemeClr val="tx1"/>
                </a:solidFill>
                <a:effectLst/>
                <a:latin typeface="+mn-lt"/>
                <a:ea typeface="+mn-ea"/>
                <a:cs typeface="+mn-cs"/>
              </a:rPr>
              <a:t>        self.button.setMinimumHeight(40)</a:t>
            </a:r>
          </a:p>
          <a:p>
            <a:r>
              <a:rPr lang="en-US" sz="1200" b="0" i="0" kern="1200">
                <a:solidFill>
                  <a:schemeClr val="tx1"/>
                </a:solidFill>
                <a:effectLst/>
                <a:latin typeface="+mn-lt"/>
                <a:ea typeface="+mn-ea"/>
                <a:cs typeface="+mn-cs"/>
              </a:rPr>
              <a:t>        hboxLayout.addWidget(self.button)</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self.button2 = QPushButton("Cricket", self)</a:t>
            </a:r>
          </a:p>
          <a:p>
            <a:r>
              <a:rPr lang="en-US" sz="1200" b="0" i="0" kern="1200">
                <a:solidFill>
                  <a:schemeClr val="tx1"/>
                </a:solidFill>
                <a:effectLst/>
                <a:latin typeface="+mn-lt"/>
                <a:ea typeface="+mn-ea"/>
                <a:cs typeface="+mn-cs"/>
              </a:rPr>
              <a:t>        self.button2.setIcon(QtGui.QIcon("cricket.png"))</a:t>
            </a:r>
          </a:p>
          <a:p>
            <a:r>
              <a:rPr lang="en-US" sz="1200" b="0" i="0" kern="1200">
                <a:solidFill>
                  <a:schemeClr val="tx1"/>
                </a:solidFill>
                <a:effectLst/>
                <a:latin typeface="+mn-lt"/>
                <a:ea typeface="+mn-ea"/>
                <a:cs typeface="+mn-cs"/>
              </a:rPr>
              <a:t>        self.button2.setIconSize(QtCore.QSize(40, 40))</a:t>
            </a:r>
          </a:p>
          <a:p>
            <a:r>
              <a:rPr lang="en-US" sz="1200" b="0" i="0" kern="1200">
                <a:solidFill>
                  <a:schemeClr val="tx1"/>
                </a:solidFill>
                <a:effectLst/>
                <a:latin typeface="+mn-lt"/>
                <a:ea typeface="+mn-ea"/>
                <a:cs typeface="+mn-cs"/>
              </a:rPr>
              <a:t>        self.button2.setMinimumHeight(40)</a:t>
            </a:r>
          </a:p>
          <a:p>
            <a:r>
              <a:rPr lang="en-US" sz="1200" b="0" i="0" kern="1200">
                <a:solidFill>
                  <a:schemeClr val="tx1"/>
                </a:solidFill>
                <a:effectLst/>
                <a:latin typeface="+mn-lt"/>
                <a:ea typeface="+mn-ea"/>
                <a:cs typeface="+mn-cs"/>
              </a:rPr>
              <a:t>        hboxLayout.addWidget(self.button2)</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self.button3 = QPushButton("Tennis", self)</a:t>
            </a:r>
          </a:p>
          <a:p>
            <a:r>
              <a:rPr lang="en-US" sz="1200" b="0" i="0" kern="1200">
                <a:solidFill>
                  <a:schemeClr val="tx1"/>
                </a:solidFill>
                <a:effectLst/>
                <a:latin typeface="+mn-lt"/>
                <a:ea typeface="+mn-ea"/>
                <a:cs typeface="+mn-cs"/>
              </a:rPr>
              <a:t>        self.button3.setIcon(QtGui.QIcon("tennis.png"))</a:t>
            </a:r>
          </a:p>
          <a:p>
            <a:r>
              <a:rPr lang="en-US" sz="1200" b="0" i="0" kern="1200">
                <a:solidFill>
                  <a:schemeClr val="tx1"/>
                </a:solidFill>
                <a:effectLst/>
                <a:latin typeface="+mn-lt"/>
                <a:ea typeface="+mn-ea"/>
                <a:cs typeface="+mn-cs"/>
              </a:rPr>
              <a:t>        self.button3.setIconSize(QtCore.QSize(40, 40))</a:t>
            </a:r>
          </a:p>
          <a:p>
            <a:r>
              <a:rPr lang="en-US" sz="1200" b="0" i="0" kern="1200">
                <a:solidFill>
                  <a:schemeClr val="tx1"/>
                </a:solidFill>
                <a:effectLst/>
                <a:latin typeface="+mn-lt"/>
                <a:ea typeface="+mn-ea"/>
                <a:cs typeface="+mn-cs"/>
              </a:rPr>
              <a:t>        self.button3.setMinimumHeight(40)</a:t>
            </a:r>
          </a:p>
          <a:p>
            <a:r>
              <a:rPr lang="en-US" sz="1200" b="0" i="0" kern="1200">
                <a:solidFill>
                  <a:schemeClr val="tx1"/>
                </a:solidFill>
                <a:effectLst/>
                <a:latin typeface="+mn-lt"/>
                <a:ea typeface="+mn-ea"/>
                <a:cs typeface="+mn-cs"/>
              </a:rPr>
              <a:t>        hboxLayout.addWidget(self.button3)</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self.groupBox.setLayout(hboxLayout)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14</a:t>
            </a:fld>
            <a:endParaRPr lang="en-US"/>
          </a:p>
        </p:txBody>
      </p:sp>
    </p:spTree>
    <p:extLst>
      <p:ext uri="{BB962C8B-B14F-4D97-AF65-F5344CB8AC3E}">
        <p14:creationId xmlns:p14="http://schemas.microsoft.com/office/powerpoint/2010/main" val="1982922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https://codeloop.org/pyqt5-grid-layout-python-gui-development/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15</a:t>
            </a:fld>
            <a:endParaRPr lang="en-US"/>
          </a:p>
        </p:txBody>
      </p:sp>
    </p:spTree>
    <p:extLst>
      <p:ext uri="{BB962C8B-B14F-4D97-AF65-F5344CB8AC3E}">
        <p14:creationId xmlns:p14="http://schemas.microsoft.com/office/powerpoint/2010/main" val="2044644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PyQt5.QtWidgets import QApplication, QDialog, QPushButton, QGridLayout, QGroupBox, QVBoxLayout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PyQt5.QtCore import QRect</a:t>
            </a:r>
          </a:p>
          <a:p>
            <a:r>
              <a:rPr lang="en-US" sz="1200" b="0" i="0" kern="1200">
                <a:solidFill>
                  <a:schemeClr val="tx1"/>
                </a:solidFill>
                <a:effectLst/>
                <a:latin typeface="+mn-lt"/>
                <a:ea typeface="+mn-ea"/>
                <a:cs typeface="+mn-cs"/>
              </a:rPr>
              <a:t>from PyQt5 import QtCore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"HBox Layout"</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400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100</a:t>
            </a:r>
          </a:p>
          <a:p>
            <a:r>
              <a:rPr lang="en-US" sz="1200" b="0" i="0" kern="1200">
                <a:solidFill>
                  <a:schemeClr val="tx1"/>
                </a:solidFill>
                <a:effectLst/>
                <a:latin typeface="+mn-lt"/>
                <a:ea typeface="+mn-ea"/>
                <a:cs typeface="+mn-cs"/>
              </a:rPr>
              <a:t>        self.iconName = "icon.png"</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self.setWindowIcon(QtGui.QIcon(self.iconName))</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self.CreateLayout()</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vbox.addWidget(self.groupBox)</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CreateLayout(self):</a:t>
            </a:r>
          </a:p>
          <a:p>
            <a:r>
              <a:rPr lang="en-US" sz="1200" b="0" i="0" kern="1200">
                <a:solidFill>
                  <a:schemeClr val="tx1"/>
                </a:solidFill>
                <a:effectLst/>
                <a:latin typeface="+mn-lt"/>
                <a:ea typeface="+mn-ea"/>
                <a:cs typeface="+mn-cs"/>
              </a:rPr>
              <a:t>        self.groupBox = QGroupBox("What Is Your Favorite Programming Language")</a:t>
            </a:r>
          </a:p>
          <a:p>
            <a:r>
              <a:rPr lang="en-US" sz="1200" b="0" i="0" kern="1200">
                <a:solidFill>
                  <a:schemeClr val="tx1"/>
                </a:solidFill>
                <a:effectLst/>
                <a:latin typeface="+mn-lt"/>
                <a:ea typeface="+mn-ea"/>
                <a:cs typeface="+mn-cs"/>
              </a:rPr>
              <a:t>        gridLayout = QGridLayout()</a:t>
            </a:r>
          </a:p>
          <a:p>
            <a:r>
              <a:rPr lang="en-US" sz="1200" b="0" i="0" kern="1200">
                <a:solidFill>
                  <a:schemeClr val="tx1"/>
                </a:solidFill>
                <a:effectLst/>
                <a:latin typeface="+mn-lt"/>
                <a:ea typeface="+mn-ea"/>
                <a:cs typeface="+mn-cs"/>
              </a:rPr>
              <a:t>        self.button = QPushButton("Python", self)</a:t>
            </a:r>
          </a:p>
          <a:p>
            <a:r>
              <a:rPr lang="en-US" sz="1200" b="0" i="0" kern="1200">
                <a:solidFill>
                  <a:schemeClr val="tx1"/>
                </a:solidFill>
                <a:effectLst/>
                <a:latin typeface="+mn-lt"/>
                <a:ea typeface="+mn-ea"/>
                <a:cs typeface="+mn-cs"/>
              </a:rPr>
              <a:t>        self.button.setIcon(QtGui.QIcon("pythonicon.png"))</a:t>
            </a:r>
          </a:p>
          <a:p>
            <a:r>
              <a:rPr lang="en-US" sz="1200" b="0" i="0" kern="1200">
                <a:solidFill>
                  <a:schemeClr val="tx1"/>
                </a:solidFill>
                <a:effectLst/>
                <a:latin typeface="+mn-lt"/>
                <a:ea typeface="+mn-ea"/>
                <a:cs typeface="+mn-cs"/>
              </a:rPr>
              <a:t>        self.button.setIconSize(QtCore.QSize(40, 40))</a:t>
            </a:r>
          </a:p>
          <a:p>
            <a:r>
              <a:rPr lang="en-US" sz="1200" b="0" i="0" kern="1200">
                <a:solidFill>
                  <a:schemeClr val="tx1"/>
                </a:solidFill>
                <a:effectLst/>
                <a:latin typeface="+mn-lt"/>
                <a:ea typeface="+mn-ea"/>
                <a:cs typeface="+mn-cs"/>
              </a:rPr>
              <a:t>        self.button.setMinimumHeight(40)</a:t>
            </a:r>
          </a:p>
          <a:p>
            <a:r>
              <a:rPr lang="en-US" sz="1200" b="0" i="0" kern="1200">
                <a:solidFill>
                  <a:schemeClr val="tx1"/>
                </a:solidFill>
                <a:effectLst/>
                <a:latin typeface="+mn-lt"/>
                <a:ea typeface="+mn-ea"/>
                <a:cs typeface="+mn-cs"/>
              </a:rPr>
              <a:t>        gridLayout.addWidget(self.button, 0,0)</a:t>
            </a:r>
          </a:p>
          <a:p>
            <a:r>
              <a:rPr lang="en-US" sz="1200" b="0" i="0" kern="1200">
                <a:solidFill>
                  <a:schemeClr val="tx1"/>
                </a:solidFill>
                <a:effectLst/>
                <a:latin typeface="+mn-lt"/>
                <a:ea typeface="+mn-ea"/>
                <a:cs typeface="+mn-cs"/>
              </a:rPr>
              <a:t>        self.button2 = QPushButton("C++", self)</a:t>
            </a:r>
          </a:p>
          <a:p>
            <a:r>
              <a:rPr lang="en-US" sz="1200" b="0" i="0" kern="1200">
                <a:solidFill>
                  <a:schemeClr val="tx1"/>
                </a:solidFill>
                <a:effectLst/>
                <a:latin typeface="+mn-lt"/>
                <a:ea typeface="+mn-ea"/>
                <a:cs typeface="+mn-cs"/>
              </a:rPr>
              <a:t>        self.button2.setIcon(QtGui.QIcon("cpp.png"))</a:t>
            </a:r>
          </a:p>
          <a:p>
            <a:r>
              <a:rPr lang="en-US" sz="1200" b="0" i="0" kern="1200">
                <a:solidFill>
                  <a:schemeClr val="tx1"/>
                </a:solidFill>
                <a:effectLst/>
                <a:latin typeface="+mn-lt"/>
                <a:ea typeface="+mn-ea"/>
                <a:cs typeface="+mn-cs"/>
              </a:rPr>
              <a:t>        self.button2.setIconSize(QtCore.QSize(40, 40))</a:t>
            </a:r>
          </a:p>
          <a:p>
            <a:r>
              <a:rPr lang="en-US" sz="1200" b="0" i="0" kern="1200">
                <a:solidFill>
                  <a:schemeClr val="tx1"/>
                </a:solidFill>
                <a:effectLst/>
                <a:latin typeface="+mn-lt"/>
                <a:ea typeface="+mn-ea"/>
                <a:cs typeface="+mn-cs"/>
              </a:rPr>
              <a:t>        self.button2.setMinimumHeight(40)</a:t>
            </a:r>
          </a:p>
          <a:p>
            <a:r>
              <a:rPr lang="en-US" sz="1200" b="0" i="0" kern="1200">
                <a:solidFill>
                  <a:schemeClr val="tx1"/>
                </a:solidFill>
                <a:effectLst/>
                <a:latin typeface="+mn-lt"/>
                <a:ea typeface="+mn-ea"/>
                <a:cs typeface="+mn-cs"/>
              </a:rPr>
              <a:t>        gridLayout.addWidget(self.button2, 0,1)</a:t>
            </a:r>
          </a:p>
          <a:p>
            <a:r>
              <a:rPr lang="en-US" sz="1200" b="0" i="0" kern="1200">
                <a:solidFill>
                  <a:schemeClr val="tx1"/>
                </a:solidFill>
                <a:effectLst/>
                <a:latin typeface="+mn-lt"/>
                <a:ea typeface="+mn-ea"/>
                <a:cs typeface="+mn-cs"/>
              </a:rPr>
              <a:t>        self.button3 = QPushButton("Java", self)</a:t>
            </a:r>
          </a:p>
          <a:p>
            <a:r>
              <a:rPr lang="en-US" sz="1200" b="0" i="0" kern="1200">
                <a:solidFill>
                  <a:schemeClr val="tx1"/>
                </a:solidFill>
                <a:effectLst/>
                <a:latin typeface="+mn-lt"/>
                <a:ea typeface="+mn-ea"/>
                <a:cs typeface="+mn-cs"/>
              </a:rPr>
              <a:t>        self.button3.setIcon(QtGui.QIcon("java.png"))</a:t>
            </a:r>
          </a:p>
          <a:p>
            <a:r>
              <a:rPr lang="en-US" sz="1200" b="0" i="0" kern="1200">
                <a:solidFill>
                  <a:schemeClr val="tx1"/>
                </a:solidFill>
                <a:effectLst/>
                <a:latin typeface="+mn-lt"/>
                <a:ea typeface="+mn-ea"/>
                <a:cs typeface="+mn-cs"/>
              </a:rPr>
              <a:t>        self.button3.setIconSize(QtCore.QSize(40, 40))</a:t>
            </a:r>
          </a:p>
          <a:p>
            <a:r>
              <a:rPr lang="en-US" sz="1200" b="0" i="0" kern="1200">
                <a:solidFill>
                  <a:schemeClr val="tx1"/>
                </a:solidFill>
                <a:effectLst/>
                <a:latin typeface="+mn-lt"/>
                <a:ea typeface="+mn-ea"/>
                <a:cs typeface="+mn-cs"/>
              </a:rPr>
              <a:t>        self.button3.setMinimumHeight(40)</a:t>
            </a:r>
          </a:p>
          <a:p>
            <a:r>
              <a:rPr lang="en-US" sz="1200" b="0" i="0" kern="1200">
                <a:solidFill>
                  <a:schemeClr val="tx1"/>
                </a:solidFill>
                <a:effectLst/>
                <a:latin typeface="+mn-lt"/>
                <a:ea typeface="+mn-ea"/>
                <a:cs typeface="+mn-cs"/>
              </a:rPr>
              <a:t>        gridLayout.addWidget(self.button3,1,0)</a:t>
            </a:r>
          </a:p>
          <a:p>
            <a:r>
              <a:rPr lang="en-US" sz="1200" b="0" i="0" kern="1200">
                <a:solidFill>
                  <a:schemeClr val="tx1"/>
                </a:solidFill>
                <a:effectLst/>
                <a:latin typeface="+mn-lt"/>
                <a:ea typeface="+mn-ea"/>
                <a:cs typeface="+mn-cs"/>
              </a:rPr>
              <a:t>        self.button4 = QPushButton("C#", self)</a:t>
            </a:r>
          </a:p>
          <a:p>
            <a:r>
              <a:rPr lang="en-US" sz="1200" b="0" i="0" kern="1200">
                <a:solidFill>
                  <a:schemeClr val="tx1"/>
                </a:solidFill>
                <a:effectLst/>
                <a:latin typeface="+mn-lt"/>
                <a:ea typeface="+mn-ea"/>
                <a:cs typeface="+mn-cs"/>
              </a:rPr>
              <a:t>        self.button4.setIcon(QtGui.QIcon("csharp.png"))</a:t>
            </a:r>
          </a:p>
          <a:p>
            <a:r>
              <a:rPr lang="en-US" sz="1200" b="0" i="0" kern="1200">
                <a:solidFill>
                  <a:schemeClr val="tx1"/>
                </a:solidFill>
                <a:effectLst/>
                <a:latin typeface="+mn-lt"/>
                <a:ea typeface="+mn-ea"/>
                <a:cs typeface="+mn-cs"/>
              </a:rPr>
              <a:t>        self.button4.setIconSize(QtCore.QSize(40, 40))</a:t>
            </a:r>
          </a:p>
          <a:p>
            <a:r>
              <a:rPr lang="en-US" sz="1200" b="0" i="0" kern="1200">
                <a:solidFill>
                  <a:schemeClr val="tx1"/>
                </a:solidFill>
                <a:effectLst/>
                <a:latin typeface="+mn-lt"/>
                <a:ea typeface="+mn-ea"/>
                <a:cs typeface="+mn-cs"/>
              </a:rPr>
              <a:t>        self.button4.setMinimumHeight(40)</a:t>
            </a:r>
          </a:p>
          <a:p>
            <a:r>
              <a:rPr lang="en-US" sz="1200" b="0" i="0" kern="1200">
                <a:solidFill>
                  <a:schemeClr val="tx1"/>
                </a:solidFill>
                <a:effectLst/>
                <a:latin typeface="+mn-lt"/>
                <a:ea typeface="+mn-ea"/>
                <a:cs typeface="+mn-cs"/>
              </a:rPr>
              <a:t>        gridLayout.addWidget(self.button4, 1, 1)</a:t>
            </a:r>
          </a:p>
          <a:p>
            <a:r>
              <a:rPr lang="en-US" sz="1200" b="0" i="0" kern="1200">
                <a:solidFill>
                  <a:schemeClr val="tx1"/>
                </a:solidFill>
                <a:effectLst/>
                <a:latin typeface="+mn-lt"/>
                <a:ea typeface="+mn-ea"/>
                <a:cs typeface="+mn-cs"/>
              </a:rPr>
              <a:t>        self.groupBox.setLayout(gridLayout)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18</a:t>
            </a:fld>
            <a:endParaRPr lang="en-US"/>
          </a:p>
        </p:txBody>
      </p:sp>
    </p:spTree>
    <p:extLst>
      <p:ext uri="{BB962C8B-B14F-4D97-AF65-F5344CB8AC3E}">
        <p14:creationId xmlns:p14="http://schemas.microsoft.com/office/powerpoint/2010/main" val="353554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PyQt5 Tạo nhãn &amp; bảng định kiểu bằng nhãn</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19</a:t>
            </a:fld>
            <a:endParaRPr lang="en-US"/>
          </a:p>
        </p:txBody>
      </p:sp>
    </p:spTree>
    <p:extLst>
      <p:ext uri="{BB962C8B-B14F-4D97-AF65-F5344CB8AC3E}">
        <p14:creationId xmlns:p14="http://schemas.microsoft.com/office/powerpoint/2010/main" val="3747449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PyQt5.QtWidgets import QApplication, QLabel, QDialog, QVBoxLayout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Labels"</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label = QLabel("This Is PyQt5 Labels")</a:t>
            </a:r>
          </a:p>
          <a:p>
            <a:r>
              <a:rPr lang="en-US" sz="1200" b="0" i="0" kern="1200">
                <a:solidFill>
                  <a:schemeClr val="tx1"/>
                </a:solidFill>
                <a:effectLst/>
                <a:latin typeface="+mn-lt"/>
                <a:ea typeface="+mn-ea"/>
                <a:cs typeface="+mn-cs"/>
              </a:rPr>
              <a:t>        vbox.addWidget(label)</a:t>
            </a:r>
          </a:p>
          <a:p>
            <a:r>
              <a:rPr lang="en-US" sz="1200" b="0" i="0" kern="1200">
                <a:solidFill>
                  <a:schemeClr val="tx1"/>
                </a:solidFill>
                <a:effectLst/>
                <a:latin typeface="+mn-lt"/>
                <a:ea typeface="+mn-ea"/>
                <a:cs typeface="+mn-cs"/>
              </a:rPr>
              <a:t>        label2 = QLabel("This Is PyQt5 GUI Applicaition Development, Hello")</a:t>
            </a:r>
          </a:p>
          <a:p>
            <a:r>
              <a:rPr lang="en-US" sz="1200" b="0" i="0" kern="1200">
                <a:solidFill>
                  <a:schemeClr val="tx1"/>
                </a:solidFill>
                <a:effectLst/>
                <a:latin typeface="+mn-lt"/>
                <a:ea typeface="+mn-ea"/>
                <a:cs typeface="+mn-cs"/>
              </a:rPr>
              <a:t>        label2.setFont(QtGui.QFont("Sanserif", 20))</a:t>
            </a:r>
          </a:p>
          <a:p>
            <a:r>
              <a:rPr lang="en-US" sz="1200" b="0" i="0" kern="1200">
                <a:solidFill>
                  <a:schemeClr val="tx1"/>
                </a:solidFill>
                <a:effectLst/>
                <a:latin typeface="+mn-lt"/>
                <a:ea typeface="+mn-ea"/>
                <a:cs typeface="+mn-cs"/>
              </a:rPr>
              <a:t>        label2.setStyleSheet('color:red')</a:t>
            </a:r>
          </a:p>
          <a:p>
            <a:r>
              <a:rPr lang="en-US" sz="1200" b="0" i="0" kern="1200">
                <a:solidFill>
                  <a:schemeClr val="tx1"/>
                </a:solidFill>
                <a:effectLst/>
                <a:latin typeface="+mn-lt"/>
                <a:ea typeface="+mn-ea"/>
                <a:cs typeface="+mn-cs"/>
              </a:rPr>
              <a:t>        vbox.addWidget(label2)</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20</a:t>
            </a:fld>
            <a:endParaRPr lang="en-US"/>
          </a:p>
        </p:txBody>
      </p:sp>
    </p:spTree>
    <p:extLst>
      <p:ext uri="{BB962C8B-B14F-4D97-AF65-F5344CB8AC3E}">
        <p14:creationId xmlns:p14="http://schemas.microsoft.com/office/powerpoint/2010/main" val="3663730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https://codeloop.org/pyqt5-how-to-add-image-in-pyqt-window/</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21</a:t>
            </a:fld>
            <a:endParaRPr lang="en-US"/>
          </a:p>
        </p:txBody>
      </p:sp>
    </p:spTree>
    <p:extLst>
      <p:ext uri="{BB962C8B-B14F-4D97-AF65-F5344CB8AC3E}">
        <p14:creationId xmlns:p14="http://schemas.microsoft.com/office/powerpoint/2010/main" val="2020654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QDialog, QVBoxLayout,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PyQt5.QtGui import QPixmap</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Adding Image To Label"</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labelImage = QLabel(self)</a:t>
            </a:r>
          </a:p>
          <a:p>
            <a:r>
              <a:rPr lang="en-US" sz="1200" b="0" i="0" kern="1200">
                <a:solidFill>
                  <a:schemeClr val="tx1"/>
                </a:solidFill>
                <a:effectLst/>
                <a:latin typeface="+mn-lt"/>
                <a:ea typeface="+mn-ea"/>
                <a:cs typeface="+mn-cs"/>
              </a:rPr>
              <a:t>        pixmap = QPixmap("pic2.jpg")</a:t>
            </a:r>
          </a:p>
          <a:p>
            <a:r>
              <a:rPr lang="en-US" sz="1200" b="0" i="0" kern="1200">
                <a:solidFill>
                  <a:schemeClr val="tx1"/>
                </a:solidFill>
                <a:effectLst/>
                <a:latin typeface="+mn-lt"/>
                <a:ea typeface="+mn-ea"/>
                <a:cs typeface="+mn-cs"/>
              </a:rPr>
              <a:t>        labelImage.setPixmap(pixmap)</a:t>
            </a:r>
          </a:p>
          <a:p>
            <a:r>
              <a:rPr lang="en-US" sz="1200" b="0" i="0" kern="1200">
                <a:solidFill>
                  <a:schemeClr val="tx1"/>
                </a:solidFill>
                <a:effectLst/>
                <a:latin typeface="+mn-lt"/>
                <a:ea typeface="+mn-ea"/>
                <a:cs typeface="+mn-cs"/>
              </a:rPr>
              <a:t>        vbox.addWidget(labelImage)</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22</a:t>
            </a:fld>
            <a:endParaRPr lang="en-US"/>
          </a:p>
        </p:txBody>
      </p:sp>
    </p:spTree>
    <p:extLst>
      <p:ext uri="{BB962C8B-B14F-4D97-AF65-F5344CB8AC3E}">
        <p14:creationId xmlns:p14="http://schemas.microsoft.com/office/powerpoint/2010/main" val="418847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https://codeloop.org/pyqt5-creating-qradiobutton-with-toggled-signal/</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23</a:t>
            </a:fld>
            <a:endParaRPr lang="en-US"/>
          </a:p>
        </p:txBody>
      </p:sp>
    </p:spTree>
    <p:extLst>
      <p:ext uri="{BB962C8B-B14F-4D97-AF65-F5344CB8AC3E}">
        <p14:creationId xmlns:p14="http://schemas.microsoft.com/office/powerpoint/2010/main" val="662333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PyQt5.QtWidgets import QApplication, QDialog, QRadioButton, QHBoxLayout, QGroupBox, QVBoxLayout,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PyQt5.QtCore import QRect</a:t>
            </a:r>
          </a:p>
          <a:p>
            <a:r>
              <a:rPr lang="en-US" sz="1200" b="0" i="0" kern="1200">
                <a:solidFill>
                  <a:schemeClr val="tx1"/>
                </a:solidFill>
                <a:effectLst/>
                <a:latin typeface="+mn-lt"/>
                <a:ea typeface="+mn-ea"/>
                <a:cs typeface="+mn-cs"/>
              </a:rPr>
              <a:t>from PyQt5 import QtCore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"Radio Button"</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400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100</a:t>
            </a:r>
          </a:p>
          <a:p>
            <a:r>
              <a:rPr lang="en-US" sz="1200" b="0" i="0" kern="1200">
                <a:solidFill>
                  <a:schemeClr val="tx1"/>
                </a:solidFill>
                <a:effectLst/>
                <a:latin typeface="+mn-lt"/>
                <a:ea typeface="+mn-ea"/>
                <a:cs typeface="+mn-cs"/>
              </a:rPr>
              <a:t>        self.iconName = "icon.png"</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self.setWindowIcon(QtGui.QIcon(self.iconName))</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self.CreateLayout()</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vbox.addWidget(self.groupBox)</a:t>
            </a:r>
          </a:p>
          <a:p>
            <a:r>
              <a:rPr lang="en-US" sz="1200" b="0" i="0" kern="1200">
                <a:solidFill>
                  <a:schemeClr val="tx1"/>
                </a:solidFill>
                <a:effectLst/>
                <a:latin typeface="+mn-lt"/>
                <a:ea typeface="+mn-ea"/>
                <a:cs typeface="+mn-cs"/>
              </a:rPr>
              <a:t>        self.label = QLabel(self)</a:t>
            </a:r>
          </a:p>
          <a:p>
            <a:r>
              <a:rPr lang="en-US" sz="1200" b="0" i="0" kern="1200">
                <a:solidFill>
                  <a:schemeClr val="tx1"/>
                </a:solidFill>
                <a:effectLst/>
                <a:latin typeface="+mn-lt"/>
                <a:ea typeface="+mn-ea"/>
                <a:cs typeface="+mn-cs"/>
              </a:rPr>
              <a:t>        self.label.setFont(QtGui.QFont("Sanserif",15))</a:t>
            </a:r>
          </a:p>
          <a:p>
            <a:r>
              <a:rPr lang="en-US" sz="1200" b="0" i="0" kern="1200">
                <a:solidFill>
                  <a:schemeClr val="tx1"/>
                </a:solidFill>
                <a:effectLst/>
                <a:latin typeface="+mn-lt"/>
                <a:ea typeface="+mn-ea"/>
                <a:cs typeface="+mn-cs"/>
              </a:rPr>
              <a:t>        vbox.addWidget(self.label)</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CreateLayout(self):</a:t>
            </a:r>
          </a:p>
          <a:p>
            <a:r>
              <a:rPr lang="en-US" sz="1200" b="0" i="0" kern="1200">
                <a:solidFill>
                  <a:schemeClr val="tx1"/>
                </a:solidFill>
                <a:effectLst/>
                <a:latin typeface="+mn-lt"/>
                <a:ea typeface="+mn-ea"/>
                <a:cs typeface="+mn-cs"/>
              </a:rPr>
              <a:t>        self.groupBox = QGroupBox("What Is Your Favorite Programming Language ?")</a:t>
            </a:r>
          </a:p>
          <a:p>
            <a:r>
              <a:rPr lang="en-US" sz="1200" b="0" i="0" kern="1200">
                <a:solidFill>
                  <a:schemeClr val="tx1"/>
                </a:solidFill>
                <a:effectLst/>
                <a:latin typeface="+mn-lt"/>
                <a:ea typeface="+mn-ea"/>
                <a:cs typeface="+mn-cs"/>
              </a:rPr>
              <a:t>        self.groupBox.setFont(QtGui.QFont("Sanserif",13))</a:t>
            </a:r>
          </a:p>
          <a:p>
            <a:r>
              <a:rPr lang="en-US" sz="1200" b="0" i="0" kern="1200">
                <a:solidFill>
                  <a:schemeClr val="tx1"/>
                </a:solidFill>
                <a:effectLst/>
                <a:latin typeface="+mn-lt"/>
                <a:ea typeface="+mn-ea"/>
                <a:cs typeface="+mn-cs"/>
              </a:rPr>
              <a:t>        hboxLayout = QHBoxLayout()</a:t>
            </a:r>
          </a:p>
          <a:p>
            <a:r>
              <a:rPr lang="en-US" sz="1200" b="0" i="0" kern="1200">
                <a:solidFill>
                  <a:schemeClr val="tx1"/>
                </a:solidFill>
                <a:effectLst/>
                <a:latin typeface="+mn-lt"/>
                <a:ea typeface="+mn-ea"/>
                <a:cs typeface="+mn-cs"/>
              </a:rPr>
              <a:t>        self.radiobtn1 = QRadioButton("Football")</a:t>
            </a:r>
          </a:p>
          <a:p>
            <a:r>
              <a:rPr lang="en-US" sz="1200" b="0" i="0" kern="1200">
                <a:solidFill>
                  <a:schemeClr val="tx1"/>
                </a:solidFill>
                <a:effectLst/>
                <a:latin typeface="+mn-lt"/>
                <a:ea typeface="+mn-ea"/>
                <a:cs typeface="+mn-cs"/>
              </a:rPr>
              <a:t>        self.radiobtn1.setChecked(True)</a:t>
            </a:r>
          </a:p>
          <a:p>
            <a:r>
              <a:rPr lang="en-US" sz="1200" b="0" i="0" kern="1200">
                <a:solidFill>
                  <a:schemeClr val="tx1"/>
                </a:solidFill>
                <a:effectLst/>
                <a:latin typeface="+mn-lt"/>
                <a:ea typeface="+mn-ea"/>
                <a:cs typeface="+mn-cs"/>
              </a:rPr>
              <a:t>        self.radiobtn1.setIcon(QtGui.QIcon("football.png"))</a:t>
            </a:r>
          </a:p>
          <a:p>
            <a:r>
              <a:rPr lang="en-US" sz="1200" b="0" i="0" kern="1200">
                <a:solidFill>
                  <a:schemeClr val="tx1"/>
                </a:solidFill>
                <a:effectLst/>
                <a:latin typeface="+mn-lt"/>
                <a:ea typeface="+mn-ea"/>
                <a:cs typeface="+mn-cs"/>
              </a:rPr>
              <a:t>        self.radiobtn1.setIconSize(QtCore.QSize(40,40))</a:t>
            </a:r>
          </a:p>
          <a:p>
            <a:r>
              <a:rPr lang="en-US" sz="1200" b="0" i="0" kern="1200">
                <a:solidFill>
                  <a:schemeClr val="tx1"/>
                </a:solidFill>
                <a:effectLst/>
                <a:latin typeface="+mn-lt"/>
                <a:ea typeface="+mn-ea"/>
                <a:cs typeface="+mn-cs"/>
              </a:rPr>
              <a:t>        self.radiobtn1.setFont(QtGui.QFont("Sanserif", 13))</a:t>
            </a:r>
          </a:p>
          <a:p>
            <a:r>
              <a:rPr lang="en-US" sz="1200" b="0" i="0" kern="1200">
                <a:solidFill>
                  <a:schemeClr val="tx1"/>
                </a:solidFill>
                <a:effectLst/>
                <a:latin typeface="+mn-lt"/>
                <a:ea typeface="+mn-ea"/>
                <a:cs typeface="+mn-cs"/>
              </a:rPr>
              <a:t>        hboxLayout.addWidget(self.radiobtn1)</a:t>
            </a:r>
          </a:p>
          <a:p>
            <a:r>
              <a:rPr lang="en-US" sz="1200" b="0" i="0" kern="1200">
                <a:solidFill>
                  <a:schemeClr val="tx1"/>
                </a:solidFill>
                <a:effectLst/>
                <a:latin typeface="+mn-lt"/>
                <a:ea typeface="+mn-ea"/>
                <a:cs typeface="+mn-cs"/>
              </a:rPr>
              <a:t>        self.radiobtn1.toggled.connect(self.onRadioBtn)</a:t>
            </a:r>
          </a:p>
          <a:p>
            <a:r>
              <a:rPr lang="en-US" sz="1200" b="0" i="0" kern="1200">
                <a:solidFill>
                  <a:schemeClr val="tx1"/>
                </a:solidFill>
                <a:effectLst/>
                <a:latin typeface="+mn-lt"/>
                <a:ea typeface="+mn-ea"/>
                <a:cs typeface="+mn-cs"/>
              </a:rPr>
              <a:t>        self.radiobtn2 = QRadioButton("Cricket")</a:t>
            </a:r>
          </a:p>
          <a:p>
            <a:r>
              <a:rPr lang="en-US" sz="1200" b="0" i="0" kern="1200">
                <a:solidFill>
                  <a:schemeClr val="tx1"/>
                </a:solidFill>
                <a:effectLst/>
                <a:latin typeface="+mn-lt"/>
                <a:ea typeface="+mn-ea"/>
                <a:cs typeface="+mn-cs"/>
              </a:rPr>
              <a:t>        self.radiobtn2.setIcon(QtGui.QIcon("cricket.png"))</a:t>
            </a:r>
          </a:p>
          <a:p>
            <a:r>
              <a:rPr lang="en-US" sz="1200" b="0" i="0" kern="1200">
                <a:solidFill>
                  <a:schemeClr val="tx1"/>
                </a:solidFill>
                <a:effectLst/>
                <a:latin typeface="+mn-lt"/>
                <a:ea typeface="+mn-ea"/>
                <a:cs typeface="+mn-cs"/>
              </a:rPr>
              <a:t>        self.radiobtn2.setIconSize(QtCore.QSize(40, 40))</a:t>
            </a:r>
          </a:p>
          <a:p>
            <a:r>
              <a:rPr lang="en-US" sz="1200" b="0" i="0" kern="1200">
                <a:solidFill>
                  <a:schemeClr val="tx1"/>
                </a:solidFill>
                <a:effectLst/>
                <a:latin typeface="+mn-lt"/>
                <a:ea typeface="+mn-ea"/>
                <a:cs typeface="+mn-cs"/>
              </a:rPr>
              <a:t>        self.radiobtn2.setFont(QtGui.QFont("Sanserif", 13))</a:t>
            </a:r>
          </a:p>
          <a:p>
            <a:r>
              <a:rPr lang="en-US" sz="1200" b="0" i="0" kern="1200">
                <a:solidFill>
                  <a:schemeClr val="tx1"/>
                </a:solidFill>
                <a:effectLst/>
                <a:latin typeface="+mn-lt"/>
                <a:ea typeface="+mn-ea"/>
                <a:cs typeface="+mn-cs"/>
              </a:rPr>
              <a:t>        self.radiobtn2.toggled.connect(self.onRadioBtn)</a:t>
            </a:r>
          </a:p>
          <a:p>
            <a:r>
              <a:rPr lang="en-US" sz="1200" b="0" i="0" kern="1200">
                <a:solidFill>
                  <a:schemeClr val="tx1"/>
                </a:solidFill>
                <a:effectLst/>
                <a:latin typeface="+mn-lt"/>
                <a:ea typeface="+mn-ea"/>
                <a:cs typeface="+mn-cs"/>
              </a:rPr>
              <a:t>        hboxLayout.addWidget(self.radiobtn2)</a:t>
            </a:r>
          </a:p>
          <a:p>
            <a:r>
              <a:rPr lang="en-US" sz="1200" b="0" i="0" kern="1200">
                <a:solidFill>
                  <a:schemeClr val="tx1"/>
                </a:solidFill>
                <a:effectLst/>
                <a:latin typeface="+mn-lt"/>
                <a:ea typeface="+mn-ea"/>
                <a:cs typeface="+mn-cs"/>
              </a:rPr>
              <a:t>        self.radiobtn3 = QRadioButton("Tennis")</a:t>
            </a:r>
          </a:p>
          <a:p>
            <a:r>
              <a:rPr lang="en-US" sz="1200" b="0" i="0" kern="1200">
                <a:solidFill>
                  <a:schemeClr val="tx1"/>
                </a:solidFill>
                <a:effectLst/>
                <a:latin typeface="+mn-lt"/>
                <a:ea typeface="+mn-ea"/>
                <a:cs typeface="+mn-cs"/>
              </a:rPr>
              <a:t>        self.radiobtn3.setIcon(QtGui.QIcon("tennis.png"))</a:t>
            </a:r>
          </a:p>
          <a:p>
            <a:r>
              <a:rPr lang="en-US" sz="1200" b="0" i="0" kern="1200">
                <a:solidFill>
                  <a:schemeClr val="tx1"/>
                </a:solidFill>
                <a:effectLst/>
                <a:latin typeface="+mn-lt"/>
                <a:ea typeface="+mn-ea"/>
                <a:cs typeface="+mn-cs"/>
              </a:rPr>
              <a:t>        self.radiobtn3.setIconSize(QtCore.QSize(40, 40))</a:t>
            </a:r>
          </a:p>
          <a:p>
            <a:r>
              <a:rPr lang="en-US" sz="1200" b="0" i="0" kern="1200">
                <a:solidFill>
                  <a:schemeClr val="tx1"/>
                </a:solidFill>
                <a:effectLst/>
                <a:latin typeface="+mn-lt"/>
                <a:ea typeface="+mn-ea"/>
                <a:cs typeface="+mn-cs"/>
              </a:rPr>
              <a:t>        self.radiobtn3.setFont(QtGui.QFont("Sanserif", 13))</a:t>
            </a:r>
          </a:p>
          <a:p>
            <a:r>
              <a:rPr lang="en-US" sz="1200" b="0" i="0" kern="1200">
                <a:solidFill>
                  <a:schemeClr val="tx1"/>
                </a:solidFill>
                <a:effectLst/>
                <a:latin typeface="+mn-lt"/>
                <a:ea typeface="+mn-ea"/>
                <a:cs typeface="+mn-cs"/>
              </a:rPr>
              <a:t>        self.radiobtn3.toggled.connect(self.onRadioBtn)</a:t>
            </a:r>
          </a:p>
          <a:p>
            <a:r>
              <a:rPr lang="en-US" sz="1200" b="0" i="0" kern="1200">
                <a:solidFill>
                  <a:schemeClr val="tx1"/>
                </a:solidFill>
                <a:effectLst/>
                <a:latin typeface="+mn-lt"/>
                <a:ea typeface="+mn-ea"/>
                <a:cs typeface="+mn-cs"/>
              </a:rPr>
              <a:t>        hboxLayout.addWidget(self.radiobtn3)</a:t>
            </a:r>
          </a:p>
          <a:p>
            <a:r>
              <a:rPr lang="en-US" sz="1200" b="0" i="0" kern="1200">
                <a:solidFill>
                  <a:schemeClr val="tx1"/>
                </a:solidFill>
                <a:effectLst/>
                <a:latin typeface="+mn-lt"/>
                <a:ea typeface="+mn-ea"/>
                <a:cs typeface="+mn-cs"/>
              </a:rPr>
              <a:t>        self.groupBox.setLayout(hboxLayout)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onRadioBtn(self):</a:t>
            </a:r>
          </a:p>
          <a:p>
            <a:r>
              <a:rPr lang="en-US" sz="1200" b="0" i="0" kern="1200">
                <a:solidFill>
                  <a:schemeClr val="tx1"/>
                </a:solidFill>
                <a:effectLst/>
                <a:latin typeface="+mn-lt"/>
                <a:ea typeface="+mn-ea"/>
                <a:cs typeface="+mn-cs"/>
              </a:rPr>
              <a:t>        radioBtn = self.sender()</a:t>
            </a:r>
          </a:p>
          <a:p>
            <a:r>
              <a:rPr lang="en-US" sz="1200" b="0" i="0" kern="1200">
                <a:solidFill>
                  <a:schemeClr val="tx1"/>
                </a:solidFill>
                <a:effectLst/>
                <a:latin typeface="+mn-lt"/>
                <a:ea typeface="+mn-ea"/>
                <a:cs typeface="+mn-cs"/>
              </a:rPr>
              <a:t>        if radioBtn.isChecked():</a:t>
            </a:r>
          </a:p>
          <a:p>
            <a:r>
              <a:rPr lang="en-US" sz="1200" b="0" i="0" kern="1200">
                <a:solidFill>
                  <a:schemeClr val="tx1"/>
                </a:solidFill>
                <a:effectLst/>
                <a:latin typeface="+mn-lt"/>
                <a:ea typeface="+mn-ea"/>
                <a:cs typeface="+mn-cs"/>
              </a:rPr>
              <a:t>            self.label.setText("You Have Selected " + radioBtn.text())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26</a:t>
            </a:fld>
            <a:endParaRPr lang="en-US"/>
          </a:p>
        </p:txBody>
      </p:sp>
    </p:spTree>
    <p:extLst>
      <p:ext uri="{BB962C8B-B14F-4D97-AF65-F5344CB8AC3E}">
        <p14:creationId xmlns:p14="http://schemas.microsoft.com/office/powerpoint/2010/main" val="2123368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https://codeloop.org/pyqt5-creating-qcheckbox-with-signals/</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27</a:t>
            </a:fld>
            <a:endParaRPr lang="en-US"/>
          </a:p>
        </p:txBody>
      </p:sp>
    </p:spTree>
    <p:extLst>
      <p:ext uri="{BB962C8B-B14F-4D97-AF65-F5344CB8AC3E}">
        <p14:creationId xmlns:p14="http://schemas.microsoft.com/office/powerpoint/2010/main" val="359578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PyQt5.QtWidgets import QApplication, QDialog, QCheckBox, QHBoxLayout, QGroupBox, QVBoxLayout,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PyQt5.QtCore import QRect</a:t>
            </a:r>
          </a:p>
          <a:p>
            <a:r>
              <a:rPr lang="en-US" sz="1200" b="0" i="0" kern="1200">
                <a:solidFill>
                  <a:schemeClr val="tx1"/>
                </a:solidFill>
                <a:effectLst/>
                <a:latin typeface="+mn-lt"/>
                <a:ea typeface="+mn-ea"/>
                <a:cs typeface="+mn-cs"/>
              </a:rPr>
              <a:t>from PyQt5 import QtCore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self.title = "PyQt5 CheckBox"</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400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100</a:t>
            </a:r>
          </a:p>
          <a:p>
            <a:r>
              <a:rPr lang="en-US" sz="1200" b="0" i="0" kern="1200">
                <a:solidFill>
                  <a:schemeClr val="tx1"/>
                </a:solidFill>
                <a:effectLst/>
                <a:latin typeface="+mn-lt"/>
                <a:ea typeface="+mn-ea"/>
                <a:cs typeface="+mn-cs"/>
              </a:rPr>
              <a:t>        self.iconName = "icon.png"</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self.setWindowIcon(QtGui.QIcon(self.iconName))</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self.CreateLayout()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vbox.addWidget(self.groupBox)</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self.label = QLabel(self)</a:t>
            </a:r>
          </a:p>
          <a:p>
            <a:r>
              <a:rPr lang="en-US" sz="1200" b="0" i="0" kern="1200">
                <a:solidFill>
                  <a:schemeClr val="tx1"/>
                </a:solidFill>
                <a:effectLst/>
                <a:latin typeface="+mn-lt"/>
                <a:ea typeface="+mn-ea"/>
                <a:cs typeface="+mn-cs"/>
              </a:rPr>
              <a:t>        self.label.setFont(QtGui.QFont("Sanserif",15))</a:t>
            </a:r>
          </a:p>
          <a:p>
            <a:r>
              <a:rPr lang="en-US" sz="1200" b="0" i="0" kern="1200">
                <a:solidFill>
                  <a:schemeClr val="tx1"/>
                </a:solidFill>
                <a:effectLst/>
                <a:latin typeface="+mn-lt"/>
                <a:ea typeface="+mn-ea"/>
                <a:cs typeface="+mn-cs"/>
              </a:rPr>
              <a:t>        vbox.addWidget(self.label)</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CreateLayout(self):</a:t>
            </a:r>
          </a:p>
          <a:p>
            <a:r>
              <a:rPr lang="en-US" sz="1200" b="0" i="0" kern="1200">
                <a:solidFill>
                  <a:schemeClr val="tx1"/>
                </a:solidFill>
                <a:effectLst/>
                <a:latin typeface="+mn-lt"/>
                <a:ea typeface="+mn-ea"/>
                <a:cs typeface="+mn-cs"/>
              </a:rPr>
              <a:t>        self.groupBox = QGroupBox("What Is Your Favorite Programming Language ?")</a:t>
            </a:r>
          </a:p>
          <a:p>
            <a:r>
              <a:rPr lang="en-US" sz="1200" b="0" i="0" kern="1200">
                <a:solidFill>
                  <a:schemeClr val="tx1"/>
                </a:solidFill>
                <a:effectLst/>
                <a:latin typeface="+mn-lt"/>
                <a:ea typeface="+mn-ea"/>
                <a:cs typeface="+mn-cs"/>
              </a:rPr>
              <a:t>        self.groupBox.setFont(QtGui.QFont("Sanserif",13))</a:t>
            </a:r>
          </a:p>
          <a:p>
            <a:r>
              <a:rPr lang="en-US" sz="1200" b="0" i="0" kern="1200">
                <a:solidFill>
                  <a:schemeClr val="tx1"/>
                </a:solidFill>
                <a:effectLst/>
                <a:latin typeface="+mn-lt"/>
                <a:ea typeface="+mn-ea"/>
                <a:cs typeface="+mn-cs"/>
              </a:rPr>
              <a:t>        hboxLayout = QHBoxLayout()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self.check1 = QCheckBox("Python")</a:t>
            </a:r>
          </a:p>
          <a:p>
            <a:r>
              <a:rPr lang="en-US" sz="1200" b="0" i="0" kern="1200">
                <a:solidFill>
                  <a:schemeClr val="tx1"/>
                </a:solidFill>
                <a:effectLst/>
                <a:latin typeface="+mn-lt"/>
                <a:ea typeface="+mn-ea"/>
                <a:cs typeface="+mn-cs"/>
              </a:rPr>
              <a:t>        self.check1.setIcon(QtGui.QIcon("pythonicon.png"))</a:t>
            </a:r>
          </a:p>
          <a:p>
            <a:r>
              <a:rPr lang="en-US" sz="1200" b="0" i="0" kern="1200">
                <a:solidFill>
                  <a:schemeClr val="tx1"/>
                </a:solidFill>
                <a:effectLst/>
                <a:latin typeface="+mn-lt"/>
                <a:ea typeface="+mn-ea"/>
                <a:cs typeface="+mn-cs"/>
              </a:rPr>
              <a:t>        self.check1.setIconSize(QtCore.QSize(40,40))</a:t>
            </a:r>
          </a:p>
          <a:p>
            <a:r>
              <a:rPr lang="en-US" sz="1200" b="0" i="0" kern="1200">
                <a:solidFill>
                  <a:schemeClr val="tx1"/>
                </a:solidFill>
                <a:effectLst/>
                <a:latin typeface="+mn-lt"/>
                <a:ea typeface="+mn-ea"/>
                <a:cs typeface="+mn-cs"/>
              </a:rPr>
              <a:t>        self.check1.setFont(QtGui.QFont("Sanserif", 13))</a:t>
            </a:r>
          </a:p>
          <a:p>
            <a:r>
              <a:rPr lang="en-US" sz="1200" b="0" i="0" kern="1200">
                <a:solidFill>
                  <a:schemeClr val="tx1"/>
                </a:solidFill>
                <a:effectLst/>
                <a:latin typeface="+mn-lt"/>
                <a:ea typeface="+mn-ea"/>
                <a:cs typeface="+mn-cs"/>
              </a:rPr>
              <a:t>        self.check1.toggled.connect(self.onCheckbox_toggled)</a:t>
            </a:r>
          </a:p>
          <a:p>
            <a:r>
              <a:rPr lang="en-US" sz="1200" b="0" i="0" kern="1200">
                <a:solidFill>
                  <a:schemeClr val="tx1"/>
                </a:solidFill>
                <a:effectLst/>
                <a:latin typeface="+mn-lt"/>
                <a:ea typeface="+mn-ea"/>
                <a:cs typeface="+mn-cs"/>
              </a:rPr>
              <a:t>        hboxLayout.addWidget(self.check1)</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self.check2 = QCheckBox("Java")</a:t>
            </a:r>
          </a:p>
          <a:p>
            <a:r>
              <a:rPr lang="en-US" sz="1200" b="0" i="0" kern="1200">
                <a:solidFill>
                  <a:schemeClr val="tx1"/>
                </a:solidFill>
                <a:effectLst/>
                <a:latin typeface="+mn-lt"/>
                <a:ea typeface="+mn-ea"/>
                <a:cs typeface="+mn-cs"/>
              </a:rPr>
              <a:t>        self.check2.setIcon(QtGui.QIcon("java.png"))</a:t>
            </a:r>
          </a:p>
          <a:p>
            <a:r>
              <a:rPr lang="en-US" sz="1200" b="0" i="0" kern="1200">
                <a:solidFill>
                  <a:schemeClr val="tx1"/>
                </a:solidFill>
                <a:effectLst/>
                <a:latin typeface="+mn-lt"/>
                <a:ea typeface="+mn-ea"/>
                <a:cs typeface="+mn-cs"/>
              </a:rPr>
              <a:t>        self.check2.setIconSize(QtCore.QSize(40, 40))</a:t>
            </a:r>
          </a:p>
          <a:p>
            <a:r>
              <a:rPr lang="en-US" sz="1200" b="0" i="0" kern="1200">
                <a:solidFill>
                  <a:schemeClr val="tx1"/>
                </a:solidFill>
                <a:effectLst/>
                <a:latin typeface="+mn-lt"/>
                <a:ea typeface="+mn-ea"/>
                <a:cs typeface="+mn-cs"/>
              </a:rPr>
              <a:t>        self.check2.setFont(QtGui.QFont("Sanserif", 13))</a:t>
            </a:r>
          </a:p>
          <a:p>
            <a:r>
              <a:rPr lang="en-US" sz="1200" b="0" i="0" kern="1200">
                <a:solidFill>
                  <a:schemeClr val="tx1"/>
                </a:solidFill>
                <a:effectLst/>
                <a:latin typeface="+mn-lt"/>
                <a:ea typeface="+mn-ea"/>
                <a:cs typeface="+mn-cs"/>
              </a:rPr>
              <a:t>        self.check2.toggled.connect(self.onCheckbox_toggled)</a:t>
            </a:r>
          </a:p>
          <a:p>
            <a:r>
              <a:rPr lang="en-US" sz="1200" b="0" i="0" kern="1200">
                <a:solidFill>
                  <a:schemeClr val="tx1"/>
                </a:solidFill>
                <a:effectLst/>
                <a:latin typeface="+mn-lt"/>
                <a:ea typeface="+mn-ea"/>
                <a:cs typeface="+mn-cs"/>
              </a:rPr>
              <a:t>        hboxLayout.addWidget(self.check2)</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self.check3 = QCheckBox("C++")</a:t>
            </a:r>
          </a:p>
          <a:p>
            <a:r>
              <a:rPr lang="en-US" sz="1200" b="0" i="0" kern="1200">
                <a:solidFill>
                  <a:schemeClr val="tx1"/>
                </a:solidFill>
                <a:effectLst/>
                <a:latin typeface="+mn-lt"/>
                <a:ea typeface="+mn-ea"/>
                <a:cs typeface="+mn-cs"/>
              </a:rPr>
              <a:t>        self.check3.setIcon(QtGui.QIcon("cpp.png"))</a:t>
            </a:r>
          </a:p>
          <a:p>
            <a:r>
              <a:rPr lang="en-US" sz="1200" b="0" i="0" kern="1200">
                <a:solidFill>
                  <a:schemeClr val="tx1"/>
                </a:solidFill>
                <a:effectLst/>
                <a:latin typeface="+mn-lt"/>
                <a:ea typeface="+mn-ea"/>
                <a:cs typeface="+mn-cs"/>
              </a:rPr>
              <a:t>        self.check3.setIconSize(QtCore.QSize(40, 40))</a:t>
            </a:r>
          </a:p>
          <a:p>
            <a:r>
              <a:rPr lang="en-US" sz="1200" b="0" i="0" kern="1200">
                <a:solidFill>
                  <a:schemeClr val="tx1"/>
                </a:solidFill>
                <a:effectLst/>
                <a:latin typeface="+mn-lt"/>
                <a:ea typeface="+mn-ea"/>
                <a:cs typeface="+mn-cs"/>
              </a:rPr>
              <a:t>        self.check3.setFont(QtGui.QFont("Sanserif", 13))</a:t>
            </a:r>
          </a:p>
          <a:p>
            <a:r>
              <a:rPr lang="en-US" sz="1200" b="0" i="0" kern="1200">
                <a:solidFill>
                  <a:schemeClr val="tx1"/>
                </a:solidFill>
                <a:effectLst/>
                <a:latin typeface="+mn-lt"/>
                <a:ea typeface="+mn-ea"/>
                <a:cs typeface="+mn-cs"/>
              </a:rPr>
              <a:t>        self.check3.toggled.connect(self.onCheckbox_toggled)</a:t>
            </a:r>
          </a:p>
          <a:p>
            <a:r>
              <a:rPr lang="en-US" sz="1200" b="0" i="0" kern="1200">
                <a:solidFill>
                  <a:schemeClr val="tx1"/>
                </a:solidFill>
                <a:effectLst/>
                <a:latin typeface="+mn-lt"/>
                <a:ea typeface="+mn-ea"/>
                <a:cs typeface="+mn-cs"/>
              </a:rPr>
              <a:t>        hboxLayout.addWidget(self.check3)</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self.groupBox.setLayout(hboxLayout)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onCheckbox_toggled(self):</a:t>
            </a:r>
          </a:p>
          <a:p>
            <a:r>
              <a:rPr lang="en-US" sz="1200" b="0" i="0" kern="1200">
                <a:solidFill>
                  <a:schemeClr val="tx1"/>
                </a:solidFill>
                <a:effectLst/>
                <a:latin typeface="+mn-lt"/>
                <a:ea typeface="+mn-ea"/>
                <a:cs typeface="+mn-cs"/>
              </a:rPr>
              <a:t>        if self.check1.isChecked():</a:t>
            </a:r>
          </a:p>
          <a:p>
            <a:r>
              <a:rPr lang="en-US" sz="1200" b="0" i="0" kern="1200">
                <a:solidFill>
                  <a:schemeClr val="tx1"/>
                </a:solidFill>
                <a:effectLst/>
                <a:latin typeface="+mn-lt"/>
                <a:ea typeface="+mn-ea"/>
                <a:cs typeface="+mn-cs"/>
              </a:rPr>
              <a:t>            self.label.setText(" You Have Selected: " + self.check1.text())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if self.check2.isChecked():</a:t>
            </a:r>
          </a:p>
          <a:p>
            <a:r>
              <a:rPr lang="en-US" sz="1200" b="0" i="0" kern="1200">
                <a:solidFill>
                  <a:schemeClr val="tx1"/>
                </a:solidFill>
                <a:effectLst/>
                <a:latin typeface="+mn-lt"/>
                <a:ea typeface="+mn-ea"/>
                <a:cs typeface="+mn-cs"/>
              </a:rPr>
              <a:t>            self.label.setText("You Have Selected : " + self.check2.text())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if self.check3.isChecked():</a:t>
            </a:r>
          </a:p>
          <a:p>
            <a:r>
              <a:rPr lang="en-US" sz="1200" b="0" i="0" kern="1200">
                <a:solidFill>
                  <a:schemeClr val="tx1"/>
                </a:solidFill>
                <a:effectLst/>
                <a:latin typeface="+mn-lt"/>
                <a:ea typeface="+mn-ea"/>
                <a:cs typeface="+mn-cs"/>
              </a:rPr>
              <a:t>            self.label.setText("You Have Selected : " + self.check3.text())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30</a:t>
            </a:fld>
            <a:endParaRPr lang="en-US"/>
          </a:p>
        </p:txBody>
      </p:sp>
    </p:spTree>
    <p:extLst>
      <p:ext uri="{BB962C8B-B14F-4D97-AF65-F5344CB8AC3E}">
        <p14:creationId xmlns:p14="http://schemas.microsoft.com/office/powerpoint/2010/main" val="3281721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https://codeloop.org/pyqt5-creating-whatisthis-class-widget/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31</a:t>
            </a:fld>
            <a:endParaRPr lang="en-US"/>
          </a:p>
        </p:txBody>
      </p:sp>
    </p:spTree>
    <p:extLst>
      <p:ext uri="{BB962C8B-B14F-4D97-AF65-F5344CB8AC3E}">
        <p14:creationId xmlns:p14="http://schemas.microsoft.com/office/powerpoint/2010/main" val="1227686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QHBoxLayout, QLabel, QPushButton, QWhatsThis</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Whatisthis"</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label = QLabel("Focus And Press SHIFT + F1")</a:t>
            </a:r>
          </a:p>
          <a:p>
            <a:r>
              <a:rPr lang="en-US" sz="1200" b="0" i="0" kern="1200">
                <a:solidFill>
                  <a:schemeClr val="tx1"/>
                </a:solidFill>
                <a:effectLst/>
                <a:latin typeface="+mn-lt"/>
                <a:ea typeface="+mn-ea"/>
                <a:cs typeface="+mn-cs"/>
              </a:rPr>
              <a:t>        hbox.addWidget(label)</a:t>
            </a:r>
          </a:p>
          <a:p>
            <a:r>
              <a:rPr lang="en-US" sz="1200" b="0" i="0" kern="1200">
                <a:solidFill>
                  <a:schemeClr val="tx1"/>
                </a:solidFill>
                <a:effectLst/>
                <a:latin typeface="+mn-lt"/>
                <a:ea typeface="+mn-ea"/>
                <a:cs typeface="+mn-cs"/>
              </a:rPr>
              <a:t>        button = QPushButton("Click Me", self)</a:t>
            </a:r>
          </a:p>
          <a:p>
            <a:r>
              <a:rPr lang="en-US" sz="1200" b="0" i="0" kern="1200">
                <a:solidFill>
                  <a:schemeClr val="tx1"/>
                </a:solidFill>
                <a:effectLst/>
                <a:latin typeface="+mn-lt"/>
                <a:ea typeface="+mn-ea"/>
                <a:cs typeface="+mn-cs"/>
              </a:rPr>
              <a:t>        button.setWhatsThis("This is a button that you can click on this button")</a:t>
            </a:r>
          </a:p>
          <a:p>
            <a:r>
              <a:rPr lang="en-US" sz="1200" b="0" i="0" kern="1200">
                <a:solidFill>
                  <a:schemeClr val="tx1"/>
                </a:solidFill>
                <a:effectLst/>
                <a:latin typeface="+mn-lt"/>
                <a:ea typeface="+mn-ea"/>
                <a:cs typeface="+mn-cs"/>
              </a:rPr>
              <a:t>        hbox.addWidget(button)</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33</a:t>
            </a:fld>
            <a:endParaRPr lang="en-US"/>
          </a:p>
        </p:txBody>
      </p:sp>
    </p:spTree>
    <p:extLst>
      <p:ext uri="{BB962C8B-B14F-4D97-AF65-F5344CB8AC3E}">
        <p14:creationId xmlns:p14="http://schemas.microsoft.com/office/powerpoint/2010/main" val="3764980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https://codeloop.org/pyqt5-creating-qlineedit-with-returnpressed-signal/</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34</a:t>
            </a:fld>
            <a:endParaRPr lang="en-US"/>
          </a:p>
        </p:txBody>
      </p:sp>
    </p:spTree>
    <p:extLst>
      <p:ext uri="{BB962C8B-B14F-4D97-AF65-F5344CB8AC3E}">
        <p14:creationId xmlns:p14="http://schemas.microsoft.com/office/powerpoint/2010/main" val="3074742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QHBoxLayout, QLineEdit,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Window"</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self.lineedit = QLineEdit(self)</a:t>
            </a:r>
          </a:p>
          <a:p>
            <a:r>
              <a:rPr lang="en-US" sz="1200" b="0" i="0" kern="1200">
                <a:solidFill>
                  <a:schemeClr val="tx1"/>
                </a:solidFill>
                <a:effectLst/>
                <a:latin typeface="+mn-lt"/>
                <a:ea typeface="+mn-ea"/>
                <a:cs typeface="+mn-cs"/>
              </a:rPr>
              <a:t>        self.lineedit.setFont(QtGui.QFont("Sanserif", 15))</a:t>
            </a:r>
          </a:p>
          <a:p>
            <a:r>
              <a:rPr lang="en-US" sz="1200" b="0" i="0" kern="1200">
                <a:solidFill>
                  <a:schemeClr val="tx1"/>
                </a:solidFill>
                <a:effectLst/>
                <a:latin typeface="+mn-lt"/>
                <a:ea typeface="+mn-ea"/>
                <a:cs typeface="+mn-cs"/>
              </a:rPr>
              <a:t>        self.lineedit.returnPressed.connect(self.onPressed)</a:t>
            </a:r>
          </a:p>
          <a:p>
            <a:r>
              <a:rPr lang="en-US" sz="1200" b="0" i="0" kern="1200">
                <a:solidFill>
                  <a:schemeClr val="tx1"/>
                </a:solidFill>
                <a:effectLst/>
                <a:latin typeface="+mn-lt"/>
                <a:ea typeface="+mn-ea"/>
                <a:cs typeface="+mn-cs"/>
              </a:rPr>
              <a:t>        self.label = QLabel(self)</a:t>
            </a:r>
          </a:p>
          <a:p>
            <a:r>
              <a:rPr lang="en-US" sz="1200" b="0" i="0" kern="1200">
                <a:solidFill>
                  <a:schemeClr val="tx1"/>
                </a:solidFill>
                <a:effectLst/>
                <a:latin typeface="+mn-lt"/>
                <a:ea typeface="+mn-ea"/>
                <a:cs typeface="+mn-cs"/>
              </a:rPr>
              <a:t>        self.label.setFont(QtGui.QFont("Sanserif", 15))</a:t>
            </a:r>
          </a:p>
          <a:p>
            <a:r>
              <a:rPr lang="en-US" sz="1200" b="0" i="0" kern="1200">
                <a:solidFill>
                  <a:schemeClr val="tx1"/>
                </a:solidFill>
                <a:effectLst/>
                <a:latin typeface="+mn-lt"/>
                <a:ea typeface="+mn-ea"/>
                <a:cs typeface="+mn-cs"/>
              </a:rPr>
              <a:t>        hbox.addWidget(self.label)</a:t>
            </a:r>
          </a:p>
          <a:p>
            <a:r>
              <a:rPr lang="en-US" sz="1200" b="0" i="0" kern="1200">
                <a:solidFill>
                  <a:schemeClr val="tx1"/>
                </a:solidFill>
                <a:effectLst/>
                <a:latin typeface="+mn-lt"/>
                <a:ea typeface="+mn-ea"/>
                <a:cs typeface="+mn-cs"/>
              </a:rPr>
              <a:t>        hbox.addWidget(self.lineedit)</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onPressed(self):</a:t>
            </a:r>
          </a:p>
          <a:p>
            <a:r>
              <a:rPr lang="en-US" sz="1200" b="0" i="0" kern="1200">
                <a:solidFill>
                  <a:schemeClr val="tx1"/>
                </a:solidFill>
                <a:effectLst/>
                <a:latin typeface="+mn-lt"/>
                <a:ea typeface="+mn-ea"/>
                <a:cs typeface="+mn-cs"/>
              </a:rPr>
              <a:t>        self.label.setText(self.lineedit.text())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36</a:t>
            </a:fld>
            <a:endParaRPr lang="en-US"/>
          </a:p>
        </p:txBody>
      </p:sp>
    </p:spTree>
    <p:extLst>
      <p:ext uri="{BB962C8B-B14F-4D97-AF65-F5344CB8AC3E}">
        <p14:creationId xmlns:p14="http://schemas.microsoft.com/office/powerpoint/2010/main" val="3443985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https://codeloop.org/pyqt5-gui-how-to-create-qbuttongroup/</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37</a:t>
            </a:fld>
            <a:endParaRPr lang="en-US"/>
          </a:p>
        </p:txBody>
      </p:sp>
    </p:spTree>
    <p:extLst>
      <p:ext uri="{BB962C8B-B14F-4D97-AF65-F5344CB8AC3E}">
        <p14:creationId xmlns:p14="http://schemas.microsoft.com/office/powerpoint/2010/main" val="421539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QHBoxLayout, QLabel, QPushButton,QButtonGroup</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 import QtCore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QButton Group"</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self.label = QLabel(self)</a:t>
            </a:r>
          </a:p>
          <a:p>
            <a:r>
              <a:rPr lang="en-US" sz="1200" b="0" i="0" kern="1200">
                <a:solidFill>
                  <a:schemeClr val="tx1"/>
                </a:solidFill>
                <a:effectLst/>
                <a:latin typeface="+mn-lt"/>
                <a:ea typeface="+mn-ea"/>
                <a:cs typeface="+mn-cs"/>
              </a:rPr>
              <a:t>        self.label.setFont(QtGui.QFont("Sanserif", 15))</a:t>
            </a:r>
          </a:p>
          <a:p>
            <a:r>
              <a:rPr lang="en-US" sz="1200" b="0" i="0" kern="1200">
                <a:solidFill>
                  <a:schemeClr val="tx1"/>
                </a:solidFill>
                <a:effectLst/>
                <a:latin typeface="+mn-lt"/>
                <a:ea typeface="+mn-ea"/>
                <a:cs typeface="+mn-cs"/>
              </a:rPr>
              <a:t>        hbox.addWidget(self.label)</a:t>
            </a:r>
          </a:p>
          <a:p>
            <a:r>
              <a:rPr lang="en-US" sz="1200" b="0" i="0" kern="1200">
                <a:solidFill>
                  <a:schemeClr val="tx1"/>
                </a:solidFill>
                <a:effectLst/>
                <a:latin typeface="+mn-lt"/>
                <a:ea typeface="+mn-ea"/>
                <a:cs typeface="+mn-cs"/>
              </a:rPr>
              <a:t>        self.buttongroup = QButtonGroup()</a:t>
            </a:r>
          </a:p>
          <a:p>
            <a:r>
              <a:rPr lang="en-US" sz="1200" b="0" i="0" kern="1200">
                <a:solidFill>
                  <a:schemeClr val="tx1"/>
                </a:solidFill>
                <a:effectLst/>
                <a:latin typeface="+mn-lt"/>
                <a:ea typeface="+mn-ea"/>
                <a:cs typeface="+mn-cs"/>
              </a:rPr>
              <a:t>        #self.buttongroup.setExclusive(False)</a:t>
            </a:r>
          </a:p>
          <a:p>
            <a:r>
              <a:rPr lang="en-US" sz="1200" b="0" i="0" kern="1200">
                <a:solidFill>
                  <a:schemeClr val="tx1"/>
                </a:solidFill>
                <a:effectLst/>
                <a:latin typeface="+mn-lt"/>
                <a:ea typeface="+mn-ea"/>
                <a:cs typeface="+mn-cs"/>
              </a:rPr>
              <a:t>        self.buttongroup.buttonClicked[int].connect(self.on_button_clicked)</a:t>
            </a:r>
          </a:p>
          <a:p>
            <a:r>
              <a:rPr lang="en-US" sz="1200" b="0" i="0" kern="1200">
                <a:solidFill>
                  <a:schemeClr val="tx1"/>
                </a:solidFill>
                <a:effectLst/>
                <a:latin typeface="+mn-lt"/>
                <a:ea typeface="+mn-ea"/>
                <a:cs typeface="+mn-cs"/>
              </a:rPr>
              <a:t>        button = QPushButton("Python")</a:t>
            </a:r>
          </a:p>
          <a:p>
            <a:r>
              <a:rPr lang="en-US" sz="1200" b="0" i="0" kern="1200">
                <a:solidFill>
                  <a:schemeClr val="tx1"/>
                </a:solidFill>
                <a:effectLst/>
                <a:latin typeface="+mn-lt"/>
                <a:ea typeface="+mn-ea"/>
                <a:cs typeface="+mn-cs"/>
              </a:rPr>
              <a:t>        self.buttongroup.addButton(button, 1)</a:t>
            </a:r>
          </a:p>
          <a:p>
            <a:r>
              <a:rPr lang="en-US" sz="1200" b="0" i="0" kern="1200">
                <a:solidFill>
                  <a:schemeClr val="tx1"/>
                </a:solidFill>
                <a:effectLst/>
                <a:latin typeface="+mn-lt"/>
                <a:ea typeface="+mn-ea"/>
                <a:cs typeface="+mn-cs"/>
              </a:rPr>
              <a:t>        button.setFont(QtGui.QFont("Sanserif", 15))</a:t>
            </a:r>
          </a:p>
          <a:p>
            <a:r>
              <a:rPr lang="en-US" sz="1200" b="0" i="0" kern="1200">
                <a:solidFill>
                  <a:schemeClr val="tx1"/>
                </a:solidFill>
                <a:effectLst/>
                <a:latin typeface="+mn-lt"/>
                <a:ea typeface="+mn-ea"/>
                <a:cs typeface="+mn-cs"/>
              </a:rPr>
              <a:t>        button.setIcon(QtGui.QIcon("pythonicon.png"))</a:t>
            </a:r>
          </a:p>
          <a:p>
            <a:r>
              <a:rPr lang="en-US" sz="1200" b="0" i="0" kern="1200">
                <a:solidFill>
                  <a:schemeClr val="tx1"/>
                </a:solidFill>
                <a:effectLst/>
                <a:latin typeface="+mn-lt"/>
                <a:ea typeface="+mn-ea"/>
                <a:cs typeface="+mn-cs"/>
              </a:rPr>
              <a:t>        button.setIconSize(QtCore.QSize(40, 40))</a:t>
            </a:r>
          </a:p>
          <a:p>
            <a:r>
              <a:rPr lang="en-US" sz="1200" b="0" i="0" kern="1200">
                <a:solidFill>
                  <a:schemeClr val="tx1"/>
                </a:solidFill>
                <a:effectLst/>
                <a:latin typeface="+mn-lt"/>
                <a:ea typeface="+mn-ea"/>
                <a:cs typeface="+mn-cs"/>
              </a:rPr>
              <a:t>        hbox.addWidget(button)</a:t>
            </a:r>
          </a:p>
          <a:p>
            <a:r>
              <a:rPr lang="en-US" sz="1200" b="0" i="0" kern="1200">
                <a:solidFill>
                  <a:schemeClr val="tx1"/>
                </a:solidFill>
                <a:effectLst/>
                <a:latin typeface="+mn-lt"/>
                <a:ea typeface="+mn-ea"/>
                <a:cs typeface="+mn-cs"/>
              </a:rPr>
              <a:t>        button = QPushButton("Java")</a:t>
            </a:r>
          </a:p>
          <a:p>
            <a:r>
              <a:rPr lang="en-US" sz="1200" b="0" i="0" kern="1200">
                <a:solidFill>
                  <a:schemeClr val="tx1"/>
                </a:solidFill>
                <a:effectLst/>
                <a:latin typeface="+mn-lt"/>
                <a:ea typeface="+mn-ea"/>
                <a:cs typeface="+mn-cs"/>
              </a:rPr>
              <a:t>        self.buttongroup.addButton(button, 2)</a:t>
            </a:r>
          </a:p>
          <a:p>
            <a:r>
              <a:rPr lang="en-US" sz="1200" b="0" i="0" kern="1200">
                <a:solidFill>
                  <a:schemeClr val="tx1"/>
                </a:solidFill>
                <a:effectLst/>
                <a:latin typeface="+mn-lt"/>
                <a:ea typeface="+mn-ea"/>
                <a:cs typeface="+mn-cs"/>
              </a:rPr>
              <a:t>        button.setFont(QtGui.QFont("Sanserif", 15))</a:t>
            </a:r>
          </a:p>
          <a:p>
            <a:r>
              <a:rPr lang="en-US" sz="1200" b="0" i="0" kern="1200">
                <a:solidFill>
                  <a:schemeClr val="tx1"/>
                </a:solidFill>
                <a:effectLst/>
                <a:latin typeface="+mn-lt"/>
                <a:ea typeface="+mn-ea"/>
                <a:cs typeface="+mn-cs"/>
              </a:rPr>
              <a:t>        button.setIcon(QtGui.QIcon("java.png"))</a:t>
            </a:r>
          </a:p>
          <a:p>
            <a:r>
              <a:rPr lang="en-US" sz="1200" b="0" i="0" kern="1200">
                <a:solidFill>
                  <a:schemeClr val="tx1"/>
                </a:solidFill>
                <a:effectLst/>
                <a:latin typeface="+mn-lt"/>
                <a:ea typeface="+mn-ea"/>
                <a:cs typeface="+mn-cs"/>
              </a:rPr>
              <a:t>        button.setIconSize(QtCore.QSize(40,40))</a:t>
            </a:r>
          </a:p>
          <a:p>
            <a:r>
              <a:rPr lang="en-US" sz="1200" b="0" i="0" kern="1200">
                <a:solidFill>
                  <a:schemeClr val="tx1"/>
                </a:solidFill>
                <a:effectLst/>
                <a:latin typeface="+mn-lt"/>
                <a:ea typeface="+mn-ea"/>
                <a:cs typeface="+mn-cs"/>
              </a:rPr>
              <a:t>        hbox.addWidget(button)</a:t>
            </a:r>
          </a:p>
          <a:p>
            <a:r>
              <a:rPr lang="en-US" sz="1200" b="0" i="0" kern="1200">
                <a:solidFill>
                  <a:schemeClr val="tx1"/>
                </a:solidFill>
                <a:effectLst/>
                <a:latin typeface="+mn-lt"/>
                <a:ea typeface="+mn-ea"/>
                <a:cs typeface="+mn-cs"/>
              </a:rPr>
              <a:t>        button = QPushButton("C++")</a:t>
            </a:r>
          </a:p>
          <a:p>
            <a:r>
              <a:rPr lang="en-US" sz="1200" b="0" i="0" kern="1200">
                <a:solidFill>
                  <a:schemeClr val="tx1"/>
                </a:solidFill>
                <a:effectLst/>
                <a:latin typeface="+mn-lt"/>
                <a:ea typeface="+mn-ea"/>
                <a:cs typeface="+mn-cs"/>
              </a:rPr>
              <a:t>        self.buttongroup.addButton(button, 3)</a:t>
            </a:r>
          </a:p>
          <a:p>
            <a:r>
              <a:rPr lang="en-US" sz="1200" b="0" i="0" kern="1200">
                <a:solidFill>
                  <a:schemeClr val="tx1"/>
                </a:solidFill>
                <a:effectLst/>
                <a:latin typeface="+mn-lt"/>
                <a:ea typeface="+mn-ea"/>
                <a:cs typeface="+mn-cs"/>
              </a:rPr>
              <a:t>        button.setFont(QtGui.QFont("Sanserif", 15))</a:t>
            </a:r>
          </a:p>
          <a:p>
            <a:r>
              <a:rPr lang="en-US" sz="1200" b="0" i="0" kern="1200">
                <a:solidFill>
                  <a:schemeClr val="tx1"/>
                </a:solidFill>
                <a:effectLst/>
                <a:latin typeface="+mn-lt"/>
                <a:ea typeface="+mn-ea"/>
                <a:cs typeface="+mn-cs"/>
              </a:rPr>
              <a:t>        button.setIcon(QtGui.QIcon("cpp.png"))</a:t>
            </a:r>
          </a:p>
          <a:p>
            <a:r>
              <a:rPr lang="en-US" sz="1200" b="0" i="0" kern="1200">
                <a:solidFill>
                  <a:schemeClr val="tx1"/>
                </a:solidFill>
                <a:effectLst/>
                <a:latin typeface="+mn-lt"/>
                <a:ea typeface="+mn-ea"/>
                <a:cs typeface="+mn-cs"/>
              </a:rPr>
              <a:t>        button.setIconSize(QtCore.QSize(40, 40))</a:t>
            </a:r>
          </a:p>
          <a:p>
            <a:r>
              <a:rPr lang="en-US" sz="1200" b="0" i="0" kern="1200">
                <a:solidFill>
                  <a:schemeClr val="tx1"/>
                </a:solidFill>
                <a:effectLst/>
                <a:latin typeface="+mn-lt"/>
                <a:ea typeface="+mn-ea"/>
                <a:cs typeface="+mn-cs"/>
              </a:rPr>
              <a:t>        hbox.addWidget(button)</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on_button_clicked(self, id):</a:t>
            </a:r>
          </a:p>
          <a:p>
            <a:r>
              <a:rPr lang="en-US" sz="1200" b="0" i="0" kern="1200">
                <a:solidFill>
                  <a:schemeClr val="tx1"/>
                </a:solidFill>
                <a:effectLst/>
                <a:latin typeface="+mn-lt"/>
                <a:ea typeface="+mn-ea"/>
                <a:cs typeface="+mn-cs"/>
              </a:rPr>
              <a:t>        for button in self.buttongroup.buttons():</a:t>
            </a:r>
          </a:p>
          <a:p>
            <a:r>
              <a:rPr lang="en-US" sz="1200" b="0" i="0" kern="1200">
                <a:solidFill>
                  <a:schemeClr val="tx1"/>
                </a:solidFill>
                <a:effectLst/>
                <a:latin typeface="+mn-lt"/>
                <a:ea typeface="+mn-ea"/>
                <a:cs typeface="+mn-cs"/>
              </a:rPr>
              <a:t>            if button is self.buttongroup.button(id):</a:t>
            </a:r>
          </a:p>
          <a:p>
            <a:r>
              <a:rPr lang="en-US" sz="1200" b="0" i="0" kern="1200">
                <a:solidFill>
                  <a:schemeClr val="tx1"/>
                </a:solidFill>
                <a:effectLst/>
                <a:latin typeface="+mn-lt"/>
                <a:ea typeface="+mn-ea"/>
                <a:cs typeface="+mn-cs"/>
              </a:rPr>
              <a:t>                self.label.setText(button.text() + " Was Clicked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38</a:t>
            </a:fld>
            <a:endParaRPr lang="en-US"/>
          </a:p>
        </p:txBody>
      </p:sp>
    </p:spTree>
    <p:extLst>
      <p:ext uri="{BB962C8B-B14F-4D97-AF65-F5344CB8AC3E}">
        <p14:creationId xmlns:p14="http://schemas.microsoft.com/office/powerpoint/2010/main" val="1857561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https://codeloop.org/pyqt5-gui-creating-qgroupbox-in-pyqt/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39</a:t>
            </a:fld>
            <a:endParaRPr lang="en-US"/>
          </a:p>
        </p:txBody>
      </p:sp>
    </p:spTree>
    <p:extLst>
      <p:ext uri="{BB962C8B-B14F-4D97-AF65-F5344CB8AC3E}">
        <p14:creationId xmlns:p14="http://schemas.microsoft.com/office/powerpoint/2010/main" val="6022311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QHBoxLayout, QRadioButton, QGroupBox, QVBoxLayout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QGroup Box"</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groupbox = QGroupBox("Select Your Favorite Fruit ")</a:t>
            </a:r>
          </a:p>
          <a:p>
            <a:r>
              <a:rPr lang="en-US" sz="1200" b="0" i="0" kern="1200">
                <a:solidFill>
                  <a:schemeClr val="tx1"/>
                </a:solidFill>
                <a:effectLst/>
                <a:latin typeface="+mn-lt"/>
                <a:ea typeface="+mn-ea"/>
                <a:cs typeface="+mn-cs"/>
              </a:rPr>
              <a:t>        groupbox.setFont(QtGui.QFont("Sanserif", 15))</a:t>
            </a:r>
          </a:p>
          <a:p>
            <a:r>
              <a:rPr lang="en-US" sz="1200" b="0" i="0" kern="1200">
                <a:solidFill>
                  <a:schemeClr val="tx1"/>
                </a:solidFill>
                <a:effectLst/>
                <a:latin typeface="+mn-lt"/>
                <a:ea typeface="+mn-ea"/>
                <a:cs typeface="+mn-cs"/>
              </a:rPr>
              <a:t>        hbox.addWidget(groupbox)</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rad1 = QRadioButton("Apple")</a:t>
            </a:r>
          </a:p>
          <a:p>
            <a:r>
              <a:rPr lang="en-US" sz="1200" b="0" i="0" kern="1200">
                <a:solidFill>
                  <a:schemeClr val="tx1"/>
                </a:solidFill>
                <a:effectLst/>
                <a:latin typeface="+mn-lt"/>
                <a:ea typeface="+mn-ea"/>
                <a:cs typeface="+mn-cs"/>
              </a:rPr>
              <a:t>        vbox.addWidget(rad1)</a:t>
            </a:r>
          </a:p>
          <a:p>
            <a:r>
              <a:rPr lang="en-US" sz="1200" b="0" i="0" kern="1200">
                <a:solidFill>
                  <a:schemeClr val="tx1"/>
                </a:solidFill>
                <a:effectLst/>
                <a:latin typeface="+mn-lt"/>
                <a:ea typeface="+mn-ea"/>
                <a:cs typeface="+mn-cs"/>
              </a:rPr>
              <a:t>        rad2 = QRadioButton("Banana")</a:t>
            </a:r>
          </a:p>
          <a:p>
            <a:r>
              <a:rPr lang="en-US" sz="1200" b="0" i="0" kern="1200">
                <a:solidFill>
                  <a:schemeClr val="tx1"/>
                </a:solidFill>
                <a:effectLst/>
                <a:latin typeface="+mn-lt"/>
                <a:ea typeface="+mn-ea"/>
                <a:cs typeface="+mn-cs"/>
              </a:rPr>
              <a:t>        vbox.addWidget(rad2)</a:t>
            </a:r>
          </a:p>
          <a:p>
            <a:r>
              <a:rPr lang="en-US" sz="1200" b="0" i="0" kern="1200">
                <a:solidFill>
                  <a:schemeClr val="tx1"/>
                </a:solidFill>
                <a:effectLst/>
                <a:latin typeface="+mn-lt"/>
                <a:ea typeface="+mn-ea"/>
                <a:cs typeface="+mn-cs"/>
              </a:rPr>
              <a:t>        rad3 = QRadioButton("Melon")</a:t>
            </a:r>
          </a:p>
          <a:p>
            <a:r>
              <a:rPr lang="en-US" sz="1200" b="0" i="0" kern="1200">
                <a:solidFill>
                  <a:schemeClr val="tx1"/>
                </a:solidFill>
                <a:effectLst/>
                <a:latin typeface="+mn-lt"/>
                <a:ea typeface="+mn-ea"/>
                <a:cs typeface="+mn-cs"/>
              </a:rPr>
              <a:t>        vbox.addWidget(rad3)</a:t>
            </a:r>
          </a:p>
          <a:p>
            <a:r>
              <a:rPr lang="en-US" sz="1200" b="0" i="0" kern="1200">
                <a:solidFill>
                  <a:schemeClr val="tx1"/>
                </a:solidFill>
                <a:effectLst/>
                <a:latin typeface="+mn-lt"/>
                <a:ea typeface="+mn-ea"/>
                <a:cs typeface="+mn-cs"/>
              </a:rPr>
              <a:t>        groupbox.setLayout(vbox)</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40</a:t>
            </a:fld>
            <a:endParaRPr lang="en-US"/>
          </a:p>
        </p:txBody>
      </p:sp>
    </p:spTree>
    <p:extLst>
      <p:ext uri="{BB962C8B-B14F-4D97-AF65-F5344CB8AC3E}">
        <p14:creationId xmlns:p14="http://schemas.microsoft.com/office/powerpoint/2010/main" val="269692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https://codeloop.org/how-to-create-frameless-window-in-pyqt5/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41</a:t>
            </a:fld>
            <a:endParaRPr lang="en-US"/>
          </a:p>
        </p:txBody>
      </p:sp>
    </p:spTree>
    <p:extLst>
      <p:ext uri="{BB962C8B-B14F-4D97-AF65-F5344CB8AC3E}">
        <p14:creationId xmlns:p14="http://schemas.microsoft.com/office/powerpoint/2010/main" val="37680269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QVBoxLayout, QSizeGrip</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Size Grip"</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640</a:t>
            </a:r>
          </a:p>
          <a:p>
            <a:r>
              <a:rPr lang="en-US" sz="1200" b="0" i="0" kern="1200">
                <a:solidFill>
                  <a:schemeClr val="tx1"/>
                </a:solidFill>
                <a:effectLst/>
                <a:latin typeface="+mn-lt"/>
                <a:ea typeface="+mn-ea"/>
                <a:cs typeface="+mn-cs"/>
              </a:rPr>
              <a:t>        self.height = 480</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flags = QtCore.Qt.WindowFlags(QtCore.Qt.FramelessWindowHint | QtCore.Qt.WindowStaysOnTopHint)</a:t>
            </a:r>
          </a:p>
          <a:p>
            <a:r>
              <a:rPr lang="en-US" sz="1200" b="0" i="0" kern="1200">
                <a:solidFill>
                  <a:schemeClr val="tx1"/>
                </a:solidFill>
                <a:effectLst/>
                <a:latin typeface="+mn-lt"/>
                <a:ea typeface="+mn-ea"/>
                <a:cs typeface="+mn-cs"/>
              </a:rPr>
              <a:t>        self.setWindowFlags(flags)</a:t>
            </a:r>
          </a:p>
          <a:p>
            <a:r>
              <a:rPr lang="en-US" sz="1200" b="0" i="0" kern="1200">
                <a:solidFill>
                  <a:schemeClr val="tx1"/>
                </a:solidFill>
                <a:effectLst/>
                <a:latin typeface="+mn-lt"/>
                <a:ea typeface="+mn-ea"/>
                <a:cs typeface="+mn-cs"/>
              </a:rPr>
              <a:t>        vboxlayout = QVBoxLayout()</a:t>
            </a:r>
          </a:p>
          <a:p>
            <a:r>
              <a:rPr lang="en-US" sz="1200" b="0" i="0" kern="1200">
                <a:solidFill>
                  <a:schemeClr val="tx1"/>
                </a:solidFill>
                <a:effectLst/>
                <a:latin typeface="+mn-lt"/>
                <a:ea typeface="+mn-ea"/>
                <a:cs typeface="+mn-cs"/>
              </a:rPr>
              <a:t>        sizegrip = QSizeGrip(self)</a:t>
            </a:r>
          </a:p>
          <a:p>
            <a:r>
              <a:rPr lang="en-US" sz="1200" b="0" i="0" kern="1200">
                <a:solidFill>
                  <a:schemeClr val="tx1"/>
                </a:solidFill>
                <a:effectLst/>
                <a:latin typeface="+mn-lt"/>
                <a:ea typeface="+mn-ea"/>
                <a:cs typeface="+mn-cs"/>
              </a:rPr>
              <a:t>        #sizegrip.setVisible(True)</a:t>
            </a:r>
          </a:p>
          <a:p>
            <a:r>
              <a:rPr lang="en-US" sz="1200" b="0" i="0" kern="1200">
                <a:solidFill>
                  <a:schemeClr val="tx1"/>
                </a:solidFill>
                <a:effectLst/>
                <a:latin typeface="+mn-lt"/>
                <a:ea typeface="+mn-ea"/>
                <a:cs typeface="+mn-cs"/>
              </a:rPr>
              <a:t>        vboxlayout.addWidget(sizegrip)</a:t>
            </a:r>
          </a:p>
          <a:p>
            <a:r>
              <a:rPr lang="en-US" sz="1200" b="0" i="0" kern="1200">
                <a:solidFill>
                  <a:schemeClr val="tx1"/>
                </a:solidFill>
                <a:effectLst/>
                <a:latin typeface="+mn-lt"/>
                <a:ea typeface="+mn-ea"/>
                <a:cs typeface="+mn-cs"/>
              </a:rPr>
              <a:t>        self.setLayout(vboxlayout)</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if __name__ == "__main__":</a:t>
            </a:r>
          </a:p>
          <a:p>
            <a:r>
              <a:rPr lang="en-US" sz="1200" b="0" i="0" kern="1200">
                <a:solidFill>
                  <a:schemeClr val="tx1"/>
                </a:solidFill>
                <a:effectLst/>
                <a:latin typeface="+mn-lt"/>
                <a:ea typeface="+mn-ea"/>
                <a:cs typeface="+mn-cs"/>
              </a:rPr>
              <a:t>    App = QApplication(sys.argv)</a:t>
            </a:r>
          </a:p>
          <a:p>
            <a:r>
              <a:rPr lang="en-US" sz="1200" b="0" i="0" kern="1200">
                <a:solidFill>
                  <a:schemeClr val="tx1"/>
                </a:solidFill>
                <a:effectLst/>
                <a:latin typeface="+mn-lt"/>
                <a:ea typeface="+mn-ea"/>
                <a:cs typeface="+mn-cs"/>
              </a:rPr>
              <a:t>    window = Window()</a:t>
            </a:r>
          </a:p>
          <a:p>
            <a:r>
              <a:rPr lang="en-US" sz="1200" b="0" i="0" kern="1200">
                <a:solidFill>
                  <a:schemeClr val="tx1"/>
                </a:solidFill>
                <a:effectLst/>
                <a:latin typeface="+mn-lt"/>
                <a:ea typeface="+mn-ea"/>
                <a:cs typeface="+mn-cs"/>
              </a:rPr>
              <a:t>    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42</a:t>
            </a:fld>
            <a:endParaRPr lang="en-US"/>
          </a:p>
        </p:txBody>
      </p:sp>
    </p:spTree>
    <p:extLst>
      <p:ext uri="{BB962C8B-B14F-4D97-AF65-F5344CB8AC3E}">
        <p14:creationId xmlns:p14="http://schemas.microsoft.com/office/powerpoint/2010/main" val="2188189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https://codeloop.org/how-to-create-frame-in-pyqt5-qframe/</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43</a:t>
            </a:fld>
            <a:endParaRPr lang="en-US"/>
          </a:p>
        </p:txBody>
      </p:sp>
    </p:spTree>
    <p:extLst>
      <p:ext uri="{BB962C8B-B14F-4D97-AF65-F5344CB8AC3E}">
        <p14:creationId xmlns:p14="http://schemas.microsoft.com/office/powerpoint/2010/main" val="22692364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QFrame, QHBoxLayout, QPushButton</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Frame"</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self.setStyleSheet('background-color:brown')</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btn1 = QPushButton( "Click Me")</a:t>
            </a:r>
          </a:p>
          <a:p>
            <a:r>
              <a:rPr lang="en-US" sz="1200" b="0" i="0" kern="1200">
                <a:solidFill>
                  <a:schemeClr val="tx1"/>
                </a:solidFill>
                <a:effectLst/>
                <a:latin typeface="+mn-lt"/>
                <a:ea typeface="+mn-ea"/>
                <a:cs typeface="+mn-cs"/>
              </a:rPr>
              <a:t>        btn1.setStyleSheet("color:white")</a:t>
            </a:r>
          </a:p>
          <a:p>
            <a:r>
              <a:rPr lang="en-US" sz="1200" b="0" i="0" kern="1200">
                <a:solidFill>
                  <a:schemeClr val="tx1"/>
                </a:solidFill>
                <a:effectLst/>
                <a:latin typeface="+mn-lt"/>
                <a:ea typeface="+mn-ea"/>
                <a:cs typeface="+mn-cs"/>
              </a:rPr>
              <a:t>        btn1.setStyleSheet("background-color:green")</a:t>
            </a:r>
          </a:p>
          <a:p>
            <a:r>
              <a:rPr lang="en-US" sz="1200" b="0" i="0" kern="1200">
                <a:solidFill>
                  <a:schemeClr val="tx1"/>
                </a:solidFill>
                <a:effectLst/>
                <a:latin typeface="+mn-lt"/>
                <a:ea typeface="+mn-ea"/>
                <a:cs typeface="+mn-cs"/>
              </a:rPr>
              <a:t>        frame =QFrame(self)</a:t>
            </a:r>
          </a:p>
          <a:p>
            <a:r>
              <a:rPr lang="en-US" sz="1200" b="0" i="0" kern="1200">
                <a:solidFill>
                  <a:schemeClr val="tx1"/>
                </a:solidFill>
                <a:effectLst/>
                <a:latin typeface="+mn-lt"/>
                <a:ea typeface="+mn-ea"/>
                <a:cs typeface="+mn-cs"/>
              </a:rPr>
              <a:t>        frame.setFrameShape(QFrame.StyledPanel)</a:t>
            </a:r>
          </a:p>
          <a:p>
            <a:r>
              <a:rPr lang="en-US" sz="1200" b="0" i="0" kern="1200">
                <a:solidFill>
                  <a:schemeClr val="tx1"/>
                </a:solidFill>
                <a:effectLst/>
                <a:latin typeface="+mn-lt"/>
                <a:ea typeface="+mn-ea"/>
                <a:cs typeface="+mn-cs"/>
              </a:rPr>
              <a:t>        frame.setLineWidth(0.6)</a:t>
            </a:r>
          </a:p>
          <a:p>
            <a:r>
              <a:rPr lang="en-US" sz="1200" b="0" i="0" kern="1200">
                <a:solidFill>
                  <a:schemeClr val="tx1"/>
                </a:solidFill>
                <a:effectLst/>
                <a:latin typeface="+mn-lt"/>
                <a:ea typeface="+mn-ea"/>
                <a:cs typeface="+mn-cs"/>
              </a:rPr>
              <a:t>        hbox.addWidget(frame)</a:t>
            </a:r>
          </a:p>
          <a:p>
            <a:r>
              <a:rPr lang="en-US" sz="1200" b="0" i="0" kern="1200">
                <a:solidFill>
                  <a:schemeClr val="tx1"/>
                </a:solidFill>
                <a:effectLst/>
                <a:latin typeface="+mn-lt"/>
                <a:ea typeface="+mn-ea"/>
                <a:cs typeface="+mn-cs"/>
              </a:rPr>
              <a:t>        hbox.addWidget(btn1)</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44</a:t>
            </a:fld>
            <a:endParaRPr lang="en-US"/>
          </a:p>
        </p:txBody>
      </p:sp>
    </p:spTree>
    <p:extLst>
      <p:ext uri="{BB962C8B-B14F-4D97-AF65-F5344CB8AC3E}">
        <p14:creationId xmlns:p14="http://schemas.microsoft.com/office/powerpoint/2010/main" val="9078672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https://codeloop.org/what-is-pyqt5-qsplitter-with-practical-example-python-gui-development/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45</a:t>
            </a:fld>
            <a:endParaRPr lang="en-US"/>
          </a:p>
        </p:txBody>
      </p:sp>
    </p:spTree>
    <p:extLst>
      <p:ext uri="{BB962C8B-B14F-4D97-AF65-F5344CB8AC3E}">
        <p14:creationId xmlns:p14="http://schemas.microsoft.com/office/powerpoint/2010/main" val="27765921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QFrame, QLineEdit, QHBoxLayout, QSplitter</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PyQt5.QtCore import Qt</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Splitter"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left = QFrame()</a:t>
            </a:r>
          </a:p>
          <a:p>
            <a:r>
              <a:rPr lang="en-US" sz="1200" b="0" i="0" kern="1200">
                <a:solidFill>
                  <a:schemeClr val="tx1"/>
                </a:solidFill>
                <a:effectLst/>
                <a:latin typeface="+mn-lt"/>
                <a:ea typeface="+mn-ea"/>
                <a:cs typeface="+mn-cs"/>
              </a:rPr>
              <a:t>        left.setFrameShape(QFrame.StyledPanel)</a:t>
            </a:r>
          </a:p>
          <a:p>
            <a:r>
              <a:rPr lang="en-US" sz="1200" b="0" i="0" kern="1200">
                <a:solidFill>
                  <a:schemeClr val="tx1"/>
                </a:solidFill>
                <a:effectLst/>
                <a:latin typeface="+mn-lt"/>
                <a:ea typeface="+mn-ea"/>
                <a:cs typeface="+mn-cs"/>
              </a:rPr>
              <a:t>        bottom = QFrame()</a:t>
            </a:r>
          </a:p>
          <a:p>
            <a:r>
              <a:rPr lang="en-US" sz="1200" b="0" i="0" kern="1200">
                <a:solidFill>
                  <a:schemeClr val="tx1"/>
                </a:solidFill>
                <a:effectLst/>
                <a:latin typeface="+mn-lt"/>
                <a:ea typeface="+mn-ea"/>
                <a:cs typeface="+mn-cs"/>
              </a:rPr>
              <a:t>        bottom.setFrameShape(QFrame.StyledPanel)</a:t>
            </a:r>
          </a:p>
          <a:p>
            <a:r>
              <a:rPr lang="en-US" sz="1200" b="0" i="0" kern="1200">
                <a:solidFill>
                  <a:schemeClr val="tx1"/>
                </a:solidFill>
                <a:effectLst/>
                <a:latin typeface="+mn-lt"/>
                <a:ea typeface="+mn-ea"/>
                <a:cs typeface="+mn-cs"/>
              </a:rPr>
              <a:t>        splitter1 = QSplitter(Qt.Horizontal)</a:t>
            </a:r>
          </a:p>
          <a:p>
            <a:r>
              <a:rPr lang="en-US" sz="1200" b="0" i="0" kern="1200">
                <a:solidFill>
                  <a:schemeClr val="tx1"/>
                </a:solidFill>
                <a:effectLst/>
                <a:latin typeface="+mn-lt"/>
                <a:ea typeface="+mn-ea"/>
                <a:cs typeface="+mn-cs"/>
              </a:rPr>
              <a:t>        splitter1.setStyleSheet('background-color:red')</a:t>
            </a:r>
          </a:p>
          <a:p>
            <a:r>
              <a:rPr lang="en-US" sz="1200" b="0" i="0" kern="1200">
                <a:solidFill>
                  <a:schemeClr val="tx1"/>
                </a:solidFill>
                <a:effectLst/>
                <a:latin typeface="+mn-lt"/>
                <a:ea typeface="+mn-ea"/>
                <a:cs typeface="+mn-cs"/>
              </a:rPr>
              <a:t>        lineedit = QLineEdit()</a:t>
            </a:r>
          </a:p>
          <a:p>
            <a:r>
              <a:rPr lang="en-US" sz="1200" b="0" i="0" kern="1200">
                <a:solidFill>
                  <a:schemeClr val="tx1"/>
                </a:solidFill>
                <a:effectLst/>
                <a:latin typeface="+mn-lt"/>
                <a:ea typeface="+mn-ea"/>
                <a:cs typeface="+mn-cs"/>
              </a:rPr>
              <a:t>        lineedit.setStyleSheet('background-color:green')</a:t>
            </a:r>
          </a:p>
          <a:p>
            <a:r>
              <a:rPr lang="en-US" sz="1200" b="0" i="0" kern="1200">
                <a:solidFill>
                  <a:schemeClr val="tx1"/>
                </a:solidFill>
                <a:effectLst/>
                <a:latin typeface="+mn-lt"/>
                <a:ea typeface="+mn-ea"/>
                <a:cs typeface="+mn-cs"/>
              </a:rPr>
              <a:t>        splitter1.addWidget(left)</a:t>
            </a:r>
          </a:p>
          <a:p>
            <a:r>
              <a:rPr lang="en-US" sz="1200" b="0" i="0" kern="1200">
                <a:solidFill>
                  <a:schemeClr val="tx1"/>
                </a:solidFill>
                <a:effectLst/>
                <a:latin typeface="+mn-lt"/>
                <a:ea typeface="+mn-ea"/>
                <a:cs typeface="+mn-cs"/>
              </a:rPr>
              <a:t>        splitter1.addWidget(lineedit)</a:t>
            </a:r>
          </a:p>
          <a:p>
            <a:r>
              <a:rPr lang="en-US" sz="1200" b="0" i="0" kern="1200">
                <a:solidFill>
                  <a:schemeClr val="tx1"/>
                </a:solidFill>
                <a:effectLst/>
                <a:latin typeface="+mn-lt"/>
                <a:ea typeface="+mn-ea"/>
                <a:cs typeface="+mn-cs"/>
              </a:rPr>
              <a:t>        splitter1.setSizes([200,200])</a:t>
            </a:r>
          </a:p>
          <a:p>
            <a:r>
              <a:rPr lang="en-US" sz="1200" b="0" i="0" kern="1200">
                <a:solidFill>
                  <a:schemeClr val="tx1"/>
                </a:solidFill>
                <a:effectLst/>
                <a:latin typeface="+mn-lt"/>
                <a:ea typeface="+mn-ea"/>
                <a:cs typeface="+mn-cs"/>
              </a:rPr>
              <a:t>        spliiter2 = QSplitter(Qt.Vertical)</a:t>
            </a:r>
          </a:p>
          <a:p>
            <a:r>
              <a:rPr lang="en-US" sz="1200" b="0" i="0" kern="1200">
                <a:solidFill>
                  <a:schemeClr val="tx1"/>
                </a:solidFill>
                <a:effectLst/>
                <a:latin typeface="+mn-lt"/>
                <a:ea typeface="+mn-ea"/>
                <a:cs typeface="+mn-cs"/>
              </a:rPr>
              <a:t>        spliiter2.addWidget(splitter1)</a:t>
            </a:r>
          </a:p>
          <a:p>
            <a:r>
              <a:rPr lang="en-US" sz="1200" b="0" i="0" kern="1200">
                <a:solidFill>
                  <a:schemeClr val="tx1"/>
                </a:solidFill>
                <a:effectLst/>
                <a:latin typeface="+mn-lt"/>
                <a:ea typeface="+mn-ea"/>
                <a:cs typeface="+mn-cs"/>
              </a:rPr>
              <a:t>        spliiter2.addWidget(bottom)</a:t>
            </a:r>
          </a:p>
          <a:p>
            <a:r>
              <a:rPr lang="en-US" sz="1200" b="0" i="0" kern="1200">
                <a:solidFill>
                  <a:schemeClr val="tx1"/>
                </a:solidFill>
                <a:effectLst/>
                <a:latin typeface="+mn-lt"/>
                <a:ea typeface="+mn-ea"/>
                <a:cs typeface="+mn-cs"/>
              </a:rPr>
              <a:t>        spliiter2.setStyleSheet('background-color:yellow')</a:t>
            </a:r>
          </a:p>
          <a:p>
            <a:r>
              <a:rPr lang="en-US" sz="1200" b="0" i="0" kern="1200">
                <a:solidFill>
                  <a:schemeClr val="tx1"/>
                </a:solidFill>
                <a:effectLst/>
                <a:latin typeface="+mn-lt"/>
                <a:ea typeface="+mn-ea"/>
                <a:cs typeface="+mn-cs"/>
              </a:rPr>
              <a:t>        hbox.addWidget(spliiter2)</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46</a:t>
            </a:fld>
            <a:endParaRPr lang="en-US"/>
          </a:p>
        </p:txBody>
      </p:sp>
    </p:spTree>
    <p:extLst>
      <p:ext uri="{BB962C8B-B14F-4D97-AF65-F5344CB8AC3E}">
        <p14:creationId xmlns:p14="http://schemas.microsoft.com/office/powerpoint/2010/main" val="8626946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https://codeloop.org/how-to-create-qslider-in-pyqt5/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47</a:t>
            </a:fld>
            <a:endParaRPr lang="en-US"/>
          </a:p>
        </p:txBody>
      </p:sp>
    </p:spTree>
    <p:extLst>
      <p:ext uri="{BB962C8B-B14F-4D97-AF65-F5344CB8AC3E}">
        <p14:creationId xmlns:p14="http://schemas.microsoft.com/office/powerpoint/2010/main" val="36387329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QHBoxLayout, QSlider,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PyQt5.QtCore import Qt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Slider"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hbox = QHBoxLayout()</a:t>
            </a:r>
          </a:p>
          <a:p>
            <a:r>
              <a:rPr lang="en-US" sz="1200" b="0" i="0" kern="1200">
                <a:solidFill>
                  <a:schemeClr val="tx1"/>
                </a:solidFill>
                <a:effectLst/>
                <a:latin typeface="+mn-lt"/>
                <a:ea typeface="+mn-ea"/>
                <a:cs typeface="+mn-cs"/>
              </a:rPr>
              <a:t>        self.slider = QSlider()</a:t>
            </a:r>
          </a:p>
          <a:p>
            <a:r>
              <a:rPr lang="en-US" sz="1200" b="0" i="0" kern="1200">
                <a:solidFill>
                  <a:schemeClr val="tx1"/>
                </a:solidFill>
                <a:effectLst/>
                <a:latin typeface="+mn-lt"/>
                <a:ea typeface="+mn-ea"/>
                <a:cs typeface="+mn-cs"/>
              </a:rPr>
              <a:t>        self.slider.setOrientation(Qt.Horizontal)</a:t>
            </a:r>
          </a:p>
          <a:p>
            <a:r>
              <a:rPr lang="en-US" sz="1200" b="0" i="0" kern="1200">
                <a:solidFill>
                  <a:schemeClr val="tx1"/>
                </a:solidFill>
                <a:effectLst/>
                <a:latin typeface="+mn-lt"/>
                <a:ea typeface="+mn-ea"/>
                <a:cs typeface="+mn-cs"/>
              </a:rPr>
              <a:t>        self.slider.setTickPosition(QSlider.TicksBelow)</a:t>
            </a:r>
          </a:p>
          <a:p>
            <a:r>
              <a:rPr lang="en-US" sz="1200" b="0" i="0" kern="1200">
                <a:solidFill>
                  <a:schemeClr val="tx1"/>
                </a:solidFill>
                <a:effectLst/>
                <a:latin typeface="+mn-lt"/>
                <a:ea typeface="+mn-ea"/>
                <a:cs typeface="+mn-cs"/>
              </a:rPr>
              <a:t>        self.slider.setTickInterval(1)</a:t>
            </a:r>
          </a:p>
          <a:p>
            <a:r>
              <a:rPr lang="en-US" sz="1200" b="0" i="0" kern="1200">
                <a:solidFill>
                  <a:schemeClr val="tx1"/>
                </a:solidFill>
                <a:effectLst/>
                <a:latin typeface="+mn-lt"/>
                <a:ea typeface="+mn-ea"/>
                <a:cs typeface="+mn-cs"/>
              </a:rPr>
              <a:t>        self.slider.setMinimum(0)</a:t>
            </a:r>
          </a:p>
          <a:p>
            <a:r>
              <a:rPr lang="en-US" sz="1200" b="0" i="0" kern="1200">
                <a:solidFill>
                  <a:schemeClr val="tx1"/>
                </a:solidFill>
                <a:effectLst/>
                <a:latin typeface="+mn-lt"/>
                <a:ea typeface="+mn-ea"/>
                <a:cs typeface="+mn-cs"/>
              </a:rPr>
              <a:t>        self.slider.setMaximum(100)</a:t>
            </a:r>
          </a:p>
          <a:p>
            <a:r>
              <a:rPr lang="en-US" sz="1200" b="0" i="0" kern="1200">
                <a:solidFill>
                  <a:schemeClr val="tx1"/>
                </a:solidFill>
                <a:effectLst/>
                <a:latin typeface="+mn-lt"/>
                <a:ea typeface="+mn-ea"/>
                <a:cs typeface="+mn-cs"/>
              </a:rPr>
              <a:t>        self.slider.valueChanged.connect(self.changedValue)</a:t>
            </a:r>
          </a:p>
          <a:p>
            <a:r>
              <a:rPr lang="en-US" sz="1200" b="0" i="0" kern="1200">
                <a:solidFill>
                  <a:schemeClr val="tx1"/>
                </a:solidFill>
                <a:effectLst/>
                <a:latin typeface="+mn-lt"/>
                <a:ea typeface="+mn-ea"/>
                <a:cs typeface="+mn-cs"/>
              </a:rPr>
              <a:t>        self.label = QLabel("0")</a:t>
            </a:r>
          </a:p>
          <a:p>
            <a:r>
              <a:rPr lang="en-US" sz="1200" b="0" i="0" kern="1200">
                <a:solidFill>
                  <a:schemeClr val="tx1"/>
                </a:solidFill>
                <a:effectLst/>
                <a:latin typeface="+mn-lt"/>
                <a:ea typeface="+mn-ea"/>
                <a:cs typeface="+mn-cs"/>
              </a:rPr>
              <a:t>        self.label.setFont(QtGui.QFont("Sanserif", 15))</a:t>
            </a:r>
          </a:p>
          <a:p>
            <a:r>
              <a:rPr lang="en-US" sz="1200" b="0" i="0" kern="1200">
                <a:solidFill>
                  <a:schemeClr val="tx1"/>
                </a:solidFill>
                <a:effectLst/>
                <a:latin typeface="+mn-lt"/>
                <a:ea typeface="+mn-ea"/>
                <a:cs typeface="+mn-cs"/>
              </a:rPr>
              <a:t>        hbox.addWidget(self.slider)</a:t>
            </a:r>
          </a:p>
          <a:p>
            <a:r>
              <a:rPr lang="en-US" sz="1200" b="0" i="0" kern="1200">
                <a:solidFill>
                  <a:schemeClr val="tx1"/>
                </a:solidFill>
                <a:effectLst/>
                <a:latin typeface="+mn-lt"/>
                <a:ea typeface="+mn-ea"/>
                <a:cs typeface="+mn-cs"/>
              </a:rPr>
              <a:t>        hbox.addWidget(self.label)</a:t>
            </a:r>
          </a:p>
          <a:p>
            <a:r>
              <a:rPr lang="en-US" sz="1200" b="0" i="0" kern="1200">
                <a:solidFill>
                  <a:schemeClr val="tx1"/>
                </a:solidFill>
                <a:effectLst/>
                <a:latin typeface="+mn-lt"/>
                <a:ea typeface="+mn-ea"/>
                <a:cs typeface="+mn-cs"/>
              </a:rPr>
              <a:t>        self.setLayout(hbox)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changedValue(self):</a:t>
            </a:r>
          </a:p>
          <a:p>
            <a:r>
              <a:rPr lang="en-US" sz="1200" b="0" i="0" kern="1200">
                <a:solidFill>
                  <a:schemeClr val="tx1"/>
                </a:solidFill>
                <a:effectLst/>
                <a:latin typeface="+mn-lt"/>
                <a:ea typeface="+mn-ea"/>
                <a:cs typeface="+mn-cs"/>
              </a:rPr>
              <a:t>        size = self.slider.value()</a:t>
            </a:r>
          </a:p>
          <a:p>
            <a:r>
              <a:rPr lang="en-US" sz="1200" b="0" i="0" kern="1200">
                <a:solidFill>
                  <a:schemeClr val="tx1"/>
                </a:solidFill>
                <a:effectLst/>
                <a:latin typeface="+mn-lt"/>
                <a:ea typeface="+mn-ea"/>
                <a:cs typeface="+mn-cs"/>
              </a:rPr>
              <a:t>        self.label.setText(str(size))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49</a:t>
            </a:fld>
            <a:endParaRPr lang="en-US"/>
          </a:p>
        </p:txBody>
      </p:sp>
    </p:spTree>
    <p:extLst>
      <p:ext uri="{BB962C8B-B14F-4D97-AF65-F5344CB8AC3E}">
        <p14:creationId xmlns:p14="http://schemas.microsoft.com/office/powerpoint/2010/main" val="894026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https://codeloop.org/pyqt5-gui-creating-qscrollarea/</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50</a:t>
            </a:fld>
            <a:endParaRPr lang="en-US"/>
          </a:p>
        </p:txBody>
      </p:sp>
    </p:spTree>
    <p:extLst>
      <p:ext uri="{BB962C8B-B14F-4D97-AF65-F5344CB8AC3E}">
        <p14:creationId xmlns:p14="http://schemas.microsoft.com/office/powerpoint/2010/main" val="10930376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QScrollArea, QVBoxLayout, QGroupBox, QLabel, QPushButton, QFormLayout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 val):</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Scroll Bar"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formLayout =QFormLayout()</a:t>
            </a:r>
          </a:p>
          <a:p>
            <a:r>
              <a:rPr lang="en-US" sz="1200" b="0" i="0" kern="1200">
                <a:solidFill>
                  <a:schemeClr val="tx1"/>
                </a:solidFill>
                <a:effectLst/>
                <a:latin typeface="+mn-lt"/>
                <a:ea typeface="+mn-ea"/>
                <a:cs typeface="+mn-cs"/>
              </a:rPr>
              <a:t>        groupBox = QGroupBox("This Is Group Box")</a:t>
            </a:r>
          </a:p>
          <a:p>
            <a:r>
              <a:rPr lang="en-US" sz="1200" b="0" i="0" kern="1200">
                <a:solidFill>
                  <a:schemeClr val="tx1"/>
                </a:solidFill>
                <a:effectLst/>
                <a:latin typeface="+mn-lt"/>
                <a:ea typeface="+mn-ea"/>
                <a:cs typeface="+mn-cs"/>
              </a:rPr>
              <a:t>        labelLis = []</a:t>
            </a:r>
          </a:p>
          <a:p>
            <a:r>
              <a:rPr lang="en-US" sz="1200" b="0" i="0" kern="1200">
                <a:solidFill>
                  <a:schemeClr val="tx1"/>
                </a:solidFill>
                <a:effectLst/>
                <a:latin typeface="+mn-lt"/>
                <a:ea typeface="+mn-ea"/>
                <a:cs typeface="+mn-cs"/>
              </a:rPr>
              <a:t>        comboList = []</a:t>
            </a:r>
          </a:p>
          <a:p>
            <a:r>
              <a:rPr lang="en-US" sz="1200" b="0" i="0" kern="1200">
                <a:solidFill>
                  <a:schemeClr val="tx1"/>
                </a:solidFill>
                <a:effectLst/>
                <a:latin typeface="+mn-lt"/>
                <a:ea typeface="+mn-ea"/>
                <a:cs typeface="+mn-cs"/>
              </a:rPr>
              <a:t>        for i in  range(val):</a:t>
            </a:r>
          </a:p>
          <a:p>
            <a:r>
              <a:rPr lang="en-US" sz="1200" b="0" i="0" kern="1200">
                <a:solidFill>
                  <a:schemeClr val="tx1"/>
                </a:solidFill>
                <a:effectLst/>
                <a:latin typeface="+mn-lt"/>
                <a:ea typeface="+mn-ea"/>
                <a:cs typeface="+mn-cs"/>
              </a:rPr>
              <a:t>            labelLis.append(QLabel("Label"))</a:t>
            </a:r>
          </a:p>
          <a:p>
            <a:r>
              <a:rPr lang="en-US" sz="1200" b="0" i="0" kern="1200">
                <a:solidFill>
                  <a:schemeClr val="tx1"/>
                </a:solidFill>
                <a:effectLst/>
                <a:latin typeface="+mn-lt"/>
                <a:ea typeface="+mn-ea"/>
                <a:cs typeface="+mn-cs"/>
              </a:rPr>
              <a:t>            comboList.append(QPushButton("Click Me"))</a:t>
            </a:r>
          </a:p>
          <a:p>
            <a:r>
              <a:rPr lang="en-US" sz="1200" b="0" i="0" kern="1200">
                <a:solidFill>
                  <a:schemeClr val="tx1"/>
                </a:solidFill>
                <a:effectLst/>
                <a:latin typeface="+mn-lt"/>
                <a:ea typeface="+mn-ea"/>
                <a:cs typeface="+mn-cs"/>
              </a:rPr>
              <a:t>            formLayout.addRow(labelLis[i], comboList[i])</a:t>
            </a:r>
          </a:p>
          <a:p>
            <a:r>
              <a:rPr lang="en-US" sz="1200" b="0" i="0" kern="1200">
                <a:solidFill>
                  <a:schemeClr val="tx1"/>
                </a:solidFill>
                <a:effectLst/>
                <a:latin typeface="+mn-lt"/>
                <a:ea typeface="+mn-ea"/>
                <a:cs typeface="+mn-cs"/>
              </a:rPr>
              <a:t>        groupBox.setLayout(formLayout)</a:t>
            </a:r>
          </a:p>
          <a:p>
            <a:r>
              <a:rPr lang="en-US" sz="1200" b="0" i="0" kern="1200">
                <a:solidFill>
                  <a:schemeClr val="tx1"/>
                </a:solidFill>
                <a:effectLst/>
                <a:latin typeface="+mn-lt"/>
                <a:ea typeface="+mn-ea"/>
                <a:cs typeface="+mn-cs"/>
              </a:rPr>
              <a:t>        scroll = QScrollArea()</a:t>
            </a:r>
          </a:p>
          <a:p>
            <a:r>
              <a:rPr lang="en-US" sz="1200" b="0" i="0" kern="1200">
                <a:solidFill>
                  <a:schemeClr val="tx1"/>
                </a:solidFill>
                <a:effectLst/>
                <a:latin typeface="+mn-lt"/>
                <a:ea typeface="+mn-ea"/>
                <a:cs typeface="+mn-cs"/>
              </a:rPr>
              <a:t>        scroll.setWidget(groupBox)</a:t>
            </a:r>
          </a:p>
          <a:p>
            <a:r>
              <a:rPr lang="en-US" sz="1200" b="0" i="0" kern="1200">
                <a:solidFill>
                  <a:schemeClr val="tx1"/>
                </a:solidFill>
                <a:effectLst/>
                <a:latin typeface="+mn-lt"/>
                <a:ea typeface="+mn-ea"/>
                <a:cs typeface="+mn-cs"/>
              </a:rPr>
              <a:t>        scroll.setWidgetResizable(True)</a:t>
            </a:r>
          </a:p>
          <a:p>
            <a:r>
              <a:rPr lang="en-US" sz="1200" b="0" i="0" kern="1200">
                <a:solidFill>
                  <a:schemeClr val="tx1"/>
                </a:solidFill>
                <a:effectLst/>
                <a:latin typeface="+mn-lt"/>
                <a:ea typeface="+mn-ea"/>
                <a:cs typeface="+mn-cs"/>
              </a:rPr>
              <a:t>        scroll.setFixedHeight(400)</a:t>
            </a:r>
          </a:p>
          <a:p>
            <a:r>
              <a:rPr lang="en-US" sz="1200" b="0" i="0" kern="1200">
                <a:solidFill>
                  <a:schemeClr val="tx1"/>
                </a:solidFill>
                <a:effectLst/>
                <a:latin typeface="+mn-lt"/>
                <a:ea typeface="+mn-ea"/>
                <a:cs typeface="+mn-cs"/>
              </a:rPr>
              <a:t>        layout = QVBoxLayout(self)</a:t>
            </a:r>
          </a:p>
          <a:p>
            <a:r>
              <a:rPr lang="en-US" sz="1200" b="0" i="0" kern="1200">
                <a:solidFill>
                  <a:schemeClr val="tx1"/>
                </a:solidFill>
                <a:effectLst/>
                <a:latin typeface="+mn-lt"/>
                <a:ea typeface="+mn-ea"/>
                <a:cs typeface="+mn-cs"/>
              </a:rPr>
              <a:t>        layout.addWidget(scroll)</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Window(30)</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51</a:t>
            </a:fld>
            <a:endParaRPr lang="en-US"/>
          </a:p>
        </p:txBody>
      </p:sp>
    </p:spTree>
    <p:extLst>
      <p:ext uri="{BB962C8B-B14F-4D97-AF65-F5344CB8AC3E}">
        <p14:creationId xmlns:p14="http://schemas.microsoft.com/office/powerpoint/2010/main" val="24615028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https://codeloop.org/pyqt5-qdial-example-with-valuechanged-signal/</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52</a:t>
            </a:fld>
            <a:endParaRPr lang="en-US"/>
          </a:p>
        </p:txBody>
      </p:sp>
    </p:spTree>
    <p:extLst>
      <p:ext uri="{BB962C8B-B14F-4D97-AF65-F5344CB8AC3E}">
        <p14:creationId xmlns:p14="http://schemas.microsoft.com/office/powerpoint/2010/main" val="4220007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QDial, QVBoxLayout,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Scroll Bar"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self.label = QLabel(self)</a:t>
            </a:r>
          </a:p>
          <a:p>
            <a:r>
              <a:rPr lang="en-US" sz="1200" b="0" i="0" kern="1200">
                <a:solidFill>
                  <a:schemeClr val="tx1"/>
                </a:solidFill>
                <a:effectLst/>
                <a:latin typeface="+mn-lt"/>
                <a:ea typeface="+mn-ea"/>
                <a:cs typeface="+mn-cs"/>
              </a:rPr>
              <a:t>        self.label.setFont(QtGui.QFont("Sanserif", 15))</a:t>
            </a:r>
          </a:p>
          <a:p>
            <a:r>
              <a:rPr lang="en-US" sz="1200" b="0" i="0" kern="1200">
                <a:solidFill>
                  <a:schemeClr val="tx1"/>
                </a:solidFill>
                <a:effectLst/>
                <a:latin typeface="+mn-lt"/>
                <a:ea typeface="+mn-ea"/>
                <a:cs typeface="+mn-cs"/>
              </a:rPr>
              <a:t>        self.dial = QDial()</a:t>
            </a:r>
          </a:p>
          <a:p>
            <a:r>
              <a:rPr lang="en-US" sz="1200" b="0" i="0" kern="1200">
                <a:solidFill>
                  <a:schemeClr val="tx1"/>
                </a:solidFill>
                <a:effectLst/>
                <a:latin typeface="+mn-lt"/>
                <a:ea typeface="+mn-ea"/>
                <a:cs typeface="+mn-cs"/>
              </a:rPr>
              <a:t>        self.dial.setMaximum(0)</a:t>
            </a:r>
          </a:p>
          <a:p>
            <a:r>
              <a:rPr lang="en-US" sz="1200" b="0" i="0" kern="1200">
                <a:solidFill>
                  <a:schemeClr val="tx1"/>
                </a:solidFill>
                <a:effectLst/>
                <a:latin typeface="+mn-lt"/>
                <a:ea typeface="+mn-ea"/>
                <a:cs typeface="+mn-cs"/>
              </a:rPr>
              <a:t>        self.dial.setMaximum(100)</a:t>
            </a:r>
          </a:p>
          <a:p>
            <a:r>
              <a:rPr lang="en-US" sz="1200" b="0" i="0" kern="1200">
                <a:solidFill>
                  <a:schemeClr val="tx1"/>
                </a:solidFill>
                <a:effectLst/>
                <a:latin typeface="+mn-lt"/>
                <a:ea typeface="+mn-ea"/>
                <a:cs typeface="+mn-cs"/>
              </a:rPr>
              <a:t>        self.dial.setValue(30)</a:t>
            </a:r>
          </a:p>
          <a:p>
            <a:r>
              <a:rPr lang="en-US" sz="1200" b="0" i="0" kern="1200">
                <a:solidFill>
                  <a:schemeClr val="tx1"/>
                </a:solidFill>
                <a:effectLst/>
                <a:latin typeface="+mn-lt"/>
                <a:ea typeface="+mn-ea"/>
                <a:cs typeface="+mn-cs"/>
              </a:rPr>
              <a:t>        self.dial.valueChanged.connect(self.dialer_changed)</a:t>
            </a:r>
          </a:p>
          <a:p>
            <a:r>
              <a:rPr lang="en-US" sz="1200" b="0" i="0" kern="1200">
                <a:solidFill>
                  <a:schemeClr val="tx1"/>
                </a:solidFill>
                <a:effectLst/>
                <a:latin typeface="+mn-lt"/>
                <a:ea typeface="+mn-ea"/>
                <a:cs typeface="+mn-cs"/>
              </a:rPr>
              <a:t>        vbox.addWidget(self.dial)</a:t>
            </a:r>
          </a:p>
          <a:p>
            <a:r>
              <a:rPr lang="en-US" sz="1200" b="0" i="0" kern="1200">
                <a:solidFill>
                  <a:schemeClr val="tx1"/>
                </a:solidFill>
                <a:effectLst/>
                <a:latin typeface="+mn-lt"/>
                <a:ea typeface="+mn-ea"/>
                <a:cs typeface="+mn-cs"/>
              </a:rPr>
              <a:t>        vbox.addWidget(self.label)</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dialer_changed(self):</a:t>
            </a:r>
          </a:p>
          <a:p>
            <a:r>
              <a:rPr lang="en-US" sz="1200" b="0" i="0" kern="1200">
                <a:solidFill>
                  <a:schemeClr val="tx1"/>
                </a:solidFill>
                <a:effectLst/>
                <a:latin typeface="+mn-lt"/>
                <a:ea typeface="+mn-ea"/>
                <a:cs typeface="+mn-cs"/>
              </a:rPr>
              <a:t>        getValue = self.dial.value()</a:t>
            </a:r>
          </a:p>
          <a:p>
            <a:r>
              <a:rPr lang="en-US" sz="1200" b="0" i="0" kern="1200">
                <a:solidFill>
                  <a:schemeClr val="tx1"/>
                </a:solidFill>
                <a:effectLst/>
                <a:latin typeface="+mn-lt"/>
                <a:ea typeface="+mn-ea"/>
                <a:cs typeface="+mn-cs"/>
              </a:rPr>
              <a:t>        self.label.setText(" Dialer Value : " + str(getValue))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54</a:t>
            </a:fld>
            <a:endParaRPr lang="en-US"/>
          </a:p>
        </p:txBody>
      </p:sp>
    </p:spTree>
    <p:extLst>
      <p:ext uri="{BB962C8B-B14F-4D97-AF65-F5344CB8AC3E}">
        <p14:creationId xmlns:p14="http://schemas.microsoft.com/office/powerpoint/2010/main" val="31229963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https://codeloop.org/how-to-create-qspinbox-in-pyqt5/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55</a:t>
            </a:fld>
            <a:endParaRPr lang="en-US"/>
          </a:p>
        </p:txBody>
      </p:sp>
    </p:spTree>
    <p:extLst>
      <p:ext uri="{BB962C8B-B14F-4D97-AF65-F5344CB8AC3E}">
        <p14:creationId xmlns:p14="http://schemas.microsoft.com/office/powerpoint/2010/main" val="7825877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QVBoxLayout, QSpinBox, QLabel</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PyQt5.QtCore import Qt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QSpingBox"</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200</a:t>
            </a:r>
          </a:p>
          <a:p>
            <a:r>
              <a:rPr lang="en-US" sz="1200" b="0" i="0" kern="1200">
                <a:solidFill>
                  <a:schemeClr val="tx1"/>
                </a:solidFill>
                <a:effectLst/>
                <a:latin typeface="+mn-lt"/>
                <a:ea typeface="+mn-ea"/>
                <a:cs typeface="+mn-cs"/>
              </a:rPr>
              <a:t>        self.height = 100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vbox= QVBoxLayout()</a:t>
            </a:r>
          </a:p>
          <a:p>
            <a:r>
              <a:rPr lang="en-US" sz="1200" b="0" i="0" kern="1200">
                <a:solidFill>
                  <a:schemeClr val="tx1"/>
                </a:solidFill>
                <a:effectLst/>
                <a:latin typeface="+mn-lt"/>
                <a:ea typeface="+mn-ea"/>
                <a:cs typeface="+mn-cs"/>
              </a:rPr>
              <a:t>        self.spinbox = QSpinBox(self)</a:t>
            </a:r>
          </a:p>
          <a:p>
            <a:r>
              <a:rPr lang="en-US" sz="1200" b="0" i="0" kern="1200">
                <a:solidFill>
                  <a:schemeClr val="tx1"/>
                </a:solidFill>
                <a:effectLst/>
                <a:latin typeface="+mn-lt"/>
                <a:ea typeface="+mn-ea"/>
                <a:cs typeface="+mn-cs"/>
              </a:rPr>
              <a:t>        self.spinbox.valueChanged.connect(self.spin_changed)</a:t>
            </a:r>
          </a:p>
          <a:p>
            <a:r>
              <a:rPr lang="en-US" sz="1200" b="0" i="0" kern="1200">
                <a:solidFill>
                  <a:schemeClr val="tx1"/>
                </a:solidFill>
                <a:effectLst/>
                <a:latin typeface="+mn-lt"/>
                <a:ea typeface="+mn-ea"/>
                <a:cs typeface="+mn-cs"/>
              </a:rPr>
              <a:t>        vbox.addWidget(self.spinbox)</a:t>
            </a:r>
          </a:p>
          <a:p>
            <a:r>
              <a:rPr lang="en-US" sz="1200" b="0" i="0" kern="1200">
                <a:solidFill>
                  <a:schemeClr val="tx1"/>
                </a:solidFill>
                <a:effectLst/>
                <a:latin typeface="+mn-lt"/>
                <a:ea typeface="+mn-ea"/>
                <a:cs typeface="+mn-cs"/>
              </a:rPr>
              <a:t>        self.label = QLabel()</a:t>
            </a:r>
          </a:p>
          <a:p>
            <a:r>
              <a:rPr lang="en-US" sz="1200" b="0" i="0" kern="1200">
                <a:solidFill>
                  <a:schemeClr val="tx1"/>
                </a:solidFill>
                <a:effectLst/>
                <a:latin typeface="+mn-lt"/>
                <a:ea typeface="+mn-ea"/>
                <a:cs typeface="+mn-cs"/>
              </a:rPr>
              <a:t>        self.label.setAlignment(Qt.AlignCenter)</a:t>
            </a:r>
          </a:p>
          <a:p>
            <a:r>
              <a:rPr lang="en-US" sz="1200" b="0" i="0" kern="1200">
                <a:solidFill>
                  <a:schemeClr val="tx1"/>
                </a:solidFill>
                <a:effectLst/>
                <a:latin typeface="+mn-lt"/>
                <a:ea typeface="+mn-ea"/>
                <a:cs typeface="+mn-cs"/>
              </a:rPr>
              <a:t>        self.label.setFont(QtGui.QFont("Sanserif", 15))</a:t>
            </a:r>
          </a:p>
          <a:p>
            <a:r>
              <a:rPr lang="en-US" sz="1200" b="0" i="0" kern="1200">
                <a:solidFill>
                  <a:schemeClr val="tx1"/>
                </a:solidFill>
                <a:effectLst/>
                <a:latin typeface="+mn-lt"/>
                <a:ea typeface="+mn-ea"/>
                <a:cs typeface="+mn-cs"/>
              </a:rPr>
              <a:t>        vbox.addWidget(self.label)</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spin_changed(self):</a:t>
            </a:r>
          </a:p>
          <a:p>
            <a:r>
              <a:rPr lang="en-US" sz="1200" b="0" i="0" kern="1200">
                <a:solidFill>
                  <a:schemeClr val="tx1"/>
                </a:solidFill>
                <a:effectLst/>
                <a:latin typeface="+mn-lt"/>
                <a:ea typeface="+mn-ea"/>
                <a:cs typeface="+mn-cs"/>
              </a:rPr>
              <a:t>        spinValue = self.spinbox.value()</a:t>
            </a:r>
          </a:p>
          <a:p>
            <a:r>
              <a:rPr lang="en-US" sz="1200" b="0" i="0" kern="1200">
                <a:solidFill>
                  <a:schemeClr val="tx1"/>
                </a:solidFill>
                <a:effectLst/>
                <a:latin typeface="+mn-lt"/>
                <a:ea typeface="+mn-ea"/>
                <a:cs typeface="+mn-cs"/>
              </a:rPr>
              <a:t>        self.label.setText("Current Value Is : " + str(spinValue))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56</a:t>
            </a:fld>
            <a:endParaRPr lang="en-US"/>
          </a:p>
        </p:txBody>
      </p:sp>
    </p:spTree>
    <p:extLst>
      <p:ext uri="{BB962C8B-B14F-4D97-AF65-F5344CB8AC3E}">
        <p14:creationId xmlns:p14="http://schemas.microsoft.com/office/powerpoint/2010/main" val="9336313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https://codeloop.org/pyqt5-random-generator-application-with-qlcdnumber/</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57</a:t>
            </a:fld>
            <a:endParaRPr lang="en-US"/>
          </a:p>
        </p:txBody>
      </p:sp>
    </p:spTree>
    <p:extLst>
      <p:ext uri="{BB962C8B-B14F-4D97-AF65-F5344CB8AC3E}">
        <p14:creationId xmlns:p14="http://schemas.microsoft.com/office/powerpoint/2010/main" val="3591147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QVBoxLayout, QLCDNumber, QPushButton</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random import randint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QLCD Number"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self.InitUi()</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InitUi(self):</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self.lcd = QLCDNumber()</a:t>
            </a:r>
          </a:p>
          <a:p>
            <a:r>
              <a:rPr lang="en-US" sz="1200" b="0" i="0" kern="1200">
                <a:solidFill>
                  <a:schemeClr val="tx1"/>
                </a:solidFill>
                <a:effectLst/>
                <a:latin typeface="+mn-lt"/>
                <a:ea typeface="+mn-ea"/>
                <a:cs typeface="+mn-cs"/>
              </a:rPr>
              <a:t>        self.lcd.display(60)</a:t>
            </a:r>
          </a:p>
          <a:p>
            <a:r>
              <a:rPr lang="en-US" sz="1200" b="0" i="0" kern="1200">
                <a:solidFill>
                  <a:schemeClr val="tx1"/>
                </a:solidFill>
                <a:effectLst/>
                <a:latin typeface="+mn-lt"/>
                <a:ea typeface="+mn-ea"/>
                <a:cs typeface="+mn-cs"/>
              </a:rPr>
              <a:t>        vbox.addWidget(self.lcd)</a:t>
            </a:r>
          </a:p>
          <a:p>
            <a:r>
              <a:rPr lang="en-US" sz="1200" b="0" i="0" kern="1200">
                <a:solidFill>
                  <a:schemeClr val="tx1"/>
                </a:solidFill>
                <a:effectLst/>
                <a:latin typeface="+mn-lt"/>
                <a:ea typeface="+mn-ea"/>
                <a:cs typeface="+mn-cs"/>
              </a:rPr>
              <a:t>        self.lcd.setStyleSheet('background-color:green')</a:t>
            </a:r>
          </a:p>
          <a:p>
            <a:r>
              <a:rPr lang="en-US" sz="1200" b="0" i="0" kern="1200">
                <a:solidFill>
                  <a:schemeClr val="tx1"/>
                </a:solidFill>
                <a:effectLst/>
                <a:latin typeface="+mn-lt"/>
                <a:ea typeface="+mn-ea"/>
                <a:cs typeface="+mn-cs"/>
              </a:rPr>
              <a:t>        self.button = QPushButton("Radom Number Gererator")</a:t>
            </a:r>
          </a:p>
          <a:p>
            <a:r>
              <a:rPr lang="en-US" sz="1200" b="0" i="0" kern="1200">
                <a:solidFill>
                  <a:schemeClr val="tx1"/>
                </a:solidFill>
                <a:effectLst/>
                <a:latin typeface="+mn-lt"/>
                <a:ea typeface="+mn-ea"/>
                <a:cs typeface="+mn-cs"/>
              </a:rPr>
              <a:t>        self.button.setStyleSheet('background-color:yellow')</a:t>
            </a:r>
          </a:p>
          <a:p>
            <a:r>
              <a:rPr lang="en-US" sz="1200" b="0" i="0" kern="1200">
                <a:solidFill>
                  <a:schemeClr val="tx1"/>
                </a:solidFill>
                <a:effectLst/>
                <a:latin typeface="+mn-lt"/>
                <a:ea typeface="+mn-ea"/>
                <a:cs typeface="+mn-cs"/>
              </a:rPr>
              <a:t>        self.button.clicked.connect(self.lcdHanlder)</a:t>
            </a:r>
          </a:p>
          <a:p>
            <a:r>
              <a:rPr lang="en-US" sz="1200" b="0" i="0" kern="1200">
                <a:solidFill>
                  <a:schemeClr val="tx1"/>
                </a:solidFill>
                <a:effectLst/>
                <a:latin typeface="+mn-lt"/>
                <a:ea typeface="+mn-ea"/>
                <a:cs typeface="+mn-cs"/>
              </a:rPr>
              <a:t>        vbox.addWidget(self.button)</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lcdHanlder(self):</a:t>
            </a:r>
          </a:p>
          <a:p>
            <a:r>
              <a:rPr lang="en-US" sz="1200" b="0" i="0" kern="1200">
                <a:solidFill>
                  <a:schemeClr val="tx1"/>
                </a:solidFill>
                <a:effectLst/>
                <a:latin typeface="+mn-lt"/>
                <a:ea typeface="+mn-ea"/>
                <a:cs typeface="+mn-cs"/>
              </a:rPr>
              <a:t>        random = randint(1,200)</a:t>
            </a:r>
          </a:p>
          <a:p>
            <a:r>
              <a:rPr lang="en-US" sz="1200" b="0" i="0" kern="1200">
                <a:solidFill>
                  <a:schemeClr val="tx1"/>
                </a:solidFill>
                <a:effectLst/>
                <a:latin typeface="+mn-lt"/>
                <a:ea typeface="+mn-ea"/>
                <a:cs typeface="+mn-cs"/>
              </a:rPr>
              <a:t>        self.lcd.display(random)</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59</a:t>
            </a:fld>
            <a:endParaRPr lang="en-US"/>
          </a:p>
        </p:txBody>
      </p:sp>
    </p:spTree>
    <p:extLst>
      <p:ext uri="{BB962C8B-B14F-4D97-AF65-F5344CB8AC3E}">
        <p14:creationId xmlns:p14="http://schemas.microsoft.com/office/powerpoint/2010/main" val="35106630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https://codeloop.org/pyqt5-qprogressbar-with-qthread-practical-example/</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60</a:t>
            </a:fld>
            <a:endParaRPr lang="en-US"/>
          </a:p>
        </p:txBody>
      </p:sp>
    </p:spTree>
    <p:extLst>
      <p:ext uri="{BB962C8B-B14F-4D97-AF65-F5344CB8AC3E}">
        <p14:creationId xmlns:p14="http://schemas.microsoft.com/office/powerpoint/2010/main" val="36288787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QDialog, QProgressBar, QPushButton, QVBoxLayout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PyQt5.QtCore import Qt, QThread, pyqtSignal</a:t>
            </a:r>
          </a:p>
          <a:p>
            <a:r>
              <a:rPr lang="en-US" sz="1200" b="0" i="0" kern="1200">
                <a:solidFill>
                  <a:schemeClr val="tx1"/>
                </a:solidFill>
                <a:effectLst/>
                <a:latin typeface="+mn-lt"/>
                <a:ea typeface="+mn-ea"/>
                <a:cs typeface="+mn-cs"/>
              </a:rPr>
              <a:t>import time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MyThread(QThread):</a:t>
            </a:r>
          </a:p>
          <a:p>
            <a:r>
              <a:rPr lang="en-US" sz="1200" b="0" i="0" kern="1200">
                <a:solidFill>
                  <a:schemeClr val="tx1"/>
                </a:solidFill>
                <a:effectLst/>
                <a:latin typeface="+mn-lt"/>
                <a:ea typeface="+mn-ea"/>
                <a:cs typeface="+mn-cs"/>
              </a:rPr>
              <a:t>    # Create a counter thread</a:t>
            </a:r>
          </a:p>
          <a:p>
            <a:r>
              <a:rPr lang="en-US" sz="1200" b="0" i="0" kern="1200">
                <a:solidFill>
                  <a:schemeClr val="tx1"/>
                </a:solidFill>
                <a:effectLst/>
                <a:latin typeface="+mn-lt"/>
                <a:ea typeface="+mn-ea"/>
                <a:cs typeface="+mn-cs"/>
              </a:rPr>
              <a:t>    change_value = pyqtSignal(int)</a:t>
            </a:r>
          </a:p>
          <a:p>
            <a:r>
              <a:rPr lang="en-US" sz="1200" b="0" i="0" kern="1200">
                <a:solidFill>
                  <a:schemeClr val="tx1"/>
                </a:solidFill>
                <a:effectLst/>
                <a:latin typeface="+mn-lt"/>
                <a:ea typeface="+mn-ea"/>
                <a:cs typeface="+mn-cs"/>
              </a:rPr>
              <a:t>    def run(self):</a:t>
            </a:r>
          </a:p>
          <a:p>
            <a:r>
              <a:rPr lang="en-US" sz="1200" b="0" i="0" kern="1200">
                <a:solidFill>
                  <a:schemeClr val="tx1"/>
                </a:solidFill>
                <a:effectLst/>
                <a:latin typeface="+mn-lt"/>
                <a:ea typeface="+mn-ea"/>
                <a:cs typeface="+mn-cs"/>
              </a:rPr>
              <a:t>        cnt = 0</a:t>
            </a:r>
          </a:p>
          <a:p>
            <a:r>
              <a:rPr lang="en-US" sz="1200" b="0" i="0" kern="1200">
                <a:solidFill>
                  <a:schemeClr val="tx1"/>
                </a:solidFill>
                <a:effectLst/>
                <a:latin typeface="+mn-lt"/>
                <a:ea typeface="+mn-ea"/>
                <a:cs typeface="+mn-cs"/>
              </a:rPr>
              <a:t>        while cnt &amp;lt; 100:</a:t>
            </a:r>
          </a:p>
          <a:p>
            <a:r>
              <a:rPr lang="en-US" sz="1200" b="0" i="0" kern="1200">
                <a:solidFill>
                  <a:schemeClr val="tx1"/>
                </a:solidFill>
                <a:effectLst/>
                <a:latin typeface="+mn-lt"/>
                <a:ea typeface="+mn-ea"/>
                <a:cs typeface="+mn-cs"/>
              </a:rPr>
              <a:t>            cnt+=1</a:t>
            </a:r>
          </a:p>
          <a:p>
            <a:r>
              <a:rPr lang="en-US" sz="1200" b="0" i="0" kern="1200">
                <a:solidFill>
                  <a:schemeClr val="tx1"/>
                </a:solidFill>
                <a:effectLst/>
                <a:latin typeface="+mn-lt"/>
                <a:ea typeface="+mn-ea"/>
                <a:cs typeface="+mn-cs"/>
              </a:rPr>
              <a:t>            time.sleep(0.3)</a:t>
            </a:r>
          </a:p>
          <a:p>
            <a:r>
              <a:rPr lang="en-US" sz="1200" b="0" i="0" kern="1200">
                <a:solidFill>
                  <a:schemeClr val="tx1"/>
                </a:solidFill>
                <a:effectLst/>
                <a:latin typeface="+mn-lt"/>
                <a:ea typeface="+mn-ea"/>
                <a:cs typeface="+mn-cs"/>
              </a:rPr>
              <a:t>            self.change_value.emit(cnt)</a:t>
            </a:r>
          </a:p>
          <a:p>
            <a:r>
              <a:rPr lang="en-US" sz="1200" b="0" i="0" kern="1200">
                <a:solidFill>
                  <a:schemeClr val="tx1"/>
                </a:solidFill>
                <a:effectLst/>
                <a:latin typeface="+mn-lt"/>
                <a:ea typeface="+mn-ea"/>
                <a:cs typeface="+mn-cs"/>
              </a:rPr>
              <a:t>class Window(QDialog):</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ProgressBar"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300</a:t>
            </a:r>
          </a:p>
          <a:p>
            <a:r>
              <a:rPr lang="en-US" sz="1200" b="0" i="0" kern="1200">
                <a:solidFill>
                  <a:schemeClr val="tx1"/>
                </a:solidFill>
                <a:effectLst/>
                <a:latin typeface="+mn-lt"/>
                <a:ea typeface="+mn-ea"/>
                <a:cs typeface="+mn-cs"/>
              </a:rPr>
              <a:t>        self.height = 100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self.progressbar = QProgressBar()</a:t>
            </a:r>
          </a:p>
          <a:p>
            <a:r>
              <a:rPr lang="en-US" sz="1200" b="0" i="0" kern="1200">
                <a:solidFill>
                  <a:schemeClr val="tx1"/>
                </a:solidFill>
                <a:effectLst/>
                <a:latin typeface="+mn-lt"/>
                <a:ea typeface="+mn-ea"/>
                <a:cs typeface="+mn-cs"/>
              </a:rPr>
              <a:t>        #self.progressbar.setOrientation(Qt.Vertical)</a:t>
            </a:r>
          </a:p>
          <a:p>
            <a:r>
              <a:rPr lang="en-US" sz="1200" b="0" i="0" kern="1200">
                <a:solidFill>
                  <a:schemeClr val="tx1"/>
                </a:solidFill>
                <a:effectLst/>
                <a:latin typeface="+mn-lt"/>
                <a:ea typeface="+mn-ea"/>
                <a:cs typeface="+mn-cs"/>
              </a:rPr>
              <a:t>        self.progressbar.setMaximum(100)</a:t>
            </a:r>
          </a:p>
          <a:p>
            <a:r>
              <a:rPr lang="en-US" sz="1200" b="0" i="0" kern="1200">
                <a:solidFill>
                  <a:schemeClr val="tx1"/>
                </a:solidFill>
                <a:effectLst/>
                <a:latin typeface="+mn-lt"/>
                <a:ea typeface="+mn-ea"/>
                <a:cs typeface="+mn-cs"/>
              </a:rPr>
              <a:t>        self.progressbar.setStyleSheet("QProgressBar {border: 2px solid grey;border-radius:8px;padding:1px}"</a:t>
            </a:r>
          </a:p>
          <a:p>
            <a:r>
              <a:rPr lang="en-US" sz="1200" b="0" i="0" kern="1200">
                <a:solidFill>
                  <a:schemeClr val="tx1"/>
                </a:solidFill>
                <a:effectLst/>
                <a:latin typeface="+mn-lt"/>
                <a:ea typeface="+mn-ea"/>
                <a:cs typeface="+mn-cs"/>
              </a:rPr>
              <a:t>                                       "QProgressBar::chunk {background:yellow}")</a:t>
            </a:r>
          </a:p>
          <a:p>
            <a:r>
              <a:rPr lang="en-US" sz="1200" b="0" i="0" kern="1200">
                <a:solidFill>
                  <a:schemeClr val="tx1"/>
                </a:solidFill>
                <a:effectLst/>
                <a:latin typeface="+mn-lt"/>
                <a:ea typeface="+mn-ea"/>
                <a:cs typeface="+mn-cs"/>
              </a:rPr>
              <a:t>        #qlineargradient(x1: 0, y1: 0.5, x2: 1, y2: 0.5, stop: 0 red, stop: 1 white);</a:t>
            </a:r>
          </a:p>
          <a:p>
            <a:r>
              <a:rPr lang="en-US" sz="1200" b="0" i="0" kern="1200">
                <a:solidFill>
                  <a:schemeClr val="tx1"/>
                </a:solidFill>
                <a:effectLst/>
                <a:latin typeface="+mn-lt"/>
                <a:ea typeface="+mn-ea"/>
                <a:cs typeface="+mn-cs"/>
              </a:rPr>
              <a:t>        #self.progressbar.setStyleSheet("QProgressBar::chunk {background: qlineargradient(x1: 0, y1: 0.5, x2: 1, y2: 0.5, stop: 0 red, stop: 1 white); }")</a:t>
            </a:r>
          </a:p>
          <a:p>
            <a:r>
              <a:rPr lang="en-US" sz="1200" b="0" i="0" kern="1200">
                <a:solidFill>
                  <a:schemeClr val="tx1"/>
                </a:solidFill>
                <a:effectLst/>
                <a:latin typeface="+mn-lt"/>
                <a:ea typeface="+mn-ea"/>
                <a:cs typeface="+mn-cs"/>
              </a:rPr>
              <a:t>        #self.progressbar.setTextVisible(False)</a:t>
            </a:r>
          </a:p>
          <a:p>
            <a:r>
              <a:rPr lang="en-US" sz="1200" b="0" i="0" kern="1200">
                <a:solidFill>
                  <a:schemeClr val="tx1"/>
                </a:solidFill>
                <a:effectLst/>
                <a:latin typeface="+mn-lt"/>
                <a:ea typeface="+mn-ea"/>
                <a:cs typeface="+mn-cs"/>
              </a:rPr>
              <a:t>        vbox.addWidget(self.progressbar)</a:t>
            </a:r>
          </a:p>
          <a:p>
            <a:r>
              <a:rPr lang="en-US" sz="1200" b="0" i="0" kern="1200">
                <a:solidFill>
                  <a:schemeClr val="tx1"/>
                </a:solidFill>
                <a:effectLst/>
                <a:latin typeface="+mn-lt"/>
                <a:ea typeface="+mn-ea"/>
                <a:cs typeface="+mn-cs"/>
              </a:rPr>
              <a:t>        self.button = QPushButton("Start Progressbar")</a:t>
            </a:r>
          </a:p>
          <a:p>
            <a:r>
              <a:rPr lang="en-US" sz="1200" b="0" i="0" kern="1200">
                <a:solidFill>
                  <a:schemeClr val="tx1"/>
                </a:solidFill>
                <a:effectLst/>
                <a:latin typeface="+mn-lt"/>
                <a:ea typeface="+mn-ea"/>
                <a:cs typeface="+mn-cs"/>
              </a:rPr>
              <a:t>        self.button.clicked.connect(self.startProgressBar)</a:t>
            </a:r>
          </a:p>
          <a:p>
            <a:r>
              <a:rPr lang="en-US" sz="1200" b="0" i="0" kern="1200">
                <a:solidFill>
                  <a:schemeClr val="tx1"/>
                </a:solidFill>
                <a:effectLst/>
                <a:latin typeface="+mn-lt"/>
                <a:ea typeface="+mn-ea"/>
                <a:cs typeface="+mn-cs"/>
              </a:rPr>
              <a:t>        self.button.setStyleSheet('background-color:yellow')</a:t>
            </a:r>
          </a:p>
          <a:p>
            <a:r>
              <a:rPr lang="en-US" sz="1200" b="0" i="0" kern="1200">
                <a:solidFill>
                  <a:schemeClr val="tx1"/>
                </a:solidFill>
                <a:effectLst/>
                <a:latin typeface="+mn-lt"/>
                <a:ea typeface="+mn-ea"/>
                <a:cs typeface="+mn-cs"/>
              </a:rPr>
              <a:t>        vbox.addWidget(self.button)</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startProgressBar(self):</a:t>
            </a:r>
          </a:p>
          <a:p>
            <a:r>
              <a:rPr lang="en-US" sz="1200" b="0" i="0" kern="1200">
                <a:solidFill>
                  <a:schemeClr val="tx1"/>
                </a:solidFill>
                <a:effectLst/>
                <a:latin typeface="+mn-lt"/>
                <a:ea typeface="+mn-ea"/>
                <a:cs typeface="+mn-cs"/>
              </a:rPr>
              <a:t>        self.thread = MyThread()</a:t>
            </a:r>
          </a:p>
          <a:p>
            <a:r>
              <a:rPr lang="en-US" sz="1200" b="0" i="0" kern="1200">
                <a:solidFill>
                  <a:schemeClr val="tx1"/>
                </a:solidFill>
                <a:effectLst/>
                <a:latin typeface="+mn-lt"/>
                <a:ea typeface="+mn-ea"/>
                <a:cs typeface="+mn-cs"/>
              </a:rPr>
              <a:t>        self.thread.change_value.connect(self.setProgressVal)</a:t>
            </a:r>
          </a:p>
          <a:p>
            <a:r>
              <a:rPr lang="en-US" sz="1200" b="0" i="0" kern="1200">
                <a:solidFill>
                  <a:schemeClr val="tx1"/>
                </a:solidFill>
                <a:effectLst/>
                <a:latin typeface="+mn-lt"/>
                <a:ea typeface="+mn-ea"/>
                <a:cs typeface="+mn-cs"/>
              </a:rPr>
              <a:t>        self.thread.start()</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setProgressVal(self, val):</a:t>
            </a:r>
          </a:p>
          <a:p>
            <a:r>
              <a:rPr lang="en-US" sz="1200" b="0" i="0" kern="1200">
                <a:solidFill>
                  <a:schemeClr val="tx1"/>
                </a:solidFill>
                <a:effectLst/>
                <a:latin typeface="+mn-lt"/>
                <a:ea typeface="+mn-ea"/>
                <a:cs typeface="+mn-cs"/>
              </a:rPr>
              <a:t>        self.progressbar.setValue(val)</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62</a:t>
            </a:fld>
            <a:endParaRPr lang="en-US"/>
          </a:p>
        </p:txBody>
      </p:sp>
    </p:spTree>
    <p:extLst>
      <p:ext uri="{BB962C8B-B14F-4D97-AF65-F5344CB8AC3E}">
        <p14:creationId xmlns:p14="http://schemas.microsoft.com/office/powerpoint/2010/main" val="30222293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https://codeloop.org/pyqt5-desktop-applications-creating-qtoolbox/</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63</a:t>
            </a:fld>
            <a:endParaRPr lang="en-US"/>
          </a:p>
        </p:txBody>
      </p:sp>
    </p:spTree>
    <p:extLst>
      <p:ext uri="{BB962C8B-B14F-4D97-AF65-F5344CB8AC3E}">
        <p14:creationId xmlns:p14="http://schemas.microsoft.com/office/powerpoint/2010/main" val="10983524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QWidget, QToolBox, QLabel, QVBoxLayout</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Window(QWidget):</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ToolBox"</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400</a:t>
            </a:r>
          </a:p>
          <a:p>
            <a:r>
              <a:rPr lang="en-US" sz="1200" b="0" i="0" kern="1200">
                <a:solidFill>
                  <a:schemeClr val="tx1"/>
                </a:solidFill>
                <a:effectLst/>
                <a:latin typeface="+mn-lt"/>
                <a:ea typeface="+mn-ea"/>
                <a:cs typeface="+mn-cs"/>
              </a:rPr>
              <a:t>        self.height = 300</a:t>
            </a:r>
          </a:p>
          <a:p>
            <a:r>
              <a:rPr lang="en-US" sz="1200" b="0" i="0" kern="1200">
                <a:solidFill>
                  <a:schemeClr val="tx1"/>
                </a:solidFill>
                <a:effectLst/>
                <a:latin typeface="+mn-lt"/>
                <a:ea typeface="+mn-ea"/>
                <a:cs typeface="+mn-cs"/>
              </a:rPr>
              <a:t>        self.InitWindow()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InitWindow(self):</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self.setStyleSheet("background-color:yellow")</a:t>
            </a:r>
          </a:p>
          <a:p>
            <a:r>
              <a:rPr lang="en-US" sz="1200" b="0" i="0" kern="1200">
                <a:solidFill>
                  <a:schemeClr val="tx1"/>
                </a:solidFill>
                <a:effectLst/>
                <a:latin typeface="+mn-lt"/>
                <a:ea typeface="+mn-ea"/>
                <a:cs typeface="+mn-cs"/>
              </a:rPr>
              <a:t>        vbox = QVBoxLayout()</a:t>
            </a:r>
          </a:p>
          <a:p>
            <a:r>
              <a:rPr lang="en-US" sz="1200" b="0" i="0" kern="1200">
                <a:solidFill>
                  <a:schemeClr val="tx1"/>
                </a:solidFill>
                <a:effectLst/>
                <a:latin typeface="+mn-lt"/>
                <a:ea typeface="+mn-ea"/>
                <a:cs typeface="+mn-cs"/>
              </a:rPr>
              <a:t>        toolbox = QToolBox()</a:t>
            </a:r>
          </a:p>
          <a:p>
            <a:r>
              <a:rPr lang="en-US" sz="1200" b="0" i="0" kern="1200">
                <a:solidFill>
                  <a:schemeClr val="tx1"/>
                </a:solidFill>
                <a:effectLst/>
                <a:latin typeface="+mn-lt"/>
                <a:ea typeface="+mn-ea"/>
                <a:cs typeface="+mn-cs"/>
              </a:rPr>
              <a:t>        vbox.addWidget(toolbox)</a:t>
            </a:r>
          </a:p>
          <a:p>
            <a:r>
              <a:rPr lang="en-US" sz="1200" b="0" i="0" kern="1200">
                <a:solidFill>
                  <a:schemeClr val="tx1"/>
                </a:solidFill>
                <a:effectLst/>
                <a:latin typeface="+mn-lt"/>
                <a:ea typeface="+mn-ea"/>
                <a:cs typeface="+mn-cs"/>
              </a:rPr>
              <a:t>        label = QLabel()</a:t>
            </a:r>
          </a:p>
          <a:p>
            <a:r>
              <a:rPr lang="en-US" sz="1200" b="0" i="0" kern="1200">
                <a:solidFill>
                  <a:schemeClr val="tx1"/>
                </a:solidFill>
                <a:effectLst/>
                <a:latin typeface="+mn-lt"/>
                <a:ea typeface="+mn-ea"/>
                <a:cs typeface="+mn-cs"/>
              </a:rPr>
              <a:t>        toolbox.addItem(label, "Python")</a:t>
            </a:r>
          </a:p>
          <a:p>
            <a:r>
              <a:rPr lang="en-US" sz="1200" b="0" i="0" kern="1200">
                <a:solidFill>
                  <a:schemeClr val="tx1"/>
                </a:solidFill>
                <a:effectLst/>
                <a:latin typeface="+mn-lt"/>
                <a:ea typeface="+mn-ea"/>
                <a:cs typeface="+mn-cs"/>
              </a:rPr>
              <a:t>        toolbox.setFont(QtGui.QFont("Sanserif", 15))</a:t>
            </a:r>
          </a:p>
          <a:p>
            <a:r>
              <a:rPr lang="en-US" sz="1200" b="0" i="0" kern="1200">
                <a:solidFill>
                  <a:schemeClr val="tx1"/>
                </a:solidFill>
                <a:effectLst/>
                <a:latin typeface="+mn-lt"/>
                <a:ea typeface="+mn-ea"/>
                <a:cs typeface="+mn-cs"/>
              </a:rPr>
              <a:t>        label = QLabel()</a:t>
            </a:r>
          </a:p>
          <a:p>
            <a:r>
              <a:rPr lang="en-US" sz="1200" b="0" i="0" kern="1200">
                <a:solidFill>
                  <a:schemeClr val="tx1"/>
                </a:solidFill>
                <a:effectLst/>
                <a:latin typeface="+mn-lt"/>
                <a:ea typeface="+mn-ea"/>
                <a:cs typeface="+mn-cs"/>
              </a:rPr>
              <a:t>        toolbox.addItem(label, "Java")</a:t>
            </a:r>
          </a:p>
          <a:p>
            <a:r>
              <a:rPr lang="en-US" sz="1200" b="0" i="0" kern="1200">
                <a:solidFill>
                  <a:schemeClr val="tx1"/>
                </a:solidFill>
                <a:effectLst/>
                <a:latin typeface="+mn-lt"/>
                <a:ea typeface="+mn-ea"/>
                <a:cs typeface="+mn-cs"/>
              </a:rPr>
              <a:t>        label = QLabel()</a:t>
            </a:r>
          </a:p>
          <a:p>
            <a:r>
              <a:rPr lang="en-US" sz="1200" b="0" i="0" kern="1200">
                <a:solidFill>
                  <a:schemeClr val="tx1"/>
                </a:solidFill>
                <a:effectLst/>
                <a:latin typeface="+mn-lt"/>
                <a:ea typeface="+mn-ea"/>
                <a:cs typeface="+mn-cs"/>
              </a:rPr>
              <a:t>        toolbox.addItem(label, "C++")</a:t>
            </a:r>
          </a:p>
          <a:p>
            <a:r>
              <a:rPr lang="en-US" sz="1200" b="0" i="0" kern="1200">
                <a:solidFill>
                  <a:schemeClr val="tx1"/>
                </a:solidFill>
                <a:effectLst/>
                <a:latin typeface="+mn-lt"/>
                <a:ea typeface="+mn-ea"/>
                <a:cs typeface="+mn-cs"/>
              </a:rPr>
              <a:t>        self.setLayout(vbox)</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66</a:t>
            </a:fld>
            <a:endParaRPr lang="en-US"/>
          </a:p>
        </p:txBody>
      </p:sp>
    </p:spTree>
    <p:extLst>
      <p:ext uri="{BB962C8B-B14F-4D97-AF65-F5344CB8AC3E}">
        <p14:creationId xmlns:p14="http://schemas.microsoft.com/office/powerpoint/2010/main" val="34314447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https://codeloop.org/pyqt5-desktop-application-development-qmenubar/</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67</a:t>
            </a:fld>
            <a:endParaRPr lang="en-US"/>
          </a:p>
        </p:txBody>
      </p:sp>
    </p:spTree>
    <p:extLst>
      <p:ext uri="{BB962C8B-B14F-4D97-AF65-F5344CB8AC3E}">
        <p14:creationId xmlns:p14="http://schemas.microsoft.com/office/powerpoint/2010/main" val="17484675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from PyQt5 import QtGui</a:t>
            </a:r>
          </a:p>
          <a:p>
            <a:r>
              <a:rPr lang="en-US" sz="1200" b="0" i="0" kern="1200">
                <a:solidFill>
                  <a:schemeClr val="tx1"/>
                </a:solidFill>
                <a:effectLst/>
                <a:latin typeface="+mn-lt"/>
                <a:ea typeface="+mn-ea"/>
                <a:cs typeface="+mn-cs"/>
              </a:rPr>
              <a:t>from PyQt5.QtWidgets import QApplication, QMainWindow,  QAction</a:t>
            </a:r>
          </a:p>
          <a:p>
            <a:r>
              <a:rPr lang="en-US" sz="1200" b="0" i="0" kern="1200">
                <a:solidFill>
                  <a:schemeClr val="tx1"/>
                </a:solidFill>
                <a:effectLst/>
                <a:latin typeface="+mn-lt"/>
                <a:ea typeface="+mn-ea"/>
                <a:cs typeface="+mn-cs"/>
              </a:rPr>
              <a:t>import sys</a:t>
            </a:r>
          </a:p>
          <a:p>
            <a:r>
              <a:rPr lang="en-US" sz="1200" b="0" i="0" kern="1200">
                <a:solidFill>
                  <a:schemeClr val="tx1"/>
                </a:solidFill>
                <a:effectLst/>
                <a:latin typeface="+mn-lt"/>
                <a:ea typeface="+mn-ea"/>
                <a:cs typeface="+mn-cs"/>
              </a:rPr>
              <a:t>from PyQt5.QtGui import QIcon</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class Window(QMainWindow):</a:t>
            </a:r>
          </a:p>
          <a:p>
            <a:r>
              <a:rPr lang="en-US" sz="1200" b="0" i="0" kern="1200">
                <a:solidFill>
                  <a:schemeClr val="tx1"/>
                </a:solidFill>
                <a:effectLst/>
                <a:latin typeface="+mn-lt"/>
                <a:ea typeface="+mn-ea"/>
                <a:cs typeface="+mn-cs"/>
              </a:rPr>
              <a:t>    def __init__(self):</a:t>
            </a:r>
          </a:p>
          <a:p>
            <a:r>
              <a:rPr lang="en-US" sz="1200" b="0" i="0" kern="1200">
                <a:solidFill>
                  <a:schemeClr val="tx1"/>
                </a:solidFill>
                <a:effectLst/>
                <a:latin typeface="+mn-lt"/>
                <a:ea typeface="+mn-ea"/>
                <a:cs typeface="+mn-cs"/>
              </a:rPr>
              <a:t>        super().__init__()</a:t>
            </a:r>
          </a:p>
          <a:p>
            <a:r>
              <a:rPr lang="en-US" sz="1200" b="0" i="0" kern="1200">
                <a:solidFill>
                  <a:schemeClr val="tx1"/>
                </a:solidFill>
                <a:effectLst/>
                <a:latin typeface="+mn-lt"/>
                <a:ea typeface="+mn-ea"/>
                <a:cs typeface="+mn-cs"/>
              </a:rPr>
              <a:t>        self.title = "PyQt5 Menubar"</a:t>
            </a:r>
          </a:p>
          <a:p>
            <a:r>
              <a:rPr lang="en-US" sz="1200" b="0" i="0" kern="1200">
                <a:solidFill>
                  <a:schemeClr val="tx1"/>
                </a:solidFill>
                <a:effectLst/>
                <a:latin typeface="+mn-lt"/>
                <a:ea typeface="+mn-ea"/>
                <a:cs typeface="+mn-cs"/>
              </a:rPr>
              <a:t>        self.top = 200</a:t>
            </a:r>
          </a:p>
          <a:p>
            <a:r>
              <a:rPr lang="en-US" sz="1200" b="0" i="0" kern="1200">
                <a:solidFill>
                  <a:schemeClr val="tx1"/>
                </a:solidFill>
                <a:effectLst/>
                <a:latin typeface="+mn-lt"/>
                <a:ea typeface="+mn-ea"/>
                <a:cs typeface="+mn-cs"/>
              </a:rPr>
              <a:t>        self.left = 500</a:t>
            </a:r>
          </a:p>
          <a:p>
            <a:r>
              <a:rPr lang="en-US" sz="1200" b="0" i="0" kern="1200">
                <a:solidFill>
                  <a:schemeClr val="tx1"/>
                </a:solidFill>
                <a:effectLst/>
                <a:latin typeface="+mn-lt"/>
                <a:ea typeface="+mn-ea"/>
                <a:cs typeface="+mn-cs"/>
              </a:rPr>
              <a:t>        self.width = 680</a:t>
            </a:r>
          </a:p>
          <a:p>
            <a:r>
              <a:rPr lang="en-US" sz="1200" b="0" i="0" kern="1200">
                <a:solidFill>
                  <a:schemeClr val="tx1"/>
                </a:solidFill>
                <a:effectLst/>
                <a:latin typeface="+mn-lt"/>
                <a:ea typeface="+mn-ea"/>
                <a:cs typeface="+mn-cs"/>
              </a:rPr>
              <a:t>        self.height = 480</a:t>
            </a:r>
          </a:p>
          <a:p>
            <a:r>
              <a:rPr lang="en-US" sz="1200" b="0" i="0" kern="1200">
                <a:solidFill>
                  <a:schemeClr val="tx1"/>
                </a:solidFill>
                <a:effectLst/>
                <a:latin typeface="+mn-lt"/>
                <a:ea typeface="+mn-ea"/>
                <a:cs typeface="+mn-cs"/>
              </a:rPr>
              <a:t>        self.setWindowIcon(QtGui.QIcon("icon.png"))</a:t>
            </a:r>
          </a:p>
          <a:p>
            <a:r>
              <a:rPr lang="en-US" sz="1200" b="0" i="0" kern="1200">
                <a:solidFill>
                  <a:schemeClr val="tx1"/>
                </a:solidFill>
                <a:effectLst/>
                <a:latin typeface="+mn-lt"/>
                <a:ea typeface="+mn-ea"/>
                <a:cs typeface="+mn-cs"/>
              </a:rPr>
              <a:t>        self.setWindowTitle(self.title)</a:t>
            </a:r>
          </a:p>
          <a:p>
            <a:r>
              <a:rPr lang="en-US" sz="1200" b="0" i="0" kern="1200">
                <a:solidFill>
                  <a:schemeClr val="tx1"/>
                </a:solidFill>
                <a:effectLst/>
                <a:latin typeface="+mn-lt"/>
                <a:ea typeface="+mn-ea"/>
                <a:cs typeface="+mn-cs"/>
              </a:rPr>
              <a:t>        self.setGeometry(self.left, self.top, self.width, self.height)</a:t>
            </a:r>
          </a:p>
          <a:p>
            <a:r>
              <a:rPr lang="en-US" sz="1200" b="0" i="0" kern="1200">
                <a:solidFill>
                  <a:schemeClr val="tx1"/>
                </a:solidFill>
                <a:effectLst/>
                <a:latin typeface="+mn-lt"/>
                <a:ea typeface="+mn-ea"/>
                <a:cs typeface="+mn-cs"/>
              </a:rPr>
              <a:t>        self.CreateMenu()</a:t>
            </a:r>
          </a:p>
          <a:p>
            <a:r>
              <a:rPr lang="en-US" sz="1200" b="0" i="0" kern="1200">
                <a:solidFill>
                  <a:schemeClr val="tx1"/>
                </a:solidFill>
                <a:effectLst/>
                <a:latin typeface="+mn-lt"/>
                <a:ea typeface="+mn-ea"/>
                <a:cs typeface="+mn-cs"/>
              </a:rPr>
              <a:t>        self.show()</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CreateMenu(self):</a:t>
            </a:r>
          </a:p>
          <a:p>
            <a:r>
              <a:rPr lang="en-US" sz="1200" b="0" i="0" kern="1200">
                <a:solidFill>
                  <a:schemeClr val="tx1"/>
                </a:solidFill>
                <a:effectLst/>
                <a:latin typeface="+mn-lt"/>
                <a:ea typeface="+mn-ea"/>
                <a:cs typeface="+mn-cs"/>
              </a:rPr>
              <a:t>        mainMenu = self.menuBar()</a:t>
            </a:r>
          </a:p>
          <a:p>
            <a:r>
              <a:rPr lang="en-US" sz="1200" b="0" i="0" kern="1200">
                <a:solidFill>
                  <a:schemeClr val="tx1"/>
                </a:solidFill>
                <a:effectLst/>
                <a:latin typeface="+mn-lt"/>
                <a:ea typeface="+mn-ea"/>
                <a:cs typeface="+mn-cs"/>
              </a:rPr>
              <a:t>        fileMenu = mainMenu.addMenu('File')</a:t>
            </a:r>
          </a:p>
          <a:p>
            <a:r>
              <a:rPr lang="en-US" sz="1200" b="0" i="0" kern="1200">
                <a:solidFill>
                  <a:schemeClr val="tx1"/>
                </a:solidFill>
                <a:effectLst/>
                <a:latin typeface="+mn-lt"/>
                <a:ea typeface="+mn-ea"/>
                <a:cs typeface="+mn-cs"/>
              </a:rPr>
              <a:t>        editMenu = mainMenu.addMenu('Edit')</a:t>
            </a:r>
          </a:p>
          <a:p>
            <a:r>
              <a:rPr lang="en-US" sz="1200" b="0" i="0" kern="1200">
                <a:solidFill>
                  <a:schemeClr val="tx1"/>
                </a:solidFill>
                <a:effectLst/>
                <a:latin typeface="+mn-lt"/>
                <a:ea typeface="+mn-ea"/>
                <a:cs typeface="+mn-cs"/>
              </a:rPr>
              <a:t>        viewMenu = mainMenu.addMenu('View')</a:t>
            </a:r>
          </a:p>
          <a:p>
            <a:r>
              <a:rPr lang="en-US" sz="1200" b="0" i="0" kern="1200">
                <a:solidFill>
                  <a:schemeClr val="tx1"/>
                </a:solidFill>
                <a:effectLst/>
                <a:latin typeface="+mn-lt"/>
                <a:ea typeface="+mn-ea"/>
                <a:cs typeface="+mn-cs"/>
              </a:rPr>
              <a:t>        helpMenu = mainMenu.addMenu('Help')</a:t>
            </a:r>
          </a:p>
          <a:p>
            <a:r>
              <a:rPr lang="en-US" sz="1200" b="0" i="0" kern="1200">
                <a:solidFill>
                  <a:schemeClr val="tx1"/>
                </a:solidFill>
                <a:effectLst/>
                <a:latin typeface="+mn-lt"/>
                <a:ea typeface="+mn-ea"/>
                <a:cs typeface="+mn-cs"/>
              </a:rPr>
              <a:t>        copyAction = QAction(QIcon("copy.png"), 'Copy', self)</a:t>
            </a:r>
          </a:p>
          <a:p>
            <a:r>
              <a:rPr lang="en-US" sz="1200" b="0" i="0" kern="1200">
                <a:solidFill>
                  <a:schemeClr val="tx1"/>
                </a:solidFill>
                <a:effectLst/>
                <a:latin typeface="+mn-lt"/>
                <a:ea typeface="+mn-ea"/>
                <a:cs typeface="+mn-cs"/>
              </a:rPr>
              <a:t>        copyAction.setShortcut("Ctrl+C")</a:t>
            </a:r>
          </a:p>
          <a:p>
            <a:r>
              <a:rPr lang="en-US" sz="1200" b="0" i="0" kern="1200">
                <a:solidFill>
                  <a:schemeClr val="tx1"/>
                </a:solidFill>
                <a:effectLst/>
                <a:latin typeface="+mn-lt"/>
                <a:ea typeface="+mn-ea"/>
                <a:cs typeface="+mn-cs"/>
              </a:rPr>
              <a:t>        fileMenu.addAction(copyAction)</a:t>
            </a:r>
          </a:p>
          <a:p>
            <a:r>
              <a:rPr lang="en-US" sz="1200" b="0" i="0" kern="1200">
                <a:solidFill>
                  <a:schemeClr val="tx1"/>
                </a:solidFill>
                <a:effectLst/>
                <a:latin typeface="+mn-lt"/>
                <a:ea typeface="+mn-ea"/>
                <a:cs typeface="+mn-cs"/>
              </a:rPr>
              <a:t>        saveAction = QAction(QIcon("Save.png"), 'Save', self)</a:t>
            </a:r>
          </a:p>
          <a:p>
            <a:r>
              <a:rPr lang="en-US" sz="1200" b="0" i="0" kern="1200">
                <a:solidFill>
                  <a:schemeClr val="tx1"/>
                </a:solidFill>
                <a:effectLst/>
                <a:latin typeface="+mn-lt"/>
                <a:ea typeface="+mn-ea"/>
                <a:cs typeface="+mn-cs"/>
              </a:rPr>
              <a:t>        saveAction.setShortcut("Ctrl+S")</a:t>
            </a:r>
          </a:p>
          <a:p>
            <a:r>
              <a:rPr lang="en-US" sz="1200" b="0" i="0" kern="1200">
                <a:solidFill>
                  <a:schemeClr val="tx1"/>
                </a:solidFill>
                <a:effectLst/>
                <a:latin typeface="+mn-lt"/>
                <a:ea typeface="+mn-ea"/>
                <a:cs typeface="+mn-cs"/>
              </a:rPr>
              <a:t>        fileMenu.addAction(saveAction)</a:t>
            </a:r>
          </a:p>
          <a:p>
            <a:r>
              <a:rPr lang="en-US" sz="1200" b="0" i="0" kern="1200">
                <a:solidFill>
                  <a:schemeClr val="tx1"/>
                </a:solidFill>
                <a:effectLst/>
                <a:latin typeface="+mn-lt"/>
                <a:ea typeface="+mn-ea"/>
                <a:cs typeface="+mn-cs"/>
              </a:rPr>
              <a:t>        pasteAction = QAction(QIcon("Paste.png"), 'Paste', self)</a:t>
            </a:r>
          </a:p>
          <a:p>
            <a:r>
              <a:rPr lang="en-US" sz="1200" b="0" i="0" kern="1200">
                <a:solidFill>
                  <a:schemeClr val="tx1"/>
                </a:solidFill>
                <a:effectLst/>
                <a:latin typeface="+mn-lt"/>
                <a:ea typeface="+mn-ea"/>
                <a:cs typeface="+mn-cs"/>
              </a:rPr>
              <a:t>        pasteAction.setShortcut("Ctrl+P")</a:t>
            </a:r>
          </a:p>
          <a:p>
            <a:r>
              <a:rPr lang="en-US" sz="1200" b="0" i="0" kern="1200">
                <a:solidFill>
                  <a:schemeClr val="tx1"/>
                </a:solidFill>
                <a:effectLst/>
                <a:latin typeface="+mn-lt"/>
                <a:ea typeface="+mn-ea"/>
                <a:cs typeface="+mn-cs"/>
              </a:rPr>
              <a:t>        fileMenu.addAction(pasteAction)</a:t>
            </a:r>
          </a:p>
          <a:p>
            <a:r>
              <a:rPr lang="en-US" sz="1200" b="0" i="0" kern="1200">
                <a:solidFill>
                  <a:schemeClr val="tx1"/>
                </a:solidFill>
                <a:effectLst/>
                <a:latin typeface="+mn-lt"/>
                <a:ea typeface="+mn-ea"/>
                <a:cs typeface="+mn-cs"/>
              </a:rPr>
              <a:t>        exiteAction = QAction(QIcon("exit.png"), 'Exit', self)</a:t>
            </a:r>
          </a:p>
          <a:p>
            <a:r>
              <a:rPr lang="en-US" sz="1200" b="0" i="0" kern="1200">
                <a:solidFill>
                  <a:schemeClr val="tx1"/>
                </a:solidFill>
                <a:effectLst/>
                <a:latin typeface="+mn-lt"/>
                <a:ea typeface="+mn-ea"/>
                <a:cs typeface="+mn-cs"/>
              </a:rPr>
              <a:t>        exiteAction.setShortcut("Ctrl+E")</a:t>
            </a:r>
          </a:p>
          <a:p>
            <a:r>
              <a:rPr lang="en-US" sz="1200" b="0" i="0" kern="1200">
                <a:solidFill>
                  <a:schemeClr val="tx1"/>
                </a:solidFill>
                <a:effectLst/>
                <a:latin typeface="+mn-lt"/>
                <a:ea typeface="+mn-ea"/>
                <a:cs typeface="+mn-cs"/>
              </a:rPr>
              <a:t>        exiteAction.triggered.connect(self.exitWindow)</a:t>
            </a:r>
          </a:p>
          <a:p>
            <a:r>
              <a:rPr lang="en-US" sz="1200" b="0" i="0" kern="1200">
                <a:solidFill>
                  <a:schemeClr val="tx1"/>
                </a:solidFill>
                <a:effectLst/>
                <a:latin typeface="+mn-lt"/>
                <a:ea typeface="+mn-ea"/>
                <a:cs typeface="+mn-cs"/>
              </a:rPr>
              <a:t>        fileMenu.addAction(exiteAction)</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def exitWindow(self):</a:t>
            </a:r>
          </a:p>
          <a:p>
            <a:r>
              <a:rPr lang="en-US" sz="1200" b="0" i="0" kern="1200">
                <a:solidFill>
                  <a:schemeClr val="tx1"/>
                </a:solidFill>
                <a:effectLst/>
                <a:latin typeface="+mn-lt"/>
                <a:ea typeface="+mn-ea"/>
                <a:cs typeface="+mn-cs"/>
              </a:rPr>
              <a:t>        self.close()</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App = QApplication(sys.argv)</a:t>
            </a:r>
          </a:p>
          <a:p>
            <a:r>
              <a:rPr lang="en-US" sz="1200" b="0" i="0" kern="1200">
                <a:solidFill>
                  <a:schemeClr val="tx1"/>
                </a:solidFill>
                <a:effectLst/>
                <a:latin typeface="+mn-lt"/>
                <a:ea typeface="+mn-ea"/>
                <a:cs typeface="+mn-cs"/>
              </a:rPr>
              <a:t>window = Window()</a:t>
            </a:r>
          </a:p>
          <a:p>
            <a:r>
              <a:rPr lang="en-US" sz="1200" b="0" i="0" kern="1200">
                <a:solidFill>
                  <a:schemeClr val="tx1"/>
                </a:solidFill>
                <a:effectLst/>
                <a:latin typeface="+mn-lt"/>
                <a:ea typeface="+mn-ea"/>
                <a:cs typeface="+mn-cs"/>
              </a:rPr>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69</a:t>
            </a:fld>
            <a:endParaRPr lang="en-US"/>
          </a:p>
        </p:txBody>
      </p:sp>
    </p:spTree>
    <p:extLst>
      <p:ext uri="{BB962C8B-B14F-4D97-AF65-F5344CB8AC3E}">
        <p14:creationId xmlns:p14="http://schemas.microsoft.com/office/powerpoint/2010/main" val="42711166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https://codeloop.org/pyqt5-desktop-application-development-creating-qtoolbar/</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70</a:t>
            </a:fld>
            <a:endParaRPr lang="en-US"/>
          </a:p>
        </p:txBody>
      </p:sp>
    </p:spTree>
    <p:extLst>
      <p:ext uri="{BB962C8B-B14F-4D97-AF65-F5344CB8AC3E}">
        <p14:creationId xmlns:p14="http://schemas.microsoft.com/office/powerpoint/2010/main" val="40466316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a:t>
            </a:r>
          </a:p>
          <a:p>
            <a:r>
              <a:rPr lang="en-US"/>
              <a:t>import sys</a:t>
            </a:r>
          </a:p>
          <a:p>
            <a:r>
              <a:rPr lang="en-US"/>
              <a:t>from PyQt5.QtGui import QIcon</a:t>
            </a:r>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self.CreateMenu()</a:t>
            </a:r>
          </a:p>
          <a:p>
            <a:r>
              <a:rPr lang="en-US"/>
              <a:t>        self.show()</a:t>
            </a:r>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copyAction = QAction(QIcon("copy.png"), 'Copy', self)</a:t>
            </a:r>
          </a:p>
          <a:p>
            <a:r>
              <a:rPr lang="en-US"/>
              <a:t>        copyAction.setShortcut("Ctrl+C")</a:t>
            </a:r>
          </a:p>
          <a:p>
            <a:r>
              <a:rPr lang="en-US"/>
              <a:t>        fileMenu.addAction(copyAction)</a:t>
            </a:r>
          </a:p>
          <a:p>
            <a:r>
              <a:rPr lang="en-US"/>
              <a:t>        saveAction = QAction(QIcon("Save.png"), 'Save', self)</a:t>
            </a:r>
          </a:p>
          <a:p>
            <a:r>
              <a:rPr lang="en-US"/>
              <a:t>        saveAction.setShortcut("Ctrl+S")</a:t>
            </a:r>
          </a:p>
          <a:p>
            <a:r>
              <a:rPr lang="en-US"/>
              <a:t>        fileMenu.addAction(saveAction)</a:t>
            </a:r>
          </a:p>
          <a:p>
            <a:r>
              <a:rPr lang="en-US"/>
              <a:t>        pasteAction = QAction(QIcon("Paste.png"), 'Paste', self)</a:t>
            </a:r>
          </a:p>
          <a:p>
            <a:r>
              <a:rPr lang="en-US"/>
              <a:t>        pasteAction.setShortcut("Ctrl+P")</a:t>
            </a:r>
          </a:p>
          <a:p>
            <a:r>
              <a:rPr lang="en-US"/>
              <a:t>        fileMenu.addAction(pasteAction)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def exitWindow(self):</a:t>
            </a:r>
          </a:p>
          <a:p>
            <a:r>
              <a:rPr lang="en-US"/>
              <a:t>        self.close()</a:t>
            </a:r>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72</a:t>
            </a:fld>
            <a:endParaRPr lang="en-US"/>
          </a:p>
        </p:txBody>
      </p:sp>
    </p:spTree>
    <p:extLst>
      <p:ext uri="{BB962C8B-B14F-4D97-AF65-F5344CB8AC3E}">
        <p14:creationId xmlns:p14="http://schemas.microsoft.com/office/powerpoint/2010/main" val="21433468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a:t>
            </a:r>
          </a:p>
          <a:p>
            <a:r>
              <a:rPr lang="en-US"/>
              <a:t>import sys</a:t>
            </a:r>
          </a:p>
          <a:p>
            <a:r>
              <a:rPr lang="en-US"/>
              <a:t>from PyQt5.QtGui import QIcon</a:t>
            </a:r>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copyAction = QAction(QIcon("copy.png"), 'Copy', self)</a:t>
            </a:r>
          </a:p>
          <a:p>
            <a:r>
              <a:rPr lang="en-US"/>
              <a:t>        copyAction.setShortcut("Ctrl+C")</a:t>
            </a:r>
          </a:p>
          <a:p>
            <a:r>
              <a:rPr lang="en-US"/>
              <a:t>        fileMenu.addAction(copyAction)</a:t>
            </a:r>
          </a:p>
          <a:p>
            <a:r>
              <a:rPr lang="en-US"/>
              <a:t>        saveAction = QAction(QIcon("Save.png"), 'Save', self)</a:t>
            </a:r>
          </a:p>
          <a:p>
            <a:r>
              <a:rPr lang="en-US"/>
              <a:t>        saveAction.setShortcut("Ctrl+S")</a:t>
            </a:r>
          </a:p>
          <a:p>
            <a:r>
              <a:rPr lang="en-US"/>
              <a:t>        fileMenu.addAction(saveAction)</a:t>
            </a:r>
          </a:p>
          <a:p>
            <a:r>
              <a:rPr lang="en-US"/>
              <a:t>        pasteAction = QAction(QIcon("Paste.png"), 'Paste', self)</a:t>
            </a:r>
          </a:p>
          <a:p>
            <a:r>
              <a:rPr lang="en-US"/>
              <a:t>        pasteAction.setShortcut("Ctrl+P")</a:t>
            </a:r>
          </a:p>
          <a:p>
            <a:r>
              <a:rPr lang="en-US"/>
              <a:t>        fileMenu.addAction(pasteAction)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def exitWindow(self):</a:t>
            </a:r>
          </a:p>
          <a:p>
            <a:r>
              <a:rPr lang="en-US"/>
              <a:t>        self.close()</a:t>
            </a:r>
          </a:p>
          <a:p>
            <a:r>
              <a:rPr lang="en-US"/>
              <a:t>    def createEditor(self):</a:t>
            </a:r>
          </a:p>
          <a:p>
            <a:r>
              <a:rPr lang="en-US"/>
              <a:t>        self.textEdit = QTextEdit(self)</a:t>
            </a:r>
          </a:p>
          <a:p>
            <a:r>
              <a:rPr lang="en-US"/>
              <a:t>        self.setCentralWidget(self.textEdit)</a:t>
            </a:r>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75</a:t>
            </a:fld>
            <a:endParaRPr lang="en-US"/>
          </a:p>
        </p:txBody>
      </p:sp>
    </p:spTree>
    <p:extLst>
      <p:ext uri="{BB962C8B-B14F-4D97-AF65-F5344CB8AC3E}">
        <p14:creationId xmlns:p14="http://schemas.microsoft.com/office/powerpoint/2010/main" val="37098391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76</a:t>
            </a:fld>
            <a:endParaRPr lang="en-US"/>
          </a:p>
        </p:txBody>
      </p:sp>
    </p:spTree>
    <p:extLst>
      <p:ext uri="{BB962C8B-B14F-4D97-AF65-F5344CB8AC3E}">
        <p14:creationId xmlns:p14="http://schemas.microsoft.com/office/powerpoint/2010/main" val="20032229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 QFontDialog</a:t>
            </a:r>
          </a:p>
          <a:p>
            <a:r>
              <a:rPr lang="en-US"/>
              <a:t>import sys</a:t>
            </a:r>
          </a:p>
          <a:p>
            <a:r>
              <a:rPr lang="en-US"/>
              <a:t>from PyQt5.QtGui import QIcon</a:t>
            </a:r>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copyAction = QAction(QIcon("copy.png"), 'Copy', self)</a:t>
            </a:r>
          </a:p>
          <a:p>
            <a:r>
              <a:rPr lang="en-US"/>
              <a:t>        copyAction.setShortcut("Ctrl+C")</a:t>
            </a:r>
          </a:p>
          <a:p>
            <a:r>
              <a:rPr lang="en-US"/>
              <a:t>        editMenu.addAction(copyAction)</a:t>
            </a:r>
          </a:p>
          <a:p>
            <a:r>
              <a:rPr lang="en-US"/>
              <a:t>        saveAction = QAction(QIcon("Save.png"), 'Save', self)</a:t>
            </a:r>
          </a:p>
          <a:p>
            <a:r>
              <a:rPr lang="en-US"/>
              <a:t>        saveAction.setShortcut("Ctrl+S")</a:t>
            </a:r>
          </a:p>
          <a:p>
            <a:r>
              <a:rPr lang="en-US"/>
              <a:t>        editMenu.addAction(saveAction)</a:t>
            </a:r>
          </a:p>
          <a:p>
            <a:r>
              <a:rPr lang="en-US"/>
              <a:t>        pasteAction = QAction(QIcon("Paste.png"), 'Paste', self)</a:t>
            </a:r>
          </a:p>
          <a:p>
            <a:r>
              <a:rPr lang="en-US"/>
              <a:t>        pasteAction.setShortcut("Ctrl+P")</a:t>
            </a:r>
          </a:p>
          <a:p>
            <a:r>
              <a:rPr lang="en-US"/>
              <a:t>        editMenu.addAction(pasteAction)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fontAction = QAction(QIcon("font.png"), "Font", self)</a:t>
            </a:r>
          </a:p>
          <a:p>
            <a:r>
              <a:rPr lang="en-US"/>
              <a:t>        fontAction.setShortcut("Ctrl+F")</a:t>
            </a:r>
          </a:p>
          <a:p>
            <a:r>
              <a:rPr lang="en-US"/>
              <a:t>        fontAction.triggered.connect(self.fontDialog)</a:t>
            </a:r>
          </a:p>
          <a:p>
            <a:r>
              <a:rPr lang="en-US"/>
              <a:t>        viewMenu.addAction(fontAction)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self.toolbar.addAction(fontAction)</a:t>
            </a:r>
          </a:p>
          <a:p>
            <a:r>
              <a:rPr lang="en-US"/>
              <a:t>    def exitWindow(self):</a:t>
            </a:r>
          </a:p>
          <a:p>
            <a:r>
              <a:rPr lang="en-US"/>
              <a:t>        self.close()</a:t>
            </a:r>
          </a:p>
          <a:p>
            <a:r>
              <a:rPr lang="en-US"/>
              <a:t>    def createEditor(self):</a:t>
            </a:r>
          </a:p>
          <a:p>
            <a:r>
              <a:rPr lang="en-US"/>
              <a:t>        self.textEdit = QTextEdit(self)</a:t>
            </a:r>
          </a:p>
          <a:p>
            <a:r>
              <a:rPr lang="en-US"/>
              <a:t>        self.setCentralWidget(self.textEdit)</a:t>
            </a:r>
          </a:p>
          <a:p>
            <a:r>
              <a:rPr lang="en-US"/>
              <a:t>    def fontDialog(self):</a:t>
            </a:r>
          </a:p>
          <a:p>
            <a:r>
              <a:rPr lang="en-US"/>
              <a:t>        font, ok = QFontDialog.getFont()</a:t>
            </a:r>
          </a:p>
          <a:p>
            <a:r>
              <a:rPr lang="en-US"/>
              <a:t>        if ok:</a:t>
            </a:r>
          </a:p>
          <a:p>
            <a:r>
              <a:rPr lang="en-US"/>
              <a:t>            self.textEdit.setFont(font)</a:t>
            </a:r>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78</a:t>
            </a:fld>
            <a:endParaRPr lang="en-US"/>
          </a:p>
        </p:txBody>
      </p:sp>
    </p:spTree>
    <p:extLst>
      <p:ext uri="{BB962C8B-B14F-4D97-AF65-F5344CB8AC3E}">
        <p14:creationId xmlns:p14="http://schemas.microsoft.com/office/powerpoint/2010/main" val="13750136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https://codeloop.org/how-to-create-qcolordialog-in-pyqt5/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79</a:t>
            </a:fld>
            <a:endParaRPr lang="en-US"/>
          </a:p>
        </p:txBody>
      </p:sp>
    </p:spTree>
    <p:extLst>
      <p:ext uri="{BB962C8B-B14F-4D97-AF65-F5344CB8AC3E}">
        <p14:creationId xmlns:p14="http://schemas.microsoft.com/office/powerpoint/2010/main" val="26179346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 QFontDialog, QColorDialog</a:t>
            </a:r>
          </a:p>
          <a:p>
            <a:r>
              <a:rPr lang="en-US"/>
              <a:t>import sys</a:t>
            </a:r>
          </a:p>
          <a:p>
            <a:r>
              <a:rPr lang="en-US"/>
              <a:t>from PyQt5.QtGui import QIcon</a:t>
            </a:r>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copyAction = QAction(QIcon("copy.png"), 'Copy', self)</a:t>
            </a:r>
          </a:p>
          <a:p>
            <a:r>
              <a:rPr lang="en-US"/>
              <a:t>        copyAction.setShortcut("Ctrl+C")</a:t>
            </a:r>
          </a:p>
          <a:p>
            <a:r>
              <a:rPr lang="en-US"/>
              <a:t>        editMenu.addAction(copyAction)</a:t>
            </a:r>
          </a:p>
          <a:p>
            <a:r>
              <a:rPr lang="en-US"/>
              <a:t>        saveAction = QAction(QIcon("Save.png"), 'Save', self)</a:t>
            </a:r>
          </a:p>
          <a:p>
            <a:r>
              <a:rPr lang="en-US"/>
              <a:t>        saveAction.setShortcut("Ctrl+S")</a:t>
            </a:r>
          </a:p>
          <a:p>
            <a:r>
              <a:rPr lang="en-US"/>
              <a:t>        editMenu.addAction(saveAction)</a:t>
            </a:r>
          </a:p>
          <a:p>
            <a:r>
              <a:rPr lang="en-US"/>
              <a:t>        pasteAction = QAction(QIcon("Paste.png"), 'Paste', self)</a:t>
            </a:r>
          </a:p>
          <a:p>
            <a:r>
              <a:rPr lang="en-US"/>
              <a:t>        pasteAction.setShortcut("Ctrl+P")</a:t>
            </a:r>
          </a:p>
          <a:p>
            <a:r>
              <a:rPr lang="en-US"/>
              <a:t>        editMenu.addAction(pasteAction)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fontAction = QAction(QIcon("font.png"), "Font", self)</a:t>
            </a:r>
          </a:p>
          <a:p>
            <a:r>
              <a:rPr lang="en-US"/>
              <a:t>        fontAction.setShortcut("Ctrl+F")</a:t>
            </a:r>
          </a:p>
          <a:p>
            <a:r>
              <a:rPr lang="en-US"/>
              <a:t>        fontAction.triggered.connect(self.fontDialog)</a:t>
            </a:r>
          </a:p>
          <a:p>
            <a:r>
              <a:rPr lang="en-US"/>
              <a:t>        viewMenu.addAction(fontAction)</a:t>
            </a:r>
          </a:p>
          <a:p>
            <a:r>
              <a:rPr lang="en-US"/>
              <a:t>        colorAction = QAction(QIcon("color.png"), "Color", self)</a:t>
            </a:r>
          </a:p>
          <a:p>
            <a:r>
              <a:rPr lang="en-US"/>
              <a:t>        colorAction.triggered.connect(self.colorDialog)</a:t>
            </a:r>
          </a:p>
          <a:p>
            <a:r>
              <a:rPr lang="en-US"/>
              <a:t>        viewMenu.addAction(colorAction)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self.toolbar.addAction(fontAction)</a:t>
            </a:r>
          </a:p>
          <a:p>
            <a:r>
              <a:rPr lang="en-US"/>
              <a:t>        self.toolbar.addAction(colorAction)</a:t>
            </a:r>
          </a:p>
          <a:p>
            <a:r>
              <a:rPr lang="en-US"/>
              <a:t>    def exitWindow(self):</a:t>
            </a:r>
          </a:p>
          <a:p>
            <a:r>
              <a:rPr lang="en-US"/>
              <a:t>        self.close()</a:t>
            </a:r>
          </a:p>
          <a:p>
            <a:r>
              <a:rPr lang="en-US"/>
              <a:t>    def createEditor(self):</a:t>
            </a:r>
          </a:p>
          <a:p>
            <a:r>
              <a:rPr lang="en-US"/>
              <a:t>        self.textEdit = QTextEdit(self)</a:t>
            </a:r>
          </a:p>
          <a:p>
            <a:r>
              <a:rPr lang="en-US"/>
              <a:t>        self.setCentralWidget(self.textEdit)</a:t>
            </a:r>
          </a:p>
          <a:p>
            <a:r>
              <a:rPr lang="en-US"/>
              <a:t>    def fontDialog(self):</a:t>
            </a:r>
          </a:p>
          <a:p>
            <a:r>
              <a:rPr lang="en-US"/>
              <a:t>        font, ok = QFontDialog.getFont()</a:t>
            </a:r>
          </a:p>
          <a:p>
            <a:r>
              <a:rPr lang="en-US"/>
              <a:t>        if ok:</a:t>
            </a:r>
          </a:p>
          <a:p>
            <a:r>
              <a:rPr lang="en-US"/>
              <a:t>            self.textEdit.setFont(font)</a:t>
            </a:r>
          </a:p>
          <a:p>
            <a:r>
              <a:rPr lang="en-US"/>
              <a:t>    def colorDialog(self):</a:t>
            </a:r>
          </a:p>
          <a:p>
            <a:r>
              <a:rPr lang="en-US"/>
              <a:t>        color = QColorDialog.getColor()</a:t>
            </a:r>
          </a:p>
          <a:p>
            <a:r>
              <a:rPr lang="en-US"/>
              <a:t>        self.textEdit.setTextColor(color)</a:t>
            </a:r>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81</a:t>
            </a:fld>
            <a:endParaRPr lang="en-US"/>
          </a:p>
        </p:txBody>
      </p:sp>
    </p:spTree>
    <p:extLst>
      <p:ext uri="{BB962C8B-B14F-4D97-AF65-F5344CB8AC3E}">
        <p14:creationId xmlns:p14="http://schemas.microsoft.com/office/powerpoint/2010/main" val="18373331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https://codeloop.org/creating-qprintdialog-in-pyqt5/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82</a:t>
            </a:fld>
            <a:endParaRPr lang="en-US"/>
          </a:p>
        </p:txBody>
      </p:sp>
    </p:spTree>
    <p:extLst>
      <p:ext uri="{BB962C8B-B14F-4D97-AF65-F5344CB8AC3E}">
        <p14:creationId xmlns:p14="http://schemas.microsoft.com/office/powerpoint/2010/main" val="40511217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 QFontDialog, QColorDialog</a:t>
            </a:r>
          </a:p>
          <a:p>
            <a:r>
              <a:rPr lang="en-US"/>
              <a:t>import sys</a:t>
            </a:r>
          </a:p>
          <a:p>
            <a:r>
              <a:rPr lang="en-US"/>
              <a:t>from PyQt5.QtGui import QIcon</a:t>
            </a:r>
          </a:p>
          <a:p>
            <a:r>
              <a:rPr lang="en-US"/>
              <a:t>from PyQt5.QtPrintSupport import QPrintDialog, QPrinter</a:t>
            </a:r>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endParaRPr lang="en-US"/>
          </a:p>
          <a:p>
            <a:endParaRPr lang="en-US"/>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printAction = QAction(QIcon("print.png"), "Print", self)</a:t>
            </a:r>
          </a:p>
          <a:p>
            <a:r>
              <a:rPr lang="en-US"/>
              <a:t>        printAction.triggered.connect(self.printDialog)</a:t>
            </a:r>
          </a:p>
          <a:p>
            <a:r>
              <a:rPr lang="en-US"/>
              <a:t>        fileMenu.addAction(printAction)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copyAction = QAction(QIcon("copy.png"), 'Copy', self)</a:t>
            </a:r>
          </a:p>
          <a:p>
            <a:r>
              <a:rPr lang="en-US"/>
              <a:t>        copyAction.setShortcut("Ctrl+C")</a:t>
            </a:r>
          </a:p>
          <a:p>
            <a:r>
              <a:rPr lang="en-US"/>
              <a:t>        editMenu.addAction(copyAction)</a:t>
            </a:r>
          </a:p>
          <a:p>
            <a:r>
              <a:rPr lang="en-US"/>
              <a:t>        saveAction = QAction(QIcon("Save.png"), 'Save', self)</a:t>
            </a:r>
          </a:p>
          <a:p>
            <a:r>
              <a:rPr lang="en-US"/>
              <a:t>        saveAction.setShortcut("Ctrl+S")</a:t>
            </a:r>
          </a:p>
          <a:p>
            <a:r>
              <a:rPr lang="en-US"/>
              <a:t>        editMenu.addAction(saveAction)</a:t>
            </a:r>
          </a:p>
          <a:p>
            <a:r>
              <a:rPr lang="en-US"/>
              <a:t>        pasteAction = QAction(QIcon("Paste.png"), 'Paste', self)</a:t>
            </a:r>
          </a:p>
          <a:p>
            <a:r>
              <a:rPr lang="en-US"/>
              <a:t>        pasteAction.setShortcut("Ctrl+P")</a:t>
            </a:r>
          </a:p>
          <a:p>
            <a:r>
              <a:rPr lang="en-US"/>
              <a:t>        editMenu.addAction(pasteAction)</a:t>
            </a:r>
          </a:p>
          <a:p>
            <a:r>
              <a:rPr lang="en-US"/>
              <a:t>        fontAction = QAction(QIcon("font.png"), "Font", self)</a:t>
            </a:r>
          </a:p>
          <a:p>
            <a:r>
              <a:rPr lang="en-US"/>
              <a:t>        fontAction.setShortcut("Ctrl+F")</a:t>
            </a:r>
          </a:p>
          <a:p>
            <a:r>
              <a:rPr lang="en-US"/>
              <a:t>        fontAction.triggered.connect(self.fontDialog)</a:t>
            </a:r>
          </a:p>
          <a:p>
            <a:r>
              <a:rPr lang="en-US"/>
              <a:t>        viewMenu.addAction(fontAction)</a:t>
            </a:r>
          </a:p>
          <a:p>
            <a:r>
              <a:rPr lang="en-US"/>
              <a:t>        colorAction = QAction(QIcon("color.png"), "Color", self)</a:t>
            </a:r>
          </a:p>
          <a:p>
            <a:r>
              <a:rPr lang="en-US"/>
              <a:t>        colorAction.triggered.connect(self.colorDialog)</a:t>
            </a:r>
          </a:p>
          <a:p>
            <a:r>
              <a:rPr lang="en-US"/>
              <a:t>        viewMenu.addAction(colorAction)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self.toolbar.addAction(fontAction)</a:t>
            </a:r>
          </a:p>
          <a:p>
            <a:r>
              <a:rPr lang="en-US"/>
              <a:t>        self.toolbar.addAction(colorAction)</a:t>
            </a:r>
          </a:p>
          <a:p>
            <a:endParaRPr lang="en-US"/>
          </a:p>
          <a:p>
            <a:r>
              <a:rPr lang="en-US"/>
              <a:t>    def exitWindow(self):</a:t>
            </a:r>
          </a:p>
          <a:p>
            <a:r>
              <a:rPr lang="en-US"/>
              <a:t>        self.close()</a:t>
            </a:r>
          </a:p>
          <a:p>
            <a:r>
              <a:rPr lang="en-US"/>
              <a:t>    def createEditor(self):</a:t>
            </a:r>
          </a:p>
          <a:p>
            <a:r>
              <a:rPr lang="en-US"/>
              <a:t>        self.textEdit = QTextEdit(self)</a:t>
            </a:r>
          </a:p>
          <a:p>
            <a:r>
              <a:rPr lang="en-US"/>
              <a:t>        self.setCentralWidget(self.textEdit)</a:t>
            </a:r>
          </a:p>
          <a:p>
            <a:r>
              <a:rPr lang="en-US"/>
              <a:t>    def fontDialog(self):</a:t>
            </a:r>
          </a:p>
          <a:p>
            <a:r>
              <a:rPr lang="en-US"/>
              <a:t>        font, ok = QFontDialog.getFont()</a:t>
            </a:r>
          </a:p>
          <a:p>
            <a:r>
              <a:rPr lang="en-US"/>
              <a:t>        if ok:</a:t>
            </a:r>
          </a:p>
          <a:p>
            <a:r>
              <a:rPr lang="en-US"/>
              <a:t>            self.textEdit.setFont(font)</a:t>
            </a:r>
          </a:p>
          <a:p>
            <a:endParaRPr lang="en-US"/>
          </a:p>
          <a:p>
            <a:r>
              <a:rPr lang="en-US"/>
              <a:t>    def colorDialog(self):</a:t>
            </a:r>
          </a:p>
          <a:p>
            <a:r>
              <a:rPr lang="en-US"/>
              <a:t>        color = QColorDialog.getColor()</a:t>
            </a:r>
          </a:p>
          <a:p>
            <a:r>
              <a:rPr lang="en-US"/>
              <a:t>        self.textEdit.setTextColor(color)</a:t>
            </a:r>
          </a:p>
          <a:p>
            <a:endParaRPr lang="en-US"/>
          </a:p>
          <a:p>
            <a:r>
              <a:rPr lang="en-US"/>
              <a:t>    def printDialog(self):</a:t>
            </a:r>
          </a:p>
          <a:p>
            <a:r>
              <a:rPr lang="en-US"/>
              <a:t>        printer = QPrinter(QPrinter.HighResolution)</a:t>
            </a:r>
          </a:p>
          <a:p>
            <a:r>
              <a:rPr lang="en-US"/>
              <a:t>        dialog = QPrintDialog(printer, self)</a:t>
            </a:r>
          </a:p>
          <a:p>
            <a:r>
              <a:rPr lang="en-US"/>
              <a:t>        if dialog.exec_() == QPrintDialog.Accepted:</a:t>
            </a:r>
          </a:p>
          <a:p>
            <a:r>
              <a:rPr lang="en-US"/>
              <a:t>            self.textEdit.print_(printer)</a:t>
            </a:r>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84</a:t>
            </a:fld>
            <a:endParaRPr lang="en-US"/>
          </a:p>
        </p:txBody>
      </p:sp>
    </p:spTree>
    <p:extLst>
      <p:ext uri="{BB962C8B-B14F-4D97-AF65-F5344CB8AC3E}">
        <p14:creationId xmlns:p14="http://schemas.microsoft.com/office/powerpoint/2010/main" val="12573426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https://codeloop.org/pyqt5-creating-print-preview-dialog-qprintpreviewdialog/</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85</a:t>
            </a:fld>
            <a:endParaRPr lang="en-US"/>
          </a:p>
        </p:txBody>
      </p:sp>
    </p:spTree>
    <p:extLst>
      <p:ext uri="{BB962C8B-B14F-4D97-AF65-F5344CB8AC3E}">
        <p14:creationId xmlns:p14="http://schemas.microsoft.com/office/powerpoint/2010/main" val="5987444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 QFontDialog, QColorDialog</a:t>
            </a:r>
          </a:p>
          <a:p>
            <a:r>
              <a:rPr lang="en-US"/>
              <a:t>import sys</a:t>
            </a:r>
          </a:p>
          <a:p>
            <a:r>
              <a:rPr lang="en-US"/>
              <a:t>from PyQt5.QtGui import QIcon</a:t>
            </a:r>
          </a:p>
          <a:p>
            <a:r>
              <a:rPr lang="en-US"/>
              <a:t>from PyQt5.QtPrintSupport import QPrintDialog, QPrinter, QPrintPreviewDialog</a:t>
            </a:r>
          </a:p>
          <a:p>
            <a:endParaRPr lang="en-US"/>
          </a:p>
          <a:p>
            <a:endParaRPr lang="en-US"/>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printAction = QAction(QIcon("print.png"), "Print", self)</a:t>
            </a:r>
          </a:p>
          <a:p>
            <a:r>
              <a:rPr lang="en-US"/>
              <a:t>        printAction.triggered.connect(self.printDialog)</a:t>
            </a:r>
          </a:p>
          <a:p>
            <a:r>
              <a:rPr lang="en-US"/>
              <a:t>        fileMenu.addAction(printAction)</a:t>
            </a:r>
          </a:p>
          <a:p>
            <a:r>
              <a:rPr lang="en-US"/>
              <a:t>        printPreviewAction = QAction(QIcon("printprev.png"), "Print Preview", self)</a:t>
            </a:r>
          </a:p>
          <a:p>
            <a:r>
              <a:rPr lang="en-US"/>
              <a:t>        printPreviewAction.triggered.connect(self.printpreviewDialog)</a:t>
            </a:r>
          </a:p>
          <a:p>
            <a:r>
              <a:rPr lang="en-US"/>
              <a:t>        fileMenu.addAction(printPreviewAction)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copyAction = QAction(QIcon("copy.png"), 'Copy', self)</a:t>
            </a:r>
          </a:p>
          <a:p>
            <a:r>
              <a:rPr lang="en-US"/>
              <a:t>        copyAction.setShortcut("Ctrl+C")</a:t>
            </a:r>
          </a:p>
          <a:p>
            <a:r>
              <a:rPr lang="en-US"/>
              <a:t>        editMenu.addAction(copyAction)</a:t>
            </a:r>
          </a:p>
          <a:p>
            <a:r>
              <a:rPr lang="en-US"/>
              <a:t>        saveAction = QAction(QIcon("Save.png"), 'Save', self)</a:t>
            </a:r>
          </a:p>
          <a:p>
            <a:r>
              <a:rPr lang="en-US"/>
              <a:t>        saveAction.setShortcut("Ctrl+S")</a:t>
            </a:r>
          </a:p>
          <a:p>
            <a:r>
              <a:rPr lang="en-US"/>
              <a:t>        editMenu.addAction(saveAction)</a:t>
            </a:r>
          </a:p>
          <a:p>
            <a:r>
              <a:rPr lang="en-US"/>
              <a:t>        pasteAction = QAction(QIcon("Paste.png"), 'Paste', self)</a:t>
            </a:r>
          </a:p>
          <a:p>
            <a:r>
              <a:rPr lang="en-US"/>
              <a:t>        pasteAction.setShortcut("Ctrl+P")</a:t>
            </a:r>
          </a:p>
          <a:p>
            <a:r>
              <a:rPr lang="en-US"/>
              <a:t>        editMenu.addAction(pasteAction)</a:t>
            </a:r>
          </a:p>
          <a:p>
            <a:r>
              <a:rPr lang="en-US"/>
              <a:t>        fontAction = QAction(QIcon("font.png"), "Font", self)</a:t>
            </a:r>
          </a:p>
          <a:p>
            <a:r>
              <a:rPr lang="en-US"/>
              <a:t>        fontAction.setShortcut("Ctrl+F")</a:t>
            </a:r>
          </a:p>
          <a:p>
            <a:r>
              <a:rPr lang="en-US"/>
              <a:t>        fontAction.triggered.connect(self.fontDialog)</a:t>
            </a:r>
          </a:p>
          <a:p>
            <a:r>
              <a:rPr lang="en-US"/>
              <a:t>        viewMenu.addAction(fontAction)</a:t>
            </a:r>
          </a:p>
          <a:p>
            <a:r>
              <a:rPr lang="en-US"/>
              <a:t>        colorAction = QAction(QIcon("color.png"), "Color", self)</a:t>
            </a:r>
          </a:p>
          <a:p>
            <a:r>
              <a:rPr lang="en-US"/>
              <a:t>        colorAction.triggered.connect(self.colorDialog)</a:t>
            </a:r>
          </a:p>
          <a:p>
            <a:r>
              <a:rPr lang="en-US"/>
              <a:t>        viewMenu.addAction(colorAction)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self.toolbar.addAction(fontAction)</a:t>
            </a:r>
          </a:p>
          <a:p>
            <a:r>
              <a:rPr lang="en-US"/>
              <a:t>        self.toolbar.addAction(colorAction)</a:t>
            </a:r>
          </a:p>
          <a:p>
            <a:r>
              <a:rPr lang="en-US"/>
              <a:t>        self.toolbar.addAction(printAction)</a:t>
            </a:r>
          </a:p>
          <a:p>
            <a:r>
              <a:rPr lang="en-US"/>
              <a:t>        self.toolbar.addAction(printPreviewAction)</a:t>
            </a:r>
          </a:p>
          <a:p>
            <a:r>
              <a:rPr lang="en-US"/>
              <a:t>    def exitWindow(self):</a:t>
            </a:r>
          </a:p>
          <a:p>
            <a:r>
              <a:rPr lang="en-US"/>
              <a:t>        self.close()</a:t>
            </a:r>
          </a:p>
          <a:p>
            <a:endParaRPr lang="en-US"/>
          </a:p>
          <a:p>
            <a:endParaRPr lang="en-US"/>
          </a:p>
          <a:p>
            <a:r>
              <a:rPr lang="en-US"/>
              <a:t>    def createEditor(self):</a:t>
            </a:r>
          </a:p>
          <a:p>
            <a:r>
              <a:rPr lang="en-US"/>
              <a:t>        self.textEdit = QTextEdit(self)</a:t>
            </a:r>
          </a:p>
          <a:p>
            <a:r>
              <a:rPr lang="en-US"/>
              <a:t>        self.setCentralWidget(self.textEdit)</a:t>
            </a:r>
          </a:p>
          <a:p>
            <a:endParaRPr lang="en-US"/>
          </a:p>
          <a:p>
            <a:endParaRPr lang="en-US"/>
          </a:p>
          <a:p>
            <a:r>
              <a:rPr lang="en-US"/>
              <a:t>    def fontDialog(self):</a:t>
            </a:r>
          </a:p>
          <a:p>
            <a:r>
              <a:rPr lang="en-US"/>
              <a:t>        font, ok = QFontDialog.getFont()</a:t>
            </a:r>
          </a:p>
          <a:p>
            <a:r>
              <a:rPr lang="en-US"/>
              <a:t>        if ok:</a:t>
            </a:r>
          </a:p>
          <a:p>
            <a:r>
              <a:rPr lang="en-US"/>
              <a:t>            self.textEdit.setFont(font)</a:t>
            </a:r>
          </a:p>
          <a:p>
            <a:endParaRPr lang="en-US"/>
          </a:p>
          <a:p>
            <a:endParaRPr lang="en-US"/>
          </a:p>
          <a:p>
            <a:r>
              <a:rPr lang="en-US"/>
              <a:t>    def colorDialog(self):</a:t>
            </a:r>
          </a:p>
          <a:p>
            <a:r>
              <a:rPr lang="en-US"/>
              <a:t>        color = QColorDialog.getColor()</a:t>
            </a:r>
          </a:p>
          <a:p>
            <a:r>
              <a:rPr lang="en-US"/>
              <a:t>        self.textEdit.setTextColor(color)</a:t>
            </a:r>
          </a:p>
          <a:p>
            <a:endParaRPr lang="en-US"/>
          </a:p>
          <a:p>
            <a:endParaRPr lang="en-US"/>
          </a:p>
          <a:p>
            <a:r>
              <a:rPr lang="en-US"/>
              <a:t>    def printDialog(self):</a:t>
            </a:r>
          </a:p>
          <a:p>
            <a:r>
              <a:rPr lang="en-US"/>
              <a:t>        printer = QPrinter(QPrinter.HighResolution)</a:t>
            </a:r>
          </a:p>
          <a:p>
            <a:r>
              <a:rPr lang="en-US"/>
              <a:t>        dialog = QPrintDialog(printer, self)</a:t>
            </a:r>
          </a:p>
          <a:p>
            <a:r>
              <a:rPr lang="en-US"/>
              <a:t>        if dialog.exec_() == QPrintDialog.Accepted:</a:t>
            </a:r>
          </a:p>
          <a:p>
            <a:r>
              <a:rPr lang="en-US"/>
              <a:t>            self.textEdit.print_(printer)</a:t>
            </a:r>
          </a:p>
          <a:p>
            <a:endParaRPr lang="en-US"/>
          </a:p>
          <a:p>
            <a:endParaRPr lang="en-US"/>
          </a:p>
          <a:p>
            <a:r>
              <a:rPr lang="en-US"/>
              <a:t>    def printpreviewDialog(self):</a:t>
            </a:r>
          </a:p>
          <a:p>
            <a:r>
              <a:rPr lang="en-US"/>
              <a:t>        printer = QPrinter(QPrinter.HighResolution)</a:t>
            </a:r>
          </a:p>
          <a:p>
            <a:r>
              <a:rPr lang="en-US"/>
              <a:t>        previewDialog = QPrintPreviewDialog(printer, self)</a:t>
            </a:r>
          </a:p>
          <a:p>
            <a:r>
              <a:rPr lang="en-US"/>
              <a:t>        previewDialog.paintRequested.connect(self.printPreview)</a:t>
            </a:r>
          </a:p>
          <a:p>
            <a:r>
              <a:rPr lang="en-US"/>
              <a:t>        previewDialog.exec_()</a:t>
            </a:r>
          </a:p>
          <a:p>
            <a:endParaRPr lang="en-US"/>
          </a:p>
          <a:p>
            <a:endParaRPr lang="en-US"/>
          </a:p>
          <a:p>
            <a:r>
              <a:rPr lang="en-US"/>
              <a:t>    def printPreview(self, printer):</a:t>
            </a:r>
          </a:p>
          <a:p>
            <a:r>
              <a:rPr lang="en-US"/>
              <a:t>        self.textEdit.print_(printer)</a:t>
            </a:r>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88</a:t>
            </a:fld>
            <a:endParaRPr lang="en-US"/>
          </a:p>
        </p:txBody>
      </p:sp>
    </p:spTree>
    <p:extLst>
      <p:ext uri="{BB962C8B-B14F-4D97-AF65-F5344CB8AC3E}">
        <p14:creationId xmlns:p14="http://schemas.microsoft.com/office/powerpoint/2010/main" val="11467548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https://codeloop.org/how-to-export-file-as-pdf-in-pyqt5/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89</a:t>
            </a:fld>
            <a:endParaRPr lang="en-US"/>
          </a:p>
        </p:txBody>
      </p:sp>
    </p:spTree>
    <p:extLst>
      <p:ext uri="{BB962C8B-B14F-4D97-AF65-F5344CB8AC3E}">
        <p14:creationId xmlns:p14="http://schemas.microsoft.com/office/powerpoint/2010/main" val="35331888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 QFontDialog, QColorDialog, QFileDialog</a:t>
            </a:r>
          </a:p>
          <a:p>
            <a:r>
              <a:rPr lang="en-US"/>
              <a:t>import sys</a:t>
            </a:r>
          </a:p>
          <a:p>
            <a:r>
              <a:rPr lang="en-US"/>
              <a:t>from PyQt5.QtGui import QIcon</a:t>
            </a:r>
          </a:p>
          <a:p>
            <a:r>
              <a:rPr lang="en-US"/>
              <a:t>from PyQt5.QtPrintSupport import QPrintDialog, QPrinter, QPrintPreviewDialog</a:t>
            </a:r>
          </a:p>
          <a:p>
            <a:r>
              <a:rPr lang="en-US"/>
              <a:t>from PyQt5.Qt import QFileInfo</a:t>
            </a:r>
          </a:p>
          <a:p>
            <a:endParaRPr lang="en-US"/>
          </a:p>
          <a:p>
            <a:endParaRPr lang="en-US"/>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endParaRPr lang="en-US"/>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printAction = QAction(QIcon("print.png"), "Print", self)</a:t>
            </a:r>
          </a:p>
          <a:p>
            <a:r>
              <a:rPr lang="en-US"/>
              <a:t>        printAction.triggered.connect(self.printDialog)</a:t>
            </a:r>
          </a:p>
          <a:p>
            <a:r>
              <a:rPr lang="en-US"/>
              <a:t>        fileMenu.addAction(printAction)</a:t>
            </a:r>
          </a:p>
          <a:p>
            <a:r>
              <a:rPr lang="en-US"/>
              <a:t>        printPreviewAction = QAction(QIcon("printprev.png"), "Print Preview", self)</a:t>
            </a:r>
          </a:p>
          <a:p>
            <a:r>
              <a:rPr lang="en-US"/>
              <a:t>        printPreviewAction.triggered.connect(self.printpreviewDialog)</a:t>
            </a:r>
          </a:p>
          <a:p>
            <a:r>
              <a:rPr lang="en-US"/>
              <a:t>        fileMenu.addAction(printPreviewAction)</a:t>
            </a:r>
          </a:p>
          <a:p>
            <a:r>
              <a:rPr lang="en-US"/>
              <a:t>        exportpdfAction = QAction(QIcon("pdf.png"), "Export PDF", self)</a:t>
            </a:r>
          </a:p>
          <a:p>
            <a:r>
              <a:rPr lang="en-US"/>
              <a:t>        exportpdfAction.triggered.connect(self.printPDF)</a:t>
            </a:r>
          </a:p>
          <a:p>
            <a:r>
              <a:rPr lang="en-US"/>
              <a:t>        fileMenu.addAction(exportpdfAction)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copyAction = QAction(QIcon("copy.png"), 'Copy', self)</a:t>
            </a:r>
          </a:p>
          <a:p>
            <a:r>
              <a:rPr lang="en-US"/>
              <a:t>        copyAction.setShortcut("Ctrl+C")</a:t>
            </a:r>
          </a:p>
          <a:p>
            <a:r>
              <a:rPr lang="en-US"/>
              <a:t>        editMenu.addAction(copyAction)</a:t>
            </a:r>
          </a:p>
          <a:p>
            <a:r>
              <a:rPr lang="en-US"/>
              <a:t>        saveAction = QAction(QIcon("Save.png"), 'Save', self)</a:t>
            </a:r>
          </a:p>
          <a:p>
            <a:r>
              <a:rPr lang="en-US"/>
              <a:t>        saveAction.setShortcut("Ctrl+S")</a:t>
            </a:r>
          </a:p>
          <a:p>
            <a:r>
              <a:rPr lang="en-US"/>
              <a:t>        editMenu.addAction(saveAction)</a:t>
            </a:r>
          </a:p>
          <a:p>
            <a:r>
              <a:rPr lang="en-US"/>
              <a:t>        pasteAction = QAction(QIcon("Paste.png"), 'Paste', self)</a:t>
            </a:r>
          </a:p>
          <a:p>
            <a:r>
              <a:rPr lang="en-US"/>
              <a:t>        pasteAction.setShortcut("Ctrl+P")</a:t>
            </a:r>
          </a:p>
          <a:p>
            <a:r>
              <a:rPr lang="en-US"/>
              <a:t>        editMenu.addAction(pasteAction)</a:t>
            </a:r>
          </a:p>
          <a:p>
            <a:r>
              <a:rPr lang="en-US"/>
              <a:t>        fontAction = QAction(QIcon("font.png"), "Font", self)</a:t>
            </a:r>
          </a:p>
          <a:p>
            <a:r>
              <a:rPr lang="en-US"/>
              <a:t>        fontAction.setShortcut("Ctrl+F")</a:t>
            </a:r>
          </a:p>
          <a:p>
            <a:r>
              <a:rPr lang="en-US"/>
              <a:t>        fontAction.triggered.connect(self.fontDialog)</a:t>
            </a:r>
          </a:p>
          <a:p>
            <a:r>
              <a:rPr lang="en-US"/>
              <a:t>        viewMenu.addAction(fontAction)</a:t>
            </a:r>
          </a:p>
          <a:p>
            <a:r>
              <a:rPr lang="en-US"/>
              <a:t>        colorAction = QAction(QIcon("color.png"), "Color", self)</a:t>
            </a:r>
          </a:p>
          <a:p>
            <a:r>
              <a:rPr lang="en-US"/>
              <a:t>        colorAction.triggered.connect(self.colorDialog)</a:t>
            </a:r>
          </a:p>
          <a:p>
            <a:r>
              <a:rPr lang="en-US"/>
              <a:t>        viewMenu.addAction(colorAction)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self.toolbar.addAction(fontAction)</a:t>
            </a:r>
          </a:p>
          <a:p>
            <a:r>
              <a:rPr lang="en-US"/>
              <a:t>        self.toolbar.addAction(colorAction)</a:t>
            </a:r>
          </a:p>
          <a:p>
            <a:r>
              <a:rPr lang="en-US"/>
              <a:t>        self.toolbar.addAction(printAction)</a:t>
            </a:r>
          </a:p>
          <a:p>
            <a:r>
              <a:rPr lang="en-US"/>
              <a:t>        self.toolbar.addAction(printPreviewAction)</a:t>
            </a:r>
          </a:p>
          <a:p>
            <a:r>
              <a:rPr lang="en-US"/>
              <a:t>        self.toolbar.addAction(exportpdfAction)</a:t>
            </a:r>
          </a:p>
          <a:p>
            <a:endParaRPr lang="en-US"/>
          </a:p>
          <a:p>
            <a:r>
              <a:rPr lang="en-US"/>
              <a:t>    def exitWindow(self):</a:t>
            </a:r>
          </a:p>
          <a:p>
            <a:r>
              <a:rPr lang="en-US"/>
              <a:t>        self.close()</a:t>
            </a:r>
          </a:p>
          <a:p>
            <a:endParaRPr lang="en-US"/>
          </a:p>
          <a:p>
            <a:r>
              <a:rPr lang="en-US"/>
              <a:t>    def createEditor(self):</a:t>
            </a:r>
          </a:p>
          <a:p>
            <a:r>
              <a:rPr lang="en-US"/>
              <a:t>        self.textEdit = QTextEdit(self)</a:t>
            </a:r>
          </a:p>
          <a:p>
            <a:r>
              <a:rPr lang="en-US"/>
              <a:t>        self.setCentralWidget(self.textEdit)</a:t>
            </a:r>
          </a:p>
          <a:p>
            <a:endParaRPr lang="en-US"/>
          </a:p>
          <a:p>
            <a:r>
              <a:rPr lang="en-US"/>
              <a:t>    def fontDialog(self):</a:t>
            </a:r>
          </a:p>
          <a:p>
            <a:r>
              <a:rPr lang="en-US"/>
              <a:t>        font, ok = QFontDialog.getFont()</a:t>
            </a:r>
          </a:p>
          <a:p>
            <a:r>
              <a:rPr lang="en-US"/>
              <a:t>        if ok:</a:t>
            </a:r>
          </a:p>
          <a:p>
            <a:r>
              <a:rPr lang="en-US"/>
              <a:t>            self.textEdit.setFont(font)</a:t>
            </a:r>
          </a:p>
          <a:p>
            <a:endParaRPr lang="en-US"/>
          </a:p>
          <a:p>
            <a:r>
              <a:rPr lang="en-US"/>
              <a:t>    def colorDialog(self):</a:t>
            </a:r>
          </a:p>
          <a:p>
            <a:r>
              <a:rPr lang="en-US"/>
              <a:t>        color = QColorDialog.getColor()</a:t>
            </a:r>
          </a:p>
          <a:p>
            <a:r>
              <a:rPr lang="en-US"/>
              <a:t>        self.textEdit.setTextColor(color)</a:t>
            </a:r>
          </a:p>
          <a:p>
            <a:endParaRPr lang="en-US"/>
          </a:p>
          <a:p>
            <a:r>
              <a:rPr lang="en-US"/>
              <a:t>    def printDialog(self):</a:t>
            </a:r>
          </a:p>
          <a:p>
            <a:r>
              <a:rPr lang="en-US"/>
              <a:t>        printer = QPrinter(QPrinter.HighResolution)</a:t>
            </a:r>
          </a:p>
          <a:p>
            <a:r>
              <a:rPr lang="en-US"/>
              <a:t>        dialog = QPrintDialog(printer, self)</a:t>
            </a:r>
          </a:p>
          <a:p>
            <a:r>
              <a:rPr lang="en-US"/>
              <a:t>        if dialog.exec_() == QPrintDialog.Accepted:</a:t>
            </a:r>
          </a:p>
          <a:p>
            <a:r>
              <a:rPr lang="en-US"/>
              <a:t>            self.textEdit.print_(printer)</a:t>
            </a:r>
          </a:p>
          <a:p>
            <a:r>
              <a:rPr lang="en-US"/>
              <a:t>    def printpreviewDialog(self):</a:t>
            </a:r>
          </a:p>
          <a:p>
            <a:r>
              <a:rPr lang="en-US"/>
              <a:t>        printer = QPrinter(QPrinter.HighResolution)</a:t>
            </a:r>
          </a:p>
          <a:p>
            <a:r>
              <a:rPr lang="en-US"/>
              <a:t>        previewDialog = QPrintPreviewDialog(printer, self)</a:t>
            </a:r>
          </a:p>
          <a:p>
            <a:r>
              <a:rPr lang="en-US"/>
              <a:t>        previewDialog.paintRequested.connect(self.printPreview)</a:t>
            </a:r>
          </a:p>
          <a:p>
            <a:r>
              <a:rPr lang="en-US"/>
              <a:t>        previewDialog.exec_()</a:t>
            </a:r>
          </a:p>
          <a:p>
            <a:endParaRPr lang="en-US"/>
          </a:p>
          <a:p>
            <a:r>
              <a:rPr lang="en-US"/>
              <a:t>    def printPreview(self, printer):</a:t>
            </a:r>
          </a:p>
          <a:p>
            <a:r>
              <a:rPr lang="en-US"/>
              <a:t>        self.textEdit.print_(printer)</a:t>
            </a:r>
          </a:p>
          <a:p>
            <a:endParaRPr lang="en-US"/>
          </a:p>
          <a:p>
            <a:r>
              <a:rPr lang="en-US"/>
              <a:t>    def printPDF(self):</a:t>
            </a:r>
          </a:p>
          <a:p>
            <a:r>
              <a:rPr lang="en-US"/>
              <a:t>        fn, _ = QFileDialog.getSaveFileName(self, 'Export PDF', None, 'PDF files (.pdf);;All Files()')</a:t>
            </a:r>
          </a:p>
          <a:p>
            <a:r>
              <a:rPr lang="en-US"/>
              <a:t>        if fn != '':</a:t>
            </a:r>
          </a:p>
          <a:p>
            <a:r>
              <a:rPr lang="en-US"/>
              <a:t>            if QFileInfo(fn).suffix() == "" : fn += '.pdf'</a:t>
            </a:r>
          </a:p>
          <a:p>
            <a:r>
              <a:rPr lang="en-US"/>
              <a:t>            printer = QPrinter(QPrinter.HighResolution)</a:t>
            </a:r>
          </a:p>
          <a:p>
            <a:r>
              <a:rPr lang="en-US"/>
              <a:t>            printer.setOutputFormat(QPrinter.PdfFormat)</a:t>
            </a:r>
          </a:p>
          <a:p>
            <a:r>
              <a:rPr lang="en-US"/>
              <a:t>            printer.setOutputFileName(fn)</a:t>
            </a:r>
          </a:p>
          <a:p>
            <a:r>
              <a:rPr lang="en-US"/>
              <a:t>            self.textEdit.document().print_(printer)</a:t>
            </a:r>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91</a:t>
            </a:fld>
            <a:endParaRPr lang="en-US"/>
          </a:p>
        </p:txBody>
      </p:sp>
    </p:spTree>
    <p:extLst>
      <p:ext uri="{BB962C8B-B14F-4D97-AF65-F5344CB8AC3E}">
        <p14:creationId xmlns:p14="http://schemas.microsoft.com/office/powerpoint/2010/main" val="31307508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https://codeloop.org/pyqt5-qmessagebox-practical-example/</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92</a:t>
            </a:fld>
            <a:endParaRPr lang="en-US"/>
          </a:p>
        </p:txBody>
      </p:sp>
    </p:spTree>
    <p:extLst>
      <p:ext uri="{BB962C8B-B14F-4D97-AF65-F5344CB8AC3E}">
        <p14:creationId xmlns:p14="http://schemas.microsoft.com/office/powerpoint/2010/main" val="6759549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93</a:t>
            </a:fld>
            <a:endParaRPr lang="en-US"/>
          </a:p>
        </p:txBody>
      </p:sp>
    </p:spTree>
    <p:extLst>
      <p:ext uri="{BB962C8B-B14F-4D97-AF65-F5344CB8AC3E}">
        <p14:creationId xmlns:p14="http://schemas.microsoft.com/office/powerpoint/2010/main" val="233009302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QAction, QTextEdit, QFontDialog, QColorDialog, QFileDialog, QMessageBox</a:t>
            </a:r>
          </a:p>
          <a:p>
            <a:r>
              <a:rPr lang="en-US"/>
              <a:t>import sys</a:t>
            </a:r>
          </a:p>
          <a:p>
            <a:r>
              <a:rPr lang="en-US"/>
              <a:t>from PyQt5.QtGui import QIcon</a:t>
            </a:r>
          </a:p>
          <a:p>
            <a:r>
              <a:rPr lang="en-US"/>
              <a:t>from PyQt5.QtPrintSupport import QPrintDialog, QPrinter, QPrintPreviewDialog</a:t>
            </a:r>
          </a:p>
          <a:p>
            <a:r>
              <a:rPr lang="en-US"/>
              <a:t>from PyQt5.Qt import QFileInfo</a:t>
            </a:r>
          </a:p>
          <a:p>
            <a:endParaRPr lang="en-US"/>
          </a:p>
          <a:p>
            <a:endParaRPr lang="en-US"/>
          </a:p>
          <a:p>
            <a:endParaRPr lang="en-US"/>
          </a:p>
          <a:p>
            <a:r>
              <a:rPr lang="en-US"/>
              <a:t>class Window(QMainWindow):</a:t>
            </a:r>
          </a:p>
          <a:p>
            <a:r>
              <a:rPr lang="en-US"/>
              <a:t>    def __init__(self):</a:t>
            </a:r>
          </a:p>
          <a:p>
            <a:r>
              <a:rPr lang="en-US"/>
              <a:t>        super().__init__()</a:t>
            </a:r>
          </a:p>
          <a:p>
            <a:r>
              <a:rPr lang="en-US"/>
              <a:t>        self.title = "PyQt5 QToolbar"</a:t>
            </a:r>
          </a:p>
          <a:p>
            <a:r>
              <a:rPr lang="en-US"/>
              <a:t>        self.top = 200</a:t>
            </a:r>
          </a:p>
          <a:p>
            <a:r>
              <a:rPr lang="en-US"/>
              <a:t>        self.left = 500</a:t>
            </a:r>
          </a:p>
          <a:p>
            <a:r>
              <a:rPr lang="en-US"/>
              <a:t>        self.width = 680</a:t>
            </a:r>
          </a:p>
          <a:p>
            <a:r>
              <a:rPr lang="en-US"/>
              <a:t>        self.height = 480</a:t>
            </a:r>
          </a:p>
          <a:p>
            <a:r>
              <a:rPr lang="en-US"/>
              <a:t>        self.setWindowIcon(QtGui.QIcon("icon.png"))</a:t>
            </a:r>
          </a:p>
          <a:p>
            <a:r>
              <a:rPr lang="en-US"/>
              <a:t>        self.setWindowTitle(self.title)</a:t>
            </a:r>
          </a:p>
          <a:p>
            <a:r>
              <a:rPr lang="en-US"/>
              <a:t>        self.setGeometry(self.left, self.top, self.width, self.height)</a:t>
            </a:r>
          </a:p>
          <a:p>
            <a:r>
              <a:rPr lang="en-US"/>
              <a:t>        self.createEditor()</a:t>
            </a:r>
          </a:p>
          <a:p>
            <a:r>
              <a:rPr lang="en-US"/>
              <a:t>        self.CreateMenu()</a:t>
            </a:r>
          </a:p>
          <a:p>
            <a:r>
              <a:rPr lang="en-US"/>
              <a:t>        self.show()</a:t>
            </a:r>
          </a:p>
          <a:p>
            <a:endParaRPr lang="en-US"/>
          </a:p>
          <a:p>
            <a:endParaRPr lang="en-US"/>
          </a:p>
          <a:p>
            <a:endParaRPr lang="en-US"/>
          </a:p>
          <a:p>
            <a:r>
              <a:rPr lang="en-US"/>
              <a:t>    def CreateMenu(self):</a:t>
            </a:r>
          </a:p>
          <a:p>
            <a:r>
              <a:rPr lang="en-US"/>
              <a:t>        mainMenu = self.menuBar()</a:t>
            </a:r>
          </a:p>
          <a:p>
            <a:r>
              <a:rPr lang="en-US"/>
              <a:t>        fileMenu = mainMenu.addMenu('File')</a:t>
            </a:r>
          </a:p>
          <a:p>
            <a:r>
              <a:rPr lang="en-US"/>
              <a:t>        editMenu = mainMenu.addMenu('Edit')</a:t>
            </a:r>
          </a:p>
          <a:p>
            <a:r>
              <a:rPr lang="en-US"/>
              <a:t>        viewMenu = mainMenu.addMenu('View')</a:t>
            </a:r>
          </a:p>
          <a:p>
            <a:r>
              <a:rPr lang="en-US"/>
              <a:t>        helpMenu = mainMenu.addMenu('Help')</a:t>
            </a:r>
          </a:p>
          <a:p>
            <a:r>
              <a:rPr lang="en-US"/>
              <a:t>        printAction = QAction(QIcon("print.png"), "Print", self)</a:t>
            </a:r>
          </a:p>
          <a:p>
            <a:r>
              <a:rPr lang="en-US"/>
              <a:t>        printAction.triggered.connect(self.printDialog)</a:t>
            </a:r>
          </a:p>
          <a:p>
            <a:r>
              <a:rPr lang="en-US"/>
              <a:t>        fileMenu.addAction(printAction)</a:t>
            </a:r>
          </a:p>
          <a:p>
            <a:r>
              <a:rPr lang="en-US"/>
              <a:t>        printPreviewAction = QAction(QIcon("printprev.png"), "Print Preview", self)</a:t>
            </a:r>
          </a:p>
          <a:p>
            <a:r>
              <a:rPr lang="en-US"/>
              <a:t>        printPreviewAction.triggered.connect(self.printpreviewDialog)</a:t>
            </a:r>
          </a:p>
          <a:p>
            <a:r>
              <a:rPr lang="en-US"/>
              <a:t>        fileMenu.addAction(printPreviewAction)</a:t>
            </a:r>
          </a:p>
          <a:p>
            <a:r>
              <a:rPr lang="en-US"/>
              <a:t>        exportpdfAction = QAction(QIcon("pdf.png"), "Export PDF", self)</a:t>
            </a:r>
          </a:p>
          <a:p>
            <a:r>
              <a:rPr lang="en-US"/>
              <a:t>        exportpdfAction.triggered.connect(self.printPDF)</a:t>
            </a:r>
          </a:p>
          <a:p>
            <a:r>
              <a:rPr lang="en-US"/>
              <a:t>        fileMenu.addAction(exportpdfAction)</a:t>
            </a:r>
          </a:p>
          <a:p>
            <a:r>
              <a:rPr lang="en-US"/>
              <a:t>        exiteAction = QAction(QIcon("exit.png"), 'Exit', self)</a:t>
            </a:r>
          </a:p>
          <a:p>
            <a:r>
              <a:rPr lang="en-US"/>
              <a:t>        exiteAction.setShortcut("Ctrl+E")</a:t>
            </a:r>
          </a:p>
          <a:p>
            <a:r>
              <a:rPr lang="en-US"/>
              <a:t>        exiteAction.triggered.connect(self.exitWindow)</a:t>
            </a:r>
          </a:p>
          <a:p>
            <a:r>
              <a:rPr lang="en-US"/>
              <a:t>        fileMenu.addAction(exiteAction)</a:t>
            </a:r>
          </a:p>
          <a:p>
            <a:r>
              <a:rPr lang="en-US"/>
              <a:t>        copyAction = QAction(QIcon("copy.png"), 'Copy', self)</a:t>
            </a:r>
          </a:p>
          <a:p>
            <a:r>
              <a:rPr lang="en-US"/>
              <a:t>        copyAction.setShortcut("Ctrl+C")</a:t>
            </a:r>
          </a:p>
          <a:p>
            <a:r>
              <a:rPr lang="en-US"/>
              <a:t>        editMenu.addAction(copyAction)</a:t>
            </a:r>
          </a:p>
          <a:p>
            <a:r>
              <a:rPr lang="en-US"/>
              <a:t>        saveAction = QAction(QIcon("Save.png"), 'Save', self)</a:t>
            </a:r>
          </a:p>
          <a:p>
            <a:r>
              <a:rPr lang="en-US"/>
              <a:t>        saveAction.setShortcut("Ctrl+S")</a:t>
            </a:r>
          </a:p>
          <a:p>
            <a:r>
              <a:rPr lang="en-US"/>
              <a:t>        editMenu.addAction(saveAction)</a:t>
            </a:r>
          </a:p>
          <a:p>
            <a:r>
              <a:rPr lang="en-US"/>
              <a:t>        pasteAction = QAction(QIcon("Paste.png"), 'Paste', self)</a:t>
            </a:r>
          </a:p>
          <a:p>
            <a:r>
              <a:rPr lang="en-US"/>
              <a:t>        pasteAction.setShortcut("Ctrl+P")</a:t>
            </a:r>
          </a:p>
          <a:p>
            <a:r>
              <a:rPr lang="en-US"/>
              <a:t>        editMenu.addAction(pasteAction)</a:t>
            </a:r>
          </a:p>
          <a:p>
            <a:r>
              <a:rPr lang="en-US"/>
              <a:t>        fontAction = QAction(QIcon("font.png"), "Font", self)</a:t>
            </a:r>
          </a:p>
          <a:p>
            <a:r>
              <a:rPr lang="en-US"/>
              <a:t>        fontAction.setShortcut("Ctrl+F")</a:t>
            </a:r>
          </a:p>
          <a:p>
            <a:r>
              <a:rPr lang="en-US"/>
              <a:t>        fontAction.triggered.connect(self.fontDialog)</a:t>
            </a:r>
          </a:p>
          <a:p>
            <a:r>
              <a:rPr lang="en-US"/>
              <a:t>        viewMenu.addAction(fontAction)</a:t>
            </a:r>
          </a:p>
          <a:p>
            <a:r>
              <a:rPr lang="en-US"/>
              <a:t>        colorAction = QAction(QIcon("color.png"), "Color", self)</a:t>
            </a:r>
          </a:p>
          <a:p>
            <a:r>
              <a:rPr lang="en-US"/>
              <a:t>        colorAction.triggered.connect(self.colorDialog)</a:t>
            </a:r>
          </a:p>
          <a:p>
            <a:r>
              <a:rPr lang="en-US"/>
              <a:t>        viewMenu.addAction(colorAction)</a:t>
            </a:r>
          </a:p>
          <a:p>
            <a:r>
              <a:rPr lang="en-US"/>
              <a:t>        helpAction = QAction(QIcon('about.png'), "About Application", self)</a:t>
            </a:r>
          </a:p>
          <a:p>
            <a:r>
              <a:rPr lang="en-US"/>
              <a:t>        helpAction.triggered.connect(self.AboutmessageBox)</a:t>
            </a:r>
          </a:p>
          <a:p>
            <a:r>
              <a:rPr lang="en-US"/>
              <a:t>        helpMenu.addAction(helpAction)</a:t>
            </a:r>
          </a:p>
          <a:p>
            <a:r>
              <a:rPr lang="en-US"/>
              <a:t>        choiceAction = QAction(QIcon('new.png'), "Choice MessageBox", self)</a:t>
            </a:r>
          </a:p>
          <a:p>
            <a:r>
              <a:rPr lang="en-US"/>
              <a:t>        choiceAction.triggered.connect(self.choiceMessageBox)</a:t>
            </a:r>
          </a:p>
          <a:p>
            <a:r>
              <a:rPr lang="en-US"/>
              <a:t>        helpMenu.addAction(choiceAction)</a:t>
            </a:r>
          </a:p>
          <a:p>
            <a:r>
              <a:rPr lang="en-US"/>
              <a:t>        self.toolbar = self.addToolBar('Toolbar')</a:t>
            </a:r>
          </a:p>
          <a:p>
            <a:r>
              <a:rPr lang="en-US"/>
              <a:t>        self.toolbar.addAction(copyAction)</a:t>
            </a:r>
          </a:p>
          <a:p>
            <a:r>
              <a:rPr lang="en-US"/>
              <a:t>        self.toolbar.addAction(saveAction)</a:t>
            </a:r>
          </a:p>
          <a:p>
            <a:r>
              <a:rPr lang="en-US"/>
              <a:t>        self.toolbar.addAction(pasteAction)</a:t>
            </a:r>
          </a:p>
          <a:p>
            <a:r>
              <a:rPr lang="en-US"/>
              <a:t>        self.toolbar.addAction(exiteAction)</a:t>
            </a:r>
          </a:p>
          <a:p>
            <a:r>
              <a:rPr lang="en-US"/>
              <a:t>        self.toolbar.addAction(fontAction)</a:t>
            </a:r>
          </a:p>
          <a:p>
            <a:r>
              <a:rPr lang="en-US"/>
              <a:t>        self.toolbar.addAction(colorAction)</a:t>
            </a:r>
          </a:p>
          <a:p>
            <a:r>
              <a:rPr lang="en-US"/>
              <a:t>        self.toolbar.addAction(printAction)</a:t>
            </a:r>
          </a:p>
          <a:p>
            <a:r>
              <a:rPr lang="en-US"/>
              <a:t>        self.toolbar.addAction(printPreviewAction)</a:t>
            </a:r>
          </a:p>
          <a:p>
            <a:r>
              <a:rPr lang="en-US"/>
              <a:t>        self.toolbar.addAction(exportpdfAction)</a:t>
            </a:r>
          </a:p>
          <a:p>
            <a:r>
              <a:rPr lang="en-US"/>
              <a:t>        self.toolbar.addAction(helpAction)</a:t>
            </a:r>
          </a:p>
          <a:p>
            <a:endParaRPr lang="en-US"/>
          </a:p>
          <a:p>
            <a:r>
              <a:rPr lang="en-US"/>
              <a:t>    def exitWindow(self):</a:t>
            </a:r>
          </a:p>
          <a:p>
            <a:r>
              <a:rPr lang="en-US"/>
              <a:t>        self.close()</a:t>
            </a:r>
          </a:p>
          <a:p>
            <a:endParaRPr lang="en-US"/>
          </a:p>
          <a:p>
            <a:r>
              <a:rPr lang="en-US"/>
              <a:t>    def createEditor(self):</a:t>
            </a:r>
          </a:p>
          <a:p>
            <a:r>
              <a:rPr lang="en-US"/>
              <a:t>        self.textEdit = QTextEdit(self)</a:t>
            </a:r>
          </a:p>
          <a:p>
            <a:r>
              <a:rPr lang="en-US"/>
              <a:t>        self.setCentralWidget(self.textEdit)</a:t>
            </a:r>
          </a:p>
          <a:p>
            <a:endParaRPr lang="en-US"/>
          </a:p>
          <a:p>
            <a:r>
              <a:rPr lang="en-US"/>
              <a:t>    def fontDialog(self):</a:t>
            </a:r>
          </a:p>
          <a:p>
            <a:r>
              <a:rPr lang="en-US"/>
              <a:t>        font, ok = QFontDialog.getFont()</a:t>
            </a:r>
          </a:p>
          <a:p>
            <a:r>
              <a:rPr lang="en-US"/>
              <a:t>        if ok:</a:t>
            </a:r>
          </a:p>
          <a:p>
            <a:r>
              <a:rPr lang="en-US"/>
              <a:t>            self.textEdit.setFont(font)</a:t>
            </a:r>
          </a:p>
          <a:p>
            <a:endParaRPr lang="en-US"/>
          </a:p>
          <a:p>
            <a:r>
              <a:rPr lang="en-US"/>
              <a:t>    def colorDialog(self):</a:t>
            </a:r>
          </a:p>
          <a:p>
            <a:r>
              <a:rPr lang="en-US"/>
              <a:t>        color = QColorDialog.getColor()</a:t>
            </a:r>
          </a:p>
          <a:p>
            <a:r>
              <a:rPr lang="en-US"/>
              <a:t>        self.textEdit.setTextColor(color)</a:t>
            </a:r>
          </a:p>
          <a:p>
            <a:endParaRPr lang="en-US"/>
          </a:p>
          <a:p>
            <a:r>
              <a:rPr lang="en-US"/>
              <a:t>    def printDialog(self):</a:t>
            </a:r>
          </a:p>
          <a:p>
            <a:r>
              <a:rPr lang="en-US"/>
              <a:t>        printer = QPrinter(QPrinter.HighResolution)</a:t>
            </a:r>
          </a:p>
          <a:p>
            <a:r>
              <a:rPr lang="en-US"/>
              <a:t>        dialog = QPrintDialog(printer, self)</a:t>
            </a:r>
          </a:p>
          <a:p>
            <a:r>
              <a:rPr lang="en-US"/>
              <a:t>        if dialog.exec_() == QPrintDialog.Accepted:</a:t>
            </a:r>
          </a:p>
          <a:p>
            <a:r>
              <a:rPr lang="en-US"/>
              <a:t>            self.textEdit.print_(printer)</a:t>
            </a:r>
          </a:p>
          <a:p>
            <a:endParaRPr lang="en-US"/>
          </a:p>
          <a:p>
            <a:r>
              <a:rPr lang="en-US"/>
              <a:t>    def printpreviewDialog(self):</a:t>
            </a:r>
          </a:p>
          <a:p>
            <a:r>
              <a:rPr lang="en-US"/>
              <a:t>        printer = QPrinter(QPrinter.HighResolution)</a:t>
            </a:r>
          </a:p>
          <a:p>
            <a:r>
              <a:rPr lang="en-US"/>
              <a:t>        previewDialog = QPrintPreviewDialog(printer, self)</a:t>
            </a:r>
          </a:p>
          <a:p>
            <a:r>
              <a:rPr lang="en-US"/>
              <a:t>        previewDialog.paintRequested.connect(self.printPreview)</a:t>
            </a:r>
          </a:p>
          <a:p>
            <a:r>
              <a:rPr lang="en-US"/>
              <a:t>        previewDialog.exec_()</a:t>
            </a:r>
          </a:p>
          <a:p>
            <a:endParaRPr lang="en-US"/>
          </a:p>
          <a:p>
            <a:r>
              <a:rPr lang="en-US"/>
              <a:t>    def printPreview(self, printer):</a:t>
            </a:r>
          </a:p>
          <a:p>
            <a:r>
              <a:rPr lang="en-US"/>
              <a:t>        self.textEdit.print_(printer)</a:t>
            </a:r>
          </a:p>
          <a:p>
            <a:endParaRPr lang="en-US"/>
          </a:p>
          <a:p>
            <a:r>
              <a:rPr lang="en-US"/>
              <a:t>    def printPDF(self):</a:t>
            </a:r>
          </a:p>
          <a:p>
            <a:r>
              <a:rPr lang="en-US"/>
              <a:t>        fn, _ = QFileDialog.getSaveFileName(self, 'Export PDF', None, 'PDF files (.pdf);;All Files()')</a:t>
            </a:r>
          </a:p>
          <a:p>
            <a:r>
              <a:rPr lang="en-US"/>
              <a:t>        if fn != '':</a:t>
            </a:r>
          </a:p>
          <a:p>
            <a:r>
              <a:rPr lang="en-US"/>
              <a:t>            if QFileInfo(fn).suffix() == "": fn += '.pdf'</a:t>
            </a:r>
          </a:p>
          <a:p>
            <a:r>
              <a:rPr lang="en-US"/>
              <a:t>            printer = QPrinter(QPrinter.HighResolution)</a:t>
            </a:r>
          </a:p>
          <a:p>
            <a:r>
              <a:rPr lang="en-US"/>
              <a:t>            printer.setOutputFormat(QPrinter.PdfFormat)</a:t>
            </a:r>
          </a:p>
          <a:p>
            <a:r>
              <a:rPr lang="en-US"/>
              <a:t>            printer.setOutputFileName(fn)</a:t>
            </a:r>
          </a:p>
          <a:p>
            <a:r>
              <a:rPr lang="en-US"/>
              <a:t>            self.textEdit.document().print_(printer)</a:t>
            </a:r>
          </a:p>
          <a:p>
            <a:endParaRPr lang="en-US"/>
          </a:p>
          <a:p>
            <a:r>
              <a:rPr lang="en-US"/>
              <a:t>    def AboutmessageBox(self):</a:t>
            </a:r>
          </a:p>
          <a:p>
            <a:r>
              <a:rPr lang="en-US"/>
              <a:t>        QMessageBox.about(self, "About Application", "This is a simple texteditor application")</a:t>
            </a:r>
          </a:p>
          <a:p>
            <a:endParaRPr lang="en-US"/>
          </a:p>
          <a:p>
            <a:r>
              <a:rPr lang="en-US"/>
              <a:t>    def choiceMessageBox(self):</a:t>
            </a:r>
          </a:p>
          <a:p>
            <a:r>
              <a:rPr lang="en-US"/>
              <a:t>        message = QMessageBox.question(self, "Choice Message", "Do You Like PyQt5 ?",</a:t>
            </a:r>
          </a:p>
          <a:p>
            <a:r>
              <a:rPr lang="en-US"/>
              <a:t>                                       QMessageBox.Yes | QMessageBox.No, QMessageBox.No)</a:t>
            </a:r>
          </a:p>
          <a:p>
            <a:r>
              <a:rPr lang="en-US"/>
              <a:t>        if message == QMessageBox.Yes:</a:t>
            </a:r>
          </a:p>
          <a:p>
            <a:r>
              <a:rPr lang="en-US"/>
              <a:t>            print("Yes I Like PyQt5")</a:t>
            </a:r>
          </a:p>
          <a:p>
            <a:r>
              <a:rPr lang="en-US"/>
              <a:t>        else:</a:t>
            </a:r>
          </a:p>
          <a:p>
            <a:r>
              <a:rPr lang="en-US"/>
              <a:t>            print("No I Dot Like PyQt5")</a:t>
            </a:r>
          </a:p>
          <a:p>
            <a:endParaRPr lang="en-US"/>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95</a:t>
            </a:fld>
            <a:endParaRPr lang="en-US"/>
          </a:p>
        </p:txBody>
      </p:sp>
    </p:spTree>
    <p:extLst>
      <p:ext uri="{BB962C8B-B14F-4D97-AF65-F5344CB8AC3E}">
        <p14:creationId xmlns:p14="http://schemas.microsoft.com/office/powerpoint/2010/main" val="20645117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https://codeloop.org/how-to-create-context-menu-in-pyqt5/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96</a:t>
            </a:fld>
            <a:endParaRPr lang="en-US"/>
          </a:p>
        </p:txBody>
      </p:sp>
    </p:spTree>
    <p:extLst>
      <p:ext uri="{BB962C8B-B14F-4D97-AF65-F5344CB8AC3E}">
        <p14:creationId xmlns:p14="http://schemas.microsoft.com/office/powerpoint/2010/main" val="35618202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QMainWindow, QMenu</a:t>
            </a:r>
          </a:p>
          <a:p>
            <a:r>
              <a:rPr lang="en-US"/>
              <a:t>import sys</a:t>
            </a:r>
          </a:p>
          <a:p>
            <a:endParaRPr lang="en-US"/>
          </a:p>
          <a:p>
            <a:endParaRPr lang="en-US"/>
          </a:p>
          <a:p>
            <a:r>
              <a:rPr lang="en-US"/>
              <a:t>class Window(QMainWindow):</a:t>
            </a:r>
          </a:p>
          <a:p>
            <a:r>
              <a:rPr lang="en-US"/>
              <a:t>    def __init__(self):</a:t>
            </a:r>
          </a:p>
          <a:p>
            <a:r>
              <a:rPr lang="en-US"/>
              <a:t>        super().__init__()</a:t>
            </a:r>
          </a:p>
          <a:p>
            <a:r>
              <a:rPr lang="en-US"/>
              <a:t>        self.title = "PyQt5 Context Menu"</a:t>
            </a:r>
          </a:p>
          <a:p>
            <a:r>
              <a:rPr lang="en-US"/>
              <a:t>        self.top = 200</a:t>
            </a:r>
          </a:p>
          <a:p>
            <a:r>
              <a:rPr lang="en-US"/>
              <a:t>        self.left = 500</a:t>
            </a:r>
          </a:p>
          <a:p>
            <a:r>
              <a:rPr lang="en-US"/>
              <a:t>        self.width = 400</a:t>
            </a:r>
          </a:p>
          <a:p>
            <a:r>
              <a:rPr lang="en-US"/>
              <a:t>        self.height = 300</a:t>
            </a:r>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r>
              <a:rPr lang="en-US"/>
              <a:t>        self.show()</a:t>
            </a:r>
          </a:p>
          <a:p>
            <a:endParaRPr lang="en-US"/>
          </a:p>
          <a:p>
            <a:r>
              <a:rPr lang="en-US"/>
              <a:t>    def contextMenuEvent(self, event):</a:t>
            </a:r>
          </a:p>
          <a:p>
            <a:r>
              <a:rPr lang="en-US"/>
              <a:t>        contextMenu = QMenu(self)</a:t>
            </a:r>
          </a:p>
          <a:p>
            <a:r>
              <a:rPr lang="en-US"/>
              <a:t>        newAct = contextMenu.addAction("New")</a:t>
            </a:r>
          </a:p>
          <a:p>
            <a:r>
              <a:rPr lang="en-US"/>
              <a:t>        openAct = contextMenu.addAction("Open")</a:t>
            </a:r>
          </a:p>
          <a:p>
            <a:r>
              <a:rPr lang="en-US"/>
              <a:t>        quitAct = contextMenu.addAction("Quit")</a:t>
            </a:r>
          </a:p>
          <a:p>
            <a:r>
              <a:rPr lang="en-US"/>
              <a:t>        action = contextMenu.exec_(self.mapToGlobal(event.pos()))</a:t>
            </a:r>
          </a:p>
          <a:p>
            <a:r>
              <a:rPr lang="en-US"/>
              <a:t>        if action == quitAct:</a:t>
            </a:r>
          </a:p>
          <a:p>
            <a:r>
              <a:rPr lang="en-US"/>
              <a:t>            self.close()</a:t>
            </a:r>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98</a:t>
            </a:fld>
            <a:endParaRPr lang="en-US"/>
          </a:p>
        </p:txBody>
      </p:sp>
    </p:spTree>
    <p:extLst>
      <p:ext uri="{BB962C8B-B14F-4D97-AF65-F5344CB8AC3E}">
        <p14:creationId xmlns:p14="http://schemas.microsoft.com/office/powerpoint/2010/main" val="38304500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https://codeloop.org/how-to-create-qtabwidget-in-pyqt5/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99</a:t>
            </a:fld>
            <a:endParaRPr lang="en-US"/>
          </a:p>
        </p:txBody>
      </p:sp>
    </p:spTree>
    <p:extLst>
      <p:ext uri="{BB962C8B-B14F-4D97-AF65-F5344CB8AC3E}">
        <p14:creationId xmlns:p14="http://schemas.microsoft.com/office/powerpoint/2010/main" val="6644796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QDialog,QTabWidget, QComboBox, QCheckBox ,QGroupBox ,QVBoxLayout, QWidget, QLabel, QLineEdit, QDialogButtonBox</a:t>
            </a:r>
          </a:p>
          <a:p>
            <a:r>
              <a:rPr lang="en-US"/>
              <a:t>import sys</a:t>
            </a:r>
          </a:p>
          <a:p>
            <a:r>
              <a:rPr lang="en-US"/>
              <a:t>from PyQt5.QtGui import QIcon</a:t>
            </a:r>
          </a:p>
          <a:p>
            <a:endParaRPr lang="en-US"/>
          </a:p>
          <a:p>
            <a:endParaRPr lang="en-US"/>
          </a:p>
          <a:p>
            <a:endParaRPr lang="en-US"/>
          </a:p>
          <a:p>
            <a:r>
              <a:rPr lang="en-US"/>
              <a:t>class Tab(QDialog):</a:t>
            </a:r>
          </a:p>
          <a:p>
            <a:r>
              <a:rPr lang="en-US"/>
              <a:t>    def __init__(self):</a:t>
            </a:r>
          </a:p>
          <a:p>
            <a:r>
              <a:rPr lang="en-US"/>
              <a:t>        super().__init__()</a:t>
            </a:r>
          </a:p>
          <a:p>
            <a:r>
              <a:rPr lang="en-US"/>
              <a:t>        self.setWindowTitle("PyQt5 TabWidget Example")</a:t>
            </a:r>
          </a:p>
          <a:p>
            <a:r>
              <a:rPr lang="en-US"/>
              <a:t>        self.setWindowIcon(QIcon("icon.png"))</a:t>
            </a:r>
          </a:p>
          <a:p>
            <a:r>
              <a:rPr lang="en-US"/>
              <a:t>        #self.setStyleSheet('background-color:grey')</a:t>
            </a:r>
          </a:p>
          <a:p>
            <a:r>
              <a:rPr lang="en-US"/>
              <a:t>        vbox = QVBoxLayout()</a:t>
            </a:r>
          </a:p>
          <a:p>
            <a:r>
              <a:rPr lang="en-US"/>
              <a:t>        tabWidget = QTabWidget()</a:t>
            </a:r>
          </a:p>
          <a:p>
            <a:r>
              <a:rPr lang="en-US"/>
              <a:t>        buttonbox = QDialogButtonBox(QDialogButtonBox.Ok | QDialogButtonBox.Cancel)</a:t>
            </a:r>
          </a:p>
          <a:p>
            <a:r>
              <a:rPr lang="en-US"/>
              <a:t>        buttonbox.accepted.connect(self.accept)</a:t>
            </a:r>
          </a:p>
          <a:p>
            <a:r>
              <a:rPr lang="en-US"/>
              <a:t>        buttonbox.rejected.connect(self.reject)</a:t>
            </a:r>
          </a:p>
          <a:p>
            <a:r>
              <a:rPr lang="en-US"/>
              <a:t>        tabWidget.setFont(QtGui.QFont("Sanserif", 12))</a:t>
            </a:r>
          </a:p>
          <a:p>
            <a:r>
              <a:rPr lang="en-US"/>
              <a:t>        tabWidget.addTab(TabContact(), "Contact Details")</a:t>
            </a:r>
          </a:p>
          <a:p>
            <a:r>
              <a:rPr lang="en-US"/>
              <a:t>        tabWidget.addTab(TabPeronsalDetails(), "Personal Details")</a:t>
            </a:r>
          </a:p>
          <a:p>
            <a:r>
              <a:rPr lang="en-US"/>
              <a:t>        vbox.addWidget(tabWidget)</a:t>
            </a:r>
          </a:p>
          <a:p>
            <a:r>
              <a:rPr lang="en-US"/>
              <a:t>        vbox.addWidget(buttonbox)</a:t>
            </a:r>
          </a:p>
          <a:p>
            <a:r>
              <a:rPr lang="en-US"/>
              <a:t>        self.setLayout(vbox)</a:t>
            </a:r>
          </a:p>
          <a:p>
            <a:endParaRPr lang="en-US"/>
          </a:p>
          <a:p>
            <a:endParaRPr lang="en-US"/>
          </a:p>
          <a:p>
            <a:r>
              <a:rPr lang="en-US"/>
              <a:t>class TabContact(QWidget):</a:t>
            </a:r>
          </a:p>
          <a:p>
            <a:r>
              <a:rPr lang="en-US"/>
              <a:t>    def __init__(self):</a:t>
            </a:r>
          </a:p>
          <a:p>
            <a:r>
              <a:rPr lang="en-US"/>
              <a:t>        super().__init__()</a:t>
            </a:r>
          </a:p>
          <a:p>
            <a:r>
              <a:rPr lang="en-US"/>
              <a:t>        nameLabel = QLabel("Name: ")</a:t>
            </a:r>
          </a:p>
          <a:p>
            <a:r>
              <a:rPr lang="en-US"/>
              <a:t>        nameEdit = QLineEdit()</a:t>
            </a:r>
          </a:p>
          <a:p>
            <a:r>
              <a:rPr lang="en-US"/>
              <a:t>        phone = QLabel("Phone:")</a:t>
            </a:r>
          </a:p>
          <a:p>
            <a:r>
              <a:rPr lang="en-US"/>
              <a:t>        phoneedit = QLineEdit()</a:t>
            </a:r>
          </a:p>
          <a:p>
            <a:r>
              <a:rPr lang="en-US"/>
              <a:t>        addr = QLabel("Address:")</a:t>
            </a:r>
          </a:p>
          <a:p>
            <a:r>
              <a:rPr lang="en-US"/>
              <a:t>        addredit = QLineEdit()</a:t>
            </a:r>
          </a:p>
          <a:p>
            <a:r>
              <a:rPr lang="en-US"/>
              <a:t>        email = QLabel("Email:")</a:t>
            </a:r>
          </a:p>
          <a:p>
            <a:r>
              <a:rPr lang="en-US"/>
              <a:t>        emailedit = QLineEdit()</a:t>
            </a:r>
          </a:p>
          <a:p>
            <a:r>
              <a:rPr lang="en-US"/>
              <a:t>        vbox = QVBoxLayout()</a:t>
            </a:r>
          </a:p>
          <a:p>
            <a:r>
              <a:rPr lang="en-US"/>
              <a:t>        vbox.addWidget(nameLabel)</a:t>
            </a:r>
          </a:p>
          <a:p>
            <a:r>
              <a:rPr lang="en-US"/>
              <a:t>        vbox.addWidget(nameEdit)</a:t>
            </a:r>
          </a:p>
          <a:p>
            <a:r>
              <a:rPr lang="en-US"/>
              <a:t>        vbox.addWidget(phone)</a:t>
            </a:r>
          </a:p>
          <a:p>
            <a:r>
              <a:rPr lang="en-US"/>
              <a:t>        vbox.addWidget(phoneedit)</a:t>
            </a:r>
          </a:p>
          <a:p>
            <a:r>
              <a:rPr lang="en-US"/>
              <a:t>        vbox.addWidget(addr)</a:t>
            </a:r>
          </a:p>
          <a:p>
            <a:r>
              <a:rPr lang="en-US"/>
              <a:t>        vbox.addWidget(addredit)</a:t>
            </a:r>
          </a:p>
          <a:p>
            <a:r>
              <a:rPr lang="en-US"/>
              <a:t>        vbox.addWidget(email)</a:t>
            </a:r>
          </a:p>
          <a:p>
            <a:r>
              <a:rPr lang="en-US"/>
              <a:t>        vbox.addWidget(emailedit)</a:t>
            </a:r>
          </a:p>
          <a:p>
            <a:r>
              <a:rPr lang="en-US"/>
              <a:t>        self.setLayout(vbox)</a:t>
            </a:r>
          </a:p>
          <a:p>
            <a:endParaRPr lang="en-US"/>
          </a:p>
          <a:p>
            <a:endParaRPr lang="en-US"/>
          </a:p>
          <a:p>
            <a:r>
              <a:rPr lang="en-US"/>
              <a:t>class TabPeronsalDetails(QWidget):</a:t>
            </a:r>
          </a:p>
          <a:p>
            <a:r>
              <a:rPr lang="en-US"/>
              <a:t>    def __init__(self):</a:t>
            </a:r>
          </a:p>
          <a:p>
            <a:r>
              <a:rPr lang="en-US"/>
              <a:t>        super().__init__()</a:t>
            </a:r>
          </a:p>
          <a:p>
            <a:r>
              <a:rPr lang="en-US"/>
              <a:t>        groupBox = QGroupBox("Select Your Gender")</a:t>
            </a:r>
          </a:p>
          <a:p>
            <a:r>
              <a:rPr lang="en-US"/>
              <a:t>        list = ["Male", "Female"]</a:t>
            </a:r>
          </a:p>
          <a:p>
            <a:r>
              <a:rPr lang="en-US"/>
              <a:t>        combo = QComboBox()</a:t>
            </a:r>
          </a:p>
          <a:p>
            <a:r>
              <a:rPr lang="en-US"/>
              <a:t>        combo.addItems(list)</a:t>
            </a:r>
          </a:p>
          <a:p>
            <a:r>
              <a:rPr lang="en-US"/>
              <a:t>        vbox = QVBoxLayout()</a:t>
            </a:r>
          </a:p>
          <a:p>
            <a:r>
              <a:rPr lang="en-US"/>
              <a:t>        vbox.addWidget(combo)</a:t>
            </a:r>
          </a:p>
          <a:p>
            <a:r>
              <a:rPr lang="en-US"/>
              <a:t>        groupBox.setLayout(vbox)</a:t>
            </a:r>
          </a:p>
          <a:p>
            <a:r>
              <a:rPr lang="en-US"/>
              <a:t>        groupBox2 = QGroupBox("Select Your Favorite Programming Language")</a:t>
            </a:r>
          </a:p>
          <a:p>
            <a:r>
              <a:rPr lang="en-US"/>
              <a:t>        python =QCheckBox("Python")</a:t>
            </a:r>
          </a:p>
          <a:p>
            <a:r>
              <a:rPr lang="en-US"/>
              <a:t>        cpp = QCheckBox("C++")</a:t>
            </a:r>
          </a:p>
          <a:p>
            <a:r>
              <a:rPr lang="en-US"/>
              <a:t>        java = QCheckBox("Java")</a:t>
            </a:r>
          </a:p>
          <a:p>
            <a:r>
              <a:rPr lang="en-US"/>
              <a:t>        csharp = QCheckBox("C#")</a:t>
            </a:r>
          </a:p>
          <a:p>
            <a:r>
              <a:rPr lang="en-US"/>
              <a:t>        vboxp = QVBoxLayout()</a:t>
            </a:r>
          </a:p>
          <a:p>
            <a:r>
              <a:rPr lang="en-US"/>
              <a:t>        vboxp.addWidget(python)</a:t>
            </a:r>
          </a:p>
          <a:p>
            <a:r>
              <a:rPr lang="en-US"/>
              <a:t>        vboxp.addWidget(cpp)</a:t>
            </a:r>
          </a:p>
          <a:p>
            <a:r>
              <a:rPr lang="en-US"/>
              <a:t>        vboxp.addWidget(java)</a:t>
            </a:r>
          </a:p>
          <a:p>
            <a:r>
              <a:rPr lang="en-US"/>
              <a:t>        vboxp.addWidget(csharp)</a:t>
            </a:r>
          </a:p>
          <a:p>
            <a:r>
              <a:rPr lang="en-US"/>
              <a:t>        groupBox2.setLayout(vboxp)</a:t>
            </a:r>
          </a:p>
          <a:p>
            <a:r>
              <a:rPr lang="en-US"/>
              <a:t>        mainLayout = QVBoxLayout()</a:t>
            </a:r>
          </a:p>
          <a:p>
            <a:r>
              <a:rPr lang="en-US"/>
              <a:t>        mainLayout.addWidget(groupBox)</a:t>
            </a:r>
          </a:p>
          <a:p>
            <a:r>
              <a:rPr lang="en-US"/>
              <a:t>        mainLayout.addWidget(groupBox2)</a:t>
            </a:r>
          </a:p>
          <a:p>
            <a:r>
              <a:rPr lang="en-US"/>
              <a:t>        self.setLayout(mainLayout)</a:t>
            </a:r>
          </a:p>
          <a:p>
            <a:endParaRPr lang="en-US"/>
          </a:p>
          <a:p>
            <a:endParaRPr lang="en-US"/>
          </a:p>
          <a:p>
            <a:endParaRPr lang="en-US"/>
          </a:p>
          <a:p>
            <a:endParaRPr lang="en-US"/>
          </a:p>
          <a:p>
            <a:r>
              <a:rPr lang="en-US"/>
              <a:t>if __name__ == "__main__":</a:t>
            </a:r>
          </a:p>
          <a:p>
            <a:r>
              <a:rPr lang="en-US"/>
              <a:t>    app = QApplication(sys.argv)</a:t>
            </a:r>
          </a:p>
          <a:p>
            <a:r>
              <a:rPr lang="en-US"/>
              <a:t>    tabdialog = Tab()</a:t>
            </a:r>
          </a:p>
          <a:p>
            <a:r>
              <a:rPr lang="en-US"/>
              <a:t>    tabdialog.show()</a:t>
            </a:r>
          </a:p>
          <a:p>
            <a:r>
              <a:rPr lang="en-US"/>
              <a:t>    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102</a:t>
            </a:fld>
            <a:endParaRPr lang="en-US"/>
          </a:p>
        </p:txBody>
      </p:sp>
    </p:spTree>
    <p:extLst>
      <p:ext uri="{BB962C8B-B14F-4D97-AF65-F5344CB8AC3E}">
        <p14:creationId xmlns:p14="http://schemas.microsoft.com/office/powerpoint/2010/main" val="41027303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https://codeloop.org/pyqt5-how-to-create-qstackdwidget/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103</a:t>
            </a:fld>
            <a:endParaRPr lang="en-US"/>
          </a:p>
        </p:txBody>
      </p:sp>
    </p:spTree>
    <p:extLst>
      <p:ext uri="{BB962C8B-B14F-4D97-AF65-F5344CB8AC3E}">
        <p14:creationId xmlns:p14="http://schemas.microsoft.com/office/powerpoint/2010/main" val="23784482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PyQt5.QtWidgets import QWidget, QApplication, QVBoxLayout, QStackedWidget, QLabel, QPushButton</a:t>
            </a:r>
          </a:p>
          <a:p>
            <a:r>
              <a:rPr lang="en-US"/>
              <a:t>import sys</a:t>
            </a:r>
          </a:p>
          <a:p>
            <a:r>
              <a:rPr lang="en-US"/>
              <a:t>from PyQt5.QtGui import QIcon</a:t>
            </a:r>
          </a:p>
          <a:p>
            <a:r>
              <a:rPr lang="en-US"/>
              <a:t>from PyQt5 import QtGui</a:t>
            </a:r>
          </a:p>
          <a:p>
            <a:r>
              <a:rPr lang="en-US"/>
              <a:t>class StackedWidget(QWidget):</a:t>
            </a:r>
          </a:p>
          <a:p>
            <a:r>
              <a:rPr lang="en-US"/>
              <a:t>    def __init__(self):</a:t>
            </a:r>
          </a:p>
          <a:p>
            <a:r>
              <a:rPr lang="en-US"/>
              <a:t>        super().__init__()</a:t>
            </a:r>
          </a:p>
          <a:p>
            <a:r>
              <a:rPr lang="en-US"/>
              <a:t>        self.title = "PyQt5 StackedWidget"</a:t>
            </a:r>
          </a:p>
          <a:p>
            <a:r>
              <a:rPr lang="en-US"/>
              <a:t>        self.top = 200</a:t>
            </a:r>
          </a:p>
          <a:p>
            <a:r>
              <a:rPr lang="en-US"/>
              <a:t>        self.left = 500</a:t>
            </a:r>
          </a:p>
          <a:p>
            <a:r>
              <a:rPr lang="en-US"/>
              <a:t>        self.width = 300</a:t>
            </a:r>
          </a:p>
          <a:p>
            <a:r>
              <a:rPr lang="en-US"/>
              <a:t>        self.height = 200</a:t>
            </a:r>
          </a:p>
          <a:p>
            <a:r>
              <a:rPr lang="en-US"/>
              <a:t>        self.setWindowIcon(QtGui.QIcon("icon.png"))</a:t>
            </a:r>
          </a:p>
          <a:p>
            <a:r>
              <a:rPr lang="en-US"/>
              <a:t>        self.setWindowTitle(self.title)</a:t>
            </a:r>
          </a:p>
          <a:p>
            <a:r>
              <a:rPr lang="en-US"/>
              <a:t>        self.setGeometry(self.left, self.top, self.width, self.height)</a:t>
            </a:r>
          </a:p>
          <a:p>
            <a:r>
              <a:rPr lang="en-US"/>
              <a:t>        self.stackedWidget()</a:t>
            </a:r>
          </a:p>
          <a:p>
            <a:r>
              <a:rPr lang="en-US"/>
              <a:t>        self.show()</a:t>
            </a:r>
          </a:p>
          <a:p>
            <a:r>
              <a:rPr lang="en-US"/>
              <a:t>    def stackedWidget(self):</a:t>
            </a:r>
          </a:p>
          <a:p>
            <a:r>
              <a:rPr lang="en-US"/>
              <a:t>        vbox = QVBoxLayout()</a:t>
            </a:r>
          </a:p>
          <a:p>
            <a:r>
              <a:rPr lang="en-US"/>
              <a:t>        self.stackedWidget = QStackedWidget()</a:t>
            </a:r>
          </a:p>
          <a:p>
            <a:r>
              <a:rPr lang="en-US"/>
              <a:t>        vbox.addWidget(self.stackedWidget)</a:t>
            </a:r>
          </a:p>
          <a:p>
            <a:r>
              <a:rPr lang="en-US"/>
              <a:t>        for x in range(0,8):</a:t>
            </a:r>
          </a:p>
          <a:p>
            <a:r>
              <a:rPr lang="en-US"/>
              <a:t>            label = QLabel("Stacked Child: " + str(x))</a:t>
            </a:r>
          </a:p>
          <a:p>
            <a:r>
              <a:rPr lang="en-US"/>
              <a:t>            label.setFont(QtGui.QFont("sanserif", 15))</a:t>
            </a:r>
          </a:p>
          <a:p>
            <a:r>
              <a:rPr lang="en-US"/>
              <a:t>            label.setStyleSheet('color:red')</a:t>
            </a:r>
          </a:p>
          <a:p>
            <a:r>
              <a:rPr lang="en-US"/>
              <a:t>            self.stackedWidget.addWidget(label)</a:t>
            </a:r>
          </a:p>
          <a:p>
            <a:r>
              <a:rPr lang="en-US"/>
              <a:t>            self.button = QPushButton("Stack" + str(x))</a:t>
            </a:r>
          </a:p>
          <a:p>
            <a:r>
              <a:rPr lang="en-US"/>
              <a:t>            self.button.setStyleSheet('background-color:green')</a:t>
            </a:r>
          </a:p>
          <a:p>
            <a:r>
              <a:rPr lang="en-US"/>
              <a:t>            self.button.page = x</a:t>
            </a:r>
          </a:p>
          <a:p>
            <a:r>
              <a:rPr lang="en-US"/>
              <a:t>            self.button.clicked.connect(self.btn_clicked)</a:t>
            </a:r>
          </a:p>
          <a:p>
            <a:r>
              <a:rPr lang="en-US"/>
              <a:t>            vbox.addWidget(self.button)</a:t>
            </a:r>
          </a:p>
          <a:p>
            <a:r>
              <a:rPr lang="en-US"/>
              <a:t>        self.setLayout(vbox)</a:t>
            </a:r>
          </a:p>
          <a:p>
            <a:r>
              <a:rPr lang="en-US"/>
              <a:t>    def btn_clicked(self):</a:t>
            </a:r>
          </a:p>
          <a:p>
            <a:r>
              <a:rPr lang="en-US"/>
              <a:t>        self.button = self.sender()</a:t>
            </a:r>
          </a:p>
          <a:p>
            <a:r>
              <a:rPr lang="en-US"/>
              <a:t>        self.stackedWidget.setCurrentIndex(self.button.page - 1)</a:t>
            </a:r>
          </a:p>
          <a:p>
            <a:r>
              <a:rPr lang="en-US"/>
              <a:t>App = QApplication(sys.argv)</a:t>
            </a:r>
          </a:p>
          <a:p>
            <a:r>
              <a:rPr lang="en-US"/>
              <a:t>window = StackedWidget()</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105</a:t>
            </a:fld>
            <a:endParaRPr lang="en-US"/>
          </a:p>
        </p:txBody>
      </p:sp>
    </p:spTree>
    <p:extLst>
      <p:ext uri="{BB962C8B-B14F-4D97-AF65-F5344CB8AC3E}">
        <p14:creationId xmlns:p14="http://schemas.microsoft.com/office/powerpoint/2010/main" val="39849978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https://codeloop.org/pyqt5-how-to-create-dockable-widget/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106</a:t>
            </a:fld>
            <a:endParaRPr lang="en-US"/>
          </a:p>
        </p:txBody>
      </p:sp>
    </p:spTree>
    <p:extLst>
      <p:ext uri="{BB962C8B-B14F-4D97-AF65-F5344CB8AC3E}">
        <p14:creationId xmlns:p14="http://schemas.microsoft.com/office/powerpoint/2010/main" val="21373622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PyQt5.QtWidgets import QMainWindow, QApplication, QDockWidget, QListWidget, QTextEdit</a:t>
            </a:r>
          </a:p>
          <a:p>
            <a:r>
              <a:rPr lang="en-US"/>
              <a:t>import sys</a:t>
            </a:r>
          </a:p>
          <a:p>
            <a:r>
              <a:rPr lang="en-US"/>
              <a:t>from PyQt5.QtGui import QIcon</a:t>
            </a:r>
          </a:p>
          <a:p>
            <a:r>
              <a:rPr lang="en-US"/>
              <a:t>from PyQt5 import QtGui</a:t>
            </a:r>
          </a:p>
          <a:p>
            <a:r>
              <a:rPr lang="en-US"/>
              <a:t>from PyQt5.QtCore import Qt</a:t>
            </a:r>
          </a:p>
          <a:p>
            <a:endParaRPr lang="en-US"/>
          </a:p>
          <a:p>
            <a:endParaRPr lang="en-US"/>
          </a:p>
          <a:p>
            <a:endParaRPr lang="en-US"/>
          </a:p>
          <a:p>
            <a:endParaRPr lang="en-US"/>
          </a:p>
          <a:p>
            <a:endParaRPr lang="en-US"/>
          </a:p>
          <a:p>
            <a:r>
              <a:rPr lang="en-US"/>
              <a:t>class DockDialog(QMainWindow):</a:t>
            </a:r>
          </a:p>
          <a:p>
            <a:r>
              <a:rPr lang="en-US"/>
              <a:t>    def __init__(self):</a:t>
            </a:r>
          </a:p>
          <a:p>
            <a:r>
              <a:rPr lang="en-US"/>
              <a:t>        super().__init__()</a:t>
            </a:r>
          </a:p>
          <a:p>
            <a:r>
              <a:rPr lang="en-US"/>
              <a:t>        self.title = "PyQt5 StackedWidget"</a:t>
            </a:r>
          </a:p>
          <a:p>
            <a:r>
              <a:rPr lang="en-US"/>
              <a:t>        self.top = 200</a:t>
            </a:r>
          </a:p>
          <a:p>
            <a:r>
              <a:rPr lang="en-US"/>
              <a:t>        self.left = 500</a:t>
            </a:r>
          </a:p>
          <a:p>
            <a:r>
              <a:rPr lang="en-US"/>
              <a:t>        self.width = 400</a:t>
            </a:r>
          </a:p>
          <a:p>
            <a:r>
              <a:rPr lang="en-US"/>
              <a:t>        self.height = 300</a:t>
            </a:r>
          </a:p>
          <a:p>
            <a:r>
              <a:rPr lang="en-US"/>
              <a:t>        self.setWindowIcon(QtGui.QIcon("icon.png"))</a:t>
            </a:r>
          </a:p>
          <a:p>
            <a:r>
              <a:rPr lang="en-US"/>
              <a:t>        self.setWindowTitle(self.title)</a:t>
            </a:r>
          </a:p>
          <a:p>
            <a:r>
              <a:rPr lang="en-US"/>
              <a:t>        self.setGeometry(self.left, self.top, self.width, self.height)</a:t>
            </a:r>
          </a:p>
          <a:p>
            <a:r>
              <a:rPr lang="en-US"/>
              <a:t>        self.createDockWidget()</a:t>
            </a:r>
          </a:p>
          <a:p>
            <a:r>
              <a:rPr lang="en-US"/>
              <a:t>        self.show()</a:t>
            </a:r>
          </a:p>
          <a:p>
            <a:endParaRPr lang="en-US"/>
          </a:p>
          <a:p>
            <a:r>
              <a:rPr lang="en-US"/>
              <a:t>    def createDockWidget(self):</a:t>
            </a:r>
          </a:p>
          <a:p>
            <a:r>
              <a:rPr lang="en-US"/>
              <a:t>        menubar = self.menuBar()</a:t>
            </a:r>
          </a:p>
          <a:p>
            <a:r>
              <a:rPr lang="en-US"/>
              <a:t>        file = menubar.addMenu("File")</a:t>
            </a:r>
          </a:p>
          <a:p>
            <a:r>
              <a:rPr lang="en-US"/>
              <a:t>        file.addAction("New")</a:t>
            </a:r>
          </a:p>
          <a:p>
            <a:r>
              <a:rPr lang="en-US"/>
              <a:t>        file.addAction("Save")</a:t>
            </a:r>
          </a:p>
          <a:p>
            <a:r>
              <a:rPr lang="en-US"/>
              <a:t>        file.addAction("Close")</a:t>
            </a:r>
          </a:p>
          <a:p>
            <a:r>
              <a:rPr lang="en-US"/>
              <a:t>        self.dock = QDockWidget("Dockable", self)</a:t>
            </a:r>
          </a:p>
          <a:p>
            <a:r>
              <a:rPr lang="en-US"/>
              <a:t>        self.listWiget = QListWidget()</a:t>
            </a:r>
          </a:p>
          <a:p>
            <a:r>
              <a:rPr lang="en-US"/>
              <a:t>        list = ["Python", "C++", "Java", "C#"]</a:t>
            </a:r>
          </a:p>
          <a:p>
            <a:r>
              <a:rPr lang="en-US"/>
              <a:t>        self.listWiget.addItems(list)</a:t>
            </a:r>
          </a:p>
          <a:p>
            <a:r>
              <a:rPr lang="en-US"/>
              <a:t>        self.dock.setWidget(self.listWiget)</a:t>
            </a:r>
          </a:p>
          <a:p>
            <a:r>
              <a:rPr lang="en-US"/>
              <a:t>        #self.dock.setFloating(False)</a:t>
            </a:r>
          </a:p>
          <a:p>
            <a:r>
              <a:rPr lang="en-US"/>
              <a:t>        self.setCentralWidget(QTextEdit())</a:t>
            </a:r>
          </a:p>
          <a:p>
            <a:r>
              <a:rPr lang="en-US"/>
              <a:t>        self.addDockWidget(Qt.RightDockWidgetArea, self.dock)</a:t>
            </a:r>
          </a:p>
          <a:p>
            <a:endParaRPr lang="en-US"/>
          </a:p>
          <a:p>
            <a:endParaRPr lang="en-US"/>
          </a:p>
          <a:p>
            <a:r>
              <a:rPr lang="en-US"/>
              <a:t>App = QApplication(sys.argv)</a:t>
            </a:r>
          </a:p>
          <a:p>
            <a:r>
              <a:rPr lang="en-US"/>
              <a:t>window = DockDialog()</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108</a:t>
            </a:fld>
            <a:endParaRPr lang="en-US"/>
          </a:p>
        </p:txBody>
      </p:sp>
    </p:spTree>
    <p:extLst>
      <p:ext uri="{BB962C8B-B14F-4D97-AF65-F5344CB8AC3E}">
        <p14:creationId xmlns:p14="http://schemas.microsoft.com/office/powerpoint/2010/main" val="6568638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https://codeloop.org/how-to-create-qcombobox-in-pyqt5/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109</a:t>
            </a:fld>
            <a:endParaRPr lang="en-US"/>
          </a:p>
        </p:txBody>
      </p:sp>
    </p:spTree>
    <p:extLst>
      <p:ext uri="{BB962C8B-B14F-4D97-AF65-F5344CB8AC3E}">
        <p14:creationId xmlns:p14="http://schemas.microsoft.com/office/powerpoint/2010/main" val="10139167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QDialog, QComboBox, QVBoxLayout, QLabel</a:t>
            </a:r>
          </a:p>
          <a:p>
            <a:r>
              <a:rPr lang="en-US"/>
              <a:t>import sys</a:t>
            </a:r>
          </a:p>
          <a:p>
            <a:endParaRPr lang="en-US"/>
          </a:p>
          <a:p>
            <a:endParaRPr lang="en-US"/>
          </a:p>
          <a:p>
            <a:r>
              <a:rPr lang="en-US"/>
              <a:t>class Window(QDialog):</a:t>
            </a:r>
          </a:p>
          <a:p>
            <a:r>
              <a:rPr lang="en-US"/>
              <a:t>    def __init__(self):</a:t>
            </a:r>
          </a:p>
          <a:p>
            <a:r>
              <a:rPr lang="en-US"/>
              <a:t>        super().__init__()</a:t>
            </a:r>
          </a:p>
          <a:p>
            <a:endParaRPr lang="en-US"/>
          </a:p>
          <a:p>
            <a:r>
              <a:rPr lang="en-US"/>
              <a:t>        self.title = "PyQt5 Combo Box"</a:t>
            </a:r>
          </a:p>
          <a:p>
            <a:r>
              <a:rPr lang="en-US"/>
              <a:t>        self.top = 200</a:t>
            </a:r>
          </a:p>
          <a:p>
            <a:r>
              <a:rPr lang="en-US"/>
              <a:t>        self.left = 500</a:t>
            </a:r>
          </a:p>
          <a:p>
            <a:r>
              <a:rPr lang="en-US"/>
              <a:t>        self.width = 300</a:t>
            </a:r>
          </a:p>
          <a:p>
            <a:r>
              <a:rPr lang="en-US"/>
              <a:t>        self.height = 100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endParaRPr lang="en-US"/>
          </a:p>
          <a:p>
            <a:r>
              <a:rPr lang="en-US"/>
              <a:t>        vbox = QVBoxLayout()</a:t>
            </a:r>
          </a:p>
          <a:p>
            <a:endParaRPr lang="en-US"/>
          </a:p>
          <a:p>
            <a:r>
              <a:rPr lang="en-US"/>
              <a:t>        self.combo = QComboBox()</a:t>
            </a:r>
          </a:p>
          <a:p>
            <a:r>
              <a:rPr lang="en-US"/>
              <a:t>        self.combo.addItem("Python")</a:t>
            </a:r>
          </a:p>
          <a:p>
            <a:r>
              <a:rPr lang="en-US"/>
              <a:t>        self.combo.addItem("Java")</a:t>
            </a:r>
          </a:p>
          <a:p>
            <a:r>
              <a:rPr lang="en-US"/>
              <a:t>        self.combo.addItem("C++")</a:t>
            </a:r>
          </a:p>
          <a:p>
            <a:r>
              <a:rPr lang="en-US"/>
              <a:t>        self.combo.addItem("C#")</a:t>
            </a:r>
          </a:p>
          <a:p>
            <a:r>
              <a:rPr lang="en-US"/>
              <a:t>        self.combo.addItem("Ruby")</a:t>
            </a:r>
          </a:p>
          <a:p>
            <a:endParaRPr lang="en-US"/>
          </a:p>
          <a:p>
            <a:r>
              <a:rPr lang="en-US"/>
              <a:t>        self.combo.currentTextChanged.connect(self.comboChanged)</a:t>
            </a:r>
          </a:p>
          <a:p>
            <a:endParaRPr lang="en-US"/>
          </a:p>
          <a:p>
            <a:r>
              <a:rPr lang="en-US"/>
              <a:t>        self.label = QLabel()</a:t>
            </a:r>
          </a:p>
          <a:p>
            <a:r>
              <a:rPr lang="en-US"/>
              <a:t>        self.label.setFont(QtGui.QFont("Sanserif", 15))</a:t>
            </a:r>
          </a:p>
          <a:p>
            <a:r>
              <a:rPr lang="en-US"/>
              <a:t>        self.label.setStyleSheet('color:red')</a:t>
            </a:r>
          </a:p>
          <a:p>
            <a:endParaRPr lang="en-US"/>
          </a:p>
          <a:p>
            <a:r>
              <a:rPr lang="en-US"/>
              <a:t>        vbox.addWidget(self.combo)</a:t>
            </a:r>
          </a:p>
          <a:p>
            <a:r>
              <a:rPr lang="en-US"/>
              <a:t>        vbox.addWidget(self.label)</a:t>
            </a:r>
          </a:p>
          <a:p>
            <a:endParaRPr lang="en-US"/>
          </a:p>
          <a:p>
            <a:endParaRPr lang="en-US"/>
          </a:p>
          <a:p>
            <a:r>
              <a:rPr lang="en-US"/>
              <a:t>        self.setLayout(vbox)</a:t>
            </a:r>
          </a:p>
          <a:p>
            <a:endParaRPr lang="en-US"/>
          </a:p>
          <a:p>
            <a:r>
              <a:rPr lang="en-US"/>
              <a:t>        self.show()</a:t>
            </a:r>
          </a:p>
          <a:p>
            <a:endParaRPr lang="en-US"/>
          </a:p>
          <a:p>
            <a:r>
              <a:rPr lang="en-US"/>
              <a:t>    def comboChanged(self):</a:t>
            </a:r>
          </a:p>
          <a:p>
            <a:r>
              <a:rPr lang="en-US"/>
              <a:t>        text = self.combo.currentText()</a:t>
            </a:r>
          </a:p>
          <a:p>
            <a:r>
              <a:rPr lang="en-US"/>
              <a:t>        self.label.setText("You Have Selected : " + text)</a:t>
            </a:r>
          </a:p>
          <a:p>
            <a:endParaRPr lang="en-US"/>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111</a:t>
            </a:fld>
            <a:endParaRPr lang="en-US"/>
          </a:p>
        </p:txBody>
      </p:sp>
    </p:spTree>
    <p:extLst>
      <p:ext uri="{BB962C8B-B14F-4D97-AF65-F5344CB8AC3E}">
        <p14:creationId xmlns:p14="http://schemas.microsoft.com/office/powerpoint/2010/main" val="42091310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https://codeloop.org/pyqt5-creating-qcompleter-practical-example/</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112</a:t>
            </a:fld>
            <a:endParaRPr lang="en-US"/>
          </a:p>
        </p:txBody>
      </p:sp>
    </p:spTree>
    <p:extLst>
      <p:ext uri="{BB962C8B-B14F-4D97-AF65-F5344CB8AC3E}">
        <p14:creationId xmlns:p14="http://schemas.microsoft.com/office/powerpoint/2010/main" val="2906125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QDialog, QVBoxLayout, QCompleter, QLineEdit</a:t>
            </a:r>
          </a:p>
          <a:p>
            <a:r>
              <a:rPr lang="en-US"/>
              <a:t>import sys</a:t>
            </a:r>
          </a:p>
          <a:p>
            <a:endParaRPr lang="en-US"/>
          </a:p>
          <a:p>
            <a:endParaRPr lang="en-US"/>
          </a:p>
          <a:p>
            <a:r>
              <a:rPr lang="en-US"/>
              <a:t>class Window(QDialog):</a:t>
            </a:r>
          </a:p>
          <a:p>
            <a:r>
              <a:rPr lang="en-US"/>
              <a:t>    def __init__(self):</a:t>
            </a:r>
          </a:p>
          <a:p>
            <a:r>
              <a:rPr lang="en-US"/>
              <a:t>        super().__init__()</a:t>
            </a:r>
          </a:p>
          <a:p>
            <a:endParaRPr lang="en-US"/>
          </a:p>
          <a:p>
            <a:r>
              <a:rPr lang="en-US"/>
              <a:t>        self.title = "PyQt5 QCompleter"</a:t>
            </a:r>
          </a:p>
          <a:p>
            <a:r>
              <a:rPr lang="en-US"/>
              <a:t>        self.top = 200</a:t>
            </a:r>
          </a:p>
          <a:p>
            <a:r>
              <a:rPr lang="en-US"/>
              <a:t>        self.left = 500</a:t>
            </a:r>
          </a:p>
          <a:p>
            <a:r>
              <a:rPr lang="en-US"/>
              <a:t>        self.width = 300</a:t>
            </a:r>
          </a:p>
          <a:p>
            <a:r>
              <a:rPr lang="en-US"/>
              <a:t>        self.height = 200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endParaRPr lang="en-US"/>
          </a:p>
          <a:p>
            <a:r>
              <a:rPr lang="en-US"/>
              <a:t>        self.Completer()</a:t>
            </a:r>
          </a:p>
          <a:p>
            <a:endParaRPr lang="en-US"/>
          </a:p>
          <a:p>
            <a:endParaRPr lang="en-US"/>
          </a:p>
          <a:p>
            <a:endParaRPr lang="en-US"/>
          </a:p>
          <a:p>
            <a:r>
              <a:rPr lang="en-US"/>
              <a:t>        self.show()</a:t>
            </a:r>
          </a:p>
          <a:p>
            <a:endParaRPr lang="en-US"/>
          </a:p>
          <a:p>
            <a:endParaRPr lang="en-US"/>
          </a:p>
          <a:p>
            <a:r>
              <a:rPr lang="en-US"/>
              <a:t>    def Completer(self):</a:t>
            </a:r>
          </a:p>
          <a:p>
            <a:r>
              <a:rPr lang="en-US"/>
              <a:t>        vbox = QVBoxLayout()</a:t>
            </a:r>
          </a:p>
          <a:p>
            <a:r>
              <a:rPr lang="en-US"/>
              <a:t>        names = ["Afghanistan", "India", "Pakistan", "Japan", "Indonesia", "China", "UAE", "America"]</a:t>
            </a:r>
          </a:p>
          <a:p>
            <a:endParaRPr lang="en-US"/>
          </a:p>
          <a:p>
            <a:r>
              <a:rPr lang="en-US"/>
              <a:t>        completer = QCompleter(names)</a:t>
            </a:r>
          </a:p>
          <a:p>
            <a:endParaRPr lang="en-US"/>
          </a:p>
          <a:p>
            <a:r>
              <a:rPr lang="en-US"/>
              <a:t>        self.lineedit = QLineEdit()</a:t>
            </a:r>
          </a:p>
          <a:p>
            <a:r>
              <a:rPr lang="en-US"/>
              <a:t>        self.lineedit.setCompleter(completer)</a:t>
            </a:r>
          </a:p>
          <a:p>
            <a:endParaRPr lang="en-US"/>
          </a:p>
          <a:p>
            <a:r>
              <a:rPr lang="en-US"/>
              <a:t>        vbox.addWidget(self.lineedit)</a:t>
            </a:r>
          </a:p>
          <a:p>
            <a:endParaRPr lang="en-US"/>
          </a:p>
          <a:p>
            <a:r>
              <a:rPr lang="en-US"/>
              <a:t>        self.setLayout(vbox)</a:t>
            </a:r>
          </a:p>
          <a:p>
            <a:endParaRPr lang="en-US"/>
          </a:p>
          <a:p>
            <a:endParaRPr lang="en-US"/>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114</a:t>
            </a:fld>
            <a:endParaRPr lang="en-US"/>
          </a:p>
        </p:txBody>
      </p:sp>
    </p:spTree>
    <p:extLst>
      <p:ext uri="{BB962C8B-B14F-4D97-AF65-F5344CB8AC3E}">
        <p14:creationId xmlns:p14="http://schemas.microsoft.com/office/powerpoint/2010/main" val="40800077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https://codeloop.org/pyqt5-open-second-dialog-by-clicking-button/</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115</a:t>
            </a:fld>
            <a:endParaRPr lang="en-US"/>
          </a:p>
        </p:txBody>
      </p:sp>
    </p:spTree>
    <p:extLst>
      <p:ext uri="{BB962C8B-B14F-4D97-AF65-F5344CB8AC3E}">
        <p14:creationId xmlns:p14="http://schemas.microsoft.com/office/powerpoint/2010/main" val="26877501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QWidget, QPushButton, QDialog, QVBoxLayout</a:t>
            </a:r>
          </a:p>
          <a:p>
            <a:r>
              <a:rPr lang="en-US"/>
              <a:t>import sys</a:t>
            </a:r>
          </a:p>
          <a:p>
            <a:endParaRPr lang="en-US"/>
          </a:p>
          <a:p>
            <a:endParaRPr lang="en-US"/>
          </a:p>
          <a:p>
            <a:r>
              <a:rPr lang="en-US"/>
              <a:t>class Window(QWidget):</a:t>
            </a:r>
          </a:p>
          <a:p>
            <a:r>
              <a:rPr lang="en-US"/>
              <a:t>    def __init__(self):</a:t>
            </a:r>
          </a:p>
          <a:p>
            <a:r>
              <a:rPr lang="en-US"/>
              <a:t>        super().__init__()</a:t>
            </a:r>
          </a:p>
          <a:p>
            <a:endParaRPr lang="en-US"/>
          </a:p>
          <a:p>
            <a:r>
              <a:rPr lang="en-US"/>
              <a:t>        self.title = "PyQt5 Window"</a:t>
            </a:r>
          </a:p>
          <a:p>
            <a:r>
              <a:rPr lang="en-US"/>
              <a:t>        self.top = 200</a:t>
            </a:r>
          </a:p>
          <a:p>
            <a:r>
              <a:rPr lang="en-US"/>
              <a:t>        self.left = 500</a:t>
            </a:r>
          </a:p>
          <a:p>
            <a:r>
              <a:rPr lang="en-US"/>
              <a:t>        self.width = 400</a:t>
            </a:r>
          </a:p>
          <a:p>
            <a:r>
              <a:rPr lang="en-US"/>
              <a:t>        self.height = 300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endParaRPr lang="en-US"/>
          </a:p>
          <a:p>
            <a:r>
              <a:rPr lang="en-US"/>
              <a:t>        vbox = QVBoxLayout()</a:t>
            </a:r>
          </a:p>
          <a:p>
            <a:endParaRPr lang="en-US"/>
          </a:p>
          <a:p>
            <a:endParaRPr lang="en-US"/>
          </a:p>
          <a:p>
            <a:endParaRPr lang="en-US"/>
          </a:p>
          <a:p>
            <a:r>
              <a:rPr lang="en-US"/>
              <a:t>        self.btn = QPushButton("Open Second Dialog")</a:t>
            </a:r>
          </a:p>
          <a:p>
            <a:r>
              <a:rPr lang="en-US"/>
              <a:t>        self.btn.setFont(QtGui.QFont("Sanserif", 15))</a:t>
            </a:r>
          </a:p>
          <a:p>
            <a:r>
              <a:rPr lang="en-US"/>
              <a:t>        self.btn.clicked.connect(self.openSecondDialog)</a:t>
            </a:r>
          </a:p>
          <a:p>
            <a:endParaRPr lang="en-US"/>
          </a:p>
          <a:p>
            <a:r>
              <a:rPr lang="en-US"/>
              <a:t>        vbox.addWidget(self.btn)</a:t>
            </a:r>
          </a:p>
          <a:p>
            <a:endParaRPr lang="en-US"/>
          </a:p>
          <a:p>
            <a:r>
              <a:rPr lang="en-US"/>
              <a:t>        self.setLayout(vbox)</a:t>
            </a:r>
          </a:p>
          <a:p>
            <a:endParaRPr lang="en-US"/>
          </a:p>
          <a:p>
            <a:endParaRPr lang="en-US"/>
          </a:p>
          <a:p>
            <a:endParaRPr lang="en-US"/>
          </a:p>
          <a:p>
            <a:r>
              <a:rPr lang="en-US"/>
              <a:t>        self.show()</a:t>
            </a:r>
          </a:p>
          <a:p>
            <a:endParaRPr lang="en-US"/>
          </a:p>
          <a:p>
            <a:endParaRPr lang="en-US"/>
          </a:p>
          <a:p>
            <a:r>
              <a:rPr lang="en-US"/>
              <a:t>    def openSecondDialog(self):</a:t>
            </a:r>
          </a:p>
          <a:p>
            <a:r>
              <a:rPr lang="en-US"/>
              <a:t>        mydialog = QDialog(self)</a:t>
            </a:r>
          </a:p>
          <a:p>
            <a:r>
              <a:rPr lang="en-US"/>
              <a:t>        #mydialog.setModal(True)</a:t>
            </a:r>
          </a:p>
          <a:p>
            <a:r>
              <a:rPr lang="en-US"/>
              <a:t>        #mydialog.exec()</a:t>
            </a:r>
          </a:p>
          <a:p>
            <a:endParaRPr lang="en-US"/>
          </a:p>
          <a:p>
            <a:r>
              <a:rPr lang="en-US"/>
              <a:t>        mydialog.show()</a:t>
            </a:r>
          </a:p>
          <a:p>
            <a:endParaRPr lang="en-US"/>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116</a:t>
            </a:fld>
            <a:endParaRPr lang="en-US"/>
          </a:p>
        </p:txBody>
      </p:sp>
    </p:spTree>
    <p:extLst>
      <p:ext uri="{BB962C8B-B14F-4D97-AF65-F5344CB8AC3E}">
        <p14:creationId xmlns:p14="http://schemas.microsoft.com/office/powerpoint/2010/main" val="336691618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https://codeloop.org/pyqt5-creating-qtimeedit/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117</a:t>
            </a:fld>
            <a:endParaRPr lang="en-US"/>
          </a:p>
        </p:txBody>
      </p:sp>
    </p:spTree>
    <p:extLst>
      <p:ext uri="{BB962C8B-B14F-4D97-AF65-F5344CB8AC3E}">
        <p14:creationId xmlns:p14="http://schemas.microsoft.com/office/powerpoint/2010/main" val="28459470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https://codeloop.org/pyqt5-qlistwidget-practical-example/</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119</a:t>
            </a:fld>
            <a:endParaRPr lang="en-US"/>
          </a:p>
        </p:txBody>
      </p:sp>
    </p:spTree>
    <p:extLst>
      <p:ext uri="{BB962C8B-B14F-4D97-AF65-F5344CB8AC3E}">
        <p14:creationId xmlns:p14="http://schemas.microsoft.com/office/powerpoint/2010/main" val="387707455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120</a:t>
            </a:fld>
            <a:endParaRPr lang="en-US"/>
          </a:p>
        </p:txBody>
      </p:sp>
    </p:spTree>
    <p:extLst>
      <p:ext uri="{BB962C8B-B14F-4D97-AF65-F5344CB8AC3E}">
        <p14:creationId xmlns:p14="http://schemas.microsoft.com/office/powerpoint/2010/main" val="262548066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QWidget, QListWidget, QLabel, QVBoxLayout</a:t>
            </a:r>
          </a:p>
          <a:p>
            <a:r>
              <a:rPr lang="en-US"/>
              <a:t>import sys</a:t>
            </a:r>
          </a:p>
          <a:p>
            <a:r>
              <a:rPr lang="en-US"/>
              <a:t>class Window(QWidget):</a:t>
            </a:r>
          </a:p>
          <a:p>
            <a:r>
              <a:rPr lang="en-US"/>
              <a:t>    def __init__(self):</a:t>
            </a:r>
          </a:p>
          <a:p>
            <a:r>
              <a:rPr lang="en-US"/>
              <a:t>        super().__init__()</a:t>
            </a:r>
          </a:p>
          <a:p>
            <a:r>
              <a:rPr lang="en-US"/>
              <a:t>        self.title = "PyQt5 QListWidget"</a:t>
            </a:r>
          </a:p>
          <a:p>
            <a:r>
              <a:rPr lang="en-US"/>
              <a:t>        self.top = 200</a:t>
            </a:r>
          </a:p>
          <a:p>
            <a:r>
              <a:rPr lang="en-US"/>
              <a:t>        self.left = 500</a:t>
            </a:r>
          </a:p>
          <a:p>
            <a:r>
              <a:rPr lang="en-US"/>
              <a:t>        self.width = 400</a:t>
            </a:r>
          </a:p>
          <a:p>
            <a:r>
              <a:rPr lang="en-US"/>
              <a:t>        self.height = 300</a:t>
            </a:r>
          </a:p>
          <a:p>
            <a:r>
              <a:rPr lang="en-US"/>
              <a:t>        self.InitWindow()</a:t>
            </a:r>
          </a:p>
          <a:p>
            <a:r>
              <a:rPr lang="en-US"/>
              <a:t>    def InitWindow(self):</a:t>
            </a:r>
          </a:p>
          <a:p>
            <a:r>
              <a:rPr lang="en-US"/>
              <a:t>        self.setWindowIcon(QtGui.QIcon("icon.png"))</a:t>
            </a:r>
          </a:p>
          <a:p>
            <a:r>
              <a:rPr lang="en-US"/>
              <a:t>        self.setWindowTitle(self.title)</a:t>
            </a:r>
          </a:p>
          <a:p>
            <a:r>
              <a:rPr lang="en-US"/>
              <a:t>        self.setGeometry(self.left, self.top, self.width, self.height)</a:t>
            </a:r>
          </a:p>
          <a:p>
            <a:r>
              <a:rPr lang="en-US"/>
              <a:t>        vbox= QVBoxLayout()</a:t>
            </a:r>
          </a:p>
          <a:p>
            <a:r>
              <a:rPr lang="en-US"/>
              <a:t>        self.list = QListWidget()</a:t>
            </a:r>
          </a:p>
          <a:p>
            <a:r>
              <a:rPr lang="en-US"/>
              <a:t>        self.list.insertItem(0, "Python")</a:t>
            </a:r>
          </a:p>
          <a:p>
            <a:r>
              <a:rPr lang="en-US"/>
              <a:t>        self.list.insertItem(1, "Java")</a:t>
            </a:r>
          </a:p>
          <a:p>
            <a:r>
              <a:rPr lang="en-US"/>
              <a:t>        self.list.insertItem(2, "C++")</a:t>
            </a:r>
          </a:p>
          <a:p>
            <a:r>
              <a:rPr lang="en-US"/>
              <a:t>        self.list.insertItem(3, "C#")</a:t>
            </a:r>
          </a:p>
          <a:p>
            <a:r>
              <a:rPr lang="en-US"/>
              <a:t>        self.list.insertItem(4, "Ruby")</a:t>
            </a:r>
          </a:p>
          <a:p>
            <a:r>
              <a:rPr lang="en-US"/>
              <a:t>        self.list.insertItem(5, "Kotlin")</a:t>
            </a:r>
          </a:p>
          <a:p>
            <a:r>
              <a:rPr lang="en-US"/>
              <a:t>        self.list.clicked.connect(self.listview_clicked)</a:t>
            </a:r>
          </a:p>
          <a:p>
            <a:r>
              <a:rPr lang="en-US"/>
              <a:t>        vbox.addWidget(self.list)</a:t>
            </a:r>
          </a:p>
          <a:p>
            <a:r>
              <a:rPr lang="en-US"/>
              <a:t>        self.label = QLabel()</a:t>
            </a:r>
          </a:p>
          <a:p>
            <a:r>
              <a:rPr lang="en-US"/>
              <a:t>        self.label.setFont(QtGui.QFont("Sanserif", 15))</a:t>
            </a:r>
          </a:p>
          <a:p>
            <a:r>
              <a:rPr lang="en-US"/>
              <a:t>        vbox.addWidget(self.label)</a:t>
            </a:r>
          </a:p>
          <a:p>
            <a:r>
              <a:rPr lang="en-US"/>
              <a:t>        self.setLayout(vbox)</a:t>
            </a:r>
          </a:p>
          <a:p>
            <a:r>
              <a:rPr lang="en-US"/>
              <a:t>        self.show()</a:t>
            </a:r>
          </a:p>
          <a:p>
            <a:r>
              <a:rPr lang="en-US"/>
              <a:t>    def listview_clicked(self):</a:t>
            </a:r>
          </a:p>
          <a:p>
            <a:r>
              <a:rPr lang="en-US"/>
              <a:t>        item = self.list.currentItem()</a:t>
            </a:r>
          </a:p>
          <a:p>
            <a:r>
              <a:rPr lang="en-US"/>
              <a:t>        self.label.setText(str(item.text()))</a:t>
            </a:r>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121</a:t>
            </a:fld>
            <a:endParaRPr lang="en-US"/>
          </a:p>
        </p:txBody>
      </p:sp>
    </p:spTree>
    <p:extLst>
      <p:ext uri="{BB962C8B-B14F-4D97-AF65-F5344CB8AC3E}">
        <p14:creationId xmlns:p14="http://schemas.microsoft.com/office/powerpoint/2010/main" val="87474340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https://codeloop.org/pyqt5-simple-project-with-qlistwidget/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122</a:t>
            </a:fld>
            <a:endParaRPr lang="en-US"/>
          </a:p>
        </p:txBody>
      </p:sp>
    </p:spTree>
    <p:extLst>
      <p:ext uri="{BB962C8B-B14F-4D97-AF65-F5344CB8AC3E}">
        <p14:creationId xmlns:p14="http://schemas.microsoft.com/office/powerpoint/2010/main" val="19164998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PyQt5.QtWidgets import QDialog, QListWidget,QLineEdit , QMessageBox , QVBoxLayout, QInputDialog,QPushButton, QHBoxLayout, QApplication</a:t>
            </a:r>
          </a:p>
          <a:p>
            <a:r>
              <a:rPr lang="en-US"/>
              <a:t>from PyQt5 import QtGui</a:t>
            </a:r>
          </a:p>
          <a:p>
            <a:r>
              <a:rPr lang="en-US"/>
              <a:t>import sys</a:t>
            </a:r>
          </a:p>
          <a:p>
            <a:endParaRPr lang="en-US"/>
          </a:p>
          <a:p>
            <a:endParaRPr lang="en-US"/>
          </a:p>
          <a:p>
            <a:endParaRPr lang="en-US"/>
          </a:p>
          <a:p>
            <a:endParaRPr lang="en-US"/>
          </a:p>
          <a:p>
            <a:endParaRPr lang="en-US"/>
          </a:p>
          <a:p>
            <a:r>
              <a:rPr lang="en-US"/>
              <a:t>class ProgrammingDialog(QDialog):</a:t>
            </a:r>
          </a:p>
          <a:p>
            <a:r>
              <a:rPr lang="en-US"/>
              <a:t>    def __init__(self,name, proList = None):</a:t>
            </a:r>
          </a:p>
          <a:p>
            <a:r>
              <a:rPr lang="en-US"/>
              <a:t>        super(ProgrammingDialog, self).__init__()</a:t>
            </a:r>
          </a:p>
          <a:p>
            <a:endParaRPr lang="en-US"/>
          </a:p>
          <a:p>
            <a:r>
              <a:rPr lang="en-US"/>
              <a:t>        self.name = name</a:t>
            </a:r>
          </a:p>
          <a:p>
            <a:r>
              <a:rPr lang="en-US"/>
              <a:t>        self.list = QListWidget()</a:t>
            </a:r>
          </a:p>
          <a:p>
            <a:endParaRPr lang="en-US"/>
          </a:p>
          <a:p>
            <a:endParaRPr lang="en-US"/>
          </a:p>
          <a:p>
            <a:r>
              <a:rPr lang="en-US"/>
              <a:t>        if proList is not None:</a:t>
            </a:r>
          </a:p>
          <a:p>
            <a:r>
              <a:rPr lang="en-US"/>
              <a:t>            self.list.addItems(proList)</a:t>
            </a:r>
          </a:p>
          <a:p>
            <a:r>
              <a:rPr lang="en-US"/>
              <a:t>            self.list.setCurrentRow(0)</a:t>
            </a:r>
          </a:p>
          <a:p>
            <a:endParaRPr lang="en-US"/>
          </a:p>
          <a:p>
            <a:r>
              <a:rPr lang="en-US"/>
              <a:t>        vbox = QVBoxLayout()</a:t>
            </a:r>
          </a:p>
          <a:p>
            <a:endParaRPr lang="en-US"/>
          </a:p>
          <a:p>
            <a:r>
              <a:rPr lang="en-US"/>
              <a:t>        for text, slot in (("Add", self.add),</a:t>
            </a:r>
          </a:p>
          <a:p>
            <a:endParaRPr lang="en-US"/>
          </a:p>
          <a:p>
            <a:r>
              <a:rPr lang="en-US"/>
              <a:t>                           ("Edit", self.edit),</a:t>
            </a:r>
          </a:p>
          <a:p>
            <a:r>
              <a:rPr lang="en-US"/>
              <a:t>                           ("Remove", self.remove),</a:t>
            </a:r>
          </a:p>
          <a:p>
            <a:r>
              <a:rPr lang="en-US"/>
              <a:t>                           ("Sort", self.sort),</a:t>
            </a:r>
          </a:p>
          <a:p>
            <a:r>
              <a:rPr lang="en-US"/>
              <a:t>                           ("Close", self.close)):</a:t>
            </a:r>
          </a:p>
          <a:p>
            <a:r>
              <a:rPr lang="en-US"/>
              <a:t>            button= QPushButton(text)</a:t>
            </a:r>
          </a:p>
          <a:p>
            <a:endParaRPr lang="en-US"/>
          </a:p>
          <a:p>
            <a:endParaRPr lang="en-US"/>
          </a:p>
          <a:p>
            <a:endParaRPr lang="en-US"/>
          </a:p>
          <a:p>
            <a:endParaRPr lang="en-US"/>
          </a:p>
          <a:p>
            <a:r>
              <a:rPr lang="en-US"/>
              <a:t>            vbox.addWidget(button)</a:t>
            </a:r>
          </a:p>
          <a:p>
            <a:r>
              <a:rPr lang="en-US"/>
              <a:t>            button.clicked.connect(slot)</a:t>
            </a:r>
          </a:p>
          <a:p>
            <a:endParaRPr lang="en-US"/>
          </a:p>
          <a:p>
            <a:endParaRPr lang="en-US"/>
          </a:p>
          <a:p>
            <a:endParaRPr lang="en-US"/>
          </a:p>
          <a:p>
            <a:endParaRPr lang="en-US"/>
          </a:p>
          <a:p>
            <a:r>
              <a:rPr lang="en-US"/>
              <a:t>        hbox = QHBoxLayout()</a:t>
            </a:r>
          </a:p>
          <a:p>
            <a:r>
              <a:rPr lang="en-US"/>
              <a:t>        hbox.addWidget(self.list)</a:t>
            </a:r>
          </a:p>
          <a:p>
            <a:r>
              <a:rPr lang="en-US"/>
              <a:t>        hbox.addLayout(vbox)</a:t>
            </a:r>
          </a:p>
          <a:p>
            <a:r>
              <a:rPr lang="en-US"/>
              <a:t>        self.setLayout(hbox)</a:t>
            </a:r>
          </a:p>
          <a:p>
            <a:r>
              <a:rPr lang="en-US"/>
              <a:t>        self.setWindowTitle("Edit {0} Programming List".format(self.name))</a:t>
            </a:r>
          </a:p>
          <a:p>
            <a:endParaRPr lang="en-US"/>
          </a:p>
          <a:p>
            <a:r>
              <a:rPr lang="en-US"/>
              <a:t>        self.setWindowIcon(QtGui.QIcon("icon.png"))</a:t>
            </a:r>
          </a:p>
          <a:p>
            <a:endParaRPr lang="en-US"/>
          </a:p>
          <a:p>
            <a:endParaRPr lang="en-US"/>
          </a:p>
          <a:p>
            <a:r>
              <a:rPr lang="en-US"/>
              <a:t>    def add(self):</a:t>
            </a:r>
          </a:p>
          <a:p>
            <a:r>
              <a:rPr lang="en-US"/>
              <a:t>        row = self.list.currentRow()</a:t>
            </a:r>
          </a:p>
          <a:p>
            <a:r>
              <a:rPr lang="en-US"/>
              <a:t>        title = "Add {0}".format(self.name)</a:t>
            </a:r>
          </a:p>
          <a:p>
            <a:r>
              <a:rPr lang="en-US"/>
              <a:t>        string, ok = QInputDialog.getText(self, title, title)</a:t>
            </a:r>
          </a:p>
          <a:p>
            <a:r>
              <a:rPr lang="en-US"/>
              <a:t>        if ok and string is not None:</a:t>
            </a:r>
          </a:p>
          <a:p>
            <a:r>
              <a:rPr lang="en-US"/>
              <a:t>            self.list.insertItem(row, string)</a:t>
            </a:r>
          </a:p>
          <a:p>
            <a:endParaRPr lang="en-US"/>
          </a:p>
          <a:p>
            <a:endParaRPr lang="en-US"/>
          </a:p>
          <a:p>
            <a:r>
              <a:rPr lang="en-US"/>
              <a:t>    def edit(self):</a:t>
            </a:r>
          </a:p>
          <a:p>
            <a:r>
              <a:rPr lang="en-US"/>
              <a:t>        row = self.list.currentRow()</a:t>
            </a:r>
          </a:p>
          <a:p>
            <a:r>
              <a:rPr lang="en-US"/>
              <a:t>        item = self.list.item(row)</a:t>
            </a:r>
          </a:p>
          <a:p>
            <a:r>
              <a:rPr lang="en-US"/>
              <a:t>        if item is not None:</a:t>
            </a:r>
          </a:p>
          <a:p>
            <a:r>
              <a:rPr lang="en-US"/>
              <a:t>            title = "Edit {0}".format(self.name)</a:t>
            </a:r>
          </a:p>
          <a:p>
            <a:r>
              <a:rPr lang="en-US"/>
              <a:t>            string, ok = QInputDialog.getText(self, title, title,</a:t>
            </a:r>
          </a:p>
          <a:p>
            <a:r>
              <a:rPr lang="en-US"/>
              <a:t>                    QLineEdit.Normal, item.text())</a:t>
            </a:r>
          </a:p>
          <a:p>
            <a:r>
              <a:rPr lang="en-US"/>
              <a:t>            if ok and string is not None:</a:t>
            </a:r>
          </a:p>
          <a:p>
            <a:r>
              <a:rPr lang="en-US"/>
              <a:t>                item.setText(string)</a:t>
            </a:r>
          </a:p>
          <a:p>
            <a:endParaRPr lang="en-US"/>
          </a:p>
          <a:p>
            <a:endParaRPr lang="en-US"/>
          </a:p>
          <a:p>
            <a:r>
              <a:rPr lang="en-US"/>
              <a:t>    def remove(self):</a:t>
            </a:r>
          </a:p>
          <a:p>
            <a:r>
              <a:rPr lang="en-US"/>
              <a:t>        row = self.list.currentRow()</a:t>
            </a:r>
          </a:p>
          <a:p>
            <a:r>
              <a:rPr lang="en-US"/>
              <a:t>        item = self.list.item(row)</a:t>
            </a:r>
          </a:p>
          <a:p>
            <a:r>
              <a:rPr lang="en-US"/>
              <a:t>        if item is None:</a:t>
            </a:r>
          </a:p>
          <a:p>
            <a:r>
              <a:rPr lang="en-US"/>
              <a:t>            return</a:t>
            </a:r>
          </a:p>
          <a:p>
            <a:r>
              <a:rPr lang="en-US"/>
              <a:t>        reply = QMessageBox.question(self, "Remove {0}".format(</a:t>
            </a:r>
          </a:p>
          <a:p>
            <a:r>
              <a:rPr lang="en-US"/>
              <a:t>                self.name), "Remove {0} `{1}'?".format(</a:t>
            </a:r>
          </a:p>
          <a:p>
            <a:r>
              <a:rPr lang="en-US"/>
              <a:t>                self.name, str(item.text())),</a:t>
            </a:r>
          </a:p>
          <a:p>
            <a:r>
              <a:rPr lang="en-US"/>
              <a:t>                QMessageBox.Yes|QMessageBox.No)</a:t>
            </a:r>
          </a:p>
          <a:p>
            <a:r>
              <a:rPr lang="en-US"/>
              <a:t>        if reply == QMessageBox.Yes:</a:t>
            </a:r>
          </a:p>
          <a:p>
            <a:r>
              <a:rPr lang="en-US"/>
              <a:t>            item = self.list.takeItem(row)</a:t>
            </a:r>
          </a:p>
          <a:p>
            <a:r>
              <a:rPr lang="en-US"/>
              <a:t>            del item</a:t>
            </a:r>
          </a:p>
          <a:p>
            <a:endParaRPr lang="en-US"/>
          </a:p>
          <a:p>
            <a:r>
              <a:rPr lang="en-US"/>
              <a:t>    def sort(self):</a:t>
            </a:r>
          </a:p>
          <a:p>
            <a:r>
              <a:rPr lang="en-US"/>
              <a:t>        self.list.sortItems()</a:t>
            </a:r>
          </a:p>
          <a:p>
            <a:endParaRPr lang="en-US"/>
          </a:p>
          <a:p>
            <a:endParaRPr lang="en-US"/>
          </a:p>
          <a:p>
            <a:r>
              <a:rPr lang="en-US"/>
              <a:t>    def close(self):</a:t>
            </a:r>
          </a:p>
          <a:p>
            <a:r>
              <a:rPr lang="en-US"/>
              <a:t>        self.accept()</a:t>
            </a:r>
          </a:p>
          <a:p>
            <a:endParaRPr lang="en-US"/>
          </a:p>
          <a:p>
            <a:endParaRPr lang="en-US"/>
          </a:p>
          <a:p>
            <a:endParaRPr lang="en-US"/>
          </a:p>
          <a:p>
            <a:endParaRPr lang="en-US"/>
          </a:p>
          <a:p>
            <a:endParaRPr lang="en-US"/>
          </a:p>
          <a:p>
            <a:endParaRPr lang="en-US"/>
          </a:p>
          <a:p>
            <a:r>
              <a:rPr lang="en-US"/>
              <a:t>if __name__ == "__main__":</a:t>
            </a:r>
          </a:p>
          <a:p>
            <a:endParaRPr lang="en-US"/>
          </a:p>
          <a:p>
            <a:r>
              <a:rPr lang="en-US"/>
              <a:t>    programming = ["Python", "Java", "C#", "C++", "Ruby", "Kotlin"]</a:t>
            </a:r>
          </a:p>
          <a:p>
            <a:endParaRPr lang="en-US"/>
          </a:p>
          <a:p>
            <a:r>
              <a:rPr lang="en-US"/>
              <a:t>    app= QApplication(sys.argv)</a:t>
            </a:r>
          </a:p>
          <a:p>
            <a:r>
              <a:rPr lang="en-US"/>
              <a:t>    dialog = ProgrammingDialog("Languages", programming)</a:t>
            </a:r>
          </a:p>
          <a:p>
            <a:r>
              <a:rPr lang="en-US"/>
              <a:t>    dialog.exec_()</a:t>
            </a:r>
          </a:p>
        </p:txBody>
      </p:sp>
      <p:sp>
        <p:nvSpPr>
          <p:cNvPr id="4" name="Slide Number Placeholder 3"/>
          <p:cNvSpPr>
            <a:spLocks noGrp="1"/>
          </p:cNvSpPr>
          <p:nvPr>
            <p:ph type="sldNum" sz="quarter" idx="5"/>
          </p:nvPr>
        </p:nvSpPr>
        <p:spPr/>
        <p:txBody>
          <a:bodyPr/>
          <a:lstStyle/>
          <a:p>
            <a:fld id="{F632BE71-59B5-4A99-9468-026A94D25631}" type="slidenum">
              <a:rPr lang="en-US" smtClean="0"/>
              <a:t>126</a:t>
            </a:fld>
            <a:endParaRPr lang="en-US"/>
          </a:p>
        </p:txBody>
      </p:sp>
    </p:spTree>
    <p:extLst>
      <p:ext uri="{BB962C8B-B14F-4D97-AF65-F5344CB8AC3E}">
        <p14:creationId xmlns:p14="http://schemas.microsoft.com/office/powerpoint/2010/main" val="28899613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https://codeloop.org/pyqt5-creating-tables-with-qtablewidget/</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127</a:t>
            </a:fld>
            <a:endParaRPr lang="en-US"/>
          </a:p>
        </p:txBody>
      </p:sp>
    </p:spTree>
    <p:extLst>
      <p:ext uri="{BB962C8B-B14F-4D97-AF65-F5344CB8AC3E}">
        <p14:creationId xmlns:p14="http://schemas.microsoft.com/office/powerpoint/2010/main" val="164292229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QWidget, QTableWidget, QTableWidgetItem, QVBoxLayout</a:t>
            </a:r>
          </a:p>
          <a:p>
            <a:r>
              <a:rPr lang="en-US"/>
              <a:t>import sys</a:t>
            </a:r>
          </a:p>
          <a:p>
            <a:endParaRPr lang="en-US"/>
          </a:p>
          <a:p>
            <a:endParaRPr lang="en-US"/>
          </a:p>
          <a:p>
            <a:r>
              <a:rPr lang="en-US"/>
              <a:t>class Window(QWidget):</a:t>
            </a:r>
          </a:p>
          <a:p>
            <a:r>
              <a:rPr lang="en-US"/>
              <a:t>    def __init__(self):</a:t>
            </a:r>
          </a:p>
          <a:p>
            <a:r>
              <a:rPr lang="en-US"/>
              <a:t>        super().__init__()</a:t>
            </a:r>
          </a:p>
          <a:p>
            <a:endParaRPr lang="en-US"/>
          </a:p>
          <a:p>
            <a:r>
              <a:rPr lang="en-US"/>
              <a:t>        self.title = "PyQt5 Tables"</a:t>
            </a:r>
          </a:p>
          <a:p>
            <a:r>
              <a:rPr lang="en-US"/>
              <a:t>        self.top = 100</a:t>
            </a:r>
          </a:p>
          <a:p>
            <a:r>
              <a:rPr lang="en-US"/>
              <a:t>        self.left = 100</a:t>
            </a:r>
          </a:p>
          <a:p>
            <a:r>
              <a:rPr lang="en-US"/>
              <a:t>        self.width = 500</a:t>
            </a:r>
          </a:p>
          <a:p>
            <a:r>
              <a:rPr lang="en-US"/>
              <a:t>        self.height = 400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self.setGeometry(self.top, self.left, self.width, self.height)</a:t>
            </a:r>
          </a:p>
          <a:p>
            <a:endParaRPr lang="en-US"/>
          </a:p>
          <a:p>
            <a:r>
              <a:rPr lang="en-US"/>
              <a:t>        self.creatingTables()</a:t>
            </a:r>
          </a:p>
          <a:p>
            <a:endParaRPr lang="en-US"/>
          </a:p>
          <a:p>
            <a:endParaRPr lang="en-US"/>
          </a:p>
          <a:p>
            <a:r>
              <a:rPr lang="en-US"/>
              <a:t>        self.show()</a:t>
            </a:r>
          </a:p>
          <a:p>
            <a:endParaRPr lang="en-US"/>
          </a:p>
          <a:p>
            <a:r>
              <a:rPr lang="en-US"/>
              <a:t>    def creatingTables(self):</a:t>
            </a:r>
          </a:p>
          <a:p>
            <a:r>
              <a:rPr lang="en-US"/>
              <a:t>        self.tableWidget = QTableWidget()</a:t>
            </a:r>
          </a:p>
          <a:p>
            <a:r>
              <a:rPr lang="en-US"/>
              <a:t>        self.tableWidget.setRowCount(5)</a:t>
            </a:r>
          </a:p>
          <a:p>
            <a:r>
              <a:rPr lang="en-US"/>
              <a:t>        self.tableWidget.setColumnCount(3)</a:t>
            </a:r>
          </a:p>
          <a:p>
            <a:endParaRPr lang="en-US"/>
          </a:p>
          <a:p>
            <a:r>
              <a:rPr lang="en-US"/>
              <a:t>        self.tableWidget.setItem(0,0, QTableWidgetItem("Name"))</a:t>
            </a:r>
          </a:p>
          <a:p>
            <a:r>
              <a:rPr lang="en-US"/>
              <a:t>        self.tableWidget.setItem(0,1, QTableWidgetItem("Email"))</a:t>
            </a:r>
          </a:p>
          <a:p>
            <a:r>
              <a:rPr lang="en-US"/>
              <a:t>        self.tableWidget.setItem(0, 2 , QTableWidgetItem("Phone No"))</a:t>
            </a:r>
          </a:p>
          <a:p>
            <a:endParaRPr lang="en-US"/>
          </a:p>
          <a:p>
            <a:r>
              <a:rPr lang="en-US"/>
              <a:t>        self.tableWidget.setItem(1,0, QTableWidgetItem("Parwiz"))</a:t>
            </a:r>
          </a:p>
          <a:p>
            <a:r>
              <a:rPr lang="en-US"/>
              <a:t>        self.tableWidget.setItem(1,1, QTableWidgetItem("parwiz@gmail.com"))</a:t>
            </a:r>
          </a:p>
          <a:p>
            <a:r>
              <a:rPr lang="en-US"/>
              <a:t>        self.tableWidget.setItem(1,2, QTableWidgetItem("845845845"))</a:t>
            </a:r>
          </a:p>
          <a:p>
            <a:r>
              <a:rPr lang="en-US"/>
              <a:t>        self.tableWidget.setColumnWidth(1, 200)</a:t>
            </a:r>
          </a:p>
          <a:p>
            <a:endParaRPr lang="en-US"/>
          </a:p>
          <a:p>
            <a:r>
              <a:rPr lang="en-US"/>
              <a:t>        self.tableWidget.setItem(2, 0, QTableWidgetItem("Ahmad"))</a:t>
            </a:r>
          </a:p>
          <a:p>
            <a:r>
              <a:rPr lang="en-US"/>
              <a:t>        self.tableWidget.setItem(2, 1, QTableWidgetItem("ahmad@gmail.com"))</a:t>
            </a:r>
          </a:p>
          <a:p>
            <a:r>
              <a:rPr lang="en-US"/>
              <a:t>        self.tableWidget.setItem(2, 2, QTableWidgetItem("2232324"))</a:t>
            </a:r>
          </a:p>
          <a:p>
            <a:endParaRPr lang="en-US"/>
          </a:p>
          <a:p>
            <a:r>
              <a:rPr lang="en-US"/>
              <a:t>        self.tableWidget.setItem(3, 0, QTableWidgetItem("John"))</a:t>
            </a:r>
          </a:p>
          <a:p>
            <a:r>
              <a:rPr lang="en-US"/>
              <a:t>        self.tableWidget.setItem(3, 1, QTableWidgetItem("john@gmail.com"))</a:t>
            </a:r>
          </a:p>
          <a:p>
            <a:r>
              <a:rPr lang="en-US"/>
              <a:t>        self.tableWidget.setItem(3, 2, QTableWidgetItem("2236786782324"))</a:t>
            </a:r>
          </a:p>
          <a:p>
            <a:endParaRPr lang="en-US"/>
          </a:p>
          <a:p>
            <a:r>
              <a:rPr lang="en-US"/>
              <a:t>        self.tableWidget.setItem(4, 0, QTableWidgetItem("Doe"))</a:t>
            </a:r>
          </a:p>
          <a:p>
            <a:r>
              <a:rPr lang="en-US"/>
              <a:t>        self.tableWidget.setItem(4, 1, QTableWidgetItem("Doe@gmail.com"))</a:t>
            </a:r>
          </a:p>
          <a:p>
            <a:r>
              <a:rPr lang="en-US"/>
              <a:t>        self.tableWidget.setItem(4, 2, QTableWidgetItem("12343445"))</a:t>
            </a:r>
          </a:p>
          <a:p>
            <a:endParaRPr lang="en-US"/>
          </a:p>
          <a:p>
            <a:r>
              <a:rPr lang="en-US"/>
              <a:t>        self.vBoxLayout = QVBoxLayout()</a:t>
            </a:r>
          </a:p>
          <a:p>
            <a:r>
              <a:rPr lang="en-US"/>
              <a:t>        self.vBoxLayout.addWidget(self.tableWidget)</a:t>
            </a:r>
          </a:p>
          <a:p>
            <a:r>
              <a:rPr lang="en-US"/>
              <a:t>        self.setLayout(self.vBoxLayout)</a:t>
            </a:r>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131</a:t>
            </a:fld>
            <a:endParaRPr lang="en-US"/>
          </a:p>
        </p:txBody>
      </p:sp>
    </p:spTree>
    <p:extLst>
      <p:ext uri="{BB962C8B-B14F-4D97-AF65-F5344CB8AC3E}">
        <p14:creationId xmlns:p14="http://schemas.microsoft.com/office/powerpoint/2010/main" val="209847204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https://codeloop.org/qplaintextedit-example-in-pyqt5/</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132</a:t>
            </a:fld>
            <a:endParaRPr lang="en-US"/>
          </a:p>
        </p:txBody>
      </p:sp>
    </p:spTree>
    <p:extLst>
      <p:ext uri="{BB962C8B-B14F-4D97-AF65-F5344CB8AC3E}">
        <p14:creationId xmlns:p14="http://schemas.microsoft.com/office/powerpoint/2010/main" val="1199972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a:t>from PyQt5 import QtGui</a:t>
            </a:r>
          </a:p>
          <a:p>
            <a:r>
              <a:rPr lang="en-US"/>
              <a:t>from PyQt5.QtWidgets import QApplication, QWidget, QPlainTextEdit, QVBoxLayout</a:t>
            </a:r>
          </a:p>
          <a:p>
            <a:r>
              <a:rPr lang="en-US"/>
              <a:t>import sys</a:t>
            </a:r>
          </a:p>
          <a:p>
            <a:endParaRPr lang="en-US"/>
          </a:p>
          <a:p>
            <a:endParaRPr lang="en-US"/>
          </a:p>
          <a:p>
            <a:r>
              <a:rPr lang="en-US"/>
              <a:t>class Window(QWidget):</a:t>
            </a:r>
          </a:p>
          <a:p>
            <a:r>
              <a:rPr lang="en-US"/>
              <a:t>    def __init__(self):</a:t>
            </a:r>
          </a:p>
          <a:p>
            <a:r>
              <a:rPr lang="en-US"/>
              <a:t>        super().__init__()</a:t>
            </a:r>
          </a:p>
          <a:p>
            <a:endParaRPr lang="en-US"/>
          </a:p>
          <a:p>
            <a:r>
              <a:rPr lang="en-US"/>
              <a:t>        self.title = "PyQt5 Plain TextEdit"</a:t>
            </a:r>
          </a:p>
          <a:p>
            <a:r>
              <a:rPr lang="en-US"/>
              <a:t>        self.top = 200</a:t>
            </a:r>
          </a:p>
          <a:p>
            <a:r>
              <a:rPr lang="en-US"/>
              <a:t>        self.left = 500</a:t>
            </a:r>
          </a:p>
          <a:p>
            <a:r>
              <a:rPr lang="en-US"/>
              <a:t>        self.width = 400</a:t>
            </a:r>
          </a:p>
          <a:p>
            <a:r>
              <a:rPr lang="en-US"/>
              <a:t>        self.height = 300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endParaRPr lang="en-US"/>
          </a:p>
          <a:p>
            <a:r>
              <a:rPr lang="en-US"/>
              <a:t>        vbox = QVBoxLayout()</a:t>
            </a:r>
          </a:p>
          <a:p>
            <a:r>
              <a:rPr lang="en-US"/>
              <a:t>        plainText = QPlainTextEdit()</a:t>
            </a:r>
          </a:p>
          <a:p>
            <a:r>
              <a:rPr lang="en-US"/>
              <a:t>        plainText.setPlaceholderText("This is some text for our plaintextedit")</a:t>
            </a:r>
          </a:p>
          <a:p>
            <a:endParaRPr lang="en-US"/>
          </a:p>
          <a:p>
            <a:r>
              <a:rPr lang="en-US"/>
              <a:t>        #plainText.setReadOnly(True)</a:t>
            </a:r>
          </a:p>
          <a:p>
            <a:endParaRPr lang="en-US"/>
          </a:p>
          <a:p>
            <a:endParaRPr lang="en-US"/>
          </a:p>
          <a:p>
            <a:r>
              <a:rPr lang="en-US"/>
              <a:t>        text = "Please subscribe the channel and like the videos"</a:t>
            </a:r>
          </a:p>
          <a:p>
            <a:endParaRPr lang="en-US"/>
          </a:p>
          <a:p>
            <a:r>
              <a:rPr lang="en-US"/>
              <a:t>        plainText.appendPlainText(text)</a:t>
            </a:r>
          </a:p>
          <a:p>
            <a:endParaRPr lang="en-US"/>
          </a:p>
          <a:p>
            <a:r>
              <a:rPr lang="en-US"/>
              <a:t>        plainText.setUndoRedoEnabled(False)</a:t>
            </a:r>
          </a:p>
          <a:p>
            <a:endParaRPr lang="en-US"/>
          </a:p>
          <a:p>
            <a:endParaRPr lang="en-US"/>
          </a:p>
          <a:p>
            <a:endParaRPr lang="en-US"/>
          </a:p>
          <a:p>
            <a:endParaRPr lang="en-US"/>
          </a:p>
          <a:p>
            <a:endParaRPr lang="en-US"/>
          </a:p>
          <a:p>
            <a:r>
              <a:rPr lang="en-US"/>
              <a:t>        vbox.addWidget(plainText)</a:t>
            </a:r>
          </a:p>
          <a:p>
            <a:endParaRPr lang="en-US"/>
          </a:p>
          <a:p>
            <a:r>
              <a:rPr lang="en-US"/>
              <a:t>        self.setLayout(vbox)</a:t>
            </a:r>
          </a:p>
          <a:p>
            <a:endParaRPr lang="en-US"/>
          </a:p>
          <a:p>
            <a:endParaRPr lang="en-US"/>
          </a:p>
          <a:p>
            <a:r>
              <a:rPr lang="en-US"/>
              <a:t>        self.show()</a:t>
            </a:r>
          </a:p>
          <a:p>
            <a:endParaRPr lang="en-US"/>
          </a:p>
          <a:p>
            <a:endParaRPr lang="en-US"/>
          </a:p>
          <a:p>
            <a:endParaRPr lang="en-US"/>
          </a:p>
          <a:p>
            <a:r>
              <a:rPr lang="en-US"/>
              <a:t>App = QApplication(sys.argv)</a:t>
            </a:r>
          </a:p>
          <a:p>
            <a:r>
              <a:rPr lang="en-US"/>
              <a:t>window = Window()</a:t>
            </a:r>
          </a:p>
          <a:p>
            <a:r>
              <a:rPr lang="en-US"/>
              <a:t>sys.exit(App.exec())</a:t>
            </a:r>
          </a:p>
          <a:p>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136</a:t>
            </a:fld>
            <a:endParaRPr lang="en-US"/>
          </a:p>
        </p:txBody>
      </p:sp>
    </p:spTree>
    <p:extLst>
      <p:ext uri="{BB962C8B-B14F-4D97-AF65-F5344CB8AC3E}">
        <p14:creationId xmlns:p14="http://schemas.microsoft.com/office/powerpoint/2010/main" val="202831466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https://codeloop.org/pyqt5-gui-creating-wizard-page-with-qwizard/</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137</a:t>
            </a:fld>
            <a:endParaRPr lang="en-US"/>
          </a:p>
        </p:txBody>
      </p:sp>
    </p:spTree>
    <p:extLst>
      <p:ext uri="{BB962C8B-B14F-4D97-AF65-F5344CB8AC3E}">
        <p14:creationId xmlns:p14="http://schemas.microsoft.com/office/powerpoint/2010/main" val="11360842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 QWidget, QWizard, QVBoxLayout, QPushButton</a:t>
            </a:r>
          </a:p>
          <a:p>
            <a:r>
              <a:rPr lang="en-US"/>
              <a:t>import sys</a:t>
            </a:r>
          </a:p>
          <a:p>
            <a:endParaRPr lang="en-US"/>
          </a:p>
          <a:p>
            <a:endParaRPr lang="en-US"/>
          </a:p>
          <a:p>
            <a:r>
              <a:rPr lang="en-US"/>
              <a:t>class Window(QWidget):</a:t>
            </a:r>
          </a:p>
          <a:p>
            <a:r>
              <a:rPr lang="en-US"/>
              <a:t>    def __init__(self):</a:t>
            </a:r>
          </a:p>
          <a:p>
            <a:r>
              <a:rPr lang="en-US"/>
              <a:t>        super().__init__()</a:t>
            </a:r>
          </a:p>
          <a:p>
            <a:endParaRPr lang="en-US"/>
          </a:p>
          <a:p>
            <a:r>
              <a:rPr lang="en-US"/>
              <a:t>        self.title = "PyQt5 Wizard"</a:t>
            </a:r>
          </a:p>
          <a:p>
            <a:r>
              <a:rPr lang="en-US"/>
              <a:t>        self.top = 200</a:t>
            </a:r>
          </a:p>
          <a:p>
            <a:r>
              <a:rPr lang="en-US"/>
              <a:t>        self.left = 500</a:t>
            </a:r>
          </a:p>
          <a:p>
            <a:r>
              <a:rPr lang="en-US"/>
              <a:t>        self.width = 400</a:t>
            </a:r>
          </a:p>
          <a:p>
            <a:r>
              <a:rPr lang="en-US"/>
              <a:t>        self.height = 300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endParaRPr lang="en-US"/>
          </a:p>
          <a:p>
            <a:r>
              <a:rPr lang="en-US"/>
              <a:t>        vbox= QVBoxLayout()</a:t>
            </a:r>
          </a:p>
          <a:p>
            <a:endParaRPr lang="en-US"/>
          </a:p>
          <a:p>
            <a:r>
              <a:rPr lang="en-US"/>
              <a:t>        button = QPushButton("Launch")</a:t>
            </a:r>
          </a:p>
          <a:p>
            <a:r>
              <a:rPr lang="en-US"/>
              <a:t>        button.clicked.connect(self.btn_clicked)</a:t>
            </a:r>
          </a:p>
          <a:p>
            <a:endParaRPr lang="en-US"/>
          </a:p>
          <a:p>
            <a:r>
              <a:rPr lang="en-US"/>
              <a:t>        vbox.addWidget(button)</a:t>
            </a:r>
          </a:p>
          <a:p>
            <a:endParaRPr lang="en-US"/>
          </a:p>
          <a:p>
            <a:r>
              <a:rPr lang="en-US"/>
              <a:t>        self.setLayout(vbox)</a:t>
            </a:r>
          </a:p>
          <a:p>
            <a:endParaRPr lang="en-US"/>
          </a:p>
          <a:p>
            <a:r>
              <a:rPr lang="en-US"/>
              <a:t>        self.wizard = QWizard()</a:t>
            </a:r>
          </a:p>
          <a:p>
            <a:r>
              <a:rPr lang="en-US"/>
              <a:t>        self.wizard.setWindowTitle("Launcher Page")</a:t>
            </a:r>
          </a:p>
          <a:p>
            <a:endParaRPr lang="en-US"/>
          </a:p>
          <a:p>
            <a:r>
              <a:rPr lang="en-US"/>
              <a:t>        self.show()</a:t>
            </a:r>
          </a:p>
          <a:p>
            <a:endParaRPr lang="en-US"/>
          </a:p>
          <a:p>
            <a:endParaRPr lang="en-US"/>
          </a:p>
          <a:p>
            <a:endParaRPr lang="en-US"/>
          </a:p>
          <a:p>
            <a:r>
              <a:rPr lang="en-US"/>
              <a:t>    def btn_clicked(self):</a:t>
            </a:r>
          </a:p>
          <a:p>
            <a:endParaRPr lang="en-US"/>
          </a:p>
          <a:p>
            <a:r>
              <a:rPr lang="en-US"/>
              <a:t>        self.wizard.open()</a:t>
            </a:r>
          </a:p>
          <a:p>
            <a:endParaRPr lang="en-US"/>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140</a:t>
            </a:fld>
            <a:endParaRPr lang="en-US"/>
          </a:p>
        </p:txBody>
      </p:sp>
    </p:spTree>
    <p:extLst>
      <p:ext uri="{BB962C8B-B14F-4D97-AF65-F5344CB8AC3E}">
        <p14:creationId xmlns:p14="http://schemas.microsoft.com/office/powerpoint/2010/main" val="87252934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https://codeloop.org/pyqt5-qfiledialog-browsing-an-image/</a:t>
            </a:r>
            <a:endParaRPr lang="en-US"/>
          </a:p>
        </p:txBody>
      </p:sp>
      <p:sp>
        <p:nvSpPr>
          <p:cNvPr id="4" name="Slide Number Placeholder 3"/>
          <p:cNvSpPr>
            <a:spLocks noGrp="1"/>
          </p:cNvSpPr>
          <p:nvPr>
            <p:ph type="sldNum" sz="quarter" idx="5"/>
          </p:nvPr>
        </p:nvSpPr>
        <p:spPr/>
        <p:txBody>
          <a:bodyPr/>
          <a:lstStyle/>
          <a:p>
            <a:fld id="{F632BE71-59B5-4A99-9468-026A94D25631}" type="slidenum">
              <a:rPr lang="en-US" smtClean="0"/>
              <a:t>141</a:t>
            </a:fld>
            <a:endParaRPr lang="en-US"/>
          </a:p>
        </p:txBody>
      </p:sp>
    </p:spTree>
    <p:extLst>
      <p:ext uri="{BB962C8B-B14F-4D97-AF65-F5344CB8AC3E}">
        <p14:creationId xmlns:p14="http://schemas.microsoft.com/office/powerpoint/2010/main" val="28689341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PyQt5 import QtGui</a:t>
            </a:r>
          </a:p>
          <a:p>
            <a:r>
              <a:rPr lang="en-US"/>
              <a:t>from PyQt5.QtWidgets import QApplication,QWidget, QVBoxLayout, QPushButton, QFileDialog , QLabel, QTextEdit</a:t>
            </a:r>
          </a:p>
          <a:p>
            <a:r>
              <a:rPr lang="en-US"/>
              <a:t>import sys</a:t>
            </a:r>
          </a:p>
          <a:p>
            <a:endParaRPr lang="en-US"/>
          </a:p>
          <a:p>
            <a:r>
              <a:rPr lang="en-US"/>
              <a:t>from PyQt5.QtGui import QPixmap</a:t>
            </a:r>
          </a:p>
          <a:p>
            <a:endParaRPr lang="en-US"/>
          </a:p>
          <a:p>
            <a:endParaRPr lang="en-US"/>
          </a:p>
          <a:p>
            <a:endParaRPr lang="en-US"/>
          </a:p>
          <a:p>
            <a:endParaRPr lang="en-US"/>
          </a:p>
          <a:p>
            <a:endParaRPr lang="en-US"/>
          </a:p>
          <a:p>
            <a:endParaRPr lang="en-US"/>
          </a:p>
          <a:p>
            <a:endParaRPr lang="en-US"/>
          </a:p>
          <a:p>
            <a:r>
              <a:rPr lang="en-US"/>
              <a:t>class Window(QWidget):</a:t>
            </a:r>
          </a:p>
          <a:p>
            <a:r>
              <a:rPr lang="en-US"/>
              <a:t>    def __init__(self):</a:t>
            </a:r>
          </a:p>
          <a:p>
            <a:r>
              <a:rPr lang="en-US"/>
              <a:t>        super().__init__()</a:t>
            </a:r>
          </a:p>
          <a:p>
            <a:endParaRPr lang="en-US"/>
          </a:p>
          <a:p>
            <a:r>
              <a:rPr lang="en-US"/>
              <a:t>        self.title = "PyQt5 Open File"</a:t>
            </a:r>
          </a:p>
          <a:p>
            <a:r>
              <a:rPr lang="en-US"/>
              <a:t>        self.top = 200</a:t>
            </a:r>
          </a:p>
          <a:p>
            <a:r>
              <a:rPr lang="en-US"/>
              <a:t>        self.left = 500</a:t>
            </a:r>
          </a:p>
          <a:p>
            <a:r>
              <a:rPr lang="en-US"/>
              <a:t>        self.width = 400</a:t>
            </a:r>
          </a:p>
          <a:p>
            <a:r>
              <a:rPr lang="en-US"/>
              <a:t>        self.height = 300</a:t>
            </a:r>
          </a:p>
          <a:p>
            <a:endParaRPr lang="en-US"/>
          </a:p>
          <a:p>
            <a:endParaRPr lang="en-US"/>
          </a:p>
          <a:p>
            <a:r>
              <a:rPr lang="en-US"/>
              <a:t>        self.InitWindow()</a:t>
            </a:r>
          </a:p>
          <a:p>
            <a:endParaRPr lang="en-US"/>
          </a:p>
          <a:p>
            <a:endParaRPr lang="en-US"/>
          </a:p>
          <a:p>
            <a:r>
              <a:rPr lang="en-US"/>
              <a:t>    def InitWindow(self):</a:t>
            </a:r>
          </a:p>
          <a:p>
            <a:r>
              <a:rPr lang="en-US"/>
              <a:t>        self.setWindowIcon(QtGui.QIcon("icon.png"))</a:t>
            </a:r>
          </a:p>
          <a:p>
            <a:r>
              <a:rPr lang="en-US"/>
              <a:t>        self.setWindowTitle(self.title)</a:t>
            </a:r>
          </a:p>
          <a:p>
            <a:r>
              <a:rPr lang="en-US"/>
              <a:t>        self.setGeometry(self.left, self.top, self.width, self.height)</a:t>
            </a:r>
          </a:p>
          <a:p>
            <a:endParaRPr lang="en-US"/>
          </a:p>
          <a:p>
            <a:r>
              <a:rPr lang="en-US"/>
              <a:t>        vbox = QVBoxLayout()</a:t>
            </a:r>
          </a:p>
          <a:p>
            <a:endParaRPr lang="en-US"/>
          </a:p>
          <a:p>
            <a:r>
              <a:rPr lang="en-US"/>
              <a:t>        self.btn1 = QPushButton("Open Image")</a:t>
            </a:r>
          </a:p>
          <a:p>
            <a:r>
              <a:rPr lang="en-US"/>
              <a:t>        self.btn1.clicked.connect(self.getImage)</a:t>
            </a:r>
          </a:p>
          <a:p>
            <a:endParaRPr lang="en-US"/>
          </a:p>
          <a:p>
            <a:r>
              <a:rPr lang="en-US"/>
              <a:t>        vbox.addWidget(self.btn1)</a:t>
            </a:r>
          </a:p>
          <a:p>
            <a:endParaRPr lang="en-US"/>
          </a:p>
          <a:p>
            <a:r>
              <a:rPr lang="en-US"/>
              <a:t>        self.label = QLabel("Hello")</a:t>
            </a:r>
          </a:p>
          <a:p>
            <a:r>
              <a:rPr lang="en-US"/>
              <a:t>        vbox.addWidget(self.label)</a:t>
            </a:r>
          </a:p>
          <a:p>
            <a:endParaRPr lang="en-US"/>
          </a:p>
          <a:p>
            <a:r>
              <a:rPr lang="en-US"/>
              <a:t>        </a:t>
            </a:r>
          </a:p>
          <a:p>
            <a:endParaRPr lang="en-US"/>
          </a:p>
          <a:p>
            <a:endParaRPr lang="en-US"/>
          </a:p>
          <a:p>
            <a:r>
              <a:rPr lang="en-US"/>
              <a:t>        self.setLayout(vbox)</a:t>
            </a:r>
          </a:p>
          <a:p>
            <a:endParaRPr lang="en-US"/>
          </a:p>
          <a:p>
            <a:r>
              <a:rPr lang="en-US"/>
              <a:t>        self.show()</a:t>
            </a:r>
          </a:p>
          <a:p>
            <a:endParaRPr lang="en-US"/>
          </a:p>
          <a:p>
            <a:r>
              <a:rPr lang="en-US"/>
              <a:t>    def getImage(self):</a:t>
            </a:r>
          </a:p>
          <a:p>
            <a:r>
              <a:rPr lang="en-US"/>
              <a:t>        fname = QFileDialog.getOpenFileName(self, 'Open file',</a:t>
            </a:r>
          </a:p>
          <a:p>
            <a:r>
              <a:rPr lang="en-US"/>
              <a:t>                                            'c:\', "Image files (*.jpg *.gif)")</a:t>
            </a:r>
          </a:p>
          <a:p>
            <a:r>
              <a:rPr lang="en-US"/>
              <a:t>        imagePath = fname[0]</a:t>
            </a:r>
          </a:p>
          <a:p>
            <a:r>
              <a:rPr lang="en-US"/>
              <a:t>        pixmap = QPixmap(imagePath)</a:t>
            </a:r>
          </a:p>
          <a:p>
            <a:r>
              <a:rPr lang="en-US"/>
              <a:t>        self.label.setPixmap(QPixmap(pixmap))</a:t>
            </a:r>
          </a:p>
          <a:p>
            <a:r>
              <a:rPr lang="en-US"/>
              <a:t>        self.resize(pixmap.width(), pixmap.height())</a:t>
            </a:r>
          </a:p>
          <a:p>
            <a:endParaRPr lang="en-US"/>
          </a:p>
          <a:p>
            <a:endParaRPr lang="en-US"/>
          </a:p>
          <a:p>
            <a:endParaRPr lang="en-US"/>
          </a:p>
          <a:p>
            <a:r>
              <a:rPr lang="en-US"/>
              <a:t>App = QApplication(sys.argv)</a:t>
            </a:r>
          </a:p>
          <a:p>
            <a:r>
              <a:rPr lang="en-US"/>
              <a:t>window = Window()</a:t>
            </a:r>
          </a:p>
          <a:p>
            <a:r>
              <a:rPr lang="en-US"/>
              <a:t>sys.exit(App.exec())</a:t>
            </a:r>
          </a:p>
        </p:txBody>
      </p:sp>
      <p:sp>
        <p:nvSpPr>
          <p:cNvPr id="4" name="Slide Number Placeholder 3"/>
          <p:cNvSpPr>
            <a:spLocks noGrp="1"/>
          </p:cNvSpPr>
          <p:nvPr>
            <p:ph type="sldNum" sz="quarter" idx="5"/>
          </p:nvPr>
        </p:nvSpPr>
        <p:spPr/>
        <p:txBody>
          <a:bodyPr/>
          <a:lstStyle/>
          <a:p>
            <a:fld id="{F632BE71-59B5-4A99-9468-026A94D25631}" type="slidenum">
              <a:rPr lang="en-US" smtClean="0"/>
              <a:t>145</a:t>
            </a:fld>
            <a:endParaRPr lang="en-US"/>
          </a:p>
        </p:txBody>
      </p:sp>
    </p:spTree>
    <p:extLst>
      <p:ext uri="{BB962C8B-B14F-4D97-AF65-F5344CB8AC3E}">
        <p14:creationId xmlns:p14="http://schemas.microsoft.com/office/powerpoint/2010/main" val="2729870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1401325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329362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410937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1096718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224533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88622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1948425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3311739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3899742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91566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62B868C-8207-4F20-B261-01E9A0C9C6B5}"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43B8CB4-4934-427F-8C92-18A0C84C3EFC}" type="slidenum">
              <a:rPr lang="en-US" smtClean="0"/>
              <a:t>‹#›</a:t>
            </a:fld>
            <a:endParaRPr lang="en-US"/>
          </a:p>
        </p:txBody>
      </p:sp>
    </p:spTree>
    <p:extLst>
      <p:ext uri="{BB962C8B-B14F-4D97-AF65-F5344CB8AC3E}">
        <p14:creationId xmlns:p14="http://schemas.microsoft.com/office/powerpoint/2010/main" val="2001846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624" y="19250"/>
            <a:ext cx="9134375" cy="9336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624" y="952902"/>
            <a:ext cx="9134375" cy="58858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6787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qt.io/qt-5/qt5-intro.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oc.qt.io/qt-5/qpushbutton.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qt.io/"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codeloop.org/pyqt5-creating-first-window/"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codeloop.org/pyqt5-creating-first-window/"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codeloop.org/pyqt5-qhbox-layout-and-qvbox-layout/" TargetMode="External"/><Relationship Id="rId4" Type="http://schemas.openxmlformats.org/officeDocument/2006/relationships/hyperlink" Target="https://codeloop.org/pyqt5-creating-qpushbutton-python-gui-development/"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qt.io/"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qt.io/"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qt.io/"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codeloop.org/pyqt5-creating-first-window/"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doc.qt.io/"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doc.qt.io/qt-5/qt5-intro.html"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hyperlink" Target="https://codeloop.org/pyqt5-simple-project-with-qlistwidget/"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E1ABB-2027-408F-A0AB-E6C53BA2A393}"/>
              </a:ext>
            </a:extLst>
          </p:cNvPr>
          <p:cNvSpPr>
            <a:spLocks noGrp="1"/>
          </p:cNvSpPr>
          <p:nvPr>
            <p:ph type="ctrTitle"/>
          </p:nvPr>
        </p:nvSpPr>
        <p:spPr/>
        <p:txBody>
          <a:bodyPr>
            <a:normAutofit/>
          </a:bodyPr>
          <a:lstStyle/>
          <a:p>
            <a:r>
              <a:rPr lang="en-US"/>
              <a:t>Giới thiệu PyQt5 Tạo cửa sổ đầu tiên</a:t>
            </a:r>
          </a:p>
        </p:txBody>
      </p:sp>
      <p:sp>
        <p:nvSpPr>
          <p:cNvPr id="3" name="Subtitle 2">
            <a:extLst>
              <a:ext uri="{FF2B5EF4-FFF2-40B4-BE49-F238E27FC236}">
                <a16:creationId xmlns:a16="http://schemas.microsoft.com/office/drawing/2014/main" id="{A2CC441A-15B6-4449-B4E7-5E723289A97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09155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9E292-A90F-4FF2-9656-BB37415B78F0}"/>
              </a:ext>
            </a:extLst>
          </p:cNvPr>
          <p:cNvSpPr>
            <a:spLocks noGrp="1"/>
          </p:cNvSpPr>
          <p:nvPr>
            <p:ph type="title"/>
          </p:nvPr>
        </p:nvSpPr>
        <p:spPr/>
        <p:txBody>
          <a:bodyPr/>
          <a:lstStyle/>
          <a:p>
            <a:r>
              <a:rPr lang="en-US" b="1"/>
              <a:t>PyQt5 là gì?</a:t>
            </a:r>
            <a:endParaRPr lang="en-US"/>
          </a:p>
        </p:txBody>
      </p:sp>
      <p:sp>
        <p:nvSpPr>
          <p:cNvPr id="3" name="Content Placeholder 2">
            <a:extLst>
              <a:ext uri="{FF2B5EF4-FFF2-40B4-BE49-F238E27FC236}">
                <a16:creationId xmlns:a16="http://schemas.microsoft.com/office/drawing/2014/main" id="{F7B1EEA4-5001-49E4-A865-DF7F732994E2}"/>
              </a:ext>
            </a:extLst>
          </p:cNvPr>
          <p:cNvSpPr>
            <a:spLocks noGrp="1"/>
          </p:cNvSpPr>
          <p:nvPr>
            <p:ph idx="1"/>
          </p:nvPr>
        </p:nvSpPr>
        <p:spPr/>
        <p:txBody>
          <a:bodyPr>
            <a:normAutofit fontScale="92500" lnSpcReduction="20000"/>
          </a:bodyPr>
          <a:lstStyle/>
          <a:p>
            <a:r>
              <a:rPr lang="vi-VN"/>
              <a:t>PyQt5 là một ràng buộc cho </a:t>
            </a:r>
            <a:r>
              <a:rPr lang="vi-VN">
                <a:hlinkClick r:id="rId2"/>
              </a:rPr>
              <a:t>Qt5 C ++</a:t>
            </a:r>
            <a:r>
              <a:rPr lang="vi-VN"/>
              <a:t> một khung GUI cho ngôn ngữ lập trình C ++, PyQt5 được sử dụng để viết tất cả các loại ứng dụng GUI, từ ứng dụng kế toán, đến các công cụ trực quan được sử dụng bởi các nhà khoa học và kỹ sư. có thể viết các ứng dụng PyQt5 chỉ dài hàng chục dòng và các dự án cỡ trung bình từ 1000 đến 10000 dòng là rất phổ biến.</a:t>
            </a:r>
          </a:p>
          <a:p>
            <a:r>
              <a:rPr lang="vi-VN"/>
              <a:t>PyQt5 có thể được sử dụng miễn phí cho các mục đích phi thương mại, nhưng giấy phép được sử dụng bởi Python khác với giấy phép được sử dụng bởi PyQt5 và Qt. </a:t>
            </a:r>
            <a:r>
              <a:rPr lang="en-US"/>
              <a:t> </a:t>
            </a:r>
            <a:br>
              <a:rPr lang="vi-VN"/>
            </a:br>
            <a:r>
              <a:rPr lang="vi-VN"/>
              <a:t>Python có sẵn với một giấy phép rất tự do cho phép nó được sử dụng để phát </a:t>
            </a:r>
            <a:r>
              <a:rPr lang="en-US"/>
              <a:t> </a:t>
            </a:r>
            <a:r>
              <a:rPr lang="vi-VN"/>
              <a:t>triển cả các ứng dụng thương mại và phi thương mại. Cả PyQt và Qt đều được </a:t>
            </a:r>
            <a:r>
              <a:rPr lang="en-US"/>
              <a:t> </a:t>
            </a:r>
            <a:r>
              <a:rPr lang="vi-VN"/>
              <a:t>cấp phép kép: Về cơ bản, điều này cho phép chúng được sử dụng để phát triển các ứng dụng không phổ biến, mà lần lượt phải được cấp phép sử dụng giấy phép nguồn mở chấp nhận được như Giấy phép Công cộng GNU (GPL); hoặc được sử dụng để phát triển các ứng dụng thương mại trong trường hợp này, phải mua giấy phép PyQt thương mại và giấy phép Qt thương mại.</a:t>
            </a:r>
          </a:p>
        </p:txBody>
      </p:sp>
    </p:spTree>
    <p:extLst>
      <p:ext uri="{BB962C8B-B14F-4D97-AF65-F5344CB8AC3E}">
        <p14:creationId xmlns:p14="http://schemas.microsoft.com/office/powerpoint/2010/main" val="1641461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84461-3297-4BA1-8075-A23496A029AC}"/>
              </a:ext>
            </a:extLst>
          </p:cNvPr>
          <p:cNvSpPr>
            <a:spLocks noGrp="1"/>
          </p:cNvSpPr>
          <p:nvPr>
            <p:ph type="title"/>
          </p:nvPr>
        </p:nvSpPr>
        <p:spPr>
          <a:xfrm>
            <a:off x="9624" y="19250"/>
            <a:ext cx="9134375" cy="1156407"/>
          </a:xfrm>
        </p:spPr>
        <p:txBody>
          <a:bodyPr>
            <a:normAutofit fontScale="90000"/>
          </a:bodyPr>
          <a:lstStyle/>
          <a:p>
            <a:r>
              <a:rPr lang="en-US"/>
              <a:t>T</a:t>
            </a:r>
            <a:r>
              <a:rPr lang="vi-VN"/>
              <a:t>rước khi bắt đầu </a:t>
            </a:r>
            <a:r>
              <a:rPr lang="en-US"/>
              <a:t>viết </a:t>
            </a:r>
            <a:r>
              <a:rPr lang="vi-VN"/>
              <a:t>mã </a:t>
            </a:r>
            <a:r>
              <a:rPr lang="en-US"/>
              <a:t>lệnh</a:t>
            </a:r>
            <a:r>
              <a:rPr lang="vi-VN"/>
              <a:t>, cần cài đặt PyQt5</a:t>
            </a:r>
            <a:endParaRPr lang="en-US"/>
          </a:p>
        </p:txBody>
      </p:sp>
      <p:sp>
        <p:nvSpPr>
          <p:cNvPr id="3" name="Content Placeholder 2">
            <a:extLst>
              <a:ext uri="{FF2B5EF4-FFF2-40B4-BE49-F238E27FC236}">
                <a16:creationId xmlns:a16="http://schemas.microsoft.com/office/drawing/2014/main" id="{3FE635B7-4AD0-47B0-891A-AAC1731BEFE5}"/>
              </a:ext>
            </a:extLst>
          </p:cNvPr>
          <p:cNvSpPr>
            <a:spLocks noGrp="1"/>
          </p:cNvSpPr>
          <p:nvPr>
            <p:ph idx="1"/>
          </p:nvPr>
        </p:nvSpPr>
        <p:spPr>
          <a:xfrm>
            <a:off x="9624" y="1271450"/>
            <a:ext cx="9134375" cy="5567299"/>
          </a:xfrm>
        </p:spPr>
        <p:txBody>
          <a:bodyPr>
            <a:normAutofit/>
          </a:bodyPr>
          <a:lstStyle/>
          <a:p>
            <a:pPr marL="0" indent="0">
              <a:buNone/>
            </a:pPr>
            <a:r>
              <a:rPr lang="en-US" sz="4000" b="1"/>
              <a:t>pip install pyqt5</a:t>
            </a:r>
            <a:endParaRPr lang="en-US" sz="4000"/>
          </a:p>
        </p:txBody>
      </p:sp>
    </p:spTree>
    <p:extLst>
      <p:ext uri="{BB962C8B-B14F-4D97-AF65-F5344CB8AC3E}">
        <p14:creationId xmlns:p14="http://schemas.microsoft.com/office/powerpoint/2010/main" val="2293557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84461-3297-4BA1-8075-A23496A029AC}"/>
              </a:ext>
            </a:extLst>
          </p:cNvPr>
          <p:cNvSpPr>
            <a:spLocks noGrp="1"/>
          </p:cNvSpPr>
          <p:nvPr>
            <p:ph type="title"/>
          </p:nvPr>
        </p:nvSpPr>
        <p:spPr>
          <a:xfrm>
            <a:off x="9624" y="19250"/>
            <a:ext cx="9134375" cy="703561"/>
          </a:xfrm>
        </p:spPr>
        <p:txBody>
          <a:bodyPr>
            <a:normAutofit fontScale="90000"/>
          </a:bodyPr>
          <a:lstStyle/>
          <a:p>
            <a:pPr>
              <a:lnSpc>
                <a:spcPct val="100000"/>
              </a:lnSpc>
              <a:spcBef>
                <a:spcPts val="0"/>
              </a:spcBef>
            </a:pPr>
            <a:r>
              <a:rPr lang="en-US" sz="4800"/>
              <a:t>Các b</a:t>
            </a:r>
            <a:r>
              <a:rPr lang="vi-VN" sz="4800"/>
              <a:t>ư</a:t>
            </a:r>
            <a:r>
              <a:rPr lang="en-US" sz="4800"/>
              <a:t>ớc tạo giao diện</a:t>
            </a:r>
          </a:p>
        </p:txBody>
      </p:sp>
      <p:sp>
        <p:nvSpPr>
          <p:cNvPr id="3" name="Content Placeholder 2">
            <a:extLst>
              <a:ext uri="{FF2B5EF4-FFF2-40B4-BE49-F238E27FC236}">
                <a16:creationId xmlns:a16="http://schemas.microsoft.com/office/drawing/2014/main" id="{3FE635B7-4AD0-47B0-891A-AAC1731BEFE5}"/>
              </a:ext>
            </a:extLst>
          </p:cNvPr>
          <p:cNvSpPr>
            <a:spLocks noGrp="1"/>
          </p:cNvSpPr>
          <p:nvPr>
            <p:ph idx="1"/>
          </p:nvPr>
        </p:nvSpPr>
        <p:spPr>
          <a:xfrm>
            <a:off x="9624" y="722811"/>
            <a:ext cx="9134375" cy="5880806"/>
          </a:xfrm>
        </p:spPr>
        <p:txBody>
          <a:bodyPr>
            <a:normAutofit/>
          </a:bodyPr>
          <a:lstStyle/>
          <a:p>
            <a:pPr marL="0" indent="0">
              <a:lnSpc>
                <a:spcPct val="100000"/>
              </a:lnSpc>
              <a:spcBef>
                <a:spcPts val="0"/>
              </a:spcBef>
              <a:buNone/>
            </a:pPr>
            <a:r>
              <a:rPr lang="en-US" sz="2500"/>
              <a:t>B</a:t>
            </a:r>
            <a:r>
              <a:rPr lang="vi-VN" sz="2500"/>
              <a:t>ư</a:t>
            </a:r>
            <a:r>
              <a:rPr lang="en-US" sz="2500"/>
              <a:t>ớc 1: import các th</a:t>
            </a:r>
            <a:r>
              <a:rPr lang="vi-VN" sz="2500"/>
              <a:t>ư</a:t>
            </a:r>
            <a:r>
              <a:rPr lang="en-US" sz="2500"/>
              <a:t> viện </a:t>
            </a:r>
          </a:p>
        </p:txBody>
      </p:sp>
      <p:sp>
        <p:nvSpPr>
          <p:cNvPr id="4" name="Rectangle 3">
            <a:extLst>
              <a:ext uri="{FF2B5EF4-FFF2-40B4-BE49-F238E27FC236}">
                <a16:creationId xmlns:a16="http://schemas.microsoft.com/office/drawing/2014/main" id="{3559A3D1-13C6-446A-A716-F936AD81956B}"/>
              </a:ext>
            </a:extLst>
          </p:cNvPr>
          <p:cNvSpPr/>
          <p:nvPr/>
        </p:nvSpPr>
        <p:spPr>
          <a:xfrm>
            <a:off x="87084" y="1190804"/>
            <a:ext cx="8960205" cy="1246495"/>
          </a:xfrm>
          <a:prstGeom prst="rect">
            <a:avLst/>
          </a:prstGeom>
          <a:solidFill>
            <a:schemeClr val="accent4">
              <a:lumMod val="20000"/>
              <a:lumOff val="80000"/>
            </a:schemeClr>
          </a:solidFill>
        </p:spPr>
        <p:txBody>
          <a:bodyPr wrap="square">
            <a:spAutoFit/>
          </a:bodyPr>
          <a:lstStyle/>
          <a:p>
            <a:r>
              <a:rPr lang="en-US" sz="2500">
                <a:solidFill>
                  <a:srgbClr val="004ED0"/>
                </a:solidFill>
                <a:latin typeface="inherit"/>
              </a:rPr>
              <a:t>from PyQt5 import QtGui</a:t>
            </a:r>
            <a:endParaRPr lang="en-US" sz="2500">
              <a:solidFill>
                <a:srgbClr val="000000"/>
              </a:solidFill>
              <a:latin typeface="Monaco"/>
            </a:endParaRPr>
          </a:p>
          <a:p>
            <a:r>
              <a:rPr lang="en-US" sz="2500">
                <a:solidFill>
                  <a:srgbClr val="004ED0"/>
                </a:solidFill>
                <a:latin typeface="inherit"/>
              </a:rPr>
              <a:t>from </a:t>
            </a:r>
            <a:r>
              <a:rPr lang="en-US" sz="2500">
                <a:solidFill>
                  <a:srgbClr val="002D7A"/>
                </a:solidFill>
                <a:latin typeface="inherit"/>
              </a:rPr>
              <a:t>PyQt5</a:t>
            </a:r>
            <a:r>
              <a:rPr lang="en-US" sz="2500">
                <a:solidFill>
                  <a:srgbClr val="333333"/>
                </a:solidFill>
                <a:latin typeface="inherit"/>
              </a:rPr>
              <a:t>.</a:t>
            </a:r>
            <a:r>
              <a:rPr lang="en-US" sz="2500">
                <a:solidFill>
                  <a:srgbClr val="004ED0"/>
                </a:solidFill>
                <a:latin typeface="inherit"/>
              </a:rPr>
              <a:t>QtWidgets import </a:t>
            </a:r>
            <a:r>
              <a:rPr lang="en-US" sz="2500">
                <a:solidFill>
                  <a:srgbClr val="002D7A"/>
                </a:solidFill>
                <a:latin typeface="inherit"/>
              </a:rPr>
              <a:t>QApplication</a:t>
            </a:r>
            <a:r>
              <a:rPr lang="en-US" sz="2500">
                <a:solidFill>
                  <a:srgbClr val="333333"/>
                </a:solidFill>
                <a:latin typeface="inherit"/>
              </a:rPr>
              <a:t>,</a:t>
            </a:r>
            <a:r>
              <a:rPr lang="en-US" sz="2500">
                <a:solidFill>
                  <a:srgbClr val="006FE0"/>
                </a:solidFill>
                <a:latin typeface="inherit"/>
              </a:rPr>
              <a:t> </a:t>
            </a:r>
            <a:r>
              <a:rPr lang="en-US" sz="2500">
                <a:solidFill>
                  <a:srgbClr val="004ED0"/>
                </a:solidFill>
                <a:latin typeface="inherit"/>
              </a:rPr>
              <a:t>QMainWindow</a:t>
            </a:r>
            <a:endParaRPr lang="en-US" sz="2500">
              <a:solidFill>
                <a:srgbClr val="000000"/>
              </a:solidFill>
              <a:latin typeface="Monaco"/>
            </a:endParaRPr>
          </a:p>
          <a:p>
            <a:r>
              <a:rPr lang="en-US" sz="2500">
                <a:solidFill>
                  <a:srgbClr val="004ED0"/>
                </a:solidFill>
                <a:latin typeface="inherit"/>
              </a:rPr>
              <a:t>import </a:t>
            </a:r>
            <a:r>
              <a:rPr lang="en-US" sz="2500">
                <a:solidFill>
                  <a:srgbClr val="002D7A"/>
                </a:solidFill>
                <a:latin typeface="inherit"/>
              </a:rPr>
              <a:t>sys</a:t>
            </a:r>
            <a:endParaRPr lang="en-US" sz="2500" b="0" i="0">
              <a:solidFill>
                <a:srgbClr val="000000"/>
              </a:solidFill>
              <a:effectLst/>
              <a:latin typeface="Monaco"/>
            </a:endParaRPr>
          </a:p>
        </p:txBody>
      </p:sp>
      <p:sp>
        <p:nvSpPr>
          <p:cNvPr id="5" name="Rectangle 4">
            <a:extLst>
              <a:ext uri="{FF2B5EF4-FFF2-40B4-BE49-F238E27FC236}">
                <a16:creationId xmlns:a16="http://schemas.microsoft.com/office/drawing/2014/main" id="{5F9BE516-BF62-4419-A423-FD87D5135961}"/>
              </a:ext>
            </a:extLst>
          </p:cNvPr>
          <p:cNvSpPr/>
          <p:nvPr/>
        </p:nvSpPr>
        <p:spPr>
          <a:xfrm>
            <a:off x="-2" y="2446682"/>
            <a:ext cx="9134376" cy="1246495"/>
          </a:xfrm>
          <a:prstGeom prst="rect">
            <a:avLst/>
          </a:prstGeom>
        </p:spPr>
        <p:txBody>
          <a:bodyPr wrap="square">
            <a:spAutoFit/>
          </a:bodyPr>
          <a:lstStyle/>
          <a:p>
            <a:r>
              <a:rPr lang="en-US" sz="2500">
                <a:solidFill>
                  <a:srgbClr val="3A3A3A"/>
                </a:solidFill>
              </a:rPr>
              <a:t>B</a:t>
            </a:r>
            <a:r>
              <a:rPr lang="vi-VN" sz="2500">
                <a:solidFill>
                  <a:srgbClr val="3A3A3A"/>
                </a:solidFill>
              </a:rPr>
              <a:t>ư</a:t>
            </a:r>
            <a:r>
              <a:rPr lang="en-US" sz="2500">
                <a:solidFill>
                  <a:srgbClr val="3A3A3A"/>
                </a:solidFill>
              </a:rPr>
              <a:t>ớc 2: </a:t>
            </a:r>
            <a:r>
              <a:rPr lang="vi-VN" sz="2500">
                <a:solidFill>
                  <a:srgbClr val="3A3A3A"/>
                </a:solidFill>
              </a:rPr>
              <a:t>tạo lớp Window kế thừa từ QMainWindow</a:t>
            </a:r>
            <a:r>
              <a:rPr lang="en-US" sz="2500">
                <a:solidFill>
                  <a:srgbClr val="3A3A3A"/>
                </a:solidFill>
              </a:rPr>
              <a:t> </a:t>
            </a:r>
            <a:r>
              <a:rPr lang="vi-VN" sz="2500">
                <a:solidFill>
                  <a:srgbClr val="3A3A3A"/>
                </a:solidFill>
              </a:rPr>
              <a:t>trong hàm tạo của lớp đó, ta sẽ thêm tiêu đề cửa sổ, </a:t>
            </a:r>
            <a:r>
              <a:rPr lang="en-US" sz="2500">
                <a:solidFill>
                  <a:srgbClr val="3A3A3A"/>
                </a:solidFill>
              </a:rPr>
              <a:t>định vị trí </a:t>
            </a:r>
            <a:r>
              <a:rPr lang="vi-VN" sz="2500">
                <a:solidFill>
                  <a:srgbClr val="3A3A3A"/>
                </a:solidFill>
              </a:rPr>
              <a:t>và một số yêu cầu khác và trong lớp này.</a:t>
            </a:r>
          </a:p>
        </p:txBody>
      </p:sp>
      <p:sp>
        <p:nvSpPr>
          <p:cNvPr id="6" name="Rectangle 5">
            <a:extLst>
              <a:ext uri="{FF2B5EF4-FFF2-40B4-BE49-F238E27FC236}">
                <a16:creationId xmlns:a16="http://schemas.microsoft.com/office/drawing/2014/main" id="{80B89BFC-D99D-4BB1-BC6C-4EE516241A88}"/>
              </a:ext>
            </a:extLst>
          </p:cNvPr>
          <p:cNvSpPr/>
          <p:nvPr/>
        </p:nvSpPr>
        <p:spPr>
          <a:xfrm>
            <a:off x="43743" y="3667170"/>
            <a:ext cx="4154816" cy="2862322"/>
          </a:xfrm>
          <a:prstGeom prst="rect">
            <a:avLst/>
          </a:prstGeom>
          <a:solidFill>
            <a:schemeClr val="accent2">
              <a:lumMod val="20000"/>
              <a:lumOff val="80000"/>
            </a:schemeClr>
          </a:solidFill>
        </p:spPr>
        <p:txBody>
          <a:bodyPr wrap="square">
            <a:spAutoFit/>
          </a:bodyPr>
          <a:lstStyle/>
          <a:p>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QMainWindow</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Window"</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006FE0"/>
                </a:solidFill>
                <a:latin typeface="inherit"/>
              </a:rPr>
              <a:t> = </a:t>
            </a:r>
            <a:r>
              <a:rPr lang="en-US" sz="2000">
                <a:solidFill>
                  <a:srgbClr val="CE0000"/>
                </a:solidFill>
                <a:latin typeface="inherit"/>
              </a:rPr>
              <a:t>200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006FE0"/>
                </a:solidFill>
                <a:latin typeface="inherit"/>
              </a:rPr>
              <a:t> = </a:t>
            </a:r>
            <a:r>
              <a:rPr lang="en-US" sz="2000">
                <a:solidFill>
                  <a:srgbClr val="CE0000"/>
                </a:solidFill>
                <a:latin typeface="inherit"/>
              </a:rPr>
              <a:t>500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006FE0"/>
                </a:solidFill>
                <a:latin typeface="inherit"/>
              </a:rPr>
              <a:t> = </a:t>
            </a:r>
            <a:r>
              <a:rPr lang="en-US" sz="2000">
                <a:solidFill>
                  <a:srgbClr val="CE0000"/>
                </a:solidFill>
                <a:latin typeface="inherit"/>
              </a:rPr>
              <a:t>400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006FE0"/>
                </a:solidFill>
                <a:latin typeface="inherit"/>
              </a:rPr>
              <a:t> = </a:t>
            </a:r>
            <a:r>
              <a:rPr lang="en-US" sz="2000">
                <a:solidFill>
                  <a:srgbClr val="CE0000"/>
                </a:solidFill>
                <a:latin typeface="inherit"/>
              </a:rPr>
              <a:t>300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InitWindow</a:t>
            </a:r>
            <a:r>
              <a:rPr lang="en-US" sz="2000">
                <a:solidFill>
                  <a:srgbClr val="333333"/>
                </a:solidFill>
                <a:latin typeface="inherit"/>
              </a:rPr>
              <a:t>()</a:t>
            </a:r>
            <a:endParaRPr lang="en-US" sz="2000" b="0" i="0">
              <a:solidFill>
                <a:srgbClr val="000000"/>
              </a:solidFill>
              <a:effectLst/>
              <a:latin typeface="Monaco"/>
            </a:endParaRPr>
          </a:p>
        </p:txBody>
      </p:sp>
      <p:sp>
        <p:nvSpPr>
          <p:cNvPr id="7" name="Rectangle 6">
            <a:extLst>
              <a:ext uri="{FF2B5EF4-FFF2-40B4-BE49-F238E27FC236}">
                <a16:creationId xmlns:a16="http://schemas.microsoft.com/office/drawing/2014/main" id="{85CE9894-A69D-443C-BD5C-296C5A5AF4C5}"/>
              </a:ext>
            </a:extLst>
          </p:cNvPr>
          <p:cNvSpPr/>
          <p:nvPr/>
        </p:nvSpPr>
        <p:spPr>
          <a:xfrm>
            <a:off x="2531030" y="5188136"/>
            <a:ext cx="6577391" cy="1631216"/>
          </a:xfrm>
          <a:prstGeom prst="rect">
            <a:avLst/>
          </a:prstGeom>
          <a:solidFill>
            <a:schemeClr val="accent6">
              <a:lumMod val="20000"/>
              <a:lumOff val="80000"/>
            </a:schemeClr>
          </a:solidFill>
        </p:spPr>
        <p:txBody>
          <a:bodyPr wrap="square">
            <a:spAutoFit/>
          </a:bodyPr>
          <a:lstStyle/>
          <a:p>
            <a:r>
              <a:rPr lang="en-US" sz="2000">
                <a:solidFill>
                  <a:srgbClr val="006FE0"/>
                </a:solidFill>
                <a:latin typeface="inherit"/>
              </a:rPr>
              <a:t>    </a:t>
            </a:r>
            <a:r>
              <a:rPr lang="en-US" sz="2000">
                <a:solidFill>
                  <a:srgbClr val="004ED0"/>
                </a:solidFill>
                <a:latin typeface="inherit"/>
              </a:rPr>
              <a:t>def InitWindow</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setWindowTitle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2457835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F4C43-0661-4D37-8721-30ED170389DF}"/>
              </a:ext>
            </a:extLst>
          </p:cNvPr>
          <p:cNvSpPr>
            <a:spLocks noGrp="1"/>
          </p:cNvSpPr>
          <p:nvPr>
            <p:ph idx="1"/>
          </p:nvPr>
        </p:nvSpPr>
        <p:spPr>
          <a:xfrm>
            <a:off x="9624" y="722811"/>
            <a:ext cx="9134375" cy="6115939"/>
          </a:xfrm>
        </p:spPr>
        <p:txBody>
          <a:bodyPr>
            <a:normAutofit/>
          </a:bodyPr>
          <a:lstStyle/>
          <a:p>
            <a:r>
              <a:rPr lang="en-US" sz="2400"/>
              <a:t>B</a:t>
            </a:r>
            <a:r>
              <a:rPr lang="vi-VN" sz="2400"/>
              <a:t>ư</a:t>
            </a:r>
            <a:r>
              <a:rPr lang="en-US" sz="2400"/>
              <a:t>ớc 3: </a:t>
            </a:r>
            <a:r>
              <a:rPr lang="vi-VN" sz="2400"/>
              <a:t>Cuối cùng, chúng ta tạo đối tượng QApplication và Window và bắt đầu vòng lặp Window của chúng ta</a:t>
            </a:r>
            <a:endParaRPr lang="en-US" sz="2400"/>
          </a:p>
        </p:txBody>
      </p:sp>
      <p:sp>
        <p:nvSpPr>
          <p:cNvPr id="4" name="Title 1">
            <a:extLst>
              <a:ext uri="{FF2B5EF4-FFF2-40B4-BE49-F238E27FC236}">
                <a16:creationId xmlns:a16="http://schemas.microsoft.com/office/drawing/2014/main" id="{9D8BEF54-2BF3-4999-9F43-D4607712B149}"/>
              </a:ext>
            </a:extLst>
          </p:cNvPr>
          <p:cNvSpPr>
            <a:spLocks noGrp="1"/>
          </p:cNvSpPr>
          <p:nvPr>
            <p:ph type="title"/>
          </p:nvPr>
        </p:nvSpPr>
        <p:spPr>
          <a:xfrm>
            <a:off x="9624" y="19250"/>
            <a:ext cx="9134375" cy="703561"/>
          </a:xfrm>
        </p:spPr>
        <p:txBody>
          <a:bodyPr>
            <a:normAutofit fontScale="90000"/>
          </a:bodyPr>
          <a:lstStyle/>
          <a:p>
            <a:pPr>
              <a:lnSpc>
                <a:spcPct val="100000"/>
              </a:lnSpc>
              <a:spcBef>
                <a:spcPts val="0"/>
              </a:spcBef>
            </a:pPr>
            <a:r>
              <a:rPr lang="en-US" sz="4800"/>
              <a:t>Các b</a:t>
            </a:r>
            <a:r>
              <a:rPr lang="vi-VN" sz="4800"/>
              <a:t>ư</a:t>
            </a:r>
            <a:r>
              <a:rPr lang="en-US" sz="4800"/>
              <a:t>ớc tạo giao diện (t.t)</a:t>
            </a:r>
          </a:p>
        </p:txBody>
      </p:sp>
      <p:sp>
        <p:nvSpPr>
          <p:cNvPr id="5" name="Rectangle 4">
            <a:extLst>
              <a:ext uri="{FF2B5EF4-FFF2-40B4-BE49-F238E27FC236}">
                <a16:creationId xmlns:a16="http://schemas.microsoft.com/office/drawing/2014/main" id="{A634BB4C-CDB3-4964-95F8-524AC62CEFCD}"/>
              </a:ext>
            </a:extLst>
          </p:cNvPr>
          <p:cNvSpPr/>
          <p:nvPr/>
        </p:nvSpPr>
        <p:spPr>
          <a:xfrm>
            <a:off x="122464" y="1497764"/>
            <a:ext cx="3788229" cy="1200329"/>
          </a:xfrm>
          <a:prstGeom prst="rect">
            <a:avLst/>
          </a:prstGeom>
          <a:solidFill>
            <a:schemeClr val="accent5">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026" name="Picture 2" descr="PyQt5 Creating First Window">
            <a:extLst>
              <a:ext uri="{FF2B5EF4-FFF2-40B4-BE49-F238E27FC236}">
                <a16:creationId xmlns:a16="http://schemas.microsoft.com/office/drawing/2014/main" id="{1A48BB85-BBE5-44B4-87C3-DC0C31DEE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87486"/>
            <a:ext cx="3971925"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091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88D25-4395-41E0-A477-45FE1E1DED60}"/>
              </a:ext>
            </a:extLst>
          </p:cNvPr>
          <p:cNvSpPr>
            <a:spLocks noGrp="1"/>
          </p:cNvSpPr>
          <p:nvPr>
            <p:ph type="title"/>
          </p:nvPr>
        </p:nvSpPr>
        <p:spPr/>
        <p:txBody>
          <a:bodyPr>
            <a:normAutofit/>
          </a:bodyPr>
          <a:lstStyle/>
          <a:p>
            <a:r>
              <a:rPr lang="en-US" sz="4800" b="1"/>
              <a:t>Cách tạo QPushButton trong PyQt5</a:t>
            </a:r>
          </a:p>
        </p:txBody>
      </p:sp>
      <p:sp>
        <p:nvSpPr>
          <p:cNvPr id="3" name="Content Placeholder 2">
            <a:extLst>
              <a:ext uri="{FF2B5EF4-FFF2-40B4-BE49-F238E27FC236}">
                <a16:creationId xmlns:a16="http://schemas.microsoft.com/office/drawing/2014/main" id="{5EB3DAA4-2BE7-4263-BBA1-1C5892EAACEC}"/>
              </a:ext>
            </a:extLst>
          </p:cNvPr>
          <p:cNvSpPr>
            <a:spLocks noGrp="1"/>
          </p:cNvSpPr>
          <p:nvPr>
            <p:ph idx="1"/>
          </p:nvPr>
        </p:nvSpPr>
        <p:spPr/>
        <p:txBody>
          <a:bodyPr/>
          <a:lstStyle/>
          <a:p>
            <a:r>
              <a:rPr lang="vi-VN"/>
              <a:t>Các</a:t>
            </a:r>
            <a:r>
              <a:rPr lang="en-US"/>
              <a:t> widget</a:t>
            </a:r>
            <a:r>
              <a:rPr lang="vi-VN"/>
              <a:t> </a:t>
            </a:r>
            <a:r>
              <a:rPr lang="vi-VN">
                <a:hlinkClick r:id="rId2"/>
              </a:rPr>
              <a:t>QPushButton</a:t>
            </a:r>
            <a:r>
              <a:rPr lang="vi-VN"/>
              <a:t> cung cấp một nút nhấn lệnh button.</a:t>
            </a:r>
            <a:r>
              <a:rPr lang="en-US"/>
              <a:t> N</a:t>
            </a:r>
            <a:r>
              <a:rPr lang="vi-VN"/>
              <a:t>út lệnh, có lẽ là </a:t>
            </a:r>
            <a:r>
              <a:rPr lang="en-US"/>
              <a:t>widget </a:t>
            </a:r>
            <a:r>
              <a:rPr lang="vi-VN"/>
              <a:t>thường được sử dụng nhất trong bất kỳ giao diện người dùng đồ họa. Nhấn (bấm) một nút để ra lệnh cho máy tính thực hiện một số hành động hoặc để trả lời một câu hỏi. Các nút thông thường là </a:t>
            </a:r>
            <a:r>
              <a:rPr lang="en-AU"/>
              <a:t>OK, Apply, Cancel, Close, Yes, No và Help</a:t>
            </a:r>
            <a:r>
              <a:rPr lang="vi-VN"/>
              <a:t>.</a:t>
            </a:r>
          </a:p>
          <a:p>
            <a:pPr marL="0" indent="0">
              <a:buNone/>
            </a:pPr>
            <a:endParaRPr lang="en-US"/>
          </a:p>
        </p:txBody>
      </p:sp>
      <p:sp>
        <p:nvSpPr>
          <p:cNvPr id="4" name="Rectangle 3">
            <a:extLst>
              <a:ext uri="{FF2B5EF4-FFF2-40B4-BE49-F238E27FC236}">
                <a16:creationId xmlns:a16="http://schemas.microsoft.com/office/drawing/2014/main" id="{C3FAA641-9ADE-46E9-B153-38EA62A0A2E5}"/>
              </a:ext>
            </a:extLst>
          </p:cNvPr>
          <p:cNvSpPr/>
          <p:nvPr/>
        </p:nvSpPr>
        <p:spPr>
          <a:xfrm>
            <a:off x="9624" y="3701369"/>
            <a:ext cx="9134376" cy="2692019"/>
          </a:xfrm>
          <a:prstGeom prst="rect">
            <a:avLst/>
          </a:prstGeom>
          <a:solidFill>
            <a:schemeClr val="accent5">
              <a:lumMod val="20000"/>
              <a:lumOff val="80000"/>
            </a:schemeClr>
          </a:solidFill>
        </p:spPr>
        <p:txBody>
          <a:bodyPr wrap="square">
            <a:spAutoFit/>
          </a:bodyPr>
          <a:lstStyle/>
          <a:p>
            <a:pPr>
              <a:lnSpc>
                <a:spcPct val="150000"/>
              </a:lnSpc>
            </a:pPr>
            <a:r>
              <a:rPr lang="en-US" sz="2300">
                <a:solidFill>
                  <a:srgbClr val="004ED0"/>
                </a:solidFill>
                <a:latin typeface="inherit"/>
              </a:rPr>
              <a:t>from </a:t>
            </a:r>
            <a:r>
              <a:rPr lang="en-US" sz="2300">
                <a:solidFill>
                  <a:srgbClr val="002D7A"/>
                </a:solidFill>
                <a:latin typeface="inherit"/>
              </a:rPr>
              <a:t>PyQt5</a:t>
            </a:r>
            <a:r>
              <a:rPr lang="en-US" sz="2300">
                <a:solidFill>
                  <a:srgbClr val="333333"/>
                </a:solidFill>
                <a:latin typeface="inherit"/>
              </a:rPr>
              <a:t>.</a:t>
            </a:r>
            <a:r>
              <a:rPr lang="en-US" sz="2300">
                <a:solidFill>
                  <a:srgbClr val="004ED0"/>
                </a:solidFill>
                <a:latin typeface="inherit"/>
              </a:rPr>
              <a:t>QtWidgets import </a:t>
            </a:r>
            <a:r>
              <a:rPr lang="en-US" sz="2300">
                <a:solidFill>
                  <a:srgbClr val="002D7A"/>
                </a:solidFill>
                <a:latin typeface="inherit"/>
              </a:rPr>
              <a:t>QApplication</a:t>
            </a:r>
            <a:r>
              <a:rPr lang="en-US" sz="2300">
                <a:solidFill>
                  <a:srgbClr val="333333"/>
                </a:solidFill>
                <a:latin typeface="inherit"/>
              </a:rPr>
              <a:t>,</a:t>
            </a:r>
            <a:r>
              <a:rPr lang="en-US" sz="2300">
                <a:solidFill>
                  <a:srgbClr val="006FE0"/>
                </a:solidFill>
                <a:latin typeface="inherit"/>
              </a:rPr>
              <a:t> </a:t>
            </a:r>
            <a:r>
              <a:rPr lang="en-US" sz="2300">
                <a:solidFill>
                  <a:srgbClr val="002D7A"/>
                </a:solidFill>
                <a:latin typeface="inherit"/>
              </a:rPr>
              <a:t>QMainWindow</a:t>
            </a:r>
            <a:r>
              <a:rPr lang="en-US" sz="2300">
                <a:solidFill>
                  <a:srgbClr val="333333"/>
                </a:solidFill>
                <a:latin typeface="inherit"/>
              </a:rPr>
              <a:t>,</a:t>
            </a:r>
            <a:r>
              <a:rPr lang="en-US" sz="2300">
                <a:solidFill>
                  <a:srgbClr val="006FE0"/>
                </a:solidFill>
                <a:latin typeface="inherit"/>
              </a:rPr>
              <a:t> </a:t>
            </a:r>
            <a:r>
              <a:rPr lang="en-US" sz="2300">
                <a:solidFill>
                  <a:srgbClr val="004ED0"/>
                </a:solidFill>
                <a:latin typeface="inherit"/>
              </a:rPr>
              <a:t>QPushButton</a:t>
            </a:r>
            <a:endParaRPr lang="en-US" sz="2300">
              <a:solidFill>
                <a:srgbClr val="000000"/>
              </a:solidFill>
              <a:latin typeface="Monaco"/>
            </a:endParaRPr>
          </a:p>
          <a:p>
            <a:pPr>
              <a:lnSpc>
                <a:spcPct val="150000"/>
              </a:lnSpc>
            </a:pPr>
            <a:r>
              <a:rPr lang="en-US" sz="2300">
                <a:solidFill>
                  <a:srgbClr val="004ED0"/>
                </a:solidFill>
                <a:latin typeface="inherit"/>
              </a:rPr>
              <a:t>import sys</a:t>
            </a:r>
            <a:endParaRPr lang="en-US" sz="2300">
              <a:solidFill>
                <a:srgbClr val="000000"/>
              </a:solidFill>
              <a:latin typeface="Monaco"/>
            </a:endParaRPr>
          </a:p>
          <a:p>
            <a:pPr>
              <a:lnSpc>
                <a:spcPct val="150000"/>
              </a:lnSpc>
            </a:pPr>
            <a:r>
              <a:rPr lang="en-US" sz="2300">
                <a:solidFill>
                  <a:srgbClr val="004ED0"/>
                </a:solidFill>
                <a:latin typeface="inherit"/>
              </a:rPr>
              <a:t>from PyQt5 import QtGui</a:t>
            </a:r>
            <a:endParaRPr lang="en-US" sz="2300">
              <a:solidFill>
                <a:srgbClr val="000000"/>
              </a:solidFill>
              <a:latin typeface="Monaco"/>
            </a:endParaRPr>
          </a:p>
          <a:p>
            <a:pPr>
              <a:lnSpc>
                <a:spcPct val="150000"/>
              </a:lnSpc>
            </a:pPr>
            <a:r>
              <a:rPr lang="en-US" sz="2300">
                <a:solidFill>
                  <a:srgbClr val="004ED0"/>
                </a:solidFill>
                <a:latin typeface="inherit"/>
              </a:rPr>
              <a:t>from </a:t>
            </a:r>
            <a:r>
              <a:rPr lang="en-US" sz="2300">
                <a:solidFill>
                  <a:srgbClr val="002D7A"/>
                </a:solidFill>
                <a:latin typeface="inherit"/>
              </a:rPr>
              <a:t>PyQt5</a:t>
            </a:r>
            <a:r>
              <a:rPr lang="en-US" sz="2300">
                <a:solidFill>
                  <a:srgbClr val="333333"/>
                </a:solidFill>
                <a:latin typeface="inherit"/>
              </a:rPr>
              <a:t>.</a:t>
            </a:r>
            <a:r>
              <a:rPr lang="en-US" sz="2300">
                <a:solidFill>
                  <a:srgbClr val="004ED0"/>
                </a:solidFill>
                <a:latin typeface="inherit"/>
              </a:rPr>
              <a:t>QtCore import QRect</a:t>
            </a:r>
            <a:endParaRPr lang="en-US" sz="2300">
              <a:solidFill>
                <a:srgbClr val="000000"/>
              </a:solidFill>
              <a:latin typeface="Monaco"/>
            </a:endParaRPr>
          </a:p>
          <a:p>
            <a:pPr>
              <a:lnSpc>
                <a:spcPct val="150000"/>
              </a:lnSpc>
            </a:pPr>
            <a:r>
              <a:rPr lang="en-US" sz="2300">
                <a:solidFill>
                  <a:srgbClr val="004ED0"/>
                </a:solidFill>
                <a:latin typeface="inherit"/>
              </a:rPr>
              <a:t>from PyQt5 import QtCore</a:t>
            </a:r>
            <a:endParaRPr lang="en-US" sz="2300" b="0" i="0">
              <a:solidFill>
                <a:srgbClr val="000000"/>
              </a:solidFill>
              <a:effectLst/>
              <a:latin typeface="Monaco"/>
            </a:endParaRPr>
          </a:p>
        </p:txBody>
      </p:sp>
    </p:spTree>
    <p:extLst>
      <p:ext uri="{BB962C8B-B14F-4D97-AF65-F5344CB8AC3E}">
        <p14:creationId xmlns:p14="http://schemas.microsoft.com/office/powerpoint/2010/main" val="1989751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71FC0A-A3ED-468B-9B85-57A7A7B96089}"/>
              </a:ext>
            </a:extLst>
          </p:cNvPr>
          <p:cNvSpPr/>
          <p:nvPr/>
        </p:nvSpPr>
        <p:spPr>
          <a:xfrm>
            <a:off x="-1" y="0"/>
            <a:ext cx="5390605" cy="4185761"/>
          </a:xfrm>
          <a:prstGeom prst="rect">
            <a:avLst/>
          </a:prstGeom>
          <a:solidFill>
            <a:schemeClr val="accent1">
              <a:lumMod val="20000"/>
              <a:lumOff val="80000"/>
            </a:schemeClr>
          </a:solidFill>
        </p:spPr>
        <p:txBody>
          <a:bodyPr wrap="square">
            <a:spAutoFit/>
          </a:bodyPr>
          <a:lstStyle/>
          <a:p>
            <a:pPr>
              <a:lnSpc>
                <a:spcPct val="95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QMainWindow</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PushButton"</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left</a:t>
            </a:r>
            <a:r>
              <a:rPr lang="en-US" sz="2000">
                <a:solidFill>
                  <a:srgbClr val="006FE0"/>
                </a:solidFill>
                <a:latin typeface="inherit"/>
              </a:rPr>
              <a:t> = </a:t>
            </a:r>
            <a:r>
              <a:rPr lang="en-US" sz="2000">
                <a:solidFill>
                  <a:srgbClr val="CE0000"/>
                </a:solidFill>
                <a:latin typeface="inherit"/>
              </a:rPr>
              <a:t>500</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top</a:t>
            </a:r>
            <a:r>
              <a:rPr lang="en-US" sz="2000">
                <a:solidFill>
                  <a:srgbClr val="006FE0"/>
                </a:solidFill>
                <a:latin typeface="inherit"/>
              </a:rPr>
              <a:t> = </a:t>
            </a:r>
            <a:r>
              <a:rPr lang="en-US" sz="2000">
                <a:solidFill>
                  <a:srgbClr val="CE0000"/>
                </a:solidFill>
                <a:latin typeface="inherit"/>
              </a:rPr>
              <a:t>200</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width</a:t>
            </a:r>
            <a:r>
              <a:rPr lang="en-US" sz="2000">
                <a:solidFill>
                  <a:srgbClr val="006FE0"/>
                </a:solidFill>
                <a:latin typeface="inherit"/>
              </a:rPr>
              <a:t> = </a:t>
            </a:r>
            <a:r>
              <a:rPr lang="en-US" sz="2000">
                <a:solidFill>
                  <a:srgbClr val="CE0000"/>
                </a:solidFill>
                <a:latin typeface="inherit"/>
              </a:rPr>
              <a:t>300</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height</a:t>
            </a:r>
            <a:r>
              <a:rPr lang="en-US" sz="2000">
                <a:solidFill>
                  <a:srgbClr val="006FE0"/>
                </a:solidFill>
                <a:latin typeface="inherit"/>
              </a:rPr>
              <a:t> = </a:t>
            </a:r>
            <a:r>
              <a:rPr lang="en-US" sz="2000">
                <a:solidFill>
                  <a:srgbClr val="CE0000"/>
                </a:solidFill>
                <a:latin typeface="inherit"/>
              </a:rPr>
              <a:t>250</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iconName</a:t>
            </a:r>
            <a:r>
              <a:rPr lang="en-US" sz="2000">
                <a:solidFill>
                  <a:srgbClr val="006FE0"/>
                </a:solidFill>
                <a:latin typeface="inherit"/>
              </a:rPr>
              <a:t> = </a:t>
            </a:r>
            <a:r>
              <a:rPr lang="en-US" sz="2000">
                <a:solidFill>
                  <a:srgbClr val="008000"/>
                </a:solidFill>
                <a:latin typeface="inherit"/>
              </a:rPr>
              <a:t>"icon.png"</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setWindowTitle</a:t>
            </a:r>
            <a:r>
              <a:rPr lang="en-US" sz="2000">
                <a:solidFill>
                  <a:srgbClr val="333333"/>
                </a:solidFill>
                <a:latin typeface="inherit"/>
              </a:rPr>
              <a:t>(</a:t>
            </a:r>
            <a:r>
              <a:rPr lang="en-US" sz="2000">
                <a:solidFill>
                  <a:srgbClr val="002D7A"/>
                </a:solidFill>
                <a:latin typeface="inherit"/>
              </a:rPr>
              <a:t>title</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2D7A"/>
                </a:solidFill>
                <a:latin typeface="inherit"/>
              </a:rPr>
              <a:t>iconName</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002D7A"/>
                </a:solidFill>
                <a:latin typeface="inherit"/>
              </a:rPr>
              <a:t>left</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top</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height</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UiComponents</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a:solidFill>
                <a:srgbClr val="000000"/>
              </a:solidFill>
              <a:latin typeface="Monaco"/>
            </a:endParaRPr>
          </a:p>
        </p:txBody>
      </p:sp>
      <p:sp>
        <p:nvSpPr>
          <p:cNvPr id="5" name="Rectangle 4">
            <a:extLst>
              <a:ext uri="{FF2B5EF4-FFF2-40B4-BE49-F238E27FC236}">
                <a16:creationId xmlns:a16="http://schemas.microsoft.com/office/drawing/2014/main" id="{8BFB966C-9B86-4F6F-B305-7F319022D29F}"/>
              </a:ext>
            </a:extLst>
          </p:cNvPr>
          <p:cNvSpPr/>
          <p:nvPr/>
        </p:nvSpPr>
        <p:spPr>
          <a:xfrm>
            <a:off x="-7236" y="4417455"/>
            <a:ext cx="5878286" cy="2431435"/>
          </a:xfrm>
          <a:prstGeom prst="rect">
            <a:avLst/>
          </a:prstGeom>
          <a:solidFill>
            <a:schemeClr val="accent2">
              <a:lumMod val="20000"/>
              <a:lumOff val="80000"/>
            </a:schemeClr>
          </a:solidFill>
        </p:spPr>
        <p:txBody>
          <a:bodyPr wrap="square">
            <a:spAutoFit/>
          </a:bodyPr>
          <a:lstStyle/>
          <a:p>
            <a:pPr>
              <a:lnSpc>
                <a:spcPct val="95000"/>
              </a:lnSpc>
            </a:pPr>
            <a:r>
              <a:rPr lang="en-US" sz="2000">
                <a:solidFill>
                  <a:srgbClr val="006FE0"/>
                </a:solidFill>
                <a:latin typeface="inherit"/>
              </a:rPr>
              <a:t>    </a:t>
            </a:r>
            <a:r>
              <a:rPr lang="en-US" sz="2000">
                <a:solidFill>
                  <a:srgbClr val="004ED0"/>
                </a:solidFill>
                <a:latin typeface="inherit"/>
              </a:rPr>
              <a:t>def UiComponents</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button</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"Close Application"</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B85C00"/>
                </a:solidFill>
                <a:latin typeface="inherit"/>
              </a:rPr>
              <a:t>#button.move(50,50)</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004ED0"/>
                </a:solidFill>
                <a:latin typeface="inherit"/>
              </a:rPr>
              <a:t>QRect</a:t>
            </a:r>
            <a:r>
              <a:rPr lang="en-US" sz="2000">
                <a:solidFill>
                  <a:srgbClr val="333333"/>
                </a:solidFill>
                <a:latin typeface="inherit"/>
              </a:rPr>
              <a:t>(</a:t>
            </a:r>
            <a:r>
              <a:rPr lang="en-US" sz="2000">
                <a:solidFill>
                  <a:srgbClr val="CE0000"/>
                </a:solidFill>
                <a:latin typeface="inherit"/>
              </a:rPr>
              <a:t>100</a:t>
            </a:r>
            <a:r>
              <a:rPr lang="en-US" sz="2000">
                <a:solidFill>
                  <a:srgbClr val="333333"/>
                </a:solidFill>
                <a:latin typeface="inherit"/>
              </a:rPr>
              <a:t>,</a:t>
            </a:r>
            <a:r>
              <a:rPr lang="en-US" sz="2000">
                <a:solidFill>
                  <a:srgbClr val="CE0000"/>
                </a:solidFill>
                <a:latin typeface="inherit"/>
              </a:rPr>
              <a:t>100</a:t>
            </a:r>
            <a:r>
              <a:rPr lang="en-US" sz="2000">
                <a:solidFill>
                  <a:srgbClr val="333333"/>
                </a:solidFill>
                <a:latin typeface="inherit"/>
              </a:rPr>
              <a:t>,</a:t>
            </a:r>
            <a:r>
              <a:rPr lang="en-US" sz="2000">
                <a:solidFill>
                  <a:srgbClr val="CE0000"/>
                </a:solidFill>
                <a:latin typeface="inherit"/>
              </a:rPr>
              <a:t>150</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setIconSize</a:t>
            </a:r>
            <a:r>
              <a:rPr lang="en-US" sz="2000">
                <a:solidFill>
                  <a:srgbClr val="333333"/>
                </a:solidFill>
                <a:latin typeface="inherit"/>
              </a:rPr>
              <a:t>(</a:t>
            </a:r>
            <a:r>
              <a:rPr lang="en-US" sz="2000">
                <a:solidFill>
                  <a:srgbClr val="002D7A"/>
                </a:solidFill>
                <a:latin typeface="inherit"/>
              </a:rPr>
              <a:t>QtCore</a:t>
            </a:r>
            <a:r>
              <a:rPr lang="en-US" sz="2000">
                <a:solidFill>
                  <a:srgbClr val="333333"/>
                </a:solidFill>
                <a:latin typeface="inherit"/>
              </a:rPr>
              <a:t>.</a:t>
            </a:r>
            <a:r>
              <a:rPr lang="en-US" sz="2000">
                <a:solidFill>
                  <a:srgbClr val="004ED0"/>
                </a:solidFill>
                <a:latin typeface="inherit"/>
              </a:rPr>
              <a:t>QSize</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setToolTip</a:t>
            </a:r>
            <a:r>
              <a:rPr lang="en-US" sz="2000">
                <a:solidFill>
                  <a:srgbClr val="333333"/>
                </a:solidFill>
                <a:latin typeface="inherit"/>
              </a:rPr>
              <a:t>(</a:t>
            </a:r>
            <a:r>
              <a:rPr lang="en-US" sz="2000">
                <a:solidFill>
                  <a:srgbClr val="008000"/>
                </a:solidFill>
                <a:latin typeface="inherit"/>
              </a:rPr>
              <a:t>"&lt;h2&gt;This Is Click Button&lt;/h2&gt;"</a:t>
            </a:r>
            <a:r>
              <a:rPr lang="en-US" sz="2000">
                <a:solidFill>
                  <a:srgbClr val="333333"/>
                </a:solidFill>
                <a:latin typeface="inherit"/>
              </a:rPr>
              <a:t>)</a:t>
            </a:r>
            <a:endParaRPr lang="en-US" sz="2000">
              <a:solidFill>
                <a:srgbClr val="000000"/>
              </a:solidFill>
              <a:latin typeface="Monaco"/>
            </a:endParaRPr>
          </a:p>
          <a:p>
            <a:pPr>
              <a:lnSpc>
                <a:spcPct val="95000"/>
              </a:lnSpc>
            </a:pPr>
            <a:r>
              <a:rPr lang="en-US" sz="2000">
                <a:solidFill>
                  <a:srgbClr val="006FE0"/>
                </a:solidFill>
                <a:highlight>
                  <a:srgbClr val="FFFF00"/>
                </a:highlight>
                <a:latin typeface="inherit"/>
              </a:rPr>
              <a:t>        </a:t>
            </a:r>
            <a:r>
              <a:rPr lang="en-US" sz="2000">
                <a:solidFill>
                  <a:srgbClr val="002D7A"/>
                </a:solidFill>
                <a:highlight>
                  <a:srgbClr val="FFFF00"/>
                </a:highlight>
                <a:latin typeface="inherit"/>
              </a:rPr>
              <a:t>button</a:t>
            </a:r>
            <a:r>
              <a:rPr lang="en-US" sz="2000">
                <a:solidFill>
                  <a:srgbClr val="333333"/>
                </a:solidFill>
                <a:highlight>
                  <a:srgbClr val="FFFF00"/>
                </a:highlight>
                <a:latin typeface="inherit"/>
              </a:rPr>
              <a:t>.</a:t>
            </a:r>
            <a:r>
              <a:rPr lang="en-US" sz="2000">
                <a:solidFill>
                  <a:srgbClr val="002D7A"/>
                </a:solidFill>
                <a:highlight>
                  <a:srgbClr val="FFFF00"/>
                </a:highlight>
                <a:latin typeface="inherit"/>
              </a:rPr>
              <a:t>clicked</a:t>
            </a:r>
            <a:r>
              <a:rPr lang="en-US" sz="2000">
                <a:solidFill>
                  <a:srgbClr val="333333"/>
                </a:solidFill>
                <a:highlight>
                  <a:srgbClr val="FFFF00"/>
                </a:highlight>
                <a:latin typeface="inherit"/>
              </a:rPr>
              <a:t>.</a:t>
            </a:r>
            <a:r>
              <a:rPr lang="en-US" sz="2000">
                <a:solidFill>
                  <a:srgbClr val="004ED0"/>
                </a:solidFill>
                <a:highlight>
                  <a:srgbClr val="FFFF00"/>
                </a:highlight>
                <a:latin typeface="inherit"/>
              </a:rPr>
              <a:t>connect</a:t>
            </a:r>
            <a:r>
              <a:rPr lang="en-US" sz="2000">
                <a:solidFill>
                  <a:srgbClr val="333333"/>
                </a:solidFill>
                <a:highlight>
                  <a:srgbClr val="FFFF00"/>
                </a:highlight>
                <a:latin typeface="inherit"/>
              </a:rPr>
              <a:t>(</a:t>
            </a:r>
            <a:r>
              <a:rPr lang="en-US" sz="2000">
                <a:solidFill>
                  <a:srgbClr val="800080"/>
                </a:solidFill>
                <a:highlight>
                  <a:srgbClr val="FFFF00"/>
                </a:highlight>
                <a:latin typeface="inherit"/>
              </a:rPr>
              <a:t>self</a:t>
            </a:r>
            <a:r>
              <a:rPr lang="en-US" sz="2000">
                <a:solidFill>
                  <a:srgbClr val="333333"/>
                </a:solidFill>
                <a:highlight>
                  <a:srgbClr val="FFFF00"/>
                </a:highlight>
                <a:latin typeface="inherit"/>
              </a:rPr>
              <a:t>.</a:t>
            </a:r>
            <a:r>
              <a:rPr lang="en-US" sz="2000">
                <a:solidFill>
                  <a:srgbClr val="002D7A"/>
                </a:solidFill>
                <a:highlight>
                  <a:srgbClr val="FFFF00"/>
                </a:highlight>
                <a:latin typeface="inherit"/>
              </a:rPr>
              <a:t>ButtonAction</a:t>
            </a:r>
            <a:r>
              <a:rPr lang="en-US" sz="2000">
                <a:solidFill>
                  <a:srgbClr val="333333"/>
                </a:solidFill>
                <a:highlight>
                  <a:srgbClr val="FFFF00"/>
                </a:highlight>
                <a:latin typeface="inherit"/>
              </a:rPr>
              <a:t>)</a:t>
            </a:r>
            <a:endParaRPr lang="en-US" sz="2000">
              <a:solidFill>
                <a:srgbClr val="000000"/>
              </a:solidFill>
              <a:highlight>
                <a:srgbClr val="FFFF00"/>
              </a:highlight>
              <a:latin typeface="Monaco"/>
            </a:endParaRPr>
          </a:p>
        </p:txBody>
      </p:sp>
      <p:sp>
        <p:nvSpPr>
          <p:cNvPr id="6" name="Rectangle 5">
            <a:extLst>
              <a:ext uri="{FF2B5EF4-FFF2-40B4-BE49-F238E27FC236}">
                <a16:creationId xmlns:a16="http://schemas.microsoft.com/office/drawing/2014/main" id="{47B1EB62-BF43-4E2B-BBE6-05A220416230}"/>
              </a:ext>
            </a:extLst>
          </p:cNvPr>
          <p:cNvSpPr/>
          <p:nvPr/>
        </p:nvSpPr>
        <p:spPr>
          <a:xfrm>
            <a:off x="5770838" y="2598542"/>
            <a:ext cx="3405052" cy="1323439"/>
          </a:xfrm>
          <a:prstGeom prst="rect">
            <a:avLst/>
          </a:prstGeom>
          <a:solidFill>
            <a:schemeClr val="accent6">
              <a:lumMod val="20000"/>
              <a:lumOff val="80000"/>
            </a:schemeClr>
          </a:solidFill>
        </p:spPr>
        <p:txBody>
          <a:bodyPr wrap="square">
            <a:spAutoFit/>
          </a:bodyPr>
          <a:lstStyle/>
          <a:p>
            <a:r>
              <a:rPr lang="en-US" sz="2000">
                <a:solidFill>
                  <a:srgbClr val="800080"/>
                </a:solidFill>
                <a:latin typeface="inherit"/>
              </a:rPr>
              <a:t>if</a:t>
            </a:r>
            <a:r>
              <a:rPr lang="en-US" sz="2000">
                <a:solidFill>
                  <a:srgbClr val="006FE0"/>
                </a:solidFill>
                <a:latin typeface="inherit"/>
              </a:rPr>
              <a:t> </a:t>
            </a:r>
            <a:r>
              <a:rPr lang="en-US" sz="2000">
                <a:solidFill>
                  <a:srgbClr val="002D7A"/>
                </a:solidFill>
                <a:latin typeface="inherit"/>
              </a:rPr>
              <a:t>__name__</a:t>
            </a:r>
            <a:r>
              <a:rPr lang="en-US" sz="2000">
                <a:solidFill>
                  <a:srgbClr val="006FE0"/>
                </a:solidFill>
                <a:latin typeface="inherit"/>
              </a:rPr>
              <a:t> == </a:t>
            </a:r>
            <a:r>
              <a:rPr lang="en-US" sz="2000">
                <a:solidFill>
                  <a:srgbClr val="008000"/>
                </a:solidFill>
                <a:latin typeface="inherit"/>
              </a:rPr>
              <a:t>"__main__"</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002D7A"/>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Window</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004ED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sp>
        <p:nvSpPr>
          <p:cNvPr id="7" name="Rectangle 6">
            <a:extLst>
              <a:ext uri="{FF2B5EF4-FFF2-40B4-BE49-F238E27FC236}">
                <a16:creationId xmlns:a16="http://schemas.microsoft.com/office/drawing/2014/main" id="{B5B315B8-88A0-48CE-8DFC-4C145D16E187}"/>
              </a:ext>
            </a:extLst>
          </p:cNvPr>
          <p:cNvSpPr/>
          <p:nvPr/>
        </p:nvSpPr>
        <p:spPr>
          <a:xfrm>
            <a:off x="3016113" y="3581943"/>
            <a:ext cx="2862174" cy="1015663"/>
          </a:xfrm>
          <a:prstGeom prst="rect">
            <a:avLst/>
          </a:prstGeom>
          <a:solidFill>
            <a:schemeClr val="accent5">
              <a:lumMod val="20000"/>
              <a:lumOff val="80000"/>
            </a:schemeClr>
          </a:solidFill>
        </p:spPr>
        <p:txBody>
          <a:bodyPr wrap="square">
            <a:spAutoFit/>
          </a:bodyPr>
          <a:lstStyle/>
          <a:p>
            <a:r>
              <a:rPr lang="en-US" sz="2000">
                <a:solidFill>
                  <a:srgbClr val="006FE0"/>
                </a:solidFill>
                <a:latin typeface="inherit"/>
              </a:rPr>
              <a:t>    </a:t>
            </a:r>
            <a:r>
              <a:rPr lang="en-US" sz="2000">
                <a:solidFill>
                  <a:srgbClr val="004ED0"/>
                </a:solidFill>
                <a:latin typeface="inherit"/>
              </a:rPr>
              <a:t>def ButtonAction</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4ED0"/>
                </a:solidFill>
                <a:latin typeface="inherit"/>
              </a:rPr>
              <a:t>print</a:t>
            </a:r>
            <a:r>
              <a:rPr lang="en-US" sz="2000">
                <a:solidFill>
                  <a:srgbClr val="333333"/>
                </a:solidFill>
                <a:latin typeface="inherit"/>
              </a:rPr>
              <a:t>(</a:t>
            </a:r>
            <a:r>
              <a:rPr lang="en-US" sz="2000">
                <a:solidFill>
                  <a:srgbClr val="008000"/>
                </a:solidFill>
                <a:latin typeface="inherit"/>
              </a:rPr>
              <a:t>"Hello World"</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endParaRPr lang="en-US" sz="2000">
              <a:solidFill>
                <a:srgbClr val="000000"/>
              </a:solidFill>
              <a:latin typeface="Monaco"/>
            </a:endParaRPr>
          </a:p>
        </p:txBody>
      </p:sp>
      <p:sp>
        <p:nvSpPr>
          <p:cNvPr id="8" name="Rectangle 7">
            <a:extLst>
              <a:ext uri="{FF2B5EF4-FFF2-40B4-BE49-F238E27FC236}">
                <a16:creationId xmlns:a16="http://schemas.microsoft.com/office/drawing/2014/main" id="{53B388AB-16A8-4567-BC15-E0C8180D2F76}"/>
              </a:ext>
            </a:extLst>
          </p:cNvPr>
          <p:cNvSpPr/>
          <p:nvPr/>
        </p:nvSpPr>
        <p:spPr>
          <a:xfrm>
            <a:off x="5878287" y="4005610"/>
            <a:ext cx="3265713" cy="2862322"/>
          </a:xfrm>
          <a:prstGeom prst="rect">
            <a:avLst/>
          </a:prstGeom>
        </p:spPr>
        <p:txBody>
          <a:bodyPr wrap="square">
            <a:spAutoFit/>
          </a:bodyPr>
          <a:lstStyle/>
          <a:p>
            <a:r>
              <a:rPr lang="en-US" sz="2000" i="1">
                <a:solidFill>
                  <a:srgbClr val="3A3A3A"/>
                </a:solidFill>
                <a:latin typeface="Calibri (Body)"/>
              </a:rPr>
              <a:t>T</a:t>
            </a:r>
            <a:r>
              <a:rPr lang="vi-VN" sz="2000" i="1">
                <a:solidFill>
                  <a:srgbClr val="3A3A3A"/>
                </a:solidFill>
                <a:latin typeface="Calibri (Body)"/>
              </a:rPr>
              <a:t>rong UiComponents, chúng ta tạo đối tượng QPushButton, </a:t>
            </a:r>
            <a:r>
              <a:rPr lang="en-US" sz="2000" i="1">
                <a:solidFill>
                  <a:srgbClr val="3A3A3A"/>
                </a:solidFill>
                <a:latin typeface="Calibri (Body)"/>
              </a:rPr>
              <a:t>và </a:t>
            </a:r>
            <a:r>
              <a:rPr lang="vi-VN" sz="2000" i="1">
                <a:solidFill>
                  <a:srgbClr val="3A3A3A"/>
                </a:solidFill>
                <a:latin typeface="Calibri (Body)"/>
              </a:rPr>
              <a:t>đặt </a:t>
            </a:r>
            <a:r>
              <a:rPr lang="en-US" sz="2000" i="1">
                <a:solidFill>
                  <a:srgbClr val="3A3A3A"/>
                </a:solidFill>
                <a:latin typeface="Calibri (Body)"/>
              </a:rPr>
              <a:t>vị trí </a:t>
            </a:r>
            <a:r>
              <a:rPr lang="vi-VN" sz="2000" i="1">
                <a:solidFill>
                  <a:srgbClr val="3A3A3A"/>
                </a:solidFill>
                <a:latin typeface="Calibri (Body)"/>
              </a:rPr>
              <a:t>cho nút, ta cũng đã tạo QIcon và setIconSize cho QPushButton. trong phương thức </a:t>
            </a:r>
            <a:r>
              <a:rPr lang="en-US" sz="2000" i="1">
                <a:latin typeface="Calibri (Body)"/>
              </a:rPr>
              <a:t>ButtonAction()</a:t>
            </a:r>
            <a:r>
              <a:rPr lang="vi-VN" sz="2000" i="1">
                <a:solidFill>
                  <a:srgbClr val="3A3A3A"/>
                </a:solidFill>
                <a:latin typeface="Calibri (Body)"/>
              </a:rPr>
              <a:t> t</a:t>
            </a:r>
            <a:r>
              <a:rPr lang="en-US" sz="2000" i="1">
                <a:solidFill>
                  <a:srgbClr val="3A3A3A"/>
                </a:solidFill>
                <a:latin typeface="Calibri (Body)"/>
              </a:rPr>
              <a:t>a kết nối đến slot ButtonAction để hiển thị </a:t>
            </a:r>
            <a:r>
              <a:rPr lang="vi-VN" sz="2000" i="1">
                <a:solidFill>
                  <a:srgbClr val="3A3A3A"/>
                </a:solidFill>
                <a:latin typeface="Calibri (Body)"/>
              </a:rPr>
              <a:t>Hello World</a:t>
            </a:r>
          </a:p>
        </p:txBody>
      </p:sp>
      <p:pic>
        <p:nvPicPr>
          <p:cNvPr id="2050" name="Picture 2" descr="PyQt5 Creating QPushButton Example">
            <a:extLst>
              <a:ext uri="{FF2B5EF4-FFF2-40B4-BE49-F238E27FC236}">
                <a16:creationId xmlns:a16="http://schemas.microsoft.com/office/drawing/2014/main" id="{AFAB9661-6208-4B54-85D4-0F4172AA6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5634" y="22871"/>
            <a:ext cx="2708366" cy="2492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34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CD99-518A-4471-943A-ECA4B7361AFE}"/>
              </a:ext>
            </a:extLst>
          </p:cNvPr>
          <p:cNvSpPr>
            <a:spLocks noGrp="1"/>
          </p:cNvSpPr>
          <p:nvPr>
            <p:ph type="title"/>
          </p:nvPr>
        </p:nvSpPr>
        <p:spPr/>
        <p:txBody>
          <a:bodyPr>
            <a:normAutofit/>
          </a:bodyPr>
          <a:lstStyle/>
          <a:p>
            <a:r>
              <a:rPr lang="en-US"/>
              <a:t>Ví dụ về signal và slot PyQt5</a:t>
            </a:r>
          </a:p>
        </p:txBody>
      </p:sp>
      <p:sp>
        <p:nvSpPr>
          <p:cNvPr id="3" name="Content Placeholder 2">
            <a:extLst>
              <a:ext uri="{FF2B5EF4-FFF2-40B4-BE49-F238E27FC236}">
                <a16:creationId xmlns:a16="http://schemas.microsoft.com/office/drawing/2014/main" id="{5BCAC20A-EB63-4F4D-BFDE-67D70C09FD7B}"/>
              </a:ext>
            </a:extLst>
          </p:cNvPr>
          <p:cNvSpPr>
            <a:spLocks noGrp="1"/>
          </p:cNvSpPr>
          <p:nvPr>
            <p:ph idx="1"/>
          </p:nvPr>
        </p:nvSpPr>
        <p:spPr>
          <a:xfrm>
            <a:off x="9624" y="1026542"/>
            <a:ext cx="9134375" cy="5812207"/>
          </a:xfrm>
        </p:spPr>
        <p:txBody>
          <a:bodyPr>
            <a:normAutofit/>
          </a:bodyPr>
          <a:lstStyle/>
          <a:p>
            <a:pPr marL="0" indent="0">
              <a:buNone/>
            </a:pPr>
            <a:r>
              <a:rPr lang="vi-VN" sz="3200"/>
              <a:t>Tín hiệu </a:t>
            </a:r>
            <a:r>
              <a:rPr lang="en-US" sz="3200"/>
              <a:t>(signal) </a:t>
            </a:r>
            <a:r>
              <a:rPr lang="vi-VN" sz="3200"/>
              <a:t>và </a:t>
            </a:r>
            <a:r>
              <a:rPr lang="en-US" sz="3200"/>
              <a:t>khe cắm (</a:t>
            </a:r>
            <a:r>
              <a:rPr lang="vi-VN" sz="3200"/>
              <a:t>Slots</a:t>
            </a:r>
            <a:r>
              <a:rPr lang="en-US" sz="3200"/>
              <a:t>)</a:t>
            </a:r>
            <a:r>
              <a:rPr lang="vi-VN" sz="3200"/>
              <a:t> được sử dụng để liên lạc giữa một số đối tượng. </a:t>
            </a:r>
            <a:r>
              <a:rPr lang="en-US" sz="3200"/>
              <a:t>Signal </a:t>
            </a:r>
            <a:r>
              <a:rPr lang="vi-VN" sz="3200"/>
              <a:t>được phát ra khi có một sự kiện cụ thể xảy ra và một </a:t>
            </a:r>
            <a:r>
              <a:rPr lang="en-US" sz="3200"/>
              <a:t>slot </a:t>
            </a:r>
            <a:r>
              <a:rPr lang="vi-VN" sz="3200"/>
              <a:t>được gọi khi </a:t>
            </a:r>
            <a:r>
              <a:rPr lang="en-US" sz="3200"/>
              <a:t>signal </a:t>
            </a:r>
            <a:r>
              <a:rPr lang="vi-VN" sz="3200"/>
              <a:t>được kết nối của nó được phát ra. </a:t>
            </a:r>
            <a:endParaRPr lang="en-US" sz="3200"/>
          </a:p>
        </p:txBody>
      </p:sp>
      <p:sp>
        <p:nvSpPr>
          <p:cNvPr id="4" name="Rectangle 3">
            <a:extLst>
              <a:ext uri="{FF2B5EF4-FFF2-40B4-BE49-F238E27FC236}">
                <a16:creationId xmlns:a16="http://schemas.microsoft.com/office/drawing/2014/main" id="{BB8D783D-D0D6-47B4-A6CB-49EABE9FC71A}"/>
              </a:ext>
            </a:extLst>
          </p:cNvPr>
          <p:cNvSpPr/>
          <p:nvPr/>
        </p:nvSpPr>
        <p:spPr>
          <a:xfrm>
            <a:off x="9624" y="3773236"/>
            <a:ext cx="9134376" cy="2677656"/>
          </a:xfrm>
          <a:prstGeom prst="rect">
            <a:avLst/>
          </a:prstGeom>
          <a:solidFill>
            <a:schemeClr val="accent4">
              <a:lumMod val="20000"/>
              <a:lumOff val="80000"/>
            </a:schemeClr>
          </a:solidFill>
        </p:spPr>
        <p:txBody>
          <a:bodyPr wrap="square">
            <a:spAutoFit/>
          </a:bodyPr>
          <a:lstStyle/>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p>
          <a:p>
            <a:pPr algn="r"/>
            <a:r>
              <a:rPr lang="en-US" sz="2800">
                <a:solidFill>
                  <a:srgbClr val="006FE0"/>
                </a:solidFill>
                <a:latin typeface="inherit"/>
              </a:rPr>
              <a:t>			</a:t>
            </a:r>
            <a:r>
              <a:rPr lang="en-US" sz="2800">
                <a:solidFill>
                  <a:srgbClr val="002D7A"/>
                </a:solidFill>
                <a:latin typeface="inherit"/>
              </a:rPr>
              <a:t>QMainWindow</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QPushButton</a:t>
            </a:r>
            <a:endParaRPr lang="en-US" sz="2800">
              <a:solidFill>
                <a:srgbClr val="000000"/>
              </a:solidFill>
              <a:latin typeface="Monaco"/>
            </a:endParaRPr>
          </a:p>
          <a:p>
            <a:r>
              <a:rPr lang="en-US" sz="2800">
                <a:solidFill>
                  <a:srgbClr val="004ED0"/>
                </a:solidFill>
                <a:latin typeface="inherit"/>
              </a:rPr>
              <a:t>import sys</a:t>
            </a:r>
            <a:endParaRPr lang="en-US" sz="2800">
              <a:solidFill>
                <a:srgbClr val="000000"/>
              </a:solidFill>
              <a:latin typeface="Monaco"/>
            </a:endParaRPr>
          </a:p>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QtCore import QRect</a:t>
            </a:r>
            <a:endParaRPr lang="en-US" sz="2800">
              <a:solidFill>
                <a:srgbClr val="000000"/>
              </a:solidFill>
              <a:latin typeface="Monaco"/>
            </a:endParaRPr>
          </a:p>
          <a:p>
            <a:r>
              <a:rPr lang="en-US" sz="2800">
                <a:solidFill>
                  <a:srgbClr val="004ED0"/>
                </a:solidFill>
                <a:latin typeface="inherit"/>
              </a:rPr>
              <a:t>from PyQt5 import </a:t>
            </a:r>
            <a:r>
              <a:rPr lang="en-US" sz="2800">
                <a:solidFill>
                  <a:srgbClr val="002D7A"/>
                </a:solidFill>
                <a:latin typeface="inherit"/>
              </a:rPr>
              <a:t>QtCore</a:t>
            </a:r>
            <a:endParaRPr lang="en-US" sz="2800" b="0" i="0">
              <a:solidFill>
                <a:srgbClr val="000000"/>
              </a:solidFill>
              <a:effectLst/>
              <a:latin typeface="Monaco"/>
            </a:endParaRPr>
          </a:p>
        </p:txBody>
      </p:sp>
    </p:spTree>
    <p:extLst>
      <p:ext uri="{BB962C8B-B14F-4D97-AF65-F5344CB8AC3E}">
        <p14:creationId xmlns:p14="http://schemas.microsoft.com/office/powerpoint/2010/main" val="2177305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4418F4-7529-4AC3-B03E-C7149574370C}"/>
              </a:ext>
            </a:extLst>
          </p:cNvPr>
          <p:cNvSpPr/>
          <p:nvPr/>
        </p:nvSpPr>
        <p:spPr>
          <a:xfrm>
            <a:off x="0" y="787757"/>
            <a:ext cx="9144000" cy="6124754"/>
          </a:xfrm>
          <a:prstGeom prst="rect">
            <a:avLst/>
          </a:prstGeom>
        </p:spPr>
        <p:txBody>
          <a:bodyPr wrap="square">
            <a:spAutoFit/>
          </a:bodyPr>
          <a:lstStyle/>
          <a:p>
            <a:r>
              <a:rPr lang="en-US" sz="2800">
                <a:solidFill>
                  <a:srgbClr val="800080"/>
                </a:solidFill>
                <a:latin typeface="inherit"/>
              </a:rPr>
              <a:t>class</a:t>
            </a:r>
            <a:r>
              <a:rPr lang="en-US" sz="2800">
                <a:solidFill>
                  <a:srgbClr val="006FE0"/>
                </a:solidFill>
                <a:latin typeface="inherit"/>
              </a:rPr>
              <a:t> </a:t>
            </a:r>
            <a:r>
              <a:rPr lang="en-US" sz="2800">
                <a:solidFill>
                  <a:srgbClr val="004ED0"/>
                </a:solidFill>
                <a:latin typeface="inherit"/>
              </a:rPr>
              <a:t>Window</a:t>
            </a:r>
            <a:r>
              <a:rPr lang="en-US" sz="2800">
                <a:solidFill>
                  <a:srgbClr val="333333"/>
                </a:solidFill>
                <a:latin typeface="inherit"/>
              </a:rPr>
              <a:t>(</a:t>
            </a:r>
            <a:r>
              <a:rPr lang="en-US" sz="2800">
                <a:solidFill>
                  <a:srgbClr val="002D7A"/>
                </a:solidFill>
                <a:latin typeface="inherit"/>
              </a:rPr>
              <a:t>QMainWindow</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4ED0"/>
                </a:solidFill>
                <a:latin typeface="inherit"/>
              </a:rPr>
              <a:t>def __init__</a:t>
            </a:r>
            <a:r>
              <a:rPr lang="en-US" sz="2800">
                <a:solidFill>
                  <a:srgbClr val="333333"/>
                </a:solidFill>
                <a:latin typeface="inherit"/>
              </a:rPr>
              <a:t>(</a:t>
            </a:r>
            <a:r>
              <a:rPr lang="en-US" sz="2800">
                <a:solidFill>
                  <a:srgbClr val="800080"/>
                </a:solidFill>
                <a:latin typeface="inherit"/>
              </a:rPr>
              <a:t>self</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super</a:t>
            </a:r>
            <a:r>
              <a:rPr lang="en-US" sz="2800">
                <a:solidFill>
                  <a:srgbClr val="333333"/>
                </a:solidFill>
                <a:latin typeface="inherit"/>
              </a:rPr>
              <a:t>().</a:t>
            </a:r>
            <a:r>
              <a:rPr lang="en-US" sz="2800">
                <a:solidFill>
                  <a:srgbClr val="004ED0"/>
                </a:solidFill>
                <a:latin typeface="inherit"/>
              </a:rPr>
              <a:t>__init__</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2D7A"/>
                </a:solidFill>
                <a:latin typeface="inherit"/>
              </a:rPr>
              <a:t>title</a:t>
            </a:r>
            <a:r>
              <a:rPr lang="en-US" sz="2800">
                <a:solidFill>
                  <a:srgbClr val="006FE0"/>
                </a:solidFill>
                <a:latin typeface="inherit"/>
              </a:rPr>
              <a:t> = </a:t>
            </a:r>
            <a:r>
              <a:rPr lang="en-US" sz="2800">
                <a:solidFill>
                  <a:srgbClr val="008000"/>
                </a:solidFill>
                <a:latin typeface="inherit"/>
              </a:rPr>
              <a:t>"PyQt5 Signal And Slots"</a:t>
            </a:r>
            <a:endParaRPr lang="en-US" sz="2800">
              <a:solidFill>
                <a:srgbClr val="000000"/>
              </a:solidFill>
              <a:latin typeface="Monaco"/>
            </a:endParaRPr>
          </a:p>
          <a:p>
            <a:r>
              <a:rPr lang="en-US" sz="2800">
                <a:solidFill>
                  <a:srgbClr val="008000"/>
                </a:solidFill>
                <a:latin typeface="inherit"/>
              </a:rPr>
              <a:t>        left = 500</a:t>
            </a:r>
            <a:endParaRPr lang="en-US" sz="2800">
              <a:solidFill>
                <a:srgbClr val="000000"/>
              </a:solidFill>
              <a:latin typeface="Monaco"/>
            </a:endParaRPr>
          </a:p>
          <a:p>
            <a:r>
              <a:rPr lang="en-US" sz="2800">
                <a:solidFill>
                  <a:srgbClr val="008000"/>
                </a:solidFill>
                <a:latin typeface="inherit"/>
              </a:rPr>
              <a:t>        top = 200</a:t>
            </a:r>
            <a:endParaRPr lang="en-US" sz="2800">
              <a:solidFill>
                <a:srgbClr val="000000"/>
              </a:solidFill>
              <a:latin typeface="Monaco"/>
            </a:endParaRPr>
          </a:p>
          <a:p>
            <a:r>
              <a:rPr lang="en-US" sz="2800">
                <a:solidFill>
                  <a:srgbClr val="008000"/>
                </a:solidFill>
                <a:latin typeface="inherit"/>
              </a:rPr>
              <a:t>        width = 300</a:t>
            </a:r>
            <a:endParaRPr lang="en-US" sz="2800">
              <a:solidFill>
                <a:srgbClr val="000000"/>
              </a:solidFill>
              <a:latin typeface="Monaco"/>
            </a:endParaRPr>
          </a:p>
          <a:p>
            <a:r>
              <a:rPr lang="en-US" sz="2800">
                <a:solidFill>
                  <a:srgbClr val="008000"/>
                </a:solidFill>
                <a:latin typeface="inherit"/>
              </a:rPr>
              <a:t>        height = 250</a:t>
            </a:r>
            <a:endParaRPr lang="en-US" sz="2800">
              <a:solidFill>
                <a:srgbClr val="000000"/>
              </a:solidFill>
              <a:latin typeface="Monaco"/>
            </a:endParaRPr>
          </a:p>
          <a:p>
            <a:r>
              <a:rPr lang="en-US" sz="2800">
                <a:solidFill>
                  <a:srgbClr val="008000"/>
                </a:solidFill>
                <a:latin typeface="inherit"/>
              </a:rPr>
              <a:t>        iconName = "</a:t>
            </a:r>
            <a:r>
              <a:rPr lang="en-US" sz="2800">
                <a:solidFill>
                  <a:srgbClr val="002D7A"/>
                </a:solidFill>
                <a:latin typeface="inherit"/>
              </a:rPr>
              <a:t>icon</a:t>
            </a:r>
            <a:r>
              <a:rPr lang="en-US" sz="2800">
                <a:solidFill>
                  <a:srgbClr val="333333"/>
                </a:solidFill>
                <a:latin typeface="inherit"/>
              </a:rPr>
              <a:t>.</a:t>
            </a:r>
            <a:r>
              <a:rPr lang="en-US" sz="2800">
                <a:solidFill>
                  <a:srgbClr val="000000"/>
                </a:solidFill>
                <a:latin typeface="inherit"/>
              </a:rPr>
              <a:t>png</a:t>
            </a:r>
            <a:r>
              <a:rPr lang="en-US" sz="2800">
                <a:solidFill>
                  <a:srgbClr val="000000"/>
                </a:solidFill>
                <a:latin typeface="Monaco"/>
              </a:rPr>
              <a:t>"</a:t>
            </a: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setWindowTitle</a:t>
            </a:r>
            <a:r>
              <a:rPr lang="en-US" sz="2800">
                <a:solidFill>
                  <a:srgbClr val="333333"/>
                </a:solidFill>
                <a:latin typeface="inherit"/>
              </a:rPr>
              <a:t>(</a:t>
            </a:r>
            <a:r>
              <a:rPr lang="en-US" sz="2800">
                <a:solidFill>
                  <a:srgbClr val="002D7A"/>
                </a:solidFill>
                <a:latin typeface="inherit"/>
              </a:rPr>
              <a:t>title</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setWindowIcon</a:t>
            </a:r>
            <a:r>
              <a:rPr lang="en-US" sz="2800">
                <a:solidFill>
                  <a:srgbClr val="333333"/>
                </a:solidFill>
                <a:latin typeface="inherit"/>
              </a:rPr>
              <a:t>(</a:t>
            </a:r>
            <a:r>
              <a:rPr lang="en-US" sz="2800">
                <a:solidFill>
                  <a:srgbClr val="002D7A"/>
                </a:solidFill>
                <a:latin typeface="inherit"/>
              </a:rPr>
              <a:t>QtGui</a:t>
            </a:r>
            <a:r>
              <a:rPr lang="en-US" sz="2800">
                <a:solidFill>
                  <a:srgbClr val="333333"/>
                </a:solidFill>
                <a:latin typeface="inherit"/>
              </a:rPr>
              <a:t>.</a:t>
            </a:r>
            <a:r>
              <a:rPr lang="en-US" sz="2800">
                <a:solidFill>
                  <a:srgbClr val="004ED0"/>
                </a:solidFill>
                <a:latin typeface="inherit"/>
              </a:rPr>
              <a:t>QIcon</a:t>
            </a:r>
            <a:r>
              <a:rPr lang="en-US" sz="2800">
                <a:solidFill>
                  <a:srgbClr val="333333"/>
                </a:solidFill>
                <a:latin typeface="inherit"/>
              </a:rPr>
              <a:t>(</a:t>
            </a:r>
            <a:r>
              <a:rPr lang="en-US" sz="2800">
                <a:solidFill>
                  <a:srgbClr val="002D7A"/>
                </a:solidFill>
                <a:latin typeface="inherit"/>
              </a:rPr>
              <a:t>iconName</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setGeometry</a:t>
            </a:r>
            <a:r>
              <a:rPr lang="en-US" sz="2800">
                <a:solidFill>
                  <a:srgbClr val="333333"/>
                </a:solidFill>
                <a:latin typeface="inherit"/>
              </a:rPr>
              <a:t>(</a:t>
            </a:r>
            <a:r>
              <a:rPr lang="en-US" sz="2800">
                <a:solidFill>
                  <a:srgbClr val="002D7A"/>
                </a:solidFill>
                <a:latin typeface="inherit"/>
              </a:rPr>
              <a:t>left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top</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width</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height</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CreateButton</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show</a:t>
            </a:r>
            <a:r>
              <a:rPr lang="en-US" sz="2800">
                <a:solidFill>
                  <a:srgbClr val="333333"/>
                </a:solidFill>
                <a:latin typeface="inherit"/>
              </a:rPr>
              <a:t>()</a:t>
            </a:r>
            <a:endParaRPr lang="en-US" sz="2800" b="0" i="0">
              <a:solidFill>
                <a:srgbClr val="000000"/>
              </a:solidFill>
              <a:effectLst/>
              <a:latin typeface="Monaco"/>
            </a:endParaRPr>
          </a:p>
        </p:txBody>
      </p:sp>
      <p:sp>
        <p:nvSpPr>
          <p:cNvPr id="5" name="Title 1">
            <a:extLst>
              <a:ext uri="{FF2B5EF4-FFF2-40B4-BE49-F238E27FC236}">
                <a16:creationId xmlns:a16="http://schemas.microsoft.com/office/drawing/2014/main" id="{0DC6D220-A2D9-4826-BE95-6B960EC170B4}"/>
              </a:ext>
            </a:extLst>
          </p:cNvPr>
          <p:cNvSpPr>
            <a:spLocks noGrp="1"/>
          </p:cNvSpPr>
          <p:nvPr>
            <p:ph type="title"/>
          </p:nvPr>
        </p:nvSpPr>
        <p:spPr>
          <a:xfrm>
            <a:off x="9624" y="19250"/>
            <a:ext cx="9134375" cy="933651"/>
          </a:xfrm>
        </p:spPr>
        <p:txBody>
          <a:bodyPr>
            <a:normAutofit/>
          </a:bodyPr>
          <a:lstStyle/>
          <a:p>
            <a:r>
              <a:rPr lang="en-US"/>
              <a:t>Ví dụ về signal và slot PyQt5 (t.t)</a:t>
            </a:r>
          </a:p>
        </p:txBody>
      </p:sp>
      <p:sp>
        <p:nvSpPr>
          <p:cNvPr id="7" name="Rectangle 6">
            <a:extLst>
              <a:ext uri="{FF2B5EF4-FFF2-40B4-BE49-F238E27FC236}">
                <a16:creationId xmlns:a16="http://schemas.microsoft.com/office/drawing/2014/main" id="{FE377362-7C22-48AF-8BAE-CBD1469AB249}"/>
              </a:ext>
            </a:extLst>
          </p:cNvPr>
          <p:cNvSpPr/>
          <p:nvPr/>
        </p:nvSpPr>
        <p:spPr>
          <a:xfrm>
            <a:off x="4753154" y="2585838"/>
            <a:ext cx="4390845" cy="2308324"/>
          </a:xfrm>
          <a:prstGeom prst="rect">
            <a:avLst/>
          </a:prstGeom>
          <a:solidFill>
            <a:schemeClr val="accent4">
              <a:lumMod val="20000"/>
              <a:lumOff val="80000"/>
            </a:schemeClr>
          </a:solidFill>
        </p:spPr>
        <p:txBody>
          <a:bodyPr wrap="square">
            <a:spAutoFit/>
          </a:bodyPr>
          <a:lstStyle/>
          <a:p>
            <a:pPr algn="just"/>
            <a:r>
              <a:rPr lang="en-US" sz="2400" i="1">
                <a:solidFill>
                  <a:srgbClr val="3A3A3A"/>
                </a:solidFill>
              </a:rPr>
              <a:t>T</a:t>
            </a:r>
            <a:r>
              <a:rPr lang="vi-VN" sz="2400" i="1">
                <a:solidFill>
                  <a:srgbClr val="3A3A3A"/>
                </a:solidFill>
              </a:rPr>
              <a:t>ạo lớp cửa sổ trong PyQt5, cửa sổ này sẽ kế thừa từ QMainWindow là một lớp trong PyQt5 và chúng ta tạo một số biến, như tiêu đề, chiều rộng, chiều cao và biểu tượng</a:t>
            </a:r>
            <a:endParaRPr lang="en-US" sz="2400" i="1"/>
          </a:p>
        </p:txBody>
      </p:sp>
    </p:spTree>
    <p:extLst>
      <p:ext uri="{BB962C8B-B14F-4D97-AF65-F5344CB8AC3E}">
        <p14:creationId xmlns:p14="http://schemas.microsoft.com/office/powerpoint/2010/main" val="4050129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BE5CDE-2777-4143-BABB-6B7EDD6E65A9}"/>
              </a:ext>
            </a:extLst>
          </p:cNvPr>
          <p:cNvSpPr/>
          <p:nvPr/>
        </p:nvSpPr>
        <p:spPr>
          <a:xfrm>
            <a:off x="5728447" y="688900"/>
            <a:ext cx="3415552" cy="2862322"/>
          </a:xfrm>
          <a:prstGeom prst="rect">
            <a:avLst/>
          </a:prstGeom>
          <a:solidFill>
            <a:schemeClr val="accent4">
              <a:lumMod val="20000"/>
              <a:lumOff val="80000"/>
            </a:schemeClr>
          </a:solidFill>
        </p:spPr>
        <p:txBody>
          <a:bodyPr wrap="square">
            <a:spAutoFit/>
          </a:bodyPr>
          <a:lstStyle/>
          <a:p>
            <a:r>
              <a:rPr lang="vi-VN" sz="2000" i="1">
                <a:solidFill>
                  <a:srgbClr val="3A3A3A"/>
                </a:solidFill>
              </a:rPr>
              <a:t>Sau đó, chúng tôi tạo phương thức CreateButton() và tạo nút ấn, đặt biểu tượng của QPushButton bằng SetIcon, </a:t>
            </a:r>
            <a:r>
              <a:rPr lang="en-US" sz="2000" i="1">
                <a:solidFill>
                  <a:srgbClr val="3A3A3A"/>
                </a:solidFill>
              </a:rPr>
              <a:t>và thiết lập tooltip bằng </a:t>
            </a:r>
            <a:r>
              <a:rPr lang="vi-VN" sz="2000" i="1">
                <a:solidFill>
                  <a:srgbClr val="3A3A3A"/>
                </a:solidFill>
              </a:rPr>
              <a:t>SetTooltip </a:t>
            </a:r>
            <a:r>
              <a:rPr lang="en-US" sz="2000" i="1">
                <a:solidFill>
                  <a:srgbClr val="3A3A3A"/>
                </a:solidFill>
              </a:rPr>
              <a:t>cho </a:t>
            </a:r>
            <a:r>
              <a:rPr lang="vi-VN" sz="2000" i="1">
                <a:solidFill>
                  <a:srgbClr val="3A3A3A"/>
                </a:solidFill>
              </a:rPr>
              <a:t>QPushButton, </a:t>
            </a:r>
            <a:r>
              <a:rPr lang="en-US" sz="2000" i="1">
                <a:solidFill>
                  <a:srgbClr val="3A3A3A"/>
                </a:solidFill>
              </a:rPr>
              <a:t>sau đó </a:t>
            </a:r>
            <a:r>
              <a:rPr lang="vi-VN" sz="2000" i="1">
                <a:solidFill>
                  <a:srgbClr val="3A3A3A"/>
                </a:solidFill>
              </a:rPr>
              <a:t>kết nối nút </a:t>
            </a:r>
            <a:r>
              <a:rPr lang="en-US" sz="2000" i="1">
                <a:solidFill>
                  <a:srgbClr val="3A3A3A"/>
                </a:solidFill>
              </a:rPr>
              <a:t>nhấn </a:t>
            </a:r>
            <a:r>
              <a:rPr lang="vi-VN" sz="2000" i="1">
                <a:solidFill>
                  <a:srgbClr val="3A3A3A"/>
                </a:solidFill>
              </a:rPr>
              <a:t>với </a:t>
            </a:r>
            <a:r>
              <a:rPr lang="en-US" sz="2000" i="1">
                <a:solidFill>
                  <a:srgbClr val="3A3A3A"/>
                </a:solidFill>
              </a:rPr>
              <a:t>signal </a:t>
            </a:r>
            <a:r>
              <a:rPr lang="vi-VN" sz="2000" i="1">
                <a:solidFill>
                  <a:srgbClr val="3A3A3A"/>
                </a:solidFill>
              </a:rPr>
              <a:t>được nhấp</a:t>
            </a:r>
            <a:endParaRPr lang="en-US" sz="2000" i="1"/>
          </a:p>
        </p:txBody>
      </p:sp>
      <p:sp>
        <p:nvSpPr>
          <p:cNvPr id="5" name="Title 1">
            <a:extLst>
              <a:ext uri="{FF2B5EF4-FFF2-40B4-BE49-F238E27FC236}">
                <a16:creationId xmlns:a16="http://schemas.microsoft.com/office/drawing/2014/main" id="{E2A99C2B-9F14-4C21-9FB1-CF57FA2499C7}"/>
              </a:ext>
            </a:extLst>
          </p:cNvPr>
          <p:cNvSpPr>
            <a:spLocks noGrp="1"/>
          </p:cNvSpPr>
          <p:nvPr>
            <p:ph type="title"/>
          </p:nvPr>
        </p:nvSpPr>
        <p:spPr>
          <a:xfrm>
            <a:off x="9624" y="19250"/>
            <a:ext cx="9134375" cy="832397"/>
          </a:xfrm>
        </p:spPr>
        <p:txBody>
          <a:bodyPr>
            <a:normAutofit/>
          </a:bodyPr>
          <a:lstStyle/>
          <a:p>
            <a:r>
              <a:rPr lang="en-US"/>
              <a:t>Ví dụ về signal và slot PyQt5 (t.t)</a:t>
            </a:r>
          </a:p>
        </p:txBody>
      </p:sp>
      <p:sp>
        <p:nvSpPr>
          <p:cNvPr id="6" name="Rectangle 5">
            <a:extLst>
              <a:ext uri="{FF2B5EF4-FFF2-40B4-BE49-F238E27FC236}">
                <a16:creationId xmlns:a16="http://schemas.microsoft.com/office/drawing/2014/main" id="{DE6D882F-35C5-490A-B64E-0BCBDA4A5F59}"/>
              </a:ext>
            </a:extLst>
          </p:cNvPr>
          <p:cNvSpPr/>
          <p:nvPr/>
        </p:nvSpPr>
        <p:spPr>
          <a:xfrm>
            <a:off x="9624" y="688900"/>
            <a:ext cx="5718823" cy="1938992"/>
          </a:xfrm>
          <a:prstGeom prst="rect">
            <a:avLst/>
          </a:prstGeom>
          <a:ln>
            <a:solidFill>
              <a:srgbClr val="FF0000"/>
            </a:solidFill>
          </a:ln>
        </p:spPr>
        <p:txBody>
          <a:bodyPr wrap="square">
            <a:spAutoFit/>
          </a:bodyPr>
          <a:lstStyle/>
          <a:p>
            <a:r>
              <a:rPr lang="en-US" sz="2000">
                <a:solidFill>
                  <a:srgbClr val="004ED0"/>
                </a:solidFill>
                <a:latin typeface="inherit"/>
              </a:rPr>
              <a:t>def CreateButton</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button</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"Close Application"</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004ED0"/>
                </a:solidFill>
                <a:latin typeface="inherit"/>
              </a:rPr>
              <a:t>QRect</a:t>
            </a:r>
            <a:r>
              <a:rPr lang="en-US" sz="2000">
                <a:solidFill>
                  <a:srgbClr val="333333"/>
                </a:solidFill>
                <a:latin typeface="inherit"/>
              </a:rPr>
              <a:t>(</a:t>
            </a:r>
            <a:r>
              <a:rPr lang="en-US" sz="2000">
                <a:solidFill>
                  <a:srgbClr val="CE0000"/>
                </a:solidFill>
                <a:latin typeface="inherit"/>
              </a:rPr>
              <a:t>100</a:t>
            </a:r>
            <a:r>
              <a:rPr lang="en-US" sz="2000">
                <a:solidFill>
                  <a:srgbClr val="333333"/>
                </a:solidFill>
                <a:latin typeface="inherit"/>
              </a:rPr>
              <a:t>,</a:t>
            </a:r>
            <a:r>
              <a:rPr lang="en-US" sz="2000">
                <a:solidFill>
                  <a:srgbClr val="CE0000"/>
                </a:solidFill>
                <a:latin typeface="inherit"/>
              </a:rPr>
              <a:t>100</a:t>
            </a:r>
            <a:r>
              <a:rPr lang="en-US" sz="2000">
                <a:solidFill>
                  <a:srgbClr val="333333"/>
                </a:solidFill>
                <a:latin typeface="inherit"/>
              </a:rPr>
              <a:t>,</a:t>
            </a:r>
            <a:r>
              <a:rPr lang="en-US" sz="2000">
                <a:solidFill>
                  <a:srgbClr val="CE0000"/>
                </a:solidFill>
                <a:latin typeface="inherit"/>
              </a:rPr>
              <a:t>111</a:t>
            </a:r>
            <a:r>
              <a:rPr lang="en-US" sz="2000">
                <a:solidFill>
                  <a:srgbClr val="333333"/>
                </a:solidFill>
                <a:latin typeface="inherit"/>
              </a:rPr>
              <a:t>,</a:t>
            </a:r>
            <a:r>
              <a:rPr lang="en-US" sz="2000">
                <a:solidFill>
                  <a:srgbClr val="CE0000"/>
                </a:solidFill>
                <a:latin typeface="inherit"/>
              </a:rPr>
              <a:t>28</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setIconSize</a:t>
            </a:r>
            <a:r>
              <a:rPr lang="en-US" sz="2000">
                <a:solidFill>
                  <a:srgbClr val="333333"/>
                </a:solidFill>
                <a:latin typeface="inherit"/>
              </a:rPr>
              <a:t>(</a:t>
            </a:r>
            <a:r>
              <a:rPr lang="en-US" sz="2000">
                <a:solidFill>
                  <a:srgbClr val="002D7A"/>
                </a:solidFill>
                <a:latin typeface="inherit"/>
              </a:rPr>
              <a:t>QtCore</a:t>
            </a:r>
            <a:r>
              <a:rPr lang="en-US" sz="2000">
                <a:solidFill>
                  <a:srgbClr val="333333"/>
                </a:solidFill>
                <a:latin typeface="inherit"/>
              </a:rPr>
              <a:t>.</a:t>
            </a:r>
            <a:r>
              <a:rPr lang="en-US" sz="2000">
                <a:solidFill>
                  <a:srgbClr val="004ED0"/>
                </a:solidFill>
                <a:latin typeface="inherit"/>
              </a:rPr>
              <a:t>QSize</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button</a:t>
            </a:r>
            <a:r>
              <a:rPr lang="en-US" sz="2000">
                <a:solidFill>
                  <a:srgbClr val="333333"/>
                </a:solidFill>
                <a:latin typeface="inherit"/>
              </a:rPr>
              <a:t>.</a:t>
            </a:r>
            <a:r>
              <a:rPr lang="en-US" sz="2000">
                <a:solidFill>
                  <a:srgbClr val="002D7A"/>
                </a:solidFill>
                <a:latin typeface="inherit"/>
              </a:rPr>
              <a:t>clicked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ButtonAction</a:t>
            </a:r>
            <a:r>
              <a:rPr lang="en-US" sz="2000">
                <a:solidFill>
                  <a:srgbClr val="333333"/>
                </a:solidFill>
                <a:latin typeface="inherit"/>
              </a:rPr>
              <a:t>)</a:t>
            </a:r>
            <a:endParaRPr lang="en-US" sz="2000" b="0" i="0">
              <a:solidFill>
                <a:srgbClr val="000000"/>
              </a:solidFill>
              <a:effectLst/>
              <a:latin typeface="Monaco"/>
            </a:endParaRPr>
          </a:p>
        </p:txBody>
      </p:sp>
      <p:sp>
        <p:nvSpPr>
          <p:cNvPr id="7" name="Rectangle 6">
            <a:extLst>
              <a:ext uri="{FF2B5EF4-FFF2-40B4-BE49-F238E27FC236}">
                <a16:creationId xmlns:a16="http://schemas.microsoft.com/office/drawing/2014/main" id="{FE0873CE-2B5C-4BE9-82D6-FB4D2846DAC8}"/>
              </a:ext>
            </a:extLst>
          </p:cNvPr>
          <p:cNvSpPr/>
          <p:nvPr/>
        </p:nvSpPr>
        <p:spPr>
          <a:xfrm>
            <a:off x="1919107" y="3766666"/>
            <a:ext cx="3540400" cy="707886"/>
          </a:xfrm>
          <a:prstGeom prst="rect">
            <a:avLst/>
          </a:prstGeom>
          <a:solidFill>
            <a:schemeClr val="accent5">
              <a:lumMod val="20000"/>
              <a:lumOff val="80000"/>
            </a:schemeClr>
          </a:solidFill>
        </p:spPr>
        <p:txBody>
          <a:bodyPr wrap="square">
            <a:spAutoFit/>
          </a:bodyPr>
          <a:lstStyle/>
          <a:p>
            <a:r>
              <a:rPr lang="vi-VN" sz="2000" i="1">
                <a:solidFill>
                  <a:srgbClr val="3A3A3A"/>
                </a:solidFill>
              </a:rPr>
              <a:t>Đây là </a:t>
            </a:r>
            <a:r>
              <a:rPr lang="en-US" sz="2000" i="1">
                <a:solidFill>
                  <a:srgbClr val="3A3A3A"/>
                </a:solidFill>
              </a:rPr>
              <a:t>slot </a:t>
            </a:r>
            <a:r>
              <a:rPr lang="vi-VN" sz="2000" i="1">
                <a:solidFill>
                  <a:srgbClr val="3A3A3A"/>
                </a:solidFill>
              </a:rPr>
              <a:t>hoặc phương thức chỉ đóng cửa sổ ứng dụng</a:t>
            </a:r>
            <a:endParaRPr lang="en-US" sz="2000" i="1"/>
          </a:p>
        </p:txBody>
      </p:sp>
      <p:sp>
        <p:nvSpPr>
          <p:cNvPr id="8" name="Rectangle 7">
            <a:extLst>
              <a:ext uri="{FF2B5EF4-FFF2-40B4-BE49-F238E27FC236}">
                <a16:creationId xmlns:a16="http://schemas.microsoft.com/office/drawing/2014/main" id="{3EFBC276-CEE7-4DCD-9765-C5093DA2D9FF}"/>
              </a:ext>
            </a:extLst>
          </p:cNvPr>
          <p:cNvSpPr/>
          <p:nvPr/>
        </p:nvSpPr>
        <p:spPr>
          <a:xfrm>
            <a:off x="9624" y="3197279"/>
            <a:ext cx="2581176" cy="707886"/>
          </a:xfrm>
          <a:prstGeom prst="rect">
            <a:avLst/>
          </a:prstGeom>
          <a:ln>
            <a:solidFill>
              <a:srgbClr val="00B050"/>
            </a:solidFill>
          </a:ln>
        </p:spPr>
        <p:txBody>
          <a:bodyPr wrap="square">
            <a:spAutoFit/>
          </a:bodyPr>
          <a:lstStyle/>
          <a:p>
            <a:r>
              <a:rPr lang="en-AU" sz="2000">
                <a:solidFill>
                  <a:srgbClr val="004ED0"/>
                </a:solidFill>
                <a:latin typeface="inherit"/>
              </a:rPr>
              <a:t>def ButtonAction</a:t>
            </a:r>
            <a:r>
              <a:rPr lang="en-AU" sz="2000">
                <a:solidFill>
                  <a:srgbClr val="333333"/>
                </a:solidFill>
                <a:latin typeface="inherit"/>
              </a:rPr>
              <a:t>(</a:t>
            </a:r>
            <a:r>
              <a:rPr lang="en-AU" sz="2000">
                <a:solidFill>
                  <a:srgbClr val="800080"/>
                </a:solidFill>
                <a:latin typeface="inherit"/>
              </a:rPr>
              <a:t>self</a:t>
            </a:r>
            <a:r>
              <a:rPr lang="en-AU" sz="2000">
                <a:solidFill>
                  <a:srgbClr val="333333"/>
                </a:solidFill>
                <a:latin typeface="inherit"/>
              </a:rPr>
              <a:t>)</a:t>
            </a:r>
            <a:r>
              <a:rPr lang="en-AU" sz="2000">
                <a:solidFill>
                  <a:srgbClr val="006FE0"/>
                </a:solidFill>
                <a:latin typeface="inherit"/>
              </a:rPr>
              <a:t>:</a:t>
            </a:r>
            <a:endParaRPr lang="en-AU" sz="2000">
              <a:solidFill>
                <a:srgbClr val="000000"/>
              </a:solidFill>
              <a:latin typeface="Monaco"/>
            </a:endParaRPr>
          </a:p>
          <a:p>
            <a:r>
              <a:rPr lang="en-AU" sz="2000">
                <a:solidFill>
                  <a:srgbClr val="006FE0"/>
                </a:solidFill>
                <a:latin typeface="inherit"/>
              </a:rPr>
              <a:t>         </a:t>
            </a:r>
            <a:r>
              <a:rPr lang="en-AU" sz="2000">
                <a:solidFill>
                  <a:srgbClr val="002D7A"/>
                </a:solidFill>
                <a:latin typeface="inherit"/>
              </a:rPr>
              <a:t>sys</a:t>
            </a:r>
            <a:r>
              <a:rPr lang="en-AU" sz="2000">
                <a:solidFill>
                  <a:srgbClr val="333333"/>
                </a:solidFill>
                <a:latin typeface="inherit"/>
              </a:rPr>
              <a:t>.</a:t>
            </a:r>
            <a:r>
              <a:rPr lang="en-AU" sz="2000">
                <a:solidFill>
                  <a:srgbClr val="004ED0"/>
                </a:solidFill>
                <a:latin typeface="inherit"/>
              </a:rPr>
              <a:t>exit</a:t>
            </a:r>
            <a:r>
              <a:rPr lang="en-AU" sz="2000">
                <a:solidFill>
                  <a:srgbClr val="333333"/>
                </a:solidFill>
                <a:latin typeface="inherit"/>
              </a:rPr>
              <a:t>()</a:t>
            </a:r>
            <a:endParaRPr lang="en-AU" sz="2000" b="0" i="0">
              <a:solidFill>
                <a:srgbClr val="000000"/>
              </a:solidFill>
              <a:effectLst/>
              <a:latin typeface="Monaco"/>
            </a:endParaRPr>
          </a:p>
        </p:txBody>
      </p:sp>
      <p:cxnSp>
        <p:nvCxnSpPr>
          <p:cNvPr id="10" name="Straight Arrow Connector 9">
            <a:extLst>
              <a:ext uri="{FF2B5EF4-FFF2-40B4-BE49-F238E27FC236}">
                <a16:creationId xmlns:a16="http://schemas.microsoft.com/office/drawing/2014/main" id="{48D3EAFD-68CA-40AA-94D6-152C52B2DA12}"/>
              </a:ext>
            </a:extLst>
          </p:cNvPr>
          <p:cNvCxnSpPr>
            <a:cxnSpLocks/>
          </p:cNvCxnSpPr>
          <p:nvPr/>
        </p:nvCxnSpPr>
        <p:spPr>
          <a:xfrm flipH="1">
            <a:off x="1631576" y="2572871"/>
            <a:ext cx="2205318" cy="67235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124D6AD-143B-42AF-A8D1-058D518117EF}"/>
              </a:ext>
            </a:extLst>
          </p:cNvPr>
          <p:cNvSpPr/>
          <p:nvPr/>
        </p:nvSpPr>
        <p:spPr>
          <a:xfrm>
            <a:off x="0" y="4559024"/>
            <a:ext cx="4701396" cy="1015663"/>
          </a:xfrm>
          <a:prstGeom prst="rect">
            <a:avLst/>
          </a:prstGeom>
        </p:spPr>
        <p:txBody>
          <a:bodyPr wrap="square">
            <a:spAutoFit/>
          </a:bodyPr>
          <a:lstStyle/>
          <a:p>
            <a:r>
              <a:rPr lang="en-US" sz="2000" i="1">
                <a:solidFill>
                  <a:srgbClr val="3A3A3A"/>
                </a:solidFill>
                <a:latin typeface="Arial" panose="020B0604020202020204" pitchFamily="34" charset="0"/>
              </a:rPr>
              <a:t>Cuối cùng, tạo đối t</a:t>
            </a:r>
            <a:r>
              <a:rPr lang="vi-VN" sz="2000" i="1">
                <a:solidFill>
                  <a:srgbClr val="3A3A3A"/>
                </a:solidFill>
                <a:latin typeface="Arial" panose="020B0604020202020204" pitchFamily="34" charset="0"/>
              </a:rPr>
              <a:t>ư</a:t>
            </a:r>
            <a:r>
              <a:rPr lang="en-US" sz="2000" i="1">
                <a:solidFill>
                  <a:srgbClr val="3A3A3A"/>
                </a:solidFill>
                <a:latin typeface="Arial" panose="020B0604020202020204" pitchFamily="34" charset="0"/>
              </a:rPr>
              <a:t>ợng QApplication và lớp Window của chúng ta và thực hiện vòng lặp Window của chúng ta</a:t>
            </a:r>
            <a:endParaRPr lang="en-US" sz="2000" i="1"/>
          </a:p>
        </p:txBody>
      </p:sp>
      <p:sp>
        <p:nvSpPr>
          <p:cNvPr id="14" name="Rectangle 13">
            <a:extLst>
              <a:ext uri="{FF2B5EF4-FFF2-40B4-BE49-F238E27FC236}">
                <a16:creationId xmlns:a16="http://schemas.microsoft.com/office/drawing/2014/main" id="{47BCE5DD-F1CD-4869-9AFC-E5CE5EBE3F0B}"/>
              </a:ext>
            </a:extLst>
          </p:cNvPr>
          <p:cNvSpPr/>
          <p:nvPr/>
        </p:nvSpPr>
        <p:spPr>
          <a:xfrm>
            <a:off x="92354" y="5568935"/>
            <a:ext cx="3744540" cy="1200329"/>
          </a:xfrm>
          <a:prstGeom prst="rect">
            <a:avLst/>
          </a:prstGeom>
          <a:ln>
            <a:solidFill>
              <a:srgbClr val="7030A0"/>
            </a:solidFill>
          </a:ln>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3074" name="Picture 2" descr="PyQt5 Signal And Slot Example">
            <a:extLst>
              <a:ext uri="{FF2B5EF4-FFF2-40B4-BE49-F238E27FC236}">
                <a16:creationId xmlns:a16="http://schemas.microsoft.com/office/drawing/2014/main" id="{69CB6CCC-4F68-4DB9-A45F-91D3140F21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377" y="3760039"/>
            <a:ext cx="3368509" cy="3065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804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B109F-8C81-4C73-B116-DC21556D843C}"/>
              </a:ext>
            </a:extLst>
          </p:cNvPr>
          <p:cNvSpPr>
            <a:spLocks noGrp="1"/>
          </p:cNvSpPr>
          <p:nvPr>
            <p:ph type="title"/>
          </p:nvPr>
        </p:nvSpPr>
        <p:spPr/>
        <p:txBody>
          <a:bodyPr>
            <a:normAutofit/>
          </a:bodyPr>
          <a:lstStyle/>
          <a:p>
            <a:r>
              <a:rPr lang="en-US"/>
              <a:t>Bố cục QHBox và QVBox</a:t>
            </a:r>
          </a:p>
        </p:txBody>
      </p:sp>
      <p:sp>
        <p:nvSpPr>
          <p:cNvPr id="3" name="Content Placeholder 2">
            <a:extLst>
              <a:ext uri="{FF2B5EF4-FFF2-40B4-BE49-F238E27FC236}">
                <a16:creationId xmlns:a16="http://schemas.microsoft.com/office/drawing/2014/main" id="{BEDAB445-E9C4-4E90-AD5C-DA77D2A32BFE}"/>
              </a:ext>
            </a:extLst>
          </p:cNvPr>
          <p:cNvSpPr>
            <a:spLocks noGrp="1"/>
          </p:cNvSpPr>
          <p:nvPr>
            <p:ph idx="1"/>
          </p:nvPr>
        </p:nvSpPr>
        <p:spPr/>
        <p:txBody>
          <a:bodyPr>
            <a:normAutofit/>
          </a:bodyPr>
          <a:lstStyle/>
          <a:p>
            <a:r>
              <a:rPr lang="vi-VN" sz="2400"/>
              <a:t>Lớp QHBoxLayout sắp xếp các widget theo chiều ngang.</a:t>
            </a:r>
          </a:p>
          <a:p>
            <a:r>
              <a:rPr lang="vi-VN" sz="2400"/>
              <a:t>Lớp QVBoxLayout sắp</a:t>
            </a:r>
            <a:r>
              <a:rPr lang="en-US" sz="2400"/>
              <a:t> </a:t>
            </a:r>
            <a:r>
              <a:rPr lang="vi-VN" sz="2400"/>
              <a:t>xếp các widget theo chiều dọc.</a:t>
            </a:r>
            <a:endParaRPr lang="en-US" sz="2400"/>
          </a:p>
        </p:txBody>
      </p:sp>
      <p:sp>
        <p:nvSpPr>
          <p:cNvPr id="4" name="Rectangle 3">
            <a:extLst>
              <a:ext uri="{FF2B5EF4-FFF2-40B4-BE49-F238E27FC236}">
                <a16:creationId xmlns:a16="http://schemas.microsoft.com/office/drawing/2014/main" id="{01FE2628-3E44-436A-B1ED-3D104EFF1C0E}"/>
              </a:ext>
            </a:extLst>
          </p:cNvPr>
          <p:cNvSpPr/>
          <p:nvPr/>
        </p:nvSpPr>
        <p:spPr>
          <a:xfrm>
            <a:off x="-9624" y="2145919"/>
            <a:ext cx="9144000" cy="3903504"/>
          </a:xfrm>
          <a:prstGeom prst="rect">
            <a:avLst/>
          </a:prstGeom>
        </p:spPr>
        <p:txBody>
          <a:bodyPr wrap="square">
            <a:spAutoFit/>
          </a:bodyPr>
          <a:lstStyle/>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QDialog</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QPushButton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QGroupBox</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QVBoxLayout</a:t>
            </a:r>
            <a:endParaRPr lang="en-US" sz="2800">
              <a:solidFill>
                <a:srgbClr val="000000"/>
              </a:solidFill>
              <a:latin typeface="Monaco"/>
            </a:endParaRPr>
          </a:p>
          <a:p>
            <a:pPr>
              <a:lnSpc>
                <a:spcPct val="150000"/>
              </a:lnSpc>
            </a:pPr>
            <a:r>
              <a:rPr lang="en-US" sz="2800">
                <a:solidFill>
                  <a:srgbClr val="004ED0"/>
                </a:solidFill>
                <a:latin typeface="inherit"/>
              </a:rPr>
              <a:t>import sys</a:t>
            </a:r>
            <a:endParaRPr lang="en-US" sz="2800">
              <a:solidFill>
                <a:srgbClr val="000000"/>
              </a:solidFill>
              <a:latin typeface="Monaco"/>
            </a:endParaRPr>
          </a:p>
          <a:p>
            <a:pPr>
              <a:lnSpc>
                <a:spcPct val="150000"/>
              </a:lnSpc>
            </a:pPr>
            <a:r>
              <a:rPr lang="en-US" sz="2800">
                <a:solidFill>
                  <a:srgbClr val="004ED0"/>
                </a:solidFill>
                <a:latin typeface="inherit"/>
              </a:rPr>
              <a:t>from PyQt5 import QtGui</a:t>
            </a:r>
            <a:endParaRPr lang="en-US" sz="2800">
              <a:solidFill>
                <a:srgbClr val="000000"/>
              </a:solidFill>
              <a:latin typeface="Monaco"/>
            </a:endParaRPr>
          </a:p>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QtCore import QRect</a:t>
            </a:r>
            <a:endParaRPr lang="en-US" sz="2800">
              <a:solidFill>
                <a:srgbClr val="000000"/>
              </a:solidFill>
              <a:latin typeface="Monaco"/>
            </a:endParaRPr>
          </a:p>
          <a:p>
            <a:pPr>
              <a:lnSpc>
                <a:spcPct val="150000"/>
              </a:lnSpc>
            </a:pPr>
            <a:r>
              <a:rPr lang="en-US" sz="2800">
                <a:solidFill>
                  <a:srgbClr val="004ED0"/>
                </a:solidFill>
                <a:latin typeface="inherit"/>
              </a:rPr>
              <a:t>from PyQt5 import </a:t>
            </a:r>
            <a:r>
              <a:rPr lang="en-US" sz="2800">
                <a:solidFill>
                  <a:srgbClr val="002D7A"/>
                </a:solidFill>
                <a:latin typeface="inherit"/>
              </a:rPr>
              <a:t>QtCore</a:t>
            </a:r>
            <a:endParaRPr lang="en-US" sz="2800" b="0" i="0">
              <a:solidFill>
                <a:srgbClr val="000000"/>
              </a:solidFill>
              <a:effectLst/>
              <a:latin typeface="Monaco"/>
            </a:endParaRPr>
          </a:p>
        </p:txBody>
      </p:sp>
    </p:spTree>
    <p:extLst>
      <p:ext uri="{BB962C8B-B14F-4D97-AF65-F5344CB8AC3E}">
        <p14:creationId xmlns:p14="http://schemas.microsoft.com/office/powerpoint/2010/main" val="3846095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065375-FEBD-418E-9A1A-6DAB9384AB6D}"/>
              </a:ext>
            </a:extLst>
          </p:cNvPr>
          <p:cNvSpPr>
            <a:spLocks noGrp="1"/>
          </p:cNvSpPr>
          <p:nvPr>
            <p:ph idx="1"/>
          </p:nvPr>
        </p:nvSpPr>
        <p:spPr>
          <a:xfrm>
            <a:off x="9624" y="952902"/>
            <a:ext cx="9134375" cy="1148454"/>
          </a:xfrm>
        </p:spPr>
        <p:txBody>
          <a:bodyPr>
            <a:normAutofit/>
          </a:bodyPr>
          <a:lstStyle/>
          <a:p>
            <a:pPr marL="0" indent="0">
              <a:buNone/>
            </a:pPr>
            <a:r>
              <a:rPr lang="vi-VN" sz="2400"/>
              <a:t>Sau </a:t>
            </a:r>
            <a:r>
              <a:rPr lang="en-US" sz="2400"/>
              <a:t>đó </a:t>
            </a:r>
            <a:r>
              <a:rPr lang="vi-VN" sz="2400"/>
              <a:t>chúng ta sẽ tạo lớp Window chính kế thừa từ Q</a:t>
            </a:r>
            <a:r>
              <a:rPr lang="en-US" sz="2400"/>
              <a:t>D</a:t>
            </a:r>
            <a:r>
              <a:rPr lang="vi-VN" sz="2400"/>
              <a:t>ialog và chúng ta viết những thứ cơ bản như tiêu đề, chiều rộng, chiều cao và biểu tượng trong hàm tạo của lớp Window</a:t>
            </a:r>
            <a:endParaRPr lang="en-US" sz="2400"/>
          </a:p>
        </p:txBody>
      </p:sp>
      <p:sp>
        <p:nvSpPr>
          <p:cNvPr id="4" name="Title 1">
            <a:extLst>
              <a:ext uri="{FF2B5EF4-FFF2-40B4-BE49-F238E27FC236}">
                <a16:creationId xmlns:a16="http://schemas.microsoft.com/office/drawing/2014/main" id="{D6CC2DEB-5CBC-431A-A65C-968F711A6CE2}"/>
              </a:ext>
            </a:extLst>
          </p:cNvPr>
          <p:cNvSpPr>
            <a:spLocks noGrp="1"/>
          </p:cNvSpPr>
          <p:nvPr>
            <p:ph type="title"/>
          </p:nvPr>
        </p:nvSpPr>
        <p:spPr>
          <a:xfrm>
            <a:off x="9525" y="19050"/>
            <a:ext cx="9134475" cy="933450"/>
          </a:xfrm>
        </p:spPr>
        <p:txBody>
          <a:bodyPr>
            <a:normAutofit/>
          </a:bodyPr>
          <a:lstStyle/>
          <a:p>
            <a:r>
              <a:rPr lang="en-US"/>
              <a:t>Bố cục QHBox và QVBox (t.t)</a:t>
            </a:r>
          </a:p>
        </p:txBody>
      </p:sp>
      <p:sp>
        <p:nvSpPr>
          <p:cNvPr id="5" name="Rectangle 4">
            <a:extLst>
              <a:ext uri="{FF2B5EF4-FFF2-40B4-BE49-F238E27FC236}">
                <a16:creationId xmlns:a16="http://schemas.microsoft.com/office/drawing/2014/main" id="{1E158609-468A-4441-8D57-9896C876BAAE}"/>
              </a:ext>
            </a:extLst>
          </p:cNvPr>
          <p:cNvSpPr/>
          <p:nvPr/>
        </p:nvSpPr>
        <p:spPr>
          <a:xfrm>
            <a:off x="9525" y="2101356"/>
            <a:ext cx="4572000" cy="3785652"/>
          </a:xfrm>
          <a:prstGeom prst="rect">
            <a:avLst/>
          </a:prstGeom>
        </p:spPr>
        <p:txBody>
          <a:bodyPr>
            <a:spAutoFit/>
          </a:bodyPr>
          <a:lstStyle/>
          <a:p>
            <a:r>
              <a:rPr lang="en-US" sz="2400">
                <a:solidFill>
                  <a:srgbClr val="800080"/>
                </a:solidFill>
                <a:latin typeface="inherit"/>
              </a:rPr>
              <a:t>class</a:t>
            </a:r>
            <a:r>
              <a:rPr lang="en-US" sz="2400">
                <a:solidFill>
                  <a:srgbClr val="006FE0"/>
                </a:solidFill>
                <a:latin typeface="inherit"/>
              </a:rPr>
              <a:t> </a:t>
            </a:r>
            <a:r>
              <a:rPr lang="en-US" sz="2400">
                <a:solidFill>
                  <a:srgbClr val="004ED0"/>
                </a:solidFill>
                <a:latin typeface="inherit"/>
              </a:rPr>
              <a:t>Window</a:t>
            </a:r>
            <a:r>
              <a:rPr lang="en-US" sz="2400">
                <a:solidFill>
                  <a:srgbClr val="333333"/>
                </a:solidFill>
                <a:latin typeface="inherit"/>
              </a:rPr>
              <a:t>(</a:t>
            </a:r>
            <a:r>
              <a:rPr lang="en-US" sz="2400">
                <a:solidFill>
                  <a:srgbClr val="002D7A"/>
                </a:solidFill>
                <a:latin typeface="inherit"/>
              </a:rPr>
              <a:t>QDialog</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4ED0"/>
                </a:solidFill>
                <a:latin typeface="inherit"/>
              </a:rPr>
              <a:t>def __init__</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super</a:t>
            </a:r>
            <a:r>
              <a:rPr lang="en-US" sz="2400">
                <a:solidFill>
                  <a:srgbClr val="333333"/>
                </a:solidFill>
                <a:latin typeface="inherit"/>
              </a:rPr>
              <a:t>().</a:t>
            </a:r>
            <a:r>
              <a:rPr lang="en-US" sz="2400">
                <a:solidFill>
                  <a:srgbClr val="004ED0"/>
                </a:solidFill>
                <a:latin typeface="inherit"/>
              </a:rPr>
              <a:t>__init__</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006FE0"/>
                </a:solidFill>
                <a:latin typeface="inherit"/>
              </a:rPr>
              <a:t> = </a:t>
            </a:r>
            <a:r>
              <a:rPr lang="en-US" sz="2400">
                <a:solidFill>
                  <a:srgbClr val="008000"/>
                </a:solidFill>
                <a:latin typeface="inherit"/>
              </a:rPr>
              <a:t>"HBox Layout"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006FE0"/>
                </a:solidFill>
                <a:latin typeface="inherit"/>
              </a:rPr>
              <a:t> = </a:t>
            </a:r>
            <a:r>
              <a:rPr lang="en-US" sz="2400">
                <a:solidFill>
                  <a:srgbClr val="CE0000"/>
                </a:solidFill>
                <a:latin typeface="inherit"/>
              </a:rPr>
              <a:t>200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006FE0"/>
                </a:solidFill>
                <a:latin typeface="inherit"/>
              </a:rPr>
              <a:t> = </a:t>
            </a:r>
            <a:r>
              <a:rPr lang="en-US" sz="2400">
                <a:solidFill>
                  <a:srgbClr val="CE0000"/>
                </a:solidFill>
                <a:latin typeface="inherit"/>
              </a:rPr>
              <a:t>400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006FE0"/>
                </a:solidFill>
                <a:latin typeface="inherit"/>
              </a:rPr>
              <a:t> = </a:t>
            </a:r>
            <a:r>
              <a:rPr lang="en-US" sz="2400">
                <a:solidFill>
                  <a:srgbClr val="CE0000"/>
                </a:solidFill>
                <a:latin typeface="inherit"/>
              </a:rPr>
              <a:t>400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006FE0"/>
                </a:solidFill>
                <a:latin typeface="inherit"/>
              </a:rPr>
              <a:t> = </a:t>
            </a:r>
            <a:r>
              <a:rPr lang="en-US" sz="2400">
                <a:solidFill>
                  <a:srgbClr val="CE0000"/>
                </a:solidFill>
                <a:latin typeface="inherit"/>
              </a:rPr>
              <a:t>100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iconName</a:t>
            </a:r>
            <a:r>
              <a:rPr lang="en-US" sz="2400">
                <a:solidFill>
                  <a:srgbClr val="006FE0"/>
                </a:solidFill>
                <a:latin typeface="inherit"/>
              </a:rPr>
              <a:t> = </a:t>
            </a:r>
            <a:r>
              <a:rPr lang="en-US" sz="2400">
                <a:solidFill>
                  <a:srgbClr val="008000"/>
                </a:solidFill>
                <a:latin typeface="inherit"/>
              </a:rPr>
              <a:t>"icon.png"</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InitWindow</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325583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50401E-5C13-4D17-A68B-B2C3D11362A7}"/>
              </a:ext>
            </a:extLst>
          </p:cNvPr>
          <p:cNvSpPr/>
          <p:nvPr/>
        </p:nvSpPr>
        <p:spPr>
          <a:xfrm>
            <a:off x="5460521" y="3321300"/>
            <a:ext cx="3673955" cy="1631216"/>
          </a:xfrm>
          <a:prstGeom prst="rect">
            <a:avLst/>
          </a:prstGeom>
          <a:solidFill>
            <a:schemeClr val="accent5">
              <a:lumMod val="20000"/>
              <a:lumOff val="80000"/>
            </a:schemeClr>
          </a:solidFill>
        </p:spPr>
        <p:txBody>
          <a:bodyPr wrap="square">
            <a:spAutoFit/>
          </a:bodyPr>
          <a:lstStyle/>
          <a:p>
            <a:r>
              <a:rPr lang="vi-VN" sz="2000" i="1">
                <a:solidFill>
                  <a:srgbClr val="3A3A3A"/>
                </a:solidFill>
              </a:rPr>
              <a:t>Sau đó, chúng tôi tạo phương thức initWindow () để đặt tiêu đề, biểu tượng và </a:t>
            </a:r>
            <a:r>
              <a:rPr lang="en-US" sz="2000" i="1">
                <a:solidFill>
                  <a:srgbClr val="3A3A3A"/>
                </a:solidFill>
              </a:rPr>
              <a:t>vị trí </a:t>
            </a:r>
            <a:r>
              <a:rPr lang="vi-VN" sz="2000" i="1">
                <a:solidFill>
                  <a:srgbClr val="3A3A3A"/>
                </a:solidFill>
              </a:rPr>
              <a:t>cửa sổ và cũng trong phương thức này, chúng t</a:t>
            </a:r>
            <a:r>
              <a:rPr lang="en-US" sz="2000" i="1">
                <a:solidFill>
                  <a:srgbClr val="3A3A3A"/>
                </a:solidFill>
              </a:rPr>
              <a:t>a</a:t>
            </a:r>
            <a:r>
              <a:rPr lang="vi-VN" sz="2000" i="1">
                <a:solidFill>
                  <a:srgbClr val="3A3A3A"/>
                </a:solidFill>
              </a:rPr>
              <a:t> tạo Bố cục VBox</a:t>
            </a:r>
            <a:endParaRPr lang="en-US" sz="2000" i="1"/>
          </a:p>
        </p:txBody>
      </p:sp>
      <p:sp>
        <p:nvSpPr>
          <p:cNvPr id="5" name="Title 1">
            <a:extLst>
              <a:ext uri="{FF2B5EF4-FFF2-40B4-BE49-F238E27FC236}">
                <a16:creationId xmlns:a16="http://schemas.microsoft.com/office/drawing/2014/main" id="{BCA7BDEA-3DF3-4816-B7EE-7904CC64DA4F}"/>
              </a:ext>
            </a:extLst>
          </p:cNvPr>
          <p:cNvSpPr>
            <a:spLocks noGrp="1"/>
          </p:cNvSpPr>
          <p:nvPr>
            <p:ph type="title"/>
          </p:nvPr>
        </p:nvSpPr>
        <p:spPr>
          <a:xfrm>
            <a:off x="9525" y="19050"/>
            <a:ext cx="9134475" cy="843592"/>
          </a:xfrm>
        </p:spPr>
        <p:txBody>
          <a:bodyPr>
            <a:normAutofit/>
          </a:bodyPr>
          <a:lstStyle/>
          <a:p>
            <a:r>
              <a:rPr lang="en-US"/>
              <a:t>Bố cục QHBox và QVBox (t.t)</a:t>
            </a:r>
          </a:p>
        </p:txBody>
      </p:sp>
      <p:sp>
        <p:nvSpPr>
          <p:cNvPr id="6" name="Rectangle 5">
            <a:extLst>
              <a:ext uri="{FF2B5EF4-FFF2-40B4-BE49-F238E27FC236}">
                <a16:creationId xmlns:a16="http://schemas.microsoft.com/office/drawing/2014/main" id="{270CACB8-B995-4C1E-97BA-6000D24B4D50}"/>
              </a:ext>
            </a:extLst>
          </p:cNvPr>
          <p:cNvSpPr/>
          <p:nvPr/>
        </p:nvSpPr>
        <p:spPr>
          <a:xfrm>
            <a:off x="9524" y="862642"/>
            <a:ext cx="7797382" cy="5021055"/>
          </a:xfrm>
          <a:prstGeom prst="rect">
            <a:avLst/>
          </a:prstGeom>
        </p:spPr>
        <p:txBody>
          <a:bodyPr wrap="square">
            <a:spAutoFit/>
          </a:bodyPr>
          <a:lstStyle/>
          <a:p>
            <a:pPr>
              <a:lnSpc>
                <a:spcPct val="150000"/>
              </a:lnSpc>
            </a:pPr>
            <a:r>
              <a:rPr lang="en-US" sz="2400">
                <a:solidFill>
                  <a:srgbClr val="004ED0"/>
                </a:solidFill>
                <a:latin typeface="inherit"/>
              </a:rPr>
              <a:t>def InitWindow</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setWindowIcon</a:t>
            </a:r>
            <a:r>
              <a:rPr lang="en-US" sz="2400">
                <a:solidFill>
                  <a:srgbClr val="333333"/>
                </a:solidFill>
                <a:latin typeface="inherit"/>
              </a:rPr>
              <a:t>(</a:t>
            </a:r>
            <a:r>
              <a:rPr lang="en-US" sz="2400">
                <a:solidFill>
                  <a:srgbClr val="002D7A"/>
                </a:solidFill>
                <a:latin typeface="inherit"/>
              </a:rPr>
              <a:t>QtGui</a:t>
            </a:r>
            <a:r>
              <a:rPr lang="en-US" sz="2400">
                <a:solidFill>
                  <a:srgbClr val="333333"/>
                </a:solidFill>
                <a:latin typeface="inherit"/>
              </a:rPr>
              <a:t>.</a:t>
            </a:r>
            <a:r>
              <a:rPr lang="en-US" sz="2400">
                <a:solidFill>
                  <a:srgbClr val="004ED0"/>
                </a:solidFill>
                <a:latin typeface="inherit"/>
              </a:rPr>
              <a:t>QIcon</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iconName</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setWindowTitle</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setGeometry</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CreateLayout</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002D7A"/>
                </a:solidFill>
                <a:highlight>
                  <a:srgbClr val="FFFF00"/>
                </a:highlight>
                <a:latin typeface="inherit"/>
              </a:rPr>
              <a:t>vbox</a:t>
            </a:r>
            <a:r>
              <a:rPr lang="en-US" sz="2400">
                <a:solidFill>
                  <a:srgbClr val="006FE0"/>
                </a:solidFill>
                <a:highlight>
                  <a:srgbClr val="FFFF00"/>
                </a:highlight>
                <a:latin typeface="inherit"/>
              </a:rPr>
              <a:t> = </a:t>
            </a:r>
            <a:r>
              <a:rPr lang="en-US" sz="2400">
                <a:solidFill>
                  <a:srgbClr val="004ED0"/>
                </a:solidFill>
                <a:highlight>
                  <a:srgbClr val="FFFF00"/>
                </a:highlight>
                <a:latin typeface="inherit"/>
              </a:rPr>
              <a:t>QVBoxLayout</a:t>
            </a:r>
            <a:r>
              <a:rPr lang="en-US" sz="2400">
                <a:solidFill>
                  <a:srgbClr val="333333"/>
                </a:solidFill>
                <a:highlight>
                  <a:srgbClr val="FFFF00"/>
                </a:highlight>
                <a:latin typeface="inherit"/>
              </a:rPr>
              <a:t>()</a:t>
            </a:r>
            <a:endParaRPr lang="en-US" sz="2400">
              <a:solidFill>
                <a:srgbClr val="000000"/>
              </a:solidFill>
              <a:highlight>
                <a:srgbClr val="FFFF00"/>
              </a:highlight>
              <a:latin typeface="Monaco"/>
            </a:endParaRPr>
          </a:p>
          <a:p>
            <a:pPr>
              <a:lnSpc>
                <a:spcPct val="150000"/>
              </a:lnSpc>
            </a:pPr>
            <a:r>
              <a:rPr lang="en-US" sz="2400">
                <a:solidFill>
                  <a:srgbClr val="006FE0"/>
                </a:solidFill>
                <a:highlight>
                  <a:srgbClr val="FFFF00"/>
                </a:highlight>
                <a:latin typeface="inherit"/>
              </a:rPr>
              <a:t>        </a:t>
            </a:r>
            <a:r>
              <a:rPr lang="en-US" sz="2400">
                <a:solidFill>
                  <a:srgbClr val="002D7A"/>
                </a:solidFill>
                <a:highlight>
                  <a:srgbClr val="FFFF00"/>
                </a:highlight>
                <a:latin typeface="inherit"/>
              </a:rPr>
              <a:t>vbox</a:t>
            </a:r>
            <a:r>
              <a:rPr lang="en-US" sz="2400">
                <a:solidFill>
                  <a:srgbClr val="333333"/>
                </a:solidFill>
                <a:highlight>
                  <a:srgbClr val="FFFF00"/>
                </a:highlight>
                <a:latin typeface="inherit"/>
              </a:rPr>
              <a:t>.</a:t>
            </a:r>
            <a:r>
              <a:rPr lang="en-US" sz="2400">
                <a:solidFill>
                  <a:srgbClr val="004ED0"/>
                </a:solidFill>
                <a:highlight>
                  <a:srgbClr val="FFFF00"/>
                </a:highlight>
                <a:latin typeface="inherit"/>
              </a:rPr>
              <a:t>addWidget</a:t>
            </a:r>
            <a:r>
              <a:rPr lang="en-US" sz="2400">
                <a:solidFill>
                  <a:srgbClr val="333333"/>
                </a:solidFill>
                <a:highlight>
                  <a:srgbClr val="FFFF00"/>
                </a:highlight>
                <a:latin typeface="inherit"/>
              </a:rPr>
              <a:t>(</a:t>
            </a:r>
            <a:r>
              <a:rPr lang="en-US" sz="2400">
                <a:solidFill>
                  <a:srgbClr val="800080"/>
                </a:solidFill>
                <a:highlight>
                  <a:srgbClr val="FFFF00"/>
                </a:highlight>
                <a:latin typeface="inherit"/>
              </a:rPr>
              <a:t>self</a:t>
            </a:r>
            <a:r>
              <a:rPr lang="en-US" sz="2400">
                <a:solidFill>
                  <a:srgbClr val="333333"/>
                </a:solidFill>
                <a:highlight>
                  <a:srgbClr val="FFFF00"/>
                </a:highlight>
                <a:latin typeface="inherit"/>
              </a:rPr>
              <a:t>.</a:t>
            </a:r>
            <a:r>
              <a:rPr lang="en-US" sz="2400">
                <a:solidFill>
                  <a:srgbClr val="002D7A"/>
                </a:solidFill>
                <a:highlight>
                  <a:srgbClr val="FFFF00"/>
                </a:highlight>
                <a:latin typeface="inherit"/>
              </a:rPr>
              <a:t>groupBox</a:t>
            </a:r>
            <a:r>
              <a:rPr lang="en-US" sz="2400">
                <a:solidFill>
                  <a:srgbClr val="333333"/>
                </a:solidFill>
                <a:highlight>
                  <a:srgbClr val="FFFF00"/>
                </a:highlight>
                <a:latin typeface="inherit"/>
              </a:rPr>
              <a:t>)</a:t>
            </a:r>
            <a:endParaRPr lang="en-US" sz="2400">
              <a:solidFill>
                <a:srgbClr val="000000"/>
              </a:solidFill>
              <a:highlight>
                <a:srgbClr val="FFFF00"/>
              </a:highlight>
              <a:latin typeface="Monaco"/>
            </a:endParaRPr>
          </a:p>
          <a:p>
            <a:pPr>
              <a:lnSpc>
                <a:spcPct val="150000"/>
              </a:lnSpc>
            </a:pPr>
            <a:r>
              <a:rPr lang="en-US" sz="2400">
                <a:solidFill>
                  <a:srgbClr val="006FE0"/>
                </a:solidFill>
                <a:highlight>
                  <a:srgbClr val="FFFF00"/>
                </a:highlight>
                <a:latin typeface="inherit"/>
              </a:rPr>
              <a:t>        </a:t>
            </a:r>
            <a:r>
              <a:rPr lang="en-US" sz="2400">
                <a:solidFill>
                  <a:srgbClr val="800080"/>
                </a:solidFill>
                <a:highlight>
                  <a:srgbClr val="FFFF00"/>
                </a:highlight>
                <a:latin typeface="inherit"/>
              </a:rPr>
              <a:t>self</a:t>
            </a:r>
            <a:r>
              <a:rPr lang="en-US" sz="2400">
                <a:solidFill>
                  <a:srgbClr val="333333"/>
                </a:solidFill>
                <a:highlight>
                  <a:srgbClr val="FFFF00"/>
                </a:highlight>
                <a:latin typeface="inherit"/>
              </a:rPr>
              <a:t>.</a:t>
            </a:r>
            <a:r>
              <a:rPr lang="en-US" sz="2400">
                <a:solidFill>
                  <a:srgbClr val="004ED0"/>
                </a:solidFill>
                <a:highlight>
                  <a:srgbClr val="FFFF00"/>
                </a:highlight>
                <a:latin typeface="inherit"/>
              </a:rPr>
              <a:t>setLayout</a:t>
            </a:r>
            <a:r>
              <a:rPr lang="en-US" sz="2400">
                <a:solidFill>
                  <a:srgbClr val="333333"/>
                </a:solidFill>
                <a:highlight>
                  <a:srgbClr val="FFFF00"/>
                </a:highlight>
                <a:latin typeface="inherit"/>
              </a:rPr>
              <a:t>(</a:t>
            </a:r>
            <a:r>
              <a:rPr lang="en-US" sz="2400">
                <a:solidFill>
                  <a:srgbClr val="002D7A"/>
                </a:solidFill>
                <a:highlight>
                  <a:srgbClr val="FFFF00"/>
                </a:highlight>
                <a:latin typeface="inherit"/>
              </a:rPr>
              <a:t>vbox</a:t>
            </a:r>
            <a:r>
              <a:rPr lang="en-US" sz="2400">
                <a:solidFill>
                  <a:srgbClr val="333333"/>
                </a:solidFill>
                <a:highlight>
                  <a:srgbClr val="FFFF00"/>
                </a:highlight>
                <a:latin typeface="inherit"/>
              </a:rPr>
              <a:t>)</a:t>
            </a:r>
            <a:endParaRPr lang="en-US" sz="2400">
              <a:solidFill>
                <a:srgbClr val="000000"/>
              </a:solidFill>
              <a:highlight>
                <a:srgbClr val="FFFF00"/>
              </a:highlight>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360639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C7549A-0066-4738-9B22-51A99415DFBA}"/>
              </a:ext>
            </a:extLst>
          </p:cNvPr>
          <p:cNvSpPr>
            <a:spLocks noGrp="1"/>
          </p:cNvSpPr>
          <p:nvPr>
            <p:ph idx="1"/>
          </p:nvPr>
        </p:nvSpPr>
        <p:spPr>
          <a:xfrm>
            <a:off x="5865964" y="1560432"/>
            <a:ext cx="3268511" cy="2295577"/>
          </a:xfrm>
          <a:solidFill>
            <a:schemeClr val="accent4">
              <a:lumMod val="20000"/>
              <a:lumOff val="80000"/>
            </a:schemeClr>
          </a:solidFill>
        </p:spPr>
        <p:txBody>
          <a:bodyPr>
            <a:normAutofit fontScale="92500"/>
          </a:bodyPr>
          <a:lstStyle/>
          <a:p>
            <a:pPr marL="0" indent="0">
              <a:buNone/>
            </a:pPr>
            <a:r>
              <a:rPr lang="vi-VN" sz="2400" i="1"/>
              <a:t>Sau </a:t>
            </a:r>
            <a:r>
              <a:rPr lang="en-US" sz="2400" i="1"/>
              <a:t>đó </a:t>
            </a:r>
            <a:r>
              <a:rPr lang="vi-VN" sz="2400" i="1"/>
              <a:t>chúng tôi tạo phương thức CreatLayout và ở đó chúng tôi tạo một Q</a:t>
            </a:r>
            <a:r>
              <a:rPr lang="en-US" sz="2400" i="1"/>
              <a:t>G</a:t>
            </a:r>
            <a:r>
              <a:rPr lang="vi-VN" sz="2400" i="1"/>
              <a:t>roupBox với Bố cục HBox và ở đó chúng tôi tạo ba QPushButton</a:t>
            </a:r>
            <a:endParaRPr lang="en-US" sz="2400" i="1"/>
          </a:p>
        </p:txBody>
      </p:sp>
      <p:sp>
        <p:nvSpPr>
          <p:cNvPr id="4" name="Title 1">
            <a:extLst>
              <a:ext uri="{FF2B5EF4-FFF2-40B4-BE49-F238E27FC236}">
                <a16:creationId xmlns:a16="http://schemas.microsoft.com/office/drawing/2014/main" id="{F7A60E8C-F3F8-4509-B691-4F53668C79FA}"/>
              </a:ext>
            </a:extLst>
          </p:cNvPr>
          <p:cNvSpPr>
            <a:spLocks noGrp="1"/>
          </p:cNvSpPr>
          <p:nvPr>
            <p:ph type="title"/>
          </p:nvPr>
        </p:nvSpPr>
        <p:spPr>
          <a:xfrm>
            <a:off x="9525" y="0"/>
            <a:ext cx="9134475" cy="843592"/>
          </a:xfrm>
        </p:spPr>
        <p:txBody>
          <a:bodyPr>
            <a:normAutofit/>
          </a:bodyPr>
          <a:lstStyle/>
          <a:p>
            <a:r>
              <a:rPr lang="en-US"/>
              <a:t>Bố cục QHBox và QVBox (t.t)</a:t>
            </a:r>
          </a:p>
        </p:txBody>
      </p:sp>
      <p:sp>
        <p:nvSpPr>
          <p:cNvPr id="5" name="Rectangle 4">
            <a:extLst>
              <a:ext uri="{FF2B5EF4-FFF2-40B4-BE49-F238E27FC236}">
                <a16:creationId xmlns:a16="http://schemas.microsoft.com/office/drawing/2014/main" id="{B4DE7AB3-AB59-4DAC-9C89-E0406BF7BD4C}"/>
              </a:ext>
            </a:extLst>
          </p:cNvPr>
          <p:cNvSpPr/>
          <p:nvPr/>
        </p:nvSpPr>
        <p:spPr>
          <a:xfrm>
            <a:off x="9525" y="716840"/>
            <a:ext cx="9124950" cy="5940088"/>
          </a:xfrm>
          <a:prstGeom prst="rect">
            <a:avLst/>
          </a:prstGeom>
        </p:spPr>
        <p:txBody>
          <a:bodyPr wrap="square">
            <a:spAutoFit/>
          </a:bodyPr>
          <a:lstStyle/>
          <a:p>
            <a:r>
              <a:rPr lang="en-US" sz="2000">
                <a:solidFill>
                  <a:srgbClr val="004ED0"/>
                </a:solidFill>
                <a:latin typeface="inherit"/>
              </a:rPr>
              <a:t>def CreateLayout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groupBox</a:t>
            </a:r>
            <a:r>
              <a:rPr lang="en-US" sz="2000">
                <a:solidFill>
                  <a:srgbClr val="006FE0"/>
                </a:solidFill>
                <a:latin typeface="inherit"/>
              </a:rPr>
              <a:t> = </a:t>
            </a:r>
            <a:r>
              <a:rPr lang="en-US" sz="2000">
                <a:solidFill>
                  <a:srgbClr val="004ED0"/>
                </a:solidFill>
                <a:latin typeface="inherit"/>
              </a:rPr>
              <a:t>QGroupBox</a:t>
            </a:r>
            <a:r>
              <a:rPr lang="en-US" sz="2000">
                <a:solidFill>
                  <a:srgbClr val="333333"/>
                </a:solidFill>
                <a:latin typeface="inherit"/>
              </a:rPr>
              <a:t>(</a:t>
            </a:r>
            <a:r>
              <a:rPr lang="en-US" sz="2000">
                <a:solidFill>
                  <a:srgbClr val="008000"/>
                </a:solidFill>
                <a:latin typeface="inherit"/>
              </a:rPr>
              <a:t>"What Is Your Favorite Programming Language ?"</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hboxLayout</a:t>
            </a:r>
            <a:r>
              <a:rPr lang="en-US" sz="2000">
                <a:solidFill>
                  <a:srgbClr val="006FE0"/>
                </a:solidFill>
                <a:latin typeface="inherit"/>
              </a:rPr>
              <a:t> = </a:t>
            </a:r>
            <a:r>
              <a:rPr lang="en-US" sz="2000">
                <a:solidFill>
                  <a:srgbClr val="004ED0"/>
                </a:solidFill>
                <a:latin typeface="inherit"/>
              </a:rPr>
              <a:t>QHBoxLayout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"Football"</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"football.png"</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setIconSize</a:t>
            </a:r>
            <a:r>
              <a:rPr lang="en-US" sz="2000">
                <a:solidFill>
                  <a:srgbClr val="333333"/>
                </a:solidFill>
                <a:latin typeface="inherit"/>
              </a:rPr>
              <a:t>(</a:t>
            </a:r>
            <a:r>
              <a:rPr lang="en-US" sz="2000">
                <a:solidFill>
                  <a:srgbClr val="002D7A"/>
                </a:solidFill>
                <a:latin typeface="inherit"/>
              </a:rPr>
              <a:t>QtCore</a:t>
            </a:r>
            <a:r>
              <a:rPr lang="en-US" sz="2000">
                <a:solidFill>
                  <a:srgbClr val="333333"/>
                </a:solidFill>
                <a:latin typeface="inherit"/>
              </a:rPr>
              <a:t>.</a:t>
            </a:r>
            <a:r>
              <a:rPr lang="en-US" sz="2000">
                <a:solidFill>
                  <a:srgbClr val="004ED0"/>
                </a:solidFill>
                <a:latin typeface="inherit"/>
              </a:rPr>
              <a:t>QSize</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a:t>
            </a:r>
            <a:r>
              <a:rPr lang="en-US" sz="2000">
                <a:solidFill>
                  <a:srgbClr val="333333"/>
                </a:solidFill>
                <a:latin typeface="inherit"/>
              </a:rPr>
              <a:t>.</a:t>
            </a:r>
            <a:r>
              <a:rPr lang="en-US" sz="2000">
                <a:solidFill>
                  <a:srgbClr val="004ED0"/>
                </a:solidFill>
                <a:latin typeface="inherit"/>
              </a:rPr>
              <a:t>setMinimumHeight</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hboxLayout</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button2</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"Cricket"</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button2</a:t>
            </a:r>
            <a:r>
              <a:rPr lang="en-US" sz="2000">
                <a:solidFill>
                  <a:srgbClr val="333333"/>
                </a:solidFill>
                <a:latin typeface="inherit"/>
              </a:rPr>
              <a:t>.</a:t>
            </a:r>
            <a:r>
              <a:rPr lang="en-US" sz="2000">
                <a:solidFill>
                  <a:srgbClr val="004ED0"/>
                </a:solidFill>
                <a:latin typeface="inherit"/>
              </a:rPr>
              <a:t>setIcon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"cricket.png"</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button2</a:t>
            </a:r>
            <a:r>
              <a:rPr lang="en-US" sz="2000">
                <a:solidFill>
                  <a:srgbClr val="333333"/>
                </a:solidFill>
                <a:latin typeface="inherit"/>
              </a:rPr>
              <a:t>.</a:t>
            </a:r>
            <a:r>
              <a:rPr lang="en-US" sz="2000">
                <a:solidFill>
                  <a:srgbClr val="004ED0"/>
                </a:solidFill>
                <a:latin typeface="inherit"/>
              </a:rPr>
              <a:t>setIconSize</a:t>
            </a:r>
            <a:r>
              <a:rPr lang="en-US" sz="2000">
                <a:solidFill>
                  <a:srgbClr val="333333"/>
                </a:solidFill>
                <a:latin typeface="inherit"/>
              </a:rPr>
              <a:t>(</a:t>
            </a:r>
            <a:r>
              <a:rPr lang="en-US" sz="2000">
                <a:solidFill>
                  <a:srgbClr val="002D7A"/>
                </a:solidFill>
                <a:latin typeface="inherit"/>
              </a:rPr>
              <a:t>QtCore</a:t>
            </a:r>
            <a:r>
              <a:rPr lang="en-US" sz="2000">
                <a:solidFill>
                  <a:srgbClr val="333333"/>
                </a:solidFill>
                <a:latin typeface="inherit"/>
              </a:rPr>
              <a:t>.</a:t>
            </a:r>
            <a:r>
              <a:rPr lang="en-US" sz="2000">
                <a:solidFill>
                  <a:srgbClr val="004ED0"/>
                </a:solidFill>
                <a:latin typeface="inherit"/>
              </a:rPr>
              <a:t>QSize</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button2</a:t>
            </a:r>
            <a:r>
              <a:rPr lang="en-US" sz="2000">
                <a:solidFill>
                  <a:srgbClr val="333333"/>
                </a:solidFill>
                <a:latin typeface="inherit"/>
              </a:rPr>
              <a:t>.</a:t>
            </a:r>
            <a:r>
              <a:rPr lang="en-US" sz="2000">
                <a:solidFill>
                  <a:srgbClr val="004ED0"/>
                </a:solidFill>
                <a:latin typeface="inherit"/>
              </a:rPr>
              <a:t>setMinimumHeight</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hboxLayout</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button2</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button3</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"Tennis"</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button3</a:t>
            </a:r>
            <a:r>
              <a:rPr lang="en-US" sz="2000">
                <a:solidFill>
                  <a:srgbClr val="333333"/>
                </a:solidFill>
                <a:latin typeface="inherit"/>
              </a:rPr>
              <a:t>.</a:t>
            </a:r>
            <a:r>
              <a:rPr lang="en-US" sz="2000">
                <a:solidFill>
                  <a:srgbClr val="004ED0"/>
                </a:solidFill>
                <a:latin typeface="inherit"/>
              </a:rPr>
              <a:t>setIcon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"tennis.png"</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button3</a:t>
            </a:r>
            <a:r>
              <a:rPr lang="en-US" sz="2000">
                <a:solidFill>
                  <a:srgbClr val="333333"/>
                </a:solidFill>
                <a:latin typeface="inherit"/>
              </a:rPr>
              <a:t>.</a:t>
            </a:r>
            <a:r>
              <a:rPr lang="en-US" sz="2000">
                <a:solidFill>
                  <a:srgbClr val="004ED0"/>
                </a:solidFill>
                <a:latin typeface="inherit"/>
              </a:rPr>
              <a:t>setIconSize</a:t>
            </a:r>
            <a:r>
              <a:rPr lang="en-US" sz="2000">
                <a:solidFill>
                  <a:srgbClr val="333333"/>
                </a:solidFill>
                <a:latin typeface="inherit"/>
              </a:rPr>
              <a:t>(</a:t>
            </a:r>
            <a:r>
              <a:rPr lang="en-US" sz="2000">
                <a:solidFill>
                  <a:srgbClr val="002D7A"/>
                </a:solidFill>
                <a:latin typeface="inherit"/>
              </a:rPr>
              <a:t>QtCore</a:t>
            </a:r>
            <a:r>
              <a:rPr lang="en-US" sz="2000">
                <a:solidFill>
                  <a:srgbClr val="333333"/>
                </a:solidFill>
                <a:latin typeface="inherit"/>
              </a:rPr>
              <a:t>.</a:t>
            </a:r>
            <a:r>
              <a:rPr lang="en-US" sz="2000">
                <a:solidFill>
                  <a:srgbClr val="004ED0"/>
                </a:solidFill>
                <a:latin typeface="inherit"/>
              </a:rPr>
              <a:t>QSize</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button3</a:t>
            </a:r>
            <a:r>
              <a:rPr lang="en-US" sz="2000">
                <a:solidFill>
                  <a:srgbClr val="333333"/>
                </a:solidFill>
                <a:latin typeface="inherit"/>
              </a:rPr>
              <a:t>.</a:t>
            </a:r>
            <a:r>
              <a:rPr lang="en-US" sz="2000">
                <a:solidFill>
                  <a:srgbClr val="004ED0"/>
                </a:solidFill>
                <a:latin typeface="inherit"/>
              </a:rPr>
              <a:t>setMinimumHeight</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hboxLayout</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button3</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groupBox</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hboxLayout</a:t>
            </a:r>
            <a:r>
              <a:rPr lang="en-US" sz="2000">
                <a:solidFill>
                  <a:srgbClr val="333333"/>
                </a:solidFill>
                <a:latin typeface="inherit"/>
              </a:rPr>
              <a:t>)</a:t>
            </a:r>
            <a:endParaRPr lang="en-US" sz="2000" b="0" i="0">
              <a:solidFill>
                <a:srgbClr val="000000"/>
              </a:solidFill>
              <a:effectLst/>
              <a:latin typeface="Monaco"/>
            </a:endParaRPr>
          </a:p>
        </p:txBody>
      </p:sp>
      <p:pic>
        <p:nvPicPr>
          <p:cNvPr id="4098" name="Picture 2" descr="PyQt5 HBox And VBox Layout">
            <a:extLst>
              <a:ext uri="{FF2B5EF4-FFF2-40B4-BE49-F238E27FC236}">
                <a16:creationId xmlns:a16="http://schemas.microsoft.com/office/drawing/2014/main" id="{E896B1C6-62F1-4BEC-ACF2-2583DC5ED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8787" y="5615796"/>
            <a:ext cx="3686584" cy="1204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145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AE943-8567-4B82-9C31-A2C62EE222E7}"/>
              </a:ext>
            </a:extLst>
          </p:cNvPr>
          <p:cNvSpPr>
            <a:spLocks noGrp="1"/>
          </p:cNvSpPr>
          <p:nvPr>
            <p:ph type="title"/>
          </p:nvPr>
        </p:nvSpPr>
        <p:spPr>
          <a:xfrm>
            <a:off x="9624" y="19250"/>
            <a:ext cx="9134375" cy="783007"/>
          </a:xfrm>
        </p:spPr>
        <p:txBody>
          <a:bodyPr>
            <a:normAutofit/>
          </a:bodyPr>
          <a:lstStyle/>
          <a:p>
            <a:r>
              <a:rPr lang="vi-VN"/>
              <a:t>Bố cục lưới</a:t>
            </a:r>
            <a:endParaRPr lang="en-US"/>
          </a:p>
        </p:txBody>
      </p:sp>
      <p:sp>
        <p:nvSpPr>
          <p:cNvPr id="3" name="Content Placeholder 2">
            <a:extLst>
              <a:ext uri="{FF2B5EF4-FFF2-40B4-BE49-F238E27FC236}">
                <a16:creationId xmlns:a16="http://schemas.microsoft.com/office/drawing/2014/main" id="{1384248F-2955-476A-BA7C-CD753D7EE012}"/>
              </a:ext>
            </a:extLst>
          </p:cNvPr>
          <p:cNvSpPr>
            <a:spLocks noGrp="1"/>
          </p:cNvSpPr>
          <p:nvPr>
            <p:ph idx="1"/>
          </p:nvPr>
        </p:nvSpPr>
        <p:spPr>
          <a:xfrm>
            <a:off x="9624" y="948906"/>
            <a:ext cx="9134375" cy="5889844"/>
          </a:xfrm>
        </p:spPr>
        <p:txBody>
          <a:bodyPr/>
          <a:lstStyle/>
          <a:p>
            <a:pPr marL="0" indent="0">
              <a:buNone/>
            </a:pPr>
            <a:r>
              <a:rPr lang="vi-VN"/>
              <a:t>Các </a:t>
            </a:r>
            <a:r>
              <a:rPr lang="vi-VN">
                <a:hlinkClick r:id="rId3"/>
              </a:rPr>
              <a:t>GridLayout</a:t>
            </a:r>
            <a:r>
              <a:rPr lang="vi-VN"/>
              <a:t> </a:t>
            </a:r>
            <a:r>
              <a:rPr lang="en-US"/>
              <a:t>widget </a:t>
            </a:r>
            <a:r>
              <a:rPr lang="vi-VN"/>
              <a:t>cung cấp một container cho phép widget được trình bày dưới dạng lưới có kích thước động</a:t>
            </a:r>
            <a:r>
              <a:rPr lang="en-US"/>
              <a:t>, </a:t>
            </a:r>
            <a:r>
              <a:rPr lang="vi-VN"/>
              <a:t>đầu tiên chúng ta cần một số </a:t>
            </a:r>
            <a:r>
              <a:rPr lang="en-US"/>
              <a:t>import</a:t>
            </a:r>
            <a:endParaRPr lang="vi-VN"/>
          </a:p>
          <a:p>
            <a:endParaRPr lang="en-US"/>
          </a:p>
        </p:txBody>
      </p:sp>
      <p:sp>
        <p:nvSpPr>
          <p:cNvPr id="4" name="Rectangle 3">
            <a:extLst>
              <a:ext uri="{FF2B5EF4-FFF2-40B4-BE49-F238E27FC236}">
                <a16:creationId xmlns:a16="http://schemas.microsoft.com/office/drawing/2014/main" id="{7C1014A0-C080-4D8A-ACD1-46F107265E8B}"/>
              </a:ext>
            </a:extLst>
          </p:cNvPr>
          <p:cNvSpPr/>
          <p:nvPr/>
        </p:nvSpPr>
        <p:spPr>
          <a:xfrm>
            <a:off x="9624" y="2413338"/>
            <a:ext cx="9124752" cy="3359061"/>
          </a:xfrm>
          <a:prstGeom prst="rect">
            <a:avLst/>
          </a:prstGeom>
        </p:spPr>
        <p:txBody>
          <a:bodyPr wrap="square">
            <a:spAutoFit/>
          </a:bodyPr>
          <a:lstStyle/>
          <a:p>
            <a:pPr>
              <a:lnSpc>
                <a:spcPct val="150000"/>
              </a:lnSpc>
            </a:pPr>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QtWidgets import </a:t>
            </a:r>
            <a:r>
              <a:rPr lang="en-US" sz="2400">
                <a:solidFill>
                  <a:srgbClr val="002D7A"/>
                </a:solidFill>
                <a:latin typeface="inherit"/>
              </a:rPr>
              <a:t>QApplication</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QDialog</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QPushButton</a:t>
            </a:r>
            <a:r>
              <a:rPr lang="en-US" sz="2400">
                <a:solidFill>
                  <a:srgbClr val="333333"/>
                </a:solidFill>
                <a:latin typeface="inherit"/>
              </a:rPr>
              <a:t>,</a:t>
            </a:r>
            <a:r>
              <a:rPr lang="en-US" sz="2400">
                <a:solidFill>
                  <a:srgbClr val="006FE0"/>
                </a:solidFill>
                <a:latin typeface="inherit"/>
              </a:rPr>
              <a:t> </a:t>
            </a:r>
          </a:p>
          <a:p>
            <a:pPr algn="r">
              <a:lnSpc>
                <a:spcPct val="150000"/>
              </a:lnSpc>
            </a:pPr>
            <a:r>
              <a:rPr lang="en-US" sz="2400">
                <a:solidFill>
                  <a:srgbClr val="002D7A"/>
                </a:solidFill>
                <a:highlight>
                  <a:srgbClr val="FFFF00"/>
                </a:highlight>
                <a:latin typeface="inherit"/>
              </a:rPr>
              <a:t>QGridLayout</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QGroupBox</a:t>
            </a:r>
            <a:r>
              <a:rPr lang="en-US" sz="2400">
                <a:solidFill>
                  <a:srgbClr val="333333"/>
                </a:solidFill>
                <a:latin typeface="inherit"/>
              </a:rPr>
              <a:t>,</a:t>
            </a:r>
            <a:r>
              <a:rPr lang="en-US" sz="2400">
                <a:solidFill>
                  <a:srgbClr val="006FE0"/>
                </a:solidFill>
                <a:latin typeface="inherit"/>
              </a:rPr>
              <a:t> </a:t>
            </a:r>
            <a:r>
              <a:rPr lang="en-US" sz="2400">
                <a:solidFill>
                  <a:srgbClr val="004ED0"/>
                </a:solidFill>
                <a:latin typeface="inherit"/>
              </a:rPr>
              <a:t>QVBoxLayout</a:t>
            </a:r>
            <a:endParaRPr lang="en-US" sz="2400">
              <a:solidFill>
                <a:srgbClr val="000000"/>
              </a:solidFill>
              <a:latin typeface="Monaco"/>
            </a:endParaRPr>
          </a:p>
          <a:p>
            <a:pPr>
              <a:lnSpc>
                <a:spcPct val="150000"/>
              </a:lnSpc>
            </a:pPr>
            <a:r>
              <a:rPr lang="en-US" sz="2400">
                <a:solidFill>
                  <a:srgbClr val="004ED0"/>
                </a:solidFill>
                <a:latin typeface="inherit"/>
              </a:rPr>
              <a:t>import sys</a:t>
            </a:r>
            <a:endParaRPr lang="en-US" sz="2400">
              <a:solidFill>
                <a:srgbClr val="000000"/>
              </a:solidFill>
              <a:latin typeface="Monaco"/>
            </a:endParaRPr>
          </a:p>
          <a:p>
            <a:pPr>
              <a:lnSpc>
                <a:spcPct val="150000"/>
              </a:lnSpc>
            </a:pPr>
            <a:r>
              <a:rPr lang="en-US" sz="2400">
                <a:solidFill>
                  <a:srgbClr val="004ED0"/>
                </a:solidFill>
                <a:latin typeface="inherit"/>
              </a:rPr>
              <a:t>from PyQt5 import QtGui</a:t>
            </a:r>
            <a:endParaRPr lang="en-US" sz="2400">
              <a:solidFill>
                <a:srgbClr val="000000"/>
              </a:solidFill>
              <a:latin typeface="Monaco"/>
            </a:endParaRPr>
          </a:p>
          <a:p>
            <a:pPr>
              <a:lnSpc>
                <a:spcPct val="150000"/>
              </a:lnSpc>
            </a:pPr>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QtCore import QRect</a:t>
            </a:r>
            <a:endParaRPr lang="en-US" sz="2400">
              <a:solidFill>
                <a:srgbClr val="000000"/>
              </a:solidFill>
              <a:latin typeface="Monaco"/>
            </a:endParaRPr>
          </a:p>
          <a:p>
            <a:pPr>
              <a:lnSpc>
                <a:spcPct val="150000"/>
              </a:lnSpc>
            </a:pPr>
            <a:r>
              <a:rPr lang="en-US" sz="2400">
                <a:solidFill>
                  <a:srgbClr val="004ED0"/>
                </a:solidFill>
                <a:latin typeface="inherit"/>
              </a:rPr>
              <a:t>from PyQt5 import </a:t>
            </a:r>
            <a:r>
              <a:rPr lang="en-US" sz="2400">
                <a:solidFill>
                  <a:srgbClr val="002D7A"/>
                </a:solidFill>
                <a:latin typeface="inherit"/>
              </a:rPr>
              <a:t>QtCore</a:t>
            </a:r>
            <a:endParaRPr lang="en-US" sz="2400" b="0" i="0">
              <a:solidFill>
                <a:srgbClr val="000000"/>
              </a:solidFill>
              <a:effectLst/>
              <a:latin typeface="Monaco"/>
            </a:endParaRPr>
          </a:p>
        </p:txBody>
      </p:sp>
    </p:spTree>
    <p:extLst>
      <p:ext uri="{BB962C8B-B14F-4D97-AF65-F5344CB8AC3E}">
        <p14:creationId xmlns:p14="http://schemas.microsoft.com/office/powerpoint/2010/main" val="2013577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CE4E28-EAF6-48E7-82F9-E0D816BA3F2B}"/>
              </a:ext>
            </a:extLst>
          </p:cNvPr>
          <p:cNvSpPr>
            <a:spLocks noGrp="1"/>
          </p:cNvSpPr>
          <p:nvPr>
            <p:ph idx="1"/>
          </p:nvPr>
        </p:nvSpPr>
        <p:spPr>
          <a:xfrm>
            <a:off x="9624" y="802257"/>
            <a:ext cx="9134375" cy="6036493"/>
          </a:xfrm>
        </p:spPr>
        <p:txBody>
          <a:bodyPr/>
          <a:lstStyle/>
          <a:p>
            <a:pPr marL="0" indent="0">
              <a:buNone/>
            </a:pPr>
            <a:r>
              <a:rPr lang="vi-VN"/>
              <a:t>Sau </a:t>
            </a:r>
            <a:r>
              <a:rPr lang="en-US"/>
              <a:t>đó </a:t>
            </a:r>
            <a:r>
              <a:rPr lang="vi-VN"/>
              <a:t>tạo lớp Window kế thừa từ Q</a:t>
            </a:r>
            <a:r>
              <a:rPr lang="en-US"/>
              <a:t>D</a:t>
            </a:r>
            <a:r>
              <a:rPr lang="vi-VN"/>
              <a:t>ialog và viết những thứ cơ bản như tiêu đề, chiều rộng, chiều cao và biểu tượng trong hàm tạo</a:t>
            </a:r>
            <a:endParaRPr lang="en-US"/>
          </a:p>
        </p:txBody>
      </p:sp>
      <p:sp>
        <p:nvSpPr>
          <p:cNvPr id="4" name="Title 1">
            <a:extLst>
              <a:ext uri="{FF2B5EF4-FFF2-40B4-BE49-F238E27FC236}">
                <a16:creationId xmlns:a16="http://schemas.microsoft.com/office/drawing/2014/main" id="{791FFF36-C121-4DCC-94BC-18D746F853A1}"/>
              </a:ext>
            </a:extLst>
          </p:cNvPr>
          <p:cNvSpPr>
            <a:spLocks noGrp="1"/>
          </p:cNvSpPr>
          <p:nvPr>
            <p:ph type="title"/>
          </p:nvPr>
        </p:nvSpPr>
        <p:spPr>
          <a:xfrm>
            <a:off x="9624" y="19250"/>
            <a:ext cx="9134375" cy="783007"/>
          </a:xfrm>
        </p:spPr>
        <p:txBody>
          <a:bodyPr>
            <a:normAutofit/>
          </a:bodyPr>
          <a:lstStyle/>
          <a:p>
            <a:r>
              <a:rPr lang="vi-VN"/>
              <a:t>Bố cục lưới</a:t>
            </a:r>
            <a:r>
              <a:rPr lang="en-US"/>
              <a:t> (t.t)</a:t>
            </a:r>
          </a:p>
        </p:txBody>
      </p:sp>
      <p:sp>
        <p:nvSpPr>
          <p:cNvPr id="5" name="Rectangle 4">
            <a:extLst>
              <a:ext uri="{FF2B5EF4-FFF2-40B4-BE49-F238E27FC236}">
                <a16:creationId xmlns:a16="http://schemas.microsoft.com/office/drawing/2014/main" id="{26FA3923-0B74-427D-8F02-A78F120CE6D9}"/>
              </a:ext>
            </a:extLst>
          </p:cNvPr>
          <p:cNvSpPr/>
          <p:nvPr/>
        </p:nvSpPr>
        <p:spPr>
          <a:xfrm>
            <a:off x="715991" y="2144488"/>
            <a:ext cx="5374257" cy="4401205"/>
          </a:xfrm>
          <a:prstGeom prst="rect">
            <a:avLst/>
          </a:prstGeom>
        </p:spPr>
        <p:txBody>
          <a:bodyPr wrap="square">
            <a:spAutoFit/>
          </a:bodyPr>
          <a:lstStyle/>
          <a:p>
            <a:r>
              <a:rPr lang="en-US" sz="2800">
                <a:solidFill>
                  <a:srgbClr val="800080"/>
                </a:solidFill>
                <a:latin typeface="inherit"/>
              </a:rPr>
              <a:t>class</a:t>
            </a:r>
            <a:r>
              <a:rPr lang="en-US" sz="2800">
                <a:solidFill>
                  <a:srgbClr val="006FE0"/>
                </a:solidFill>
                <a:latin typeface="inherit"/>
              </a:rPr>
              <a:t> </a:t>
            </a:r>
            <a:r>
              <a:rPr lang="en-US" sz="2800">
                <a:solidFill>
                  <a:srgbClr val="004ED0"/>
                </a:solidFill>
                <a:latin typeface="inherit"/>
              </a:rPr>
              <a:t>Window</a:t>
            </a:r>
            <a:r>
              <a:rPr lang="en-US" sz="2800">
                <a:solidFill>
                  <a:srgbClr val="333333"/>
                </a:solidFill>
                <a:latin typeface="inherit"/>
              </a:rPr>
              <a:t>(</a:t>
            </a:r>
            <a:r>
              <a:rPr lang="en-US" sz="2800">
                <a:solidFill>
                  <a:srgbClr val="002D7A"/>
                </a:solidFill>
                <a:latin typeface="inherit"/>
              </a:rPr>
              <a:t>QDialog</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4ED0"/>
                </a:solidFill>
                <a:latin typeface="inherit"/>
              </a:rPr>
              <a:t>def __init__</a:t>
            </a:r>
            <a:r>
              <a:rPr lang="en-US" sz="2800">
                <a:solidFill>
                  <a:srgbClr val="333333"/>
                </a:solidFill>
                <a:latin typeface="inherit"/>
              </a:rPr>
              <a:t>(</a:t>
            </a:r>
            <a:r>
              <a:rPr lang="en-US" sz="2800">
                <a:solidFill>
                  <a:srgbClr val="800080"/>
                </a:solidFill>
                <a:latin typeface="inherit"/>
              </a:rPr>
              <a:t>self</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super</a:t>
            </a:r>
            <a:r>
              <a:rPr lang="en-US" sz="2800">
                <a:solidFill>
                  <a:srgbClr val="333333"/>
                </a:solidFill>
                <a:latin typeface="inherit"/>
              </a:rPr>
              <a:t>().</a:t>
            </a:r>
            <a:r>
              <a:rPr lang="en-US" sz="2800">
                <a:solidFill>
                  <a:srgbClr val="004ED0"/>
                </a:solidFill>
                <a:latin typeface="inherit"/>
              </a:rPr>
              <a:t>__init__</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title</a:t>
            </a:r>
            <a:r>
              <a:rPr lang="en-US" sz="2800">
                <a:solidFill>
                  <a:srgbClr val="006FE0"/>
                </a:solidFill>
                <a:latin typeface="inherit"/>
              </a:rPr>
              <a:t> = </a:t>
            </a:r>
            <a:r>
              <a:rPr lang="en-US" sz="2800">
                <a:solidFill>
                  <a:srgbClr val="008000"/>
                </a:solidFill>
                <a:latin typeface="inherit"/>
              </a:rPr>
              <a:t>"Grid Layout"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top</a:t>
            </a:r>
            <a:r>
              <a:rPr lang="en-US" sz="2800">
                <a:solidFill>
                  <a:srgbClr val="006FE0"/>
                </a:solidFill>
                <a:latin typeface="inherit"/>
              </a:rPr>
              <a:t> = </a:t>
            </a:r>
            <a:r>
              <a:rPr lang="en-US" sz="2800">
                <a:solidFill>
                  <a:srgbClr val="CE0000"/>
                </a:solidFill>
                <a:latin typeface="inherit"/>
              </a:rPr>
              <a:t>200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left</a:t>
            </a:r>
            <a:r>
              <a:rPr lang="en-US" sz="2800">
                <a:solidFill>
                  <a:srgbClr val="006FE0"/>
                </a:solidFill>
                <a:latin typeface="inherit"/>
              </a:rPr>
              <a:t> = </a:t>
            </a:r>
            <a:r>
              <a:rPr lang="en-US" sz="2800">
                <a:solidFill>
                  <a:srgbClr val="CE0000"/>
                </a:solidFill>
                <a:latin typeface="inherit"/>
              </a:rPr>
              <a:t>400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width</a:t>
            </a:r>
            <a:r>
              <a:rPr lang="en-US" sz="2800">
                <a:solidFill>
                  <a:srgbClr val="006FE0"/>
                </a:solidFill>
                <a:latin typeface="inherit"/>
              </a:rPr>
              <a:t> = </a:t>
            </a:r>
            <a:r>
              <a:rPr lang="en-US" sz="2800">
                <a:solidFill>
                  <a:srgbClr val="CE0000"/>
                </a:solidFill>
                <a:latin typeface="inherit"/>
              </a:rPr>
              <a:t>400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height</a:t>
            </a:r>
            <a:r>
              <a:rPr lang="en-US" sz="2800">
                <a:solidFill>
                  <a:srgbClr val="006FE0"/>
                </a:solidFill>
                <a:latin typeface="inherit"/>
              </a:rPr>
              <a:t> = </a:t>
            </a:r>
            <a:r>
              <a:rPr lang="en-US" sz="2800">
                <a:solidFill>
                  <a:srgbClr val="CE0000"/>
                </a:solidFill>
                <a:latin typeface="inherit"/>
              </a:rPr>
              <a:t>100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iconName</a:t>
            </a:r>
            <a:r>
              <a:rPr lang="en-US" sz="2800">
                <a:solidFill>
                  <a:srgbClr val="006FE0"/>
                </a:solidFill>
                <a:latin typeface="inherit"/>
              </a:rPr>
              <a:t> = </a:t>
            </a:r>
            <a:r>
              <a:rPr lang="en-US" sz="2800">
                <a:solidFill>
                  <a:srgbClr val="008000"/>
                </a:solidFill>
                <a:latin typeface="inherit"/>
              </a:rPr>
              <a:t>"icon.png"</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InitWindow</a:t>
            </a:r>
            <a:r>
              <a:rPr lang="en-US" sz="2800">
                <a:solidFill>
                  <a:srgbClr val="333333"/>
                </a:solidFill>
                <a:latin typeface="inherit"/>
              </a:rPr>
              <a:t>()</a:t>
            </a:r>
            <a:endParaRPr lang="en-US" sz="2800" b="0" i="0">
              <a:solidFill>
                <a:srgbClr val="000000"/>
              </a:solidFill>
              <a:effectLst/>
              <a:latin typeface="Monaco"/>
            </a:endParaRPr>
          </a:p>
        </p:txBody>
      </p:sp>
    </p:spTree>
    <p:extLst>
      <p:ext uri="{BB962C8B-B14F-4D97-AF65-F5344CB8AC3E}">
        <p14:creationId xmlns:p14="http://schemas.microsoft.com/office/powerpoint/2010/main" val="3354797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FD77C7-E76B-422D-B746-C2E9C798CB97}"/>
              </a:ext>
            </a:extLst>
          </p:cNvPr>
          <p:cNvSpPr>
            <a:spLocks noGrp="1"/>
          </p:cNvSpPr>
          <p:nvPr>
            <p:ph idx="1"/>
          </p:nvPr>
        </p:nvSpPr>
        <p:spPr>
          <a:xfrm>
            <a:off x="9624" y="802257"/>
            <a:ext cx="9134375" cy="6036493"/>
          </a:xfrm>
        </p:spPr>
        <p:txBody>
          <a:bodyPr>
            <a:normAutofit/>
          </a:bodyPr>
          <a:lstStyle/>
          <a:p>
            <a:pPr marL="0" indent="0">
              <a:buNone/>
            </a:pPr>
            <a:r>
              <a:rPr lang="vi-VN" sz="2400"/>
              <a:t>Sau đó, chúng tôi tạo phương thức initWindow() để đặt tiêu đề, biểu tượng và </a:t>
            </a:r>
            <a:r>
              <a:rPr lang="en-US" sz="2400"/>
              <a:t>vị trí </a:t>
            </a:r>
            <a:r>
              <a:rPr lang="vi-VN" sz="2400"/>
              <a:t>cửa sổ của chúng tôi và cũng trong phương thức này, chúng tôi tạo Bố cục VBox.</a:t>
            </a:r>
            <a:endParaRPr lang="en-US" sz="2400"/>
          </a:p>
        </p:txBody>
      </p:sp>
      <p:sp>
        <p:nvSpPr>
          <p:cNvPr id="4" name="Title 1">
            <a:extLst>
              <a:ext uri="{FF2B5EF4-FFF2-40B4-BE49-F238E27FC236}">
                <a16:creationId xmlns:a16="http://schemas.microsoft.com/office/drawing/2014/main" id="{812DB693-37E8-4A53-8EFF-ACF64CF4E55B}"/>
              </a:ext>
            </a:extLst>
          </p:cNvPr>
          <p:cNvSpPr>
            <a:spLocks noGrp="1"/>
          </p:cNvSpPr>
          <p:nvPr>
            <p:ph type="title"/>
          </p:nvPr>
        </p:nvSpPr>
        <p:spPr>
          <a:xfrm>
            <a:off x="9624" y="19250"/>
            <a:ext cx="9134375" cy="783007"/>
          </a:xfrm>
        </p:spPr>
        <p:txBody>
          <a:bodyPr>
            <a:normAutofit/>
          </a:bodyPr>
          <a:lstStyle/>
          <a:p>
            <a:r>
              <a:rPr lang="vi-VN"/>
              <a:t>Bố cục lưới</a:t>
            </a:r>
            <a:r>
              <a:rPr lang="en-US"/>
              <a:t> (t.t)</a:t>
            </a:r>
          </a:p>
        </p:txBody>
      </p:sp>
      <p:sp>
        <p:nvSpPr>
          <p:cNvPr id="5" name="Rectangle 4">
            <a:extLst>
              <a:ext uri="{FF2B5EF4-FFF2-40B4-BE49-F238E27FC236}">
                <a16:creationId xmlns:a16="http://schemas.microsoft.com/office/drawing/2014/main" id="{57C0F105-A140-4BBD-B866-34EFB6DC0524}"/>
              </a:ext>
            </a:extLst>
          </p:cNvPr>
          <p:cNvSpPr/>
          <p:nvPr/>
        </p:nvSpPr>
        <p:spPr>
          <a:xfrm>
            <a:off x="130393" y="1833464"/>
            <a:ext cx="7840415" cy="5021055"/>
          </a:xfrm>
          <a:prstGeom prst="rect">
            <a:avLst/>
          </a:prstGeom>
        </p:spPr>
        <p:txBody>
          <a:bodyPr wrap="square">
            <a:spAutoFit/>
          </a:bodyPr>
          <a:lstStyle/>
          <a:p>
            <a:pPr>
              <a:lnSpc>
                <a:spcPct val="150000"/>
              </a:lnSpc>
            </a:pPr>
            <a:r>
              <a:rPr lang="en-US" sz="2400">
                <a:solidFill>
                  <a:srgbClr val="004ED0"/>
                </a:solidFill>
                <a:latin typeface="inherit"/>
              </a:rPr>
              <a:t>def InitWindow</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setWindowIcon</a:t>
            </a:r>
            <a:r>
              <a:rPr lang="en-US" sz="2400">
                <a:solidFill>
                  <a:srgbClr val="333333"/>
                </a:solidFill>
                <a:latin typeface="inherit"/>
              </a:rPr>
              <a:t>(</a:t>
            </a:r>
            <a:r>
              <a:rPr lang="en-US" sz="2400">
                <a:solidFill>
                  <a:srgbClr val="002D7A"/>
                </a:solidFill>
                <a:latin typeface="inherit"/>
              </a:rPr>
              <a:t>QtGui</a:t>
            </a:r>
            <a:r>
              <a:rPr lang="en-US" sz="2400">
                <a:solidFill>
                  <a:srgbClr val="333333"/>
                </a:solidFill>
                <a:latin typeface="inherit"/>
              </a:rPr>
              <a:t>.</a:t>
            </a:r>
            <a:r>
              <a:rPr lang="en-US" sz="2400">
                <a:solidFill>
                  <a:srgbClr val="004ED0"/>
                </a:solidFill>
                <a:latin typeface="inherit"/>
              </a:rPr>
              <a:t>QIcon</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iconName</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setWindowTitle</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setGeometry</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CreateLayout</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002D7A"/>
                </a:solidFill>
                <a:latin typeface="inherit"/>
              </a:rPr>
              <a:t>vbox</a:t>
            </a:r>
            <a:r>
              <a:rPr lang="en-US" sz="2400">
                <a:solidFill>
                  <a:srgbClr val="006FE0"/>
                </a:solidFill>
                <a:latin typeface="inherit"/>
              </a:rPr>
              <a:t> = </a:t>
            </a:r>
            <a:r>
              <a:rPr lang="en-US" sz="2400">
                <a:solidFill>
                  <a:srgbClr val="004ED0"/>
                </a:solidFill>
                <a:latin typeface="inherit"/>
              </a:rPr>
              <a:t>QVBoxLayout</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002D7A"/>
                </a:solidFill>
                <a:latin typeface="inherit"/>
              </a:rPr>
              <a:t>vbox</a:t>
            </a:r>
            <a:r>
              <a:rPr lang="en-US" sz="2400">
                <a:solidFill>
                  <a:srgbClr val="333333"/>
                </a:solidFill>
                <a:latin typeface="inherit"/>
              </a:rPr>
              <a:t>.</a:t>
            </a:r>
            <a:r>
              <a:rPr lang="en-US" sz="2400">
                <a:solidFill>
                  <a:srgbClr val="004ED0"/>
                </a:solidFill>
                <a:latin typeface="inherit"/>
              </a:rPr>
              <a:t>addWidget</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groupBox</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setLayout</a:t>
            </a:r>
            <a:r>
              <a:rPr lang="en-US" sz="2400">
                <a:solidFill>
                  <a:srgbClr val="333333"/>
                </a:solidFill>
                <a:latin typeface="inherit"/>
              </a:rPr>
              <a:t>(</a:t>
            </a:r>
            <a:r>
              <a:rPr lang="en-US" sz="2400">
                <a:solidFill>
                  <a:srgbClr val="002D7A"/>
                </a:solidFill>
                <a:latin typeface="inherit"/>
              </a:rPr>
              <a:t>vbox</a:t>
            </a:r>
            <a:r>
              <a:rPr lang="en-US" sz="2400">
                <a:solidFill>
                  <a:srgbClr val="333333"/>
                </a:solidFill>
                <a:latin typeface="inherit"/>
              </a:rPr>
              <a:t>)</a:t>
            </a:r>
            <a:endParaRPr lang="en-US" sz="2400">
              <a:solidFill>
                <a:srgbClr val="000000"/>
              </a:solidFill>
              <a:latin typeface="Monaco"/>
            </a:endParaRPr>
          </a:p>
          <a:p>
            <a:pPr>
              <a:lnSpc>
                <a:spcPct val="15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1822038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DB1416-CDF2-43CC-B277-AB6C6269087D}"/>
              </a:ext>
            </a:extLst>
          </p:cNvPr>
          <p:cNvSpPr>
            <a:spLocks noGrp="1"/>
          </p:cNvSpPr>
          <p:nvPr>
            <p:ph idx="1"/>
          </p:nvPr>
        </p:nvSpPr>
        <p:spPr>
          <a:xfrm>
            <a:off x="5615797" y="2372265"/>
            <a:ext cx="3528203" cy="1854679"/>
          </a:xfrm>
          <a:solidFill>
            <a:schemeClr val="accent5">
              <a:lumMod val="20000"/>
              <a:lumOff val="80000"/>
            </a:schemeClr>
          </a:solidFill>
        </p:spPr>
        <p:txBody>
          <a:bodyPr>
            <a:normAutofit/>
          </a:bodyPr>
          <a:lstStyle/>
          <a:p>
            <a:pPr marL="0" indent="0">
              <a:buNone/>
            </a:pPr>
            <a:r>
              <a:rPr lang="vi-VN" sz="2400" i="1"/>
              <a:t>Sau </a:t>
            </a:r>
            <a:r>
              <a:rPr lang="en-US" sz="2400" i="1"/>
              <a:t>đó </a:t>
            </a:r>
            <a:r>
              <a:rPr lang="vi-VN" sz="2400" i="1"/>
              <a:t>tạo phương thức </a:t>
            </a:r>
            <a:r>
              <a:rPr lang="en-US" sz="2400" i="1"/>
              <a:t>CreateLayout </a:t>
            </a:r>
            <a:r>
              <a:rPr lang="vi-VN" sz="2400" i="1"/>
              <a:t>và ở đó tạo một QgroupBox với Giao diện QGridLayout và tạo ba QPushButton</a:t>
            </a:r>
            <a:endParaRPr lang="en-US" sz="2400" i="1"/>
          </a:p>
        </p:txBody>
      </p:sp>
      <p:sp>
        <p:nvSpPr>
          <p:cNvPr id="4" name="Title 1">
            <a:extLst>
              <a:ext uri="{FF2B5EF4-FFF2-40B4-BE49-F238E27FC236}">
                <a16:creationId xmlns:a16="http://schemas.microsoft.com/office/drawing/2014/main" id="{23B354DD-5DF4-4BE1-927E-0CFACDBDF462}"/>
              </a:ext>
            </a:extLst>
          </p:cNvPr>
          <p:cNvSpPr>
            <a:spLocks noGrp="1"/>
          </p:cNvSpPr>
          <p:nvPr>
            <p:ph type="title"/>
          </p:nvPr>
        </p:nvSpPr>
        <p:spPr>
          <a:xfrm>
            <a:off x="5201729" y="1589258"/>
            <a:ext cx="3942271" cy="783007"/>
          </a:xfrm>
        </p:spPr>
        <p:txBody>
          <a:bodyPr>
            <a:normAutofit/>
          </a:bodyPr>
          <a:lstStyle/>
          <a:p>
            <a:r>
              <a:rPr lang="vi-VN"/>
              <a:t>Bố cục lưới</a:t>
            </a:r>
            <a:r>
              <a:rPr lang="en-US"/>
              <a:t> (t.t)</a:t>
            </a:r>
          </a:p>
        </p:txBody>
      </p:sp>
      <p:sp>
        <p:nvSpPr>
          <p:cNvPr id="5" name="Rectangle 4">
            <a:extLst>
              <a:ext uri="{FF2B5EF4-FFF2-40B4-BE49-F238E27FC236}">
                <a16:creationId xmlns:a16="http://schemas.microsoft.com/office/drawing/2014/main" id="{C6B3DE32-6B4A-451C-8FFF-55230C5520FE}"/>
              </a:ext>
            </a:extLst>
          </p:cNvPr>
          <p:cNvSpPr/>
          <p:nvPr/>
        </p:nvSpPr>
        <p:spPr>
          <a:xfrm>
            <a:off x="0" y="19250"/>
            <a:ext cx="7762776" cy="6740307"/>
          </a:xfrm>
          <a:prstGeom prst="rect">
            <a:avLst/>
          </a:prstGeom>
        </p:spPr>
        <p:txBody>
          <a:bodyPr wrap="square">
            <a:spAutoFit/>
          </a:bodyPr>
          <a:lstStyle/>
          <a:p>
            <a:r>
              <a:rPr lang="en-US">
                <a:solidFill>
                  <a:srgbClr val="004ED0"/>
                </a:solidFill>
                <a:latin typeface="inherit"/>
              </a:rPr>
              <a:t>def CreateLayout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groupBox</a:t>
            </a:r>
            <a:r>
              <a:rPr lang="en-US">
                <a:solidFill>
                  <a:srgbClr val="006FE0"/>
                </a:solidFill>
                <a:latin typeface="inherit"/>
              </a:rPr>
              <a:t> = </a:t>
            </a:r>
            <a:r>
              <a:rPr lang="en-US">
                <a:solidFill>
                  <a:srgbClr val="004ED0"/>
                </a:solidFill>
                <a:latin typeface="inherit"/>
              </a:rPr>
              <a:t>QGroupBox</a:t>
            </a:r>
            <a:r>
              <a:rPr lang="en-US">
                <a:solidFill>
                  <a:srgbClr val="333333"/>
                </a:solidFill>
                <a:latin typeface="inherit"/>
              </a:rPr>
              <a:t>(</a:t>
            </a:r>
            <a:r>
              <a:rPr lang="en-US">
                <a:solidFill>
                  <a:srgbClr val="008000"/>
                </a:solidFill>
                <a:latin typeface="inherit"/>
              </a:rPr>
              <a:t>"What Is Your Favorite Programming Language"</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gridLayout</a:t>
            </a:r>
            <a:r>
              <a:rPr lang="en-US">
                <a:solidFill>
                  <a:srgbClr val="006FE0"/>
                </a:solidFill>
                <a:latin typeface="inherit"/>
              </a:rPr>
              <a:t> = </a:t>
            </a:r>
            <a:r>
              <a:rPr lang="en-US">
                <a:solidFill>
                  <a:srgbClr val="004ED0"/>
                </a:solidFill>
                <a:latin typeface="inherit"/>
              </a:rPr>
              <a:t>QGridLayout</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"Python"</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4ED0"/>
                </a:solidFill>
                <a:latin typeface="inherit"/>
              </a:rPr>
              <a:t>setIcon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"pythonicon.png"</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4ED0"/>
                </a:solidFill>
                <a:latin typeface="inherit"/>
              </a:rPr>
              <a:t>setIconSize</a:t>
            </a:r>
            <a:r>
              <a:rPr lang="en-US">
                <a:solidFill>
                  <a:srgbClr val="333333"/>
                </a:solidFill>
                <a:latin typeface="inherit"/>
              </a:rPr>
              <a:t>(</a:t>
            </a:r>
            <a:r>
              <a:rPr lang="en-US">
                <a:solidFill>
                  <a:srgbClr val="002D7A"/>
                </a:solidFill>
                <a:latin typeface="inherit"/>
              </a:rPr>
              <a:t>QtCore</a:t>
            </a:r>
            <a:r>
              <a:rPr lang="en-US">
                <a:solidFill>
                  <a:srgbClr val="333333"/>
                </a:solidFill>
                <a:latin typeface="inherit"/>
              </a:rPr>
              <a:t>.</a:t>
            </a:r>
            <a:r>
              <a:rPr lang="en-US">
                <a:solidFill>
                  <a:srgbClr val="004ED0"/>
                </a:solidFill>
                <a:latin typeface="inherit"/>
              </a:rPr>
              <a:t>QSize</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4ED0"/>
                </a:solidFill>
                <a:latin typeface="inherit"/>
              </a:rPr>
              <a:t>setMinimumHeight</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gridLayout</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0</a:t>
            </a:r>
            <a:r>
              <a:rPr lang="en-US">
                <a:solidFill>
                  <a:srgbClr val="333333"/>
                </a:solidFill>
                <a:latin typeface="inherit"/>
              </a:rPr>
              <a:t>,</a:t>
            </a:r>
            <a:r>
              <a:rPr lang="en-US">
                <a:solidFill>
                  <a:srgbClr val="CE0000"/>
                </a:solidFill>
                <a:latin typeface="inherit"/>
              </a:rPr>
              <a:t>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button2</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"C++"</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button2</a:t>
            </a:r>
            <a:r>
              <a:rPr lang="en-US">
                <a:solidFill>
                  <a:srgbClr val="333333"/>
                </a:solidFill>
                <a:latin typeface="inherit"/>
              </a:rPr>
              <a:t>.</a:t>
            </a:r>
            <a:r>
              <a:rPr lang="en-US">
                <a:solidFill>
                  <a:srgbClr val="004ED0"/>
                </a:solidFill>
                <a:latin typeface="inherit"/>
              </a:rPr>
              <a:t>setIcon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"cpp.png"</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button2</a:t>
            </a:r>
            <a:r>
              <a:rPr lang="en-US">
                <a:solidFill>
                  <a:srgbClr val="333333"/>
                </a:solidFill>
                <a:latin typeface="inherit"/>
              </a:rPr>
              <a:t>.</a:t>
            </a:r>
            <a:r>
              <a:rPr lang="en-US">
                <a:solidFill>
                  <a:srgbClr val="004ED0"/>
                </a:solidFill>
                <a:latin typeface="inherit"/>
              </a:rPr>
              <a:t>setIconSize</a:t>
            </a:r>
            <a:r>
              <a:rPr lang="en-US">
                <a:solidFill>
                  <a:srgbClr val="333333"/>
                </a:solidFill>
                <a:latin typeface="inherit"/>
              </a:rPr>
              <a:t>(</a:t>
            </a:r>
            <a:r>
              <a:rPr lang="en-US">
                <a:solidFill>
                  <a:srgbClr val="002D7A"/>
                </a:solidFill>
                <a:latin typeface="inherit"/>
              </a:rPr>
              <a:t>QtCore</a:t>
            </a:r>
            <a:r>
              <a:rPr lang="en-US">
                <a:solidFill>
                  <a:srgbClr val="333333"/>
                </a:solidFill>
                <a:latin typeface="inherit"/>
              </a:rPr>
              <a:t>.</a:t>
            </a:r>
            <a:r>
              <a:rPr lang="en-US">
                <a:solidFill>
                  <a:srgbClr val="004ED0"/>
                </a:solidFill>
                <a:latin typeface="inherit"/>
              </a:rPr>
              <a:t>QSize</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button2</a:t>
            </a:r>
            <a:r>
              <a:rPr lang="en-US">
                <a:solidFill>
                  <a:srgbClr val="333333"/>
                </a:solidFill>
                <a:latin typeface="inherit"/>
              </a:rPr>
              <a:t>.</a:t>
            </a:r>
            <a:r>
              <a:rPr lang="en-US">
                <a:solidFill>
                  <a:srgbClr val="004ED0"/>
                </a:solidFill>
                <a:latin typeface="inherit"/>
              </a:rPr>
              <a:t>setMinimumHeight</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gridLayout</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button2</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0</a:t>
            </a:r>
            <a:r>
              <a:rPr lang="en-US">
                <a:solidFill>
                  <a:srgbClr val="333333"/>
                </a:solidFill>
                <a:latin typeface="inherit"/>
              </a:rPr>
              <a:t>,</a:t>
            </a:r>
            <a:r>
              <a:rPr lang="en-US">
                <a:solidFill>
                  <a:srgbClr val="CE0000"/>
                </a:solidFill>
                <a:latin typeface="inherit"/>
              </a:rPr>
              <a:t>1</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button3</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"Java"</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button3</a:t>
            </a:r>
            <a:r>
              <a:rPr lang="en-US">
                <a:solidFill>
                  <a:srgbClr val="333333"/>
                </a:solidFill>
                <a:latin typeface="inherit"/>
              </a:rPr>
              <a:t>.</a:t>
            </a:r>
            <a:r>
              <a:rPr lang="en-US">
                <a:solidFill>
                  <a:srgbClr val="004ED0"/>
                </a:solidFill>
                <a:latin typeface="inherit"/>
              </a:rPr>
              <a:t>setIcon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"java.png"</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button3</a:t>
            </a:r>
            <a:r>
              <a:rPr lang="en-US">
                <a:solidFill>
                  <a:srgbClr val="333333"/>
                </a:solidFill>
                <a:latin typeface="inherit"/>
              </a:rPr>
              <a:t>.</a:t>
            </a:r>
            <a:r>
              <a:rPr lang="en-US">
                <a:solidFill>
                  <a:srgbClr val="004ED0"/>
                </a:solidFill>
                <a:latin typeface="inherit"/>
              </a:rPr>
              <a:t>setIconSize</a:t>
            </a:r>
            <a:r>
              <a:rPr lang="en-US">
                <a:solidFill>
                  <a:srgbClr val="333333"/>
                </a:solidFill>
                <a:latin typeface="inherit"/>
              </a:rPr>
              <a:t>(</a:t>
            </a:r>
            <a:r>
              <a:rPr lang="en-US">
                <a:solidFill>
                  <a:srgbClr val="002D7A"/>
                </a:solidFill>
                <a:latin typeface="inherit"/>
              </a:rPr>
              <a:t>QtCore</a:t>
            </a:r>
            <a:r>
              <a:rPr lang="en-US">
                <a:solidFill>
                  <a:srgbClr val="333333"/>
                </a:solidFill>
                <a:latin typeface="inherit"/>
              </a:rPr>
              <a:t>.</a:t>
            </a:r>
            <a:r>
              <a:rPr lang="en-US">
                <a:solidFill>
                  <a:srgbClr val="004ED0"/>
                </a:solidFill>
                <a:latin typeface="inherit"/>
              </a:rPr>
              <a:t>QSize</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button3</a:t>
            </a:r>
            <a:r>
              <a:rPr lang="en-US">
                <a:solidFill>
                  <a:srgbClr val="333333"/>
                </a:solidFill>
                <a:latin typeface="inherit"/>
              </a:rPr>
              <a:t>.</a:t>
            </a:r>
            <a:r>
              <a:rPr lang="en-US">
                <a:solidFill>
                  <a:srgbClr val="004ED0"/>
                </a:solidFill>
                <a:latin typeface="inherit"/>
              </a:rPr>
              <a:t>setMinimumHeight</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gridLayout</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button3</a:t>
            </a:r>
            <a:r>
              <a:rPr lang="en-US">
                <a:solidFill>
                  <a:srgbClr val="333333"/>
                </a:solidFill>
                <a:latin typeface="inherit"/>
              </a:rPr>
              <a:t>,</a:t>
            </a:r>
            <a:r>
              <a:rPr lang="en-US">
                <a:solidFill>
                  <a:srgbClr val="CE0000"/>
                </a:solidFill>
                <a:latin typeface="inherit"/>
              </a:rPr>
              <a:t>1</a:t>
            </a:r>
            <a:r>
              <a:rPr lang="en-US">
                <a:solidFill>
                  <a:srgbClr val="333333"/>
                </a:solidFill>
                <a:latin typeface="inherit"/>
              </a:rPr>
              <a:t>,</a:t>
            </a:r>
            <a:r>
              <a:rPr lang="en-US">
                <a:solidFill>
                  <a:srgbClr val="CE0000"/>
                </a:solidFill>
                <a:latin typeface="inherit"/>
              </a:rPr>
              <a:t>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button4</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"C#"</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button4</a:t>
            </a:r>
            <a:r>
              <a:rPr lang="en-US">
                <a:solidFill>
                  <a:srgbClr val="333333"/>
                </a:solidFill>
                <a:latin typeface="inherit"/>
              </a:rPr>
              <a:t>.</a:t>
            </a:r>
            <a:r>
              <a:rPr lang="en-US">
                <a:solidFill>
                  <a:srgbClr val="004ED0"/>
                </a:solidFill>
                <a:latin typeface="inherit"/>
              </a:rPr>
              <a:t>setIcon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"csharp.png"</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button4</a:t>
            </a:r>
            <a:r>
              <a:rPr lang="en-US">
                <a:solidFill>
                  <a:srgbClr val="333333"/>
                </a:solidFill>
                <a:latin typeface="inherit"/>
              </a:rPr>
              <a:t>.</a:t>
            </a:r>
            <a:r>
              <a:rPr lang="en-US">
                <a:solidFill>
                  <a:srgbClr val="004ED0"/>
                </a:solidFill>
                <a:latin typeface="inherit"/>
              </a:rPr>
              <a:t>setIconSize</a:t>
            </a:r>
            <a:r>
              <a:rPr lang="en-US">
                <a:solidFill>
                  <a:srgbClr val="333333"/>
                </a:solidFill>
                <a:latin typeface="inherit"/>
              </a:rPr>
              <a:t>(</a:t>
            </a:r>
            <a:r>
              <a:rPr lang="en-US">
                <a:solidFill>
                  <a:srgbClr val="002D7A"/>
                </a:solidFill>
                <a:latin typeface="inherit"/>
              </a:rPr>
              <a:t>QtCore</a:t>
            </a:r>
            <a:r>
              <a:rPr lang="en-US">
                <a:solidFill>
                  <a:srgbClr val="333333"/>
                </a:solidFill>
                <a:latin typeface="inherit"/>
              </a:rPr>
              <a:t>.</a:t>
            </a:r>
            <a:r>
              <a:rPr lang="en-US">
                <a:solidFill>
                  <a:srgbClr val="004ED0"/>
                </a:solidFill>
                <a:latin typeface="inherit"/>
              </a:rPr>
              <a:t>QSize</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button4</a:t>
            </a:r>
            <a:r>
              <a:rPr lang="en-US">
                <a:solidFill>
                  <a:srgbClr val="333333"/>
                </a:solidFill>
                <a:latin typeface="inherit"/>
              </a:rPr>
              <a:t>.</a:t>
            </a:r>
            <a:r>
              <a:rPr lang="en-US">
                <a:solidFill>
                  <a:srgbClr val="004ED0"/>
                </a:solidFill>
                <a:latin typeface="inherit"/>
              </a:rPr>
              <a:t>setMinimumHeight</a:t>
            </a:r>
            <a:r>
              <a:rPr lang="en-US">
                <a:solidFill>
                  <a:srgbClr val="333333"/>
                </a:solidFill>
                <a:latin typeface="inherit"/>
              </a:rPr>
              <a:t>(</a:t>
            </a:r>
            <a:r>
              <a:rPr lang="en-US">
                <a:solidFill>
                  <a:srgbClr val="CE0000"/>
                </a:solidFill>
                <a:latin typeface="inherit"/>
              </a:rPr>
              <a:t>40</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gridLayout</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button4</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1</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1</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groupBox</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gridLayout</a:t>
            </a:r>
            <a:r>
              <a:rPr lang="en-US">
                <a:solidFill>
                  <a:srgbClr val="333333"/>
                </a:solidFill>
                <a:latin typeface="inherit"/>
              </a:rPr>
              <a:t>)</a:t>
            </a:r>
            <a:endParaRPr lang="en-US" b="0" i="0">
              <a:solidFill>
                <a:srgbClr val="000000"/>
              </a:solidFill>
              <a:effectLst/>
              <a:latin typeface="Monaco"/>
            </a:endParaRPr>
          </a:p>
        </p:txBody>
      </p:sp>
      <p:pic>
        <p:nvPicPr>
          <p:cNvPr id="5122" name="Picture 2">
            <a:extLst>
              <a:ext uri="{FF2B5EF4-FFF2-40B4-BE49-F238E27FC236}">
                <a16:creationId xmlns:a16="http://schemas.microsoft.com/office/drawing/2014/main" id="{B04EABD5-9160-4561-B87D-0A2298136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9891" y="5175849"/>
            <a:ext cx="3787742" cy="164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599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06651-6673-48DC-B89F-A5ADFD07ED6E}"/>
              </a:ext>
            </a:extLst>
          </p:cNvPr>
          <p:cNvSpPr>
            <a:spLocks noGrp="1"/>
          </p:cNvSpPr>
          <p:nvPr>
            <p:ph type="title"/>
          </p:nvPr>
        </p:nvSpPr>
        <p:spPr/>
        <p:txBody>
          <a:bodyPr>
            <a:normAutofit/>
          </a:bodyPr>
          <a:lstStyle/>
          <a:p>
            <a:r>
              <a:rPr lang="en-US"/>
              <a:t>Tạo Label &amp; Stylesheets bằng Label</a:t>
            </a:r>
          </a:p>
        </p:txBody>
      </p:sp>
      <p:sp>
        <p:nvSpPr>
          <p:cNvPr id="3" name="Content Placeholder 2">
            <a:extLst>
              <a:ext uri="{FF2B5EF4-FFF2-40B4-BE49-F238E27FC236}">
                <a16:creationId xmlns:a16="http://schemas.microsoft.com/office/drawing/2014/main" id="{FD25827E-CCFB-4244-AB12-94E2F9FE9649}"/>
              </a:ext>
            </a:extLst>
          </p:cNvPr>
          <p:cNvSpPr>
            <a:spLocks noGrp="1"/>
          </p:cNvSpPr>
          <p:nvPr>
            <p:ph idx="1"/>
          </p:nvPr>
        </p:nvSpPr>
        <p:spPr>
          <a:xfrm>
            <a:off x="0" y="972152"/>
            <a:ext cx="9134375" cy="5885848"/>
          </a:xfrm>
        </p:spPr>
        <p:txBody>
          <a:bodyPr>
            <a:normAutofit/>
          </a:bodyPr>
          <a:lstStyle/>
          <a:p>
            <a:pPr marL="0" indent="0" algn="just">
              <a:buNone/>
            </a:pPr>
            <a:r>
              <a:rPr lang="vi-VN"/>
              <a:t>Tiện ích QLabel cung cấp hiển thị văn bản hoặc hình ảnh. QLabel được sử dụng để hiển thị văn bản hoặc hình ảnh. Không có chức năng tương tác người dùng</a:t>
            </a:r>
            <a:endParaRPr lang="en-US"/>
          </a:p>
        </p:txBody>
      </p:sp>
      <p:sp>
        <p:nvSpPr>
          <p:cNvPr id="4" name="Rectangle 3">
            <a:extLst>
              <a:ext uri="{FF2B5EF4-FFF2-40B4-BE49-F238E27FC236}">
                <a16:creationId xmlns:a16="http://schemas.microsoft.com/office/drawing/2014/main" id="{7ADA984C-07AB-48A0-A813-A8993CBA8890}"/>
              </a:ext>
            </a:extLst>
          </p:cNvPr>
          <p:cNvSpPr/>
          <p:nvPr/>
        </p:nvSpPr>
        <p:spPr>
          <a:xfrm>
            <a:off x="9624" y="2828836"/>
            <a:ext cx="9134376" cy="2610843"/>
          </a:xfrm>
          <a:prstGeom prst="rect">
            <a:avLst/>
          </a:prstGeom>
        </p:spPr>
        <p:txBody>
          <a:bodyPr wrap="square">
            <a:spAutoFit/>
          </a:bodyPr>
          <a:lstStyle/>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p>
          <a:p>
            <a:pPr algn="r">
              <a:lnSpc>
                <a:spcPct val="150000"/>
              </a:lnSpc>
            </a:pPr>
            <a:r>
              <a:rPr lang="en-US" sz="2800">
                <a:solidFill>
                  <a:srgbClr val="002D7A"/>
                </a:solidFill>
                <a:highlight>
                  <a:srgbClr val="FFFF00"/>
                </a:highlight>
                <a:latin typeface="inherit"/>
              </a:rPr>
              <a:t>QLabel</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QDialog</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QVBoxLayout</a:t>
            </a:r>
            <a:endParaRPr lang="en-US" sz="2800">
              <a:solidFill>
                <a:srgbClr val="000000"/>
              </a:solidFill>
              <a:latin typeface="Monaco"/>
            </a:endParaRPr>
          </a:p>
          <a:p>
            <a:pPr>
              <a:lnSpc>
                <a:spcPct val="150000"/>
              </a:lnSpc>
            </a:pPr>
            <a:r>
              <a:rPr lang="en-US" sz="2800">
                <a:solidFill>
                  <a:srgbClr val="004ED0"/>
                </a:solidFill>
                <a:latin typeface="inherit"/>
              </a:rPr>
              <a:t>import sys</a:t>
            </a:r>
            <a:endParaRPr lang="en-US" sz="2800">
              <a:solidFill>
                <a:srgbClr val="000000"/>
              </a:solidFill>
              <a:latin typeface="Monaco"/>
            </a:endParaRPr>
          </a:p>
          <a:p>
            <a:pPr>
              <a:lnSpc>
                <a:spcPct val="150000"/>
              </a:lnSpc>
            </a:pPr>
            <a:r>
              <a:rPr lang="en-US" sz="2800">
                <a:solidFill>
                  <a:srgbClr val="004ED0"/>
                </a:solidFill>
                <a:latin typeface="inherit"/>
              </a:rPr>
              <a:t>from PyQt5 import </a:t>
            </a:r>
            <a:r>
              <a:rPr lang="en-US" sz="2800">
                <a:solidFill>
                  <a:srgbClr val="002D7A"/>
                </a:solidFill>
                <a:latin typeface="inherit"/>
              </a:rPr>
              <a:t>QtGui</a:t>
            </a:r>
            <a:endParaRPr lang="en-US" sz="2800" b="0" i="0">
              <a:solidFill>
                <a:srgbClr val="000000"/>
              </a:solidFill>
              <a:effectLst/>
              <a:latin typeface="Monaco"/>
            </a:endParaRPr>
          </a:p>
        </p:txBody>
      </p:sp>
    </p:spTree>
    <p:extLst>
      <p:ext uri="{BB962C8B-B14F-4D97-AF65-F5344CB8AC3E}">
        <p14:creationId xmlns:p14="http://schemas.microsoft.com/office/powerpoint/2010/main" val="1844591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6EB1A4-265A-4E43-9C34-B26617B30994}"/>
              </a:ext>
            </a:extLst>
          </p:cNvPr>
          <p:cNvSpPr/>
          <p:nvPr/>
        </p:nvSpPr>
        <p:spPr>
          <a:xfrm>
            <a:off x="4407100" y="5069796"/>
            <a:ext cx="4710024" cy="1754326"/>
          </a:xfrm>
          <a:prstGeom prst="rect">
            <a:avLst/>
          </a:prstGeom>
          <a:solidFill>
            <a:schemeClr val="accent4">
              <a:lumMod val="20000"/>
              <a:lumOff val="80000"/>
            </a:schemeClr>
          </a:solidFill>
        </p:spPr>
        <p:txBody>
          <a:bodyPr wrap="square">
            <a:spAutoFit/>
          </a:bodyPr>
          <a:lstStyle/>
          <a:p>
            <a:r>
              <a:rPr lang="vi-VN">
                <a:solidFill>
                  <a:srgbClr val="3A3A3A"/>
                </a:solidFill>
              </a:rPr>
              <a:t>Sau đó, tạo phương thức initWindow() để đặt tiêu đề, biểu tượng và </a:t>
            </a:r>
            <a:r>
              <a:rPr lang="en-US">
                <a:solidFill>
                  <a:srgbClr val="3A3A3A"/>
                </a:solidFill>
              </a:rPr>
              <a:t>vị trí </a:t>
            </a:r>
            <a:r>
              <a:rPr lang="vi-VN">
                <a:solidFill>
                  <a:srgbClr val="3A3A3A"/>
                </a:solidFill>
              </a:rPr>
              <a:t>cửa sổ của chúng tôi và cũng trong phương thức này, tạo </a:t>
            </a:r>
            <a:r>
              <a:rPr lang="en-US">
                <a:solidFill>
                  <a:srgbClr val="3A3A3A"/>
                </a:solidFill>
              </a:rPr>
              <a:t>Label </a:t>
            </a:r>
            <a:r>
              <a:rPr lang="vi-VN">
                <a:solidFill>
                  <a:srgbClr val="3A3A3A"/>
                </a:solidFill>
              </a:rPr>
              <a:t>của mình bằng cách sử dụng QLabel và thêm nhãn đó</a:t>
            </a:r>
            <a:r>
              <a:rPr lang="en-US">
                <a:solidFill>
                  <a:srgbClr val="3A3A3A"/>
                </a:solidFill>
              </a:rPr>
              <a:t> </a:t>
            </a:r>
            <a:r>
              <a:rPr lang="vi-VN">
                <a:solidFill>
                  <a:srgbClr val="3A3A3A"/>
                </a:solidFill>
              </a:rPr>
              <a:t>vào</a:t>
            </a:r>
            <a:r>
              <a:rPr lang="en-US">
                <a:solidFill>
                  <a:srgbClr val="3A3A3A"/>
                </a:solidFill>
              </a:rPr>
              <a:t> </a:t>
            </a:r>
            <a:r>
              <a:rPr lang="vi-VN">
                <a:solidFill>
                  <a:srgbClr val="1E73BE"/>
                </a:solidFill>
              </a:rPr>
              <a:t>QVBoxLayout</a:t>
            </a:r>
            <a:r>
              <a:rPr lang="vi-VN">
                <a:solidFill>
                  <a:srgbClr val="3A3A3A"/>
                </a:solidFill>
              </a:rPr>
              <a:t>,</a:t>
            </a:r>
            <a:r>
              <a:rPr lang="en-US">
                <a:solidFill>
                  <a:srgbClr val="3A3A3A"/>
                </a:solidFill>
              </a:rPr>
              <a:t> </a:t>
            </a:r>
            <a:r>
              <a:rPr lang="vi-VN">
                <a:solidFill>
                  <a:srgbClr val="3A3A3A"/>
                </a:solidFill>
              </a:rPr>
              <a:t>chúng tôi cũng </a:t>
            </a:r>
            <a:r>
              <a:rPr lang="vi-VN">
                <a:solidFill>
                  <a:srgbClr val="1E73BE"/>
                </a:solidFill>
              </a:rPr>
              <a:t>đặt</a:t>
            </a:r>
            <a:r>
              <a:rPr lang="en-US">
                <a:solidFill>
                  <a:srgbClr val="1E73BE"/>
                </a:solidFill>
              </a:rPr>
              <a:t> </a:t>
            </a:r>
            <a:r>
              <a:rPr lang="vi-VN">
                <a:solidFill>
                  <a:srgbClr val="1E73BE"/>
                </a:solidFill>
              </a:rPr>
              <a:t>StyleSheet</a:t>
            </a:r>
            <a:r>
              <a:rPr lang="vi-VN">
                <a:solidFill>
                  <a:srgbClr val="3A3A3A"/>
                </a:solidFill>
              </a:rPr>
              <a:t> cho </a:t>
            </a:r>
            <a:r>
              <a:rPr lang="en-US">
                <a:solidFill>
                  <a:srgbClr val="3A3A3A"/>
                </a:solidFill>
              </a:rPr>
              <a:t>Label</a:t>
            </a:r>
            <a:r>
              <a:rPr lang="vi-VN">
                <a:solidFill>
                  <a:srgbClr val="3A3A3A"/>
                </a:solidFill>
              </a:rPr>
              <a:t>.</a:t>
            </a:r>
            <a:endParaRPr lang="en-US"/>
          </a:p>
        </p:txBody>
      </p:sp>
      <p:sp>
        <p:nvSpPr>
          <p:cNvPr id="5" name="Title 1">
            <a:extLst>
              <a:ext uri="{FF2B5EF4-FFF2-40B4-BE49-F238E27FC236}">
                <a16:creationId xmlns:a16="http://schemas.microsoft.com/office/drawing/2014/main" id="{05D3780C-9BEB-4FB5-AF17-E0C0F210264F}"/>
              </a:ext>
            </a:extLst>
          </p:cNvPr>
          <p:cNvSpPr>
            <a:spLocks noGrp="1"/>
          </p:cNvSpPr>
          <p:nvPr>
            <p:ph type="title"/>
          </p:nvPr>
        </p:nvSpPr>
        <p:spPr>
          <a:xfrm>
            <a:off x="9624" y="19250"/>
            <a:ext cx="9134375" cy="933651"/>
          </a:xfrm>
        </p:spPr>
        <p:txBody>
          <a:bodyPr>
            <a:normAutofit/>
          </a:bodyPr>
          <a:lstStyle/>
          <a:p>
            <a:r>
              <a:rPr lang="en-US"/>
              <a:t>Tạo Label &amp; Stylesheets bằng Label (t.t)</a:t>
            </a:r>
          </a:p>
        </p:txBody>
      </p:sp>
      <p:sp>
        <p:nvSpPr>
          <p:cNvPr id="6" name="Rectangle 5">
            <a:extLst>
              <a:ext uri="{FF2B5EF4-FFF2-40B4-BE49-F238E27FC236}">
                <a16:creationId xmlns:a16="http://schemas.microsoft.com/office/drawing/2014/main" id="{A292534C-F1DF-4360-802D-35A57917AC83}"/>
              </a:ext>
            </a:extLst>
          </p:cNvPr>
          <p:cNvSpPr/>
          <p:nvPr/>
        </p:nvSpPr>
        <p:spPr>
          <a:xfrm>
            <a:off x="9623" y="1709830"/>
            <a:ext cx="9134377" cy="4493538"/>
          </a:xfrm>
          <a:prstGeom prst="rect">
            <a:avLst/>
          </a:prstGeom>
        </p:spPr>
        <p:txBody>
          <a:bodyPr wrap="square">
            <a:spAutoFit/>
          </a:bodyPr>
          <a:lstStyle/>
          <a:p>
            <a:r>
              <a:rPr lang="en-US" sz="2200">
                <a:solidFill>
                  <a:srgbClr val="004ED0"/>
                </a:solidFill>
                <a:latin typeface="inherit"/>
              </a:rPr>
              <a:t>def InitWindow</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setWindowIcon</a:t>
            </a:r>
            <a:r>
              <a:rPr lang="en-US" sz="2200">
                <a:solidFill>
                  <a:srgbClr val="333333"/>
                </a:solidFill>
                <a:latin typeface="inherit"/>
              </a:rPr>
              <a:t>(</a:t>
            </a:r>
            <a:r>
              <a:rPr lang="en-US" sz="2200">
                <a:solidFill>
                  <a:srgbClr val="002D7A"/>
                </a:solidFill>
                <a:latin typeface="inherit"/>
              </a:rPr>
              <a:t>QtGui</a:t>
            </a:r>
            <a:r>
              <a:rPr lang="en-US" sz="2200">
                <a:solidFill>
                  <a:srgbClr val="333333"/>
                </a:solidFill>
                <a:latin typeface="inherit"/>
              </a:rPr>
              <a:t>.</a:t>
            </a:r>
            <a:r>
              <a:rPr lang="en-US" sz="2200">
                <a:solidFill>
                  <a:srgbClr val="004ED0"/>
                </a:solidFill>
                <a:latin typeface="inherit"/>
              </a:rPr>
              <a:t>QIcon</a:t>
            </a:r>
            <a:r>
              <a:rPr lang="en-US" sz="2200">
                <a:solidFill>
                  <a:srgbClr val="333333"/>
                </a:solidFill>
                <a:latin typeface="inherit"/>
              </a:rPr>
              <a:t>(</a:t>
            </a:r>
            <a:r>
              <a:rPr lang="en-US" sz="2200">
                <a:solidFill>
                  <a:srgbClr val="008000"/>
                </a:solidFill>
                <a:latin typeface="inherit"/>
              </a:rPr>
              <a:t>"icon.png"</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setWindowTitle</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title</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setGeometry</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left</a:t>
            </a:r>
            <a:r>
              <a:rPr lang="en-US" sz="2200">
                <a:solidFill>
                  <a:srgbClr val="333333"/>
                </a:solidFill>
                <a:latin typeface="inherit"/>
              </a:rPr>
              <a:t>,</a:t>
            </a: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top</a:t>
            </a:r>
            <a:r>
              <a:rPr lang="en-US" sz="2200">
                <a:solidFill>
                  <a:srgbClr val="333333"/>
                </a:solidFill>
                <a:latin typeface="inherit"/>
              </a:rPr>
              <a:t>,</a:t>
            </a: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width</a:t>
            </a:r>
            <a:r>
              <a:rPr lang="en-US" sz="2200">
                <a:solidFill>
                  <a:srgbClr val="333333"/>
                </a:solidFill>
                <a:latin typeface="inherit"/>
              </a:rPr>
              <a:t>,</a:t>
            </a: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height</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006FE0"/>
                </a:solidFill>
                <a:latin typeface="inherit"/>
              </a:rPr>
              <a:t> = </a:t>
            </a:r>
            <a:r>
              <a:rPr lang="en-US" sz="2200">
                <a:solidFill>
                  <a:srgbClr val="004ED0"/>
                </a:solidFill>
                <a:latin typeface="inherit"/>
              </a:rPr>
              <a:t>QVBoxLayout</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highlight>
                  <a:srgbClr val="FFFF00"/>
                </a:highlight>
                <a:latin typeface="inherit"/>
              </a:rPr>
              <a:t>label</a:t>
            </a:r>
            <a:r>
              <a:rPr lang="en-US" sz="2200">
                <a:solidFill>
                  <a:srgbClr val="006FE0"/>
                </a:solidFill>
                <a:highlight>
                  <a:srgbClr val="FFFF00"/>
                </a:highlight>
                <a:latin typeface="inherit"/>
              </a:rPr>
              <a:t> = </a:t>
            </a:r>
            <a:r>
              <a:rPr lang="en-US" sz="2200">
                <a:solidFill>
                  <a:srgbClr val="004ED0"/>
                </a:solidFill>
                <a:highlight>
                  <a:srgbClr val="FFFF00"/>
                </a:highlight>
                <a:latin typeface="inherit"/>
              </a:rPr>
              <a:t>QLabel</a:t>
            </a:r>
            <a:r>
              <a:rPr lang="en-US" sz="2200">
                <a:solidFill>
                  <a:srgbClr val="333333"/>
                </a:solidFill>
                <a:highlight>
                  <a:srgbClr val="FFFF00"/>
                </a:highlight>
                <a:latin typeface="inherit"/>
              </a:rPr>
              <a:t>(</a:t>
            </a:r>
            <a:r>
              <a:rPr lang="en-US" sz="2200">
                <a:solidFill>
                  <a:srgbClr val="008000"/>
                </a:solidFill>
                <a:highlight>
                  <a:srgbClr val="FFFF00"/>
                </a:highlight>
                <a:latin typeface="inherit"/>
              </a:rPr>
              <a:t>"This Is PyQt5 Labels"</a:t>
            </a:r>
            <a:r>
              <a:rPr lang="en-US" sz="2200">
                <a:solidFill>
                  <a:srgbClr val="333333"/>
                </a:solidFill>
                <a:highlight>
                  <a:srgbClr val="FFFF00"/>
                </a:highlight>
                <a:latin typeface="inherit"/>
              </a:rPr>
              <a:t>)</a:t>
            </a:r>
            <a:endParaRPr lang="en-US" sz="2200">
              <a:solidFill>
                <a:srgbClr val="000000"/>
              </a:solidFill>
              <a:highlight>
                <a:srgbClr val="FFFF00"/>
              </a:highlight>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002D7A"/>
                </a:solidFill>
                <a:latin typeface="inherit"/>
              </a:rPr>
              <a:t>label</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label2</a:t>
            </a:r>
            <a:r>
              <a:rPr lang="en-US" sz="2200">
                <a:solidFill>
                  <a:srgbClr val="006FE0"/>
                </a:solidFill>
                <a:latin typeface="inherit"/>
              </a:rPr>
              <a:t> = </a:t>
            </a:r>
            <a:r>
              <a:rPr lang="en-US" sz="2200">
                <a:solidFill>
                  <a:srgbClr val="004ED0"/>
                </a:solidFill>
                <a:latin typeface="inherit"/>
              </a:rPr>
              <a:t>QLabel</a:t>
            </a:r>
            <a:r>
              <a:rPr lang="en-US" sz="2200">
                <a:solidFill>
                  <a:srgbClr val="333333"/>
                </a:solidFill>
                <a:latin typeface="inherit"/>
              </a:rPr>
              <a:t>(</a:t>
            </a:r>
            <a:r>
              <a:rPr lang="en-US" sz="2200">
                <a:solidFill>
                  <a:srgbClr val="008000"/>
                </a:solidFill>
                <a:latin typeface="inherit"/>
              </a:rPr>
              <a:t>"This Is PyQt5 GUI Applicaition Development, Hello"</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label2</a:t>
            </a:r>
            <a:r>
              <a:rPr lang="en-US" sz="2200">
                <a:solidFill>
                  <a:srgbClr val="333333"/>
                </a:solidFill>
                <a:latin typeface="inherit"/>
              </a:rPr>
              <a:t>.</a:t>
            </a:r>
            <a:r>
              <a:rPr lang="en-US" sz="2200">
                <a:solidFill>
                  <a:srgbClr val="004ED0"/>
                </a:solidFill>
                <a:latin typeface="inherit"/>
              </a:rPr>
              <a:t>setFont</a:t>
            </a:r>
            <a:r>
              <a:rPr lang="en-US" sz="2200">
                <a:solidFill>
                  <a:srgbClr val="333333"/>
                </a:solidFill>
                <a:latin typeface="inherit"/>
              </a:rPr>
              <a:t>(</a:t>
            </a:r>
            <a:r>
              <a:rPr lang="en-US" sz="2200">
                <a:solidFill>
                  <a:srgbClr val="002D7A"/>
                </a:solidFill>
                <a:latin typeface="inherit"/>
              </a:rPr>
              <a:t>QtGui</a:t>
            </a:r>
            <a:r>
              <a:rPr lang="en-US" sz="2200">
                <a:solidFill>
                  <a:srgbClr val="333333"/>
                </a:solidFill>
                <a:latin typeface="inherit"/>
              </a:rPr>
              <a:t>.</a:t>
            </a:r>
            <a:r>
              <a:rPr lang="en-US" sz="2200">
                <a:solidFill>
                  <a:srgbClr val="004ED0"/>
                </a:solidFill>
                <a:latin typeface="inherit"/>
              </a:rPr>
              <a:t>QFont</a:t>
            </a:r>
            <a:r>
              <a:rPr lang="en-US" sz="2200">
                <a:solidFill>
                  <a:srgbClr val="333333"/>
                </a:solidFill>
                <a:latin typeface="inherit"/>
              </a:rPr>
              <a:t>(</a:t>
            </a:r>
            <a:r>
              <a:rPr lang="en-US" sz="2200">
                <a:solidFill>
                  <a:srgbClr val="008000"/>
                </a:solidFill>
                <a:latin typeface="inherit"/>
              </a:rPr>
              <a:t>"Sanserif"</a:t>
            </a:r>
            <a:r>
              <a:rPr lang="en-US" sz="2200">
                <a:solidFill>
                  <a:srgbClr val="333333"/>
                </a:solidFill>
                <a:latin typeface="inherit"/>
              </a:rPr>
              <a:t>,</a:t>
            </a:r>
            <a:r>
              <a:rPr lang="en-US" sz="2200">
                <a:solidFill>
                  <a:srgbClr val="006FE0"/>
                </a:solidFill>
                <a:latin typeface="inherit"/>
              </a:rPr>
              <a:t> </a:t>
            </a:r>
            <a:r>
              <a:rPr lang="en-US" sz="2200">
                <a:solidFill>
                  <a:srgbClr val="CE0000"/>
                </a:solidFill>
                <a:latin typeface="inherit"/>
              </a:rPr>
              <a:t>20</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6FE0"/>
                </a:solidFill>
                <a:highlight>
                  <a:srgbClr val="FFFF00"/>
                </a:highlight>
                <a:latin typeface="inherit"/>
              </a:rPr>
              <a:t> </a:t>
            </a:r>
            <a:r>
              <a:rPr lang="en-US" sz="2200">
                <a:solidFill>
                  <a:srgbClr val="002D7A"/>
                </a:solidFill>
                <a:highlight>
                  <a:srgbClr val="FFFF00"/>
                </a:highlight>
                <a:latin typeface="inherit"/>
              </a:rPr>
              <a:t>label2</a:t>
            </a:r>
            <a:r>
              <a:rPr lang="en-US" sz="2200">
                <a:solidFill>
                  <a:srgbClr val="333333"/>
                </a:solidFill>
                <a:highlight>
                  <a:srgbClr val="FFFF00"/>
                </a:highlight>
                <a:latin typeface="inherit"/>
              </a:rPr>
              <a:t>.</a:t>
            </a:r>
            <a:r>
              <a:rPr lang="en-US" sz="2200">
                <a:solidFill>
                  <a:srgbClr val="004ED0"/>
                </a:solidFill>
                <a:highlight>
                  <a:srgbClr val="FFFF00"/>
                </a:highlight>
                <a:latin typeface="inherit"/>
              </a:rPr>
              <a:t>setStyleSheet</a:t>
            </a:r>
            <a:r>
              <a:rPr lang="en-US" sz="2200">
                <a:solidFill>
                  <a:srgbClr val="333333"/>
                </a:solidFill>
                <a:highlight>
                  <a:srgbClr val="FFFF00"/>
                </a:highlight>
                <a:latin typeface="inherit"/>
              </a:rPr>
              <a:t>(</a:t>
            </a:r>
            <a:r>
              <a:rPr lang="en-US" sz="2200">
                <a:solidFill>
                  <a:srgbClr val="008000"/>
                </a:solidFill>
                <a:highlight>
                  <a:srgbClr val="FFFF00"/>
                </a:highlight>
                <a:latin typeface="inherit"/>
              </a:rPr>
              <a:t>'color:red'</a:t>
            </a:r>
            <a:r>
              <a:rPr lang="en-US" sz="2200">
                <a:solidFill>
                  <a:srgbClr val="333333"/>
                </a:solidFill>
                <a:highlight>
                  <a:srgbClr val="FFFF00"/>
                </a:highlight>
                <a:latin typeface="inherit"/>
              </a:rPr>
              <a:t>)</a:t>
            </a:r>
            <a:endParaRPr lang="en-US" sz="2200">
              <a:solidFill>
                <a:srgbClr val="000000"/>
              </a:solidFill>
              <a:highlight>
                <a:srgbClr val="FFFF00"/>
              </a:highlight>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002D7A"/>
                </a:solidFill>
                <a:latin typeface="inherit"/>
              </a:rPr>
              <a:t>label2</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setLayout</a:t>
            </a:r>
            <a:r>
              <a:rPr lang="en-US" sz="2200">
                <a:solidFill>
                  <a:srgbClr val="333333"/>
                </a:solidFill>
                <a:latin typeface="inherit"/>
              </a:rPr>
              <a:t>(</a:t>
            </a:r>
            <a:r>
              <a:rPr lang="en-US" sz="2200">
                <a:solidFill>
                  <a:srgbClr val="002D7A"/>
                </a:solidFill>
                <a:latin typeface="inherit"/>
              </a:rPr>
              <a:t>vbox</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show</a:t>
            </a:r>
            <a:r>
              <a:rPr lang="en-US" sz="2200">
                <a:solidFill>
                  <a:srgbClr val="333333"/>
                </a:solidFill>
                <a:latin typeface="inherit"/>
              </a:rPr>
              <a:t>()</a:t>
            </a:r>
            <a:endParaRPr lang="en-US" sz="2200" b="0" i="0">
              <a:solidFill>
                <a:srgbClr val="000000"/>
              </a:solidFill>
              <a:effectLst/>
              <a:latin typeface="Monaco"/>
            </a:endParaRPr>
          </a:p>
        </p:txBody>
      </p:sp>
      <p:pic>
        <p:nvPicPr>
          <p:cNvPr id="6146" name="Picture 2" descr="VÃ­ dá»¥ vá» nhÃ£n PyQt5">
            <a:extLst>
              <a:ext uri="{FF2B5EF4-FFF2-40B4-BE49-F238E27FC236}">
                <a16:creationId xmlns:a16="http://schemas.microsoft.com/office/drawing/2014/main" id="{80995469-C4FA-48F4-9097-DDF891DFD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215" y="813878"/>
            <a:ext cx="3233909" cy="1735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768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49DF8-11FC-4522-8C76-611DE145F1E0}"/>
              </a:ext>
            </a:extLst>
          </p:cNvPr>
          <p:cNvSpPr>
            <a:spLocks noGrp="1"/>
          </p:cNvSpPr>
          <p:nvPr>
            <p:ph type="title"/>
          </p:nvPr>
        </p:nvSpPr>
        <p:spPr/>
        <p:txBody>
          <a:bodyPr>
            <a:normAutofit/>
          </a:bodyPr>
          <a:lstStyle/>
          <a:p>
            <a:r>
              <a:rPr lang="en-US"/>
              <a:t>Thêm hình ảnh vào cửa sổ PyQt</a:t>
            </a:r>
          </a:p>
        </p:txBody>
      </p:sp>
      <p:sp>
        <p:nvSpPr>
          <p:cNvPr id="3" name="Content Placeholder 2">
            <a:extLst>
              <a:ext uri="{FF2B5EF4-FFF2-40B4-BE49-F238E27FC236}">
                <a16:creationId xmlns:a16="http://schemas.microsoft.com/office/drawing/2014/main" id="{3E561851-002F-43B3-A29F-0B23DA355468}"/>
              </a:ext>
            </a:extLst>
          </p:cNvPr>
          <p:cNvSpPr>
            <a:spLocks noGrp="1"/>
          </p:cNvSpPr>
          <p:nvPr>
            <p:ph idx="1"/>
          </p:nvPr>
        </p:nvSpPr>
        <p:spPr/>
        <p:txBody>
          <a:bodyPr/>
          <a:lstStyle/>
          <a:p>
            <a:pPr marL="0" indent="0">
              <a:buNone/>
            </a:pPr>
            <a:r>
              <a:rPr lang="en-US"/>
              <a:t>Đầu tiên chúng ta cần một số nhập khẩu từ PyQt5 và đây là những hàng import mà chúng ta cần.</a:t>
            </a:r>
          </a:p>
        </p:txBody>
      </p:sp>
      <p:sp>
        <p:nvSpPr>
          <p:cNvPr id="4" name="Rectangle 3">
            <a:extLst>
              <a:ext uri="{FF2B5EF4-FFF2-40B4-BE49-F238E27FC236}">
                <a16:creationId xmlns:a16="http://schemas.microsoft.com/office/drawing/2014/main" id="{F54364ED-7060-485B-9253-BAEB5B596AC8}"/>
              </a:ext>
            </a:extLst>
          </p:cNvPr>
          <p:cNvSpPr/>
          <p:nvPr/>
        </p:nvSpPr>
        <p:spPr>
          <a:xfrm>
            <a:off x="0" y="2164125"/>
            <a:ext cx="9124752" cy="3257174"/>
          </a:xfrm>
          <a:prstGeom prst="rect">
            <a:avLst/>
          </a:prstGeom>
        </p:spPr>
        <p:txBody>
          <a:bodyPr wrap="square">
            <a:spAutoFit/>
          </a:bodyPr>
          <a:lstStyle/>
          <a:p>
            <a:pPr>
              <a:lnSpc>
                <a:spcPct val="150000"/>
              </a:lnSpc>
            </a:pPr>
            <a:r>
              <a:rPr lang="en-US" sz="2800">
                <a:solidFill>
                  <a:srgbClr val="004ED0"/>
                </a:solidFill>
                <a:latin typeface="inherit"/>
              </a:rPr>
              <a:t>from PyQt5 import QtGui</a:t>
            </a:r>
            <a:endParaRPr lang="en-US" sz="2800">
              <a:solidFill>
                <a:srgbClr val="000000"/>
              </a:solidFill>
              <a:latin typeface="Monaco"/>
            </a:endParaRPr>
          </a:p>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p>
          <a:p>
            <a:pPr algn="r">
              <a:lnSpc>
                <a:spcPct val="150000"/>
              </a:lnSpc>
            </a:pPr>
            <a:r>
              <a:rPr lang="en-US" sz="2800">
                <a:solidFill>
                  <a:srgbClr val="002D7A"/>
                </a:solidFill>
                <a:latin typeface="inherit"/>
              </a:rPr>
              <a:t>QDialog</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QVBoxLayout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QLabel</a:t>
            </a:r>
            <a:endParaRPr lang="en-US" sz="2800">
              <a:solidFill>
                <a:srgbClr val="000000"/>
              </a:solidFill>
              <a:latin typeface="Monaco"/>
            </a:endParaRPr>
          </a:p>
          <a:p>
            <a:pPr>
              <a:lnSpc>
                <a:spcPct val="150000"/>
              </a:lnSpc>
            </a:pPr>
            <a:r>
              <a:rPr lang="en-US" sz="2800">
                <a:solidFill>
                  <a:srgbClr val="004ED0"/>
                </a:solidFill>
                <a:latin typeface="inherit"/>
              </a:rPr>
              <a:t>import sys</a:t>
            </a:r>
            <a:endParaRPr lang="en-US" sz="2800">
              <a:solidFill>
                <a:srgbClr val="000000"/>
              </a:solidFill>
              <a:latin typeface="Monaco"/>
            </a:endParaRPr>
          </a:p>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QtGui import </a:t>
            </a:r>
            <a:r>
              <a:rPr lang="en-US" sz="2800">
                <a:solidFill>
                  <a:srgbClr val="002D7A"/>
                </a:solidFill>
                <a:latin typeface="inherit"/>
              </a:rPr>
              <a:t>QPixmap</a:t>
            </a:r>
            <a:endParaRPr lang="en-US" sz="2800" b="0" i="0">
              <a:solidFill>
                <a:srgbClr val="000000"/>
              </a:solidFill>
              <a:effectLst/>
              <a:latin typeface="Monaco"/>
            </a:endParaRPr>
          </a:p>
        </p:txBody>
      </p:sp>
    </p:spTree>
    <p:extLst>
      <p:ext uri="{BB962C8B-B14F-4D97-AF65-F5344CB8AC3E}">
        <p14:creationId xmlns:p14="http://schemas.microsoft.com/office/powerpoint/2010/main" val="1401543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8D21F-BA69-4621-941F-9C9DECF00718}"/>
              </a:ext>
            </a:extLst>
          </p:cNvPr>
          <p:cNvSpPr>
            <a:spLocks noGrp="1"/>
          </p:cNvSpPr>
          <p:nvPr>
            <p:ph idx="1"/>
          </p:nvPr>
        </p:nvSpPr>
        <p:spPr>
          <a:xfrm>
            <a:off x="5025965" y="2475782"/>
            <a:ext cx="4088920" cy="2859024"/>
          </a:xfrm>
        </p:spPr>
        <p:txBody>
          <a:bodyPr>
            <a:normAutofit/>
          </a:bodyPr>
          <a:lstStyle/>
          <a:p>
            <a:pPr marL="0" indent="0" algn="just">
              <a:buNone/>
            </a:pPr>
            <a:r>
              <a:rPr lang="vi-VN" sz="2000" i="1"/>
              <a:t>Sau đó, chúng tôi tạo phương thức initWindow () và trong phương thức đó, chúng tôi đặt biểu tượng cửa sổ, tiêu đề và chúng tôi cũng thiết lập </a:t>
            </a:r>
            <a:r>
              <a:rPr lang="en-US" sz="2000" i="1"/>
              <a:t>vị trí </a:t>
            </a:r>
            <a:r>
              <a:rPr lang="vi-VN" sz="2000" i="1"/>
              <a:t>trong phương thức này trước tiên chúng tôi tạo ra một QVBoxLayout và sau đó tạo một đối tượng QLabel</a:t>
            </a:r>
            <a:r>
              <a:rPr lang="en-US" sz="2000" i="1"/>
              <a:t> </a:t>
            </a:r>
            <a:r>
              <a:rPr lang="vi-VN" sz="2000" i="1"/>
              <a:t>thêm hình ảnh chúng tôi cần tạo một đối tượng QPixmap</a:t>
            </a:r>
            <a:endParaRPr lang="en-US" sz="2000" i="1"/>
          </a:p>
        </p:txBody>
      </p:sp>
      <p:sp>
        <p:nvSpPr>
          <p:cNvPr id="4" name="Title 1">
            <a:extLst>
              <a:ext uri="{FF2B5EF4-FFF2-40B4-BE49-F238E27FC236}">
                <a16:creationId xmlns:a16="http://schemas.microsoft.com/office/drawing/2014/main" id="{5DECEE11-0360-4003-A19D-09C7E4B75D64}"/>
              </a:ext>
            </a:extLst>
          </p:cNvPr>
          <p:cNvSpPr>
            <a:spLocks noGrp="1"/>
          </p:cNvSpPr>
          <p:nvPr>
            <p:ph type="title"/>
          </p:nvPr>
        </p:nvSpPr>
        <p:spPr>
          <a:xfrm>
            <a:off x="9624" y="19250"/>
            <a:ext cx="9134375" cy="933651"/>
          </a:xfrm>
        </p:spPr>
        <p:txBody>
          <a:bodyPr>
            <a:normAutofit/>
          </a:bodyPr>
          <a:lstStyle/>
          <a:p>
            <a:r>
              <a:rPr lang="en-US"/>
              <a:t>Thêm hình ảnh vào cửa sổ PyQt (t.t)</a:t>
            </a:r>
          </a:p>
        </p:txBody>
      </p:sp>
      <p:sp>
        <p:nvSpPr>
          <p:cNvPr id="5" name="Rectangle 4">
            <a:extLst>
              <a:ext uri="{FF2B5EF4-FFF2-40B4-BE49-F238E27FC236}">
                <a16:creationId xmlns:a16="http://schemas.microsoft.com/office/drawing/2014/main" id="{94502081-F3AB-4AFA-B2C0-1C82CFBF4B00}"/>
              </a:ext>
            </a:extLst>
          </p:cNvPr>
          <p:cNvSpPr/>
          <p:nvPr/>
        </p:nvSpPr>
        <p:spPr>
          <a:xfrm>
            <a:off x="9623" y="802257"/>
            <a:ext cx="7866293" cy="4154984"/>
          </a:xfrm>
          <a:prstGeom prst="rect">
            <a:avLst/>
          </a:prstGeom>
        </p:spPr>
        <p:txBody>
          <a:bodyPr wrap="square">
            <a:spAutoFit/>
          </a:bodyPr>
          <a:lstStyle/>
          <a:p>
            <a:r>
              <a:rPr lang="en-US" sz="2400">
                <a:solidFill>
                  <a:srgbClr val="004ED0"/>
                </a:solidFill>
                <a:latin typeface="inherit"/>
              </a:rPr>
              <a:t>def InitWindow</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setWindowIcon</a:t>
            </a:r>
            <a:r>
              <a:rPr lang="en-US" sz="2400">
                <a:solidFill>
                  <a:srgbClr val="333333"/>
                </a:solidFill>
                <a:latin typeface="inherit"/>
              </a:rPr>
              <a:t>(</a:t>
            </a:r>
            <a:r>
              <a:rPr lang="en-US" sz="2400">
                <a:solidFill>
                  <a:srgbClr val="002D7A"/>
                </a:solidFill>
                <a:latin typeface="inherit"/>
              </a:rPr>
              <a:t>QtGui</a:t>
            </a:r>
            <a:r>
              <a:rPr lang="en-US" sz="2400">
                <a:solidFill>
                  <a:srgbClr val="333333"/>
                </a:solidFill>
                <a:latin typeface="inherit"/>
              </a:rPr>
              <a:t>.</a:t>
            </a:r>
            <a:r>
              <a:rPr lang="en-US" sz="2400">
                <a:solidFill>
                  <a:srgbClr val="004ED0"/>
                </a:solidFill>
                <a:latin typeface="inherit"/>
              </a:rPr>
              <a:t>QIcon</a:t>
            </a:r>
            <a:r>
              <a:rPr lang="en-US" sz="2400">
                <a:solidFill>
                  <a:srgbClr val="333333"/>
                </a:solidFill>
                <a:latin typeface="inherit"/>
              </a:rPr>
              <a:t>(</a:t>
            </a:r>
            <a:r>
              <a:rPr lang="en-US" sz="2400">
                <a:solidFill>
                  <a:srgbClr val="008000"/>
                </a:solidFill>
                <a:latin typeface="inherit"/>
              </a:rPr>
              <a:t>"icon.png"</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setWindowTitle</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setGeometry</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a:t>
            </a:r>
            <a:r>
              <a:rPr lang="en-US" sz="2400">
                <a:solidFill>
                  <a:srgbClr val="006FE0"/>
                </a:solidFill>
                <a:latin typeface="inherit"/>
              </a:rPr>
              <a:t> = </a:t>
            </a:r>
            <a:r>
              <a:rPr lang="en-US" sz="2400">
                <a:solidFill>
                  <a:srgbClr val="004ED0"/>
                </a:solidFill>
                <a:latin typeface="inherit"/>
              </a:rPr>
              <a:t>QVBoxLayout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labelImage</a:t>
            </a:r>
            <a:r>
              <a:rPr lang="en-US" sz="2400">
                <a:solidFill>
                  <a:srgbClr val="006FE0"/>
                </a:solidFill>
                <a:latin typeface="inherit"/>
              </a:rPr>
              <a:t> = </a:t>
            </a:r>
            <a:r>
              <a:rPr lang="en-US" sz="2400">
                <a:solidFill>
                  <a:srgbClr val="004ED0"/>
                </a:solidFill>
                <a:latin typeface="inherit"/>
              </a:rPr>
              <a:t>QLabel</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highlight>
                  <a:srgbClr val="FFFF00"/>
                </a:highlight>
                <a:latin typeface="inherit"/>
              </a:rPr>
              <a:t>pixmap</a:t>
            </a:r>
            <a:r>
              <a:rPr lang="en-US" sz="2400">
                <a:solidFill>
                  <a:srgbClr val="006FE0"/>
                </a:solidFill>
                <a:highlight>
                  <a:srgbClr val="FFFF00"/>
                </a:highlight>
                <a:latin typeface="inherit"/>
              </a:rPr>
              <a:t> = </a:t>
            </a:r>
            <a:r>
              <a:rPr lang="en-US" sz="2400">
                <a:solidFill>
                  <a:srgbClr val="004ED0"/>
                </a:solidFill>
                <a:highlight>
                  <a:srgbClr val="FFFF00"/>
                </a:highlight>
                <a:latin typeface="inherit"/>
              </a:rPr>
              <a:t>QPixmap</a:t>
            </a:r>
            <a:r>
              <a:rPr lang="en-US" sz="2400">
                <a:solidFill>
                  <a:srgbClr val="333333"/>
                </a:solidFill>
                <a:highlight>
                  <a:srgbClr val="FFFF00"/>
                </a:highlight>
                <a:latin typeface="inherit"/>
              </a:rPr>
              <a:t>(</a:t>
            </a:r>
            <a:r>
              <a:rPr lang="en-US" sz="2400">
                <a:solidFill>
                  <a:srgbClr val="008000"/>
                </a:solidFill>
                <a:highlight>
                  <a:srgbClr val="FFFF00"/>
                </a:highlight>
                <a:latin typeface="inherit"/>
              </a:rPr>
              <a:t>"pic2.jpg"</a:t>
            </a:r>
            <a:r>
              <a:rPr lang="en-US" sz="2400">
                <a:solidFill>
                  <a:srgbClr val="333333"/>
                </a:solidFill>
                <a:highlight>
                  <a:srgbClr val="FFFF00"/>
                </a:highlight>
                <a:latin typeface="inherit"/>
              </a:rPr>
              <a:t>)</a:t>
            </a:r>
            <a:endParaRPr lang="en-US" sz="2400">
              <a:solidFill>
                <a:srgbClr val="000000"/>
              </a:solidFill>
              <a:highlight>
                <a:srgbClr val="FFFF00"/>
              </a:highlight>
              <a:latin typeface="Monaco"/>
            </a:endParaRPr>
          </a:p>
          <a:p>
            <a:r>
              <a:rPr lang="en-US" sz="2400">
                <a:solidFill>
                  <a:srgbClr val="006FE0"/>
                </a:solidFill>
                <a:latin typeface="inherit"/>
              </a:rPr>
              <a:t>        </a:t>
            </a:r>
            <a:r>
              <a:rPr lang="en-US" sz="2400">
                <a:solidFill>
                  <a:srgbClr val="002D7A"/>
                </a:solidFill>
                <a:latin typeface="inherit"/>
              </a:rPr>
              <a:t>labelImage</a:t>
            </a:r>
            <a:r>
              <a:rPr lang="en-US" sz="2400">
                <a:solidFill>
                  <a:srgbClr val="333333"/>
                </a:solidFill>
                <a:latin typeface="inherit"/>
              </a:rPr>
              <a:t>.</a:t>
            </a:r>
            <a:r>
              <a:rPr lang="en-US" sz="2400">
                <a:solidFill>
                  <a:srgbClr val="004ED0"/>
                </a:solidFill>
                <a:latin typeface="inherit"/>
              </a:rPr>
              <a:t>setPixmap</a:t>
            </a:r>
            <a:r>
              <a:rPr lang="en-US" sz="2400">
                <a:solidFill>
                  <a:srgbClr val="333333"/>
                </a:solidFill>
                <a:latin typeface="inherit"/>
              </a:rPr>
              <a:t>(</a:t>
            </a:r>
            <a:r>
              <a:rPr lang="en-US" sz="2400">
                <a:solidFill>
                  <a:srgbClr val="002D7A"/>
                </a:solidFill>
                <a:latin typeface="inherit"/>
              </a:rPr>
              <a:t>pixmap</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a:t>
            </a:r>
            <a:r>
              <a:rPr lang="en-US" sz="2400">
                <a:solidFill>
                  <a:srgbClr val="333333"/>
                </a:solidFill>
                <a:latin typeface="inherit"/>
              </a:rPr>
              <a:t>.</a:t>
            </a:r>
            <a:r>
              <a:rPr lang="en-US" sz="2400">
                <a:solidFill>
                  <a:srgbClr val="004ED0"/>
                </a:solidFill>
                <a:latin typeface="inherit"/>
              </a:rPr>
              <a:t>addWidget</a:t>
            </a:r>
            <a:r>
              <a:rPr lang="en-US" sz="2400">
                <a:solidFill>
                  <a:srgbClr val="333333"/>
                </a:solidFill>
                <a:latin typeface="inherit"/>
              </a:rPr>
              <a:t>(</a:t>
            </a:r>
            <a:r>
              <a:rPr lang="en-US" sz="2400">
                <a:solidFill>
                  <a:srgbClr val="002D7A"/>
                </a:solidFill>
                <a:latin typeface="inherit"/>
              </a:rPr>
              <a:t>labelImage</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setLayout</a:t>
            </a:r>
            <a:r>
              <a:rPr lang="en-US" sz="2400">
                <a:solidFill>
                  <a:srgbClr val="333333"/>
                </a:solidFill>
                <a:latin typeface="inherit"/>
              </a:rPr>
              <a:t>(</a:t>
            </a:r>
            <a:r>
              <a:rPr lang="en-US" sz="2400">
                <a:solidFill>
                  <a:srgbClr val="002D7A"/>
                </a:solidFill>
                <a:latin typeface="inherit"/>
              </a:rPr>
              <a:t>vbox</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b="0" i="0">
              <a:solidFill>
                <a:srgbClr val="000000"/>
              </a:solidFill>
              <a:effectLst/>
              <a:latin typeface="Monaco"/>
            </a:endParaRPr>
          </a:p>
        </p:txBody>
      </p:sp>
      <p:pic>
        <p:nvPicPr>
          <p:cNvPr id="7170" name="Picture 2" descr="PyQt5 QImage Example">
            <a:extLst>
              <a:ext uri="{FF2B5EF4-FFF2-40B4-BE49-F238E27FC236}">
                <a16:creationId xmlns:a16="http://schemas.microsoft.com/office/drawing/2014/main" id="{FDDB7E24-4AAD-4684-B425-8A8F3B418D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5553" y="4952639"/>
            <a:ext cx="3033262" cy="1819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787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D4FD3-C097-4150-A43A-4AE0FF9CD829}"/>
              </a:ext>
            </a:extLst>
          </p:cNvPr>
          <p:cNvSpPr>
            <a:spLocks noGrp="1"/>
          </p:cNvSpPr>
          <p:nvPr>
            <p:ph type="title"/>
          </p:nvPr>
        </p:nvSpPr>
        <p:spPr/>
        <p:txBody>
          <a:bodyPr>
            <a:normAutofit/>
          </a:bodyPr>
          <a:lstStyle/>
          <a:p>
            <a:r>
              <a:rPr lang="en-US"/>
              <a:t>Tạo QRadioButton với Toggled Signal</a:t>
            </a:r>
          </a:p>
        </p:txBody>
      </p:sp>
      <p:sp>
        <p:nvSpPr>
          <p:cNvPr id="3" name="Content Placeholder 2">
            <a:extLst>
              <a:ext uri="{FF2B5EF4-FFF2-40B4-BE49-F238E27FC236}">
                <a16:creationId xmlns:a16="http://schemas.microsoft.com/office/drawing/2014/main" id="{1E903BBA-2C9D-4C2E-85B3-9B5C7532B919}"/>
              </a:ext>
            </a:extLst>
          </p:cNvPr>
          <p:cNvSpPr>
            <a:spLocks noGrp="1"/>
          </p:cNvSpPr>
          <p:nvPr>
            <p:ph idx="1"/>
          </p:nvPr>
        </p:nvSpPr>
        <p:spPr>
          <a:xfrm>
            <a:off x="9624" y="952902"/>
            <a:ext cx="9134375" cy="720623"/>
          </a:xfrm>
        </p:spPr>
        <p:txBody>
          <a:bodyPr/>
          <a:lstStyle/>
          <a:p>
            <a:r>
              <a:rPr lang="en-US"/>
              <a:t>Đầu tiên chúng ta cần một số import từ PyQt5</a:t>
            </a:r>
          </a:p>
        </p:txBody>
      </p:sp>
      <p:sp>
        <p:nvSpPr>
          <p:cNvPr id="4" name="Rectangle 3">
            <a:extLst>
              <a:ext uri="{FF2B5EF4-FFF2-40B4-BE49-F238E27FC236}">
                <a16:creationId xmlns:a16="http://schemas.microsoft.com/office/drawing/2014/main" id="{384CBD9C-77A4-4F3A-99E8-5828E0960E04}"/>
              </a:ext>
            </a:extLst>
          </p:cNvPr>
          <p:cNvSpPr/>
          <p:nvPr/>
        </p:nvSpPr>
        <p:spPr>
          <a:xfrm>
            <a:off x="19247" y="1895753"/>
            <a:ext cx="9124752" cy="3359061"/>
          </a:xfrm>
          <a:prstGeom prst="rect">
            <a:avLst/>
          </a:prstGeom>
        </p:spPr>
        <p:txBody>
          <a:bodyPr wrap="square">
            <a:spAutoFit/>
          </a:bodyPr>
          <a:lstStyle/>
          <a:p>
            <a:pPr>
              <a:lnSpc>
                <a:spcPct val="150000"/>
              </a:lnSpc>
            </a:pPr>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QtWidgets import </a:t>
            </a:r>
            <a:r>
              <a:rPr lang="en-US" sz="2400">
                <a:solidFill>
                  <a:srgbClr val="002D7A"/>
                </a:solidFill>
                <a:latin typeface="inherit"/>
              </a:rPr>
              <a:t>QApplication</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QDialog</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QRadioButton</a:t>
            </a:r>
            <a:r>
              <a:rPr lang="en-US" sz="2400">
                <a:solidFill>
                  <a:srgbClr val="333333"/>
                </a:solidFill>
                <a:latin typeface="inherit"/>
              </a:rPr>
              <a:t>,</a:t>
            </a:r>
            <a:r>
              <a:rPr lang="en-US" sz="2400">
                <a:solidFill>
                  <a:srgbClr val="006FE0"/>
                </a:solidFill>
                <a:latin typeface="inherit"/>
              </a:rPr>
              <a:t> </a:t>
            </a:r>
          </a:p>
          <a:p>
            <a:pPr algn="r">
              <a:lnSpc>
                <a:spcPct val="150000"/>
              </a:lnSpc>
            </a:pPr>
            <a:r>
              <a:rPr lang="en-US" sz="2400">
                <a:solidFill>
                  <a:srgbClr val="002D7A"/>
                </a:solidFill>
                <a:latin typeface="inherit"/>
              </a:rPr>
              <a:t>QHBoxLayout</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QGroupBox</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QVBoxLayout</a:t>
            </a:r>
            <a:r>
              <a:rPr lang="en-US" sz="2400">
                <a:solidFill>
                  <a:srgbClr val="333333"/>
                </a:solidFill>
                <a:latin typeface="inherit"/>
              </a:rPr>
              <a:t>,</a:t>
            </a:r>
            <a:r>
              <a:rPr lang="en-US" sz="2400">
                <a:solidFill>
                  <a:srgbClr val="006FE0"/>
                </a:solidFill>
                <a:latin typeface="inherit"/>
              </a:rPr>
              <a:t> </a:t>
            </a:r>
            <a:r>
              <a:rPr lang="en-US" sz="2400">
                <a:solidFill>
                  <a:srgbClr val="004ED0"/>
                </a:solidFill>
                <a:latin typeface="inherit"/>
              </a:rPr>
              <a:t>QLabel</a:t>
            </a:r>
            <a:endParaRPr lang="en-US" sz="2400">
              <a:solidFill>
                <a:srgbClr val="000000"/>
              </a:solidFill>
              <a:latin typeface="Monaco"/>
            </a:endParaRPr>
          </a:p>
          <a:p>
            <a:pPr>
              <a:lnSpc>
                <a:spcPct val="150000"/>
              </a:lnSpc>
            </a:pPr>
            <a:r>
              <a:rPr lang="en-US" sz="2400">
                <a:solidFill>
                  <a:srgbClr val="004ED0"/>
                </a:solidFill>
                <a:latin typeface="inherit"/>
              </a:rPr>
              <a:t>import sys</a:t>
            </a:r>
            <a:endParaRPr lang="en-US" sz="2400">
              <a:solidFill>
                <a:srgbClr val="000000"/>
              </a:solidFill>
              <a:latin typeface="Monaco"/>
            </a:endParaRPr>
          </a:p>
          <a:p>
            <a:pPr>
              <a:lnSpc>
                <a:spcPct val="150000"/>
              </a:lnSpc>
            </a:pPr>
            <a:r>
              <a:rPr lang="en-US" sz="2400">
                <a:solidFill>
                  <a:srgbClr val="004ED0"/>
                </a:solidFill>
                <a:latin typeface="inherit"/>
              </a:rPr>
              <a:t>from PyQt5 import QtGui</a:t>
            </a:r>
            <a:endParaRPr lang="en-US" sz="2400">
              <a:solidFill>
                <a:srgbClr val="000000"/>
              </a:solidFill>
              <a:latin typeface="Monaco"/>
            </a:endParaRPr>
          </a:p>
          <a:p>
            <a:pPr>
              <a:lnSpc>
                <a:spcPct val="150000"/>
              </a:lnSpc>
            </a:pPr>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QtCore import QRect</a:t>
            </a:r>
            <a:endParaRPr lang="en-US" sz="2400">
              <a:solidFill>
                <a:srgbClr val="000000"/>
              </a:solidFill>
              <a:latin typeface="Monaco"/>
            </a:endParaRPr>
          </a:p>
          <a:p>
            <a:pPr>
              <a:lnSpc>
                <a:spcPct val="150000"/>
              </a:lnSpc>
            </a:pPr>
            <a:r>
              <a:rPr lang="en-US" sz="2400">
                <a:solidFill>
                  <a:srgbClr val="004ED0"/>
                </a:solidFill>
                <a:latin typeface="inherit"/>
              </a:rPr>
              <a:t>from PyQt5 import </a:t>
            </a:r>
            <a:r>
              <a:rPr lang="en-US" sz="2400">
                <a:solidFill>
                  <a:srgbClr val="002D7A"/>
                </a:solidFill>
                <a:latin typeface="inherit"/>
              </a:rPr>
              <a:t>QtCore</a:t>
            </a:r>
            <a:endParaRPr lang="en-US" sz="2400" b="0" i="0">
              <a:solidFill>
                <a:srgbClr val="000000"/>
              </a:solidFill>
              <a:effectLst/>
              <a:latin typeface="Monaco"/>
            </a:endParaRPr>
          </a:p>
        </p:txBody>
      </p:sp>
    </p:spTree>
    <p:extLst>
      <p:ext uri="{BB962C8B-B14F-4D97-AF65-F5344CB8AC3E}">
        <p14:creationId xmlns:p14="http://schemas.microsoft.com/office/powerpoint/2010/main" val="782031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186B5-8897-4AD0-8920-B9BF828781F9}"/>
              </a:ext>
            </a:extLst>
          </p:cNvPr>
          <p:cNvSpPr>
            <a:spLocks noGrp="1"/>
          </p:cNvSpPr>
          <p:nvPr>
            <p:ph idx="1"/>
          </p:nvPr>
        </p:nvSpPr>
        <p:spPr/>
        <p:txBody>
          <a:bodyPr>
            <a:normAutofit/>
          </a:bodyPr>
          <a:lstStyle/>
          <a:p>
            <a:pPr marL="0" indent="0">
              <a:buNone/>
            </a:pPr>
            <a:r>
              <a:rPr lang="en-US" sz="2400"/>
              <a:t>C</a:t>
            </a:r>
            <a:r>
              <a:rPr lang="vi-VN" sz="2400"/>
              <a:t>húng t</a:t>
            </a:r>
            <a:r>
              <a:rPr lang="en-US" sz="2400"/>
              <a:t>a</a:t>
            </a:r>
            <a:r>
              <a:rPr lang="vi-VN" sz="2400"/>
              <a:t> tạo ra phương </a:t>
            </a:r>
            <a:r>
              <a:rPr lang="en-US" sz="2400"/>
              <a:t>thức </a:t>
            </a:r>
            <a:r>
              <a:rPr lang="vi-VN" sz="2400"/>
              <a:t>của chúng tôi InitWindow() và phương </a:t>
            </a:r>
            <a:r>
              <a:rPr lang="en-US" sz="2400"/>
              <a:t>thức </a:t>
            </a:r>
            <a:r>
              <a:rPr lang="vi-VN" sz="2400"/>
              <a:t>mà chúng tôi đặt tiêu đề, biểu tượng và </a:t>
            </a:r>
            <a:r>
              <a:rPr lang="en-US" sz="2400"/>
              <a:t>vị trí </a:t>
            </a:r>
            <a:r>
              <a:rPr lang="vi-VN" sz="2400"/>
              <a:t>cửa sổ của chúng ta sẽ tạo ra</a:t>
            </a:r>
            <a:r>
              <a:rPr lang="en-US" sz="2400"/>
              <a:t> </a:t>
            </a:r>
            <a:r>
              <a:rPr lang="vi-VN" sz="2400"/>
              <a:t>một</a:t>
            </a:r>
            <a:r>
              <a:rPr lang="en-US" sz="2400"/>
              <a:t> </a:t>
            </a:r>
            <a:r>
              <a:rPr lang="vi-VN" sz="2400"/>
              <a:t>QVBoxLayout</a:t>
            </a:r>
            <a:r>
              <a:rPr lang="en-US" sz="2400"/>
              <a:t> </a:t>
            </a:r>
            <a:r>
              <a:rPr lang="vi-VN" sz="2400"/>
              <a:t>cũng</a:t>
            </a:r>
            <a:r>
              <a:rPr lang="en-US" sz="2400"/>
              <a:t> </a:t>
            </a:r>
            <a:r>
              <a:rPr lang="vi-VN" sz="2400"/>
              <a:t>là</a:t>
            </a:r>
            <a:r>
              <a:rPr lang="en-US" sz="2400"/>
              <a:t> </a:t>
            </a:r>
            <a:r>
              <a:rPr lang="vi-VN" sz="2400"/>
              <a:t>một</a:t>
            </a:r>
            <a:r>
              <a:rPr lang="en-US" sz="2400"/>
              <a:t> </a:t>
            </a:r>
            <a:r>
              <a:rPr lang="vi-VN" sz="2400"/>
              <a:t>QLabel</a:t>
            </a:r>
            <a:endParaRPr lang="en-US" sz="2400"/>
          </a:p>
        </p:txBody>
      </p:sp>
      <p:sp>
        <p:nvSpPr>
          <p:cNvPr id="4" name="Title 1">
            <a:extLst>
              <a:ext uri="{FF2B5EF4-FFF2-40B4-BE49-F238E27FC236}">
                <a16:creationId xmlns:a16="http://schemas.microsoft.com/office/drawing/2014/main" id="{C6F3CBA5-F342-4A08-B181-1B14337144C4}"/>
              </a:ext>
            </a:extLst>
          </p:cNvPr>
          <p:cNvSpPr>
            <a:spLocks noGrp="1"/>
          </p:cNvSpPr>
          <p:nvPr>
            <p:ph type="title"/>
          </p:nvPr>
        </p:nvSpPr>
        <p:spPr>
          <a:xfrm>
            <a:off x="9624" y="19250"/>
            <a:ext cx="9134375" cy="933651"/>
          </a:xfrm>
        </p:spPr>
        <p:txBody>
          <a:bodyPr>
            <a:normAutofit fontScale="90000"/>
          </a:bodyPr>
          <a:lstStyle/>
          <a:p>
            <a:r>
              <a:rPr lang="en-US"/>
              <a:t>Tạo QRadioButton với Toggled Signal (t.t)</a:t>
            </a:r>
          </a:p>
        </p:txBody>
      </p:sp>
      <p:sp>
        <p:nvSpPr>
          <p:cNvPr id="5" name="Rectangle 4">
            <a:extLst>
              <a:ext uri="{FF2B5EF4-FFF2-40B4-BE49-F238E27FC236}">
                <a16:creationId xmlns:a16="http://schemas.microsoft.com/office/drawing/2014/main" id="{7FE6A7DA-83E1-48A7-993F-63F66363AAFE}"/>
              </a:ext>
            </a:extLst>
          </p:cNvPr>
          <p:cNvSpPr/>
          <p:nvPr/>
        </p:nvSpPr>
        <p:spPr>
          <a:xfrm>
            <a:off x="405442" y="2159357"/>
            <a:ext cx="8013940" cy="4524315"/>
          </a:xfrm>
          <a:prstGeom prst="rect">
            <a:avLst/>
          </a:prstGeom>
        </p:spPr>
        <p:txBody>
          <a:bodyPr wrap="square">
            <a:spAutoFit/>
          </a:bodyPr>
          <a:lstStyle/>
          <a:p>
            <a:r>
              <a:rPr lang="en-US" sz="2400">
                <a:solidFill>
                  <a:srgbClr val="004ED0"/>
                </a:solidFill>
                <a:latin typeface="inherit"/>
              </a:rPr>
              <a:t>def InitWindow</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setWindowIcon</a:t>
            </a:r>
            <a:r>
              <a:rPr lang="en-US" sz="2400">
                <a:solidFill>
                  <a:srgbClr val="333333"/>
                </a:solidFill>
                <a:latin typeface="inherit"/>
              </a:rPr>
              <a:t>(</a:t>
            </a:r>
            <a:r>
              <a:rPr lang="en-US" sz="2400">
                <a:solidFill>
                  <a:srgbClr val="002D7A"/>
                </a:solidFill>
                <a:latin typeface="inherit"/>
              </a:rPr>
              <a:t>QtGui</a:t>
            </a:r>
            <a:r>
              <a:rPr lang="en-US" sz="2400">
                <a:solidFill>
                  <a:srgbClr val="333333"/>
                </a:solidFill>
                <a:latin typeface="inherit"/>
              </a:rPr>
              <a:t>.</a:t>
            </a:r>
            <a:r>
              <a:rPr lang="en-US" sz="2400">
                <a:solidFill>
                  <a:srgbClr val="004ED0"/>
                </a:solidFill>
                <a:latin typeface="inherit"/>
              </a:rPr>
              <a:t>QIcon</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iconName</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setWindowTitle</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setGeometry</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CreateLayout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a:t>
            </a:r>
            <a:r>
              <a:rPr lang="en-US" sz="2400">
                <a:solidFill>
                  <a:srgbClr val="006FE0"/>
                </a:solidFill>
                <a:latin typeface="inherit"/>
              </a:rPr>
              <a:t> = </a:t>
            </a:r>
            <a:r>
              <a:rPr lang="en-US" sz="2400">
                <a:solidFill>
                  <a:srgbClr val="004ED0"/>
                </a:solidFill>
                <a:latin typeface="inherit"/>
              </a:rPr>
              <a:t>QVBoxLayout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a:t>
            </a:r>
            <a:r>
              <a:rPr lang="en-US" sz="2400">
                <a:solidFill>
                  <a:srgbClr val="333333"/>
                </a:solidFill>
                <a:latin typeface="inherit"/>
              </a:rPr>
              <a:t>.</a:t>
            </a:r>
            <a:r>
              <a:rPr lang="en-US" sz="2400">
                <a:solidFill>
                  <a:srgbClr val="004ED0"/>
                </a:solidFill>
                <a:latin typeface="inherit"/>
              </a:rPr>
              <a:t>addWidget</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groupBox</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label</a:t>
            </a:r>
            <a:r>
              <a:rPr lang="en-US" sz="2400">
                <a:solidFill>
                  <a:srgbClr val="006FE0"/>
                </a:solidFill>
                <a:latin typeface="inherit"/>
              </a:rPr>
              <a:t> = </a:t>
            </a:r>
            <a:r>
              <a:rPr lang="en-US" sz="2400">
                <a:solidFill>
                  <a:srgbClr val="004ED0"/>
                </a:solidFill>
                <a:latin typeface="inherit"/>
              </a:rPr>
              <a:t>QLabel</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label</a:t>
            </a:r>
            <a:r>
              <a:rPr lang="en-US" sz="2400">
                <a:solidFill>
                  <a:srgbClr val="333333"/>
                </a:solidFill>
                <a:latin typeface="inherit"/>
              </a:rPr>
              <a:t>.</a:t>
            </a:r>
            <a:r>
              <a:rPr lang="en-US" sz="2400">
                <a:solidFill>
                  <a:srgbClr val="004ED0"/>
                </a:solidFill>
                <a:latin typeface="inherit"/>
              </a:rPr>
              <a:t>setFont</a:t>
            </a:r>
            <a:r>
              <a:rPr lang="en-US" sz="2400">
                <a:solidFill>
                  <a:srgbClr val="333333"/>
                </a:solidFill>
                <a:latin typeface="inherit"/>
              </a:rPr>
              <a:t>(</a:t>
            </a:r>
            <a:r>
              <a:rPr lang="en-US" sz="2400">
                <a:solidFill>
                  <a:srgbClr val="002D7A"/>
                </a:solidFill>
                <a:latin typeface="inherit"/>
              </a:rPr>
              <a:t>QtGui</a:t>
            </a:r>
            <a:r>
              <a:rPr lang="en-US" sz="2400">
                <a:solidFill>
                  <a:srgbClr val="333333"/>
                </a:solidFill>
                <a:latin typeface="inherit"/>
              </a:rPr>
              <a:t>.</a:t>
            </a:r>
            <a:r>
              <a:rPr lang="en-US" sz="2400">
                <a:solidFill>
                  <a:srgbClr val="004ED0"/>
                </a:solidFill>
                <a:latin typeface="inherit"/>
              </a:rPr>
              <a:t>QFont</a:t>
            </a:r>
            <a:r>
              <a:rPr lang="en-US" sz="2400">
                <a:solidFill>
                  <a:srgbClr val="333333"/>
                </a:solidFill>
                <a:latin typeface="inherit"/>
              </a:rPr>
              <a:t>(</a:t>
            </a:r>
            <a:r>
              <a:rPr lang="en-US" sz="2400">
                <a:solidFill>
                  <a:srgbClr val="008000"/>
                </a:solidFill>
                <a:latin typeface="inherit"/>
              </a:rPr>
              <a:t>"Sanserif"</a:t>
            </a:r>
            <a:r>
              <a:rPr lang="en-US" sz="2400">
                <a:solidFill>
                  <a:srgbClr val="333333"/>
                </a:solidFill>
                <a:latin typeface="inherit"/>
              </a:rPr>
              <a:t>,</a:t>
            </a:r>
            <a:r>
              <a:rPr lang="en-US" sz="2400">
                <a:solidFill>
                  <a:srgbClr val="CE0000"/>
                </a:solidFill>
                <a:latin typeface="inherit"/>
              </a:rPr>
              <a:t>15</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a:t>
            </a:r>
            <a:r>
              <a:rPr lang="en-US" sz="2400">
                <a:solidFill>
                  <a:srgbClr val="333333"/>
                </a:solidFill>
                <a:latin typeface="inherit"/>
              </a:rPr>
              <a:t>.</a:t>
            </a:r>
            <a:r>
              <a:rPr lang="en-US" sz="2400">
                <a:solidFill>
                  <a:srgbClr val="004ED0"/>
                </a:solidFill>
                <a:latin typeface="inherit"/>
              </a:rPr>
              <a:t>addWidget</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label</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setLayout</a:t>
            </a:r>
            <a:r>
              <a:rPr lang="en-US" sz="2400">
                <a:solidFill>
                  <a:srgbClr val="333333"/>
                </a:solidFill>
                <a:latin typeface="inherit"/>
              </a:rPr>
              <a:t>(</a:t>
            </a:r>
            <a:r>
              <a:rPr lang="en-US" sz="2400">
                <a:solidFill>
                  <a:srgbClr val="002D7A"/>
                </a:solidFill>
                <a:latin typeface="inherit"/>
              </a:rPr>
              <a:t>vbox</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102005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F73D2-C503-46F6-A8CE-99FA60248451}"/>
              </a:ext>
            </a:extLst>
          </p:cNvPr>
          <p:cNvSpPr>
            <a:spLocks noGrp="1"/>
          </p:cNvSpPr>
          <p:nvPr>
            <p:ph idx="1"/>
          </p:nvPr>
        </p:nvSpPr>
        <p:spPr>
          <a:xfrm>
            <a:off x="9625" y="569343"/>
            <a:ext cx="9134375" cy="6036493"/>
          </a:xfrm>
        </p:spPr>
        <p:txBody>
          <a:bodyPr>
            <a:normAutofit/>
          </a:bodyPr>
          <a:lstStyle/>
          <a:p>
            <a:pPr marL="0" indent="0">
              <a:buNone/>
            </a:pPr>
            <a:r>
              <a:rPr lang="vi-VN" sz="2000"/>
              <a:t>Và bây giờ tạo phương thức radioButton() và trong đó tạo ba QRadioButton</a:t>
            </a:r>
            <a:endParaRPr lang="en-US" sz="2000"/>
          </a:p>
        </p:txBody>
      </p:sp>
      <p:sp>
        <p:nvSpPr>
          <p:cNvPr id="4" name="Title 1">
            <a:extLst>
              <a:ext uri="{FF2B5EF4-FFF2-40B4-BE49-F238E27FC236}">
                <a16:creationId xmlns:a16="http://schemas.microsoft.com/office/drawing/2014/main" id="{386B18AF-A266-4682-ABF5-65DBE1183E55}"/>
              </a:ext>
            </a:extLst>
          </p:cNvPr>
          <p:cNvSpPr>
            <a:spLocks noGrp="1"/>
          </p:cNvSpPr>
          <p:nvPr>
            <p:ph type="title"/>
          </p:nvPr>
        </p:nvSpPr>
        <p:spPr>
          <a:xfrm>
            <a:off x="9624" y="19250"/>
            <a:ext cx="9134375" cy="550093"/>
          </a:xfrm>
        </p:spPr>
        <p:txBody>
          <a:bodyPr>
            <a:normAutofit fontScale="90000"/>
          </a:bodyPr>
          <a:lstStyle/>
          <a:p>
            <a:r>
              <a:rPr lang="en-US" sz="3600"/>
              <a:t>Tạo QRadioButton với Toggled Signal (t.t)</a:t>
            </a:r>
          </a:p>
        </p:txBody>
      </p:sp>
      <p:sp>
        <p:nvSpPr>
          <p:cNvPr id="5" name="Rectangle 4">
            <a:extLst>
              <a:ext uri="{FF2B5EF4-FFF2-40B4-BE49-F238E27FC236}">
                <a16:creationId xmlns:a16="http://schemas.microsoft.com/office/drawing/2014/main" id="{3FDDD638-DF43-4C2F-8282-CA42950A12BE}"/>
              </a:ext>
            </a:extLst>
          </p:cNvPr>
          <p:cNvSpPr/>
          <p:nvPr/>
        </p:nvSpPr>
        <p:spPr>
          <a:xfrm>
            <a:off x="9624" y="871681"/>
            <a:ext cx="9262774" cy="6186309"/>
          </a:xfrm>
          <a:prstGeom prst="rect">
            <a:avLst/>
          </a:prstGeom>
        </p:spPr>
        <p:txBody>
          <a:bodyPr wrap="square">
            <a:spAutoFit/>
          </a:bodyPr>
          <a:lstStyle/>
          <a:p>
            <a:r>
              <a:rPr lang="en-US" sz="1600">
                <a:solidFill>
                  <a:srgbClr val="004ED0"/>
                </a:solidFill>
                <a:latin typeface="inherit"/>
              </a:rPr>
              <a:t>def radioButton</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groupBox</a:t>
            </a:r>
            <a:r>
              <a:rPr lang="en-US" sz="1600">
                <a:solidFill>
                  <a:srgbClr val="006FE0"/>
                </a:solidFill>
                <a:latin typeface="inherit"/>
              </a:rPr>
              <a:t> = </a:t>
            </a:r>
            <a:r>
              <a:rPr lang="en-US" sz="1600">
                <a:solidFill>
                  <a:srgbClr val="004ED0"/>
                </a:solidFill>
                <a:latin typeface="inherit"/>
              </a:rPr>
              <a:t>QGroupBox</a:t>
            </a:r>
            <a:r>
              <a:rPr lang="en-US" sz="1600">
                <a:solidFill>
                  <a:srgbClr val="333333"/>
                </a:solidFill>
                <a:latin typeface="inherit"/>
              </a:rPr>
              <a:t>(</a:t>
            </a:r>
            <a:r>
              <a:rPr lang="en-US" sz="1600">
                <a:solidFill>
                  <a:srgbClr val="008000"/>
                </a:solidFill>
                <a:latin typeface="inherit"/>
              </a:rPr>
              <a:t>"What Is Your Favorite Programming Language ?"</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groupBox</a:t>
            </a:r>
            <a:r>
              <a:rPr lang="en-US" sz="1600">
                <a:solidFill>
                  <a:srgbClr val="333333"/>
                </a:solidFill>
                <a:latin typeface="inherit"/>
              </a:rPr>
              <a:t>.</a:t>
            </a:r>
            <a:r>
              <a:rPr lang="en-US" sz="1600">
                <a:solidFill>
                  <a:srgbClr val="004ED0"/>
                </a:solidFill>
                <a:latin typeface="inherit"/>
              </a:rPr>
              <a:t>setFont</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QFont</a:t>
            </a:r>
            <a:r>
              <a:rPr lang="en-US" sz="1600">
                <a:solidFill>
                  <a:srgbClr val="333333"/>
                </a:solidFill>
                <a:latin typeface="inherit"/>
              </a:rPr>
              <a:t>(</a:t>
            </a:r>
            <a:r>
              <a:rPr lang="en-US" sz="1600">
                <a:solidFill>
                  <a:srgbClr val="008000"/>
                </a:solidFill>
                <a:latin typeface="inherit"/>
              </a:rPr>
              <a:t>"Sanserif"</a:t>
            </a:r>
            <a:r>
              <a:rPr lang="en-US" sz="1600">
                <a:solidFill>
                  <a:srgbClr val="333333"/>
                </a:solidFill>
                <a:latin typeface="inherit"/>
              </a:rPr>
              <a:t>,</a:t>
            </a:r>
            <a:r>
              <a:rPr lang="en-US" sz="1600">
                <a:solidFill>
                  <a:srgbClr val="CE0000"/>
                </a:solidFill>
                <a:latin typeface="inherit"/>
              </a:rPr>
              <a:t>13</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002D7A"/>
                </a:solidFill>
                <a:latin typeface="inherit"/>
              </a:rPr>
              <a:t>hboxLayout</a:t>
            </a:r>
            <a:r>
              <a:rPr lang="en-US" sz="1600">
                <a:solidFill>
                  <a:srgbClr val="006FE0"/>
                </a:solidFill>
                <a:latin typeface="inherit"/>
              </a:rPr>
              <a:t> = </a:t>
            </a:r>
            <a:r>
              <a:rPr lang="en-US" sz="1600">
                <a:solidFill>
                  <a:srgbClr val="004ED0"/>
                </a:solidFill>
                <a:latin typeface="inherit"/>
              </a:rPr>
              <a:t>QHBoxLayout</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radiobtn1</a:t>
            </a:r>
            <a:r>
              <a:rPr lang="en-US" sz="1600">
                <a:solidFill>
                  <a:srgbClr val="006FE0"/>
                </a:solidFill>
                <a:latin typeface="inherit"/>
              </a:rPr>
              <a:t> = </a:t>
            </a:r>
            <a:r>
              <a:rPr lang="en-US" sz="1600">
                <a:solidFill>
                  <a:srgbClr val="004ED0"/>
                </a:solidFill>
                <a:latin typeface="inherit"/>
              </a:rPr>
              <a:t>QRadioButton</a:t>
            </a:r>
            <a:r>
              <a:rPr lang="en-US" sz="1600">
                <a:solidFill>
                  <a:srgbClr val="333333"/>
                </a:solidFill>
                <a:latin typeface="inherit"/>
              </a:rPr>
              <a:t>(</a:t>
            </a:r>
            <a:r>
              <a:rPr lang="en-US" sz="1600">
                <a:solidFill>
                  <a:srgbClr val="008000"/>
                </a:solidFill>
                <a:latin typeface="inherit"/>
              </a:rPr>
              <a:t>"Football"</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radiobtn1</a:t>
            </a:r>
            <a:r>
              <a:rPr lang="en-US" sz="1600">
                <a:solidFill>
                  <a:srgbClr val="333333"/>
                </a:solidFill>
                <a:latin typeface="inherit"/>
              </a:rPr>
              <a:t>.</a:t>
            </a:r>
            <a:r>
              <a:rPr lang="en-US" sz="1600">
                <a:solidFill>
                  <a:srgbClr val="004ED0"/>
                </a:solidFill>
                <a:latin typeface="inherit"/>
              </a:rPr>
              <a:t>setChecked</a:t>
            </a:r>
            <a:r>
              <a:rPr lang="en-US" sz="1600">
                <a:solidFill>
                  <a:srgbClr val="333333"/>
                </a:solidFill>
                <a:latin typeface="inherit"/>
              </a:rPr>
              <a:t>(</a:t>
            </a:r>
            <a:r>
              <a:rPr lang="en-US" sz="1600">
                <a:solidFill>
                  <a:srgbClr val="800080"/>
                </a:solidFill>
                <a:latin typeface="inherit"/>
              </a:rPr>
              <a:t>True</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radiobtn1</a:t>
            </a:r>
            <a:r>
              <a:rPr lang="en-US" sz="1600">
                <a:solidFill>
                  <a:srgbClr val="333333"/>
                </a:solidFill>
                <a:latin typeface="inherit"/>
              </a:rPr>
              <a:t>.</a:t>
            </a:r>
            <a:r>
              <a:rPr lang="en-US" sz="1600">
                <a:solidFill>
                  <a:srgbClr val="004ED0"/>
                </a:solidFill>
                <a:latin typeface="inherit"/>
              </a:rPr>
              <a:t>setIcon</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"football.png"</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radiobtn1</a:t>
            </a:r>
            <a:r>
              <a:rPr lang="en-US" sz="1600">
                <a:solidFill>
                  <a:srgbClr val="333333"/>
                </a:solidFill>
                <a:latin typeface="inherit"/>
              </a:rPr>
              <a:t>.</a:t>
            </a:r>
            <a:r>
              <a:rPr lang="en-US" sz="1600">
                <a:solidFill>
                  <a:srgbClr val="004ED0"/>
                </a:solidFill>
                <a:latin typeface="inherit"/>
              </a:rPr>
              <a:t>setIconSize</a:t>
            </a:r>
            <a:r>
              <a:rPr lang="en-US" sz="1600">
                <a:solidFill>
                  <a:srgbClr val="333333"/>
                </a:solidFill>
                <a:latin typeface="inherit"/>
              </a:rPr>
              <a:t>(</a:t>
            </a:r>
            <a:r>
              <a:rPr lang="en-US" sz="1600">
                <a:solidFill>
                  <a:srgbClr val="002D7A"/>
                </a:solidFill>
                <a:latin typeface="inherit"/>
              </a:rPr>
              <a:t>QtCore</a:t>
            </a:r>
            <a:r>
              <a:rPr lang="en-US" sz="1600">
                <a:solidFill>
                  <a:srgbClr val="333333"/>
                </a:solidFill>
                <a:latin typeface="inherit"/>
              </a:rPr>
              <a:t>.</a:t>
            </a:r>
            <a:r>
              <a:rPr lang="en-US" sz="1600">
                <a:solidFill>
                  <a:srgbClr val="004ED0"/>
                </a:solidFill>
                <a:latin typeface="inherit"/>
              </a:rPr>
              <a:t>QSize</a:t>
            </a:r>
            <a:r>
              <a:rPr lang="en-US" sz="1600">
                <a:solidFill>
                  <a:srgbClr val="333333"/>
                </a:solidFill>
                <a:latin typeface="inherit"/>
              </a:rPr>
              <a:t>(</a:t>
            </a:r>
            <a:r>
              <a:rPr lang="en-US" sz="1600">
                <a:solidFill>
                  <a:srgbClr val="CE0000"/>
                </a:solidFill>
                <a:latin typeface="inherit"/>
              </a:rPr>
              <a:t>40</a:t>
            </a:r>
            <a:r>
              <a:rPr lang="en-US" sz="1600">
                <a:solidFill>
                  <a:srgbClr val="333333"/>
                </a:solidFill>
                <a:latin typeface="inherit"/>
              </a:rPr>
              <a:t>,</a:t>
            </a:r>
            <a:r>
              <a:rPr lang="en-US" sz="1600">
                <a:solidFill>
                  <a:srgbClr val="CE0000"/>
                </a:solidFill>
                <a:latin typeface="inherit"/>
              </a:rPr>
              <a:t>40</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radiobtn1</a:t>
            </a:r>
            <a:r>
              <a:rPr lang="en-US" sz="1600">
                <a:solidFill>
                  <a:srgbClr val="333333"/>
                </a:solidFill>
                <a:latin typeface="inherit"/>
              </a:rPr>
              <a:t>.</a:t>
            </a:r>
            <a:r>
              <a:rPr lang="en-US" sz="1600">
                <a:solidFill>
                  <a:srgbClr val="004ED0"/>
                </a:solidFill>
                <a:latin typeface="inherit"/>
              </a:rPr>
              <a:t>setFont</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QFont</a:t>
            </a:r>
            <a:r>
              <a:rPr lang="en-US" sz="1600">
                <a:solidFill>
                  <a:srgbClr val="333333"/>
                </a:solidFill>
                <a:latin typeface="inherit"/>
              </a:rPr>
              <a:t>(</a:t>
            </a:r>
            <a:r>
              <a:rPr lang="en-US" sz="1600">
                <a:solidFill>
                  <a:srgbClr val="008000"/>
                </a:solidFill>
                <a:latin typeface="inherit"/>
              </a:rPr>
              <a:t>"Sanserif"</a:t>
            </a:r>
            <a:r>
              <a:rPr lang="en-US" sz="1600">
                <a:solidFill>
                  <a:srgbClr val="333333"/>
                </a:solidFill>
                <a:latin typeface="inherit"/>
              </a:rPr>
              <a:t>,</a:t>
            </a:r>
            <a:r>
              <a:rPr lang="en-US" sz="1600">
                <a:solidFill>
                  <a:srgbClr val="006FE0"/>
                </a:solidFill>
                <a:latin typeface="inherit"/>
              </a:rPr>
              <a:t> </a:t>
            </a:r>
            <a:r>
              <a:rPr lang="en-US" sz="1600">
                <a:solidFill>
                  <a:srgbClr val="CE0000"/>
                </a:solidFill>
                <a:latin typeface="inherit"/>
              </a:rPr>
              <a:t>13</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002D7A"/>
                </a:solidFill>
                <a:latin typeface="inherit"/>
              </a:rPr>
              <a:t>hboxLayout</a:t>
            </a:r>
            <a:r>
              <a:rPr lang="en-US" sz="1600">
                <a:solidFill>
                  <a:srgbClr val="333333"/>
                </a:solidFill>
                <a:latin typeface="inherit"/>
              </a:rPr>
              <a:t>.</a:t>
            </a:r>
            <a:r>
              <a:rPr lang="en-US" sz="1600">
                <a:solidFill>
                  <a:srgbClr val="004ED0"/>
                </a:solidFill>
                <a:latin typeface="inherit"/>
              </a:rPr>
              <a:t>addWidget</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radiobtn1</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highlight>
                  <a:srgbClr val="FFFF00"/>
                </a:highlight>
                <a:latin typeface="inherit"/>
              </a:rPr>
              <a:t>self</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radiobtn1</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toggled</a:t>
            </a:r>
            <a:r>
              <a:rPr lang="en-US" sz="1600">
                <a:solidFill>
                  <a:srgbClr val="333333"/>
                </a:solidFill>
                <a:highlight>
                  <a:srgbClr val="FFFF00"/>
                </a:highlight>
                <a:latin typeface="inherit"/>
              </a:rPr>
              <a:t>.</a:t>
            </a:r>
            <a:r>
              <a:rPr lang="en-US" sz="1600">
                <a:solidFill>
                  <a:srgbClr val="004ED0"/>
                </a:solidFill>
                <a:highlight>
                  <a:srgbClr val="FFFF00"/>
                </a:highlight>
                <a:latin typeface="inherit"/>
              </a:rPr>
              <a:t>connect</a:t>
            </a:r>
            <a:r>
              <a:rPr lang="en-US" sz="1600">
                <a:solidFill>
                  <a:srgbClr val="333333"/>
                </a:solidFill>
                <a:highlight>
                  <a:srgbClr val="FFFF00"/>
                </a:highlight>
                <a:latin typeface="inherit"/>
              </a:rPr>
              <a:t>(</a:t>
            </a:r>
            <a:r>
              <a:rPr lang="en-US" sz="1600">
                <a:solidFill>
                  <a:srgbClr val="800080"/>
                </a:solidFill>
                <a:highlight>
                  <a:srgbClr val="FFFF00"/>
                </a:highlight>
                <a:latin typeface="inherit"/>
              </a:rPr>
              <a:t>self</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onRadioBtn</a:t>
            </a:r>
            <a:r>
              <a:rPr lang="en-US" sz="1600">
                <a:solidFill>
                  <a:srgbClr val="333333"/>
                </a:solidFill>
                <a:highlight>
                  <a:srgbClr val="FFFF00"/>
                </a:highlight>
                <a:latin typeface="inherit"/>
              </a:rPr>
              <a:t>)</a:t>
            </a:r>
            <a:endParaRPr lang="en-US" sz="1600">
              <a:solidFill>
                <a:srgbClr val="000000"/>
              </a:solidFill>
              <a:highlight>
                <a:srgbClr val="FFFF00"/>
              </a:highlight>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radiobtn2</a:t>
            </a:r>
            <a:r>
              <a:rPr lang="en-US" sz="1600">
                <a:solidFill>
                  <a:srgbClr val="006FE0"/>
                </a:solidFill>
                <a:latin typeface="inherit"/>
              </a:rPr>
              <a:t> = </a:t>
            </a:r>
            <a:r>
              <a:rPr lang="en-US" sz="1600">
                <a:solidFill>
                  <a:srgbClr val="004ED0"/>
                </a:solidFill>
                <a:latin typeface="inherit"/>
              </a:rPr>
              <a:t>QRadioButton</a:t>
            </a:r>
            <a:r>
              <a:rPr lang="en-US" sz="1600">
                <a:solidFill>
                  <a:srgbClr val="333333"/>
                </a:solidFill>
                <a:latin typeface="inherit"/>
              </a:rPr>
              <a:t>(</a:t>
            </a:r>
            <a:r>
              <a:rPr lang="en-US" sz="1600">
                <a:solidFill>
                  <a:srgbClr val="008000"/>
                </a:solidFill>
                <a:latin typeface="inherit"/>
              </a:rPr>
              <a:t>"Cricket"</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radiobtn2</a:t>
            </a:r>
            <a:r>
              <a:rPr lang="en-US" sz="1600">
                <a:solidFill>
                  <a:srgbClr val="333333"/>
                </a:solidFill>
                <a:latin typeface="inherit"/>
              </a:rPr>
              <a:t>.</a:t>
            </a:r>
            <a:r>
              <a:rPr lang="en-US" sz="1600">
                <a:solidFill>
                  <a:srgbClr val="004ED0"/>
                </a:solidFill>
                <a:latin typeface="inherit"/>
              </a:rPr>
              <a:t>setIcon</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"cricket.png"</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radiobtn2</a:t>
            </a:r>
            <a:r>
              <a:rPr lang="en-US" sz="1600">
                <a:solidFill>
                  <a:srgbClr val="333333"/>
                </a:solidFill>
                <a:latin typeface="inherit"/>
              </a:rPr>
              <a:t>.</a:t>
            </a:r>
            <a:r>
              <a:rPr lang="en-US" sz="1600">
                <a:solidFill>
                  <a:srgbClr val="004ED0"/>
                </a:solidFill>
                <a:latin typeface="inherit"/>
              </a:rPr>
              <a:t>setIconSize</a:t>
            </a:r>
            <a:r>
              <a:rPr lang="en-US" sz="1600">
                <a:solidFill>
                  <a:srgbClr val="333333"/>
                </a:solidFill>
                <a:latin typeface="inherit"/>
              </a:rPr>
              <a:t>(</a:t>
            </a:r>
            <a:r>
              <a:rPr lang="en-US" sz="1600">
                <a:solidFill>
                  <a:srgbClr val="002D7A"/>
                </a:solidFill>
                <a:latin typeface="inherit"/>
              </a:rPr>
              <a:t>QtCore</a:t>
            </a:r>
            <a:r>
              <a:rPr lang="en-US" sz="1600">
                <a:solidFill>
                  <a:srgbClr val="333333"/>
                </a:solidFill>
                <a:latin typeface="inherit"/>
              </a:rPr>
              <a:t>.</a:t>
            </a:r>
            <a:r>
              <a:rPr lang="en-US" sz="1600">
                <a:solidFill>
                  <a:srgbClr val="004ED0"/>
                </a:solidFill>
                <a:latin typeface="inherit"/>
              </a:rPr>
              <a:t>QSize</a:t>
            </a:r>
            <a:r>
              <a:rPr lang="en-US" sz="1600">
                <a:solidFill>
                  <a:srgbClr val="333333"/>
                </a:solidFill>
                <a:latin typeface="inherit"/>
              </a:rPr>
              <a:t>(</a:t>
            </a:r>
            <a:r>
              <a:rPr lang="en-US" sz="1600">
                <a:solidFill>
                  <a:srgbClr val="CE0000"/>
                </a:solidFill>
                <a:latin typeface="inherit"/>
              </a:rPr>
              <a:t>40</a:t>
            </a:r>
            <a:r>
              <a:rPr lang="en-US" sz="1600">
                <a:solidFill>
                  <a:srgbClr val="333333"/>
                </a:solidFill>
                <a:latin typeface="inherit"/>
              </a:rPr>
              <a:t>,</a:t>
            </a:r>
            <a:r>
              <a:rPr lang="en-US" sz="1600">
                <a:solidFill>
                  <a:srgbClr val="006FE0"/>
                </a:solidFill>
                <a:latin typeface="inherit"/>
              </a:rPr>
              <a:t> </a:t>
            </a:r>
            <a:r>
              <a:rPr lang="en-US" sz="1600">
                <a:solidFill>
                  <a:srgbClr val="CE0000"/>
                </a:solidFill>
                <a:latin typeface="inherit"/>
              </a:rPr>
              <a:t>40</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radiobtn2</a:t>
            </a:r>
            <a:r>
              <a:rPr lang="en-US" sz="1600">
                <a:solidFill>
                  <a:srgbClr val="333333"/>
                </a:solidFill>
                <a:latin typeface="inherit"/>
              </a:rPr>
              <a:t>.</a:t>
            </a:r>
            <a:r>
              <a:rPr lang="en-US" sz="1600">
                <a:solidFill>
                  <a:srgbClr val="004ED0"/>
                </a:solidFill>
                <a:latin typeface="inherit"/>
              </a:rPr>
              <a:t>setFont</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QFont</a:t>
            </a:r>
            <a:r>
              <a:rPr lang="en-US" sz="1600">
                <a:solidFill>
                  <a:srgbClr val="333333"/>
                </a:solidFill>
                <a:latin typeface="inherit"/>
              </a:rPr>
              <a:t>(</a:t>
            </a:r>
            <a:r>
              <a:rPr lang="en-US" sz="1600">
                <a:solidFill>
                  <a:srgbClr val="008000"/>
                </a:solidFill>
                <a:latin typeface="inherit"/>
              </a:rPr>
              <a:t>"Sanserif"</a:t>
            </a:r>
            <a:r>
              <a:rPr lang="en-US" sz="1600">
                <a:solidFill>
                  <a:srgbClr val="333333"/>
                </a:solidFill>
                <a:latin typeface="inherit"/>
              </a:rPr>
              <a:t>,</a:t>
            </a:r>
            <a:r>
              <a:rPr lang="en-US" sz="1600">
                <a:solidFill>
                  <a:srgbClr val="006FE0"/>
                </a:solidFill>
                <a:latin typeface="inherit"/>
              </a:rPr>
              <a:t> </a:t>
            </a:r>
            <a:r>
              <a:rPr lang="en-US" sz="1600">
                <a:solidFill>
                  <a:srgbClr val="CE0000"/>
                </a:solidFill>
                <a:latin typeface="inherit"/>
              </a:rPr>
              <a:t>13</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006FE0"/>
                </a:solidFill>
                <a:highlight>
                  <a:srgbClr val="FFFF00"/>
                </a:highlight>
                <a:latin typeface="inherit"/>
              </a:rPr>
              <a:t> </a:t>
            </a:r>
            <a:r>
              <a:rPr lang="en-US" sz="1600">
                <a:solidFill>
                  <a:srgbClr val="800080"/>
                </a:solidFill>
                <a:highlight>
                  <a:srgbClr val="FFFF00"/>
                </a:highlight>
                <a:latin typeface="inherit"/>
              </a:rPr>
              <a:t>self</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radiobtn2</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toggled</a:t>
            </a:r>
            <a:r>
              <a:rPr lang="en-US" sz="1600">
                <a:solidFill>
                  <a:srgbClr val="333333"/>
                </a:solidFill>
                <a:highlight>
                  <a:srgbClr val="FFFF00"/>
                </a:highlight>
                <a:latin typeface="inherit"/>
              </a:rPr>
              <a:t>.</a:t>
            </a:r>
            <a:r>
              <a:rPr lang="en-US" sz="1600">
                <a:solidFill>
                  <a:srgbClr val="004ED0"/>
                </a:solidFill>
                <a:highlight>
                  <a:srgbClr val="FFFF00"/>
                </a:highlight>
                <a:latin typeface="inherit"/>
              </a:rPr>
              <a:t>connect</a:t>
            </a:r>
            <a:r>
              <a:rPr lang="en-US" sz="1600">
                <a:solidFill>
                  <a:srgbClr val="333333"/>
                </a:solidFill>
                <a:highlight>
                  <a:srgbClr val="FFFF00"/>
                </a:highlight>
                <a:latin typeface="inherit"/>
              </a:rPr>
              <a:t>(</a:t>
            </a:r>
            <a:r>
              <a:rPr lang="en-US" sz="1600">
                <a:solidFill>
                  <a:srgbClr val="800080"/>
                </a:solidFill>
                <a:highlight>
                  <a:srgbClr val="FFFF00"/>
                </a:highlight>
                <a:latin typeface="inherit"/>
              </a:rPr>
              <a:t>self</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onRadioBtn</a:t>
            </a:r>
            <a:r>
              <a:rPr lang="en-US" sz="1600">
                <a:solidFill>
                  <a:srgbClr val="333333"/>
                </a:solidFill>
                <a:highlight>
                  <a:srgbClr val="FFFF00"/>
                </a:highlight>
                <a:latin typeface="inherit"/>
              </a:rPr>
              <a:t>)</a:t>
            </a:r>
            <a:endParaRPr lang="en-US" sz="1600">
              <a:solidFill>
                <a:srgbClr val="000000"/>
              </a:solidFill>
              <a:highlight>
                <a:srgbClr val="FFFF00"/>
              </a:highlight>
              <a:latin typeface="Monaco"/>
            </a:endParaRPr>
          </a:p>
          <a:p>
            <a:r>
              <a:rPr lang="en-US" sz="1600">
                <a:solidFill>
                  <a:srgbClr val="006FE0"/>
                </a:solidFill>
                <a:latin typeface="inherit"/>
              </a:rPr>
              <a:t>        </a:t>
            </a:r>
            <a:r>
              <a:rPr lang="en-US" sz="1600">
                <a:solidFill>
                  <a:srgbClr val="002D7A"/>
                </a:solidFill>
                <a:latin typeface="inherit"/>
              </a:rPr>
              <a:t>hboxLayout</a:t>
            </a:r>
            <a:r>
              <a:rPr lang="en-US" sz="1600">
                <a:solidFill>
                  <a:srgbClr val="333333"/>
                </a:solidFill>
                <a:latin typeface="inherit"/>
              </a:rPr>
              <a:t>.</a:t>
            </a:r>
            <a:r>
              <a:rPr lang="en-US" sz="1600">
                <a:solidFill>
                  <a:srgbClr val="004ED0"/>
                </a:solidFill>
                <a:latin typeface="inherit"/>
              </a:rPr>
              <a:t>addWidget</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radiobtn2</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radiobtn3</a:t>
            </a:r>
            <a:r>
              <a:rPr lang="en-US" sz="1600">
                <a:solidFill>
                  <a:srgbClr val="006FE0"/>
                </a:solidFill>
                <a:latin typeface="inherit"/>
              </a:rPr>
              <a:t> = </a:t>
            </a:r>
            <a:r>
              <a:rPr lang="en-US" sz="1600">
                <a:solidFill>
                  <a:srgbClr val="004ED0"/>
                </a:solidFill>
                <a:latin typeface="inherit"/>
              </a:rPr>
              <a:t>QRadioButton</a:t>
            </a:r>
            <a:r>
              <a:rPr lang="en-US" sz="1600">
                <a:solidFill>
                  <a:srgbClr val="333333"/>
                </a:solidFill>
                <a:latin typeface="inherit"/>
              </a:rPr>
              <a:t>(</a:t>
            </a:r>
            <a:r>
              <a:rPr lang="en-US" sz="1600">
                <a:solidFill>
                  <a:srgbClr val="008000"/>
                </a:solidFill>
                <a:latin typeface="inherit"/>
              </a:rPr>
              <a:t>"Tennis"</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radiobtn3</a:t>
            </a:r>
            <a:r>
              <a:rPr lang="en-US" sz="1600">
                <a:solidFill>
                  <a:srgbClr val="333333"/>
                </a:solidFill>
                <a:latin typeface="inherit"/>
              </a:rPr>
              <a:t>.</a:t>
            </a:r>
            <a:r>
              <a:rPr lang="en-US" sz="1600">
                <a:solidFill>
                  <a:srgbClr val="004ED0"/>
                </a:solidFill>
                <a:latin typeface="inherit"/>
              </a:rPr>
              <a:t>setIcon</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"tennis.png"</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radiobtn3</a:t>
            </a:r>
            <a:r>
              <a:rPr lang="en-US" sz="1600">
                <a:solidFill>
                  <a:srgbClr val="333333"/>
                </a:solidFill>
                <a:latin typeface="inherit"/>
              </a:rPr>
              <a:t>.</a:t>
            </a:r>
            <a:r>
              <a:rPr lang="en-US" sz="1600">
                <a:solidFill>
                  <a:srgbClr val="004ED0"/>
                </a:solidFill>
                <a:latin typeface="inherit"/>
              </a:rPr>
              <a:t>setIconSize</a:t>
            </a:r>
            <a:r>
              <a:rPr lang="en-US" sz="1600">
                <a:solidFill>
                  <a:srgbClr val="333333"/>
                </a:solidFill>
                <a:latin typeface="inherit"/>
              </a:rPr>
              <a:t>(</a:t>
            </a:r>
            <a:r>
              <a:rPr lang="en-US" sz="1600">
                <a:solidFill>
                  <a:srgbClr val="002D7A"/>
                </a:solidFill>
                <a:latin typeface="inherit"/>
              </a:rPr>
              <a:t>QtCore</a:t>
            </a:r>
            <a:r>
              <a:rPr lang="en-US" sz="1600">
                <a:solidFill>
                  <a:srgbClr val="333333"/>
                </a:solidFill>
                <a:latin typeface="inherit"/>
              </a:rPr>
              <a:t>.</a:t>
            </a:r>
            <a:r>
              <a:rPr lang="en-US" sz="1600">
                <a:solidFill>
                  <a:srgbClr val="004ED0"/>
                </a:solidFill>
                <a:latin typeface="inherit"/>
              </a:rPr>
              <a:t>QSize</a:t>
            </a:r>
            <a:r>
              <a:rPr lang="en-US" sz="1600">
                <a:solidFill>
                  <a:srgbClr val="333333"/>
                </a:solidFill>
                <a:latin typeface="inherit"/>
              </a:rPr>
              <a:t>(</a:t>
            </a:r>
            <a:r>
              <a:rPr lang="en-US" sz="1600">
                <a:solidFill>
                  <a:srgbClr val="CE0000"/>
                </a:solidFill>
                <a:latin typeface="inherit"/>
              </a:rPr>
              <a:t>40</a:t>
            </a:r>
            <a:r>
              <a:rPr lang="en-US" sz="1600">
                <a:solidFill>
                  <a:srgbClr val="333333"/>
                </a:solidFill>
                <a:latin typeface="inherit"/>
              </a:rPr>
              <a:t>,</a:t>
            </a:r>
            <a:r>
              <a:rPr lang="en-US" sz="1600">
                <a:solidFill>
                  <a:srgbClr val="006FE0"/>
                </a:solidFill>
                <a:latin typeface="inherit"/>
              </a:rPr>
              <a:t> </a:t>
            </a:r>
            <a:r>
              <a:rPr lang="en-US" sz="1600">
                <a:solidFill>
                  <a:srgbClr val="CE0000"/>
                </a:solidFill>
                <a:latin typeface="inherit"/>
              </a:rPr>
              <a:t>40</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radiobtn3</a:t>
            </a:r>
            <a:r>
              <a:rPr lang="en-US" sz="1600">
                <a:solidFill>
                  <a:srgbClr val="333333"/>
                </a:solidFill>
                <a:latin typeface="inherit"/>
              </a:rPr>
              <a:t>.</a:t>
            </a:r>
            <a:r>
              <a:rPr lang="en-US" sz="1600">
                <a:solidFill>
                  <a:srgbClr val="004ED0"/>
                </a:solidFill>
                <a:latin typeface="inherit"/>
              </a:rPr>
              <a:t>setFont</a:t>
            </a:r>
            <a:r>
              <a:rPr lang="en-US" sz="1600">
                <a:solidFill>
                  <a:srgbClr val="333333"/>
                </a:solidFill>
                <a:latin typeface="inherit"/>
              </a:rPr>
              <a:t>(</a:t>
            </a:r>
            <a:r>
              <a:rPr lang="en-US" sz="1600">
                <a:solidFill>
                  <a:srgbClr val="002D7A"/>
                </a:solidFill>
                <a:latin typeface="inherit"/>
              </a:rPr>
              <a:t>QtGui</a:t>
            </a:r>
            <a:r>
              <a:rPr lang="en-US" sz="1600">
                <a:solidFill>
                  <a:srgbClr val="333333"/>
                </a:solidFill>
                <a:latin typeface="inherit"/>
              </a:rPr>
              <a:t>.</a:t>
            </a:r>
            <a:r>
              <a:rPr lang="en-US" sz="1600">
                <a:solidFill>
                  <a:srgbClr val="004ED0"/>
                </a:solidFill>
                <a:latin typeface="inherit"/>
              </a:rPr>
              <a:t>QFont</a:t>
            </a:r>
            <a:r>
              <a:rPr lang="en-US" sz="1600">
                <a:solidFill>
                  <a:srgbClr val="333333"/>
                </a:solidFill>
                <a:latin typeface="inherit"/>
              </a:rPr>
              <a:t>(</a:t>
            </a:r>
            <a:r>
              <a:rPr lang="en-US" sz="1600">
                <a:solidFill>
                  <a:srgbClr val="008000"/>
                </a:solidFill>
                <a:latin typeface="inherit"/>
              </a:rPr>
              <a:t>"Sanserif"</a:t>
            </a:r>
            <a:r>
              <a:rPr lang="en-US" sz="1600">
                <a:solidFill>
                  <a:srgbClr val="333333"/>
                </a:solidFill>
                <a:latin typeface="inherit"/>
              </a:rPr>
              <a:t>,</a:t>
            </a:r>
            <a:r>
              <a:rPr lang="en-US" sz="1600">
                <a:solidFill>
                  <a:srgbClr val="006FE0"/>
                </a:solidFill>
                <a:latin typeface="inherit"/>
              </a:rPr>
              <a:t> </a:t>
            </a:r>
            <a:r>
              <a:rPr lang="en-US" sz="1600">
                <a:solidFill>
                  <a:srgbClr val="CE0000"/>
                </a:solidFill>
                <a:latin typeface="inherit"/>
              </a:rPr>
              <a:t>13</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006FE0"/>
                </a:solidFill>
                <a:highlight>
                  <a:srgbClr val="FFFF00"/>
                </a:highlight>
                <a:latin typeface="inherit"/>
              </a:rPr>
              <a:t>  </a:t>
            </a:r>
            <a:r>
              <a:rPr lang="en-US" sz="1600">
                <a:solidFill>
                  <a:srgbClr val="800080"/>
                </a:solidFill>
                <a:highlight>
                  <a:srgbClr val="FFFF00"/>
                </a:highlight>
                <a:latin typeface="inherit"/>
              </a:rPr>
              <a:t>self</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radiobtn3</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toggled</a:t>
            </a:r>
            <a:r>
              <a:rPr lang="en-US" sz="1600">
                <a:solidFill>
                  <a:srgbClr val="333333"/>
                </a:solidFill>
                <a:highlight>
                  <a:srgbClr val="FFFF00"/>
                </a:highlight>
                <a:latin typeface="inherit"/>
              </a:rPr>
              <a:t>.</a:t>
            </a:r>
            <a:r>
              <a:rPr lang="en-US" sz="1600">
                <a:solidFill>
                  <a:srgbClr val="004ED0"/>
                </a:solidFill>
                <a:highlight>
                  <a:srgbClr val="FFFF00"/>
                </a:highlight>
                <a:latin typeface="inherit"/>
              </a:rPr>
              <a:t>connect</a:t>
            </a:r>
            <a:r>
              <a:rPr lang="en-US" sz="1600">
                <a:solidFill>
                  <a:srgbClr val="333333"/>
                </a:solidFill>
                <a:highlight>
                  <a:srgbClr val="FFFF00"/>
                </a:highlight>
                <a:latin typeface="inherit"/>
              </a:rPr>
              <a:t>(</a:t>
            </a:r>
            <a:r>
              <a:rPr lang="en-US" sz="1600">
                <a:solidFill>
                  <a:srgbClr val="800080"/>
                </a:solidFill>
                <a:highlight>
                  <a:srgbClr val="FFFF00"/>
                </a:highlight>
                <a:latin typeface="inherit"/>
              </a:rPr>
              <a:t>self</a:t>
            </a:r>
            <a:r>
              <a:rPr lang="en-US" sz="1600">
                <a:solidFill>
                  <a:srgbClr val="333333"/>
                </a:solidFill>
                <a:highlight>
                  <a:srgbClr val="FFFF00"/>
                </a:highlight>
                <a:latin typeface="inherit"/>
              </a:rPr>
              <a:t>.</a:t>
            </a:r>
            <a:r>
              <a:rPr lang="en-US" sz="1600">
                <a:solidFill>
                  <a:srgbClr val="002D7A"/>
                </a:solidFill>
                <a:highlight>
                  <a:srgbClr val="FFFF00"/>
                </a:highlight>
                <a:latin typeface="inherit"/>
              </a:rPr>
              <a:t>onRadioBtn</a:t>
            </a:r>
            <a:r>
              <a:rPr lang="en-US" sz="1600">
                <a:solidFill>
                  <a:srgbClr val="333333"/>
                </a:solidFill>
                <a:highlight>
                  <a:srgbClr val="FFFF00"/>
                </a:highlight>
                <a:latin typeface="inherit"/>
              </a:rPr>
              <a:t>)</a:t>
            </a:r>
            <a:endParaRPr lang="en-US" sz="1600">
              <a:solidFill>
                <a:srgbClr val="000000"/>
              </a:solidFill>
              <a:highlight>
                <a:srgbClr val="FFFF00"/>
              </a:highlight>
              <a:latin typeface="Monaco"/>
            </a:endParaRPr>
          </a:p>
          <a:p>
            <a:r>
              <a:rPr lang="en-US" sz="1600">
                <a:solidFill>
                  <a:srgbClr val="006FE0"/>
                </a:solidFill>
                <a:latin typeface="inherit"/>
              </a:rPr>
              <a:t>        </a:t>
            </a:r>
            <a:r>
              <a:rPr lang="en-US" sz="1600">
                <a:solidFill>
                  <a:srgbClr val="002D7A"/>
                </a:solidFill>
                <a:latin typeface="inherit"/>
              </a:rPr>
              <a:t>hboxLayout</a:t>
            </a:r>
            <a:r>
              <a:rPr lang="en-US" sz="1600">
                <a:solidFill>
                  <a:srgbClr val="333333"/>
                </a:solidFill>
                <a:latin typeface="inherit"/>
              </a:rPr>
              <a:t>.</a:t>
            </a:r>
            <a:r>
              <a:rPr lang="en-US" sz="1600">
                <a:solidFill>
                  <a:srgbClr val="004ED0"/>
                </a:solidFill>
                <a:latin typeface="inherit"/>
              </a:rPr>
              <a:t>addWidget</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radiobtn3</a:t>
            </a:r>
            <a:r>
              <a:rPr lang="en-US" sz="1600">
                <a:solidFill>
                  <a:srgbClr val="333333"/>
                </a:solidFill>
                <a:latin typeface="inherit"/>
              </a:rPr>
              <a:t>)</a:t>
            </a:r>
            <a:endParaRPr lang="en-US" sz="1600">
              <a:solidFill>
                <a:srgbClr val="000000"/>
              </a:solidFill>
              <a:latin typeface="Monaco"/>
            </a:endParaRPr>
          </a:p>
          <a:p>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groupBox</a:t>
            </a:r>
            <a:r>
              <a:rPr lang="en-US" sz="1600">
                <a:solidFill>
                  <a:srgbClr val="333333"/>
                </a:solidFill>
                <a:latin typeface="inherit"/>
              </a:rPr>
              <a:t>.</a:t>
            </a:r>
            <a:r>
              <a:rPr lang="en-US" sz="1600">
                <a:solidFill>
                  <a:srgbClr val="004ED0"/>
                </a:solidFill>
                <a:latin typeface="inherit"/>
              </a:rPr>
              <a:t>setLayout</a:t>
            </a:r>
            <a:r>
              <a:rPr lang="en-US" sz="1600">
                <a:solidFill>
                  <a:srgbClr val="333333"/>
                </a:solidFill>
                <a:latin typeface="inherit"/>
              </a:rPr>
              <a:t>(</a:t>
            </a:r>
            <a:r>
              <a:rPr lang="en-US" sz="1600">
                <a:solidFill>
                  <a:srgbClr val="002D7A"/>
                </a:solidFill>
                <a:latin typeface="inherit"/>
              </a:rPr>
              <a:t>hboxLayout</a:t>
            </a:r>
            <a:r>
              <a:rPr lang="en-US" sz="1600">
                <a:solidFill>
                  <a:srgbClr val="333333"/>
                </a:solidFill>
                <a:latin typeface="inherit"/>
              </a:rPr>
              <a:t>)</a:t>
            </a:r>
            <a:endParaRPr lang="en-US" sz="1600" b="0" i="0">
              <a:solidFill>
                <a:srgbClr val="000000"/>
              </a:solidFill>
              <a:effectLst/>
              <a:latin typeface="Monaco"/>
            </a:endParaRPr>
          </a:p>
        </p:txBody>
      </p:sp>
    </p:spTree>
    <p:extLst>
      <p:ext uri="{BB962C8B-B14F-4D97-AF65-F5344CB8AC3E}">
        <p14:creationId xmlns:p14="http://schemas.microsoft.com/office/powerpoint/2010/main" val="1048314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6F5703-2B5F-4E9D-A008-E9670184A882}"/>
              </a:ext>
            </a:extLst>
          </p:cNvPr>
          <p:cNvSpPr>
            <a:spLocks noGrp="1"/>
          </p:cNvSpPr>
          <p:nvPr>
            <p:ph idx="1"/>
          </p:nvPr>
        </p:nvSpPr>
        <p:spPr/>
        <p:txBody>
          <a:bodyPr/>
          <a:lstStyle/>
          <a:p>
            <a:pPr marL="0" indent="0">
              <a:buNone/>
            </a:pPr>
            <a:r>
              <a:rPr lang="vi-VN"/>
              <a:t>Bây giờ chúng ta tạo phương thức onRadioBtn() và trong phương thức đó trước tiên chúng ta cần lấy giá trị của QRdioButton bằng cách sử dụng sender () và sau đó chúng ta đặt giá trị đó thành nhãn của mình</a:t>
            </a:r>
            <a:endParaRPr lang="en-US"/>
          </a:p>
        </p:txBody>
      </p:sp>
      <p:sp>
        <p:nvSpPr>
          <p:cNvPr id="4" name="Rectangle 3">
            <a:extLst>
              <a:ext uri="{FF2B5EF4-FFF2-40B4-BE49-F238E27FC236}">
                <a16:creationId xmlns:a16="http://schemas.microsoft.com/office/drawing/2014/main" id="{AD9E56B1-119B-48D2-A34E-46085564D10D}"/>
              </a:ext>
            </a:extLst>
          </p:cNvPr>
          <p:cNvSpPr/>
          <p:nvPr/>
        </p:nvSpPr>
        <p:spPr>
          <a:xfrm>
            <a:off x="439947" y="2864759"/>
            <a:ext cx="8195095" cy="1569660"/>
          </a:xfrm>
          <a:prstGeom prst="rect">
            <a:avLst/>
          </a:prstGeom>
        </p:spPr>
        <p:txBody>
          <a:bodyPr wrap="square">
            <a:spAutoFit/>
          </a:bodyPr>
          <a:lstStyle/>
          <a:p>
            <a:r>
              <a:rPr lang="en-US" sz="2400">
                <a:solidFill>
                  <a:srgbClr val="004ED0"/>
                </a:solidFill>
                <a:latin typeface="inherit"/>
              </a:rPr>
              <a:t>def onRadioBtn</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radioBtn</a:t>
            </a:r>
            <a:r>
              <a:rPr lang="en-US" sz="2400">
                <a:solidFill>
                  <a:srgbClr val="006FE0"/>
                </a:solidFill>
                <a:latin typeface="inherit"/>
              </a:rPr>
              <a:t> =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sender</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if</a:t>
            </a:r>
            <a:r>
              <a:rPr lang="en-US" sz="2400">
                <a:solidFill>
                  <a:srgbClr val="006FE0"/>
                </a:solidFill>
                <a:latin typeface="inherit"/>
              </a:rPr>
              <a:t> </a:t>
            </a:r>
            <a:r>
              <a:rPr lang="en-US" sz="2400">
                <a:solidFill>
                  <a:srgbClr val="002D7A"/>
                </a:solidFill>
                <a:latin typeface="inherit"/>
              </a:rPr>
              <a:t>radioBtn</a:t>
            </a:r>
            <a:r>
              <a:rPr lang="en-US" sz="2400">
                <a:solidFill>
                  <a:srgbClr val="333333"/>
                </a:solidFill>
                <a:latin typeface="inherit"/>
              </a:rPr>
              <a:t>.</a:t>
            </a:r>
            <a:r>
              <a:rPr lang="en-US" sz="2400">
                <a:solidFill>
                  <a:srgbClr val="004ED0"/>
                </a:solidFill>
                <a:latin typeface="inherit"/>
              </a:rPr>
              <a:t>isChecked</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label</a:t>
            </a:r>
            <a:r>
              <a:rPr lang="en-US" sz="2400">
                <a:solidFill>
                  <a:srgbClr val="333333"/>
                </a:solidFill>
                <a:latin typeface="inherit"/>
              </a:rPr>
              <a:t>.</a:t>
            </a:r>
            <a:r>
              <a:rPr lang="en-US" sz="2400">
                <a:solidFill>
                  <a:srgbClr val="004ED0"/>
                </a:solidFill>
                <a:latin typeface="inherit"/>
              </a:rPr>
              <a:t>setText</a:t>
            </a:r>
            <a:r>
              <a:rPr lang="en-US" sz="2400">
                <a:solidFill>
                  <a:srgbClr val="333333"/>
                </a:solidFill>
                <a:latin typeface="inherit"/>
              </a:rPr>
              <a:t>(</a:t>
            </a:r>
            <a:r>
              <a:rPr lang="en-US" sz="2400">
                <a:solidFill>
                  <a:srgbClr val="008000"/>
                </a:solidFill>
                <a:latin typeface="inherit"/>
              </a:rPr>
              <a:t>"You Have Selected "</a:t>
            </a:r>
            <a:r>
              <a:rPr lang="en-US" sz="2400">
                <a:solidFill>
                  <a:srgbClr val="006FE0"/>
                </a:solidFill>
                <a:latin typeface="inherit"/>
              </a:rPr>
              <a:t> + </a:t>
            </a:r>
            <a:r>
              <a:rPr lang="en-US" sz="2400">
                <a:solidFill>
                  <a:srgbClr val="002D7A"/>
                </a:solidFill>
                <a:latin typeface="inherit"/>
              </a:rPr>
              <a:t>radioBtn</a:t>
            </a:r>
            <a:r>
              <a:rPr lang="en-US" sz="2400">
                <a:solidFill>
                  <a:srgbClr val="333333"/>
                </a:solidFill>
                <a:latin typeface="inherit"/>
              </a:rPr>
              <a:t>.</a:t>
            </a:r>
            <a:r>
              <a:rPr lang="en-US" sz="2400">
                <a:solidFill>
                  <a:srgbClr val="004ED0"/>
                </a:solidFill>
                <a:latin typeface="inherit"/>
              </a:rPr>
              <a:t>text</a:t>
            </a:r>
            <a:r>
              <a:rPr lang="en-US" sz="2400">
                <a:solidFill>
                  <a:srgbClr val="333333"/>
                </a:solidFill>
                <a:latin typeface="inherit"/>
              </a:rPr>
              <a:t>())</a:t>
            </a:r>
            <a:endParaRPr lang="en-US" sz="2400" b="0" i="0">
              <a:solidFill>
                <a:srgbClr val="000000"/>
              </a:solidFill>
              <a:effectLst/>
              <a:latin typeface="Monaco"/>
            </a:endParaRPr>
          </a:p>
        </p:txBody>
      </p:sp>
      <p:sp>
        <p:nvSpPr>
          <p:cNvPr id="5" name="Title 1">
            <a:extLst>
              <a:ext uri="{FF2B5EF4-FFF2-40B4-BE49-F238E27FC236}">
                <a16:creationId xmlns:a16="http://schemas.microsoft.com/office/drawing/2014/main" id="{33CFC604-CD7B-451D-8B25-C64A6D465515}"/>
              </a:ext>
            </a:extLst>
          </p:cNvPr>
          <p:cNvSpPr>
            <a:spLocks noGrp="1"/>
          </p:cNvSpPr>
          <p:nvPr>
            <p:ph type="title"/>
          </p:nvPr>
        </p:nvSpPr>
        <p:spPr>
          <a:xfrm>
            <a:off x="9624" y="19250"/>
            <a:ext cx="9134375" cy="933652"/>
          </a:xfrm>
        </p:spPr>
        <p:txBody>
          <a:bodyPr>
            <a:normAutofit/>
          </a:bodyPr>
          <a:lstStyle/>
          <a:p>
            <a:r>
              <a:rPr lang="en-US" sz="3600"/>
              <a:t>Tạo QRadioButton với Toggled Signal (t.t)</a:t>
            </a:r>
          </a:p>
        </p:txBody>
      </p:sp>
      <p:pic>
        <p:nvPicPr>
          <p:cNvPr id="8194" name="Picture 2" descr="VÃ­ dá»¥ vá» RadioButton cá»§a PyQt5">
            <a:extLst>
              <a:ext uri="{FF2B5EF4-FFF2-40B4-BE49-F238E27FC236}">
                <a16:creationId xmlns:a16="http://schemas.microsoft.com/office/drawing/2014/main" id="{D3F98881-EC1A-4044-BC4C-C6468905C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990" y="4801333"/>
            <a:ext cx="4810304" cy="1908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279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705FB-47FB-4F5C-A0CF-5A436075DE11}"/>
              </a:ext>
            </a:extLst>
          </p:cNvPr>
          <p:cNvSpPr>
            <a:spLocks noGrp="1"/>
          </p:cNvSpPr>
          <p:nvPr>
            <p:ph type="title"/>
          </p:nvPr>
        </p:nvSpPr>
        <p:spPr/>
        <p:txBody>
          <a:bodyPr>
            <a:normAutofit/>
          </a:bodyPr>
          <a:lstStyle/>
          <a:p>
            <a:r>
              <a:rPr lang="en-US"/>
              <a:t>Tạo QCheckBox với signal</a:t>
            </a:r>
          </a:p>
        </p:txBody>
      </p:sp>
      <p:sp>
        <p:nvSpPr>
          <p:cNvPr id="3" name="Content Placeholder 2">
            <a:extLst>
              <a:ext uri="{FF2B5EF4-FFF2-40B4-BE49-F238E27FC236}">
                <a16:creationId xmlns:a16="http://schemas.microsoft.com/office/drawing/2014/main" id="{36E095AD-196F-4AFF-84BF-940391761A44}"/>
              </a:ext>
            </a:extLst>
          </p:cNvPr>
          <p:cNvSpPr>
            <a:spLocks noGrp="1"/>
          </p:cNvSpPr>
          <p:nvPr>
            <p:ph idx="1"/>
          </p:nvPr>
        </p:nvSpPr>
        <p:spPr/>
        <p:txBody>
          <a:bodyPr/>
          <a:lstStyle/>
          <a:p>
            <a:pPr marL="0" indent="0">
              <a:buNone/>
            </a:pPr>
            <a:r>
              <a:rPr lang="vi-VN"/>
              <a:t>Tạo QCheckBox giống như tạo</a:t>
            </a:r>
            <a:r>
              <a:rPr lang="en-US"/>
              <a:t> </a:t>
            </a:r>
            <a:r>
              <a:rPr lang="vi-VN"/>
              <a:t>QRadioButton </a:t>
            </a:r>
          </a:p>
          <a:p>
            <a:endParaRPr lang="en-US"/>
          </a:p>
        </p:txBody>
      </p:sp>
      <p:sp>
        <p:nvSpPr>
          <p:cNvPr id="4" name="Rectangle 3">
            <a:extLst>
              <a:ext uri="{FF2B5EF4-FFF2-40B4-BE49-F238E27FC236}">
                <a16:creationId xmlns:a16="http://schemas.microsoft.com/office/drawing/2014/main" id="{EE292074-BF3E-4979-B235-6577381267A7}"/>
              </a:ext>
            </a:extLst>
          </p:cNvPr>
          <p:cNvSpPr/>
          <p:nvPr/>
        </p:nvSpPr>
        <p:spPr>
          <a:xfrm>
            <a:off x="0" y="1783610"/>
            <a:ext cx="9134376" cy="4549835"/>
          </a:xfrm>
          <a:prstGeom prst="rect">
            <a:avLst/>
          </a:prstGeom>
        </p:spPr>
        <p:txBody>
          <a:bodyPr wrap="square">
            <a:spAutoFit/>
          </a:bodyPr>
          <a:lstStyle/>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QDialog</a:t>
            </a:r>
            <a:r>
              <a:rPr lang="en-US" sz="2800">
                <a:solidFill>
                  <a:srgbClr val="333333"/>
                </a:solidFill>
                <a:latin typeface="inherit"/>
              </a:rPr>
              <a:t>,</a:t>
            </a:r>
          </a:p>
          <a:p>
            <a:pPr algn="r">
              <a:lnSpc>
                <a:spcPct val="150000"/>
              </a:lnSpc>
            </a:pPr>
            <a:r>
              <a:rPr lang="en-US" sz="2800">
                <a:solidFill>
                  <a:srgbClr val="006FE0"/>
                </a:solidFill>
                <a:latin typeface="inherit"/>
              </a:rPr>
              <a:t> </a:t>
            </a:r>
            <a:r>
              <a:rPr lang="en-US" sz="2800">
                <a:solidFill>
                  <a:srgbClr val="002D7A"/>
                </a:solidFill>
                <a:latin typeface="inherit"/>
              </a:rPr>
              <a:t>QCheckBox</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p>
          <a:p>
            <a:pPr algn="r">
              <a:lnSpc>
                <a:spcPct val="150000"/>
              </a:lnSpc>
            </a:pPr>
            <a:r>
              <a:rPr lang="en-US" sz="2800">
                <a:solidFill>
                  <a:srgbClr val="002D7A"/>
                </a:solidFill>
                <a:latin typeface="inherit"/>
              </a:rPr>
              <a:t>QGroupBox</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QVBoxLayout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QLabel</a:t>
            </a:r>
            <a:endParaRPr lang="en-US" sz="2800">
              <a:solidFill>
                <a:srgbClr val="000000"/>
              </a:solidFill>
              <a:latin typeface="Monaco"/>
            </a:endParaRPr>
          </a:p>
          <a:p>
            <a:pPr>
              <a:lnSpc>
                <a:spcPct val="150000"/>
              </a:lnSpc>
            </a:pPr>
            <a:r>
              <a:rPr lang="en-US" sz="2800">
                <a:solidFill>
                  <a:srgbClr val="004ED0"/>
                </a:solidFill>
                <a:latin typeface="inherit"/>
              </a:rPr>
              <a:t>import sys</a:t>
            </a:r>
            <a:endParaRPr lang="en-US" sz="2800">
              <a:solidFill>
                <a:srgbClr val="000000"/>
              </a:solidFill>
              <a:latin typeface="Monaco"/>
            </a:endParaRPr>
          </a:p>
          <a:p>
            <a:pPr>
              <a:lnSpc>
                <a:spcPct val="150000"/>
              </a:lnSpc>
            </a:pPr>
            <a:r>
              <a:rPr lang="en-US" sz="2800">
                <a:solidFill>
                  <a:srgbClr val="004ED0"/>
                </a:solidFill>
                <a:latin typeface="inherit"/>
              </a:rPr>
              <a:t>from PyQt5 import QtGui</a:t>
            </a:r>
            <a:endParaRPr lang="en-US" sz="2800">
              <a:solidFill>
                <a:srgbClr val="000000"/>
              </a:solidFill>
              <a:latin typeface="Monaco"/>
            </a:endParaRPr>
          </a:p>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QtCore import QRect</a:t>
            </a:r>
            <a:endParaRPr lang="en-US" sz="2800">
              <a:solidFill>
                <a:srgbClr val="000000"/>
              </a:solidFill>
              <a:latin typeface="Monaco"/>
            </a:endParaRPr>
          </a:p>
          <a:p>
            <a:pPr>
              <a:lnSpc>
                <a:spcPct val="150000"/>
              </a:lnSpc>
            </a:pPr>
            <a:r>
              <a:rPr lang="en-US" sz="2800">
                <a:solidFill>
                  <a:srgbClr val="004ED0"/>
                </a:solidFill>
                <a:latin typeface="inherit"/>
              </a:rPr>
              <a:t>from PyQt5 import </a:t>
            </a:r>
            <a:r>
              <a:rPr lang="en-US" sz="2800">
                <a:solidFill>
                  <a:srgbClr val="002D7A"/>
                </a:solidFill>
                <a:latin typeface="inherit"/>
              </a:rPr>
              <a:t>QtCore</a:t>
            </a:r>
            <a:endParaRPr lang="en-US" sz="2800" b="0" i="0">
              <a:solidFill>
                <a:srgbClr val="000000"/>
              </a:solidFill>
              <a:effectLst/>
              <a:latin typeface="Monaco"/>
            </a:endParaRPr>
          </a:p>
        </p:txBody>
      </p:sp>
    </p:spTree>
    <p:extLst>
      <p:ext uri="{BB962C8B-B14F-4D97-AF65-F5344CB8AC3E}">
        <p14:creationId xmlns:p14="http://schemas.microsoft.com/office/powerpoint/2010/main" val="3279358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D4531B-61FA-424E-A998-FCD6B37A9AE9}"/>
              </a:ext>
            </a:extLst>
          </p:cNvPr>
          <p:cNvSpPr>
            <a:spLocks noGrp="1"/>
          </p:cNvSpPr>
          <p:nvPr>
            <p:ph idx="1"/>
          </p:nvPr>
        </p:nvSpPr>
        <p:spPr>
          <a:xfrm>
            <a:off x="9624" y="776375"/>
            <a:ext cx="9134375" cy="453707"/>
          </a:xfrm>
        </p:spPr>
        <p:txBody>
          <a:bodyPr>
            <a:normAutofit lnSpcReduction="10000"/>
          </a:bodyPr>
          <a:lstStyle/>
          <a:p>
            <a:pPr marL="0" indent="0">
              <a:buNone/>
            </a:pPr>
            <a:r>
              <a:rPr lang="en-US"/>
              <a:t>B</a:t>
            </a:r>
            <a:r>
              <a:rPr lang="vi-VN"/>
              <a:t>ư</a:t>
            </a:r>
            <a:r>
              <a:rPr lang="en-US"/>
              <a:t>ớc 1: tạo  lớp </a:t>
            </a:r>
            <a:r>
              <a:rPr lang="en-US">
                <a:hlinkClick r:id="rId2"/>
              </a:rPr>
              <a:t>Window</a:t>
            </a:r>
            <a:r>
              <a:rPr lang="en-US"/>
              <a:t>  kế thừa từ QDialog</a:t>
            </a:r>
          </a:p>
        </p:txBody>
      </p:sp>
      <p:sp>
        <p:nvSpPr>
          <p:cNvPr id="4" name="Title 1">
            <a:extLst>
              <a:ext uri="{FF2B5EF4-FFF2-40B4-BE49-F238E27FC236}">
                <a16:creationId xmlns:a16="http://schemas.microsoft.com/office/drawing/2014/main" id="{9D653042-FE7C-4566-80A5-A4C3B48D0319}"/>
              </a:ext>
            </a:extLst>
          </p:cNvPr>
          <p:cNvSpPr>
            <a:spLocks noGrp="1"/>
          </p:cNvSpPr>
          <p:nvPr>
            <p:ph type="title"/>
          </p:nvPr>
        </p:nvSpPr>
        <p:spPr>
          <a:xfrm>
            <a:off x="9624" y="19250"/>
            <a:ext cx="9134375" cy="713995"/>
          </a:xfrm>
        </p:spPr>
        <p:txBody>
          <a:bodyPr>
            <a:normAutofit/>
          </a:bodyPr>
          <a:lstStyle/>
          <a:p>
            <a:r>
              <a:rPr lang="en-US"/>
              <a:t>Tạo QCheckBox với signal (t.t)</a:t>
            </a:r>
          </a:p>
        </p:txBody>
      </p:sp>
      <p:sp>
        <p:nvSpPr>
          <p:cNvPr id="6" name="Rectangle 5">
            <a:extLst>
              <a:ext uri="{FF2B5EF4-FFF2-40B4-BE49-F238E27FC236}">
                <a16:creationId xmlns:a16="http://schemas.microsoft.com/office/drawing/2014/main" id="{7F91EAAD-7753-46FD-92D9-42CE2F2FDB94}"/>
              </a:ext>
            </a:extLst>
          </p:cNvPr>
          <p:cNvSpPr/>
          <p:nvPr/>
        </p:nvSpPr>
        <p:spPr>
          <a:xfrm>
            <a:off x="35502" y="1221456"/>
            <a:ext cx="3622097" cy="3761030"/>
          </a:xfrm>
          <a:prstGeom prst="rect">
            <a:avLst/>
          </a:prstGeom>
          <a:solidFill>
            <a:schemeClr val="accent2">
              <a:lumMod val="20000"/>
              <a:lumOff val="80000"/>
            </a:schemeClr>
          </a:solidFill>
        </p:spPr>
        <p:txBody>
          <a:bodyPr wrap="square">
            <a:spAutoFit/>
          </a:bodyPr>
          <a:lstStyle/>
          <a:p>
            <a:pPr>
              <a:lnSpc>
                <a:spcPct val="120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QDialog</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CheckBox"</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006FE0"/>
                </a:solidFill>
                <a:latin typeface="inherit"/>
              </a:rPr>
              <a:t> = </a:t>
            </a:r>
            <a:r>
              <a:rPr lang="en-US" sz="2000">
                <a:solidFill>
                  <a:srgbClr val="CE0000"/>
                </a:solidFill>
                <a:latin typeface="inherit"/>
              </a:rPr>
              <a:t>200</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006FE0"/>
                </a:solidFill>
                <a:latin typeface="inherit"/>
              </a:rPr>
              <a:t> = </a:t>
            </a:r>
            <a:r>
              <a:rPr lang="en-US" sz="2000">
                <a:solidFill>
                  <a:srgbClr val="CE0000"/>
                </a:solidFill>
                <a:latin typeface="inherit"/>
              </a:rPr>
              <a:t>400</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006FE0"/>
                </a:solidFill>
                <a:latin typeface="inherit"/>
              </a:rPr>
              <a:t> = </a:t>
            </a:r>
            <a:r>
              <a:rPr lang="en-US" sz="2000">
                <a:solidFill>
                  <a:srgbClr val="CE0000"/>
                </a:solidFill>
                <a:latin typeface="inherit"/>
              </a:rPr>
              <a:t>400</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006FE0"/>
                </a:solidFill>
                <a:latin typeface="inherit"/>
              </a:rPr>
              <a:t> = </a:t>
            </a:r>
            <a:r>
              <a:rPr lang="en-US" sz="2000">
                <a:solidFill>
                  <a:srgbClr val="CE0000"/>
                </a:solidFill>
                <a:latin typeface="inherit"/>
              </a:rPr>
              <a:t>100</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iconName</a:t>
            </a:r>
            <a:r>
              <a:rPr lang="en-US" sz="2000">
                <a:solidFill>
                  <a:srgbClr val="006FE0"/>
                </a:solidFill>
                <a:latin typeface="inherit"/>
              </a:rPr>
              <a:t> = </a:t>
            </a:r>
            <a:r>
              <a:rPr lang="en-US" sz="2000">
                <a:solidFill>
                  <a:srgbClr val="008000"/>
                </a:solidFill>
                <a:latin typeface="inherit"/>
              </a:rPr>
              <a:t>"icon.png"</a:t>
            </a:r>
            <a:endParaRPr lang="en-US" sz="2000">
              <a:solidFill>
                <a:srgbClr val="000000"/>
              </a:solidFill>
              <a:latin typeface="Monaco"/>
            </a:endParaRPr>
          </a:p>
          <a:p>
            <a:pPr>
              <a:lnSpc>
                <a:spcPct val="12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InitWindow</a:t>
            </a:r>
            <a:r>
              <a:rPr lang="en-US" sz="2000">
                <a:solidFill>
                  <a:srgbClr val="333333"/>
                </a:solidFill>
                <a:latin typeface="inherit"/>
              </a:rPr>
              <a:t>()</a:t>
            </a:r>
            <a:endParaRPr lang="en-US" sz="2000" b="0" i="0">
              <a:solidFill>
                <a:srgbClr val="000000"/>
              </a:solidFill>
              <a:effectLst/>
              <a:latin typeface="Monaco"/>
            </a:endParaRPr>
          </a:p>
        </p:txBody>
      </p:sp>
      <p:sp>
        <p:nvSpPr>
          <p:cNvPr id="7" name="Rectangle 6">
            <a:extLst>
              <a:ext uri="{FF2B5EF4-FFF2-40B4-BE49-F238E27FC236}">
                <a16:creationId xmlns:a16="http://schemas.microsoft.com/office/drawing/2014/main" id="{032A6734-4E99-40BE-952B-3204D829C8CC}"/>
              </a:ext>
            </a:extLst>
          </p:cNvPr>
          <p:cNvSpPr/>
          <p:nvPr/>
        </p:nvSpPr>
        <p:spPr>
          <a:xfrm>
            <a:off x="3713670" y="1570329"/>
            <a:ext cx="5430329" cy="492443"/>
          </a:xfrm>
          <a:prstGeom prst="rect">
            <a:avLst/>
          </a:prstGeom>
        </p:spPr>
        <p:txBody>
          <a:bodyPr wrap="square">
            <a:spAutoFit/>
          </a:bodyPr>
          <a:lstStyle/>
          <a:p>
            <a:r>
              <a:rPr lang="en-US" sz="2600" i="1">
                <a:solidFill>
                  <a:srgbClr val="3A3A3A"/>
                </a:solidFill>
                <a:latin typeface="Calibri (Body)"/>
              </a:rPr>
              <a:t>B</a:t>
            </a:r>
            <a:r>
              <a:rPr lang="vi-VN" sz="2600" i="1">
                <a:solidFill>
                  <a:srgbClr val="3A3A3A"/>
                </a:solidFill>
                <a:latin typeface="Calibri (Body)"/>
              </a:rPr>
              <a:t>ư</a:t>
            </a:r>
            <a:r>
              <a:rPr lang="en-US" sz="2600" i="1">
                <a:solidFill>
                  <a:srgbClr val="3A3A3A"/>
                </a:solidFill>
                <a:latin typeface="Calibri (Body)"/>
              </a:rPr>
              <a:t>ớc 2: </a:t>
            </a:r>
            <a:r>
              <a:rPr lang="vi-VN" sz="2600" i="1">
                <a:solidFill>
                  <a:srgbClr val="3A3A3A"/>
                </a:solidFill>
                <a:latin typeface="Calibri (Body)"/>
              </a:rPr>
              <a:t>tạo phương thức initWindow()</a:t>
            </a:r>
            <a:endParaRPr lang="en-US" sz="2600" i="1">
              <a:latin typeface="Calibri (Body)"/>
            </a:endParaRPr>
          </a:p>
        </p:txBody>
      </p:sp>
      <p:sp>
        <p:nvSpPr>
          <p:cNvPr id="8" name="Rectangle 7">
            <a:extLst>
              <a:ext uri="{FF2B5EF4-FFF2-40B4-BE49-F238E27FC236}">
                <a16:creationId xmlns:a16="http://schemas.microsoft.com/office/drawing/2014/main" id="{3577DFF2-468F-41E5-9BF9-9E947965B01A}"/>
              </a:ext>
            </a:extLst>
          </p:cNvPr>
          <p:cNvSpPr/>
          <p:nvPr/>
        </p:nvSpPr>
        <p:spPr>
          <a:xfrm>
            <a:off x="3911081" y="2062772"/>
            <a:ext cx="5197417" cy="4391330"/>
          </a:xfrm>
          <a:prstGeom prst="rect">
            <a:avLst/>
          </a:prstGeom>
          <a:solidFill>
            <a:schemeClr val="accent4">
              <a:lumMod val="20000"/>
              <a:lumOff val="80000"/>
            </a:schemeClr>
          </a:solidFill>
        </p:spPr>
        <p:txBody>
          <a:bodyPr wrap="square">
            <a:spAutoFit/>
          </a:bodyPr>
          <a:lstStyle/>
          <a:p>
            <a:pPr>
              <a:lnSpc>
                <a:spcPct val="120000"/>
              </a:lnSpc>
            </a:pPr>
            <a:r>
              <a:rPr lang="en-US">
                <a:solidFill>
                  <a:srgbClr val="004ED0"/>
                </a:solidFill>
                <a:latin typeface="inherit"/>
              </a:rPr>
              <a:t>def InitWindow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iconName</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setWindowTitle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setGeometry</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333333"/>
                </a:solidFill>
                <a:latin typeface="inherit"/>
              </a:rPr>
              <a:t>,</a:t>
            </a:r>
            <a:r>
              <a:rPr lang="en-US">
                <a:solidFill>
                  <a:srgbClr val="006FE0"/>
                </a:solidFill>
                <a:latin typeface="inherit"/>
              </a:rPr>
              <a:t> </a:t>
            </a:r>
          </a:p>
          <a:p>
            <a:pPr algn="r">
              <a:lnSpc>
                <a:spcPct val="120000"/>
              </a:lnSpc>
            </a:pP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CreateLayout</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002D7A"/>
                </a:solidFill>
                <a:latin typeface="inherit"/>
              </a:rPr>
              <a:t>vbox</a:t>
            </a:r>
            <a:r>
              <a:rPr lang="en-US">
                <a:solidFill>
                  <a:srgbClr val="006FE0"/>
                </a:solidFill>
                <a:latin typeface="inherit"/>
              </a:rPr>
              <a:t> = </a:t>
            </a:r>
            <a:r>
              <a:rPr lang="en-US">
                <a:solidFill>
                  <a:srgbClr val="004ED0"/>
                </a:solidFill>
                <a:latin typeface="inherit"/>
              </a:rPr>
              <a:t>QVBoxLayout</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groupBox</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006FE0"/>
                </a:solidFill>
                <a:latin typeface="inherit"/>
              </a:rPr>
              <a:t> = </a:t>
            </a:r>
            <a:r>
              <a:rPr lang="en-US">
                <a:solidFill>
                  <a:srgbClr val="004ED0"/>
                </a:solidFill>
                <a:latin typeface="inherit"/>
              </a:rPr>
              <a:t>QLabel</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setFont</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QFont</a:t>
            </a:r>
            <a:r>
              <a:rPr lang="en-US">
                <a:solidFill>
                  <a:srgbClr val="333333"/>
                </a:solidFill>
                <a:latin typeface="inherit"/>
              </a:rPr>
              <a:t>(</a:t>
            </a:r>
            <a:r>
              <a:rPr lang="en-US">
                <a:solidFill>
                  <a:srgbClr val="008000"/>
                </a:solidFill>
                <a:latin typeface="inherit"/>
              </a:rPr>
              <a:t>"Sanserif"</a:t>
            </a:r>
            <a:r>
              <a:rPr lang="en-US">
                <a:solidFill>
                  <a:srgbClr val="333333"/>
                </a:solidFill>
                <a:latin typeface="inherit"/>
              </a:rPr>
              <a:t>,</a:t>
            </a:r>
            <a:r>
              <a:rPr lang="en-US">
                <a:solidFill>
                  <a:srgbClr val="CE0000"/>
                </a:solidFill>
                <a:latin typeface="inherit"/>
              </a:rPr>
              <a:t>15</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vbox</a:t>
            </a:r>
            <a:r>
              <a:rPr lang="en-US">
                <a:solidFill>
                  <a:srgbClr val="333333"/>
                </a:solidFill>
                <a:latin typeface="inherit"/>
              </a:rPr>
              <a:t>)</a:t>
            </a:r>
            <a:endParaRPr lang="en-US">
              <a:solidFill>
                <a:srgbClr val="000000"/>
              </a:solidFill>
              <a:latin typeface="Monaco"/>
            </a:endParaRPr>
          </a:p>
          <a:p>
            <a:pPr>
              <a:lnSpc>
                <a:spcPct val="12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3160294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8E2AFC-579A-4C1B-836C-1CF038B384CB}"/>
              </a:ext>
            </a:extLst>
          </p:cNvPr>
          <p:cNvSpPr>
            <a:spLocks noGrp="1"/>
          </p:cNvSpPr>
          <p:nvPr>
            <p:ph idx="1"/>
          </p:nvPr>
        </p:nvSpPr>
        <p:spPr>
          <a:xfrm>
            <a:off x="9624" y="698742"/>
            <a:ext cx="9134375" cy="811771"/>
          </a:xfrm>
        </p:spPr>
        <p:txBody>
          <a:bodyPr>
            <a:normAutofit/>
          </a:bodyPr>
          <a:lstStyle/>
          <a:p>
            <a:pPr marL="0" indent="0">
              <a:buNone/>
            </a:pPr>
            <a:r>
              <a:rPr lang="vi-VN" sz="2400"/>
              <a:t>Sau đó, tạo phương thức </a:t>
            </a:r>
            <a:r>
              <a:rPr lang="en-US" sz="2400"/>
              <a:t>CreateLayout</a:t>
            </a:r>
            <a:r>
              <a:rPr lang="vi-VN" sz="2400"/>
              <a:t>() và trong phương thức đó, chúng tôi thêm ba QCheckBox của chúng tôi</a:t>
            </a:r>
            <a:endParaRPr lang="en-US" sz="2400"/>
          </a:p>
        </p:txBody>
      </p:sp>
      <p:sp>
        <p:nvSpPr>
          <p:cNvPr id="4" name="Title 1">
            <a:extLst>
              <a:ext uri="{FF2B5EF4-FFF2-40B4-BE49-F238E27FC236}">
                <a16:creationId xmlns:a16="http://schemas.microsoft.com/office/drawing/2014/main" id="{5BCA5BD3-FF10-478B-8D9C-68DFAE72DC21}"/>
              </a:ext>
            </a:extLst>
          </p:cNvPr>
          <p:cNvSpPr>
            <a:spLocks noGrp="1"/>
          </p:cNvSpPr>
          <p:nvPr>
            <p:ph type="title"/>
          </p:nvPr>
        </p:nvSpPr>
        <p:spPr>
          <a:xfrm>
            <a:off x="9624" y="19250"/>
            <a:ext cx="9134375" cy="713995"/>
          </a:xfrm>
        </p:spPr>
        <p:txBody>
          <a:bodyPr>
            <a:normAutofit/>
          </a:bodyPr>
          <a:lstStyle/>
          <a:p>
            <a:r>
              <a:rPr lang="en-US"/>
              <a:t>Tạo QCheckBox với signal (t.t)</a:t>
            </a:r>
          </a:p>
        </p:txBody>
      </p:sp>
      <p:sp>
        <p:nvSpPr>
          <p:cNvPr id="7" name="Rectangle 6">
            <a:extLst>
              <a:ext uri="{FF2B5EF4-FFF2-40B4-BE49-F238E27FC236}">
                <a16:creationId xmlns:a16="http://schemas.microsoft.com/office/drawing/2014/main" id="{9B04ACD5-BBB1-4A9C-A1AC-C28F44D0947C}"/>
              </a:ext>
            </a:extLst>
          </p:cNvPr>
          <p:cNvSpPr/>
          <p:nvPr/>
        </p:nvSpPr>
        <p:spPr>
          <a:xfrm>
            <a:off x="0" y="1412737"/>
            <a:ext cx="9134375" cy="5507662"/>
          </a:xfrm>
          <a:prstGeom prst="rect">
            <a:avLst/>
          </a:prstGeom>
        </p:spPr>
        <p:txBody>
          <a:bodyPr wrap="square">
            <a:spAutoFit/>
          </a:bodyPr>
          <a:lstStyle/>
          <a:p>
            <a:pPr>
              <a:lnSpc>
                <a:spcPct val="90000"/>
              </a:lnSpc>
            </a:pPr>
            <a:r>
              <a:rPr lang="en-US" sz="1700">
                <a:solidFill>
                  <a:srgbClr val="004ED0"/>
                </a:solidFill>
                <a:latin typeface="inherit"/>
              </a:rPr>
              <a:t>def CreateLayout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groupBox</a:t>
            </a:r>
            <a:r>
              <a:rPr lang="en-US" sz="1700">
                <a:solidFill>
                  <a:srgbClr val="006FE0"/>
                </a:solidFill>
                <a:latin typeface="inherit"/>
              </a:rPr>
              <a:t> = </a:t>
            </a:r>
            <a:r>
              <a:rPr lang="en-US" sz="1700">
                <a:solidFill>
                  <a:srgbClr val="004ED0"/>
                </a:solidFill>
                <a:latin typeface="inherit"/>
              </a:rPr>
              <a:t>QGroupBox</a:t>
            </a:r>
            <a:r>
              <a:rPr lang="en-US" sz="1700">
                <a:solidFill>
                  <a:srgbClr val="333333"/>
                </a:solidFill>
                <a:latin typeface="inherit"/>
              </a:rPr>
              <a:t>(</a:t>
            </a:r>
            <a:r>
              <a:rPr lang="en-US" sz="1700">
                <a:solidFill>
                  <a:srgbClr val="008000"/>
                </a:solidFill>
                <a:latin typeface="inherit"/>
              </a:rPr>
              <a:t>"What Is Your Favorite Programming Language ?"</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groupBox</a:t>
            </a:r>
            <a:r>
              <a:rPr lang="en-US" sz="1700">
                <a:solidFill>
                  <a:srgbClr val="333333"/>
                </a:solidFill>
                <a:latin typeface="inherit"/>
              </a:rPr>
              <a:t>.</a:t>
            </a:r>
            <a:r>
              <a:rPr lang="en-US" sz="1700">
                <a:solidFill>
                  <a:srgbClr val="004ED0"/>
                </a:solidFill>
                <a:latin typeface="inherit"/>
              </a:rPr>
              <a:t>setFont</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QFont</a:t>
            </a:r>
            <a:r>
              <a:rPr lang="en-US" sz="1700">
                <a:solidFill>
                  <a:srgbClr val="333333"/>
                </a:solidFill>
                <a:latin typeface="inherit"/>
              </a:rPr>
              <a:t>(</a:t>
            </a:r>
            <a:r>
              <a:rPr lang="en-US" sz="1700">
                <a:solidFill>
                  <a:srgbClr val="008000"/>
                </a:solidFill>
                <a:latin typeface="inherit"/>
              </a:rPr>
              <a:t>"Sanserif"</a:t>
            </a:r>
            <a:r>
              <a:rPr lang="en-US" sz="1700">
                <a:solidFill>
                  <a:srgbClr val="333333"/>
                </a:solidFill>
                <a:latin typeface="inherit"/>
              </a:rPr>
              <a:t>,</a:t>
            </a:r>
            <a:r>
              <a:rPr lang="en-US" sz="1700">
                <a:solidFill>
                  <a:srgbClr val="CE0000"/>
                </a:solidFill>
                <a:latin typeface="inherit"/>
              </a:rPr>
              <a:t>13</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hboxLayout</a:t>
            </a:r>
            <a:r>
              <a:rPr lang="en-US" sz="1700">
                <a:solidFill>
                  <a:srgbClr val="006FE0"/>
                </a:solidFill>
                <a:latin typeface="inherit"/>
              </a:rPr>
              <a:t> = </a:t>
            </a:r>
            <a:r>
              <a:rPr lang="en-US" sz="1700">
                <a:solidFill>
                  <a:srgbClr val="004ED0"/>
                </a:solidFill>
                <a:latin typeface="inherit"/>
              </a:rPr>
              <a:t>QHBoxLayout</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check1</a:t>
            </a:r>
            <a:r>
              <a:rPr lang="en-US" sz="1700">
                <a:solidFill>
                  <a:srgbClr val="006FE0"/>
                </a:solidFill>
                <a:latin typeface="inherit"/>
              </a:rPr>
              <a:t> =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"Python"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check1</a:t>
            </a:r>
            <a:r>
              <a:rPr lang="en-US" sz="1700">
                <a:solidFill>
                  <a:srgbClr val="333333"/>
                </a:solidFill>
                <a:latin typeface="inherit"/>
              </a:rPr>
              <a:t>.</a:t>
            </a:r>
            <a:r>
              <a:rPr lang="en-US" sz="1700">
                <a:solidFill>
                  <a:srgbClr val="004ED0"/>
                </a:solidFill>
                <a:latin typeface="inherit"/>
              </a:rPr>
              <a:t>setIcon</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"pythonicon.png"</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check1</a:t>
            </a:r>
            <a:r>
              <a:rPr lang="en-US" sz="1700">
                <a:solidFill>
                  <a:srgbClr val="333333"/>
                </a:solidFill>
                <a:latin typeface="inherit"/>
              </a:rPr>
              <a:t>.</a:t>
            </a:r>
            <a:r>
              <a:rPr lang="en-US" sz="1700">
                <a:solidFill>
                  <a:srgbClr val="004ED0"/>
                </a:solidFill>
                <a:latin typeface="inherit"/>
              </a:rPr>
              <a:t>setIconSize</a:t>
            </a:r>
            <a:r>
              <a:rPr lang="en-US" sz="1700">
                <a:solidFill>
                  <a:srgbClr val="333333"/>
                </a:solidFill>
                <a:latin typeface="inherit"/>
              </a:rPr>
              <a:t>(</a:t>
            </a:r>
            <a:r>
              <a:rPr lang="en-US" sz="1700">
                <a:solidFill>
                  <a:srgbClr val="002D7A"/>
                </a:solidFill>
                <a:latin typeface="inherit"/>
              </a:rPr>
              <a:t>QtCore</a:t>
            </a:r>
            <a:r>
              <a:rPr lang="en-US" sz="1700">
                <a:solidFill>
                  <a:srgbClr val="333333"/>
                </a:solidFill>
                <a:latin typeface="inherit"/>
              </a:rPr>
              <a:t>.</a:t>
            </a:r>
            <a:r>
              <a:rPr lang="en-US" sz="1700">
                <a:solidFill>
                  <a:srgbClr val="004ED0"/>
                </a:solidFill>
                <a:latin typeface="inherit"/>
              </a:rPr>
              <a:t>QSize</a:t>
            </a:r>
            <a:r>
              <a:rPr lang="en-US" sz="1700">
                <a:solidFill>
                  <a:srgbClr val="333333"/>
                </a:solidFill>
                <a:latin typeface="inherit"/>
              </a:rPr>
              <a:t>(</a:t>
            </a:r>
            <a:r>
              <a:rPr lang="en-US" sz="1700">
                <a:solidFill>
                  <a:srgbClr val="CE0000"/>
                </a:solidFill>
                <a:latin typeface="inherit"/>
              </a:rPr>
              <a:t>40</a:t>
            </a:r>
            <a:r>
              <a:rPr lang="en-US" sz="1700">
                <a:solidFill>
                  <a:srgbClr val="333333"/>
                </a:solidFill>
                <a:latin typeface="inherit"/>
              </a:rPr>
              <a:t>,</a:t>
            </a:r>
            <a:r>
              <a:rPr lang="en-US" sz="1700">
                <a:solidFill>
                  <a:srgbClr val="CE0000"/>
                </a:solidFill>
                <a:latin typeface="inherit"/>
              </a:rPr>
              <a:t>40</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check1</a:t>
            </a:r>
            <a:r>
              <a:rPr lang="en-US" sz="1700">
                <a:solidFill>
                  <a:srgbClr val="333333"/>
                </a:solidFill>
                <a:latin typeface="inherit"/>
              </a:rPr>
              <a:t>.</a:t>
            </a:r>
            <a:r>
              <a:rPr lang="en-US" sz="1700">
                <a:solidFill>
                  <a:srgbClr val="004ED0"/>
                </a:solidFill>
                <a:latin typeface="inherit"/>
              </a:rPr>
              <a:t>setFont</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QFont</a:t>
            </a:r>
            <a:r>
              <a:rPr lang="en-US" sz="1700">
                <a:solidFill>
                  <a:srgbClr val="333333"/>
                </a:solidFill>
                <a:latin typeface="inherit"/>
              </a:rPr>
              <a:t>(</a:t>
            </a:r>
            <a:r>
              <a:rPr lang="en-US" sz="1700">
                <a:solidFill>
                  <a:srgbClr val="008000"/>
                </a:solidFill>
                <a:latin typeface="inherit"/>
              </a:rPr>
              <a:t>"Sanserif"</a:t>
            </a:r>
            <a:r>
              <a:rPr lang="en-US" sz="1700">
                <a:solidFill>
                  <a:srgbClr val="333333"/>
                </a:solidFill>
                <a:latin typeface="inherit"/>
              </a:rPr>
              <a:t>,</a:t>
            </a:r>
            <a:r>
              <a:rPr lang="en-US" sz="1700">
                <a:solidFill>
                  <a:srgbClr val="006FE0"/>
                </a:solidFill>
                <a:latin typeface="inherit"/>
              </a:rPr>
              <a:t> </a:t>
            </a:r>
            <a:r>
              <a:rPr lang="en-US" sz="1700">
                <a:solidFill>
                  <a:srgbClr val="CE0000"/>
                </a:solidFill>
                <a:latin typeface="inherit"/>
              </a:rPr>
              <a:t>13</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check1</a:t>
            </a:r>
            <a:r>
              <a:rPr lang="en-US" sz="1700">
                <a:solidFill>
                  <a:srgbClr val="333333"/>
                </a:solidFill>
                <a:latin typeface="inherit"/>
              </a:rPr>
              <a:t>.</a:t>
            </a:r>
            <a:r>
              <a:rPr lang="en-US" sz="1700">
                <a:solidFill>
                  <a:srgbClr val="002D7A"/>
                </a:solidFill>
                <a:latin typeface="inherit"/>
              </a:rPr>
              <a:t>toggled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onCheckbox_toggled</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hboxLayout</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check1</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check2</a:t>
            </a:r>
            <a:r>
              <a:rPr lang="en-US" sz="1700">
                <a:solidFill>
                  <a:srgbClr val="006FE0"/>
                </a:solidFill>
                <a:latin typeface="inherit"/>
              </a:rPr>
              <a:t> =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"Java"</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check2</a:t>
            </a:r>
            <a:r>
              <a:rPr lang="en-US" sz="1700">
                <a:solidFill>
                  <a:srgbClr val="333333"/>
                </a:solidFill>
                <a:latin typeface="inherit"/>
              </a:rPr>
              <a:t>.</a:t>
            </a:r>
            <a:r>
              <a:rPr lang="en-US" sz="1700">
                <a:solidFill>
                  <a:srgbClr val="004ED0"/>
                </a:solidFill>
                <a:latin typeface="inherit"/>
              </a:rPr>
              <a:t>setIcon</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"java.png"</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check2</a:t>
            </a:r>
            <a:r>
              <a:rPr lang="en-US" sz="1700">
                <a:solidFill>
                  <a:srgbClr val="333333"/>
                </a:solidFill>
                <a:latin typeface="inherit"/>
              </a:rPr>
              <a:t>.</a:t>
            </a:r>
            <a:r>
              <a:rPr lang="en-US" sz="1700">
                <a:solidFill>
                  <a:srgbClr val="004ED0"/>
                </a:solidFill>
                <a:latin typeface="inherit"/>
              </a:rPr>
              <a:t>setIconSize</a:t>
            </a:r>
            <a:r>
              <a:rPr lang="en-US" sz="1700">
                <a:solidFill>
                  <a:srgbClr val="333333"/>
                </a:solidFill>
                <a:latin typeface="inherit"/>
              </a:rPr>
              <a:t>(</a:t>
            </a:r>
            <a:r>
              <a:rPr lang="en-US" sz="1700">
                <a:solidFill>
                  <a:srgbClr val="002D7A"/>
                </a:solidFill>
                <a:latin typeface="inherit"/>
              </a:rPr>
              <a:t>QtCore</a:t>
            </a:r>
            <a:r>
              <a:rPr lang="en-US" sz="1700">
                <a:solidFill>
                  <a:srgbClr val="333333"/>
                </a:solidFill>
                <a:latin typeface="inherit"/>
              </a:rPr>
              <a:t>.</a:t>
            </a:r>
            <a:r>
              <a:rPr lang="en-US" sz="1700">
                <a:solidFill>
                  <a:srgbClr val="004ED0"/>
                </a:solidFill>
                <a:latin typeface="inherit"/>
              </a:rPr>
              <a:t>QSize</a:t>
            </a:r>
            <a:r>
              <a:rPr lang="en-US" sz="1700">
                <a:solidFill>
                  <a:srgbClr val="333333"/>
                </a:solidFill>
                <a:latin typeface="inherit"/>
              </a:rPr>
              <a:t>(</a:t>
            </a:r>
            <a:r>
              <a:rPr lang="en-US" sz="1700">
                <a:solidFill>
                  <a:srgbClr val="CE0000"/>
                </a:solidFill>
                <a:latin typeface="inherit"/>
              </a:rPr>
              <a:t>40</a:t>
            </a:r>
            <a:r>
              <a:rPr lang="en-US" sz="1700">
                <a:solidFill>
                  <a:srgbClr val="333333"/>
                </a:solidFill>
                <a:latin typeface="inherit"/>
              </a:rPr>
              <a:t>,</a:t>
            </a:r>
            <a:r>
              <a:rPr lang="en-US" sz="1700">
                <a:solidFill>
                  <a:srgbClr val="006FE0"/>
                </a:solidFill>
                <a:latin typeface="inherit"/>
              </a:rPr>
              <a:t> </a:t>
            </a:r>
            <a:r>
              <a:rPr lang="en-US" sz="1700">
                <a:solidFill>
                  <a:srgbClr val="CE0000"/>
                </a:solidFill>
                <a:latin typeface="inherit"/>
              </a:rPr>
              <a:t>40</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check2</a:t>
            </a:r>
            <a:r>
              <a:rPr lang="en-US" sz="1700">
                <a:solidFill>
                  <a:srgbClr val="333333"/>
                </a:solidFill>
                <a:latin typeface="inherit"/>
              </a:rPr>
              <a:t>.</a:t>
            </a:r>
            <a:r>
              <a:rPr lang="en-US" sz="1700">
                <a:solidFill>
                  <a:srgbClr val="004ED0"/>
                </a:solidFill>
                <a:latin typeface="inherit"/>
              </a:rPr>
              <a:t>setFont</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QFont</a:t>
            </a:r>
            <a:r>
              <a:rPr lang="en-US" sz="1700">
                <a:solidFill>
                  <a:srgbClr val="333333"/>
                </a:solidFill>
                <a:latin typeface="inherit"/>
              </a:rPr>
              <a:t>(</a:t>
            </a:r>
            <a:r>
              <a:rPr lang="en-US" sz="1700">
                <a:solidFill>
                  <a:srgbClr val="008000"/>
                </a:solidFill>
                <a:latin typeface="inherit"/>
              </a:rPr>
              <a:t>"Sanserif"</a:t>
            </a:r>
            <a:r>
              <a:rPr lang="en-US" sz="1700">
                <a:solidFill>
                  <a:srgbClr val="333333"/>
                </a:solidFill>
                <a:latin typeface="inherit"/>
              </a:rPr>
              <a:t>,</a:t>
            </a:r>
            <a:r>
              <a:rPr lang="en-US" sz="1700">
                <a:solidFill>
                  <a:srgbClr val="006FE0"/>
                </a:solidFill>
                <a:latin typeface="inherit"/>
              </a:rPr>
              <a:t> </a:t>
            </a:r>
            <a:r>
              <a:rPr lang="en-US" sz="1700">
                <a:solidFill>
                  <a:srgbClr val="CE0000"/>
                </a:solidFill>
                <a:latin typeface="inherit"/>
              </a:rPr>
              <a:t>13</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check2</a:t>
            </a:r>
            <a:r>
              <a:rPr lang="en-US" sz="1700">
                <a:solidFill>
                  <a:srgbClr val="333333"/>
                </a:solidFill>
                <a:latin typeface="inherit"/>
              </a:rPr>
              <a:t>.</a:t>
            </a:r>
            <a:r>
              <a:rPr lang="en-US" sz="1700">
                <a:solidFill>
                  <a:srgbClr val="002D7A"/>
                </a:solidFill>
                <a:latin typeface="inherit"/>
              </a:rPr>
              <a:t>toggled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onCheckbox_toggled</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hboxLayout</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check2</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check3</a:t>
            </a:r>
            <a:r>
              <a:rPr lang="en-US" sz="1700">
                <a:solidFill>
                  <a:srgbClr val="006FE0"/>
                </a:solidFill>
                <a:latin typeface="inherit"/>
              </a:rPr>
              <a:t> =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"C++"</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check3</a:t>
            </a:r>
            <a:r>
              <a:rPr lang="en-US" sz="1700">
                <a:solidFill>
                  <a:srgbClr val="333333"/>
                </a:solidFill>
                <a:latin typeface="inherit"/>
              </a:rPr>
              <a:t>.</a:t>
            </a:r>
            <a:r>
              <a:rPr lang="en-US" sz="1700">
                <a:solidFill>
                  <a:srgbClr val="004ED0"/>
                </a:solidFill>
                <a:latin typeface="inherit"/>
              </a:rPr>
              <a:t>setIcon</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"cpp.png"</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check3</a:t>
            </a:r>
            <a:r>
              <a:rPr lang="en-US" sz="1700">
                <a:solidFill>
                  <a:srgbClr val="333333"/>
                </a:solidFill>
                <a:latin typeface="inherit"/>
              </a:rPr>
              <a:t>.</a:t>
            </a:r>
            <a:r>
              <a:rPr lang="en-US" sz="1700">
                <a:solidFill>
                  <a:srgbClr val="004ED0"/>
                </a:solidFill>
                <a:latin typeface="inherit"/>
              </a:rPr>
              <a:t>setIconSize</a:t>
            </a:r>
            <a:r>
              <a:rPr lang="en-US" sz="1700">
                <a:solidFill>
                  <a:srgbClr val="333333"/>
                </a:solidFill>
                <a:latin typeface="inherit"/>
              </a:rPr>
              <a:t>(</a:t>
            </a:r>
            <a:r>
              <a:rPr lang="en-US" sz="1700">
                <a:solidFill>
                  <a:srgbClr val="002D7A"/>
                </a:solidFill>
                <a:latin typeface="inherit"/>
              </a:rPr>
              <a:t>QtCore</a:t>
            </a:r>
            <a:r>
              <a:rPr lang="en-US" sz="1700">
                <a:solidFill>
                  <a:srgbClr val="333333"/>
                </a:solidFill>
                <a:latin typeface="inherit"/>
              </a:rPr>
              <a:t>.</a:t>
            </a:r>
            <a:r>
              <a:rPr lang="en-US" sz="1700">
                <a:solidFill>
                  <a:srgbClr val="004ED0"/>
                </a:solidFill>
                <a:latin typeface="inherit"/>
              </a:rPr>
              <a:t>QSize</a:t>
            </a:r>
            <a:r>
              <a:rPr lang="en-US" sz="1700">
                <a:solidFill>
                  <a:srgbClr val="333333"/>
                </a:solidFill>
                <a:latin typeface="inherit"/>
              </a:rPr>
              <a:t>(</a:t>
            </a:r>
            <a:r>
              <a:rPr lang="en-US" sz="1700">
                <a:solidFill>
                  <a:srgbClr val="CE0000"/>
                </a:solidFill>
                <a:latin typeface="inherit"/>
              </a:rPr>
              <a:t>40</a:t>
            </a:r>
            <a:r>
              <a:rPr lang="en-US" sz="1700">
                <a:solidFill>
                  <a:srgbClr val="333333"/>
                </a:solidFill>
                <a:latin typeface="inherit"/>
              </a:rPr>
              <a:t>,</a:t>
            </a:r>
            <a:r>
              <a:rPr lang="en-US" sz="1700">
                <a:solidFill>
                  <a:srgbClr val="006FE0"/>
                </a:solidFill>
                <a:latin typeface="inherit"/>
              </a:rPr>
              <a:t> </a:t>
            </a:r>
            <a:r>
              <a:rPr lang="en-US" sz="1700">
                <a:solidFill>
                  <a:srgbClr val="CE0000"/>
                </a:solidFill>
                <a:latin typeface="inherit"/>
              </a:rPr>
              <a:t>40</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check3</a:t>
            </a:r>
            <a:r>
              <a:rPr lang="en-US" sz="1700">
                <a:solidFill>
                  <a:srgbClr val="333333"/>
                </a:solidFill>
                <a:latin typeface="inherit"/>
              </a:rPr>
              <a:t>.</a:t>
            </a:r>
            <a:r>
              <a:rPr lang="en-US" sz="1700">
                <a:solidFill>
                  <a:srgbClr val="004ED0"/>
                </a:solidFill>
                <a:latin typeface="inherit"/>
              </a:rPr>
              <a:t>setFont</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QFont</a:t>
            </a:r>
            <a:r>
              <a:rPr lang="en-US" sz="1700">
                <a:solidFill>
                  <a:srgbClr val="333333"/>
                </a:solidFill>
                <a:latin typeface="inherit"/>
              </a:rPr>
              <a:t>(</a:t>
            </a:r>
            <a:r>
              <a:rPr lang="en-US" sz="1700">
                <a:solidFill>
                  <a:srgbClr val="008000"/>
                </a:solidFill>
                <a:latin typeface="inherit"/>
              </a:rPr>
              <a:t>"Sanserif"</a:t>
            </a:r>
            <a:r>
              <a:rPr lang="en-US" sz="1700">
                <a:solidFill>
                  <a:srgbClr val="333333"/>
                </a:solidFill>
                <a:latin typeface="inherit"/>
              </a:rPr>
              <a:t>,</a:t>
            </a:r>
            <a:r>
              <a:rPr lang="en-US" sz="1700">
                <a:solidFill>
                  <a:srgbClr val="006FE0"/>
                </a:solidFill>
                <a:latin typeface="inherit"/>
              </a:rPr>
              <a:t> </a:t>
            </a:r>
            <a:r>
              <a:rPr lang="en-US" sz="1700">
                <a:solidFill>
                  <a:srgbClr val="CE0000"/>
                </a:solidFill>
                <a:latin typeface="inherit"/>
              </a:rPr>
              <a:t>13</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check3</a:t>
            </a:r>
            <a:r>
              <a:rPr lang="en-US" sz="1700">
                <a:solidFill>
                  <a:srgbClr val="333333"/>
                </a:solidFill>
                <a:latin typeface="inherit"/>
              </a:rPr>
              <a:t>.</a:t>
            </a:r>
            <a:r>
              <a:rPr lang="en-US" sz="1700">
                <a:solidFill>
                  <a:srgbClr val="002D7A"/>
                </a:solidFill>
                <a:latin typeface="inherit"/>
              </a:rPr>
              <a:t>toggled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onCheckbox_toggled</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hboxLayout</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check3</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groupBox</a:t>
            </a:r>
            <a:r>
              <a:rPr lang="en-US" sz="1700">
                <a:solidFill>
                  <a:srgbClr val="333333"/>
                </a:solidFill>
                <a:latin typeface="inherit"/>
              </a:rPr>
              <a:t>.</a:t>
            </a:r>
            <a:r>
              <a:rPr lang="en-US" sz="1700">
                <a:solidFill>
                  <a:srgbClr val="004ED0"/>
                </a:solidFill>
                <a:latin typeface="inherit"/>
              </a:rPr>
              <a:t>setLayout</a:t>
            </a:r>
            <a:r>
              <a:rPr lang="en-US" sz="1700">
                <a:solidFill>
                  <a:srgbClr val="333333"/>
                </a:solidFill>
                <a:latin typeface="inherit"/>
              </a:rPr>
              <a:t>(</a:t>
            </a:r>
            <a:r>
              <a:rPr lang="en-US" sz="1700">
                <a:solidFill>
                  <a:srgbClr val="002D7A"/>
                </a:solidFill>
                <a:latin typeface="inherit"/>
              </a:rPr>
              <a:t>hboxLayout</a:t>
            </a:r>
            <a:r>
              <a:rPr lang="en-US" sz="1700">
                <a:solidFill>
                  <a:srgbClr val="333333"/>
                </a:solidFill>
                <a:latin typeface="inherit"/>
              </a:rPr>
              <a:t>)</a:t>
            </a:r>
            <a:endParaRPr lang="en-US" sz="1700" b="0" i="0">
              <a:solidFill>
                <a:srgbClr val="000000"/>
              </a:solidFill>
              <a:effectLst/>
              <a:latin typeface="Monaco"/>
            </a:endParaRPr>
          </a:p>
        </p:txBody>
      </p:sp>
    </p:spTree>
    <p:extLst>
      <p:ext uri="{BB962C8B-B14F-4D97-AF65-F5344CB8AC3E}">
        <p14:creationId xmlns:p14="http://schemas.microsoft.com/office/powerpoint/2010/main" val="2267381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F1A31-AE89-4CC7-A01C-98E6B877669B}"/>
              </a:ext>
            </a:extLst>
          </p:cNvPr>
          <p:cNvSpPr>
            <a:spLocks noGrp="1"/>
          </p:cNvSpPr>
          <p:nvPr>
            <p:ph idx="1"/>
          </p:nvPr>
        </p:nvSpPr>
        <p:spPr>
          <a:xfrm>
            <a:off x="9624" y="733245"/>
            <a:ext cx="9134375" cy="6105505"/>
          </a:xfrm>
        </p:spPr>
        <p:txBody>
          <a:bodyPr>
            <a:normAutofit/>
          </a:bodyPr>
          <a:lstStyle/>
          <a:p>
            <a:pPr marL="0" indent="0">
              <a:buNone/>
            </a:pPr>
            <a:r>
              <a:rPr lang="vi-VN" sz="2400"/>
              <a:t>Sau đó, tạo phương thức onCheckbox_toggle ()</a:t>
            </a:r>
            <a:endParaRPr lang="en-US" sz="2400"/>
          </a:p>
        </p:txBody>
      </p:sp>
      <p:sp>
        <p:nvSpPr>
          <p:cNvPr id="4" name="Title 1">
            <a:extLst>
              <a:ext uri="{FF2B5EF4-FFF2-40B4-BE49-F238E27FC236}">
                <a16:creationId xmlns:a16="http://schemas.microsoft.com/office/drawing/2014/main" id="{4FE4C7D8-DBC7-4B5F-AF0C-694DB6E0F014}"/>
              </a:ext>
            </a:extLst>
          </p:cNvPr>
          <p:cNvSpPr>
            <a:spLocks noGrp="1"/>
          </p:cNvSpPr>
          <p:nvPr>
            <p:ph type="title"/>
          </p:nvPr>
        </p:nvSpPr>
        <p:spPr>
          <a:xfrm>
            <a:off x="9624" y="19250"/>
            <a:ext cx="9134375" cy="713995"/>
          </a:xfrm>
        </p:spPr>
        <p:txBody>
          <a:bodyPr>
            <a:normAutofit/>
          </a:bodyPr>
          <a:lstStyle/>
          <a:p>
            <a:r>
              <a:rPr lang="en-US"/>
              <a:t>Tạo QCheckBox với signal (t.t)</a:t>
            </a:r>
          </a:p>
        </p:txBody>
      </p:sp>
      <p:sp>
        <p:nvSpPr>
          <p:cNvPr id="5" name="Rectangle 4">
            <a:extLst>
              <a:ext uri="{FF2B5EF4-FFF2-40B4-BE49-F238E27FC236}">
                <a16:creationId xmlns:a16="http://schemas.microsoft.com/office/drawing/2014/main" id="{1B099696-B276-4A06-BDEA-092C5E731116}"/>
              </a:ext>
            </a:extLst>
          </p:cNvPr>
          <p:cNvSpPr/>
          <p:nvPr/>
        </p:nvSpPr>
        <p:spPr>
          <a:xfrm>
            <a:off x="78635" y="1090070"/>
            <a:ext cx="7089916" cy="2246769"/>
          </a:xfrm>
          <a:prstGeom prst="rect">
            <a:avLst/>
          </a:prstGeom>
          <a:solidFill>
            <a:schemeClr val="accent5">
              <a:lumMod val="20000"/>
              <a:lumOff val="80000"/>
            </a:schemeClr>
          </a:solidFill>
        </p:spPr>
        <p:txBody>
          <a:bodyPr wrap="square">
            <a:spAutoFit/>
          </a:bodyPr>
          <a:lstStyle/>
          <a:p>
            <a:r>
              <a:rPr lang="en-US" sz="2000">
                <a:solidFill>
                  <a:srgbClr val="004ED0"/>
                </a:solidFill>
                <a:latin typeface="inherit"/>
              </a:rPr>
              <a:t>def onCheckbox_toggled</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check1</a:t>
            </a:r>
            <a:r>
              <a:rPr lang="en-US" sz="2000">
                <a:solidFill>
                  <a:srgbClr val="333333"/>
                </a:solidFill>
                <a:latin typeface="inherit"/>
              </a:rPr>
              <a:t>.</a:t>
            </a:r>
            <a:r>
              <a:rPr lang="en-US" sz="2000">
                <a:solidFill>
                  <a:srgbClr val="004ED0"/>
                </a:solidFill>
                <a:latin typeface="inherit"/>
              </a:rPr>
              <a:t>isChecked</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setText</a:t>
            </a:r>
            <a:r>
              <a:rPr lang="en-US" sz="2000">
                <a:solidFill>
                  <a:srgbClr val="333333"/>
                </a:solidFill>
                <a:latin typeface="inherit"/>
              </a:rPr>
              <a:t>(</a:t>
            </a:r>
            <a:r>
              <a:rPr lang="en-US" sz="2000">
                <a:solidFill>
                  <a:srgbClr val="008000"/>
                </a:solidFill>
                <a:latin typeface="inherit"/>
              </a:rPr>
              <a:t>" You Have Selected: "</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check1</a:t>
            </a:r>
            <a:r>
              <a:rPr lang="en-US" sz="2000">
                <a:solidFill>
                  <a:srgbClr val="333333"/>
                </a:solidFill>
                <a:latin typeface="inherit"/>
              </a:rPr>
              <a:t>.</a:t>
            </a:r>
            <a:r>
              <a:rPr lang="en-US" sz="2000">
                <a:solidFill>
                  <a:srgbClr val="004ED0"/>
                </a:solidFill>
                <a:latin typeface="inherit"/>
              </a:rPr>
              <a:t>text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check2</a:t>
            </a:r>
            <a:r>
              <a:rPr lang="en-US" sz="2000">
                <a:solidFill>
                  <a:srgbClr val="333333"/>
                </a:solidFill>
                <a:latin typeface="inherit"/>
              </a:rPr>
              <a:t>.</a:t>
            </a:r>
            <a:r>
              <a:rPr lang="en-US" sz="2000">
                <a:solidFill>
                  <a:srgbClr val="004ED0"/>
                </a:solidFill>
                <a:latin typeface="inherit"/>
              </a:rPr>
              <a:t>isChecked</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setText</a:t>
            </a:r>
            <a:r>
              <a:rPr lang="en-US" sz="2000">
                <a:solidFill>
                  <a:srgbClr val="333333"/>
                </a:solidFill>
                <a:latin typeface="inherit"/>
              </a:rPr>
              <a:t>(</a:t>
            </a:r>
            <a:r>
              <a:rPr lang="en-US" sz="2000">
                <a:solidFill>
                  <a:srgbClr val="008000"/>
                </a:solidFill>
                <a:latin typeface="inherit"/>
              </a:rPr>
              <a:t>"You Have Selected : "</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check2</a:t>
            </a:r>
            <a:r>
              <a:rPr lang="en-US" sz="2000">
                <a:solidFill>
                  <a:srgbClr val="333333"/>
                </a:solidFill>
                <a:latin typeface="inherit"/>
              </a:rPr>
              <a:t>.</a:t>
            </a:r>
            <a:r>
              <a:rPr lang="en-US" sz="2000">
                <a:solidFill>
                  <a:srgbClr val="004ED0"/>
                </a:solidFill>
                <a:latin typeface="inherit"/>
              </a:rPr>
              <a:t>text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check3</a:t>
            </a:r>
            <a:r>
              <a:rPr lang="en-US" sz="2000">
                <a:solidFill>
                  <a:srgbClr val="333333"/>
                </a:solidFill>
                <a:latin typeface="inherit"/>
              </a:rPr>
              <a:t>.</a:t>
            </a:r>
            <a:r>
              <a:rPr lang="en-US" sz="2000">
                <a:solidFill>
                  <a:srgbClr val="004ED0"/>
                </a:solidFill>
                <a:latin typeface="inherit"/>
              </a:rPr>
              <a:t>isChecked</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setText</a:t>
            </a:r>
            <a:r>
              <a:rPr lang="en-US" sz="2000">
                <a:solidFill>
                  <a:srgbClr val="333333"/>
                </a:solidFill>
                <a:latin typeface="inherit"/>
              </a:rPr>
              <a:t>(</a:t>
            </a:r>
            <a:r>
              <a:rPr lang="en-US" sz="2000">
                <a:solidFill>
                  <a:srgbClr val="008000"/>
                </a:solidFill>
                <a:latin typeface="inherit"/>
              </a:rPr>
              <a:t>"You Have Selected : "</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check3</a:t>
            </a:r>
            <a:r>
              <a:rPr lang="en-US" sz="2000">
                <a:solidFill>
                  <a:srgbClr val="333333"/>
                </a:solidFill>
                <a:latin typeface="inherit"/>
              </a:rPr>
              <a:t>.</a:t>
            </a:r>
            <a:r>
              <a:rPr lang="en-US" sz="2000">
                <a:solidFill>
                  <a:srgbClr val="004ED0"/>
                </a:solidFill>
                <a:latin typeface="inherit"/>
              </a:rPr>
              <a:t>text</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FCB0E327-EF6D-44D0-AA59-10AB80902A56}"/>
              </a:ext>
            </a:extLst>
          </p:cNvPr>
          <p:cNvSpPr/>
          <p:nvPr/>
        </p:nvSpPr>
        <p:spPr>
          <a:xfrm>
            <a:off x="19248" y="3521162"/>
            <a:ext cx="9124752" cy="461665"/>
          </a:xfrm>
          <a:prstGeom prst="rect">
            <a:avLst/>
          </a:prstGeom>
        </p:spPr>
        <p:txBody>
          <a:bodyPr wrap="square">
            <a:spAutoFit/>
          </a:bodyPr>
          <a:lstStyle/>
          <a:p>
            <a:r>
              <a:rPr lang="vi-VN" sz="2400">
                <a:solidFill>
                  <a:srgbClr val="3A3A3A"/>
                </a:solidFill>
              </a:rPr>
              <a:t>Cuối cùng, tạo các đối tượng QApplication và Window</a:t>
            </a:r>
            <a:endParaRPr lang="en-US" sz="2400"/>
          </a:p>
        </p:txBody>
      </p:sp>
      <p:sp>
        <p:nvSpPr>
          <p:cNvPr id="7" name="Rectangle 6">
            <a:extLst>
              <a:ext uri="{FF2B5EF4-FFF2-40B4-BE49-F238E27FC236}">
                <a16:creationId xmlns:a16="http://schemas.microsoft.com/office/drawing/2014/main" id="{F3E9096F-B1EE-4C0C-9CE4-3F20D5C74CDC}"/>
              </a:ext>
            </a:extLst>
          </p:cNvPr>
          <p:cNvSpPr/>
          <p:nvPr/>
        </p:nvSpPr>
        <p:spPr>
          <a:xfrm>
            <a:off x="78635" y="3930605"/>
            <a:ext cx="3372929" cy="1323439"/>
          </a:xfrm>
          <a:prstGeom prst="rect">
            <a:avLst/>
          </a:prstGeom>
          <a:solidFill>
            <a:schemeClr val="accent6">
              <a:lumMod val="20000"/>
              <a:lumOff val="80000"/>
            </a:schemeClr>
          </a:solidFill>
        </p:spPr>
        <p:txBody>
          <a:bodyPr wrap="square">
            <a:spAutoFit/>
          </a:bodyPr>
          <a:lstStyle/>
          <a:p>
            <a:r>
              <a:rPr lang="en-AU" sz="2000">
                <a:solidFill>
                  <a:srgbClr val="800080"/>
                </a:solidFill>
                <a:latin typeface="inherit"/>
              </a:rPr>
              <a:t>if</a:t>
            </a:r>
            <a:r>
              <a:rPr lang="en-AU" sz="2000">
                <a:solidFill>
                  <a:srgbClr val="006FE0"/>
                </a:solidFill>
                <a:latin typeface="inherit"/>
              </a:rPr>
              <a:t> </a:t>
            </a:r>
            <a:r>
              <a:rPr lang="en-AU" sz="2000">
                <a:solidFill>
                  <a:srgbClr val="002D7A"/>
                </a:solidFill>
                <a:latin typeface="inherit"/>
              </a:rPr>
              <a:t>__name__</a:t>
            </a:r>
            <a:r>
              <a:rPr lang="en-AU" sz="2000">
                <a:solidFill>
                  <a:srgbClr val="006FE0"/>
                </a:solidFill>
                <a:latin typeface="inherit"/>
              </a:rPr>
              <a:t> == </a:t>
            </a:r>
            <a:r>
              <a:rPr lang="en-AU" sz="2000">
                <a:solidFill>
                  <a:srgbClr val="008000"/>
                </a:solidFill>
                <a:latin typeface="inherit"/>
              </a:rPr>
              <a:t>"__main__"</a:t>
            </a:r>
            <a:r>
              <a:rPr lang="en-AU" sz="2000">
                <a:solidFill>
                  <a:srgbClr val="006FE0"/>
                </a:solidFill>
                <a:latin typeface="inherit"/>
              </a:rPr>
              <a:t>:</a:t>
            </a:r>
            <a:endParaRPr lang="en-AU" sz="2000">
              <a:solidFill>
                <a:srgbClr val="000000"/>
              </a:solidFill>
              <a:latin typeface="Monaco"/>
            </a:endParaRPr>
          </a:p>
          <a:p>
            <a:r>
              <a:rPr lang="en-AU" sz="2000">
                <a:solidFill>
                  <a:srgbClr val="006FE0"/>
                </a:solidFill>
                <a:latin typeface="inherit"/>
              </a:rPr>
              <a:t>    </a:t>
            </a:r>
            <a:r>
              <a:rPr lang="en-AU" sz="2000">
                <a:solidFill>
                  <a:srgbClr val="002D7A"/>
                </a:solidFill>
                <a:latin typeface="inherit"/>
              </a:rPr>
              <a:t>app</a:t>
            </a:r>
            <a:r>
              <a:rPr lang="en-AU" sz="2000">
                <a:solidFill>
                  <a:srgbClr val="006FE0"/>
                </a:solidFill>
                <a:latin typeface="inherit"/>
              </a:rPr>
              <a:t> = </a:t>
            </a:r>
            <a:r>
              <a:rPr lang="en-AU" sz="2000">
                <a:solidFill>
                  <a:srgbClr val="004ED0"/>
                </a:solidFill>
                <a:latin typeface="inherit"/>
              </a:rPr>
              <a:t>QApplication</a:t>
            </a:r>
            <a:r>
              <a:rPr lang="en-AU" sz="2000">
                <a:solidFill>
                  <a:srgbClr val="333333"/>
                </a:solidFill>
                <a:latin typeface="inherit"/>
              </a:rPr>
              <a:t>(</a:t>
            </a:r>
            <a:r>
              <a:rPr lang="en-AU" sz="2000">
                <a:solidFill>
                  <a:srgbClr val="002D7A"/>
                </a:solidFill>
                <a:latin typeface="inherit"/>
              </a:rPr>
              <a:t>sys</a:t>
            </a:r>
            <a:r>
              <a:rPr lang="en-AU" sz="2000">
                <a:solidFill>
                  <a:srgbClr val="333333"/>
                </a:solidFill>
                <a:latin typeface="inherit"/>
              </a:rPr>
              <a:t>.</a:t>
            </a:r>
            <a:r>
              <a:rPr lang="en-AU" sz="2000">
                <a:solidFill>
                  <a:srgbClr val="002D7A"/>
                </a:solidFill>
                <a:latin typeface="inherit"/>
              </a:rPr>
              <a:t>argv</a:t>
            </a:r>
            <a:r>
              <a:rPr lang="en-AU" sz="2000">
                <a:solidFill>
                  <a:srgbClr val="333333"/>
                </a:solidFill>
                <a:latin typeface="inherit"/>
              </a:rPr>
              <a:t>)</a:t>
            </a:r>
            <a:endParaRPr lang="en-AU" sz="2000">
              <a:solidFill>
                <a:srgbClr val="000000"/>
              </a:solidFill>
              <a:latin typeface="Monaco"/>
            </a:endParaRPr>
          </a:p>
          <a:p>
            <a:r>
              <a:rPr lang="en-AU" sz="2000">
                <a:solidFill>
                  <a:srgbClr val="006FE0"/>
                </a:solidFill>
                <a:latin typeface="inherit"/>
              </a:rPr>
              <a:t>    </a:t>
            </a:r>
            <a:r>
              <a:rPr lang="en-AU" sz="2000">
                <a:solidFill>
                  <a:srgbClr val="002D7A"/>
                </a:solidFill>
                <a:latin typeface="inherit"/>
              </a:rPr>
              <a:t>window</a:t>
            </a:r>
            <a:r>
              <a:rPr lang="en-AU" sz="2000">
                <a:solidFill>
                  <a:srgbClr val="006FE0"/>
                </a:solidFill>
                <a:latin typeface="inherit"/>
              </a:rPr>
              <a:t> = </a:t>
            </a:r>
            <a:r>
              <a:rPr lang="en-AU" sz="2000">
                <a:solidFill>
                  <a:srgbClr val="004ED0"/>
                </a:solidFill>
                <a:latin typeface="inherit"/>
              </a:rPr>
              <a:t>Window</a:t>
            </a:r>
            <a:r>
              <a:rPr lang="en-AU" sz="2000">
                <a:solidFill>
                  <a:srgbClr val="333333"/>
                </a:solidFill>
                <a:latin typeface="inherit"/>
              </a:rPr>
              <a:t>()</a:t>
            </a:r>
            <a:endParaRPr lang="en-AU" sz="2000">
              <a:solidFill>
                <a:srgbClr val="000000"/>
              </a:solidFill>
              <a:latin typeface="Monaco"/>
            </a:endParaRPr>
          </a:p>
          <a:p>
            <a:r>
              <a:rPr lang="en-AU" sz="2000">
                <a:solidFill>
                  <a:srgbClr val="006FE0"/>
                </a:solidFill>
                <a:latin typeface="inherit"/>
              </a:rPr>
              <a:t>    </a:t>
            </a:r>
            <a:r>
              <a:rPr lang="en-AU" sz="2000">
                <a:solidFill>
                  <a:srgbClr val="002D7A"/>
                </a:solidFill>
                <a:latin typeface="inherit"/>
              </a:rPr>
              <a:t>sys</a:t>
            </a:r>
            <a:r>
              <a:rPr lang="en-AU" sz="2000">
                <a:solidFill>
                  <a:srgbClr val="333333"/>
                </a:solidFill>
                <a:latin typeface="inherit"/>
              </a:rPr>
              <a:t>.</a:t>
            </a:r>
            <a:r>
              <a:rPr lang="en-AU" sz="2000">
                <a:solidFill>
                  <a:srgbClr val="004ED0"/>
                </a:solidFill>
                <a:latin typeface="inherit"/>
              </a:rPr>
              <a:t>exit</a:t>
            </a:r>
            <a:r>
              <a:rPr lang="en-AU" sz="2000">
                <a:solidFill>
                  <a:srgbClr val="333333"/>
                </a:solidFill>
                <a:latin typeface="inherit"/>
              </a:rPr>
              <a:t>(</a:t>
            </a:r>
            <a:r>
              <a:rPr lang="en-AU" sz="2000">
                <a:solidFill>
                  <a:srgbClr val="002D7A"/>
                </a:solidFill>
                <a:latin typeface="inherit"/>
              </a:rPr>
              <a:t>app</a:t>
            </a:r>
            <a:r>
              <a:rPr lang="en-AU" sz="2000">
                <a:solidFill>
                  <a:srgbClr val="333333"/>
                </a:solidFill>
                <a:latin typeface="inherit"/>
              </a:rPr>
              <a:t>.</a:t>
            </a:r>
            <a:r>
              <a:rPr lang="en-AU" sz="2000">
                <a:solidFill>
                  <a:srgbClr val="004ED0"/>
                </a:solidFill>
                <a:latin typeface="inherit"/>
              </a:rPr>
              <a:t>exec</a:t>
            </a:r>
            <a:r>
              <a:rPr lang="en-AU" sz="2000">
                <a:solidFill>
                  <a:srgbClr val="333333"/>
                </a:solidFill>
                <a:latin typeface="inherit"/>
              </a:rPr>
              <a:t>())</a:t>
            </a:r>
            <a:endParaRPr lang="en-AU" sz="2000" b="0" i="0">
              <a:solidFill>
                <a:srgbClr val="000000"/>
              </a:solidFill>
              <a:effectLst/>
              <a:latin typeface="Monaco"/>
            </a:endParaRPr>
          </a:p>
        </p:txBody>
      </p:sp>
      <p:pic>
        <p:nvPicPr>
          <p:cNvPr id="1026" name="Picture 2" descr="VÃ­ dá»¥ QQeck5 PyQt5">
            <a:extLst>
              <a:ext uri="{FF2B5EF4-FFF2-40B4-BE49-F238E27FC236}">
                <a16:creationId xmlns:a16="http://schemas.microsoft.com/office/drawing/2014/main" id="{4DFCF129-314F-416D-8932-692361ADC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9909" y="4659839"/>
            <a:ext cx="5025965" cy="2110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447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C7F6-3D9A-480A-83B1-A2AA682ED1CB}"/>
              </a:ext>
            </a:extLst>
          </p:cNvPr>
          <p:cNvSpPr>
            <a:spLocks noGrp="1"/>
          </p:cNvSpPr>
          <p:nvPr>
            <p:ph type="title"/>
          </p:nvPr>
        </p:nvSpPr>
        <p:spPr>
          <a:xfrm>
            <a:off x="9624" y="19250"/>
            <a:ext cx="9134375" cy="826139"/>
          </a:xfrm>
        </p:spPr>
        <p:txBody>
          <a:bodyPr>
            <a:normAutofit/>
          </a:bodyPr>
          <a:lstStyle/>
          <a:p>
            <a:r>
              <a:rPr lang="en-US"/>
              <a:t>Tạo lớp widget WHATISTHIS</a:t>
            </a:r>
          </a:p>
        </p:txBody>
      </p:sp>
      <p:sp>
        <p:nvSpPr>
          <p:cNvPr id="3" name="Content Placeholder 2">
            <a:extLst>
              <a:ext uri="{FF2B5EF4-FFF2-40B4-BE49-F238E27FC236}">
                <a16:creationId xmlns:a16="http://schemas.microsoft.com/office/drawing/2014/main" id="{EE8B1463-7EE5-494E-9C90-E526D190900C}"/>
              </a:ext>
            </a:extLst>
          </p:cNvPr>
          <p:cNvSpPr>
            <a:spLocks noGrp="1"/>
          </p:cNvSpPr>
          <p:nvPr>
            <p:ph idx="1"/>
          </p:nvPr>
        </p:nvSpPr>
        <p:spPr>
          <a:xfrm>
            <a:off x="9624" y="845389"/>
            <a:ext cx="9134375" cy="5993361"/>
          </a:xfrm>
        </p:spPr>
        <p:txBody>
          <a:bodyPr/>
          <a:lstStyle/>
          <a:p>
            <a:pPr marL="0" indent="0">
              <a:buNone/>
              <a:tabLst>
                <a:tab pos="5943600" algn="l"/>
              </a:tabLst>
            </a:pPr>
            <a:r>
              <a:rPr lang="en-US"/>
              <a:t>L</a:t>
            </a:r>
            <a:r>
              <a:rPr lang="vi-VN"/>
              <a:t>ớp WHATISTHIS cung cấp mô tả về mục đích của bất kỳ widget nào, nó tương tự như QTooltip</a:t>
            </a:r>
            <a:r>
              <a:rPr lang="en-US"/>
              <a:t>, đầu tiên cần import các th</a:t>
            </a:r>
            <a:r>
              <a:rPr lang="vi-VN"/>
              <a:t>ư</a:t>
            </a:r>
            <a:r>
              <a:rPr lang="en-US"/>
              <a:t> viện</a:t>
            </a:r>
          </a:p>
        </p:txBody>
      </p:sp>
      <p:sp>
        <p:nvSpPr>
          <p:cNvPr id="4" name="Rectangle 3">
            <a:extLst>
              <a:ext uri="{FF2B5EF4-FFF2-40B4-BE49-F238E27FC236}">
                <a16:creationId xmlns:a16="http://schemas.microsoft.com/office/drawing/2014/main" id="{A0B983FC-2BFE-4D90-B81A-FC46A83A44F2}"/>
              </a:ext>
            </a:extLst>
          </p:cNvPr>
          <p:cNvSpPr/>
          <p:nvPr/>
        </p:nvSpPr>
        <p:spPr>
          <a:xfrm>
            <a:off x="9624" y="2690336"/>
            <a:ext cx="9134376" cy="1815882"/>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p>
          <a:p>
            <a:pPr algn="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QLabel</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QPushButton</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QWhatsThis</a:t>
            </a:r>
            <a:endParaRPr lang="en-US" sz="2800">
              <a:solidFill>
                <a:srgbClr val="000000"/>
              </a:solidFill>
              <a:latin typeface="Monaco"/>
            </a:endParaRPr>
          </a:p>
          <a:p>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4227549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6B1910-E86E-46F2-ACFC-51E81C3F58BE}"/>
              </a:ext>
            </a:extLst>
          </p:cNvPr>
          <p:cNvSpPr>
            <a:spLocks noGrp="1"/>
          </p:cNvSpPr>
          <p:nvPr>
            <p:ph idx="1"/>
          </p:nvPr>
        </p:nvSpPr>
        <p:spPr>
          <a:xfrm>
            <a:off x="9624" y="759130"/>
            <a:ext cx="9134375" cy="1104176"/>
          </a:xfrm>
        </p:spPr>
        <p:txBody>
          <a:bodyPr>
            <a:normAutofit/>
          </a:bodyPr>
          <a:lstStyle/>
          <a:p>
            <a:pPr marL="0" indent="0" algn="just">
              <a:buNone/>
            </a:pPr>
            <a:r>
              <a:rPr lang="en-US" sz="2400"/>
              <a:t>Sau đó, tạo lớp Window kế thừa từ QWidget và trong hàm tạo ta viết tiêu đề, đỉnh, chiều rộng bên trái và chiều cao của cửa sổ của chúng ta và cũng tạo ra một QHBoxLayout</a:t>
            </a:r>
          </a:p>
        </p:txBody>
      </p:sp>
      <p:sp>
        <p:nvSpPr>
          <p:cNvPr id="4" name="Title 1">
            <a:extLst>
              <a:ext uri="{FF2B5EF4-FFF2-40B4-BE49-F238E27FC236}">
                <a16:creationId xmlns:a16="http://schemas.microsoft.com/office/drawing/2014/main" id="{A9F60E78-FAFE-4927-BA50-8EA8E095DDBB}"/>
              </a:ext>
            </a:extLst>
          </p:cNvPr>
          <p:cNvSpPr>
            <a:spLocks noGrp="1"/>
          </p:cNvSpPr>
          <p:nvPr>
            <p:ph type="title"/>
          </p:nvPr>
        </p:nvSpPr>
        <p:spPr>
          <a:xfrm>
            <a:off x="9624" y="19250"/>
            <a:ext cx="9134375" cy="826139"/>
          </a:xfrm>
        </p:spPr>
        <p:txBody>
          <a:bodyPr>
            <a:normAutofit/>
          </a:bodyPr>
          <a:lstStyle/>
          <a:p>
            <a:r>
              <a:rPr lang="en-US"/>
              <a:t>Tạo lớp widget WHATISTHIS (t.t)</a:t>
            </a:r>
          </a:p>
        </p:txBody>
      </p:sp>
      <p:sp>
        <p:nvSpPr>
          <p:cNvPr id="6" name="Rectangle 5">
            <a:extLst>
              <a:ext uri="{FF2B5EF4-FFF2-40B4-BE49-F238E27FC236}">
                <a16:creationId xmlns:a16="http://schemas.microsoft.com/office/drawing/2014/main" id="{51A0459D-DACC-4D4B-9403-981B5E84481A}"/>
              </a:ext>
            </a:extLst>
          </p:cNvPr>
          <p:cNvSpPr/>
          <p:nvPr/>
        </p:nvSpPr>
        <p:spPr>
          <a:xfrm>
            <a:off x="9624" y="1846054"/>
            <a:ext cx="9134376" cy="4829014"/>
          </a:xfrm>
          <a:prstGeom prst="rect">
            <a:avLst/>
          </a:prstGeom>
        </p:spPr>
        <p:txBody>
          <a:bodyPr wrap="square">
            <a:spAutoFit/>
          </a:bodyPr>
          <a:lstStyle/>
          <a:p>
            <a:pPr>
              <a:lnSpc>
                <a:spcPct val="90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QWidget</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Whatisthis"</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006FE0"/>
                </a:solidFill>
                <a:latin typeface="inherit"/>
              </a:rPr>
              <a:t> = </a:t>
            </a:r>
            <a:r>
              <a:rPr lang="en-US">
                <a:solidFill>
                  <a:srgbClr val="CE0000"/>
                </a:solidFill>
                <a:latin typeface="inherit"/>
              </a:rPr>
              <a:t>200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006FE0"/>
                </a:solidFill>
                <a:latin typeface="inherit"/>
              </a:rPr>
              <a:t> = </a:t>
            </a:r>
            <a:r>
              <a:rPr lang="en-US">
                <a:solidFill>
                  <a:srgbClr val="CE0000"/>
                </a:solidFill>
                <a:latin typeface="inherit"/>
              </a:rPr>
              <a:t>500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006FE0"/>
                </a:solidFill>
                <a:latin typeface="inherit"/>
              </a:rPr>
              <a:t> = </a:t>
            </a:r>
            <a:r>
              <a:rPr lang="en-US">
                <a:solidFill>
                  <a:srgbClr val="CE0000"/>
                </a:solidFill>
                <a:latin typeface="inherit"/>
              </a:rPr>
              <a:t>400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006FE0"/>
                </a:solidFill>
                <a:latin typeface="inherit"/>
              </a:rPr>
              <a:t> = </a:t>
            </a:r>
            <a:r>
              <a:rPr lang="en-US">
                <a:solidFill>
                  <a:srgbClr val="CE0000"/>
                </a:solidFill>
                <a:latin typeface="inherit"/>
              </a:rPr>
              <a:t>300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setWindowTitle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"icon.png"</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setGeometry</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hbox</a:t>
            </a:r>
            <a:r>
              <a:rPr lang="en-US">
                <a:solidFill>
                  <a:srgbClr val="006FE0"/>
                </a:solidFill>
                <a:latin typeface="inherit"/>
              </a:rPr>
              <a:t> = </a:t>
            </a:r>
            <a:r>
              <a:rPr lang="en-US">
                <a:solidFill>
                  <a:srgbClr val="004ED0"/>
                </a:solidFill>
                <a:latin typeface="inherit"/>
              </a:rPr>
              <a:t>QHBoxLayout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label</a:t>
            </a:r>
            <a:r>
              <a:rPr lang="en-US">
                <a:solidFill>
                  <a:srgbClr val="006FE0"/>
                </a:solidFill>
                <a:latin typeface="inherit"/>
              </a:rPr>
              <a:t> = </a:t>
            </a:r>
            <a:r>
              <a:rPr lang="en-US">
                <a:solidFill>
                  <a:srgbClr val="004ED0"/>
                </a:solidFill>
                <a:latin typeface="inherit"/>
              </a:rPr>
              <a:t>QLabel</a:t>
            </a:r>
            <a:r>
              <a:rPr lang="en-US">
                <a:solidFill>
                  <a:srgbClr val="333333"/>
                </a:solidFill>
                <a:latin typeface="inherit"/>
              </a:rPr>
              <a:t>(</a:t>
            </a:r>
            <a:r>
              <a:rPr lang="en-US">
                <a:solidFill>
                  <a:srgbClr val="008000"/>
                </a:solidFill>
                <a:latin typeface="inherit"/>
              </a:rPr>
              <a:t>"Focus And Press SHIFT + F1"</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button</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"Click Me"</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button</a:t>
            </a:r>
            <a:r>
              <a:rPr lang="en-US">
                <a:solidFill>
                  <a:srgbClr val="333333"/>
                </a:solidFill>
                <a:latin typeface="inherit"/>
              </a:rPr>
              <a:t>.</a:t>
            </a:r>
            <a:r>
              <a:rPr lang="en-US">
                <a:solidFill>
                  <a:srgbClr val="004ED0"/>
                </a:solidFill>
                <a:latin typeface="inherit"/>
              </a:rPr>
              <a:t>setWhatsThis</a:t>
            </a:r>
            <a:r>
              <a:rPr lang="en-US">
                <a:solidFill>
                  <a:srgbClr val="333333"/>
                </a:solidFill>
                <a:latin typeface="inherit"/>
              </a:rPr>
              <a:t>(</a:t>
            </a:r>
            <a:r>
              <a:rPr lang="en-US">
                <a:solidFill>
                  <a:srgbClr val="008000"/>
                </a:solidFill>
                <a:latin typeface="inherit"/>
              </a:rPr>
              <a:t>"This is a button that you can click on this button"</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hbox</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530897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4FD3D7-8E60-4095-95AC-433E1E97EA15}"/>
              </a:ext>
            </a:extLst>
          </p:cNvPr>
          <p:cNvSpPr>
            <a:spLocks noGrp="1"/>
          </p:cNvSpPr>
          <p:nvPr>
            <p:ph idx="1"/>
          </p:nvPr>
        </p:nvSpPr>
        <p:spPr>
          <a:xfrm>
            <a:off x="9624" y="763126"/>
            <a:ext cx="9134375" cy="504957"/>
          </a:xfrm>
        </p:spPr>
        <p:txBody>
          <a:bodyPr>
            <a:normAutofit/>
          </a:bodyPr>
          <a:lstStyle/>
          <a:p>
            <a:pPr marL="0" indent="0">
              <a:buNone/>
            </a:pPr>
            <a:r>
              <a:rPr lang="vi-VN" sz="2400"/>
              <a:t>Cuối cùng, chúng ta tạo các đối tượng QApplication và Window</a:t>
            </a:r>
            <a:endParaRPr lang="en-US" sz="2400"/>
          </a:p>
        </p:txBody>
      </p:sp>
      <p:sp>
        <p:nvSpPr>
          <p:cNvPr id="4" name="Title 1">
            <a:extLst>
              <a:ext uri="{FF2B5EF4-FFF2-40B4-BE49-F238E27FC236}">
                <a16:creationId xmlns:a16="http://schemas.microsoft.com/office/drawing/2014/main" id="{08CC890C-7254-4AF4-815B-69E36AD7B38C}"/>
              </a:ext>
            </a:extLst>
          </p:cNvPr>
          <p:cNvSpPr>
            <a:spLocks noGrp="1"/>
          </p:cNvSpPr>
          <p:nvPr>
            <p:ph type="title"/>
          </p:nvPr>
        </p:nvSpPr>
        <p:spPr>
          <a:xfrm>
            <a:off x="9624" y="19250"/>
            <a:ext cx="9134375" cy="826139"/>
          </a:xfrm>
        </p:spPr>
        <p:txBody>
          <a:bodyPr>
            <a:normAutofit/>
          </a:bodyPr>
          <a:lstStyle/>
          <a:p>
            <a:r>
              <a:rPr lang="en-US"/>
              <a:t>Tạo lớp widget WHATISTHIS (t.t)</a:t>
            </a:r>
          </a:p>
        </p:txBody>
      </p:sp>
      <p:sp>
        <p:nvSpPr>
          <p:cNvPr id="5" name="Rectangle 4">
            <a:extLst>
              <a:ext uri="{FF2B5EF4-FFF2-40B4-BE49-F238E27FC236}">
                <a16:creationId xmlns:a16="http://schemas.microsoft.com/office/drawing/2014/main" id="{818EF1CB-FEB0-4992-8341-59FCAC9E0CE0}"/>
              </a:ext>
            </a:extLst>
          </p:cNvPr>
          <p:cNvSpPr/>
          <p:nvPr/>
        </p:nvSpPr>
        <p:spPr>
          <a:xfrm>
            <a:off x="129395" y="1227129"/>
            <a:ext cx="4114801" cy="1569660"/>
          </a:xfrm>
          <a:prstGeom prst="rect">
            <a:avLst/>
          </a:prstGeom>
          <a:solidFill>
            <a:schemeClr val="accent3">
              <a:lumMod val="20000"/>
              <a:lumOff val="80000"/>
            </a:schemeClr>
          </a:solidFill>
        </p:spPr>
        <p:txBody>
          <a:bodyPr wrap="square">
            <a:spAutoFit/>
          </a:bodyPr>
          <a:lstStyle/>
          <a:p>
            <a:r>
              <a:rPr lang="en-AU" sz="2400">
                <a:solidFill>
                  <a:srgbClr val="800080"/>
                </a:solidFill>
                <a:latin typeface="inherit"/>
              </a:rPr>
              <a:t>if</a:t>
            </a:r>
            <a:r>
              <a:rPr lang="en-AU" sz="2400">
                <a:solidFill>
                  <a:srgbClr val="006FE0"/>
                </a:solidFill>
                <a:latin typeface="inherit"/>
              </a:rPr>
              <a:t> </a:t>
            </a:r>
            <a:r>
              <a:rPr lang="en-AU" sz="2400">
                <a:solidFill>
                  <a:srgbClr val="002D7A"/>
                </a:solidFill>
                <a:latin typeface="inherit"/>
              </a:rPr>
              <a:t>__name__</a:t>
            </a:r>
            <a:r>
              <a:rPr lang="en-AU" sz="2400">
                <a:solidFill>
                  <a:srgbClr val="006FE0"/>
                </a:solidFill>
                <a:latin typeface="inherit"/>
              </a:rPr>
              <a:t> == </a:t>
            </a:r>
            <a:r>
              <a:rPr lang="en-AU" sz="2400">
                <a:solidFill>
                  <a:srgbClr val="008000"/>
                </a:solidFill>
                <a:latin typeface="inherit"/>
              </a:rPr>
              <a:t>"__main__"</a:t>
            </a:r>
            <a:r>
              <a:rPr lang="en-AU" sz="2400">
                <a:solidFill>
                  <a:srgbClr val="006FE0"/>
                </a:solidFill>
                <a:latin typeface="inherit"/>
              </a:rPr>
              <a:t>:</a:t>
            </a:r>
            <a:endParaRPr lang="en-AU" sz="2400">
              <a:solidFill>
                <a:srgbClr val="000000"/>
              </a:solidFill>
              <a:latin typeface="Monaco"/>
            </a:endParaRPr>
          </a:p>
          <a:p>
            <a:r>
              <a:rPr lang="en-AU" sz="2400">
                <a:solidFill>
                  <a:srgbClr val="006FE0"/>
                </a:solidFill>
                <a:latin typeface="inherit"/>
              </a:rPr>
              <a:t>    </a:t>
            </a:r>
            <a:r>
              <a:rPr lang="en-AU" sz="2400">
                <a:solidFill>
                  <a:srgbClr val="002D7A"/>
                </a:solidFill>
                <a:latin typeface="inherit"/>
              </a:rPr>
              <a:t>App</a:t>
            </a:r>
            <a:r>
              <a:rPr lang="en-AU" sz="2400">
                <a:solidFill>
                  <a:srgbClr val="006FE0"/>
                </a:solidFill>
                <a:latin typeface="inherit"/>
              </a:rPr>
              <a:t> = </a:t>
            </a:r>
            <a:r>
              <a:rPr lang="en-AU" sz="2400">
                <a:solidFill>
                  <a:srgbClr val="004ED0"/>
                </a:solidFill>
                <a:latin typeface="inherit"/>
              </a:rPr>
              <a:t>QApplication</a:t>
            </a:r>
            <a:r>
              <a:rPr lang="en-AU" sz="2400">
                <a:solidFill>
                  <a:srgbClr val="333333"/>
                </a:solidFill>
                <a:latin typeface="inherit"/>
              </a:rPr>
              <a:t>(</a:t>
            </a:r>
            <a:r>
              <a:rPr lang="en-AU" sz="2400">
                <a:solidFill>
                  <a:srgbClr val="002D7A"/>
                </a:solidFill>
                <a:latin typeface="inherit"/>
              </a:rPr>
              <a:t>sys</a:t>
            </a:r>
            <a:r>
              <a:rPr lang="en-AU" sz="2400">
                <a:solidFill>
                  <a:srgbClr val="333333"/>
                </a:solidFill>
                <a:latin typeface="inherit"/>
              </a:rPr>
              <a:t>.</a:t>
            </a:r>
            <a:r>
              <a:rPr lang="en-AU" sz="2400">
                <a:solidFill>
                  <a:srgbClr val="002D7A"/>
                </a:solidFill>
                <a:latin typeface="inherit"/>
              </a:rPr>
              <a:t>argv</a:t>
            </a:r>
            <a:r>
              <a:rPr lang="en-AU" sz="2400">
                <a:solidFill>
                  <a:srgbClr val="333333"/>
                </a:solidFill>
                <a:latin typeface="inherit"/>
              </a:rPr>
              <a:t>)</a:t>
            </a:r>
            <a:endParaRPr lang="en-AU" sz="2400">
              <a:solidFill>
                <a:srgbClr val="000000"/>
              </a:solidFill>
              <a:latin typeface="Monaco"/>
            </a:endParaRPr>
          </a:p>
          <a:p>
            <a:r>
              <a:rPr lang="en-AU" sz="2400">
                <a:solidFill>
                  <a:srgbClr val="006FE0"/>
                </a:solidFill>
                <a:latin typeface="inherit"/>
              </a:rPr>
              <a:t>    </a:t>
            </a:r>
            <a:r>
              <a:rPr lang="en-AU" sz="2400">
                <a:solidFill>
                  <a:srgbClr val="002D7A"/>
                </a:solidFill>
                <a:latin typeface="inherit"/>
              </a:rPr>
              <a:t>window</a:t>
            </a:r>
            <a:r>
              <a:rPr lang="en-AU" sz="2400">
                <a:solidFill>
                  <a:srgbClr val="006FE0"/>
                </a:solidFill>
                <a:latin typeface="inherit"/>
              </a:rPr>
              <a:t> = </a:t>
            </a:r>
            <a:r>
              <a:rPr lang="en-AU" sz="2400">
                <a:solidFill>
                  <a:srgbClr val="004ED0"/>
                </a:solidFill>
                <a:latin typeface="inherit"/>
              </a:rPr>
              <a:t>Window</a:t>
            </a:r>
            <a:r>
              <a:rPr lang="en-AU" sz="2400">
                <a:solidFill>
                  <a:srgbClr val="333333"/>
                </a:solidFill>
                <a:latin typeface="inherit"/>
              </a:rPr>
              <a:t>()</a:t>
            </a:r>
            <a:endParaRPr lang="en-AU" sz="2400">
              <a:solidFill>
                <a:srgbClr val="000000"/>
              </a:solidFill>
              <a:latin typeface="Monaco"/>
            </a:endParaRPr>
          </a:p>
          <a:p>
            <a:r>
              <a:rPr lang="en-AU" sz="2400">
                <a:solidFill>
                  <a:srgbClr val="006FE0"/>
                </a:solidFill>
                <a:latin typeface="inherit"/>
              </a:rPr>
              <a:t>    </a:t>
            </a:r>
            <a:r>
              <a:rPr lang="en-AU" sz="2400">
                <a:solidFill>
                  <a:srgbClr val="002D7A"/>
                </a:solidFill>
                <a:latin typeface="inherit"/>
              </a:rPr>
              <a:t>sys</a:t>
            </a:r>
            <a:r>
              <a:rPr lang="en-AU" sz="2400">
                <a:solidFill>
                  <a:srgbClr val="333333"/>
                </a:solidFill>
                <a:latin typeface="inherit"/>
              </a:rPr>
              <a:t>.</a:t>
            </a:r>
            <a:r>
              <a:rPr lang="en-AU" sz="2400">
                <a:solidFill>
                  <a:srgbClr val="004ED0"/>
                </a:solidFill>
                <a:latin typeface="inherit"/>
              </a:rPr>
              <a:t>exit</a:t>
            </a:r>
            <a:r>
              <a:rPr lang="en-AU" sz="2400">
                <a:solidFill>
                  <a:srgbClr val="333333"/>
                </a:solidFill>
                <a:latin typeface="inherit"/>
              </a:rPr>
              <a:t>(</a:t>
            </a:r>
            <a:r>
              <a:rPr lang="en-AU" sz="2400">
                <a:solidFill>
                  <a:srgbClr val="002D7A"/>
                </a:solidFill>
                <a:latin typeface="inherit"/>
              </a:rPr>
              <a:t>App</a:t>
            </a:r>
            <a:r>
              <a:rPr lang="en-AU" sz="2400">
                <a:solidFill>
                  <a:srgbClr val="333333"/>
                </a:solidFill>
                <a:latin typeface="inherit"/>
              </a:rPr>
              <a:t>.</a:t>
            </a:r>
            <a:r>
              <a:rPr lang="en-AU" sz="2400">
                <a:solidFill>
                  <a:srgbClr val="004ED0"/>
                </a:solidFill>
                <a:latin typeface="inherit"/>
              </a:rPr>
              <a:t>exec</a:t>
            </a:r>
            <a:r>
              <a:rPr lang="en-AU" sz="2400">
                <a:solidFill>
                  <a:srgbClr val="333333"/>
                </a:solidFill>
                <a:latin typeface="inherit"/>
              </a:rPr>
              <a:t>())</a:t>
            </a:r>
            <a:endParaRPr lang="en-AU" sz="2400" b="0" i="0">
              <a:solidFill>
                <a:srgbClr val="000000"/>
              </a:solidFill>
              <a:effectLst/>
              <a:latin typeface="Monaco"/>
            </a:endParaRPr>
          </a:p>
        </p:txBody>
      </p:sp>
      <p:pic>
        <p:nvPicPr>
          <p:cNvPr id="2050" name="Picture 2" descr="GUI Python - VÃ­ dá»¥ vá» lá»p há»c PyQt5 WHATISTHIS">
            <a:extLst>
              <a:ext uri="{FF2B5EF4-FFF2-40B4-BE49-F238E27FC236}">
                <a16:creationId xmlns:a16="http://schemas.microsoft.com/office/drawing/2014/main" id="{C39DB814-7626-4754-8034-074921DFA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3426" y="2939982"/>
            <a:ext cx="4950279" cy="3883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060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163-B557-4FFB-A004-1904F00DA8C9}"/>
              </a:ext>
            </a:extLst>
          </p:cNvPr>
          <p:cNvSpPr>
            <a:spLocks noGrp="1"/>
          </p:cNvSpPr>
          <p:nvPr>
            <p:ph type="title"/>
          </p:nvPr>
        </p:nvSpPr>
        <p:spPr>
          <a:xfrm>
            <a:off x="9624" y="19250"/>
            <a:ext cx="9134375" cy="713995"/>
          </a:xfrm>
        </p:spPr>
        <p:txBody>
          <a:bodyPr>
            <a:normAutofit/>
          </a:bodyPr>
          <a:lstStyle/>
          <a:p>
            <a:r>
              <a:rPr lang="en-US"/>
              <a:t>Tạo QLineEdit với signal </a:t>
            </a:r>
            <a:r>
              <a:rPr lang="en-US" b="1"/>
              <a:t>returnPressed</a:t>
            </a:r>
          </a:p>
        </p:txBody>
      </p:sp>
      <p:sp>
        <p:nvSpPr>
          <p:cNvPr id="3" name="Content Placeholder 2">
            <a:extLst>
              <a:ext uri="{FF2B5EF4-FFF2-40B4-BE49-F238E27FC236}">
                <a16:creationId xmlns:a16="http://schemas.microsoft.com/office/drawing/2014/main" id="{BAA2929F-887E-4161-B19B-19AD5FC2BA0C}"/>
              </a:ext>
            </a:extLst>
          </p:cNvPr>
          <p:cNvSpPr>
            <a:spLocks noGrp="1"/>
          </p:cNvSpPr>
          <p:nvPr>
            <p:ph idx="1"/>
          </p:nvPr>
        </p:nvSpPr>
        <p:spPr>
          <a:xfrm>
            <a:off x="9624" y="733245"/>
            <a:ext cx="9134375" cy="6105505"/>
          </a:xfrm>
        </p:spPr>
        <p:txBody>
          <a:bodyPr/>
          <a:lstStyle/>
          <a:p>
            <a:pPr marL="0" indent="0">
              <a:buNone/>
            </a:pPr>
            <a:r>
              <a:rPr lang="en-US" b="1"/>
              <a:t>QLineEdit là gì?</a:t>
            </a:r>
          </a:p>
          <a:p>
            <a:r>
              <a:rPr lang="en-US"/>
              <a:t>Line Edit (</a:t>
            </a:r>
            <a:r>
              <a:rPr lang="vi-VN"/>
              <a:t>Chỉnh sửa dòng</a:t>
            </a:r>
            <a:r>
              <a:rPr lang="en-US"/>
              <a:t>)</a:t>
            </a:r>
            <a:r>
              <a:rPr lang="vi-VN"/>
              <a:t> cho phép người dùng nhập và chỉnh sửa một dòng văn bản đơn giản với bộ sưu tập các chức năng chỉnh sửa hữu ích, bao gồm hoàn tác </a:t>
            </a:r>
            <a:r>
              <a:rPr lang="en-US"/>
              <a:t>(undo) </a:t>
            </a:r>
            <a:r>
              <a:rPr lang="vi-VN"/>
              <a:t>và làm lại</a:t>
            </a:r>
            <a:r>
              <a:rPr lang="en-US"/>
              <a:t> (redo)</a:t>
            </a:r>
            <a:r>
              <a:rPr lang="vi-VN"/>
              <a:t>,</a:t>
            </a:r>
            <a:r>
              <a:rPr lang="en-US"/>
              <a:t> </a:t>
            </a:r>
            <a:r>
              <a:rPr lang="vi-VN"/>
              <a:t>cắt và dán, và kéo và thả (xem setDragEnables ()).</a:t>
            </a:r>
          </a:p>
          <a:p>
            <a:r>
              <a:rPr lang="vi-VN"/>
              <a:t>Bằng cách thay đổi echoMode() của </a:t>
            </a:r>
            <a:r>
              <a:rPr lang="en-US"/>
              <a:t>line edit</a:t>
            </a:r>
            <a:r>
              <a:rPr lang="vi-VN"/>
              <a:t>, nó cũng có thể được sử dụng như một trường chỉ </a:t>
            </a:r>
            <a:r>
              <a:rPr lang="en-US"/>
              <a:t>ghi "write-only"</a:t>
            </a:r>
            <a:r>
              <a:rPr lang="vi-VN"/>
              <a:t>, cho các đầu vào như mật khẩu.</a:t>
            </a:r>
          </a:p>
        </p:txBody>
      </p:sp>
      <p:sp>
        <p:nvSpPr>
          <p:cNvPr id="4" name="Rectangle 3">
            <a:extLst>
              <a:ext uri="{FF2B5EF4-FFF2-40B4-BE49-F238E27FC236}">
                <a16:creationId xmlns:a16="http://schemas.microsoft.com/office/drawing/2014/main" id="{CCD0FD83-2DC4-4F4C-9A72-F9B4C7EAEB77}"/>
              </a:ext>
            </a:extLst>
          </p:cNvPr>
          <p:cNvSpPr/>
          <p:nvPr/>
        </p:nvSpPr>
        <p:spPr>
          <a:xfrm>
            <a:off x="9624" y="4700768"/>
            <a:ext cx="9124752" cy="1815882"/>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p>
          <a:p>
            <a:pPr algn="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QLineEdit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QLabel</a:t>
            </a:r>
            <a:endParaRPr lang="en-US" sz="2800">
              <a:solidFill>
                <a:srgbClr val="000000"/>
              </a:solidFill>
              <a:latin typeface="Monaco"/>
            </a:endParaRPr>
          </a:p>
          <a:p>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871466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DD5FEC-D199-4013-A805-12DDB2521C28}"/>
              </a:ext>
            </a:extLst>
          </p:cNvPr>
          <p:cNvSpPr>
            <a:spLocks noGrp="1"/>
          </p:cNvSpPr>
          <p:nvPr>
            <p:ph idx="1"/>
          </p:nvPr>
        </p:nvSpPr>
        <p:spPr>
          <a:xfrm>
            <a:off x="9625" y="733245"/>
            <a:ext cx="2276376" cy="6105505"/>
          </a:xfrm>
        </p:spPr>
        <p:txBody>
          <a:bodyPr>
            <a:normAutofit/>
          </a:bodyPr>
          <a:lstStyle/>
          <a:p>
            <a:pPr marL="0" indent="0" algn="ctr">
              <a:buNone/>
            </a:pPr>
            <a:r>
              <a:rPr lang="vi-VN" sz="2400"/>
              <a:t>Sau đó, </a:t>
            </a:r>
            <a:r>
              <a:rPr lang="en-US" sz="2400"/>
              <a:t>ta </a:t>
            </a:r>
            <a:r>
              <a:rPr lang="vi-VN" sz="2400"/>
              <a:t>tạo  lớp Window kế thừa từ QWidget, trong hàm tạo của lớp, </a:t>
            </a:r>
            <a:r>
              <a:rPr lang="en-US" sz="2400"/>
              <a:t>và </a:t>
            </a:r>
            <a:r>
              <a:rPr lang="vi-VN" sz="2400"/>
              <a:t>thêm một số yêu cầu cho Window, như tiêu đề, </a:t>
            </a:r>
            <a:r>
              <a:rPr lang="en-US" sz="2400"/>
              <a:t>vị trí </a:t>
            </a:r>
            <a:r>
              <a:rPr lang="vi-VN" sz="2400"/>
              <a:t>và biểu tượng, </a:t>
            </a:r>
            <a:r>
              <a:rPr lang="en-US" sz="2400"/>
              <a:t>rồi thiết </a:t>
            </a:r>
            <a:r>
              <a:rPr lang="vi-VN" sz="2400"/>
              <a:t>đặt chúng và</a:t>
            </a:r>
            <a:r>
              <a:rPr lang="en-US" sz="2400"/>
              <a:t> dùng </a:t>
            </a:r>
            <a:r>
              <a:rPr lang="vi-VN" sz="2400"/>
              <a:t>QHBoxLayout sau khi tạo QLineEdit bằng QLabel</a:t>
            </a:r>
            <a:endParaRPr lang="en-US" sz="2400"/>
          </a:p>
        </p:txBody>
      </p:sp>
      <p:sp>
        <p:nvSpPr>
          <p:cNvPr id="4" name="Title 1">
            <a:extLst>
              <a:ext uri="{FF2B5EF4-FFF2-40B4-BE49-F238E27FC236}">
                <a16:creationId xmlns:a16="http://schemas.microsoft.com/office/drawing/2014/main" id="{0DB99030-4194-4C0C-8D47-387AE35C2892}"/>
              </a:ext>
            </a:extLst>
          </p:cNvPr>
          <p:cNvSpPr>
            <a:spLocks noGrp="1"/>
          </p:cNvSpPr>
          <p:nvPr>
            <p:ph type="title"/>
          </p:nvPr>
        </p:nvSpPr>
        <p:spPr>
          <a:xfrm>
            <a:off x="9624" y="19250"/>
            <a:ext cx="9134375" cy="713995"/>
          </a:xfrm>
        </p:spPr>
        <p:txBody>
          <a:bodyPr>
            <a:normAutofit fontScale="90000"/>
          </a:bodyPr>
          <a:lstStyle/>
          <a:p>
            <a:r>
              <a:rPr lang="en-US"/>
              <a:t>Tạo QLineEdit với signal </a:t>
            </a:r>
            <a:r>
              <a:rPr lang="en-US" b="1"/>
              <a:t>returnPressed </a:t>
            </a:r>
            <a:r>
              <a:rPr lang="en-US"/>
              <a:t>(t.t)</a:t>
            </a:r>
          </a:p>
        </p:txBody>
      </p:sp>
      <p:sp>
        <p:nvSpPr>
          <p:cNvPr id="5" name="Rectangle 4">
            <a:extLst>
              <a:ext uri="{FF2B5EF4-FFF2-40B4-BE49-F238E27FC236}">
                <a16:creationId xmlns:a16="http://schemas.microsoft.com/office/drawing/2014/main" id="{C24AF10D-6A1D-49ED-9177-86C7EDA85724}"/>
              </a:ext>
            </a:extLst>
          </p:cNvPr>
          <p:cNvSpPr/>
          <p:nvPr/>
        </p:nvSpPr>
        <p:spPr>
          <a:xfrm>
            <a:off x="2251497" y="640589"/>
            <a:ext cx="6857999" cy="6200159"/>
          </a:xfrm>
          <a:prstGeom prst="rect">
            <a:avLst/>
          </a:prstGeom>
          <a:solidFill>
            <a:schemeClr val="accent4">
              <a:lumMod val="20000"/>
              <a:lumOff val="80000"/>
            </a:schemeClr>
          </a:solidFill>
        </p:spPr>
        <p:txBody>
          <a:bodyPr wrap="square">
            <a:spAutoFit/>
          </a:bodyPr>
          <a:lstStyle/>
          <a:p>
            <a:pPr>
              <a:lnSpc>
                <a:spcPct val="90000"/>
              </a:lnSpc>
            </a:pPr>
            <a:r>
              <a:rPr lang="en-US" sz="2100">
                <a:solidFill>
                  <a:srgbClr val="800080"/>
                </a:solidFill>
                <a:latin typeface="inherit"/>
              </a:rPr>
              <a:t>class</a:t>
            </a:r>
            <a:r>
              <a:rPr lang="en-US" sz="2100">
                <a:solidFill>
                  <a:srgbClr val="006FE0"/>
                </a:solidFill>
                <a:latin typeface="inherit"/>
              </a:rPr>
              <a:t> </a:t>
            </a:r>
            <a:r>
              <a:rPr lang="en-US" sz="2100">
                <a:solidFill>
                  <a:srgbClr val="004ED0"/>
                </a:solidFill>
                <a:latin typeface="inherit"/>
              </a:rPr>
              <a:t>Window</a:t>
            </a:r>
            <a:r>
              <a:rPr lang="en-US" sz="2100">
                <a:solidFill>
                  <a:srgbClr val="333333"/>
                </a:solidFill>
                <a:latin typeface="inherit"/>
              </a:rPr>
              <a:t>(</a:t>
            </a:r>
            <a:r>
              <a:rPr lang="en-US" sz="2100">
                <a:solidFill>
                  <a:srgbClr val="002D7A"/>
                </a:solidFill>
                <a:latin typeface="inherit"/>
              </a:rPr>
              <a:t>QWidget</a:t>
            </a:r>
            <a:r>
              <a:rPr lang="en-US" sz="2100">
                <a:solidFill>
                  <a:srgbClr val="333333"/>
                </a:solidFill>
                <a:latin typeface="inherit"/>
              </a:rPr>
              <a:t>)</a:t>
            </a:r>
            <a:r>
              <a:rPr lang="en-US" sz="2100">
                <a:solidFill>
                  <a:srgbClr val="006FE0"/>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4ED0"/>
                </a:solidFill>
                <a:latin typeface="inherit"/>
              </a:rPr>
              <a:t>def __init__</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6FE0"/>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super</a:t>
            </a:r>
            <a:r>
              <a:rPr lang="en-US" sz="2100">
                <a:solidFill>
                  <a:srgbClr val="333333"/>
                </a:solidFill>
                <a:latin typeface="inherit"/>
              </a:rPr>
              <a:t>().</a:t>
            </a:r>
            <a:r>
              <a:rPr lang="en-US" sz="2100">
                <a:solidFill>
                  <a:srgbClr val="004ED0"/>
                </a:solidFill>
                <a:latin typeface="inherit"/>
              </a:rPr>
              <a:t>__init__</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title</a:t>
            </a:r>
            <a:r>
              <a:rPr lang="en-US" sz="2100">
                <a:solidFill>
                  <a:srgbClr val="006FE0"/>
                </a:solidFill>
                <a:latin typeface="inherit"/>
              </a:rPr>
              <a:t> = </a:t>
            </a:r>
            <a:r>
              <a:rPr lang="en-US" sz="2100">
                <a:solidFill>
                  <a:srgbClr val="008000"/>
                </a:solidFill>
                <a:latin typeface="inherit"/>
              </a:rPr>
              <a:t>"PyQt5 Window"</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top</a:t>
            </a:r>
            <a:r>
              <a:rPr lang="en-US" sz="2100">
                <a:solidFill>
                  <a:srgbClr val="006FE0"/>
                </a:solidFill>
                <a:latin typeface="inherit"/>
              </a:rPr>
              <a:t> = </a:t>
            </a:r>
            <a:r>
              <a:rPr lang="en-US" sz="2100">
                <a:solidFill>
                  <a:srgbClr val="CE0000"/>
                </a:solidFill>
                <a:latin typeface="inherit"/>
              </a:rPr>
              <a:t>200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left</a:t>
            </a:r>
            <a:r>
              <a:rPr lang="en-US" sz="2100">
                <a:solidFill>
                  <a:srgbClr val="006FE0"/>
                </a:solidFill>
                <a:latin typeface="inherit"/>
              </a:rPr>
              <a:t> = </a:t>
            </a:r>
            <a:r>
              <a:rPr lang="en-US" sz="2100">
                <a:solidFill>
                  <a:srgbClr val="CE0000"/>
                </a:solidFill>
                <a:latin typeface="inherit"/>
              </a:rPr>
              <a:t>500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width</a:t>
            </a:r>
            <a:r>
              <a:rPr lang="en-US" sz="2100">
                <a:solidFill>
                  <a:srgbClr val="006FE0"/>
                </a:solidFill>
                <a:latin typeface="inherit"/>
              </a:rPr>
              <a:t> = </a:t>
            </a:r>
            <a:r>
              <a:rPr lang="en-US" sz="2100">
                <a:solidFill>
                  <a:srgbClr val="CE0000"/>
                </a:solidFill>
                <a:latin typeface="inherit"/>
              </a:rPr>
              <a:t>400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height</a:t>
            </a:r>
            <a:r>
              <a:rPr lang="en-US" sz="2100">
                <a:solidFill>
                  <a:srgbClr val="006FE0"/>
                </a:solidFill>
                <a:latin typeface="inherit"/>
              </a:rPr>
              <a:t> = </a:t>
            </a:r>
            <a:r>
              <a:rPr lang="en-US" sz="2100">
                <a:solidFill>
                  <a:srgbClr val="CE0000"/>
                </a:solidFill>
                <a:latin typeface="inherit"/>
              </a:rPr>
              <a:t>300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setWindowIcon</a:t>
            </a:r>
            <a:r>
              <a:rPr lang="en-US" sz="2100">
                <a:solidFill>
                  <a:srgbClr val="333333"/>
                </a:solidFill>
                <a:latin typeface="inherit"/>
              </a:rPr>
              <a:t>(</a:t>
            </a:r>
            <a:r>
              <a:rPr lang="en-US" sz="2100">
                <a:solidFill>
                  <a:srgbClr val="002D7A"/>
                </a:solidFill>
                <a:latin typeface="inherit"/>
              </a:rPr>
              <a:t>QtGui</a:t>
            </a:r>
            <a:r>
              <a:rPr lang="en-US" sz="2100">
                <a:solidFill>
                  <a:srgbClr val="333333"/>
                </a:solidFill>
                <a:latin typeface="inherit"/>
              </a:rPr>
              <a:t>.</a:t>
            </a:r>
            <a:r>
              <a:rPr lang="en-US" sz="2100">
                <a:solidFill>
                  <a:srgbClr val="004ED0"/>
                </a:solidFill>
                <a:latin typeface="inherit"/>
              </a:rPr>
              <a:t>QIcon</a:t>
            </a:r>
            <a:r>
              <a:rPr lang="en-US" sz="2100">
                <a:solidFill>
                  <a:srgbClr val="333333"/>
                </a:solidFill>
                <a:latin typeface="inherit"/>
              </a:rPr>
              <a:t>(</a:t>
            </a:r>
            <a:r>
              <a:rPr lang="en-US" sz="2100">
                <a:solidFill>
                  <a:srgbClr val="008000"/>
                </a:solidFill>
                <a:latin typeface="inherit"/>
              </a:rPr>
              <a:t>"icon.png"</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setWindowTitle</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title</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setGeometry</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left</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top</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width</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height</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hbox</a:t>
            </a:r>
            <a:r>
              <a:rPr lang="en-US" sz="2100">
                <a:solidFill>
                  <a:srgbClr val="006FE0"/>
                </a:solidFill>
                <a:latin typeface="inherit"/>
              </a:rPr>
              <a:t> = </a:t>
            </a:r>
            <a:r>
              <a:rPr lang="en-US" sz="2100">
                <a:solidFill>
                  <a:srgbClr val="004ED0"/>
                </a:solidFill>
                <a:latin typeface="inherit"/>
              </a:rPr>
              <a:t>QHBoxLayout</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lineedit</a:t>
            </a:r>
            <a:r>
              <a:rPr lang="en-US" sz="2100">
                <a:solidFill>
                  <a:srgbClr val="006FE0"/>
                </a:solidFill>
                <a:latin typeface="inherit"/>
              </a:rPr>
              <a:t> = </a:t>
            </a:r>
            <a:r>
              <a:rPr lang="en-US" sz="2100">
                <a:solidFill>
                  <a:srgbClr val="004ED0"/>
                </a:solidFill>
                <a:latin typeface="inherit"/>
              </a:rPr>
              <a:t>QLineEdit</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lineedit</a:t>
            </a:r>
            <a:r>
              <a:rPr lang="en-US" sz="2100">
                <a:solidFill>
                  <a:srgbClr val="333333"/>
                </a:solidFill>
                <a:latin typeface="inherit"/>
              </a:rPr>
              <a:t>.</a:t>
            </a:r>
            <a:r>
              <a:rPr lang="en-US" sz="2100">
                <a:solidFill>
                  <a:srgbClr val="004ED0"/>
                </a:solidFill>
                <a:latin typeface="inherit"/>
              </a:rPr>
              <a:t>setFont</a:t>
            </a:r>
            <a:r>
              <a:rPr lang="en-US" sz="2100">
                <a:solidFill>
                  <a:srgbClr val="333333"/>
                </a:solidFill>
                <a:latin typeface="inherit"/>
              </a:rPr>
              <a:t>(</a:t>
            </a:r>
            <a:r>
              <a:rPr lang="en-US" sz="2100">
                <a:solidFill>
                  <a:srgbClr val="002D7A"/>
                </a:solidFill>
                <a:latin typeface="inherit"/>
              </a:rPr>
              <a:t>QtGui</a:t>
            </a:r>
            <a:r>
              <a:rPr lang="en-US" sz="2100">
                <a:solidFill>
                  <a:srgbClr val="333333"/>
                </a:solidFill>
                <a:latin typeface="inherit"/>
              </a:rPr>
              <a:t>.</a:t>
            </a:r>
            <a:r>
              <a:rPr lang="en-US" sz="2100">
                <a:solidFill>
                  <a:srgbClr val="004ED0"/>
                </a:solidFill>
                <a:latin typeface="inherit"/>
              </a:rPr>
              <a:t>QFont</a:t>
            </a:r>
            <a:r>
              <a:rPr lang="en-US" sz="2100">
                <a:solidFill>
                  <a:srgbClr val="333333"/>
                </a:solidFill>
                <a:latin typeface="inherit"/>
              </a:rPr>
              <a:t>(</a:t>
            </a:r>
            <a:r>
              <a:rPr lang="en-US" sz="2100">
                <a:solidFill>
                  <a:srgbClr val="008000"/>
                </a:solidFill>
                <a:latin typeface="inherit"/>
              </a:rPr>
              <a:t>"Sanserif"</a:t>
            </a:r>
            <a:r>
              <a:rPr lang="en-US" sz="2100">
                <a:solidFill>
                  <a:srgbClr val="333333"/>
                </a:solidFill>
                <a:latin typeface="inherit"/>
              </a:rPr>
              <a:t>,</a:t>
            </a:r>
            <a:r>
              <a:rPr lang="en-US" sz="2100">
                <a:solidFill>
                  <a:srgbClr val="006FE0"/>
                </a:solidFill>
                <a:latin typeface="inherit"/>
              </a:rPr>
              <a:t> </a:t>
            </a:r>
            <a:r>
              <a:rPr lang="en-US" sz="2100">
                <a:solidFill>
                  <a:srgbClr val="CE0000"/>
                </a:solidFill>
                <a:latin typeface="inherit"/>
              </a:rPr>
              <a:t>15</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6FE0"/>
                </a:solidFill>
                <a:highlight>
                  <a:srgbClr val="FFFF00"/>
                </a:highlight>
                <a:latin typeface="inherit"/>
              </a:rPr>
              <a:t>  </a:t>
            </a:r>
            <a:r>
              <a:rPr lang="en-US" sz="2100">
                <a:solidFill>
                  <a:srgbClr val="800080"/>
                </a:solidFill>
                <a:highlight>
                  <a:srgbClr val="FFFF00"/>
                </a:highlight>
                <a:latin typeface="inherit"/>
              </a:rPr>
              <a:t>self</a:t>
            </a:r>
            <a:r>
              <a:rPr lang="en-US" sz="2100">
                <a:solidFill>
                  <a:srgbClr val="333333"/>
                </a:solidFill>
                <a:highlight>
                  <a:srgbClr val="FFFF00"/>
                </a:highlight>
                <a:latin typeface="inherit"/>
              </a:rPr>
              <a:t>.</a:t>
            </a:r>
            <a:r>
              <a:rPr lang="en-US" sz="2100">
                <a:solidFill>
                  <a:srgbClr val="002D7A"/>
                </a:solidFill>
                <a:highlight>
                  <a:srgbClr val="FFFF00"/>
                </a:highlight>
                <a:latin typeface="inherit"/>
              </a:rPr>
              <a:t>lineedit</a:t>
            </a:r>
            <a:r>
              <a:rPr lang="en-US" sz="2100">
                <a:solidFill>
                  <a:srgbClr val="333333"/>
                </a:solidFill>
                <a:highlight>
                  <a:srgbClr val="FFFF00"/>
                </a:highlight>
                <a:latin typeface="inherit"/>
              </a:rPr>
              <a:t>.</a:t>
            </a:r>
            <a:r>
              <a:rPr lang="en-US" sz="2100">
                <a:solidFill>
                  <a:srgbClr val="002D7A"/>
                </a:solidFill>
                <a:highlight>
                  <a:srgbClr val="FFFF00"/>
                </a:highlight>
                <a:latin typeface="inherit"/>
              </a:rPr>
              <a:t>returnPressed</a:t>
            </a:r>
            <a:r>
              <a:rPr lang="en-US" sz="2100">
                <a:solidFill>
                  <a:srgbClr val="333333"/>
                </a:solidFill>
                <a:highlight>
                  <a:srgbClr val="FFFF00"/>
                </a:highlight>
                <a:latin typeface="inherit"/>
              </a:rPr>
              <a:t>.</a:t>
            </a:r>
            <a:r>
              <a:rPr lang="en-US" sz="2100">
                <a:solidFill>
                  <a:srgbClr val="004ED0"/>
                </a:solidFill>
                <a:highlight>
                  <a:srgbClr val="FFFF00"/>
                </a:highlight>
                <a:latin typeface="inherit"/>
              </a:rPr>
              <a:t>connect</a:t>
            </a:r>
            <a:r>
              <a:rPr lang="en-US" sz="2100">
                <a:solidFill>
                  <a:srgbClr val="333333"/>
                </a:solidFill>
                <a:highlight>
                  <a:srgbClr val="FFFF00"/>
                </a:highlight>
                <a:latin typeface="inherit"/>
              </a:rPr>
              <a:t>(</a:t>
            </a:r>
            <a:r>
              <a:rPr lang="en-US" sz="2100">
                <a:solidFill>
                  <a:srgbClr val="800080"/>
                </a:solidFill>
                <a:highlight>
                  <a:srgbClr val="FFFF00"/>
                </a:highlight>
                <a:latin typeface="inherit"/>
              </a:rPr>
              <a:t>self</a:t>
            </a:r>
            <a:r>
              <a:rPr lang="en-US" sz="2100">
                <a:solidFill>
                  <a:srgbClr val="333333"/>
                </a:solidFill>
                <a:highlight>
                  <a:srgbClr val="FFFF00"/>
                </a:highlight>
                <a:latin typeface="inherit"/>
              </a:rPr>
              <a:t>.</a:t>
            </a:r>
            <a:r>
              <a:rPr lang="en-US" sz="2100">
                <a:solidFill>
                  <a:srgbClr val="002D7A"/>
                </a:solidFill>
                <a:highlight>
                  <a:srgbClr val="FFFF00"/>
                </a:highlight>
                <a:latin typeface="inherit"/>
              </a:rPr>
              <a:t>onPressed</a:t>
            </a:r>
            <a:r>
              <a:rPr lang="en-US" sz="2100">
                <a:solidFill>
                  <a:srgbClr val="333333"/>
                </a:solidFill>
                <a:highlight>
                  <a:srgbClr val="FFFF00"/>
                </a:highlight>
                <a:latin typeface="inherit"/>
              </a:rPr>
              <a:t>)</a:t>
            </a:r>
            <a:endParaRPr lang="en-US" sz="2100">
              <a:solidFill>
                <a:srgbClr val="000000"/>
              </a:solidFill>
              <a:highlight>
                <a:srgbClr val="FFFF00"/>
              </a:highlight>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label</a:t>
            </a:r>
            <a:r>
              <a:rPr lang="en-US" sz="2100">
                <a:solidFill>
                  <a:srgbClr val="006FE0"/>
                </a:solidFill>
                <a:latin typeface="inherit"/>
              </a:rPr>
              <a:t> = </a:t>
            </a:r>
            <a:r>
              <a:rPr lang="en-US" sz="2100">
                <a:solidFill>
                  <a:srgbClr val="004ED0"/>
                </a:solidFill>
                <a:latin typeface="inherit"/>
              </a:rPr>
              <a:t>QLabel</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label</a:t>
            </a:r>
            <a:r>
              <a:rPr lang="en-US" sz="2100">
                <a:solidFill>
                  <a:srgbClr val="333333"/>
                </a:solidFill>
                <a:latin typeface="inherit"/>
              </a:rPr>
              <a:t>.</a:t>
            </a:r>
            <a:r>
              <a:rPr lang="en-US" sz="2100">
                <a:solidFill>
                  <a:srgbClr val="004ED0"/>
                </a:solidFill>
                <a:latin typeface="inherit"/>
              </a:rPr>
              <a:t>setFont</a:t>
            </a:r>
            <a:r>
              <a:rPr lang="en-US" sz="2100">
                <a:solidFill>
                  <a:srgbClr val="333333"/>
                </a:solidFill>
                <a:latin typeface="inherit"/>
              </a:rPr>
              <a:t>(</a:t>
            </a:r>
            <a:r>
              <a:rPr lang="en-US" sz="2100">
                <a:solidFill>
                  <a:srgbClr val="002D7A"/>
                </a:solidFill>
                <a:latin typeface="inherit"/>
              </a:rPr>
              <a:t>QtGui</a:t>
            </a:r>
            <a:r>
              <a:rPr lang="en-US" sz="2100">
                <a:solidFill>
                  <a:srgbClr val="333333"/>
                </a:solidFill>
                <a:latin typeface="inherit"/>
              </a:rPr>
              <a:t>.</a:t>
            </a:r>
            <a:r>
              <a:rPr lang="en-US" sz="2100">
                <a:solidFill>
                  <a:srgbClr val="004ED0"/>
                </a:solidFill>
                <a:latin typeface="inherit"/>
              </a:rPr>
              <a:t>QFont</a:t>
            </a:r>
            <a:r>
              <a:rPr lang="en-US" sz="2100">
                <a:solidFill>
                  <a:srgbClr val="333333"/>
                </a:solidFill>
                <a:latin typeface="inherit"/>
              </a:rPr>
              <a:t>(</a:t>
            </a:r>
            <a:r>
              <a:rPr lang="en-US" sz="2100">
                <a:solidFill>
                  <a:srgbClr val="008000"/>
                </a:solidFill>
                <a:latin typeface="inherit"/>
              </a:rPr>
              <a:t>"Sanserif"</a:t>
            </a:r>
            <a:r>
              <a:rPr lang="en-US" sz="2100">
                <a:solidFill>
                  <a:srgbClr val="333333"/>
                </a:solidFill>
                <a:latin typeface="inherit"/>
              </a:rPr>
              <a:t>,</a:t>
            </a:r>
            <a:r>
              <a:rPr lang="en-US" sz="2100">
                <a:solidFill>
                  <a:srgbClr val="006FE0"/>
                </a:solidFill>
                <a:latin typeface="inherit"/>
              </a:rPr>
              <a:t> </a:t>
            </a:r>
            <a:r>
              <a:rPr lang="en-US" sz="2100">
                <a:solidFill>
                  <a:srgbClr val="CE0000"/>
                </a:solidFill>
                <a:latin typeface="inherit"/>
              </a:rPr>
              <a:t>15</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hbox</a:t>
            </a:r>
            <a:r>
              <a:rPr lang="en-US" sz="2100">
                <a:solidFill>
                  <a:srgbClr val="333333"/>
                </a:solidFill>
                <a:latin typeface="inherit"/>
              </a:rPr>
              <a:t>.</a:t>
            </a:r>
            <a:r>
              <a:rPr lang="en-US" sz="2100">
                <a:solidFill>
                  <a:srgbClr val="004ED0"/>
                </a:solidFill>
                <a:latin typeface="inherit"/>
              </a:rPr>
              <a:t>addWidget</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label</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hbox</a:t>
            </a:r>
            <a:r>
              <a:rPr lang="en-US" sz="2100">
                <a:solidFill>
                  <a:srgbClr val="333333"/>
                </a:solidFill>
                <a:latin typeface="inherit"/>
              </a:rPr>
              <a:t>.</a:t>
            </a:r>
            <a:r>
              <a:rPr lang="en-US" sz="2100">
                <a:solidFill>
                  <a:srgbClr val="004ED0"/>
                </a:solidFill>
                <a:latin typeface="inherit"/>
              </a:rPr>
              <a:t>addWidget</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lineedit</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setLayout</a:t>
            </a:r>
            <a:r>
              <a:rPr lang="en-US" sz="2100">
                <a:solidFill>
                  <a:srgbClr val="333333"/>
                </a:solidFill>
                <a:latin typeface="inherit"/>
              </a:rPr>
              <a:t>(</a:t>
            </a:r>
            <a:r>
              <a:rPr lang="en-US" sz="2100">
                <a:solidFill>
                  <a:srgbClr val="002D7A"/>
                </a:solidFill>
                <a:latin typeface="inherit"/>
              </a:rPr>
              <a:t>hbox</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show</a:t>
            </a:r>
            <a:r>
              <a:rPr lang="en-US" sz="2100">
                <a:solidFill>
                  <a:srgbClr val="333333"/>
                </a:solidFill>
                <a:latin typeface="inherit"/>
              </a:rPr>
              <a:t>()</a:t>
            </a:r>
            <a:endParaRPr lang="en-US" sz="2100" b="0" i="0">
              <a:solidFill>
                <a:srgbClr val="000000"/>
              </a:solidFill>
              <a:effectLst/>
              <a:latin typeface="Monaco"/>
            </a:endParaRPr>
          </a:p>
        </p:txBody>
      </p:sp>
    </p:spTree>
    <p:extLst>
      <p:ext uri="{BB962C8B-B14F-4D97-AF65-F5344CB8AC3E}">
        <p14:creationId xmlns:p14="http://schemas.microsoft.com/office/powerpoint/2010/main" val="17456969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BA79B-6DDF-4DE0-9BD5-492D16C20EA6}"/>
              </a:ext>
            </a:extLst>
          </p:cNvPr>
          <p:cNvSpPr>
            <a:spLocks noGrp="1"/>
          </p:cNvSpPr>
          <p:nvPr>
            <p:ph idx="1"/>
          </p:nvPr>
        </p:nvSpPr>
        <p:spPr>
          <a:xfrm>
            <a:off x="9624" y="733245"/>
            <a:ext cx="9134375" cy="508959"/>
          </a:xfrm>
        </p:spPr>
        <p:txBody>
          <a:bodyPr/>
          <a:lstStyle/>
          <a:p>
            <a:pPr marL="0" indent="0">
              <a:buNone/>
            </a:pPr>
            <a:r>
              <a:rPr lang="en-US"/>
              <a:t>Bây giờ chúng ta tạo slot </a:t>
            </a:r>
            <a:r>
              <a:rPr lang="en-US" b="1"/>
              <a:t>onPressed</a:t>
            </a:r>
            <a:r>
              <a:rPr lang="en-US"/>
              <a:t> </a:t>
            </a:r>
          </a:p>
        </p:txBody>
      </p:sp>
      <p:sp>
        <p:nvSpPr>
          <p:cNvPr id="4" name="Title 1">
            <a:extLst>
              <a:ext uri="{FF2B5EF4-FFF2-40B4-BE49-F238E27FC236}">
                <a16:creationId xmlns:a16="http://schemas.microsoft.com/office/drawing/2014/main" id="{BA5ADAA0-CB9B-461A-A377-6BA17DE42CE6}"/>
              </a:ext>
            </a:extLst>
          </p:cNvPr>
          <p:cNvSpPr>
            <a:spLocks noGrp="1"/>
          </p:cNvSpPr>
          <p:nvPr>
            <p:ph type="title"/>
          </p:nvPr>
        </p:nvSpPr>
        <p:spPr>
          <a:xfrm>
            <a:off x="9624" y="19250"/>
            <a:ext cx="9134375" cy="713995"/>
          </a:xfrm>
        </p:spPr>
        <p:txBody>
          <a:bodyPr>
            <a:normAutofit fontScale="90000"/>
          </a:bodyPr>
          <a:lstStyle/>
          <a:p>
            <a:r>
              <a:rPr lang="en-US"/>
              <a:t>Tạo QLineEdit với signal </a:t>
            </a:r>
            <a:r>
              <a:rPr lang="en-US" b="1"/>
              <a:t>returnPressed </a:t>
            </a:r>
            <a:r>
              <a:rPr lang="en-US"/>
              <a:t>(t.t)</a:t>
            </a:r>
          </a:p>
        </p:txBody>
      </p:sp>
      <p:sp>
        <p:nvSpPr>
          <p:cNvPr id="5" name="Rectangle 4">
            <a:extLst>
              <a:ext uri="{FF2B5EF4-FFF2-40B4-BE49-F238E27FC236}">
                <a16:creationId xmlns:a16="http://schemas.microsoft.com/office/drawing/2014/main" id="{3BC736DD-B521-46D4-BE7F-4E1ED06A2EA7}"/>
              </a:ext>
            </a:extLst>
          </p:cNvPr>
          <p:cNvSpPr/>
          <p:nvPr/>
        </p:nvSpPr>
        <p:spPr>
          <a:xfrm>
            <a:off x="112142" y="1242204"/>
            <a:ext cx="5210355" cy="830997"/>
          </a:xfrm>
          <a:prstGeom prst="rect">
            <a:avLst/>
          </a:prstGeom>
          <a:solidFill>
            <a:schemeClr val="accent5">
              <a:lumMod val="20000"/>
              <a:lumOff val="80000"/>
            </a:schemeClr>
          </a:solidFill>
        </p:spPr>
        <p:txBody>
          <a:bodyPr wrap="square">
            <a:spAutoFit/>
          </a:bodyPr>
          <a:lstStyle/>
          <a:p>
            <a:r>
              <a:rPr lang="en-US" sz="2400">
                <a:solidFill>
                  <a:srgbClr val="004ED0"/>
                </a:solidFill>
                <a:latin typeface="inherit"/>
              </a:rPr>
              <a:t>def onPressed</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label</a:t>
            </a:r>
            <a:r>
              <a:rPr lang="en-US" sz="2400">
                <a:solidFill>
                  <a:srgbClr val="333333"/>
                </a:solidFill>
                <a:latin typeface="inherit"/>
              </a:rPr>
              <a:t>.</a:t>
            </a:r>
            <a:r>
              <a:rPr lang="en-US" sz="2400">
                <a:solidFill>
                  <a:srgbClr val="004ED0"/>
                </a:solidFill>
                <a:latin typeface="inherit"/>
              </a:rPr>
              <a:t>setText</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lineedit</a:t>
            </a:r>
            <a:r>
              <a:rPr lang="en-US" sz="2400">
                <a:solidFill>
                  <a:srgbClr val="333333"/>
                </a:solidFill>
                <a:latin typeface="inherit"/>
              </a:rPr>
              <a:t>.</a:t>
            </a:r>
            <a:r>
              <a:rPr lang="en-US" sz="2400">
                <a:solidFill>
                  <a:srgbClr val="004ED0"/>
                </a:solidFill>
                <a:latin typeface="inherit"/>
              </a:rPr>
              <a:t>text</a:t>
            </a:r>
            <a:r>
              <a:rPr lang="en-US" sz="2400">
                <a:solidFill>
                  <a:srgbClr val="333333"/>
                </a:solidFill>
                <a:latin typeface="inherit"/>
              </a:rPr>
              <a:t>())</a:t>
            </a:r>
            <a:endParaRPr lang="en-US" sz="2400" b="0" i="0">
              <a:solidFill>
                <a:srgbClr val="000000"/>
              </a:solidFill>
              <a:effectLst/>
              <a:latin typeface="Monaco"/>
            </a:endParaRPr>
          </a:p>
        </p:txBody>
      </p:sp>
      <p:sp>
        <p:nvSpPr>
          <p:cNvPr id="6" name="Rectangle 5">
            <a:extLst>
              <a:ext uri="{FF2B5EF4-FFF2-40B4-BE49-F238E27FC236}">
                <a16:creationId xmlns:a16="http://schemas.microsoft.com/office/drawing/2014/main" id="{C5F40ABF-5540-41A2-9BCF-AA877DE8D52D}"/>
              </a:ext>
            </a:extLst>
          </p:cNvPr>
          <p:cNvSpPr/>
          <p:nvPr/>
        </p:nvSpPr>
        <p:spPr>
          <a:xfrm>
            <a:off x="9624" y="2120495"/>
            <a:ext cx="5131719" cy="830997"/>
          </a:xfrm>
          <a:prstGeom prst="rect">
            <a:avLst/>
          </a:prstGeom>
        </p:spPr>
        <p:txBody>
          <a:bodyPr wrap="square">
            <a:spAutoFit/>
          </a:bodyPr>
          <a:lstStyle/>
          <a:p>
            <a:r>
              <a:rPr lang="vi-VN" sz="2400">
                <a:solidFill>
                  <a:srgbClr val="3A3A3A"/>
                </a:solidFill>
                <a:latin typeface="Calibri (Body)"/>
              </a:rPr>
              <a:t>Cuối cùng, tạo đối tượng QApplication và cũng là đối tượng của lớp cửa sổ</a:t>
            </a:r>
            <a:endParaRPr lang="en-US" sz="2400">
              <a:latin typeface="Calibri (Body)"/>
            </a:endParaRPr>
          </a:p>
        </p:txBody>
      </p:sp>
      <p:sp>
        <p:nvSpPr>
          <p:cNvPr id="7" name="Rectangle 6">
            <a:extLst>
              <a:ext uri="{FF2B5EF4-FFF2-40B4-BE49-F238E27FC236}">
                <a16:creationId xmlns:a16="http://schemas.microsoft.com/office/drawing/2014/main" id="{FC934692-8143-4140-A963-84512D78E083}"/>
              </a:ext>
            </a:extLst>
          </p:cNvPr>
          <p:cNvSpPr/>
          <p:nvPr/>
        </p:nvSpPr>
        <p:spPr>
          <a:xfrm>
            <a:off x="112142" y="3074602"/>
            <a:ext cx="4045790" cy="1569660"/>
          </a:xfrm>
          <a:prstGeom prst="rect">
            <a:avLst/>
          </a:prstGeom>
          <a:solidFill>
            <a:schemeClr val="accent6">
              <a:lumMod val="20000"/>
              <a:lumOff val="80000"/>
            </a:schemeClr>
          </a:solidFill>
        </p:spPr>
        <p:txBody>
          <a:bodyPr wrap="square">
            <a:spAutoFit/>
          </a:bodyPr>
          <a:lstStyle/>
          <a:p>
            <a:r>
              <a:rPr lang="en-AU" sz="2400">
                <a:solidFill>
                  <a:srgbClr val="800080"/>
                </a:solidFill>
                <a:latin typeface="inherit"/>
              </a:rPr>
              <a:t>if</a:t>
            </a:r>
            <a:r>
              <a:rPr lang="en-AU" sz="2400">
                <a:solidFill>
                  <a:srgbClr val="006FE0"/>
                </a:solidFill>
                <a:latin typeface="inherit"/>
              </a:rPr>
              <a:t> </a:t>
            </a:r>
            <a:r>
              <a:rPr lang="en-AU" sz="2400">
                <a:solidFill>
                  <a:srgbClr val="002D7A"/>
                </a:solidFill>
                <a:latin typeface="inherit"/>
              </a:rPr>
              <a:t>__name__</a:t>
            </a:r>
            <a:r>
              <a:rPr lang="en-AU" sz="2400">
                <a:solidFill>
                  <a:srgbClr val="006FE0"/>
                </a:solidFill>
                <a:latin typeface="inherit"/>
              </a:rPr>
              <a:t> == </a:t>
            </a:r>
            <a:r>
              <a:rPr lang="en-AU" sz="2400">
                <a:solidFill>
                  <a:srgbClr val="008000"/>
                </a:solidFill>
                <a:latin typeface="inherit"/>
              </a:rPr>
              <a:t>"__main__"</a:t>
            </a:r>
            <a:r>
              <a:rPr lang="en-AU" sz="2400">
                <a:solidFill>
                  <a:srgbClr val="006FE0"/>
                </a:solidFill>
                <a:latin typeface="inherit"/>
              </a:rPr>
              <a:t>:</a:t>
            </a:r>
            <a:endParaRPr lang="en-AU" sz="2400">
              <a:solidFill>
                <a:srgbClr val="000000"/>
              </a:solidFill>
              <a:latin typeface="Monaco"/>
            </a:endParaRPr>
          </a:p>
          <a:p>
            <a:r>
              <a:rPr lang="en-AU" sz="2400">
                <a:solidFill>
                  <a:srgbClr val="006FE0"/>
                </a:solidFill>
                <a:latin typeface="inherit"/>
              </a:rPr>
              <a:t>    </a:t>
            </a:r>
            <a:r>
              <a:rPr lang="en-AU" sz="2400">
                <a:solidFill>
                  <a:srgbClr val="002D7A"/>
                </a:solidFill>
                <a:latin typeface="inherit"/>
              </a:rPr>
              <a:t>App</a:t>
            </a:r>
            <a:r>
              <a:rPr lang="en-AU" sz="2400">
                <a:solidFill>
                  <a:srgbClr val="006FE0"/>
                </a:solidFill>
                <a:latin typeface="inherit"/>
              </a:rPr>
              <a:t> = </a:t>
            </a:r>
            <a:r>
              <a:rPr lang="en-AU" sz="2400">
                <a:solidFill>
                  <a:srgbClr val="004ED0"/>
                </a:solidFill>
                <a:latin typeface="inherit"/>
              </a:rPr>
              <a:t>QApplication</a:t>
            </a:r>
            <a:r>
              <a:rPr lang="en-AU" sz="2400">
                <a:solidFill>
                  <a:srgbClr val="333333"/>
                </a:solidFill>
                <a:latin typeface="inherit"/>
              </a:rPr>
              <a:t>(</a:t>
            </a:r>
            <a:r>
              <a:rPr lang="en-AU" sz="2400">
                <a:solidFill>
                  <a:srgbClr val="002D7A"/>
                </a:solidFill>
                <a:latin typeface="inherit"/>
              </a:rPr>
              <a:t>sys</a:t>
            </a:r>
            <a:r>
              <a:rPr lang="en-AU" sz="2400">
                <a:solidFill>
                  <a:srgbClr val="333333"/>
                </a:solidFill>
                <a:latin typeface="inherit"/>
              </a:rPr>
              <a:t>.</a:t>
            </a:r>
            <a:r>
              <a:rPr lang="en-AU" sz="2400">
                <a:solidFill>
                  <a:srgbClr val="002D7A"/>
                </a:solidFill>
                <a:latin typeface="inherit"/>
              </a:rPr>
              <a:t>argv</a:t>
            </a:r>
            <a:r>
              <a:rPr lang="en-AU" sz="2400">
                <a:solidFill>
                  <a:srgbClr val="333333"/>
                </a:solidFill>
                <a:latin typeface="inherit"/>
              </a:rPr>
              <a:t>)</a:t>
            </a:r>
            <a:endParaRPr lang="en-AU" sz="2400">
              <a:solidFill>
                <a:srgbClr val="000000"/>
              </a:solidFill>
              <a:latin typeface="Monaco"/>
            </a:endParaRPr>
          </a:p>
          <a:p>
            <a:r>
              <a:rPr lang="en-AU" sz="2400">
                <a:solidFill>
                  <a:srgbClr val="006FE0"/>
                </a:solidFill>
                <a:latin typeface="inherit"/>
              </a:rPr>
              <a:t>    </a:t>
            </a:r>
            <a:r>
              <a:rPr lang="en-AU" sz="2400">
                <a:solidFill>
                  <a:srgbClr val="002D7A"/>
                </a:solidFill>
                <a:latin typeface="inherit"/>
              </a:rPr>
              <a:t>window</a:t>
            </a:r>
            <a:r>
              <a:rPr lang="en-AU" sz="2400">
                <a:solidFill>
                  <a:srgbClr val="006FE0"/>
                </a:solidFill>
                <a:latin typeface="inherit"/>
              </a:rPr>
              <a:t> = </a:t>
            </a:r>
            <a:r>
              <a:rPr lang="en-AU" sz="2400">
                <a:solidFill>
                  <a:srgbClr val="004ED0"/>
                </a:solidFill>
                <a:latin typeface="inherit"/>
              </a:rPr>
              <a:t>Window</a:t>
            </a:r>
            <a:r>
              <a:rPr lang="en-AU" sz="2400">
                <a:solidFill>
                  <a:srgbClr val="333333"/>
                </a:solidFill>
                <a:latin typeface="inherit"/>
              </a:rPr>
              <a:t>()</a:t>
            </a:r>
            <a:endParaRPr lang="en-AU" sz="2400">
              <a:solidFill>
                <a:srgbClr val="000000"/>
              </a:solidFill>
              <a:latin typeface="Monaco"/>
            </a:endParaRPr>
          </a:p>
          <a:p>
            <a:r>
              <a:rPr lang="en-AU" sz="2400">
                <a:solidFill>
                  <a:srgbClr val="006FE0"/>
                </a:solidFill>
                <a:latin typeface="inherit"/>
              </a:rPr>
              <a:t>    </a:t>
            </a:r>
            <a:r>
              <a:rPr lang="en-AU" sz="2400">
                <a:solidFill>
                  <a:srgbClr val="002D7A"/>
                </a:solidFill>
                <a:latin typeface="inherit"/>
              </a:rPr>
              <a:t>sys</a:t>
            </a:r>
            <a:r>
              <a:rPr lang="en-AU" sz="2400">
                <a:solidFill>
                  <a:srgbClr val="333333"/>
                </a:solidFill>
                <a:latin typeface="inherit"/>
              </a:rPr>
              <a:t>.</a:t>
            </a:r>
            <a:r>
              <a:rPr lang="en-AU" sz="2400">
                <a:solidFill>
                  <a:srgbClr val="004ED0"/>
                </a:solidFill>
                <a:latin typeface="inherit"/>
              </a:rPr>
              <a:t>exit</a:t>
            </a:r>
            <a:r>
              <a:rPr lang="en-AU" sz="2400">
                <a:solidFill>
                  <a:srgbClr val="333333"/>
                </a:solidFill>
                <a:latin typeface="inherit"/>
              </a:rPr>
              <a:t>(</a:t>
            </a:r>
            <a:r>
              <a:rPr lang="en-AU" sz="2400">
                <a:solidFill>
                  <a:srgbClr val="002D7A"/>
                </a:solidFill>
                <a:latin typeface="inherit"/>
              </a:rPr>
              <a:t>App</a:t>
            </a:r>
            <a:r>
              <a:rPr lang="en-AU" sz="2400">
                <a:solidFill>
                  <a:srgbClr val="333333"/>
                </a:solidFill>
                <a:latin typeface="inherit"/>
              </a:rPr>
              <a:t>.</a:t>
            </a:r>
            <a:r>
              <a:rPr lang="en-AU" sz="2400">
                <a:solidFill>
                  <a:srgbClr val="004ED0"/>
                </a:solidFill>
                <a:latin typeface="inherit"/>
              </a:rPr>
              <a:t>exec</a:t>
            </a:r>
            <a:r>
              <a:rPr lang="en-AU" sz="2400">
                <a:solidFill>
                  <a:srgbClr val="333333"/>
                </a:solidFill>
                <a:latin typeface="inherit"/>
              </a:rPr>
              <a:t>())</a:t>
            </a:r>
            <a:endParaRPr lang="en-AU" sz="2400" b="0" i="0">
              <a:solidFill>
                <a:srgbClr val="000000"/>
              </a:solidFill>
              <a:effectLst/>
              <a:latin typeface="Monaco"/>
            </a:endParaRPr>
          </a:p>
        </p:txBody>
      </p:sp>
      <p:pic>
        <p:nvPicPr>
          <p:cNvPr id="3074" name="Picture 2" descr="PyQt5 Creating QLineEdit With returnPressed Signal">
            <a:extLst>
              <a:ext uri="{FF2B5EF4-FFF2-40B4-BE49-F238E27FC236}">
                <a16:creationId xmlns:a16="http://schemas.microsoft.com/office/drawing/2014/main" id="{2E3E31A1-A90C-4BB1-A447-1059E7F61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8478" y="1242203"/>
            <a:ext cx="3592467" cy="2932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65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1046-8BBF-4FAB-85A3-808C6E6108FF}"/>
              </a:ext>
            </a:extLst>
          </p:cNvPr>
          <p:cNvSpPr>
            <a:spLocks noGrp="1"/>
          </p:cNvSpPr>
          <p:nvPr>
            <p:ph type="title"/>
          </p:nvPr>
        </p:nvSpPr>
        <p:spPr>
          <a:xfrm>
            <a:off x="9624" y="19251"/>
            <a:ext cx="9134375" cy="722622"/>
          </a:xfrm>
        </p:spPr>
        <p:txBody>
          <a:bodyPr>
            <a:normAutofit/>
          </a:bodyPr>
          <a:lstStyle/>
          <a:p>
            <a:r>
              <a:rPr lang="en-US" b="1"/>
              <a:t>Cách tạo QButtonGroup</a:t>
            </a:r>
          </a:p>
        </p:txBody>
      </p:sp>
      <p:sp>
        <p:nvSpPr>
          <p:cNvPr id="3" name="Content Placeholder 2">
            <a:extLst>
              <a:ext uri="{FF2B5EF4-FFF2-40B4-BE49-F238E27FC236}">
                <a16:creationId xmlns:a16="http://schemas.microsoft.com/office/drawing/2014/main" id="{ABFD2334-376C-46A3-BD88-2424BB700F57}"/>
              </a:ext>
            </a:extLst>
          </p:cNvPr>
          <p:cNvSpPr>
            <a:spLocks noGrp="1"/>
          </p:cNvSpPr>
          <p:nvPr>
            <p:ph idx="1"/>
          </p:nvPr>
        </p:nvSpPr>
        <p:spPr>
          <a:xfrm>
            <a:off x="9624" y="741873"/>
            <a:ext cx="9134375" cy="6096877"/>
          </a:xfrm>
        </p:spPr>
        <p:txBody>
          <a:bodyPr>
            <a:normAutofit/>
          </a:bodyPr>
          <a:lstStyle/>
          <a:p>
            <a:pPr>
              <a:lnSpc>
                <a:spcPct val="100000"/>
              </a:lnSpc>
              <a:spcBef>
                <a:spcPts val="0"/>
              </a:spcBef>
            </a:pPr>
            <a:r>
              <a:rPr lang="vi-VN" sz="2400"/>
              <a:t>Lớp </a:t>
            </a:r>
            <a:r>
              <a:rPr lang="vi-VN" sz="2400" b="1"/>
              <a:t>QButton</a:t>
            </a:r>
            <a:r>
              <a:rPr lang="en-US" sz="2400" b="1"/>
              <a:t>G</a:t>
            </a:r>
            <a:r>
              <a:rPr lang="vi-VN" sz="2400" b="1"/>
              <a:t>roup</a:t>
            </a:r>
            <a:r>
              <a:rPr lang="vi-VN" sz="2400"/>
              <a:t> cung cấp một thùng chứa để tổ chức các nhóm tiện ích nút.</a:t>
            </a:r>
          </a:p>
          <a:p>
            <a:pPr>
              <a:lnSpc>
                <a:spcPct val="100000"/>
              </a:lnSpc>
              <a:spcBef>
                <a:spcPts val="0"/>
              </a:spcBef>
            </a:pPr>
            <a:r>
              <a:rPr lang="vi-VN" sz="2400"/>
              <a:t>QButtongroup cung cấp một thùng chứa trừu tượng trong đó các vật dụng nút có thể được đặt. Nó không cung cấp một </a:t>
            </a:r>
            <a:r>
              <a:rPr lang="en-US" sz="2400"/>
              <a:t>thể hiện </a:t>
            </a:r>
            <a:r>
              <a:rPr lang="vi-VN" sz="2400"/>
              <a:t>trực quan của vùng chứa này, mà thay vào đó quản lý trạng thái của từng nút trong nhóm.</a:t>
            </a:r>
          </a:p>
        </p:txBody>
      </p:sp>
      <p:sp>
        <p:nvSpPr>
          <p:cNvPr id="4" name="Rectangle 3">
            <a:extLst>
              <a:ext uri="{FF2B5EF4-FFF2-40B4-BE49-F238E27FC236}">
                <a16:creationId xmlns:a16="http://schemas.microsoft.com/office/drawing/2014/main" id="{63F0A3BA-8206-4496-BAE7-BFC67689A248}"/>
              </a:ext>
            </a:extLst>
          </p:cNvPr>
          <p:cNvSpPr/>
          <p:nvPr/>
        </p:nvSpPr>
        <p:spPr>
          <a:xfrm>
            <a:off x="9624" y="3224697"/>
            <a:ext cx="9124752" cy="2805063"/>
          </a:xfrm>
          <a:prstGeom prst="rect">
            <a:avLst/>
          </a:prstGeom>
        </p:spPr>
        <p:txBody>
          <a:bodyPr wrap="square">
            <a:spAutoFit/>
          </a:bodyPr>
          <a:lstStyle/>
          <a:p>
            <a:pPr>
              <a:lnSpc>
                <a:spcPct val="150000"/>
              </a:lnSpc>
            </a:pPr>
            <a:r>
              <a:rPr lang="en-US" sz="2400">
                <a:solidFill>
                  <a:srgbClr val="004ED0"/>
                </a:solidFill>
                <a:latin typeface="inherit"/>
              </a:rPr>
              <a:t>from PyQt5 import QtGui</a:t>
            </a:r>
            <a:endParaRPr lang="en-US" sz="2400">
              <a:solidFill>
                <a:srgbClr val="000000"/>
              </a:solidFill>
              <a:latin typeface="Monaco"/>
            </a:endParaRPr>
          </a:p>
          <a:p>
            <a:pPr>
              <a:lnSpc>
                <a:spcPct val="150000"/>
              </a:lnSpc>
            </a:pPr>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QtWidgets import </a:t>
            </a:r>
            <a:r>
              <a:rPr lang="en-US" sz="2400">
                <a:solidFill>
                  <a:srgbClr val="002D7A"/>
                </a:solidFill>
                <a:latin typeface="inherit"/>
              </a:rPr>
              <a:t>QApplication</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QWidget</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QHBoxLayout</a:t>
            </a:r>
            <a:r>
              <a:rPr lang="en-US" sz="2400">
                <a:solidFill>
                  <a:srgbClr val="333333"/>
                </a:solidFill>
                <a:latin typeface="inherit"/>
              </a:rPr>
              <a:t>,</a:t>
            </a:r>
            <a:r>
              <a:rPr lang="en-US" sz="2400">
                <a:solidFill>
                  <a:srgbClr val="006FE0"/>
                </a:solidFill>
                <a:latin typeface="inherit"/>
              </a:rPr>
              <a:t> </a:t>
            </a:r>
          </a:p>
          <a:p>
            <a:pPr algn="r">
              <a:lnSpc>
                <a:spcPct val="150000"/>
              </a:lnSpc>
            </a:pPr>
            <a:r>
              <a:rPr lang="en-US" sz="2400">
                <a:solidFill>
                  <a:srgbClr val="002D7A"/>
                </a:solidFill>
                <a:latin typeface="inherit"/>
              </a:rPr>
              <a:t>QLabel</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QPushButton</a:t>
            </a:r>
            <a:r>
              <a:rPr lang="en-US" sz="2400">
                <a:solidFill>
                  <a:srgbClr val="333333"/>
                </a:solidFill>
                <a:latin typeface="inherit"/>
              </a:rPr>
              <a:t>,</a:t>
            </a:r>
            <a:r>
              <a:rPr lang="en-US" sz="2400">
                <a:solidFill>
                  <a:srgbClr val="004ED0"/>
                </a:solidFill>
                <a:latin typeface="inherit"/>
              </a:rPr>
              <a:t>QButtonGroup</a:t>
            </a:r>
            <a:endParaRPr lang="en-US" sz="2400">
              <a:solidFill>
                <a:srgbClr val="000000"/>
              </a:solidFill>
              <a:latin typeface="Monaco"/>
            </a:endParaRPr>
          </a:p>
          <a:p>
            <a:pPr>
              <a:lnSpc>
                <a:spcPct val="150000"/>
              </a:lnSpc>
            </a:pPr>
            <a:r>
              <a:rPr lang="en-US" sz="2400">
                <a:solidFill>
                  <a:srgbClr val="004ED0"/>
                </a:solidFill>
                <a:latin typeface="inherit"/>
              </a:rPr>
              <a:t>import sys</a:t>
            </a:r>
            <a:endParaRPr lang="en-US" sz="2400">
              <a:solidFill>
                <a:srgbClr val="000000"/>
              </a:solidFill>
              <a:latin typeface="Monaco"/>
            </a:endParaRPr>
          </a:p>
          <a:p>
            <a:pPr>
              <a:lnSpc>
                <a:spcPct val="150000"/>
              </a:lnSpc>
            </a:pPr>
            <a:r>
              <a:rPr lang="en-US" sz="2400">
                <a:solidFill>
                  <a:srgbClr val="004ED0"/>
                </a:solidFill>
                <a:latin typeface="inherit"/>
              </a:rPr>
              <a:t>from PyQt5 import </a:t>
            </a:r>
            <a:r>
              <a:rPr lang="en-US" sz="2400">
                <a:solidFill>
                  <a:srgbClr val="002D7A"/>
                </a:solidFill>
                <a:latin typeface="inherit"/>
              </a:rPr>
              <a:t>QtCore</a:t>
            </a:r>
            <a:endParaRPr lang="en-US" sz="2400" b="0" i="0">
              <a:solidFill>
                <a:srgbClr val="000000"/>
              </a:solidFill>
              <a:effectLst/>
              <a:latin typeface="Monaco"/>
            </a:endParaRPr>
          </a:p>
        </p:txBody>
      </p:sp>
    </p:spTree>
    <p:extLst>
      <p:ext uri="{BB962C8B-B14F-4D97-AF65-F5344CB8AC3E}">
        <p14:creationId xmlns:p14="http://schemas.microsoft.com/office/powerpoint/2010/main" val="1117242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FD7FE8-F87A-4E67-9CDF-38F02E50A7D7}"/>
              </a:ext>
            </a:extLst>
          </p:cNvPr>
          <p:cNvSpPr>
            <a:spLocks noGrp="1"/>
          </p:cNvSpPr>
          <p:nvPr>
            <p:ph idx="1"/>
          </p:nvPr>
        </p:nvSpPr>
        <p:spPr>
          <a:xfrm>
            <a:off x="9625" y="686053"/>
            <a:ext cx="9134375" cy="1200329"/>
          </a:xfrm>
        </p:spPr>
        <p:txBody>
          <a:bodyPr>
            <a:normAutofit/>
          </a:bodyPr>
          <a:lstStyle/>
          <a:p>
            <a:pPr marL="0" indent="0">
              <a:buNone/>
            </a:pPr>
            <a:r>
              <a:rPr lang="en-US" sz="2400"/>
              <a:t>Sau đó, tạo lớp </a:t>
            </a:r>
            <a:r>
              <a:rPr lang="en-US" sz="2400">
                <a:hlinkClick r:id="rId3"/>
              </a:rPr>
              <a:t>Window</a:t>
            </a:r>
            <a:r>
              <a:rPr lang="en-US" sz="2400"/>
              <a:t> chính kế thừa từ QWidget và cũng tạo ba </a:t>
            </a:r>
            <a:r>
              <a:rPr lang="en-US" sz="2400">
                <a:hlinkClick r:id="rId4"/>
              </a:rPr>
              <a:t>QPushButton</a:t>
            </a:r>
            <a:r>
              <a:rPr lang="en-US" sz="2400"/>
              <a:t> với QButtongroup, tạo một </a:t>
            </a:r>
            <a:r>
              <a:rPr lang="en-US" sz="2400">
                <a:hlinkClick r:id="rId5"/>
              </a:rPr>
              <a:t>QHBoxLayout</a:t>
            </a:r>
            <a:r>
              <a:rPr lang="en-US" sz="2400"/>
              <a:t> ở cuối, và một slot để kết nối với tín hiệu returnPression().</a:t>
            </a:r>
          </a:p>
        </p:txBody>
      </p:sp>
      <p:sp>
        <p:nvSpPr>
          <p:cNvPr id="4" name="Title 1">
            <a:extLst>
              <a:ext uri="{FF2B5EF4-FFF2-40B4-BE49-F238E27FC236}">
                <a16:creationId xmlns:a16="http://schemas.microsoft.com/office/drawing/2014/main" id="{B256B3D9-84C9-4B71-BAF6-FD4AE26D819E}"/>
              </a:ext>
            </a:extLst>
          </p:cNvPr>
          <p:cNvSpPr>
            <a:spLocks noGrp="1"/>
          </p:cNvSpPr>
          <p:nvPr>
            <p:ph type="title"/>
          </p:nvPr>
        </p:nvSpPr>
        <p:spPr>
          <a:xfrm>
            <a:off x="9525" y="19050"/>
            <a:ext cx="9134475" cy="774580"/>
          </a:xfrm>
        </p:spPr>
        <p:txBody>
          <a:bodyPr>
            <a:normAutofit/>
          </a:bodyPr>
          <a:lstStyle/>
          <a:p>
            <a:r>
              <a:rPr lang="en-US" b="1"/>
              <a:t>Cách tạo QButtonGroup (t.t)</a:t>
            </a:r>
          </a:p>
        </p:txBody>
      </p:sp>
      <p:sp>
        <p:nvSpPr>
          <p:cNvPr id="2" name="Rectangle 1">
            <a:extLst>
              <a:ext uri="{FF2B5EF4-FFF2-40B4-BE49-F238E27FC236}">
                <a16:creationId xmlns:a16="http://schemas.microsoft.com/office/drawing/2014/main" id="{FAD971C3-99BC-4006-80D7-5523ED085534}"/>
              </a:ext>
            </a:extLst>
          </p:cNvPr>
          <p:cNvSpPr/>
          <p:nvPr/>
        </p:nvSpPr>
        <p:spPr>
          <a:xfrm>
            <a:off x="0" y="2056686"/>
            <a:ext cx="7001435" cy="4801314"/>
          </a:xfrm>
          <a:prstGeom prst="rect">
            <a:avLst/>
          </a:prstGeom>
          <a:solidFill>
            <a:schemeClr val="accent2">
              <a:lumMod val="20000"/>
              <a:lumOff val="80000"/>
            </a:schemeClr>
          </a:solidFill>
        </p:spPr>
        <p:txBody>
          <a:bodyPr wrap="square">
            <a:spAutoFit/>
          </a:bodyPr>
          <a:lstStyle/>
          <a:p>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QWidget</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QButton Group"</a:t>
            </a:r>
            <a:endParaRPr lang="en-US">
              <a:solidFill>
                <a:srgbClr val="000000"/>
              </a:solidFill>
              <a:latin typeface="Monaco"/>
            </a:endParaRPr>
          </a:p>
          <a:p>
            <a:pPr lvl="1"/>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setWindowTitle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"icon.png"</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setGeometry</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hbox</a:t>
            </a:r>
            <a:r>
              <a:rPr lang="en-US">
                <a:solidFill>
                  <a:srgbClr val="006FE0"/>
                </a:solidFill>
                <a:latin typeface="inherit"/>
              </a:rPr>
              <a:t> = </a:t>
            </a:r>
            <a:r>
              <a:rPr lang="en-US">
                <a:solidFill>
                  <a:srgbClr val="004ED0"/>
                </a:solidFill>
                <a:latin typeface="inherit"/>
              </a:rPr>
              <a:t>QHBoxLayout</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006FE0"/>
                </a:solidFill>
                <a:latin typeface="inherit"/>
              </a:rPr>
              <a:t> = </a:t>
            </a:r>
            <a:r>
              <a:rPr lang="en-US">
                <a:solidFill>
                  <a:srgbClr val="004ED0"/>
                </a:solidFill>
                <a:latin typeface="inherit"/>
              </a:rPr>
              <a:t>QLabel</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setFont</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QFont</a:t>
            </a:r>
            <a:r>
              <a:rPr lang="en-US">
                <a:solidFill>
                  <a:srgbClr val="333333"/>
                </a:solidFill>
                <a:latin typeface="inherit"/>
              </a:rPr>
              <a:t>(</a:t>
            </a:r>
            <a:r>
              <a:rPr lang="en-US">
                <a:solidFill>
                  <a:srgbClr val="008000"/>
                </a:solidFill>
                <a:latin typeface="inherit"/>
              </a:rPr>
              <a:t>"Sanserif"</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15</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buttongroup</a:t>
            </a:r>
            <a:r>
              <a:rPr lang="en-US">
                <a:solidFill>
                  <a:srgbClr val="006FE0"/>
                </a:solidFill>
                <a:latin typeface="inherit"/>
              </a:rPr>
              <a:t> = </a:t>
            </a:r>
            <a:r>
              <a:rPr lang="en-US">
                <a:solidFill>
                  <a:srgbClr val="004ED0"/>
                </a:solidFill>
                <a:latin typeface="inherit"/>
              </a:rPr>
              <a:t>QButtonGroup</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buttongroup</a:t>
            </a:r>
            <a:r>
              <a:rPr lang="en-US">
                <a:solidFill>
                  <a:srgbClr val="333333"/>
                </a:solidFill>
                <a:latin typeface="inherit"/>
              </a:rPr>
              <a:t>.</a:t>
            </a:r>
            <a:r>
              <a:rPr lang="en-US">
                <a:solidFill>
                  <a:srgbClr val="002D7A"/>
                </a:solidFill>
                <a:latin typeface="inherit"/>
              </a:rPr>
              <a:t>buttonClicked</a:t>
            </a:r>
            <a:r>
              <a:rPr lang="en-US">
                <a:solidFill>
                  <a:srgbClr val="333333"/>
                </a:solidFill>
                <a:latin typeface="inherit"/>
              </a:rPr>
              <a:t>[</a:t>
            </a:r>
            <a:r>
              <a:rPr lang="en-US">
                <a:solidFill>
                  <a:srgbClr val="800080"/>
                </a:solidFill>
                <a:latin typeface="inherit"/>
              </a:rPr>
              <a:t>int</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on_button_clicked</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002D7A"/>
                </a:solidFill>
                <a:latin typeface="inherit"/>
              </a:rPr>
              <a:t>button</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"Python"</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buttongroup</a:t>
            </a:r>
            <a:r>
              <a:rPr lang="en-US">
                <a:solidFill>
                  <a:srgbClr val="333333"/>
                </a:solidFill>
                <a:latin typeface="inherit"/>
              </a:rPr>
              <a:t>.</a:t>
            </a:r>
            <a:r>
              <a:rPr lang="en-US">
                <a:solidFill>
                  <a:srgbClr val="004ED0"/>
                </a:solidFill>
                <a:latin typeface="inherit"/>
              </a:rPr>
              <a:t>addButton</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1</a:t>
            </a:r>
            <a:r>
              <a:rPr lang="en-US">
                <a:solidFill>
                  <a:srgbClr val="333333"/>
                </a:solidFill>
                <a:latin typeface="inherit"/>
              </a:rPr>
              <a:t>)</a:t>
            </a:r>
            <a:endParaRPr lang="en-US">
              <a:solidFill>
                <a:srgbClr val="000000"/>
              </a:solidFill>
              <a:latin typeface="Monaco"/>
            </a:endParaRPr>
          </a:p>
          <a:p>
            <a:pPr lvl="1"/>
            <a:r>
              <a:rPr lang="en-US">
                <a:solidFill>
                  <a:srgbClr val="006FE0"/>
                </a:solidFill>
                <a:latin typeface="inherit"/>
              </a:rPr>
              <a:t>...</a:t>
            </a:r>
            <a:endParaRPr lang="en-US">
              <a:solidFill>
                <a:srgbClr val="000000"/>
              </a:solidFill>
              <a:latin typeface="Monaco"/>
            </a:endParaRPr>
          </a:p>
        </p:txBody>
      </p:sp>
      <p:sp>
        <p:nvSpPr>
          <p:cNvPr id="5" name="Rectangle 4">
            <a:extLst>
              <a:ext uri="{FF2B5EF4-FFF2-40B4-BE49-F238E27FC236}">
                <a16:creationId xmlns:a16="http://schemas.microsoft.com/office/drawing/2014/main" id="{30D0775D-65A9-49BD-897D-4487980C27C1}"/>
              </a:ext>
            </a:extLst>
          </p:cNvPr>
          <p:cNvSpPr/>
          <p:nvPr/>
        </p:nvSpPr>
        <p:spPr>
          <a:xfrm>
            <a:off x="3622352" y="1709941"/>
            <a:ext cx="5521648" cy="1200329"/>
          </a:xfrm>
          <a:prstGeom prst="rect">
            <a:avLst/>
          </a:prstGeom>
          <a:solidFill>
            <a:schemeClr val="accent5">
              <a:lumMod val="20000"/>
              <a:lumOff val="80000"/>
            </a:schemeClr>
          </a:solidFill>
        </p:spPr>
        <p:txBody>
          <a:bodyPr wrap="square">
            <a:spAutoFit/>
          </a:bodyPr>
          <a:lstStyle/>
          <a:p>
            <a:r>
              <a:rPr lang="en-US">
                <a:solidFill>
                  <a:srgbClr val="006FE0"/>
                </a:solidFill>
                <a:latin typeface="inherit"/>
              </a:rPr>
              <a:t>    </a:t>
            </a:r>
            <a:r>
              <a:rPr lang="en-US">
                <a:solidFill>
                  <a:srgbClr val="004ED0"/>
                </a:solidFill>
                <a:latin typeface="inherit"/>
              </a:rPr>
              <a:t>def on_button_clicked</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id</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for</a:t>
            </a:r>
            <a:r>
              <a:rPr lang="en-US">
                <a:solidFill>
                  <a:srgbClr val="006FE0"/>
                </a:solidFill>
                <a:latin typeface="inherit"/>
              </a:rPr>
              <a:t> </a:t>
            </a:r>
            <a:r>
              <a:rPr lang="en-US">
                <a:solidFill>
                  <a:srgbClr val="004ED0"/>
                </a:solidFill>
                <a:latin typeface="inherit"/>
              </a:rPr>
              <a:t>button </a:t>
            </a:r>
            <a:r>
              <a:rPr lang="en-US">
                <a:solidFill>
                  <a:srgbClr val="800080"/>
                </a:solidFill>
                <a:latin typeface="inherit"/>
              </a:rPr>
              <a:t>in</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buttongroup</a:t>
            </a:r>
            <a:r>
              <a:rPr lang="en-US">
                <a:solidFill>
                  <a:srgbClr val="333333"/>
                </a:solidFill>
                <a:latin typeface="inherit"/>
              </a:rPr>
              <a:t>.</a:t>
            </a:r>
            <a:r>
              <a:rPr lang="en-US">
                <a:solidFill>
                  <a:srgbClr val="004ED0"/>
                </a:solidFill>
                <a:latin typeface="inherit"/>
              </a:rPr>
              <a:t>buttons</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button </a:t>
            </a:r>
            <a:r>
              <a:rPr lang="en-US">
                <a:solidFill>
                  <a:srgbClr val="800080"/>
                </a:solidFill>
                <a:latin typeface="inherit"/>
              </a:rPr>
              <a:t>is</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buttongroup</a:t>
            </a:r>
            <a:r>
              <a:rPr lang="en-US">
                <a:solidFill>
                  <a:srgbClr val="333333"/>
                </a:solidFill>
                <a:latin typeface="inherit"/>
              </a:rPr>
              <a:t>.</a:t>
            </a:r>
            <a:r>
              <a:rPr lang="en-US">
                <a:solidFill>
                  <a:srgbClr val="004ED0"/>
                </a:solidFill>
                <a:latin typeface="inherit"/>
              </a:rPr>
              <a:t>button</a:t>
            </a:r>
            <a:r>
              <a:rPr lang="en-US">
                <a:solidFill>
                  <a:srgbClr val="333333"/>
                </a:solidFill>
                <a:latin typeface="inherit"/>
              </a:rPr>
              <a:t>(</a:t>
            </a:r>
            <a:r>
              <a:rPr lang="en-US">
                <a:solidFill>
                  <a:srgbClr val="002D7A"/>
                </a:solidFill>
                <a:latin typeface="inherit"/>
              </a:rPr>
              <a:t>id</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setText</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4ED0"/>
                </a:solidFill>
                <a:latin typeface="inherit"/>
              </a:rPr>
              <a:t>text</a:t>
            </a:r>
            <a:r>
              <a:rPr lang="en-US">
                <a:solidFill>
                  <a:srgbClr val="333333"/>
                </a:solidFill>
                <a:latin typeface="inherit"/>
              </a:rPr>
              <a:t>()</a:t>
            </a:r>
            <a:r>
              <a:rPr lang="en-US">
                <a:solidFill>
                  <a:srgbClr val="006FE0"/>
                </a:solidFill>
                <a:latin typeface="inherit"/>
              </a:rPr>
              <a:t> + </a:t>
            </a:r>
            <a:r>
              <a:rPr lang="en-US">
                <a:solidFill>
                  <a:srgbClr val="008000"/>
                </a:solidFill>
                <a:latin typeface="inherit"/>
              </a:rPr>
              <a:t>" Was Clicked "</a:t>
            </a:r>
            <a:r>
              <a:rPr lang="en-US">
                <a:solidFill>
                  <a:srgbClr val="333333"/>
                </a:solidFill>
                <a:latin typeface="inherit"/>
              </a:rPr>
              <a:t>)</a:t>
            </a:r>
            <a:endParaRPr lang="en-US" b="0" i="0">
              <a:solidFill>
                <a:srgbClr val="000000"/>
              </a:solidFill>
              <a:effectLst/>
              <a:latin typeface="Monaco"/>
            </a:endParaRPr>
          </a:p>
        </p:txBody>
      </p:sp>
      <p:pic>
        <p:nvPicPr>
          <p:cNvPr id="1026" name="Picture 2" descr="PyQt5 GUI How To Create QButtonGroup">
            <a:extLst>
              <a:ext uri="{FF2B5EF4-FFF2-40B4-BE49-F238E27FC236}">
                <a16:creationId xmlns:a16="http://schemas.microsoft.com/office/drawing/2014/main" id="{C1F3BD9A-4D15-47F6-A99C-0A62F1DF8A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3076" y="3340490"/>
            <a:ext cx="3070924" cy="2021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8091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288F6-6A83-4A59-A964-ADC08029104F}"/>
              </a:ext>
            </a:extLst>
          </p:cNvPr>
          <p:cNvSpPr>
            <a:spLocks noGrp="1"/>
          </p:cNvSpPr>
          <p:nvPr>
            <p:ph type="title"/>
          </p:nvPr>
        </p:nvSpPr>
        <p:spPr>
          <a:xfrm>
            <a:off x="9624" y="19251"/>
            <a:ext cx="9134375" cy="731248"/>
          </a:xfrm>
        </p:spPr>
        <p:txBody>
          <a:bodyPr>
            <a:normAutofit/>
          </a:bodyPr>
          <a:lstStyle/>
          <a:p>
            <a:r>
              <a:rPr lang="en-US" b="1"/>
              <a:t>Tạo QGroupBox  trong PyQt</a:t>
            </a:r>
          </a:p>
        </p:txBody>
      </p:sp>
      <p:sp>
        <p:nvSpPr>
          <p:cNvPr id="3" name="Content Placeholder 2">
            <a:extLst>
              <a:ext uri="{FF2B5EF4-FFF2-40B4-BE49-F238E27FC236}">
                <a16:creationId xmlns:a16="http://schemas.microsoft.com/office/drawing/2014/main" id="{0089628D-B665-47E1-9678-2B36BF0EE15C}"/>
              </a:ext>
            </a:extLst>
          </p:cNvPr>
          <p:cNvSpPr>
            <a:spLocks noGrp="1"/>
          </p:cNvSpPr>
          <p:nvPr>
            <p:ph idx="1"/>
          </p:nvPr>
        </p:nvSpPr>
        <p:spPr>
          <a:xfrm>
            <a:off x="9624" y="776377"/>
            <a:ext cx="9134375" cy="6088251"/>
          </a:xfrm>
        </p:spPr>
        <p:txBody>
          <a:bodyPr/>
          <a:lstStyle/>
          <a:p>
            <a:r>
              <a:rPr lang="vi-VN"/>
              <a:t>Ví dụ về Hộp nhóm </a:t>
            </a:r>
            <a:r>
              <a:rPr lang="en-US"/>
              <a:t>(Group Box) </a:t>
            </a:r>
            <a:r>
              <a:rPr lang="vi-VN"/>
              <a:t>cho thấy cách sử dụng các loại hộp nhóm khác nhau trong Qt.</a:t>
            </a:r>
          </a:p>
          <a:p>
            <a:r>
              <a:rPr lang="en-US"/>
              <a:t>Các group box (h</a:t>
            </a:r>
            <a:r>
              <a:rPr lang="vi-VN"/>
              <a:t>ộp nhóm</a:t>
            </a:r>
            <a:r>
              <a:rPr lang="en-US"/>
              <a:t>)</a:t>
            </a:r>
            <a:r>
              <a:rPr lang="vi-VN"/>
              <a:t> là các vật chứa chứa </a:t>
            </a:r>
            <a:r>
              <a:rPr lang="en-US"/>
              <a:t>tổ chức </a:t>
            </a:r>
            <a:r>
              <a:rPr lang="vi-VN"/>
              <a:t>các nút </a:t>
            </a:r>
            <a:r>
              <a:rPr lang="en-US"/>
              <a:t>(button) </a:t>
            </a:r>
            <a:r>
              <a:rPr lang="vi-VN"/>
              <a:t>thành các nhóm, cả về mặt logic và trên màn hình. </a:t>
            </a:r>
            <a:r>
              <a:rPr lang="en-US"/>
              <a:t>Chúng </a:t>
            </a:r>
            <a:r>
              <a:rPr lang="vi-VN"/>
              <a:t>quản lý các tương tác giữa người dùng và ứng dụng để bạn không phải thực thi các ràng buộc đơn giản.</a:t>
            </a:r>
          </a:p>
          <a:p>
            <a:endParaRPr lang="en-US"/>
          </a:p>
        </p:txBody>
      </p:sp>
      <p:sp>
        <p:nvSpPr>
          <p:cNvPr id="4" name="Rectangle 3">
            <a:extLst>
              <a:ext uri="{FF2B5EF4-FFF2-40B4-BE49-F238E27FC236}">
                <a16:creationId xmlns:a16="http://schemas.microsoft.com/office/drawing/2014/main" id="{37D98CD4-C073-4631-B37A-7833B9975505}"/>
              </a:ext>
            </a:extLst>
          </p:cNvPr>
          <p:cNvSpPr/>
          <p:nvPr/>
        </p:nvSpPr>
        <p:spPr>
          <a:xfrm>
            <a:off x="9624" y="3958419"/>
            <a:ext cx="9124752" cy="2610843"/>
          </a:xfrm>
          <a:prstGeom prst="rect">
            <a:avLst/>
          </a:prstGeom>
        </p:spPr>
        <p:txBody>
          <a:bodyPr wrap="square">
            <a:spAutoFit/>
          </a:bodyPr>
          <a:lstStyle/>
          <a:p>
            <a:pPr>
              <a:lnSpc>
                <a:spcPct val="150000"/>
              </a:lnSpc>
            </a:pPr>
            <a:r>
              <a:rPr lang="en-US" sz="2800">
                <a:solidFill>
                  <a:srgbClr val="004ED0"/>
                </a:solidFill>
                <a:latin typeface="inherit"/>
              </a:rPr>
              <a:t>from PyQt5 import QtGui</a:t>
            </a:r>
            <a:endParaRPr lang="en-US" sz="2800">
              <a:solidFill>
                <a:srgbClr val="000000"/>
              </a:solidFill>
              <a:latin typeface="Monaco"/>
            </a:endParaRPr>
          </a:p>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p>
          <a:p>
            <a:pPr algn="r">
              <a:lnSpc>
                <a:spcPct val="150000"/>
              </a:lnSpc>
            </a:pP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QRadioButton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QGroupBox</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QVBoxLayout</a:t>
            </a:r>
            <a:endParaRPr lang="en-US" sz="2800">
              <a:solidFill>
                <a:srgbClr val="000000"/>
              </a:solidFill>
              <a:latin typeface="Monaco"/>
            </a:endParaRPr>
          </a:p>
          <a:p>
            <a:pPr>
              <a:lnSpc>
                <a:spcPct val="150000"/>
              </a:lnSpc>
            </a:pPr>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3708566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A6117-F39B-43F1-BEA8-264290252A3A}"/>
              </a:ext>
            </a:extLst>
          </p:cNvPr>
          <p:cNvSpPr>
            <a:spLocks noGrp="1"/>
          </p:cNvSpPr>
          <p:nvPr>
            <p:ph idx="1"/>
          </p:nvPr>
        </p:nvSpPr>
        <p:spPr>
          <a:xfrm>
            <a:off x="9624" y="898661"/>
            <a:ext cx="3000995" cy="5896959"/>
          </a:xfrm>
        </p:spPr>
        <p:txBody>
          <a:bodyPr>
            <a:normAutofit/>
          </a:bodyPr>
          <a:lstStyle/>
          <a:p>
            <a:pPr marL="0" indent="0">
              <a:buNone/>
            </a:pPr>
            <a:r>
              <a:rPr lang="vi-VN" sz="2000"/>
              <a:t>Sau đó, tạo lớp</a:t>
            </a:r>
            <a:r>
              <a:rPr lang="en-US" sz="2000"/>
              <a:t> </a:t>
            </a:r>
            <a:r>
              <a:rPr lang="vi-VN" sz="2000"/>
              <a:t>Window</a:t>
            </a:r>
            <a:r>
              <a:rPr lang="en-US" sz="2000"/>
              <a:t> </a:t>
            </a:r>
            <a:r>
              <a:rPr lang="vi-VN" sz="2000"/>
              <a:t>và</a:t>
            </a:r>
            <a:r>
              <a:rPr lang="en-US" sz="2000"/>
              <a:t> </a:t>
            </a:r>
            <a:r>
              <a:rPr lang="vi-VN" sz="2000"/>
              <a:t>thêm một số yêu cầu của cửa sổ như tiêu đề, </a:t>
            </a:r>
            <a:r>
              <a:rPr lang="en-US" sz="2000"/>
              <a:t>vị trí </a:t>
            </a:r>
            <a:r>
              <a:rPr lang="vi-VN" sz="2000"/>
              <a:t>và biểu tượng, chúng t</a:t>
            </a:r>
            <a:r>
              <a:rPr lang="en-US" sz="2000"/>
              <a:t>a</a:t>
            </a:r>
            <a:r>
              <a:rPr lang="vi-VN" sz="2000"/>
              <a:t> cũng tạo ra</a:t>
            </a:r>
            <a:r>
              <a:rPr lang="en-US" sz="2000"/>
              <a:t> </a:t>
            </a:r>
            <a:r>
              <a:rPr lang="vi-VN" sz="2000"/>
              <a:t>một</a:t>
            </a:r>
            <a:r>
              <a:rPr lang="en-US" sz="2000"/>
              <a:t> </a:t>
            </a:r>
            <a:r>
              <a:rPr lang="vi-VN" sz="2000"/>
              <a:t>QHBoxLayout</a:t>
            </a:r>
            <a:r>
              <a:rPr lang="en-US" sz="2000"/>
              <a:t> </a:t>
            </a:r>
            <a:r>
              <a:rPr lang="vi-VN" sz="2000"/>
              <a:t>với Q</a:t>
            </a:r>
            <a:r>
              <a:rPr lang="en-US" sz="2000"/>
              <a:t>G</a:t>
            </a:r>
            <a:r>
              <a:rPr lang="vi-VN" sz="2000"/>
              <a:t>roupBox và tạo ba</a:t>
            </a:r>
            <a:r>
              <a:rPr lang="en-US" sz="2000"/>
              <a:t> </a:t>
            </a:r>
            <a:r>
              <a:rPr lang="vi-VN" sz="2000"/>
              <a:t>QRadioButton</a:t>
            </a:r>
            <a:endParaRPr lang="en-US" sz="2000"/>
          </a:p>
        </p:txBody>
      </p:sp>
      <p:sp>
        <p:nvSpPr>
          <p:cNvPr id="4" name="Title 1">
            <a:extLst>
              <a:ext uri="{FF2B5EF4-FFF2-40B4-BE49-F238E27FC236}">
                <a16:creationId xmlns:a16="http://schemas.microsoft.com/office/drawing/2014/main" id="{8293B272-1253-4EB6-A4B7-8FCE550AE654}"/>
              </a:ext>
            </a:extLst>
          </p:cNvPr>
          <p:cNvSpPr>
            <a:spLocks noGrp="1"/>
          </p:cNvSpPr>
          <p:nvPr>
            <p:ph type="title"/>
          </p:nvPr>
        </p:nvSpPr>
        <p:spPr>
          <a:xfrm>
            <a:off x="9624" y="19251"/>
            <a:ext cx="9134375" cy="731248"/>
          </a:xfrm>
        </p:spPr>
        <p:txBody>
          <a:bodyPr>
            <a:normAutofit/>
          </a:bodyPr>
          <a:lstStyle/>
          <a:p>
            <a:r>
              <a:rPr lang="en-US" b="1"/>
              <a:t>Tạo QGroupBox trong PyQt (t.t)</a:t>
            </a:r>
          </a:p>
        </p:txBody>
      </p:sp>
      <p:sp>
        <p:nvSpPr>
          <p:cNvPr id="5" name="Rectangle 4">
            <a:extLst>
              <a:ext uri="{FF2B5EF4-FFF2-40B4-BE49-F238E27FC236}">
                <a16:creationId xmlns:a16="http://schemas.microsoft.com/office/drawing/2014/main" id="{6059C4E8-8992-488B-84D4-DD87162F7785}"/>
              </a:ext>
            </a:extLst>
          </p:cNvPr>
          <p:cNvSpPr/>
          <p:nvPr/>
        </p:nvSpPr>
        <p:spPr>
          <a:xfrm>
            <a:off x="3071005" y="898661"/>
            <a:ext cx="6072995" cy="5940088"/>
          </a:xfrm>
          <a:prstGeom prst="rect">
            <a:avLst/>
          </a:prstGeom>
        </p:spPr>
        <p:txBody>
          <a:bodyPr wrap="square">
            <a:spAutoFit/>
          </a:bodyPr>
          <a:lstStyle/>
          <a:p>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QGroup Box"</a:t>
            </a:r>
            <a:endParaRPr lang="en-US" sz="2000">
              <a:solidFill>
                <a:srgbClr val="000000"/>
              </a:solidFill>
              <a:latin typeface="Monaco"/>
            </a:endParaRPr>
          </a:p>
          <a:p>
            <a:pPr lvl="1"/>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hbox</a:t>
            </a:r>
            <a:r>
              <a:rPr lang="en-US" sz="2000">
                <a:solidFill>
                  <a:srgbClr val="006FE0"/>
                </a:solidFill>
                <a:latin typeface="inherit"/>
              </a:rPr>
              <a:t> = </a:t>
            </a:r>
            <a:r>
              <a:rPr lang="en-US" sz="2000">
                <a:solidFill>
                  <a:srgbClr val="004ED0"/>
                </a:solidFill>
                <a:latin typeface="inherit"/>
              </a:rPr>
              <a:t>QHBoxLayout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groupbox</a:t>
            </a:r>
            <a:r>
              <a:rPr lang="en-US" sz="2000">
                <a:solidFill>
                  <a:srgbClr val="006FE0"/>
                </a:solidFill>
                <a:latin typeface="inherit"/>
              </a:rPr>
              <a:t> = </a:t>
            </a:r>
            <a:r>
              <a:rPr lang="en-US" sz="2000">
                <a:solidFill>
                  <a:srgbClr val="004ED0"/>
                </a:solidFill>
                <a:latin typeface="inherit"/>
              </a:rPr>
              <a:t>QGroupBox</a:t>
            </a:r>
            <a:r>
              <a:rPr lang="en-US" sz="2000">
                <a:solidFill>
                  <a:srgbClr val="333333"/>
                </a:solidFill>
                <a:latin typeface="inherit"/>
              </a:rPr>
              <a:t>(</a:t>
            </a:r>
            <a:r>
              <a:rPr lang="en-US" sz="2000">
                <a:solidFill>
                  <a:srgbClr val="008000"/>
                </a:solidFill>
                <a:latin typeface="inherit"/>
              </a:rPr>
              <a:t>"Select Your Favorite Fruit "</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groupbox</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15</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hbox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groupbox</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 </a:t>
            </a:r>
            <a:r>
              <a:rPr lang="en-US" sz="2000">
                <a:solidFill>
                  <a:srgbClr val="004ED0"/>
                </a:solidFill>
                <a:latin typeface="inherit"/>
              </a:rPr>
              <a:t>QVBoxLayout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rad1</a:t>
            </a:r>
            <a:r>
              <a:rPr lang="en-US" sz="2000">
                <a:solidFill>
                  <a:srgbClr val="006FE0"/>
                </a:solidFill>
                <a:latin typeface="inherit"/>
              </a:rPr>
              <a:t> = </a:t>
            </a:r>
            <a:r>
              <a:rPr lang="en-US" sz="2000">
                <a:solidFill>
                  <a:srgbClr val="004ED0"/>
                </a:solidFill>
                <a:latin typeface="inherit"/>
              </a:rPr>
              <a:t>QRadioButton</a:t>
            </a:r>
            <a:r>
              <a:rPr lang="en-US" sz="2000">
                <a:solidFill>
                  <a:srgbClr val="333333"/>
                </a:solidFill>
                <a:latin typeface="inherit"/>
              </a:rPr>
              <a:t>(</a:t>
            </a:r>
            <a:r>
              <a:rPr lang="en-US" sz="2000">
                <a:solidFill>
                  <a:srgbClr val="008000"/>
                </a:solidFill>
                <a:latin typeface="inherit"/>
              </a:rPr>
              <a:t>"Apple"</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rad1</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rad2</a:t>
            </a:r>
            <a:r>
              <a:rPr lang="en-US" sz="2000">
                <a:solidFill>
                  <a:srgbClr val="006FE0"/>
                </a:solidFill>
                <a:latin typeface="inherit"/>
              </a:rPr>
              <a:t> = </a:t>
            </a:r>
            <a:r>
              <a:rPr lang="en-US" sz="2000">
                <a:solidFill>
                  <a:srgbClr val="004ED0"/>
                </a:solidFill>
                <a:latin typeface="inherit"/>
              </a:rPr>
              <a:t>QRadioButton</a:t>
            </a:r>
            <a:r>
              <a:rPr lang="en-US" sz="2000">
                <a:solidFill>
                  <a:srgbClr val="333333"/>
                </a:solidFill>
                <a:latin typeface="inherit"/>
              </a:rPr>
              <a:t>(</a:t>
            </a:r>
            <a:r>
              <a:rPr lang="en-US" sz="2000">
                <a:solidFill>
                  <a:srgbClr val="008000"/>
                </a:solidFill>
                <a:latin typeface="inherit"/>
              </a:rPr>
              <a:t>"Banana"</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rad2</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rad3</a:t>
            </a:r>
            <a:r>
              <a:rPr lang="en-US" sz="2000">
                <a:solidFill>
                  <a:srgbClr val="006FE0"/>
                </a:solidFill>
                <a:latin typeface="inherit"/>
              </a:rPr>
              <a:t> = </a:t>
            </a:r>
            <a:r>
              <a:rPr lang="en-US" sz="2000">
                <a:solidFill>
                  <a:srgbClr val="004ED0"/>
                </a:solidFill>
                <a:latin typeface="inherit"/>
              </a:rPr>
              <a:t>QRadioButton</a:t>
            </a:r>
            <a:r>
              <a:rPr lang="en-US" sz="2000">
                <a:solidFill>
                  <a:srgbClr val="333333"/>
                </a:solidFill>
                <a:latin typeface="inherit"/>
              </a:rPr>
              <a:t>(</a:t>
            </a:r>
            <a:r>
              <a:rPr lang="en-US" sz="2000">
                <a:solidFill>
                  <a:srgbClr val="008000"/>
                </a:solidFill>
                <a:latin typeface="inherit"/>
              </a:rPr>
              <a:t>"Melon"</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rad3</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groupbox</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hbox</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87C157F8-37F7-49FF-B35F-401E5084CD34}"/>
              </a:ext>
            </a:extLst>
          </p:cNvPr>
          <p:cNvSpPr/>
          <p:nvPr/>
        </p:nvSpPr>
        <p:spPr>
          <a:xfrm>
            <a:off x="0" y="3278139"/>
            <a:ext cx="3164897" cy="1015663"/>
          </a:xfrm>
          <a:prstGeom prst="rect">
            <a:avLst/>
          </a:prstGeom>
          <a:solidFill>
            <a:schemeClr val="accent4">
              <a:lumMod val="20000"/>
              <a:lumOff val="80000"/>
            </a:schemeClr>
          </a:solidFill>
        </p:spPr>
        <p:txBody>
          <a:bodyPr wrap="square">
            <a:spAutoFit/>
          </a:bodyPr>
          <a:lstStyle/>
          <a:p>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002D7A"/>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Window</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004ED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pic>
        <p:nvPicPr>
          <p:cNvPr id="2050" name="Picture 2" descr="PyQt5 GUI Creating QGroupBox In PyQt">
            <a:extLst>
              <a:ext uri="{FF2B5EF4-FFF2-40B4-BE49-F238E27FC236}">
                <a16:creationId xmlns:a16="http://schemas.microsoft.com/office/drawing/2014/main" id="{073EDB2E-49D0-4260-87E4-7DE9A4DF6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4" y="4394566"/>
            <a:ext cx="3000994" cy="2444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715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09D58-E5DD-4D61-8E94-A4A1D844947B}"/>
              </a:ext>
            </a:extLst>
          </p:cNvPr>
          <p:cNvSpPr>
            <a:spLocks noGrp="1"/>
          </p:cNvSpPr>
          <p:nvPr>
            <p:ph type="title"/>
          </p:nvPr>
        </p:nvSpPr>
        <p:spPr>
          <a:xfrm>
            <a:off x="9624" y="19250"/>
            <a:ext cx="9134375" cy="1749165"/>
          </a:xfrm>
        </p:spPr>
        <p:txBody>
          <a:bodyPr>
            <a:normAutofit/>
          </a:bodyPr>
          <a:lstStyle/>
          <a:p>
            <a:r>
              <a:rPr lang="en-US"/>
              <a:t>Cách tạo cửa sổ không khung (Frameless Window) trong PyQt5</a:t>
            </a:r>
          </a:p>
        </p:txBody>
      </p:sp>
      <p:sp>
        <p:nvSpPr>
          <p:cNvPr id="3" name="Content Placeholder 2">
            <a:extLst>
              <a:ext uri="{FF2B5EF4-FFF2-40B4-BE49-F238E27FC236}">
                <a16:creationId xmlns:a16="http://schemas.microsoft.com/office/drawing/2014/main" id="{8832B9C3-895D-4F67-9FF0-9F0D8B2A6263}"/>
              </a:ext>
            </a:extLst>
          </p:cNvPr>
          <p:cNvSpPr>
            <a:spLocks noGrp="1"/>
          </p:cNvSpPr>
          <p:nvPr>
            <p:ph idx="1"/>
          </p:nvPr>
        </p:nvSpPr>
        <p:spPr>
          <a:xfrm>
            <a:off x="9624" y="2035834"/>
            <a:ext cx="9134375" cy="4802916"/>
          </a:xfrm>
        </p:spPr>
        <p:txBody>
          <a:bodyPr/>
          <a:lstStyle/>
          <a:p>
            <a:pPr marL="0" indent="0">
              <a:buNone/>
            </a:pPr>
            <a:r>
              <a:rPr lang="en-US"/>
              <a:t>C</a:t>
            </a:r>
            <a:r>
              <a:rPr lang="vi-VN"/>
              <a:t>húng t</a:t>
            </a:r>
            <a:r>
              <a:rPr lang="en-US"/>
              <a:t>a</a:t>
            </a:r>
            <a:r>
              <a:rPr lang="vi-VN"/>
              <a:t> </a:t>
            </a:r>
            <a:r>
              <a:rPr lang="en-US"/>
              <a:t>xem cách thức làm thế nào để tạo Frameless Window và cách </a:t>
            </a:r>
            <a:r>
              <a:rPr lang="vi-VN"/>
              <a:t>sử dụng QSizeGrip cho thay đổi kích thước cửa sổ Frameless trong PyQt5.</a:t>
            </a:r>
            <a:endParaRPr lang="en-US"/>
          </a:p>
        </p:txBody>
      </p:sp>
      <p:sp>
        <p:nvSpPr>
          <p:cNvPr id="4" name="Rectangle 3">
            <a:extLst>
              <a:ext uri="{FF2B5EF4-FFF2-40B4-BE49-F238E27FC236}">
                <a16:creationId xmlns:a16="http://schemas.microsoft.com/office/drawing/2014/main" id="{24595C6C-161C-4071-8F1B-7206CA836CD6}"/>
              </a:ext>
            </a:extLst>
          </p:cNvPr>
          <p:cNvSpPr/>
          <p:nvPr/>
        </p:nvSpPr>
        <p:spPr>
          <a:xfrm>
            <a:off x="0" y="3691477"/>
            <a:ext cx="9124752" cy="2610843"/>
          </a:xfrm>
          <a:prstGeom prst="rect">
            <a:avLst/>
          </a:prstGeom>
        </p:spPr>
        <p:txBody>
          <a:bodyPr wrap="square">
            <a:spAutoFit/>
          </a:bodyPr>
          <a:lstStyle/>
          <a:p>
            <a:pPr>
              <a:lnSpc>
                <a:spcPct val="150000"/>
              </a:lnSpc>
            </a:pPr>
            <a:r>
              <a:rPr lang="en-US" sz="2800">
                <a:solidFill>
                  <a:srgbClr val="004ED0"/>
                </a:solidFill>
                <a:latin typeface="inherit"/>
              </a:rPr>
              <a:t>from PyQt5 import QtGui</a:t>
            </a:r>
            <a:endParaRPr lang="en-US" sz="2800">
              <a:solidFill>
                <a:srgbClr val="000000"/>
              </a:solidFill>
              <a:latin typeface="Monaco"/>
            </a:endParaRPr>
          </a:p>
          <a:p>
            <a:pPr>
              <a:lnSpc>
                <a:spcPct val="150000"/>
              </a:lnSpc>
            </a:pPr>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r>
              <a:rPr lang="en-US" sz="2800">
                <a:solidFill>
                  <a:srgbClr val="006FE0"/>
                </a:solidFill>
                <a:latin typeface="inherit"/>
              </a:rPr>
              <a:t> </a:t>
            </a:r>
          </a:p>
          <a:p>
            <a:pPr algn="r">
              <a:lnSpc>
                <a:spcPct val="150000"/>
              </a:lnSpc>
            </a:pPr>
            <a:r>
              <a:rPr lang="en-US" sz="2800">
                <a:solidFill>
                  <a:srgbClr val="002D7A"/>
                </a:solidFill>
                <a:latin typeface="inherit"/>
              </a:rPr>
              <a:t>QVBoxLayout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QSizeGrip</a:t>
            </a:r>
            <a:endParaRPr lang="en-US" sz="2800">
              <a:solidFill>
                <a:srgbClr val="000000"/>
              </a:solidFill>
              <a:latin typeface="Monaco"/>
            </a:endParaRPr>
          </a:p>
          <a:p>
            <a:pPr>
              <a:lnSpc>
                <a:spcPct val="150000"/>
              </a:lnSpc>
            </a:pPr>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830966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B2F677-40AC-4805-9317-010BB29F1D01}"/>
              </a:ext>
            </a:extLst>
          </p:cNvPr>
          <p:cNvSpPr>
            <a:spLocks noGrp="1"/>
          </p:cNvSpPr>
          <p:nvPr>
            <p:ph idx="1"/>
          </p:nvPr>
        </p:nvSpPr>
        <p:spPr>
          <a:xfrm>
            <a:off x="9624" y="715993"/>
            <a:ext cx="9134375" cy="6122757"/>
          </a:xfrm>
        </p:spPr>
        <p:txBody>
          <a:bodyPr/>
          <a:lstStyle/>
          <a:p>
            <a:pPr marL="0" indent="0">
              <a:buNone/>
            </a:pPr>
            <a:r>
              <a:rPr lang="en-US"/>
              <a:t>Sau khi chúng ta sẽ tạo lớp Window và trên đó, chúng ta tạo cờ cho Frameless Window</a:t>
            </a:r>
          </a:p>
        </p:txBody>
      </p:sp>
      <p:sp>
        <p:nvSpPr>
          <p:cNvPr id="4" name="Title 1">
            <a:extLst>
              <a:ext uri="{FF2B5EF4-FFF2-40B4-BE49-F238E27FC236}">
                <a16:creationId xmlns:a16="http://schemas.microsoft.com/office/drawing/2014/main" id="{51B00B3C-A608-4F4D-B8AA-CAFCECEA44C5}"/>
              </a:ext>
            </a:extLst>
          </p:cNvPr>
          <p:cNvSpPr>
            <a:spLocks noGrp="1"/>
          </p:cNvSpPr>
          <p:nvPr>
            <p:ph type="title"/>
          </p:nvPr>
        </p:nvSpPr>
        <p:spPr>
          <a:xfrm>
            <a:off x="9624" y="19251"/>
            <a:ext cx="9134375" cy="696742"/>
          </a:xfrm>
        </p:spPr>
        <p:txBody>
          <a:bodyPr>
            <a:normAutofit/>
          </a:bodyPr>
          <a:lstStyle/>
          <a:p>
            <a:r>
              <a:rPr lang="en-US"/>
              <a:t>Cách tạo Frameless Window (t.t)</a:t>
            </a:r>
          </a:p>
        </p:txBody>
      </p:sp>
      <p:sp>
        <p:nvSpPr>
          <p:cNvPr id="5" name="Rectangle 4">
            <a:extLst>
              <a:ext uri="{FF2B5EF4-FFF2-40B4-BE49-F238E27FC236}">
                <a16:creationId xmlns:a16="http://schemas.microsoft.com/office/drawing/2014/main" id="{4E3C6686-C692-4B83-A8C4-069720EB87E8}"/>
              </a:ext>
            </a:extLst>
          </p:cNvPr>
          <p:cNvSpPr/>
          <p:nvPr/>
        </p:nvSpPr>
        <p:spPr>
          <a:xfrm>
            <a:off x="9625" y="1563070"/>
            <a:ext cx="9124752" cy="5262979"/>
          </a:xfrm>
          <a:prstGeom prst="rect">
            <a:avLst/>
          </a:prstGeom>
        </p:spPr>
        <p:txBody>
          <a:bodyPr wrap="square">
            <a:spAutoFit/>
          </a:bodyPr>
          <a:lstStyle/>
          <a:p>
            <a:r>
              <a:rPr lang="en-US" sz="2400">
                <a:solidFill>
                  <a:srgbClr val="800080"/>
                </a:solidFill>
                <a:latin typeface="inherit"/>
              </a:rPr>
              <a:t>class</a:t>
            </a:r>
            <a:r>
              <a:rPr lang="en-US" sz="2400">
                <a:solidFill>
                  <a:srgbClr val="006FE0"/>
                </a:solidFill>
                <a:latin typeface="inherit"/>
              </a:rPr>
              <a:t> </a:t>
            </a:r>
            <a:r>
              <a:rPr lang="en-US" sz="2400">
                <a:solidFill>
                  <a:srgbClr val="004ED0"/>
                </a:solidFill>
                <a:latin typeface="inherit"/>
              </a:rPr>
              <a:t>Window</a:t>
            </a:r>
            <a:r>
              <a:rPr lang="en-US" sz="2400">
                <a:solidFill>
                  <a:srgbClr val="333333"/>
                </a:solidFill>
                <a:latin typeface="inherit"/>
              </a:rPr>
              <a:t>(</a:t>
            </a:r>
            <a:r>
              <a:rPr lang="en-US" sz="2400">
                <a:solidFill>
                  <a:srgbClr val="002D7A"/>
                </a:solidFill>
                <a:latin typeface="inherit"/>
              </a:rPr>
              <a:t>QWidget</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4ED0"/>
                </a:solidFill>
                <a:latin typeface="inherit"/>
              </a:rPr>
              <a:t>def __init__</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super</a:t>
            </a:r>
            <a:r>
              <a:rPr lang="en-US" sz="2400">
                <a:solidFill>
                  <a:srgbClr val="333333"/>
                </a:solidFill>
                <a:latin typeface="inherit"/>
              </a:rPr>
              <a:t>().</a:t>
            </a:r>
            <a:r>
              <a:rPr lang="en-US" sz="2400">
                <a:solidFill>
                  <a:srgbClr val="004ED0"/>
                </a:solidFill>
                <a:latin typeface="inherit"/>
              </a:rPr>
              <a:t>__init__</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006FE0"/>
                </a:solidFill>
                <a:latin typeface="inherit"/>
              </a:rPr>
              <a:t> = </a:t>
            </a:r>
            <a:r>
              <a:rPr lang="en-US" sz="2400">
                <a:solidFill>
                  <a:srgbClr val="008000"/>
                </a:solidFill>
                <a:latin typeface="inherit"/>
              </a:rPr>
              <a:t>"PyQt5 Size Grip"</a:t>
            </a:r>
            <a:endParaRPr lang="en-US" sz="2400">
              <a:solidFill>
                <a:srgbClr val="000000"/>
              </a:solidFill>
              <a:latin typeface="Monaco"/>
            </a:endParaRPr>
          </a:p>
          <a:p>
            <a:pPr lvl="1"/>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flags</a:t>
            </a:r>
            <a:r>
              <a:rPr lang="en-US" sz="2400">
                <a:solidFill>
                  <a:srgbClr val="006FE0"/>
                </a:solidFill>
                <a:latin typeface="inherit"/>
              </a:rPr>
              <a:t> = </a:t>
            </a:r>
            <a:r>
              <a:rPr lang="en-US" sz="2400">
                <a:solidFill>
                  <a:srgbClr val="002D7A"/>
                </a:solidFill>
                <a:latin typeface="inherit"/>
              </a:rPr>
              <a:t>QtCore</a:t>
            </a:r>
            <a:r>
              <a:rPr lang="en-US" sz="2400">
                <a:solidFill>
                  <a:srgbClr val="333333"/>
                </a:solidFill>
                <a:latin typeface="inherit"/>
              </a:rPr>
              <a:t>.</a:t>
            </a:r>
            <a:r>
              <a:rPr lang="en-US" sz="2400">
                <a:solidFill>
                  <a:srgbClr val="002D7A"/>
                </a:solidFill>
                <a:latin typeface="inherit"/>
              </a:rPr>
              <a:t>Qt</a:t>
            </a:r>
            <a:r>
              <a:rPr lang="en-US" sz="2400">
                <a:solidFill>
                  <a:srgbClr val="333333"/>
                </a:solidFill>
                <a:latin typeface="inherit"/>
              </a:rPr>
              <a:t>.</a:t>
            </a:r>
            <a:r>
              <a:rPr lang="en-US" sz="2400">
                <a:solidFill>
                  <a:srgbClr val="004ED0"/>
                </a:solidFill>
                <a:latin typeface="inherit"/>
              </a:rPr>
              <a:t>WindowFlags</a:t>
            </a:r>
            <a:r>
              <a:rPr lang="en-US" sz="2400">
                <a:solidFill>
                  <a:srgbClr val="333333"/>
                </a:solidFill>
                <a:latin typeface="inherit"/>
              </a:rPr>
              <a:t>(</a:t>
            </a:r>
            <a:r>
              <a:rPr lang="en-US" sz="2400">
                <a:solidFill>
                  <a:srgbClr val="002D7A"/>
                </a:solidFill>
                <a:latin typeface="inherit"/>
              </a:rPr>
              <a:t>QtCore</a:t>
            </a:r>
            <a:r>
              <a:rPr lang="en-US" sz="2400">
                <a:solidFill>
                  <a:srgbClr val="333333"/>
                </a:solidFill>
                <a:latin typeface="inherit"/>
              </a:rPr>
              <a:t>.</a:t>
            </a:r>
            <a:r>
              <a:rPr lang="en-US" sz="2400">
                <a:solidFill>
                  <a:srgbClr val="002D7A"/>
                </a:solidFill>
                <a:latin typeface="inherit"/>
              </a:rPr>
              <a:t>Qt</a:t>
            </a:r>
            <a:r>
              <a:rPr lang="en-US" sz="2400">
                <a:solidFill>
                  <a:srgbClr val="333333"/>
                </a:solidFill>
                <a:latin typeface="inherit"/>
              </a:rPr>
              <a:t>.</a:t>
            </a:r>
            <a:r>
              <a:rPr lang="en-US" sz="2400">
                <a:solidFill>
                  <a:srgbClr val="002D7A"/>
                </a:solidFill>
                <a:latin typeface="inherit"/>
              </a:rPr>
              <a:t>FramelessWindowHint</a:t>
            </a:r>
            <a:r>
              <a:rPr lang="en-US" sz="2400">
                <a:solidFill>
                  <a:srgbClr val="006FE0"/>
                </a:solidFill>
                <a:latin typeface="inherit"/>
              </a:rPr>
              <a:t> |</a:t>
            </a:r>
          </a:p>
          <a:p>
            <a:pPr algn="r"/>
            <a:r>
              <a:rPr lang="en-US" sz="2400">
                <a:solidFill>
                  <a:srgbClr val="006FE0"/>
                </a:solidFill>
                <a:latin typeface="inherit"/>
              </a:rPr>
              <a:t> </a:t>
            </a:r>
            <a:r>
              <a:rPr lang="en-US" sz="2400">
                <a:solidFill>
                  <a:srgbClr val="002D7A"/>
                </a:solidFill>
                <a:latin typeface="inherit"/>
              </a:rPr>
              <a:t>QtCore</a:t>
            </a:r>
            <a:r>
              <a:rPr lang="en-US" sz="2400">
                <a:solidFill>
                  <a:srgbClr val="333333"/>
                </a:solidFill>
                <a:latin typeface="inherit"/>
              </a:rPr>
              <a:t>.</a:t>
            </a:r>
            <a:r>
              <a:rPr lang="en-US" sz="2400">
                <a:solidFill>
                  <a:srgbClr val="002D7A"/>
                </a:solidFill>
                <a:latin typeface="inherit"/>
              </a:rPr>
              <a:t>Qt</a:t>
            </a:r>
            <a:r>
              <a:rPr lang="en-US" sz="2400">
                <a:solidFill>
                  <a:srgbClr val="333333"/>
                </a:solidFill>
                <a:latin typeface="inherit"/>
              </a:rPr>
              <a:t>.</a:t>
            </a:r>
            <a:r>
              <a:rPr lang="en-US" sz="2400">
                <a:solidFill>
                  <a:srgbClr val="002D7A"/>
                </a:solidFill>
                <a:latin typeface="inherit"/>
              </a:rPr>
              <a:t>WindowStaysOnTopHint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setWindowFlags</a:t>
            </a:r>
            <a:r>
              <a:rPr lang="en-US" sz="2400">
                <a:solidFill>
                  <a:srgbClr val="333333"/>
                </a:solidFill>
                <a:latin typeface="inherit"/>
              </a:rPr>
              <a:t>(</a:t>
            </a:r>
            <a:r>
              <a:rPr lang="en-US" sz="2400">
                <a:solidFill>
                  <a:srgbClr val="002D7A"/>
                </a:solidFill>
                <a:latin typeface="inherit"/>
              </a:rPr>
              <a:t>flags</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vboxlayout</a:t>
            </a:r>
            <a:r>
              <a:rPr lang="en-US" sz="2400">
                <a:solidFill>
                  <a:srgbClr val="006FE0"/>
                </a:solidFill>
                <a:latin typeface="inherit"/>
              </a:rPr>
              <a:t> = </a:t>
            </a:r>
            <a:r>
              <a:rPr lang="en-US" sz="2400">
                <a:solidFill>
                  <a:srgbClr val="004ED0"/>
                </a:solidFill>
                <a:latin typeface="inherit"/>
              </a:rPr>
              <a:t>QVBoxLayout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sizegrip</a:t>
            </a:r>
            <a:r>
              <a:rPr lang="en-US" sz="2400">
                <a:solidFill>
                  <a:srgbClr val="006FE0"/>
                </a:solidFill>
                <a:latin typeface="inherit"/>
              </a:rPr>
              <a:t> = </a:t>
            </a:r>
            <a:r>
              <a:rPr lang="en-US" sz="2400">
                <a:solidFill>
                  <a:srgbClr val="004ED0"/>
                </a:solidFill>
                <a:latin typeface="inherit"/>
              </a:rPr>
              <a:t>QSizeGrip</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B85C00"/>
                </a:solidFill>
                <a:latin typeface="inherit"/>
              </a:rPr>
              <a:t>#sizegrip.setVisible(True)</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vboxlayout</a:t>
            </a:r>
            <a:r>
              <a:rPr lang="en-US" sz="2400">
                <a:solidFill>
                  <a:srgbClr val="333333"/>
                </a:solidFill>
                <a:latin typeface="inherit"/>
              </a:rPr>
              <a:t>.</a:t>
            </a:r>
            <a:r>
              <a:rPr lang="en-US" sz="2400">
                <a:solidFill>
                  <a:srgbClr val="004ED0"/>
                </a:solidFill>
                <a:latin typeface="inherit"/>
              </a:rPr>
              <a:t>addWidget</a:t>
            </a:r>
            <a:r>
              <a:rPr lang="en-US" sz="2400">
                <a:solidFill>
                  <a:srgbClr val="333333"/>
                </a:solidFill>
                <a:latin typeface="inherit"/>
              </a:rPr>
              <a:t>(</a:t>
            </a:r>
            <a:r>
              <a:rPr lang="en-US" sz="2400">
                <a:solidFill>
                  <a:srgbClr val="002D7A"/>
                </a:solidFill>
                <a:latin typeface="inherit"/>
              </a:rPr>
              <a:t>sizegrip</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setLayout</a:t>
            </a:r>
            <a:r>
              <a:rPr lang="en-US" sz="2400">
                <a:solidFill>
                  <a:srgbClr val="333333"/>
                </a:solidFill>
                <a:latin typeface="inherit"/>
              </a:rPr>
              <a:t>(</a:t>
            </a:r>
            <a:r>
              <a:rPr lang="en-US" sz="2400">
                <a:solidFill>
                  <a:srgbClr val="002D7A"/>
                </a:solidFill>
                <a:latin typeface="inherit"/>
              </a:rPr>
              <a:t>vboxlayout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b="0" i="0">
              <a:solidFill>
                <a:srgbClr val="000000"/>
              </a:solidFill>
              <a:effectLst/>
              <a:latin typeface="Monaco"/>
            </a:endParaRPr>
          </a:p>
        </p:txBody>
      </p:sp>
      <p:pic>
        <p:nvPicPr>
          <p:cNvPr id="3074" name="Picture 2" descr="How To Create Frameless Window In PyQt5">
            <a:extLst>
              <a:ext uri="{FF2B5EF4-FFF2-40B4-BE49-F238E27FC236}">
                <a16:creationId xmlns:a16="http://schemas.microsoft.com/office/drawing/2014/main" id="{205E854B-AF12-40AB-A651-5037E7269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6077" y="4478813"/>
            <a:ext cx="3018527" cy="2278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597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080A-9A18-46F9-893C-CDADFE95D9F9}"/>
              </a:ext>
            </a:extLst>
          </p:cNvPr>
          <p:cNvSpPr>
            <a:spLocks noGrp="1"/>
          </p:cNvSpPr>
          <p:nvPr>
            <p:ph type="title"/>
          </p:nvPr>
        </p:nvSpPr>
        <p:spPr/>
        <p:txBody>
          <a:bodyPr>
            <a:normAutofit/>
          </a:bodyPr>
          <a:lstStyle/>
          <a:p>
            <a:r>
              <a:rPr lang="en-US" b="1"/>
              <a:t>Cách tạo khung trong PyQt5 (QFrame)</a:t>
            </a:r>
          </a:p>
        </p:txBody>
      </p:sp>
      <p:sp>
        <p:nvSpPr>
          <p:cNvPr id="3" name="Content Placeholder 2">
            <a:extLst>
              <a:ext uri="{FF2B5EF4-FFF2-40B4-BE49-F238E27FC236}">
                <a16:creationId xmlns:a16="http://schemas.microsoft.com/office/drawing/2014/main" id="{B10EC6F9-ECC2-422E-939F-CE2089F91008}"/>
              </a:ext>
            </a:extLst>
          </p:cNvPr>
          <p:cNvSpPr>
            <a:spLocks noGrp="1"/>
          </p:cNvSpPr>
          <p:nvPr>
            <p:ph idx="1"/>
          </p:nvPr>
        </p:nvSpPr>
        <p:spPr/>
        <p:txBody>
          <a:bodyPr/>
          <a:lstStyle/>
          <a:p>
            <a:r>
              <a:rPr lang="vi-VN"/>
              <a:t>Cách tạo khung trong PyQt5 với lớp </a:t>
            </a:r>
            <a:r>
              <a:rPr lang="vi-VN">
                <a:hlinkClick r:id="rId3"/>
              </a:rPr>
              <a:t>QFrame</a:t>
            </a:r>
            <a:r>
              <a:rPr lang="en-US"/>
              <a:t> </a:t>
            </a:r>
            <a:r>
              <a:rPr lang="vi-VN"/>
              <a:t>ngoài ra cách cung cấp </a:t>
            </a:r>
            <a:r>
              <a:rPr lang="en-US"/>
              <a:t>stylesheet </a:t>
            </a:r>
            <a:r>
              <a:rPr lang="vi-VN"/>
              <a:t>cho </a:t>
            </a:r>
            <a:r>
              <a:rPr lang="en-US"/>
              <a:t>c</a:t>
            </a:r>
            <a:r>
              <a:rPr lang="vi-VN"/>
              <a:t>ửa sổ PyQt5 và QFrame.</a:t>
            </a:r>
          </a:p>
          <a:p>
            <a:r>
              <a:rPr lang="vi-VN"/>
              <a:t>Lớp QFrame là lớp cơ sở của các widget có khung.</a:t>
            </a:r>
          </a:p>
          <a:p>
            <a:r>
              <a:rPr lang="vi-VN"/>
              <a:t>QMothy sử dụng điều này để </a:t>
            </a:r>
            <a:r>
              <a:rPr lang="en-US"/>
              <a:t>tăng viền xung quanh </a:t>
            </a:r>
            <a:r>
              <a:rPr lang="vi-VN"/>
              <a:t>trình đơn trên màn hình.</a:t>
            </a:r>
            <a:r>
              <a:rPr lang="en-US"/>
              <a:t> QProgressBar </a:t>
            </a:r>
            <a:r>
              <a:rPr lang="vi-VN"/>
              <a:t>có giao diện chìm. QLabel có </a:t>
            </a:r>
            <a:r>
              <a:rPr lang="en-US"/>
              <a:t>dạng </a:t>
            </a:r>
            <a:r>
              <a:rPr lang="vi-VN"/>
              <a:t>phẳng. Các khung của các </a:t>
            </a:r>
            <a:r>
              <a:rPr lang="en-US"/>
              <a:t>widget </a:t>
            </a:r>
            <a:r>
              <a:rPr lang="vi-VN"/>
              <a:t>như thế này có thể được thay đổi.</a:t>
            </a:r>
          </a:p>
          <a:p>
            <a:endParaRPr lang="en-US"/>
          </a:p>
        </p:txBody>
      </p:sp>
      <p:sp>
        <p:nvSpPr>
          <p:cNvPr id="4" name="Rectangle 3">
            <a:extLst>
              <a:ext uri="{FF2B5EF4-FFF2-40B4-BE49-F238E27FC236}">
                <a16:creationId xmlns:a16="http://schemas.microsoft.com/office/drawing/2014/main" id="{5012EFBB-3BBB-421F-9761-2A8324A1CB3E}"/>
              </a:ext>
            </a:extLst>
          </p:cNvPr>
          <p:cNvSpPr/>
          <p:nvPr/>
        </p:nvSpPr>
        <p:spPr>
          <a:xfrm>
            <a:off x="9624" y="4704769"/>
            <a:ext cx="9124752" cy="1815882"/>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r>
              <a:rPr lang="en-US" sz="2800">
                <a:solidFill>
                  <a:srgbClr val="006FE0"/>
                </a:solidFill>
                <a:latin typeface="inherit"/>
              </a:rPr>
              <a:t> </a:t>
            </a:r>
          </a:p>
          <a:p>
            <a:pPr algn="r"/>
            <a:r>
              <a:rPr lang="en-US" sz="2800">
                <a:solidFill>
                  <a:srgbClr val="002D7A"/>
                </a:solidFill>
                <a:latin typeface="inherit"/>
              </a:rPr>
              <a:t>QFrame</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QPushButton</a:t>
            </a:r>
            <a:endParaRPr lang="en-US" sz="2800">
              <a:solidFill>
                <a:srgbClr val="000000"/>
              </a:solidFill>
              <a:latin typeface="Monaco"/>
            </a:endParaRPr>
          </a:p>
          <a:p>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2519593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CDA19-1126-4CD2-8F0F-EFBC0637F0C8}"/>
              </a:ext>
            </a:extLst>
          </p:cNvPr>
          <p:cNvSpPr>
            <a:spLocks noGrp="1"/>
          </p:cNvSpPr>
          <p:nvPr>
            <p:ph idx="1"/>
          </p:nvPr>
        </p:nvSpPr>
        <p:spPr>
          <a:xfrm>
            <a:off x="9624" y="750499"/>
            <a:ext cx="3154275" cy="3398807"/>
          </a:xfrm>
        </p:spPr>
        <p:txBody>
          <a:bodyPr>
            <a:normAutofit/>
          </a:bodyPr>
          <a:lstStyle/>
          <a:p>
            <a:pPr marL="0" indent="0">
              <a:buNone/>
            </a:pPr>
            <a:r>
              <a:rPr lang="en-US" sz="2400"/>
              <a:t>C</a:t>
            </a:r>
            <a:r>
              <a:rPr lang="vi-VN" sz="2400"/>
              <a:t>húng ta tạo lớp Window kế thừa từ QWidget và trong hàm tạo, </a:t>
            </a:r>
            <a:r>
              <a:rPr lang="en-US" sz="2400"/>
              <a:t>và tạo </a:t>
            </a:r>
            <a:r>
              <a:rPr lang="vi-VN" sz="2400"/>
              <a:t>các yêu cầu cơ bản của Window như tiêu đề, </a:t>
            </a:r>
            <a:r>
              <a:rPr lang="en-US" sz="2400"/>
              <a:t>vị trí</a:t>
            </a:r>
            <a:r>
              <a:rPr lang="vi-VN" sz="2400"/>
              <a:t>, chiều rộng và chiều cao</a:t>
            </a:r>
            <a:r>
              <a:rPr lang="en-US" sz="2400"/>
              <a:t>, và </a:t>
            </a:r>
            <a:r>
              <a:rPr lang="vi-VN" sz="2400"/>
              <a:t>tạo ra QHBoxLayout với QFrame</a:t>
            </a:r>
          </a:p>
        </p:txBody>
      </p:sp>
      <p:sp>
        <p:nvSpPr>
          <p:cNvPr id="4" name="Title 1">
            <a:extLst>
              <a:ext uri="{FF2B5EF4-FFF2-40B4-BE49-F238E27FC236}">
                <a16:creationId xmlns:a16="http://schemas.microsoft.com/office/drawing/2014/main" id="{82A0BC81-62BD-4E66-8FB3-AE0C19815185}"/>
              </a:ext>
            </a:extLst>
          </p:cNvPr>
          <p:cNvSpPr>
            <a:spLocks noGrp="1"/>
          </p:cNvSpPr>
          <p:nvPr>
            <p:ph type="title"/>
          </p:nvPr>
        </p:nvSpPr>
        <p:spPr>
          <a:xfrm>
            <a:off x="9624" y="19251"/>
            <a:ext cx="9134375" cy="731248"/>
          </a:xfrm>
        </p:spPr>
        <p:txBody>
          <a:bodyPr>
            <a:normAutofit fontScale="90000"/>
          </a:bodyPr>
          <a:lstStyle/>
          <a:p>
            <a:r>
              <a:rPr lang="en-US" b="1"/>
              <a:t>Cách tạo khung trong PyQt5 (QFrame) (t.t)</a:t>
            </a:r>
          </a:p>
        </p:txBody>
      </p:sp>
      <p:sp>
        <p:nvSpPr>
          <p:cNvPr id="5" name="Rectangle 4">
            <a:extLst>
              <a:ext uri="{FF2B5EF4-FFF2-40B4-BE49-F238E27FC236}">
                <a16:creationId xmlns:a16="http://schemas.microsoft.com/office/drawing/2014/main" id="{5663F5F3-F988-445F-90EE-1A93348AAC75}"/>
              </a:ext>
            </a:extLst>
          </p:cNvPr>
          <p:cNvSpPr/>
          <p:nvPr/>
        </p:nvSpPr>
        <p:spPr>
          <a:xfrm>
            <a:off x="3199402" y="750499"/>
            <a:ext cx="5909095" cy="5826210"/>
          </a:xfrm>
          <a:prstGeom prst="rect">
            <a:avLst/>
          </a:prstGeom>
        </p:spPr>
        <p:txBody>
          <a:bodyPr wrap="square">
            <a:spAutoFit/>
          </a:bodyPr>
          <a:lstStyle/>
          <a:p>
            <a:pPr>
              <a:lnSpc>
                <a:spcPct val="90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QWidget</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Frame"</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006FE0"/>
                </a:solidFill>
                <a:latin typeface="inherit"/>
              </a:rPr>
              <a:t> = </a:t>
            </a:r>
            <a:r>
              <a:rPr lang="en-US">
                <a:solidFill>
                  <a:srgbClr val="CE0000"/>
                </a:solidFill>
                <a:latin typeface="inherit"/>
              </a:rPr>
              <a:t>200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006FE0"/>
                </a:solidFill>
                <a:latin typeface="inherit"/>
              </a:rPr>
              <a:t> = </a:t>
            </a:r>
            <a:r>
              <a:rPr lang="en-US">
                <a:solidFill>
                  <a:srgbClr val="CE0000"/>
                </a:solidFill>
                <a:latin typeface="inherit"/>
              </a:rPr>
              <a:t>500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006FE0"/>
                </a:solidFill>
                <a:latin typeface="inherit"/>
              </a:rPr>
              <a:t> = </a:t>
            </a:r>
            <a:r>
              <a:rPr lang="en-US">
                <a:solidFill>
                  <a:srgbClr val="CE0000"/>
                </a:solidFill>
                <a:latin typeface="inherit"/>
              </a:rPr>
              <a:t>400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006FE0"/>
                </a:solidFill>
                <a:latin typeface="inherit"/>
              </a:rPr>
              <a:t> = </a:t>
            </a:r>
            <a:r>
              <a:rPr lang="en-US">
                <a:solidFill>
                  <a:srgbClr val="CE0000"/>
                </a:solidFill>
                <a:latin typeface="inherit"/>
              </a:rPr>
              <a:t>300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"icon.png"</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setWindowTitle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setGeometry</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setStyleSheet</a:t>
            </a:r>
            <a:r>
              <a:rPr lang="en-US">
                <a:solidFill>
                  <a:srgbClr val="333333"/>
                </a:solidFill>
                <a:latin typeface="inherit"/>
              </a:rPr>
              <a:t>(</a:t>
            </a:r>
            <a:r>
              <a:rPr lang="en-US">
                <a:solidFill>
                  <a:srgbClr val="008000"/>
                </a:solidFill>
                <a:latin typeface="inherit"/>
              </a:rPr>
              <a:t>'background-color:brown'</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hbox</a:t>
            </a:r>
            <a:r>
              <a:rPr lang="en-US">
                <a:solidFill>
                  <a:srgbClr val="006FE0"/>
                </a:solidFill>
                <a:latin typeface="inherit"/>
              </a:rPr>
              <a:t> = </a:t>
            </a:r>
            <a:r>
              <a:rPr lang="en-US">
                <a:solidFill>
                  <a:srgbClr val="004ED0"/>
                </a:solidFill>
                <a:latin typeface="inherit"/>
              </a:rPr>
              <a:t>QHBoxLayout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btn1</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"Click Me"</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btn1</a:t>
            </a:r>
            <a:r>
              <a:rPr lang="en-US">
                <a:solidFill>
                  <a:srgbClr val="333333"/>
                </a:solidFill>
                <a:latin typeface="inherit"/>
              </a:rPr>
              <a:t>.</a:t>
            </a:r>
            <a:r>
              <a:rPr lang="en-US">
                <a:solidFill>
                  <a:srgbClr val="004ED0"/>
                </a:solidFill>
                <a:latin typeface="inherit"/>
              </a:rPr>
              <a:t>setStyleSheet</a:t>
            </a:r>
            <a:r>
              <a:rPr lang="en-US">
                <a:solidFill>
                  <a:srgbClr val="333333"/>
                </a:solidFill>
                <a:latin typeface="inherit"/>
              </a:rPr>
              <a:t>(</a:t>
            </a:r>
            <a:r>
              <a:rPr lang="en-US">
                <a:solidFill>
                  <a:srgbClr val="008000"/>
                </a:solidFill>
                <a:latin typeface="inherit"/>
              </a:rPr>
              <a:t>"color:white"</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btn1</a:t>
            </a:r>
            <a:r>
              <a:rPr lang="en-US">
                <a:solidFill>
                  <a:srgbClr val="333333"/>
                </a:solidFill>
                <a:latin typeface="inherit"/>
              </a:rPr>
              <a:t>.</a:t>
            </a:r>
            <a:r>
              <a:rPr lang="en-US">
                <a:solidFill>
                  <a:srgbClr val="004ED0"/>
                </a:solidFill>
                <a:latin typeface="inherit"/>
              </a:rPr>
              <a:t>setStyleSheet</a:t>
            </a:r>
            <a:r>
              <a:rPr lang="en-US">
                <a:solidFill>
                  <a:srgbClr val="333333"/>
                </a:solidFill>
                <a:latin typeface="inherit"/>
              </a:rPr>
              <a:t>(</a:t>
            </a:r>
            <a:r>
              <a:rPr lang="en-US">
                <a:solidFill>
                  <a:srgbClr val="008000"/>
                </a:solidFill>
                <a:latin typeface="inherit"/>
              </a:rPr>
              <a:t>"background-color:green"</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frame</a:t>
            </a:r>
            <a:r>
              <a:rPr lang="en-US">
                <a:solidFill>
                  <a:srgbClr val="006FE0"/>
                </a:solidFill>
                <a:latin typeface="inherit"/>
              </a:rPr>
              <a:t> =</a:t>
            </a:r>
            <a:r>
              <a:rPr lang="en-US">
                <a:solidFill>
                  <a:srgbClr val="004ED0"/>
                </a:solidFill>
                <a:latin typeface="inherit"/>
              </a:rPr>
              <a:t>QFrame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frame</a:t>
            </a:r>
            <a:r>
              <a:rPr lang="en-US">
                <a:solidFill>
                  <a:srgbClr val="333333"/>
                </a:solidFill>
                <a:latin typeface="inherit"/>
              </a:rPr>
              <a:t>.</a:t>
            </a:r>
            <a:r>
              <a:rPr lang="en-US">
                <a:solidFill>
                  <a:srgbClr val="004ED0"/>
                </a:solidFill>
                <a:latin typeface="inherit"/>
              </a:rPr>
              <a:t>setFrameShape</a:t>
            </a:r>
            <a:r>
              <a:rPr lang="en-US">
                <a:solidFill>
                  <a:srgbClr val="333333"/>
                </a:solidFill>
                <a:latin typeface="inherit"/>
              </a:rPr>
              <a:t>(</a:t>
            </a:r>
            <a:r>
              <a:rPr lang="en-US">
                <a:solidFill>
                  <a:srgbClr val="002D7A"/>
                </a:solidFill>
                <a:latin typeface="inherit"/>
              </a:rPr>
              <a:t>QFrame</a:t>
            </a:r>
            <a:r>
              <a:rPr lang="en-US">
                <a:solidFill>
                  <a:srgbClr val="333333"/>
                </a:solidFill>
                <a:latin typeface="inherit"/>
              </a:rPr>
              <a:t>.</a:t>
            </a:r>
            <a:r>
              <a:rPr lang="en-US">
                <a:solidFill>
                  <a:srgbClr val="002D7A"/>
                </a:solidFill>
                <a:latin typeface="inherit"/>
              </a:rPr>
              <a:t>StyledPanel</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frame</a:t>
            </a:r>
            <a:r>
              <a:rPr lang="en-US">
                <a:solidFill>
                  <a:srgbClr val="333333"/>
                </a:solidFill>
                <a:latin typeface="inherit"/>
              </a:rPr>
              <a:t>.</a:t>
            </a:r>
            <a:r>
              <a:rPr lang="en-US">
                <a:solidFill>
                  <a:srgbClr val="004ED0"/>
                </a:solidFill>
                <a:latin typeface="inherit"/>
              </a:rPr>
              <a:t>setLineWidth</a:t>
            </a:r>
            <a:r>
              <a:rPr lang="en-US">
                <a:solidFill>
                  <a:srgbClr val="333333"/>
                </a:solidFill>
                <a:latin typeface="inherit"/>
              </a:rPr>
              <a:t>(</a:t>
            </a:r>
            <a:r>
              <a:rPr lang="en-US">
                <a:solidFill>
                  <a:srgbClr val="CE0000"/>
                </a:solidFill>
                <a:latin typeface="inherit"/>
              </a:rPr>
              <a:t>0.6</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002D7A"/>
                </a:solidFill>
                <a:latin typeface="inherit"/>
              </a:rPr>
              <a:t>frame</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002D7A"/>
                </a:solidFill>
                <a:latin typeface="inherit"/>
              </a:rPr>
              <a:t>btn1</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hbox</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endParaRPr lang="en-US" b="0" i="0">
              <a:solidFill>
                <a:srgbClr val="000000"/>
              </a:solidFill>
              <a:effectLst/>
              <a:latin typeface="Monaco"/>
            </a:endParaRPr>
          </a:p>
        </p:txBody>
      </p:sp>
      <p:pic>
        <p:nvPicPr>
          <p:cNvPr id="4098" name="Picture 2" descr="How To Create Frame In PyQt5 (QFrame)">
            <a:extLst>
              <a:ext uri="{FF2B5EF4-FFF2-40B4-BE49-F238E27FC236}">
                <a16:creationId xmlns:a16="http://schemas.microsoft.com/office/drawing/2014/main" id="{5439C3EF-A2A7-4697-8EEA-18EE84113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0" y="4177381"/>
            <a:ext cx="3339142" cy="2646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0200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2BF41-7229-447A-B9E2-10C9C9242BAB}"/>
              </a:ext>
            </a:extLst>
          </p:cNvPr>
          <p:cNvSpPr>
            <a:spLocks noGrp="1"/>
          </p:cNvSpPr>
          <p:nvPr>
            <p:ph type="title"/>
          </p:nvPr>
        </p:nvSpPr>
        <p:spPr>
          <a:xfrm>
            <a:off x="9624" y="19250"/>
            <a:ext cx="9134375" cy="710901"/>
          </a:xfrm>
        </p:spPr>
        <p:txBody>
          <a:bodyPr>
            <a:normAutofit/>
          </a:bodyPr>
          <a:lstStyle/>
          <a:p>
            <a:r>
              <a:rPr lang="en-US" b="1"/>
              <a:t>Cách tạo QSplitter</a:t>
            </a:r>
          </a:p>
        </p:txBody>
      </p:sp>
      <p:sp>
        <p:nvSpPr>
          <p:cNvPr id="3" name="Content Placeholder 2">
            <a:extLst>
              <a:ext uri="{FF2B5EF4-FFF2-40B4-BE49-F238E27FC236}">
                <a16:creationId xmlns:a16="http://schemas.microsoft.com/office/drawing/2014/main" id="{60E2477C-3B6C-49E0-A43C-FD4E8CC3D67A}"/>
              </a:ext>
            </a:extLst>
          </p:cNvPr>
          <p:cNvSpPr>
            <a:spLocks noGrp="1"/>
          </p:cNvSpPr>
          <p:nvPr>
            <p:ph idx="1"/>
          </p:nvPr>
        </p:nvSpPr>
        <p:spPr>
          <a:xfrm>
            <a:off x="9624" y="730151"/>
            <a:ext cx="9134375" cy="5953323"/>
          </a:xfrm>
        </p:spPr>
        <p:txBody>
          <a:bodyPr>
            <a:normAutofit/>
          </a:bodyPr>
          <a:lstStyle/>
          <a:p>
            <a:pPr marL="0" indent="0">
              <a:buNone/>
            </a:pPr>
            <a:r>
              <a:rPr lang="vi-VN"/>
              <a:t>PyQt5 </a:t>
            </a:r>
            <a:r>
              <a:rPr lang="vi-VN">
                <a:hlinkClick r:id="rId3"/>
              </a:rPr>
              <a:t>QSplitter là</a:t>
            </a:r>
            <a:r>
              <a:rPr lang="vi-VN"/>
              <a:t> gì?</a:t>
            </a:r>
            <a:r>
              <a:rPr lang="en-US"/>
              <a:t> </a:t>
            </a:r>
            <a:r>
              <a:rPr lang="vi-VN"/>
              <a:t>Splitter là một </a:t>
            </a:r>
            <a:r>
              <a:rPr lang="en-US"/>
              <a:t>widget </a:t>
            </a:r>
            <a:r>
              <a:rPr lang="vi-VN"/>
              <a:t>lớp tổ chức trong PyQt5, cung cấp một cách để chèn các widget con mà sau đó có thể được cung cấp một lượng không gian khác nhau. Lượng không gian cho phép được điều chỉnh bởi người dùng bằng cách sử dụng tay cầm trên Splitter. Tiện ích này thường được thấy trong Trình quản lý tệp </a:t>
            </a:r>
            <a:r>
              <a:rPr lang="en-US"/>
              <a:t>(File Managers) </a:t>
            </a:r>
            <a:r>
              <a:rPr lang="vi-VN"/>
              <a:t>và Trình duyệt web</a:t>
            </a:r>
            <a:r>
              <a:rPr lang="en-US"/>
              <a:t> (Web Browsers)</a:t>
            </a:r>
            <a:r>
              <a:rPr lang="vi-VN"/>
              <a:t> trong đó nội dung chính cũng có thể cần chia sẻ không gian với một sidepanel như chế độ xem dạng cây hoặc danh sách dấu trang.</a:t>
            </a:r>
          </a:p>
          <a:p>
            <a:endParaRPr lang="en-US"/>
          </a:p>
        </p:txBody>
      </p:sp>
      <p:sp>
        <p:nvSpPr>
          <p:cNvPr id="4" name="Rectangle 3">
            <a:extLst>
              <a:ext uri="{FF2B5EF4-FFF2-40B4-BE49-F238E27FC236}">
                <a16:creationId xmlns:a16="http://schemas.microsoft.com/office/drawing/2014/main" id="{B10987A1-552C-4C38-A973-819C9BE5BB6A}"/>
              </a:ext>
            </a:extLst>
          </p:cNvPr>
          <p:cNvSpPr/>
          <p:nvPr/>
        </p:nvSpPr>
        <p:spPr>
          <a:xfrm>
            <a:off x="1" y="4611231"/>
            <a:ext cx="9134375" cy="2246769"/>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r>
              <a:rPr lang="en-US" sz="2800">
                <a:solidFill>
                  <a:srgbClr val="006FE0"/>
                </a:solidFill>
                <a:latin typeface="inherit"/>
              </a:rPr>
              <a:t> </a:t>
            </a:r>
          </a:p>
          <a:p>
            <a:pPr algn="r"/>
            <a:r>
              <a:rPr lang="en-US" sz="2800">
                <a:solidFill>
                  <a:srgbClr val="002D7A"/>
                </a:solidFill>
                <a:latin typeface="inherit"/>
              </a:rPr>
              <a:t>QFrame</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QLineEdit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QHBoxLayout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QSplitter</a:t>
            </a:r>
            <a:endParaRPr lang="en-US" sz="2800">
              <a:solidFill>
                <a:srgbClr val="000000"/>
              </a:solidFill>
              <a:latin typeface="Monaco"/>
            </a:endParaRPr>
          </a:p>
          <a:p>
            <a:r>
              <a:rPr lang="en-US" sz="2800">
                <a:solidFill>
                  <a:srgbClr val="004ED0"/>
                </a:solidFill>
                <a:latin typeface="inherit"/>
              </a:rPr>
              <a:t>import sys</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QtCore import </a:t>
            </a:r>
            <a:r>
              <a:rPr lang="en-US" sz="2800">
                <a:solidFill>
                  <a:srgbClr val="002D7A"/>
                </a:solidFill>
                <a:latin typeface="inherit"/>
              </a:rPr>
              <a:t>Qt</a:t>
            </a:r>
            <a:endParaRPr lang="en-US" sz="2800" b="0" i="0">
              <a:solidFill>
                <a:srgbClr val="000000"/>
              </a:solidFill>
              <a:effectLst/>
              <a:latin typeface="Monaco"/>
            </a:endParaRPr>
          </a:p>
        </p:txBody>
      </p:sp>
    </p:spTree>
    <p:extLst>
      <p:ext uri="{BB962C8B-B14F-4D97-AF65-F5344CB8AC3E}">
        <p14:creationId xmlns:p14="http://schemas.microsoft.com/office/powerpoint/2010/main" val="4154920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B552DA-95EA-4D3B-B23C-75BDE7AE5EDA}"/>
              </a:ext>
            </a:extLst>
          </p:cNvPr>
          <p:cNvSpPr>
            <a:spLocks noGrp="1"/>
          </p:cNvSpPr>
          <p:nvPr>
            <p:ph idx="1"/>
          </p:nvPr>
        </p:nvSpPr>
        <p:spPr>
          <a:xfrm>
            <a:off x="9625" y="1468488"/>
            <a:ext cx="2897476" cy="2076969"/>
          </a:xfrm>
        </p:spPr>
        <p:txBody>
          <a:bodyPr/>
          <a:lstStyle/>
          <a:p>
            <a:pPr marL="0" indent="0">
              <a:buNone/>
            </a:pPr>
            <a:r>
              <a:rPr lang="en-US"/>
              <a:t>Tạo lớp Window kế thừa từ QWidget và tạo QSplitter trong lớp Window</a:t>
            </a:r>
          </a:p>
        </p:txBody>
      </p:sp>
      <p:sp>
        <p:nvSpPr>
          <p:cNvPr id="4" name="Title 1">
            <a:extLst>
              <a:ext uri="{FF2B5EF4-FFF2-40B4-BE49-F238E27FC236}">
                <a16:creationId xmlns:a16="http://schemas.microsoft.com/office/drawing/2014/main" id="{C44C9FD8-233C-4659-887C-AD258D4AE3BF}"/>
              </a:ext>
            </a:extLst>
          </p:cNvPr>
          <p:cNvSpPr>
            <a:spLocks noGrp="1"/>
          </p:cNvSpPr>
          <p:nvPr>
            <p:ph type="title"/>
          </p:nvPr>
        </p:nvSpPr>
        <p:spPr>
          <a:xfrm>
            <a:off x="9625" y="19250"/>
            <a:ext cx="2897478" cy="1429988"/>
          </a:xfrm>
        </p:spPr>
        <p:txBody>
          <a:bodyPr>
            <a:normAutofit/>
          </a:bodyPr>
          <a:lstStyle/>
          <a:p>
            <a:r>
              <a:rPr lang="en-US" sz="4000" b="1"/>
              <a:t>Cách tạo QSplitter (t.t)</a:t>
            </a:r>
          </a:p>
        </p:txBody>
      </p:sp>
      <p:sp>
        <p:nvSpPr>
          <p:cNvPr id="5" name="Rectangle 4">
            <a:extLst>
              <a:ext uri="{FF2B5EF4-FFF2-40B4-BE49-F238E27FC236}">
                <a16:creationId xmlns:a16="http://schemas.microsoft.com/office/drawing/2014/main" id="{9DADF90F-5E93-49A8-BE2E-1B459F5490CD}"/>
              </a:ext>
            </a:extLst>
          </p:cNvPr>
          <p:cNvSpPr/>
          <p:nvPr/>
        </p:nvSpPr>
        <p:spPr>
          <a:xfrm>
            <a:off x="2907102" y="0"/>
            <a:ext cx="6227273" cy="7197355"/>
          </a:xfrm>
          <a:prstGeom prst="rect">
            <a:avLst/>
          </a:prstGeom>
        </p:spPr>
        <p:txBody>
          <a:bodyPr wrap="square">
            <a:spAutoFit/>
          </a:bodyPr>
          <a:lstStyle/>
          <a:p>
            <a:pPr>
              <a:lnSpc>
                <a:spcPct val="90000"/>
              </a:lnSpc>
            </a:pPr>
            <a:r>
              <a:rPr lang="en-US" sz="1900">
                <a:solidFill>
                  <a:srgbClr val="800080"/>
                </a:solidFill>
                <a:latin typeface="inherit"/>
              </a:rPr>
              <a:t>class</a:t>
            </a:r>
            <a:r>
              <a:rPr lang="en-US" sz="1900">
                <a:solidFill>
                  <a:srgbClr val="006FE0"/>
                </a:solidFill>
                <a:latin typeface="inherit"/>
              </a:rPr>
              <a:t> </a:t>
            </a:r>
            <a:r>
              <a:rPr lang="en-US" sz="1900">
                <a:solidFill>
                  <a:srgbClr val="004ED0"/>
                </a:solidFill>
                <a:latin typeface="inherit"/>
              </a:rPr>
              <a:t>Window</a:t>
            </a:r>
            <a:r>
              <a:rPr lang="en-US" sz="1900">
                <a:solidFill>
                  <a:srgbClr val="333333"/>
                </a:solidFill>
                <a:latin typeface="inherit"/>
              </a:rPr>
              <a:t>(</a:t>
            </a:r>
            <a:r>
              <a:rPr lang="en-US" sz="1900">
                <a:solidFill>
                  <a:srgbClr val="002D7A"/>
                </a:solidFill>
                <a:latin typeface="inherit"/>
              </a:rPr>
              <a:t>QWidget</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4ED0"/>
                </a:solidFill>
                <a:latin typeface="inherit"/>
              </a:rPr>
              <a:t>def __init__</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super</a:t>
            </a:r>
            <a:r>
              <a:rPr lang="en-US" sz="1900">
                <a:solidFill>
                  <a:srgbClr val="333333"/>
                </a:solidFill>
                <a:latin typeface="inherit"/>
              </a:rPr>
              <a:t>().</a:t>
            </a:r>
            <a:r>
              <a:rPr lang="en-US" sz="1900">
                <a:solidFill>
                  <a:srgbClr val="004ED0"/>
                </a:solidFill>
                <a:latin typeface="inherit"/>
              </a:rPr>
              <a:t>__init__</a:t>
            </a:r>
            <a:r>
              <a:rPr lang="en-US" sz="1900">
                <a:solidFill>
                  <a:srgbClr val="333333"/>
                </a:solidFill>
                <a:latin typeface="inherit"/>
              </a:rPr>
              <a:t>()</a:t>
            </a:r>
            <a:endParaRPr lang="en-US" sz="1900">
              <a:solidFill>
                <a:srgbClr val="000000"/>
              </a:solidFill>
              <a:latin typeface="Monaco"/>
            </a:endParaRPr>
          </a:p>
          <a:p>
            <a:pPr lvl="1">
              <a:lnSpc>
                <a:spcPct val="90000"/>
              </a:lnSpc>
            </a:pP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hbox</a:t>
            </a:r>
            <a:r>
              <a:rPr lang="en-US" sz="1900">
                <a:solidFill>
                  <a:srgbClr val="006FE0"/>
                </a:solidFill>
                <a:latin typeface="inherit"/>
              </a:rPr>
              <a:t> = </a:t>
            </a:r>
            <a:r>
              <a:rPr lang="en-US" sz="1900">
                <a:solidFill>
                  <a:srgbClr val="004ED0"/>
                </a:solidFill>
                <a:latin typeface="inherit"/>
              </a:rPr>
              <a:t>QHBoxLayout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left</a:t>
            </a:r>
            <a:r>
              <a:rPr lang="en-US" sz="1900">
                <a:solidFill>
                  <a:srgbClr val="006FE0"/>
                </a:solidFill>
                <a:latin typeface="inherit"/>
              </a:rPr>
              <a:t> = </a:t>
            </a:r>
            <a:r>
              <a:rPr lang="en-US" sz="1900">
                <a:solidFill>
                  <a:srgbClr val="004ED0"/>
                </a:solidFill>
                <a:latin typeface="inherit"/>
              </a:rPr>
              <a:t>QFrame</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left</a:t>
            </a:r>
            <a:r>
              <a:rPr lang="en-US" sz="1900">
                <a:solidFill>
                  <a:srgbClr val="333333"/>
                </a:solidFill>
                <a:latin typeface="inherit"/>
              </a:rPr>
              <a:t>.</a:t>
            </a:r>
            <a:r>
              <a:rPr lang="en-US" sz="1900">
                <a:solidFill>
                  <a:srgbClr val="004ED0"/>
                </a:solidFill>
                <a:latin typeface="inherit"/>
              </a:rPr>
              <a:t>setFrameShape</a:t>
            </a:r>
            <a:r>
              <a:rPr lang="en-US" sz="1900">
                <a:solidFill>
                  <a:srgbClr val="333333"/>
                </a:solidFill>
                <a:latin typeface="inherit"/>
              </a:rPr>
              <a:t>(</a:t>
            </a:r>
            <a:r>
              <a:rPr lang="en-US" sz="1900">
                <a:solidFill>
                  <a:srgbClr val="002D7A"/>
                </a:solidFill>
                <a:latin typeface="inherit"/>
              </a:rPr>
              <a:t>QFrame</a:t>
            </a:r>
            <a:r>
              <a:rPr lang="en-US" sz="1900">
                <a:solidFill>
                  <a:srgbClr val="333333"/>
                </a:solidFill>
                <a:latin typeface="inherit"/>
              </a:rPr>
              <a:t>.</a:t>
            </a:r>
            <a:r>
              <a:rPr lang="en-US" sz="1900">
                <a:solidFill>
                  <a:srgbClr val="002D7A"/>
                </a:solidFill>
                <a:latin typeface="inherit"/>
              </a:rPr>
              <a:t>StyledPanel</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bottom</a:t>
            </a:r>
            <a:r>
              <a:rPr lang="en-US" sz="1900">
                <a:solidFill>
                  <a:srgbClr val="006FE0"/>
                </a:solidFill>
                <a:latin typeface="inherit"/>
              </a:rPr>
              <a:t> = </a:t>
            </a:r>
            <a:r>
              <a:rPr lang="en-US" sz="1900">
                <a:solidFill>
                  <a:srgbClr val="004ED0"/>
                </a:solidFill>
                <a:latin typeface="inherit"/>
              </a:rPr>
              <a:t>QFrame</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bottom</a:t>
            </a:r>
            <a:r>
              <a:rPr lang="en-US" sz="1900">
                <a:solidFill>
                  <a:srgbClr val="333333"/>
                </a:solidFill>
                <a:latin typeface="inherit"/>
              </a:rPr>
              <a:t>.</a:t>
            </a:r>
            <a:r>
              <a:rPr lang="en-US" sz="1900">
                <a:solidFill>
                  <a:srgbClr val="004ED0"/>
                </a:solidFill>
                <a:latin typeface="inherit"/>
              </a:rPr>
              <a:t>setFrameShape</a:t>
            </a:r>
            <a:r>
              <a:rPr lang="en-US" sz="1900">
                <a:solidFill>
                  <a:srgbClr val="333333"/>
                </a:solidFill>
                <a:latin typeface="inherit"/>
              </a:rPr>
              <a:t>(</a:t>
            </a:r>
            <a:r>
              <a:rPr lang="en-US" sz="1900">
                <a:solidFill>
                  <a:srgbClr val="002D7A"/>
                </a:solidFill>
                <a:latin typeface="inherit"/>
              </a:rPr>
              <a:t>QFrame</a:t>
            </a:r>
            <a:r>
              <a:rPr lang="en-US" sz="1900">
                <a:solidFill>
                  <a:srgbClr val="333333"/>
                </a:solidFill>
                <a:latin typeface="inherit"/>
              </a:rPr>
              <a:t>.</a:t>
            </a:r>
            <a:r>
              <a:rPr lang="en-US" sz="1900">
                <a:solidFill>
                  <a:srgbClr val="002D7A"/>
                </a:solidFill>
                <a:latin typeface="inherit"/>
              </a:rPr>
              <a:t>StyledPanel</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splitter1</a:t>
            </a:r>
            <a:r>
              <a:rPr lang="en-US" sz="1900">
                <a:solidFill>
                  <a:srgbClr val="006FE0"/>
                </a:solidFill>
                <a:latin typeface="inherit"/>
              </a:rPr>
              <a:t> = </a:t>
            </a:r>
            <a:r>
              <a:rPr lang="en-US" sz="1900">
                <a:solidFill>
                  <a:srgbClr val="004ED0"/>
                </a:solidFill>
                <a:latin typeface="inherit"/>
              </a:rPr>
              <a:t>QSplitter</a:t>
            </a:r>
            <a:r>
              <a:rPr lang="en-US" sz="1900">
                <a:solidFill>
                  <a:srgbClr val="333333"/>
                </a:solidFill>
                <a:latin typeface="inherit"/>
              </a:rPr>
              <a:t>(</a:t>
            </a:r>
            <a:r>
              <a:rPr lang="en-US" sz="1900">
                <a:solidFill>
                  <a:srgbClr val="002D7A"/>
                </a:solidFill>
                <a:latin typeface="inherit"/>
              </a:rPr>
              <a:t>Qt</a:t>
            </a:r>
            <a:r>
              <a:rPr lang="en-US" sz="1900">
                <a:solidFill>
                  <a:srgbClr val="333333"/>
                </a:solidFill>
                <a:latin typeface="inherit"/>
              </a:rPr>
              <a:t>.</a:t>
            </a:r>
            <a:r>
              <a:rPr lang="en-US" sz="1900">
                <a:solidFill>
                  <a:srgbClr val="002D7A"/>
                </a:solidFill>
                <a:latin typeface="inherit"/>
              </a:rPr>
              <a:t>Horizontal</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splitter1</a:t>
            </a:r>
            <a:r>
              <a:rPr lang="en-US" sz="1900">
                <a:solidFill>
                  <a:srgbClr val="333333"/>
                </a:solidFill>
                <a:latin typeface="inherit"/>
              </a:rPr>
              <a:t>.</a:t>
            </a:r>
            <a:r>
              <a:rPr lang="en-US" sz="1900">
                <a:solidFill>
                  <a:srgbClr val="004ED0"/>
                </a:solidFill>
                <a:latin typeface="inherit"/>
              </a:rPr>
              <a:t>setStyleSheet</a:t>
            </a:r>
            <a:r>
              <a:rPr lang="en-US" sz="1900">
                <a:solidFill>
                  <a:srgbClr val="333333"/>
                </a:solidFill>
                <a:latin typeface="inherit"/>
              </a:rPr>
              <a:t>(</a:t>
            </a:r>
            <a:r>
              <a:rPr lang="en-US" sz="1900">
                <a:solidFill>
                  <a:srgbClr val="008000"/>
                </a:solidFill>
                <a:latin typeface="inherit"/>
              </a:rPr>
              <a:t>'background-color:red'</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lineedit</a:t>
            </a:r>
            <a:r>
              <a:rPr lang="en-US" sz="1900">
                <a:solidFill>
                  <a:srgbClr val="006FE0"/>
                </a:solidFill>
                <a:latin typeface="inherit"/>
              </a:rPr>
              <a:t> = </a:t>
            </a:r>
            <a:r>
              <a:rPr lang="en-US" sz="1900">
                <a:solidFill>
                  <a:srgbClr val="004ED0"/>
                </a:solidFill>
                <a:latin typeface="inherit"/>
              </a:rPr>
              <a:t>QLineEdit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lineedit</a:t>
            </a:r>
            <a:r>
              <a:rPr lang="en-US" sz="1900">
                <a:solidFill>
                  <a:srgbClr val="333333"/>
                </a:solidFill>
                <a:latin typeface="inherit"/>
              </a:rPr>
              <a:t>.</a:t>
            </a:r>
            <a:r>
              <a:rPr lang="en-US" sz="1900">
                <a:solidFill>
                  <a:srgbClr val="004ED0"/>
                </a:solidFill>
                <a:latin typeface="inherit"/>
              </a:rPr>
              <a:t>setStyleSheet</a:t>
            </a:r>
            <a:r>
              <a:rPr lang="en-US" sz="1900">
                <a:solidFill>
                  <a:srgbClr val="333333"/>
                </a:solidFill>
                <a:latin typeface="inherit"/>
              </a:rPr>
              <a:t>(</a:t>
            </a:r>
            <a:r>
              <a:rPr lang="en-US" sz="1900">
                <a:solidFill>
                  <a:srgbClr val="008000"/>
                </a:solidFill>
                <a:latin typeface="inherit"/>
              </a:rPr>
              <a:t>'background-color:green'</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splitter1</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002D7A"/>
                </a:solidFill>
                <a:latin typeface="inherit"/>
              </a:rPr>
              <a:t>left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splitter1</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002D7A"/>
                </a:solidFill>
                <a:latin typeface="inherit"/>
              </a:rPr>
              <a:t>lineedit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splitter1</a:t>
            </a:r>
            <a:r>
              <a:rPr lang="en-US" sz="1900">
                <a:solidFill>
                  <a:srgbClr val="333333"/>
                </a:solidFill>
                <a:latin typeface="inherit"/>
              </a:rPr>
              <a:t>.</a:t>
            </a:r>
            <a:r>
              <a:rPr lang="en-US" sz="1900">
                <a:solidFill>
                  <a:srgbClr val="004ED0"/>
                </a:solidFill>
                <a:latin typeface="inherit"/>
              </a:rPr>
              <a:t>setSizes</a:t>
            </a:r>
            <a:r>
              <a:rPr lang="en-US" sz="1900">
                <a:solidFill>
                  <a:srgbClr val="333333"/>
                </a:solidFill>
                <a:latin typeface="inherit"/>
              </a:rPr>
              <a:t>([</a:t>
            </a:r>
            <a:r>
              <a:rPr lang="en-US" sz="1900">
                <a:solidFill>
                  <a:srgbClr val="CE0000"/>
                </a:solidFill>
                <a:latin typeface="inherit"/>
              </a:rPr>
              <a:t>200</a:t>
            </a:r>
            <a:r>
              <a:rPr lang="en-US" sz="1900">
                <a:solidFill>
                  <a:srgbClr val="333333"/>
                </a:solidFill>
                <a:latin typeface="inherit"/>
              </a:rPr>
              <a:t>,</a:t>
            </a:r>
            <a:r>
              <a:rPr lang="en-US" sz="1900">
                <a:solidFill>
                  <a:srgbClr val="CE0000"/>
                </a:solidFill>
                <a:latin typeface="inherit"/>
              </a:rPr>
              <a:t>200</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spliiter2</a:t>
            </a:r>
            <a:r>
              <a:rPr lang="en-US" sz="1900">
                <a:solidFill>
                  <a:srgbClr val="006FE0"/>
                </a:solidFill>
                <a:latin typeface="inherit"/>
              </a:rPr>
              <a:t> = </a:t>
            </a:r>
            <a:r>
              <a:rPr lang="en-US" sz="1900">
                <a:solidFill>
                  <a:srgbClr val="004ED0"/>
                </a:solidFill>
                <a:latin typeface="inherit"/>
              </a:rPr>
              <a:t>QSplitter</a:t>
            </a:r>
            <a:r>
              <a:rPr lang="en-US" sz="1900">
                <a:solidFill>
                  <a:srgbClr val="333333"/>
                </a:solidFill>
                <a:latin typeface="inherit"/>
              </a:rPr>
              <a:t>(</a:t>
            </a:r>
            <a:r>
              <a:rPr lang="en-US" sz="1900">
                <a:solidFill>
                  <a:srgbClr val="002D7A"/>
                </a:solidFill>
                <a:latin typeface="inherit"/>
              </a:rPr>
              <a:t>Qt</a:t>
            </a:r>
            <a:r>
              <a:rPr lang="en-US" sz="1900">
                <a:solidFill>
                  <a:srgbClr val="333333"/>
                </a:solidFill>
                <a:latin typeface="inherit"/>
              </a:rPr>
              <a:t>.</a:t>
            </a:r>
            <a:r>
              <a:rPr lang="en-US" sz="1900">
                <a:solidFill>
                  <a:srgbClr val="002D7A"/>
                </a:solidFill>
                <a:latin typeface="inherit"/>
              </a:rPr>
              <a:t>Vertical</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spliiter2</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002D7A"/>
                </a:solidFill>
                <a:latin typeface="inherit"/>
              </a:rPr>
              <a:t>splitter1</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spliiter2</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002D7A"/>
                </a:solidFill>
                <a:latin typeface="inherit"/>
              </a:rPr>
              <a:t>bottom</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spliiter2</a:t>
            </a:r>
            <a:r>
              <a:rPr lang="en-US" sz="1900">
                <a:solidFill>
                  <a:srgbClr val="333333"/>
                </a:solidFill>
                <a:latin typeface="inherit"/>
              </a:rPr>
              <a:t>.</a:t>
            </a:r>
            <a:r>
              <a:rPr lang="en-US" sz="1900">
                <a:solidFill>
                  <a:srgbClr val="004ED0"/>
                </a:solidFill>
                <a:latin typeface="inherit"/>
              </a:rPr>
              <a:t>setStyleSheet</a:t>
            </a:r>
            <a:r>
              <a:rPr lang="en-US" sz="1900">
                <a:solidFill>
                  <a:srgbClr val="333333"/>
                </a:solidFill>
                <a:latin typeface="inherit"/>
              </a:rPr>
              <a:t>(</a:t>
            </a:r>
            <a:r>
              <a:rPr lang="en-US" sz="1900">
                <a:solidFill>
                  <a:srgbClr val="008000"/>
                </a:solidFill>
                <a:latin typeface="inherit"/>
              </a:rPr>
              <a:t>'background-color:yellow'</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hbox</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002D7A"/>
                </a:solidFill>
                <a:latin typeface="inherit"/>
              </a:rPr>
              <a:t>spliiter2</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setLayout</a:t>
            </a:r>
            <a:r>
              <a:rPr lang="en-US" sz="1900">
                <a:solidFill>
                  <a:srgbClr val="333333"/>
                </a:solidFill>
                <a:latin typeface="inherit"/>
              </a:rPr>
              <a:t>(</a:t>
            </a:r>
            <a:r>
              <a:rPr lang="en-US" sz="1900">
                <a:solidFill>
                  <a:srgbClr val="002D7A"/>
                </a:solidFill>
                <a:latin typeface="inherit"/>
              </a:rPr>
              <a:t>hbox</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setWindowIcon</a:t>
            </a:r>
            <a:r>
              <a:rPr lang="en-US" sz="1900">
                <a:solidFill>
                  <a:srgbClr val="333333"/>
                </a:solidFill>
                <a:latin typeface="inherit"/>
              </a:rPr>
              <a:t>(</a:t>
            </a:r>
            <a:r>
              <a:rPr lang="en-US" sz="1900">
                <a:solidFill>
                  <a:srgbClr val="002D7A"/>
                </a:solidFill>
                <a:latin typeface="inherit"/>
              </a:rPr>
              <a:t>QtGui</a:t>
            </a:r>
            <a:r>
              <a:rPr lang="en-US" sz="1900">
                <a:solidFill>
                  <a:srgbClr val="333333"/>
                </a:solidFill>
                <a:latin typeface="inherit"/>
              </a:rPr>
              <a:t>.</a:t>
            </a:r>
            <a:r>
              <a:rPr lang="en-US" sz="1900">
                <a:solidFill>
                  <a:srgbClr val="004ED0"/>
                </a:solidFill>
                <a:latin typeface="inherit"/>
              </a:rPr>
              <a:t>QIcon</a:t>
            </a:r>
            <a:r>
              <a:rPr lang="en-US" sz="1900">
                <a:solidFill>
                  <a:srgbClr val="333333"/>
                </a:solidFill>
                <a:latin typeface="inherit"/>
              </a:rPr>
              <a:t>(</a:t>
            </a:r>
            <a:r>
              <a:rPr lang="en-US" sz="1900">
                <a:solidFill>
                  <a:srgbClr val="008000"/>
                </a:solidFill>
                <a:latin typeface="inherit"/>
              </a:rPr>
              <a:t>"icon.png"</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setWindowTitle</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title</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setGeometry</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left</a:t>
            </a:r>
            <a:r>
              <a:rPr lang="en-US" sz="1900">
                <a:solidFill>
                  <a:srgbClr val="333333"/>
                </a:solidFill>
                <a:latin typeface="inherit"/>
              </a:rPr>
              <a:t>,</a:t>
            </a: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top</a:t>
            </a:r>
            <a:r>
              <a:rPr lang="en-US" sz="1900">
                <a:solidFill>
                  <a:srgbClr val="333333"/>
                </a:solidFill>
                <a:latin typeface="inherit"/>
              </a:rPr>
              <a:t>,</a:t>
            </a: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width</a:t>
            </a:r>
            <a:r>
              <a:rPr lang="en-US" sz="1900">
                <a:solidFill>
                  <a:srgbClr val="333333"/>
                </a:solidFill>
                <a:latin typeface="inherit"/>
              </a:rPr>
              <a:t>,</a:t>
            </a: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height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show</a:t>
            </a:r>
            <a:r>
              <a:rPr lang="en-US" sz="1900">
                <a:solidFill>
                  <a:srgbClr val="333333"/>
                </a:solidFill>
                <a:latin typeface="inherit"/>
              </a:rPr>
              <a:t>()</a:t>
            </a:r>
            <a:endParaRPr lang="en-US" sz="1900" b="0" i="0">
              <a:solidFill>
                <a:srgbClr val="000000"/>
              </a:solidFill>
              <a:effectLst/>
              <a:latin typeface="Monaco"/>
            </a:endParaRPr>
          </a:p>
        </p:txBody>
      </p:sp>
      <p:pic>
        <p:nvPicPr>
          <p:cNvPr id="5122" name="Picture 2" descr="CÃ¡ch táº¡o QSplitter PyQt5 vá»i vÃ­ dá»¥">
            <a:extLst>
              <a:ext uri="{FF2B5EF4-FFF2-40B4-BE49-F238E27FC236}">
                <a16:creationId xmlns:a16="http://schemas.microsoft.com/office/drawing/2014/main" id="{CD8D97FC-3C93-48DD-8214-67B407ACC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 y="3786996"/>
            <a:ext cx="3302056" cy="3026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527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21A33-166A-4767-9B34-D1F866286091}"/>
              </a:ext>
            </a:extLst>
          </p:cNvPr>
          <p:cNvSpPr>
            <a:spLocks noGrp="1"/>
          </p:cNvSpPr>
          <p:nvPr>
            <p:ph type="title"/>
          </p:nvPr>
        </p:nvSpPr>
        <p:spPr>
          <a:xfrm>
            <a:off x="9624" y="19250"/>
            <a:ext cx="9134375" cy="748501"/>
          </a:xfrm>
        </p:spPr>
        <p:txBody>
          <a:bodyPr>
            <a:normAutofit/>
          </a:bodyPr>
          <a:lstStyle/>
          <a:p>
            <a:r>
              <a:rPr lang="en-US"/>
              <a:t>Cách tạo QSlider trong PyQt5</a:t>
            </a:r>
          </a:p>
        </p:txBody>
      </p:sp>
      <p:sp>
        <p:nvSpPr>
          <p:cNvPr id="3" name="Content Placeholder 2">
            <a:extLst>
              <a:ext uri="{FF2B5EF4-FFF2-40B4-BE49-F238E27FC236}">
                <a16:creationId xmlns:a16="http://schemas.microsoft.com/office/drawing/2014/main" id="{7C854610-A114-4E42-BCD1-56420B7B2A3E}"/>
              </a:ext>
            </a:extLst>
          </p:cNvPr>
          <p:cNvSpPr>
            <a:spLocks noGrp="1"/>
          </p:cNvSpPr>
          <p:nvPr>
            <p:ph idx="1"/>
          </p:nvPr>
        </p:nvSpPr>
        <p:spPr>
          <a:xfrm>
            <a:off x="9624" y="767751"/>
            <a:ext cx="9134375" cy="6070999"/>
          </a:xfrm>
        </p:spPr>
        <p:txBody>
          <a:bodyPr>
            <a:normAutofit/>
          </a:bodyPr>
          <a:lstStyle/>
          <a:p>
            <a:r>
              <a:rPr lang="en-US"/>
              <a:t>Phần này </a:t>
            </a:r>
            <a:r>
              <a:rPr lang="vi-VN"/>
              <a:t>chúng ta sẽ nói về </a:t>
            </a:r>
            <a:r>
              <a:rPr lang="en-US"/>
              <a:t>c</a:t>
            </a:r>
            <a:r>
              <a:rPr lang="vi-VN"/>
              <a:t>ách tạo </a:t>
            </a:r>
            <a:r>
              <a:rPr lang="vi-VN">
                <a:hlinkClick r:id="rId3"/>
              </a:rPr>
              <a:t>QSlider</a:t>
            </a:r>
            <a:r>
              <a:rPr lang="vi-VN"/>
              <a:t> trong PyQt5. Chúng t</a:t>
            </a:r>
            <a:r>
              <a:rPr lang="en-US"/>
              <a:t>a</a:t>
            </a:r>
            <a:r>
              <a:rPr lang="vi-VN"/>
              <a:t> sử dụng lớp QSlider để tạo thanh trượt trong PyQt5, </a:t>
            </a:r>
            <a:r>
              <a:rPr lang="en-US"/>
              <a:t>và xem cách </a:t>
            </a:r>
            <a:r>
              <a:rPr lang="vi-VN"/>
              <a:t>làm thế nào có thể sử dụng </a:t>
            </a:r>
            <a:r>
              <a:rPr lang="en-US"/>
              <a:t>signal </a:t>
            </a:r>
            <a:r>
              <a:rPr lang="vi-VN"/>
              <a:t>valueChanged() với Thanh trượt.</a:t>
            </a:r>
          </a:p>
          <a:p>
            <a:r>
              <a:rPr lang="vi-VN"/>
              <a:t>Thanh trượt là </a:t>
            </a:r>
            <a:r>
              <a:rPr lang="en-US"/>
              <a:t>widget </a:t>
            </a:r>
            <a:r>
              <a:rPr lang="vi-VN"/>
              <a:t>cổ điển để kiểm soát giá trị giới hạn. Nó cho phép người dùng di chuyển một tay cầm trượt dọc theo </a:t>
            </a:r>
            <a:r>
              <a:rPr lang="en-US"/>
              <a:t>rãnh </a:t>
            </a:r>
            <a:r>
              <a:rPr lang="vi-VN"/>
              <a:t>ngang</a:t>
            </a:r>
            <a:r>
              <a:rPr lang="en-US"/>
              <a:t> </a:t>
            </a:r>
            <a:r>
              <a:rPr lang="vi-VN"/>
              <a:t>hoặc rãnh dọc và chuyển vị trí của tay cầm thành một giá trị nguyên trong phạm vi </a:t>
            </a:r>
            <a:r>
              <a:rPr lang="en-US"/>
              <a:t>cho phép</a:t>
            </a:r>
            <a:r>
              <a:rPr lang="vi-VN"/>
              <a:t>.</a:t>
            </a:r>
          </a:p>
        </p:txBody>
      </p:sp>
      <p:sp>
        <p:nvSpPr>
          <p:cNvPr id="4" name="Rectangle 3">
            <a:extLst>
              <a:ext uri="{FF2B5EF4-FFF2-40B4-BE49-F238E27FC236}">
                <a16:creationId xmlns:a16="http://schemas.microsoft.com/office/drawing/2014/main" id="{EDB08CFA-53C7-462C-8D6B-4152BECFA876}"/>
              </a:ext>
            </a:extLst>
          </p:cNvPr>
          <p:cNvSpPr/>
          <p:nvPr/>
        </p:nvSpPr>
        <p:spPr>
          <a:xfrm>
            <a:off x="19248" y="4596774"/>
            <a:ext cx="9124752" cy="1938992"/>
          </a:xfrm>
          <a:prstGeom prst="rect">
            <a:avLst/>
          </a:prstGeom>
        </p:spPr>
        <p:txBody>
          <a:bodyPr wrap="square">
            <a:spAutoFit/>
          </a:bodyPr>
          <a:lstStyle/>
          <a:p>
            <a:r>
              <a:rPr lang="en-US" sz="2400">
                <a:solidFill>
                  <a:srgbClr val="004ED0"/>
                </a:solidFill>
                <a:latin typeface="inherit"/>
              </a:rPr>
              <a:t>from PyQt5 import QtGui</a:t>
            </a:r>
            <a:endParaRPr lang="en-US" sz="2400">
              <a:solidFill>
                <a:srgbClr val="000000"/>
              </a:solidFill>
              <a:latin typeface="Monaco"/>
            </a:endParaRPr>
          </a:p>
          <a:p>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QtWidgets import </a:t>
            </a:r>
            <a:r>
              <a:rPr lang="en-US" sz="2400">
                <a:solidFill>
                  <a:srgbClr val="002D7A"/>
                </a:solidFill>
                <a:latin typeface="inherit"/>
              </a:rPr>
              <a:t>QApplication</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QWidget</a:t>
            </a:r>
            <a:r>
              <a:rPr lang="en-US" sz="2400">
                <a:solidFill>
                  <a:srgbClr val="333333"/>
                </a:solidFill>
                <a:latin typeface="inherit"/>
              </a:rPr>
              <a:t>,</a:t>
            </a:r>
            <a:r>
              <a:rPr lang="en-US" sz="2400">
                <a:solidFill>
                  <a:srgbClr val="006FE0"/>
                </a:solidFill>
                <a:latin typeface="inherit"/>
              </a:rPr>
              <a:t> </a:t>
            </a:r>
          </a:p>
          <a:p>
            <a:pPr algn="r"/>
            <a:r>
              <a:rPr lang="en-US" sz="2400">
                <a:solidFill>
                  <a:srgbClr val="002D7A"/>
                </a:solidFill>
                <a:latin typeface="inherit"/>
              </a:rPr>
              <a:t>QHBoxLayout</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QSlider</a:t>
            </a:r>
            <a:r>
              <a:rPr lang="en-US" sz="2400">
                <a:solidFill>
                  <a:srgbClr val="333333"/>
                </a:solidFill>
                <a:latin typeface="inherit"/>
              </a:rPr>
              <a:t>,</a:t>
            </a:r>
            <a:r>
              <a:rPr lang="en-US" sz="2400">
                <a:solidFill>
                  <a:srgbClr val="006FE0"/>
                </a:solidFill>
                <a:latin typeface="inherit"/>
              </a:rPr>
              <a:t> </a:t>
            </a:r>
            <a:r>
              <a:rPr lang="en-US" sz="2400">
                <a:solidFill>
                  <a:srgbClr val="004ED0"/>
                </a:solidFill>
                <a:latin typeface="inherit"/>
              </a:rPr>
              <a:t>QLabel</a:t>
            </a:r>
            <a:endParaRPr lang="en-US" sz="2400">
              <a:solidFill>
                <a:srgbClr val="000000"/>
              </a:solidFill>
              <a:latin typeface="Monaco"/>
            </a:endParaRPr>
          </a:p>
          <a:p>
            <a:r>
              <a:rPr lang="en-US" sz="2400">
                <a:solidFill>
                  <a:srgbClr val="004ED0"/>
                </a:solidFill>
                <a:latin typeface="inherit"/>
              </a:rPr>
              <a:t>import sys</a:t>
            </a:r>
            <a:endParaRPr lang="en-US" sz="2400">
              <a:solidFill>
                <a:srgbClr val="000000"/>
              </a:solidFill>
              <a:latin typeface="Monaco"/>
            </a:endParaRPr>
          </a:p>
          <a:p>
            <a:r>
              <a:rPr lang="en-US" sz="2400">
                <a:solidFill>
                  <a:srgbClr val="004ED0"/>
                </a:solidFill>
                <a:latin typeface="inherit"/>
              </a:rPr>
              <a:t>from </a:t>
            </a:r>
            <a:r>
              <a:rPr lang="en-US" sz="2400">
                <a:solidFill>
                  <a:srgbClr val="002D7A"/>
                </a:solidFill>
                <a:latin typeface="inherit"/>
              </a:rPr>
              <a:t>PyQt5</a:t>
            </a:r>
            <a:r>
              <a:rPr lang="en-US" sz="2400">
                <a:solidFill>
                  <a:srgbClr val="333333"/>
                </a:solidFill>
                <a:latin typeface="inherit"/>
              </a:rPr>
              <a:t>.</a:t>
            </a:r>
            <a:r>
              <a:rPr lang="en-US" sz="2400">
                <a:solidFill>
                  <a:srgbClr val="004ED0"/>
                </a:solidFill>
                <a:latin typeface="inherit"/>
              </a:rPr>
              <a:t>QtCore import </a:t>
            </a:r>
            <a:r>
              <a:rPr lang="en-US" sz="2400">
                <a:solidFill>
                  <a:srgbClr val="002D7A"/>
                </a:solidFill>
                <a:latin typeface="inherit"/>
              </a:rPr>
              <a:t>Qt</a:t>
            </a:r>
            <a:endParaRPr lang="en-US" sz="2400" b="0" i="0">
              <a:solidFill>
                <a:srgbClr val="000000"/>
              </a:solidFill>
              <a:effectLst/>
              <a:latin typeface="Monaco"/>
            </a:endParaRPr>
          </a:p>
        </p:txBody>
      </p:sp>
    </p:spTree>
    <p:extLst>
      <p:ext uri="{BB962C8B-B14F-4D97-AF65-F5344CB8AC3E}">
        <p14:creationId xmlns:p14="http://schemas.microsoft.com/office/powerpoint/2010/main" val="288247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23EE56-EAB1-478A-9B15-073FAE240D60}"/>
              </a:ext>
            </a:extLst>
          </p:cNvPr>
          <p:cNvSpPr>
            <a:spLocks noGrp="1"/>
          </p:cNvSpPr>
          <p:nvPr>
            <p:ph idx="1"/>
          </p:nvPr>
        </p:nvSpPr>
        <p:spPr>
          <a:xfrm>
            <a:off x="9625" y="767751"/>
            <a:ext cx="2500662" cy="6070999"/>
          </a:xfrm>
        </p:spPr>
        <p:txBody>
          <a:bodyPr>
            <a:normAutofit/>
          </a:bodyPr>
          <a:lstStyle/>
          <a:p>
            <a:pPr marL="0" indent="0">
              <a:buNone/>
            </a:pPr>
            <a:r>
              <a:rPr lang="en-US" sz="2400"/>
              <a:t>Kế tiếp</a:t>
            </a:r>
            <a:r>
              <a:rPr lang="vi-VN" sz="2400"/>
              <a:t>, tạo lớp </a:t>
            </a:r>
            <a:r>
              <a:rPr lang="vi-VN" sz="2400">
                <a:hlinkClick r:id="rId2"/>
              </a:rPr>
              <a:t>Window</a:t>
            </a:r>
            <a:r>
              <a:rPr lang="vi-VN" sz="2400"/>
              <a:t> kế thừa từ QWidget và tạo các yêu cầu cơ bản của cửa sổ, </a:t>
            </a:r>
            <a:r>
              <a:rPr lang="en-US" sz="2400"/>
              <a:t>rồi </a:t>
            </a:r>
            <a:r>
              <a:rPr lang="vi-VN" sz="2400"/>
              <a:t>tạo thanh trượt bằng QSlider và thêm một số thuộc tính vào QSlisder của như định hướng setMinimum và setMazmimum, cũng </a:t>
            </a:r>
            <a:r>
              <a:rPr lang="en-US" sz="2400"/>
              <a:t>nh</a:t>
            </a:r>
            <a:r>
              <a:rPr lang="vi-VN" sz="2400"/>
              <a:t>ư</a:t>
            </a:r>
            <a:r>
              <a:rPr lang="en-US" sz="2400"/>
              <a:t> </a:t>
            </a:r>
            <a:r>
              <a:rPr lang="vi-VN" sz="2400"/>
              <a:t>tạo một </a:t>
            </a:r>
            <a:r>
              <a:rPr lang="en-US" sz="2400"/>
              <a:t>slot </a:t>
            </a:r>
            <a:r>
              <a:rPr lang="vi-VN" sz="2400"/>
              <a:t>của ChangeValue</a:t>
            </a:r>
            <a:endParaRPr lang="en-US" sz="2400"/>
          </a:p>
        </p:txBody>
      </p:sp>
      <p:sp>
        <p:nvSpPr>
          <p:cNvPr id="4" name="Title 1">
            <a:extLst>
              <a:ext uri="{FF2B5EF4-FFF2-40B4-BE49-F238E27FC236}">
                <a16:creationId xmlns:a16="http://schemas.microsoft.com/office/drawing/2014/main" id="{765CF823-2DA5-4250-96A0-316A421EF910}"/>
              </a:ext>
            </a:extLst>
          </p:cNvPr>
          <p:cNvSpPr>
            <a:spLocks noGrp="1"/>
          </p:cNvSpPr>
          <p:nvPr>
            <p:ph type="title"/>
          </p:nvPr>
        </p:nvSpPr>
        <p:spPr>
          <a:xfrm>
            <a:off x="9624" y="19250"/>
            <a:ext cx="9134375" cy="748501"/>
          </a:xfrm>
        </p:spPr>
        <p:txBody>
          <a:bodyPr>
            <a:normAutofit/>
          </a:bodyPr>
          <a:lstStyle/>
          <a:p>
            <a:r>
              <a:rPr lang="en-US"/>
              <a:t>Cách tạo QSlider trong PyQt5 (t.t)</a:t>
            </a:r>
          </a:p>
        </p:txBody>
      </p:sp>
      <p:sp>
        <p:nvSpPr>
          <p:cNvPr id="5" name="Rectangle 4">
            <a:extLst>
              <a:ext uri="{FF2B5EF4-FFF2-40B4-BE49-F238E27FC236}">
                <a16:creationId xmlns:a16="http://schemas.microsoft.com/office/drawing/2014/main" id="{B1677376-0C67-441F-986B-4B33831FD1D4}"/>
              </a:ext>
            </a:extLst>
          </p:cNvPr>
          <p:cNvSpPr/>
          <p:nvPr/>
        </p:nvSpPr>
        <p:spPr>
          <a:xfrm>
            <a:off x="3036498" y="948690"/>
            <a:ext cx="6107502" cy="5909310"/>
          </a:xfrm>
          <a:prstGeom prst="rect">
            <a:avLst/>
          </a:prstGeom>
        </p:spPr>
        <p:txBody>
          <a:bodyPr wrap="square">
            <a:spAutoFit/>
          </a:bodyPr>
          <a:lstStyle/>
          <a:p>
            <a:pPr>
              <a:lnSpc>
                <a:spcPct val="90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lvl="1">
              <a:lnSpc>
                <a:spcPct val="90000"/>
              </a:lnSpc>
            </a:pP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hbox</a:t>
            </a:r>
            <a:r>
              <a:rPr lang="en-US" sz="2000">
                <a:solidFill>
                  <a:srgbClr val="006FE0"/>
                </a:solidFill>
                <a:latin typeface="inherit"/>
              </a:rPr>
              <a:t> = </a:t>
            </a:r>
            <a:r>
              <a:rPr lang="en-US" sz="2000">
                <a:solidFill>
                  <a:srgbClr val="004ED0"/>
                </a:solidFill>
                <a:latin typeface="inherit"/>
              </a:rPr>
              <a:t>QHBoxLayout</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006FE0"/>
                </a:solidFill>
                <a:latin typeface="inherit"/>
              </a:rPr>
              <a:t> = </a:t>
            </a:r>
            <a:r>
              <a:rPr lang="en-US" sz="2000">
                <a:solidFill>
                  <a:srgbClr val="004ED0"/>
                </a:solidFill>
                <a:latin typeface="inherit"/>
              </a:rPr>
              <a:t>QSlider</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4ED0"/>
                </a:solidFill>
                <a:latin typeface="inherit"/>
              </a:rPr>
              <a:t>setOrientation</a:t>
            </a:r>
            <a:r>
              <a:rPr lang="en-US" sz="2000">
                <a:solidFill>
                  <a:srgbClr val="333333"/>
                </a:solidFill>
                <a:latin typeface="inherit"/>
              </a:rPr>
              <a:t>(</a:t>
            </a:r>
            <a:r>
              <a:rPr lang="en-US" sz="2000">
                <a:solidFill>
                  <a:srgbClr val="002D7A"/>
                </a:solidFill>
                <a:latin typeface="inherit"/>
              </a:rPr>
              <a:t>Qt</a:t>
            </a:r>
            <a:r>
              <a:rPr lang="en-US" sz="2000">
                <a:solidFill>
                  <a:srgbClr val="333333"/>
                </a:solidFill>
                <a:latin typeface="inherit"/>
              </a:rPr>
              <a:t>.</a:t>
            </a:r>
            <a:r>
              <a:rPr lang="en-US" sz="2000">
                <a:solidFill>
                  <a:srgbClr val="002D7A"/>
                </a:solidFill>
                <a:latin typeface="inherit"/>
              </a:rPr>
              <a:t>Horizontal</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4ED0"/>
                </a:solidFill>
                <a:latin typeface="inherit"/>
              </a:rPr>
              <a:t>setTickPosition</a:t>
            </a:r>
            <a:r>
              <a:rPr lang="en-US" sz="2000">
                <a:solidFill>
                  <a:srgbClr val="333333"/>
                </a:solidFill>
                <a:latin typeface="inherit"/>
              </a:rPr>
              <a:t>(</a:t>
            </a:r>
            <a:r>
              <a:rPr lang="en-US" sz="2000">
                <a:solidFill>
                  <a:srgbClr val="002D7A"/>
                </a:solidFill>
                <a:latin typeface="inherit"/>
              </a:rPr>
              <a:t>QSlider</a:t>
            </a:r>
            <a:r>
              <a:rPr lang="en-US" sz="2000">
                <a:solidFill>
                  <a:srgbClr val="333333"/>
                </a:solidFill>
                <a:latin typeface="inherit"/>
              </a:rPr>
              <a:t>.</a:t>
            </a:r>
            <a:r>
              <a:rPr lang="en-US" sz="2000">
                <a:solidFill>
                  <a:srgbClr val="002D7A"/>
                </a:solidFill>
                <a:latin typeface="inherit"/>
              </a:rPr>
              <a:t>TicksBelow</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4ED0"/>
                </a:solidFill>
                <a:latin typeface="inherit"/>
              </a:rPr>
              <a:t>setTickInterval</a:t>
            </a:r>
            <a:r>
              <a:rPr lang="en-US" sz="2000">
                <a:solidFill>
                  <a:srgbClr val="333333"/>
                </a:solidFill>
                <a:latin typeface="inherit"/>
              </a:rPr>
              <a:t>(</a:t>
            </a:r>
            <a:r>
              <a:rPr lang="en-US" sz="2000">
                <a:solidFill>
                  <a:srgbClr val="CE0000"/>
                </a:solidFill>
                <a:latin typeface="inherit"/>
              </a:rPr>
              <a:t>1</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4ED0"/>
                </a:solidFill>
                <a:latin typeface="inherit"/>
              </a:rPr>
              <a:t>setMinimum</a:t>
            </a:r>
            <a:r>
              <a:rPr lang="en-US" sz="2000">
                <a:solidFill>
                  <a:srgbClr val="333333"/>
                </a:solidFill>
                <a:latin typeface="inherit"/>
              </a:rPr>
              <a:t>(</a:t>
            </a:r>
            <a:r>
              <a:rPr lang="en-US" sz="2000">
                <a:solidFill>
                  <a:srgbClr val="CE0000"/>
                </a:solidFill>
                <a:latin typeface="inherit"/>
              </a:rPr>
              <a:t>0</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4ED0"/>
                </a:solidFill>
                <a:latin typeface="inherit"/>
              </a:rPr>
              <a:t>setMaximum</a:t>
            </a:r>
            <a:r>
              <a:rPr lang="en-US" sz="2000">
                <a:solidFill>
                  <a:srgbClr val="333333"/>
                </a:solidFill>
                <a:latin typeface="inherit"/>
              </a:rPr>
              <a:t>(</a:t>
            </a:r>
            <a:r>
              <a:rPr lang="en-US" sz="2000">
                <a:solidFill>
                  <a:srgbClr val="CE0000"/>
                </a:solidFill>
                <a:latin typeface="inherit"/>
              </a:rPr>
              <a:t>100</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2D7A"/>
                </a:solidFill>
                <a:latin typeface="inherit"/>
              </a:rPr>
              <a:t>valueChanged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changedValue</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006FE0"/>
                </a:solidFill>
                <a:latin typeface="inherit"/>
              </a:rPr>
              <a:t> = </a:t>
            </a:r>
            <a:r>
              <a:rPr lang="en-US" sz="2000">
                <a:solidFill>
                  <a:srgbClr val="004ED0"/>
                </a:solidFill>
                <a:latin typeface="inherit"/>
              </a:rPr>
              <a:t>QLabel</a:t>
            </a:r>
            <a:r>
              <a:rPr lang="en-US" sz="2000">
                <a:solidFill>
                  <a:srgbClr val="333333"/>
                </a:solidFill>
                <a:latin typeface="inherit"/>
              </a:rPr>
              <a:t>(</a:t>
            </a:r>
            <a:r>
              <a:rPr lang="en-US" sz="2000">
                <a:solidFill>
                  <a:srgbClr val="008000"/>
                </a:solidFill>
                <a:latin typeface="inherit"/>
              </a:rPr>
              <a:t>"0"</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15</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hbox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hbox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hbox</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4ED0"/>
                </a:solidFill>
                <a:latin typeface="inherit"/>
              </a:rPr>
              <a:t>def changedValue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size</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slider</a:t>
            </a:r>
            <a:r>
              <a:rPr lang="en-US" sz="2000">
                <a:solidFill>
                  <a:srgbClr val="333333"/>
                </a:solidFill>
                <a:latin typeface="inherit"/>
              </a:rPr>
              <a:t>.</a:t>
            </a:r>
            <a:r>
              <a:rPr lang="en-US" sz="2000">
                <a:solidFill>
                  <a:srgbClr val="004ED0"/>
                </a:solidFill>
                <a:latin typeface="inherit"/>
              </a:rPr>
              <a:t>value</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setText</a:t>
            </a:r>
            <a:r>
              <a:rPr lang="en-US" sz="2000">
                <a:solidFill>
                  <a:srgbClr val="333333"/>
                </a:solidFill>
                <a:latin typeface="inherit"/>
              </a:rPr>
              <a:t>(</a:t>
            </a:r>
            <a:r>
              <a:rPr lang="en-US" sz="2000">
                <a:solidFill>
                  <a:srgbClr val="004ED0"/>
                </a:solidFill>
                <a:latin typeface="inherit"/>
              </a:rPr>
              <a:t>str</a:t>
            </a:r>
            <a:r>
              <a:rPr lang="en-US" sz="2000">
                <a:solidFill>
                  <a:srgbClr val="333333"/>
                </a:solidFill>
                <a:latin typeface="inherit"/>
              </a:rPr>
              <a:t>(</a:t>
            </a:r>
            <a:r>
              <a:rPr lang="en-US" sz="2000">
                <a:solidFill>
                  <a:srgbClr val="002D7A"/>
                </a:solidFill>
                <a:latin typeface="inherit"/>
              </a:rPr>
              <a:t>size</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9542797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B68E5C-FD61-4A36-A541-974D37DEABD9}"/>
              </a:ext>
            </a:extLst>
          </p:cNvPr>
          <p:cNvSpPr>
            <a:spLocks noGrp="1"/>
          </p:cNvSpPr>
          <p:nvPr>
            <p:ph type="title"/>
          </p:nvPr>
        </p:nvSpPr>
        <p:spPr>
          <a:xfrm>
            <a:off x="9624" y="19250"/>
            <a:ext cx="9134375" cy="748501"/>
          </a:xfrm>
        </p:spPr>
        <p:txBody>
          <a:bodyPr>
            <a:normAutofit/>
          </a:bodyPr>
          <a:lstStyle/>
          <a:p>
            <a:r>
              <a:rPr lang="en-US"/>
              <a:t>Cách tạo QSlider trong PyQt5 (t.t)</a:t>
            </a:r>
          </a:p>
        </p:txBody>
      </p:sp>
      <p:pic>
        <p:nvPicPr>
          <p:cNvPr id="6146" name="Picture 2" descr="How To Create QSlider In PyQt5">
            <a:extLst>
              <a:ext uri="{FF2B5EF4-FFF2-40B4-BE49-F238E27FC236}">
                <a16:creationId xmlns:a16="http://schemas.microsoft.com/office/drawing/2014/main" id="{AC7B89C6-9E5A-4BEC-A3CE-36485A073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20" y="805222"/>
            <a:ext cx="7362914" cy="590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1784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C421-CBDB-4931-B8F4-C854C385DA78}"/>
              </a:ext>
            </a:extLst>
          </p:cNvPr>
          <p:cNvSpPr>
            <a:spLocks noGrp="1"/>
          </p:cNvSpPr>
          <p:nvPr>
            <p:ph type="title"/>
          </p:nvPr>
        </p:nvSpPr>
        <p:spPr/>
        <p:txBody>
          <a:bodyPr>
            <a:normAutofit/>
          </a:bodyPr>
          <a:lstStyle/>
          <a:p>
            <a:r>
              <a:rPr lang="en-US"/>
              <a:t>Tạo QScrollArea trong PyQt5</a:t>
            </a:r>
          </a:p>
        </p:txBody>
      </p:sp>
      <p:sp>
        <p:nvSpPr>
          <p:cNvPr id="3" name="Content Placeholder 2">
            <a:extLst>
              <a:ext uri="{FF2B5EF4-FFF2-40B4-BE49-F238E27FC236}">
                <a16:creationId xmlns:a16="http://schemas.microsoft.com/office/drawing/2014/main" id="{B2887AEF-9CF3-480A-AE38-616940EA07FD}"/>
              </a:ext>
            </a:extLst>
          </p:cNvPr>
          <p:cNvSpPr>
            <a:spLocks noGrp="1"/>
          </p:cNvSpPr>
          <p:nvPr>
            <p:ph idx="1"/>
          </p:nvPr>
        </p:nvSpPr>
        <p:spPr/>
        <p:txBody>
          <a:bodyPr>
            <a:normAutofit/>
          </a:bodyPr>
          <a:lstStyle/>
          <a:p>
            <a:pPr marL="0" indent="0">
              <a:buNone/>
            </a:pPr>
            <a:r>
              <a:rPr lang="vi-VN" sz="2400"/>
              <a:t>Lớp QScrollArea cung cấp chế độ xem cuộn lên một </a:t>
            </a:r>
            <a:r>
              <a:rPr lang="en-US" sz="2400"/>
              <a:t>widget </a:t>
            </a:r>
            <a:r>
              <a:rPr lang="vi-VN" sz="2400"/>
              <a:t>khác. Vùng cuộn được sử dụng để hiển thị nội dung của </a:t>
            </a:r>
            <a:r>
              <a:rPr lang="en-US" sz="2400"/>
              <a:t>widget </a:t>
            </a:r>
            <a:r>
              <a:rPr lang="vi-VN" sz="2400"/>
              <a:t>con trong khung. Nếu </a:t>
            </a:r>
            <a:r>
              <a:rPr lang="en-US" sz="2400"/>
              <a:t>widget </a:t>
            </a:r>
            <a:r>
              <a:rPr lang="vi-VN" sz="2400"/>
              <a:t>vượt quá kích thước của khung, chế độ xem có thể cung cấp các thanh cuộn để có thể xem toàn bộ khu vực của </a:t>
            </a:r>
            <a:r>
              <a:rPr lang="en-US" sz="2400"/>
              <a:t>widget </a:t>
            </a:r>
            <a:r>
              <a:rPr lang="vi-VN" sz="2400"/>
              <a:t>con.</a:t>
            </a:r>
            <a:endParaRPr lang="en-US" sz="2400"/>
          </a:p>
        </p:txBody>
      </p:sp>
      <p:sp>
        <p:nvSpPr>
          <p:cNvPr id="4" name="Rectangle 3">
            <a:extLst>
              <a:ext uri="{FF2B5EF4-FFF2-40B4-BE49-F238E27FC236}">
                <a16:creationId xmlns:a16="http://schemas.microsoft.com/office/drawing/2014/main" id="{55E26DF7-C76A-45D0-AB94-9DA92D1E5DB4}"/>
              </a:ext>
            </a:extLst>
          </p:cNvPr>
          <p:cNvSpPr/>
          <p:nvPr/>
        </p:nvSpPr>
        <p:spPr>
          <a:xfrm>
            <a:off x="9624" y="3429000"/>
            <a:ext cx="9124752" cy="2246769"/>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r>
              <a:rPr lang="en-US" sz="2800">
                <a:solidFill>
                  <a:srgbClr val="006FE0"/>
                </a:solidFill>
                <a:latin typeface="inherit"/>
              </a:rPr>
              <a:t> </a:t>
            </a:r>
          </a:p>
          <a:p>
            <a:pPr algn="r"/>
            <a:r>
              <a:rPr lang="en-US" sz="2800">
                <a:solidFill>
                  <a:srgbClr val="002D7A"/>
                </a:solidFill>
                <a:latin typeface="inherit"/>
              </a:rPr>
              <a:t>QScrollArea</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QVBoxLayout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QGroupBox</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QLabel</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QPushButton</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QFormLayout</a:t>
            </a:r>
            <a:endParaRPr lang="en-US" sz="2800">
              <a:solidFill>
                <a:srgbClr val="000000"/>
              </a:solidFill>
              <a:latin typeface="Monaco"/>
            </a:endParaRPr>
          </a:p>
          <a:p>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2118510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245CF6-C432-46E2-A1B2-CEAD7BD680F5}"/>
              </a:ext>
            </a:extLst>
          </p:cNvPr>
          <p:cNvSpPr>
            <a:spLocks noGrp="1"/>
          </p:cNvSpPr>
          <p:nvPr>
            <p:ph idx="1"/>
          </p:nvPr>
        </p:nvSpPr>
        <p:spPr>
          <a:xfrm>
            <a:off x="9623" y="741873"/>
            <a:ext cx="3285667" cy="6096877"/>
          </a:xfrm>
        </p:spPr>
        <p:txBody>
          <a:bodyPr>
            <a:normAutofit/>
          </a:bodyPr>
          <a:lstStyle/>
          <a:p>
            <a:pPr marL="0" indent="0">
              <a:buNone/>
            </a:pPr>
            <a:r>
              <a:rPr lang="en-US" sz="2000"/>
              <a:t>C</a:t>
            </a:r>
            <a:r>
              <a:rPr lang="vi-VN" sz="2000"/>
              <a:t>húng ta sẽ tạo lớp </a:t>
            </a:r>
            <a:r>
              <a:rPr lang="en-US" sz="2000"/>
              <a:t>Window</a:t>
            </a:r>
            <a:r>
              <a:rPr lang="vi-VN" sz="2000"/>
              <a:t> cấp cao nhất kế thừa từ QWidget</a:t>
            </a:r>
            <a:r>
              <a:rPr lang="en-US" sz="2000"/>
              <a:t> </a:t>
            </a:r>
            <a:r>
              <a:rPr lang="vi-VN" sz="2000"/>
              <a:t>và trong hàm tạo, </a:t>
            </a:r>
            <a:r>
              <a:rPr lang="en-US" sz="2000"/>
              <a:t>thiết lập </a:t>
            </a:r>
            <a:r>
              <a:rPr lang="vi-VN" sz="2000"/>
              <a:t>một số yêu cầu </a:t>
            </a:r>
            <a:r>
              <a:rPr lang="en-US" sz="2000"/>
              <a:t>nh</a:t>
            </a:r>
            <a:r>
              <a:rPr lang="vi-VN" sz="2000"/>
              <a:t>ư</a:t>
            </a:r>
            <a:r>
              <a:rPr lang="en-US" sz="2000"/>
              <a:t> các bài tr</a:t>
            </a:r>
            <a:r>
              <a:rPr lang="vi-VN" sz="2000"/>
              <a:t>ư</a:t>
            </a:r>
            <a:r>
              <a:rPr lang="en-US" sz="2000"/>
              <a:t>ớc </a:t>
            </a:r>
            <a:r>
              <a:rPr lang="vi-VN" sz="2000"/>
              <a:t>và tạo QFormLayout với QScrollArea và một số QLabel và QPushButton</a:t>
            </a:r>
          </a:p>
        </p:txBody>
      </p:sp>
      <p:sp>
        <p:nvSpPr>
          <p:cNvPr id="4" name="Title 1">
            <a:extLst>
              <a:ext uri="{FF2B5EF4-FFF2-40B4-BE49-F238E27FC236}">
                <a16:creationId xmlns:a16="http://schemas.microsoft.com/office/drawing/2014/main" id="{0B0E4D62-6D96-4F0D-8E96-EADFA187538D}"/>
              </a:ext>
            </a:extLst>
          </p:cNvPr>
          <p:cNvSpPr>
            <a:spLocks noGrp="1"/>
          </p:cNvSpPr>
          <p:nvPr>
            <p:ph type="title"/>
          </p:nvPr>
        </p:nvSpPr>
        <p:spPr>
          <a:xfrm>
            <a:off x="9624" y="19251"/>
            <a:ext cx="9134375" cy="722622"/>
          </a:xfrm>
        </p:spPr>
        <p:txBody>
          <a:bodyPr>
            <a:normAutofit/>
          </a:bodyPr>
          <a:lstStyle/>
          <a:p>
            <a:r>
              <a:rPr lang="en-US"/>
              <a:t>Tạo QScrollArea trong PyQt5 (t.t)</a:t>
            </a:r>
          </a:p>
        </p:txBody>
      </p:sp>
      <p:sp>
        <p:nvSpPr>
          <p:cNvPr id="5" name="Rectangle 4">
            <a:extLst>
              <a:ext uri="{FF2B5EF4-FFF2-40B4-BE49-F238E27FC236}">
                <a16:creationId xmlns:a16="http://schemas.microsoft.com/office/drawing/2014/main" id="{16455767-0934-46B1-9363-028FC42A626D}"/>
              </a:ext>
            </a:extLst>
          </p:cNvPr>
          <p:cNvSpPr/>
          <p:nvPr/>
        </p:nvSpPr>
        <p:spPr>
          <a:xfrm>
            <a:off x="2924353" y="684217"/>
            <a:ext cx="6210023" cy="6186309"/>
          </a:xfrm>
          <a:prstGeom prst="rect">
            <a:avLst/>
          </a:prstGeom>
        </p:spPr>
        <p:txBody>
          <a:bodyPr wrap="square">
            <a:spAutoFit/>
          </a:bodyPr>
          <a:lstStyle/>
          <a:p>
            <a:pPr>
              <a:lnSpc>
                <a:spcPct val="90000"/>
              </a:lnSpc>
            </a:pPr>
            <a:r>
              <a:rPr lang="en-US" sz="2200">
                <a:solidFill>
                  <a:srgbClr val="800080"/>
                </a:solidFill>
                <a:latin typeface="inherit"/>
              </a:rPr>
              <a:t>class</a:t>
            </a:r>
            <a:r>
              <a:rPr lang="en-US" sz="2200">
                <a:solidFill>
                  <a:srgbClr val="006FE0"/>
                </a:solidFill>
                <a:latin typeface="inherit"/>
              </a:rPr>
              <a:t> </a:t>
            </a:r>
            <a:r>
              <a:rPr lang="en-US" sz="2200">
                <a:solidFill>
                  <a:srgbClr val="004ED0"/>
                </a:solidFill>
                <a:latin typeface="inherit"/>
              </a:rPr>
              <a:t>Window</a:t>
            </a:r>
            <a:r>
              <a:rPr lang="en-US" sz="2200">
                <a:solidFill>
                  <a:srgbClr val="333333"/>
                </a:solidFill>
                <a:latin typeface="inherit"/>
              </a:rPr>
              <a:t>(</a:t>
            </a:r>
            <a:r>
              <a:rPr lang="en-US" sz="2200">
                <a:solidFill>
                  <a:srgbClr val="002D7A"/>
                </a:solidFill>
                <a:latin typeface="inherit"/>
              </a:rPr>
              <a:t>QWidget</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4ED0"/>
                </a:solidFill>
                <a:latin typeface="inherit"/>
              </a:rPr>
              <a:t>def __init__</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 </a:t>
            </a:r>
            <a:r>
              <a:rPr lang="en-US" sz="2200">
                <a:solidFill>
                  <a:srgbClr val="002D7A"/>
                </a:solidFill>
                <a:latin typeface="inherit"/>
              </a:rPr>
              <a:t>val</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800080"/>
                </a:solidFill>
                <a:latin typeface="inherit"/>
              </a:rPr>
              <a:t>super</a:t>
            </a:r>
            <a:r>
              <a:rPr lang="en-US" sz="2200">
                <a:solidFill>
                  <a:srgbClr val="333333"/>
                </a:solidFill>
                <a:latin typeface="inherit"/>
              </a:rPr>
              <a:t>().</a:t>
            </a:r>
            <a:r>
              <a:rPr lang="en-US" sz="2200">
                <a:solidFill>
                  <a:srgbClr val="004ED0"/>
                </a:solidFill>
                <a:latin typeface="inherit"/>
              </a:rPr>
              <a:t>__init__</a:t>
            </a:r>
            <a:r>
              <a:rPr lang="en-US" sz="2200">
                <a:solidFill>
                  <a:srgbClr val="333333"/>
                </a:solidFill>
                <a:latin typeface="inherit"/>
              </a:rPr>
              <a:t>()</a:t>
            </a:r>
            <a:endParaRPr lang="en-US" sz="2200">
              <a:solidFill>
                <a:srgbClr val="000000"/>
              </a:solidFill>
              <a:latin typeface="Monaco"/>
            </a:endParaRPr>
          </a:p>
          <a:p>
            <a:pPr lvl="1">
              <a:lnSpc>
                <a:spcPct val="90000"/>
              </a:lnSpc>
            </a:pPr>
            <a:r>
              <a:rPr lang="en-US" sz="2200">
                <a:solidFill>
                  <a:srgbClr val="006FE0"/>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formLayout</a:t>
            </a:r>
            <a:r>
              <a:rPr lang="en-US" sz="2200">
                <a:solidFill>
                  <a:srgbClr val="006FE0"/>
                </a:solidFill>
                <a:latin typeface="inherit"/>
              </a:rPr>
              <a:t> =</a:t>
            </a:r>
            <a:r>
              <a:rPr lang="en-US" sz="2200">
                <a:solidFill>
                  <a:srgbClr val="004ED0"/>
                </a:solidFill>
                <a:latin typeface="inherit"/>
              </a:rPr>
              <a:t>QFormLayout</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groupBox</a:t>
            </a:r>
            <a:r>
              <a:rPr lang="en-US" sz="2200">
                <a:solidFill>
                  <a:srgbClr val="006FE0"/>
                </a:solidFill>
                <a:latin typeface="inherit"/>
              </a:rPr>
              <a:t> = </a:t>
            </a:r>
            <a:r>
              <a:rPr lang="en-US" sz="2200">
                <a:solidFill>
                  <a:srgbClr val="004ED0"/>
                </a:solidFill>
                <a:latin typeface="inherit"/>
              </a:rPr>
              <a:t>QGroupBox</a:t>
            </a:r>
            <a:r>
              <a:rPr lang="en-US" sz="2200">
                <a:solidFill>
                  <a:srgbClr val="333333"/>
                </a:solidFill>
                <a:latin typeface="inherit"/>
              </a:rPr>
              <a:t>(</a:t>
            </a:r>
            <a:r>
              <a:rPr lang="en-US" sz="2200">
                <a:solidFill>
                  <a:srgbClr val="008000"/>
                </a:solidFill>
                <a:latin typeface="inherit"/>
              </a:rPr>
              <a:t>"This Is Group Box"</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labelLis</a:t>
            </a:r>
            <a:r>
              <a:rPr lang="en-US" sz="2200">
                <a:solidFill>
                  <a:srgbClr val="006FE0"/>
                </a:solidFill>
                <a:latin typeface="inherit"/>
              </a:rPr>
              <a:t> = </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comboList</a:t>
            </a:r>
            <a:r>
              <a:rPr lang="en-US" sz="2200">
                <a:solidFill>
                  <a:srgbClr val="006FE0"/>
                </a:solidFill>
                <a:latin typeface="inherit"/>
              </a:rPr>
              <a:t> = </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800080"/>
                </a:solidFill>
                <a:latin typeface="inherit"/>
              </a:rPr>
              <a:t>for</a:t>
            </a:r>
            <a:r>
              <a:rPr lang="en-US" sz="2200">
                <a:solidFill>
                  <a:srgbClr val="006FE0"/>
                </a:solidFill>
                <a:latin typeface="inherit"/>
              </a:rPr>
              <a:t> </a:t>
            </a:r>
            <a:r>
              <a:rPr lang="en-US" sz="2200">
                <a:solidFill>
                  <a:srgbClr val="000000"/>
                </a:solidFill>
                <a:latin typeface="inherit"/>
              </a:rPr>
              <a:t>i</a:t>
            </a:r>
            <a:r>
              <a:rPr lang="en-US" sz="2200">
                <a:solidFill>
                  <a:srgbClr val="006FE0"/>
                </a:solidFill>
                <a:latin typeface="inherit"/>
              </a:rPr>
              <a:t> </a:t>
            </a:r>
            <a:r>
              <a:rPr lang="en-US" sz="2200">
                <a:solidFill>
                  <a:srgbClr val="800080"/>
                </a:solidFill>
                <a:latin typeface="inherit"/>
              </a:rPr>
              <a:t>in</a:t>
            </a:r>
            <a:r>
              <a:rPr lang="en-US" sz="2200">
                <a:solidFill>
                  <a:srgbClr val="006FE0"/>
                </a:solidFill>
                <a:latin typeface="inherit"/>
              </a:rPr>
              <a:t>  </a:t>
            </a:r>
            <a:r>
              <a:rPr lang="en-US" sz="2200">
                <a:solidFill>
                  <a:srgbClr val="004ED0"/>
                </a:solidFill>
                <a:latin typeface="inherit"/>
              </a:rPr>
              <a:t>range</a:t>
            </a:r>
            <a:r>
              <a:rPr lang="en-US" sz="2200">
                <a:solidFill>
                  <a:srgbClr val="333333"/>
                </a:solidFill>
                <a:latin typeface="inherit"/>
              </a:rPr>
              <a:t>(</a:t>
            </a:r>
            <a:r>
              <a:rPr lang="en-US" sz="2200">
                <a:solidFill>
                  <a:srgbClr val="002D7A"/>
                </a:solidFill>
                <a:latin typeface="inherit"/>
              </a:rPr>
              <a:t>val</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labelLis</a:t>
            </a:r>
            <a:r>
              <a:rPr lang="en-US" sz="2200">
                <a:solidFill>
                  <a:srgbClr val="333333"/>
                </a:solidFill>
                <a:latin typeface="inherit"/>
              </a:rPr>
              <a:t>.</a:t>
            </a:r>
            <a:r>
              <a:rPr lang="en-US" sz="2200">
                <a:solidFill>
                  <a:srgbClr val="004ED0"/>
                </a:solidFill>
                <a:latin typeface="inherit"/>
              </a:rPr>
              <a:t>append</a:t>
            </a:r>
            <a:r>
              <a:rPr lang="en-US" sz="2200">
                <a:solidFill>
                  <a:srgbClr val="333333"/>
                </a:solidFill>
                <a:latin typeface="inherit"/>
              </a:rPr>
              <a:t>(</a:t>
            </a:r>
            <a:r>
              <a:rPr lang="en-US" sz="2200">
                <a:solidFill>
                  <a:srgbClr val="004ED0"/>
                </a:solidFill>
                <a:latin typeface="inherit"/>
              </a:rPr>
              <a:t>QLabel</a:t>
            </a:r>
            <a:r>
              <a:rPr lang="en-US" sz="2200">
                <a:solidFill>
                  <a:srgbClr val="333333"/>
                </a:solidFill>
                <a:latin typeface="inherit"/>
              </a:rPr>
              <a:t>(</a:t>
            </a:r>
            <a:r>
              <a:rPr lang="en-US" sz="2200">
                <a:solidFill>
                  <a:srgbClr val="008000"/>
                </a:solidFill>
                <a:latin typeface="inherit"/>
              </a:rPr>
              <a:t>"Label"</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comboList</a:t>
            </a:r>
            <a:r>
              <a:rPr lang="en-US" sz="2200">
                <a:solidFill>
                  <a:srgbClr val="333333"/>
                </a:solidFill>
                <a:latin typeface="inherit"/>
              </a:rPr>
              <a:t>.</a:t>
            </a:r>
            <a:r>
              <a:rPr lang="en-US" sz="2200">
                <a:solidFill>
                  <a:srgbClr val="004ED0"/>
                </a:solidFill>
                <a:latin typeface="inherit"/>
              </a:rPr>
              <a:t>append</a:t>
            </a:r>
            <a:r>
              <a:rPr lang="en-US" sz="2200">
                <a:solidFill>
                  <a:srgbClr val="333333"/>
                </a:solidFill>
                <a:latin typeface="inherit"/>
              </a:rPr>
              <a:t>(</a:t>
            </a:r>
            <a:r>
              <a:rPr lang="en-US" sz="2200">
                <a:solidFill>
                  <a:srgbClr val="004ED0"/>
                </a:solidFill>
                <a:latin typeface="inherit"/>
              </a:rPr>
              <a:t>QPushButton</a:t>
            </a:r>
            <a:r>
              <a:rPr lang="en-US" sz="2200">
                <a:solidFill>
                  <a:srgbClr val="333333"/>
                </a:solidFill>
                <a:latin typeface="inherit"/>
              </a:rPr>
              <a:t>(</a:t>
            </a:r>
            <a:r>
              <a:rPr lang="en-US" sz="2200">
                <a:solidFill>
                  <a:srgbClr val="008000"/>
                </a:solidFill>
                <a:latin typeface="inherit"/>
              </a:rPr>
              <a:t>"Click Me"</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formLayout</a:t>
            </a:r>
            <a:r>
              <a:rPr lang="en-US" sz="2200">
                <a:solidFill>
                  <a:srgbClr val="333333"/>
                </a:solidFill>
                <a:latin typeface="inherit"/>
              </a:rPr>
              <a:t>.</a:t>
            </a:r>
            <a:r>
              <a:rPr lang="en-US" sz="2200">
                <a:solidFill>
                  <a:srgbClr val="004ED0"/>
                </a:solidFill>
                <a:latin typeface="inherit"/>
              </a:rPr>
              <a:t>addRow</a:t>
            </a:r>
            <a:r>
              <a:rPr lang="en-US" sz="2200">
                <a:solidFill>
                  <a:srgbClr val="333333"/>
                </a:solidFill>
                <a:latin typeface="inherit"/>
              </a:rPr>
              <a:t>(</a:t>
            </a:r>
            <a:r>
              <a:rPr lang="en-US" sz="2200">
                <a:solidFill>
                  <a:srgbClr val="002D7A"/>
                </a:solidFill>
                <a:latin typeface="inherit"/>
              </a:rPr>
              <a:t>labelLis</a:t>
            </a:r>
            <a:r>
              <a:rPr lang="en-US" sz="2200">
                <a:solidFill>
                  <a:srgbClr val="333333"/>
                </a:solidFill>
                <a:latin typeface="inherit"/>
              </a:rPr>
              <a:t>[</a:t>
            </a:r>
            <a:r>
              <a:rPr lang="en-US" sz="2200">
                <a:solidFill>
                  <a:srgbClr val="002D7A"/>
                </a:solidFill>
                <a:latin typeface="inherit"/>
              </a:rPr>
              <a:t>i</a:t>
            </a:r>
            <a:r>
              <a:rPr lang="en-US" sz="2200">
                <a:solidFill>
                  <a:srgbClr val="333333"/>
                </a:solidFill>
                <a:latin typeface="inherit"/>
              </a:rPr>
              <a:t>],</a:t>
            </a:r>
            <a:r>
              <a:rPr lang="en-US" sz="2200">
                <a:solidFill>
                  <a:srgbClr val="006FE0"/>
                </a:solidFill>
                <a:latin typeface="inherit"/>
              </a:rPr>
              <a:t> </a:t>
            </a:r>
            <a:r>
              <a:rPr lang="en-US" sz="2200">
                <a:solidFill>
                  <a:srgbClr val="002D7A"/>
                </a:solidFill>
                <a:latin typeface="inherit"/>
              </a:rPr>
              <a:t>comboList</a:t>
            </a:r>
            <a:r>
              <a:rPr lang="en-US" sz="2200">
                <a:solidFill>
                  <a:srgbClr val="333333"/>
                </a:solidFill>
                <a:latin typeface="inherit"/>
              </a:rPr>
              <a:t>[</a:t>
            </a:r>
            <a:r>
              <a:rPr lang="en-US" sz="2200">
                <a:solidFill>
                  <a:srgbClr val="002D7A"/>
                </a:solidFill>
                <a:latin typeface="inherit"/>
              </a:rPr>
              <a:t>i</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groupBox</a:t>
            </a:r>
            <a:r>
              <a:rPr lang="en-US" sz="2200">
                <a:solidFill>
                  <a:srgbClr val="333333"/>
                </a:solidFill>
                <a:latin typeface="inherit"/>
              </a:rPr>
              <a:t>.</a:t>
            </a:r>
            <a:r>
              <a:rPr lang="en-US" sz="2200">
                <a:solidFill>
                  <a:srgbClr val="004ED0"/>
                </a:solidFill>
                <a:latin typeface="inherit"/>
              </a:rPr>
              <a:t>setLayout</a:t>
            </a:r>
            <a:r>
              <a:rPr lang="en-US" sz="2200">
                <a:solidFill>
                  <a:srgbClr val="333333"/>
                </a:solidFill>
                <a:latin typeface="inherit"/>
              </a:rPr>
              <a:t>(</a:t>
            </a:r>
            <a:r>
              <a:rPr lang="en-US" sz="2200">
                <a:solidFill>
                  <a:srgbClr val="002D7A"/>
                </a:solidFill>
                <a:latin typeface="inherit"/>
              </a:rPr>
              <a:t>formLayout</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scroll</a:t>
            </a:r>
            <a:r>
              <a:rPr lang="en-US" sz="2200">
                <a:solidFill>
                  <a:srgbClr val="006FE0"/>
                </a:solidFill>
                <a:latin typeface="inherit"/>
              </a:rPr>
              <a:t> = </a:t>
            </a:r>
            <a:r>
              <a:rPr lang="en-US" sz="2200">
                <a:solidFill>
                  <a:srgbClr val="004ED0"/>
                </a:solidFill>
                <a:latin typeface="inherit"/>
              </a:rPr>
              <a:t>QScrollArea</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scroll</a:t>
            </a:r>
            <a:r>
              <a:rPr lang="en-US" sz="2200">
                <a:solidFill>
                  <a:srgbClr val="333333"/>
                </a:solidFill>
                <a:latin typeface="inherit"/>
              </a:rPr>
              <a:t>.</a:t>
            </a:r>
            <a:r>
              <a:rPr lang="en-US" sz="2200">
                <a:solidFill>
                  <a:srgbClr val="004ED0"/>
                </a:solidFill>
                <a:latin typeface="inherit"/>
              </a:rPr>
              <a:t>setWidget</a:t>
            </a:r>
            <a:r>
              <a:rPr lang="en-US" sz="2200">
                <a:solidFill>
                  <a:srgbClr val="333333"/>
                </a:solidFill>
                <a:latin typeface="inherit"/>
              </a:rPr>
              <a:t>(</a:t>
            </a:r>
            <a:r>
              <a:rPr lang="en-US" sz="2200">
                <a:solidFill>
                  <a:srgbClr val="002D7A"/>
                </a:solidFill>
                <a:latin typeface="inherit"/>
              </a:rPr>
              <a:t>groupBox</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scroll</a:t>
            </a:r>
            <a:r>
              <a:rPr lang="en-US" sz="2200">
                <a:solidFill>
                  <a:srgbClr val="333333"/>
                </a:solidFill>
                <a:latin typeface="inherit"/>
              </a:rPr>
              <a:t>.</a:t>
            </a:r>
            <a:r>
              <a:rPr lang="en-US" sz="2200">
                <a:solidFill>
                  <a:srgbClr val="004ED0"/>
                </a:solidFill>
                <a:latin typeface="inherit"/>
              </a:rPr>
              <a:t>setWidgetResizable</a:t>
            </a:r>
            <a:r>
              <a:rPr lang="en-US" sz="2200">
                <a:solidFill>
                  <a:srgbClr val="333333"/>
                </a:solidFill>
                <a:latin typeface="inherit"/>
              </a:rPr>
              <a:t>(</a:t>
            </a:r>
            <a:r>
              <a:rPr lang="en-US" sz="2200">
                <a:solidFill>
                  <a:srgbClr val="800080"/>
                </a:solidFill>
                <a:latin typeface="inherit"/>
              </a:rPr>
              <a:t>True</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scroll</a:t>
            </a:r>
            <a:r>
              <a:rPr lang="en-US" sz="2200">
                <a:solidFill>
                  <a:srgbClr val="333333"/>
                </a:solidFill>
                <a:latin typeface="inherit"/>
              </a:rPr>
              <a:t>.</a:t>
            </a:r>
            <a:r>
              <a:rPr lang="en-US" sz="2200">
                <a:solidFill>
                  <a:srgbClr val="004ED0"/>
                </a:solidFill>
                <a:latin typeface="inherit"/>
              </a:rPr>
              <a:t>setFixedHeight</a:t>
            </a:r>
            <a:r>
              <a:rPr lang="en-US" sz="2200">
                <a:solidFill>
                  <a:srgbClr val="333333"/>
                </a:solidFill>
                <a:latin typeface="inherit"/>
              </a:rPr>
              <a:t>(</a:t>
            </a:r>
            <a:r>
              <a:rPr lang="en-US" sz="2200">
                <a:solidFill>
                  <a:srgbClr val="CE0000"/>
                </a:solidFill>
                <a:latin typeface="inherit"/>
              </a:rPr>
              <a:t>400</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layout</a:t>
            </a:r>
            <a:r>
              <a:rPr lang="en-US" sz="2200">
                <a:solidFill>
                  <a:srgbClr val="006FE0"/>
                </a:solidFill>
                <a:latin typeface="inherit"/>
              </a:rPr>
              <a:t> = </a:t>
            </a:r>
            <a:r>
              <a:rPr lang="en-US" sz="2200">
                <a:solidFill>
                  <a:srgbClr val="004ED0"/>
                </a:solidFill>
                <a:latin typeface="inherit"/>
              </a:rPr>
              <a:t>QVBoxLayout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002D7A"/>
                </a:solidFill>
                <a:latin typeface="inherit"/>
              </a:rPr>
              <a:t>layout</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002D7A"/>
                </a:solidFill>
                <a:latin typeface="inherit"/>
              </a:rPr>
              <a:t>scroll</a:t>
            </a:r>
            <a:r>
              <a:rPr lang="en-US" sz="2200">
                <a:solidFill>
                  <a:srgbClr val="333333"/>
                </a:solidFill>
                <a:latin typeface="inherit"/>
              </a:rPr>
              <a:t>)</a:t>
            </a:r>
            <a:endParaRPr lang="en-US" sz="2200">
              <a:solidFill>
                <a:srgbClr val="000000"/>
              </a:solidFill>
              <a:latin typeface="Monaco"/>
            </a:endParaRPr>
          </a:p>
          <a:p>
            <a:pPr>
              <a:lnSpc>
                <a:spcPct val="90000"/>
              </a:lnSpc>
            </a:pP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show</a:t>
            </a:r>
            <a:r>
              <a:rPr lang="en-US" sz="2200">
                <a:solidFill>
                  <a:srgbClr val="333333"/>
                </a:solidFill>
                <a:latin typeface="inherit"/>
              </a:rPr>
              <a:t>()</a:t>
            </a:r>
            <a:endParaRPr lang="en-US" sz="2200" b="0" i="0">
              <a:solidFill>
                <a:srgbClr val="000000"/>
              </a:solidFill>
              <a:effectLst/>
              <a:latin typeface="Monaco"/>
            </a:endParaRPr>
          </a:p>
        </p:txBody>
      </p:sp>
      <p:pic>
        <p:nvPicPr>
          <p:cNvPr id="7170" name="Picture 2">
            <a:extLst>
              <a:ext uri="{FF2B5EF4-FFF2-40B4-BE49-F238E27FC236}">
                <a16:creationId xmlns:a16="http://schemas.microsoft.com/office/drawing/2014/main" id="{70564F03-3E9E-48AB-957E-A9A31C48B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08" y="3364634"/>
            <a:ext cx="3085381" cy="3433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731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69FF2-87D9-433A-8C88-F09AF6C8BF31}"/>
              </a:ext>
            </a:extLst>
          </p:cNvPr>
          <p:cNvSpPr>
            <a:spLocks noGrp="1"/>
          </p:cNvSpPr>
          <p:nvPr>
            <p:ph type="title"/>
          </p:nvPr>
        </p:nvSpPr>
        <p:spPr>
          <a:xfrm>
            <a:off x="9624" y="19250"/>
            <a:ext cx="9134375" cy="783007"/>
          </a:xfrm>
        </p:spPr>
        <p:txBody>
          <a:bodyPr>
            <a:normAutofit/>
          </a:bodyPr>
          <a:lstStyle/>
          <a:p>
            <a:r>
              <a:rPr lang="en-US"/>
              <a:t>Ví dụ về QDial với signal </a:t>
            </a:r>
            <a:r>
              <a:rPr lang="en-US" b="1"/>
              <a:t>valueChanged</a:t>
            </a:r>
          </a:p>
        </p:txBody>
      </p:sp>
      <p:sp>
        <p:nvSpPr>
          <p:cNvPr id="3" name="Content Placeholder 2">
            <a:extLst>
              <a:ext uri="{FF2B5EF4-FFF2-40B4-BE49-F238E27FC236}">
                <a16:creationId xmlns:a16="http://schemas.microsoft.com/office/drawing/2014/main" id="{9F08A1EF-E67B-4DA9-8802-6A5C1E68AC7C}"/>
              </a:ext>
            </a:extLst>
          </p:cNvPr>
          <p:cNvSpPr>
            <a:spLocks noGrp="1"/>
          </p:cNvSpPr>
          <p:nvPr>
            <p:ph idx="1"/>
          </p:nvPr>
        </p:nvSpPr>
        <p:spPr>
          <a:xfrm>
            <a:off x="9624" y="923026"/>
            <a:ext cx="9134375" cy="5915724"/>
          </a:xfrm>
        </p:spPr>
        <p:txBody>
          <a:bodyPr/>
          <a:lstStyle/>
          <a:p>
            <a:r>
              <a:rPr lang="vi-VN"/>
              <a:t>Lớp Q</a:t>
            </a:r>
            <a:r>
              <a:rPr lang="en-US"/>
              <a:t>D</a:t>
            </a:r>
            <a:r>
              <a:rPr lang="vi-VN"/>
              <a:t>ial cung cấp một phạm vi điều khiển </a:t>
            </a:r>
            <a:r>
              <a:rPr lang="en-US"/>
              <a:t>xung quanh </a:t>
            </a:r>
            <a:r>
              <a:rPr lang="vi-VN"/>
              <a:t>(như đồng hồ tốc độ hoặc chiết áp).</a:t>
            </a:r>
          </a:p>
          <a:p>
            <a:r>
              <a:rPr lang="vi-VN"/>
              <a:t>QĐial được sử dụng khi người dùng cần kiểm soát một giá trị trong phạm vi có thể xác định được của chương trình và phạm vi bao bọc xung quanh (ví dụ: với các góc được đo từ 0 đến 359 độ) hoặc bố cục hộp thoại cần một widget vuông.</a:t>
            </a:r>
            <a:endParaRPr lang="en-US"/>
          </a:p>
        </p:txBody>
      </p:sp>
      <p:sp>
        <p:nvSpPr>
          <p:cNvPr id="4" name="Rectangle 3">
            <a:extLst>
              <a:ext uri="{FF2B5EF4-FFF2-40B4-BE49-F238E27FC236}">
                <a16:creationId xmlns:a16="http://schemas.microsoft.com/office/drawing/2014/main" id="{77C5FCA5-4D7C-4718-960A-3BFA64F87CB0}"/>
              </a:ext>
            </a:extLst>
          </p:cNvPr>
          <p:cNvSpPr/>
          <p:nvPr/>
        </p:nvSpPr>
        <p:spPr>
          <a:xfrm>
            <a:off x="0" y="4119092"/>
            <a:ext cx="9134374" cy="1815882"/>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QWidget</a:t>
            </a:r>
            <a:r>
              <a:rPr lang="en-US" sz="2800">
                <a:solidFill>
                  <a:srgbClr val="333333"/>
                </a:solidFill>
                <a:latin typeface="inherit"/>
              </a:rPr>
              <a:t>,</a:t>
            </a:r>
            <a:r>
              <a:rPr lang="en-US" sz="2800">
                <a:solidFill>
                  <a:srgbClr val="006FE0"/>
                </a:solidFill>
                <a:latin typeface="inherit"/>
              </a:rPr>
              <a:t> </a:t>
            </a:r>
          </a:p>
          <a:p>
            <a:pPr algn="r"/>
            <a:r>
              <a:rPr lang="en-US" sz="2800">
                <a:solidFill>
                  <a:srgbClr val="002D7A"/>
                </a:solidFill>
                <a:latin typeface="inherit"/>
              </a:rPr>
              <a:t>QDial</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QVBoxLayout</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QLabel</a:t>
            </a:r>
            <a:endParaRPr lang="en-US" sz="2800">
              <a:solidFill>
                <a:srgbClr val="000000"/>
              </a:solidFill>
              <a:latin typeface="Monaco"/>
            </a:endParaRPr>
          </a:p>
          <a:p>
            <a:r>
              <a:rPr lang="en-US" sz="2800">
                <a:solidFill>
                  <a:srgbClr val="004ED0"/>
                </a:solidFill>
                <a:latin typeface="inherit"/>
              </a:rPr>
              <a:t>import </a:t>
            </a:r>
            <a:r>
              <a:rPr lang="en-US" sz="2800">
                <a:solidFill>
                  <a:srgbClr val="002D7A"/>
                </a:solidFill>
                <a:latin typeface="inherit"/>
              </a:rPr>
              <a:t>sys</a:t>
            </a:r>
            <a:endParaRPr lang="en-US" sz="2800" b="0" i="0">
              <a:solidFill>
                <a:srgbClr val="000000"/>
              </a:solidFill>
              <a:effectLst/>
              <a:latin typeface="Monaco"/>
            </a:endParaRPr>
          </a:p>
        </p:txBody>
      </p:sp>
    </p:spTree>
    <p:extLst>
      <p:ext uri="{BB962C8B-B14F-4D97-AF65-F5344CB8AC3E}">
        <p14:creationId xmlns:p14="http://schemas.microsoft.com/office/powerpoint/2010/main" val="13734268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538617-37AF-4DF2-B8F2-E94E81BC0036}"/>
              </a:ext>
            </a:extLst>
          </p:cNvPr>
          <p:cNvSpPr>
            <a:spLocks noGrp="1"/>
          </p:cNvSpPr>
          <p:nvPr>
            <p:ph idx="1"/>
          </p:nvPr>
        </p:nvSpPr>
        <p:spPr>
          <a:xfrm>
            <a:off x="9624" y="741872"/>
            <a:ext cx="2431651" cy="3804248"/>
          </a:xfrm>
        </p:spPr>
        <p:txBody>
          <a:bodyPr>
            <a:normAutofit/>
          </a:bodyPr>
          <a:lstStyle/>
          <a:p>
            <a:pPr marL="0" indent="0">
              <a:buNone/>
            </a:pPr>
            <a:r>
              <a:rPr lang="en-US" sz="2400"/>
              <a:t>Sau đó, chúng tôi tạo Window chính kế thừa từ QWidget và trong phần tử của lớp, chúng ta cũng cần thêm một số yêu cầu của cửa sổ rồi tạo QVBoxLayout với QDial và cả trên QLabel.</a:t>
            </a:r>
          </a:p>
        </p:txBody>
      </p:sp>
      <p:sp>
        <p:nvSpPr>
          <p:cNvPr id="4" name="Title 1">
            <a:extLst>
              <a:ext uri="{FF2B5EF4-FFF2-40B4-BE49-F238E27FC236}">
                <a16:creationId xmlns:a16="http://schemas.microsoft.com/office/drawing/2014/main" id="{FF812EEC-ADD4-4BB3-8523-4D89C29AFC3E}"/>
              </a:ext>
            </a:extLst>
          </p:cNvPr>
          <p:cNvSpPr>
            <a:spLocks noGrp="1"/>
          </p:cNvSpPr>
          <p:nvPr>
            <p:ph type="title"/>
          </p:nvPr>
        </p:nvSpPr>
        <p:spPr>
          <a:xfrm>
            <a:off x="9624" y="19251"/>
            <a:ext cx="9134375" cy="679490"/>
          </a:xfrm>
        </p:spPr>
        <p:txBody>
          <a:bodyPr>
            <a:normAutofit fontScale="90000"/>
          </a:bodyPr>
          <a:lstStyle/>
          <a:p>
            <a:r>
              <a:rPr lang="en-US"/>
              <a:t>Ví dụ về QDial với signal </a:t>
            </a:r>
            <a:r>
              <a:rPr lang="en-US" b="1"/>
              <a:t>valueChanged </a:t>
            </a:r>
            <a:r>
              <a:rPr lang="en-US"/>
              <a:t>(t.t)</a:t>
            </a:r>
          </a:p>
        </p:txBody>
      </p:sp>
      <p:sp>
        <p:nvSpPr>
          <p:cNvPr id="5" name="Rectangle 4">
            <a:extLst>
              <a:ext uri="{FF2B5EF4-FFF2-40B4-BE49-F238E27FC236}">
                <a16:creationId xmlns:a16="http://schemas.microsoft.com/office/drawing/2014/main" id="{3EB4E14B-CD0D-420A-8EBE-FDA3D070DABD}"/>
              </a:ext>
            </a:extLst>
          </p:cNvPr>
          <p:cNvSpPr/>
          <p:nvPr/>
        </p:nvSpPr>
        <p:spPr>
          <a:xfrm>
            <a:off x="2535168" y="741871"/>
            <a:ext cx="6599207" cy="5509200"/>
          </a:xfrm>
          <a:prstGeom prst="rect">
            <a:avLst/>
          </a:prstGeom>
        </p:spPr>
        <p:txBody>
          <a:bodyPr wrap="square">
            <a:spAutoFit/>
          </a:bodyPr>
          <a:lstStyle/>
          <a:p>
            <a:r>
              <a:rPr lang="en-US" sz="2200">
                <a:solidFill>
                  <a:srgbClr val="800080"/>
                </a:solidFill>
                <a:latin typeface="inherit"/>
              </a:rPr>
              <a:t>class</a:t>
            </a:r>
            <a:r>
              <a:rPr lang="en-US" sz="2200">
                <a:solidFill>
                  <a:srgbClr val="006FE0"/>
                </a:solidFill>
                <a:latin typeface="inherit"/>
              </a:rPr>
              <a:t> </a:t>
            </a:r>
            <a:r>
              <a:rPr lang="en-US" sz="2200">
                <a:solidFill>
                  <a:srgbClr val="004ED0"/>
                </a:solidFill>
                <a:latin typeface="inherit"/>
              </a:rPr>
              <a:t>Window</a:t>
            </a:r>
            <a:r>
              <a:rPr lang="en-US" sz="2200">
                <a:solidFill>
                  <a:srgbClr val="333333"/>
                </a:solidFill>
                <a:latin typeface="inherit"/>
              </a:rPr>
              <a:t>(</a:t>
            </a:r>
            <a:r>
              <a:rPr lang="en-US" sz="2200">
                <a:solidFill>
                  <a:srgbClr val="002D7A"/>
                </a:solidFill>
                <a:latin typeface="inherit"/>
              </a:rPr>
              <a:t>QWidget</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4ED0"/>
                </a:solidFill>
                <a:latin typeface="inherit"/>
              </a:rPr>
              <a:t>def __init__</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super</a:t>
            </a:r>
            <a:r>
              <a:rPr lang="en-US" sz="2200">
                <a:solidFill>
                  <a:srgbClr val="333333"/>
                </a:solidFill>
                <a:latin typeface="inherit"/>
              </a:rPr>
              <a:t>().</a:t>
            </a:r>
            <a:r>
              <a:rPr lang="en-US" sz="2200">
                <a:solidFill>
                  <a:srgbClr val="004ED0"/>
                </a:solidFill>
                <a:latin typeface="inherit"/>
              </a:rPr>
              <a:t>__init__</a:t>
            </a:r>
            <a:r>
              <a:rPr lang="en-US" sz="2200">
                <a:solidFill>
                  <a:srgbClr val="333333"/>
                </a:solidFill>
                <a:latin typeface="inherit"/>
              </a:rPr>
              <a:t>()</a:t>
            </a:r>
            <a:endParaRPr lang="en-US" sz="2200">
              <a:solidFill>
                <a:srgbClr val="000000"/>
              </a:solidFill>
              <a:latin typeface="Monaco"/>
            </a:endParaRPr>
          </a:p>
          <a:p>
            <a:pPr lvl="1"/>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006FE0"/>
                </a:solidFill>
                <a:latin typeface="inherit"/>
              </a:rPr>
              <a:t> = </a:t>
            </a:r>
            <a:r>
              <a:rPr lang="en-US" sz="2200">
                <a:solidFill>
                  <a:srgbClr val="004ED0"/>
                </a:solidFill>
                <a:latin typeface="inherit"/>
              </a:rPr>
              <a:t>QVBoxLayout</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label</a:t>
            </a:r>
            <a:r>
              <a:rPr lang="en-US" sz="2200">
                <a:solidFill>
                  <a:srgbClr val="006FE0"/>
                </a:solidFill>
                <a:latin typeface="inherit"/>
              </a:rPr>
              <a:t> = </a:t>
            </a:r>
            <a:r>
              <a:rPr lang="en-US" sz="2200">
                <a:solidFill>
                  <a:srgbClr val="004ED0"/>
                </a:solidFill>
                <a:latin typeface="inherit"/>
              </a:rPr>
              <a:t>QLabel</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label</a:t>
            </a:r>
            <a:r>
              <a:rPr lang="en-US" sz="2200">
                <a:solidFill>
                  <a:srgbClr val="333333"/>
                </a:solidFill>
                <a:latin typeface="inherit"/>
              </a:rPr>
              <a:t>.</a:t>
            </a:r>
            <a:r>
              <a:rPr lang="en-US" sz="2200">
                <a:solidFill>
                  <a:srgbClr val="004ED0"/>
                </a:solidFill>
                <a:latin typeface="inherit"/>
              </a:rPr>
              <a:t>setFont</a:t>
            </a:r>
            <a:r>
              <a:rPr lang="en-US" sz="2200">
                <a:solidFill>
                  <a:srgbClr val="333333"/>
                </a:solidFill>
                <a:latin typeface="inherit"/>
              </a:rPr>
              <a:t>(</a:t>
            </a:r>
            <a:r>
              <a:rPr lang="en-US" sz="2200">
                <a:solidFill>
                  <a:srgbClr val="002D7A"/>
                </a:solidFill>
                <a:latin typeface="inherit"/>
              </a:rPr>
              <a:t>QtGui</a:t>
            </a:r>
            <a:r>
              <a:rPr lang="en-US" sz="2200">
                <a:solidFill>
                  <a:srgbClr val="333333"/>
                </a:solidFill>
                <a:latin typeface="inherit"/>
              </a:rPr>
              <a:t>.</a:t>
            </a:r>
            <a:r>
              <a:rPr lang="en-US" sz="2200">
                <a:solidFill>
                  <a:srgbClr val="004ED0"/>
                </a:solidFill>
                <a:latin typeface="inherit"/>
              </a:rPr>
              <a:t>QFont</a:t>
            </a:r>
            <a:r>
              <a:rPr lang="en-US" sz="2200">
                <a:solidFill>
                  <a:srgbClr val="333333"/>
                </a:solidFill>
                <a:latin typeface="inherit"/>
              </a:rPr>
              <a:t>(</a:t>
            </a:r>
            <a:r>
              <a:rPr lang="en-US" sz="2200">
                <a:solidFill>
                  <a:srgbClr val="008000"/>
                </a:solidFill>
                <a:latin typeface="inherit"/>
              </a:rPr>
              <a:t>"Sanserif"</a:t>
            </a:r>
            <a:r>
              <a:rPr lang="en-US" sz="2200">
                <a:solidFill>
                  <a:srgbClr val="333333"/>
                </a:solidFill>
                <a:latin typeface="inherit"/>
              </a:rPr>
              <a:t>,</a:t>
            </a:r>
            <a:r>
              <a:rPr lang="en-US" sz="2200">
                <a:solidFill>
                  <a:srgbClr val="006FE0"/>
                </a:solidFill>
                <a:latin typeface="inherit"/>
              </a:rPr>
              <a:t> </a:t>
            </a:r>
            <a:r>
              <a:rPr lang="en-US" sz="2200">
                <a:solidFill>
                  <a:srgbClr val="CE0000"/>
                </a:solidFill>
                <a:latin typeface="inherit"/>
              </a:rPr>
              <a:t>15</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dial</a:t>
            </a:r>
            <a:r>
              <a:rPr lang="en-US" sz="2200">
                <a:solidFill>
                  <a:srgbClr val="006FE0"/>
                </a:solidFill>
                <a:latin typeface="inherit"/>
              </a:rPr>
              <a:t> = </a:t>
            </a:r>
            <a:r>
              <a:rPr lang="en-US" sz="2200">
                <a:solidFill>
                  <a:srgbClr val="004ED0"/>
                </a:solidFill>
                <a:latin typeface="inherit"/>
              </a:rPr>
              <a:t>QDial</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dial</a:t>
            </a:r>
            <a:r>
              <a:rPr lang="en-US" sz="2200">
                <a:solidFill>
                  <a:srgbClr val="333333"/>
                </a:solidFill>
                <a:latin typeface="inherit"/>
              </a:rPr>
              <a:t>.</a:t>
            </a:r>
            <a:r>
              <a:rPr lang="en-US" sz="2200">
                <a:solidFill>
                  <a:srgbClr val="004ED0"/>
                </a:solidFill>
                <a:latin typeface="inherit"/>
              </a:rPr>
              <a:t>setMaximum</a:t>
            </a:r>
            <a:r>
              <a:rPr lang="en-US" sz="2200">
                <a:solidFill>
                  <a:srgbClr val="333333"/>
                </a:solidFill>
                <a:latin typeface="inherit"/>
              </a:rPr>
              <a:t>(</a:t>
            </a:r>
            <a:r>
              <a:rPr lang="en-US" sz="2200">
                <a:solidFill>
                  <a:srgbClr val="CE0000"/>
                </a:solidFill>
                <a:latin typeface="inherit"/>
              </a:rPr>
              <a:t>0</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dial</a:t>
            </a:r>
            <a:r>
              <a:rPr lang="en-US" sz="2200">
                <a:solidFill>
                  <a:srgbClr val="333333"/>
                </a:solidFill>
                <a:latin typeface="inherit"/>
              </a:rPr>
              <a:t>.</a:t>
            </a:r>
            <a:r>
              <a:rPr lang="en-US" sz="2200">
                <a:solidFill>
                  <a:srgbClr val="004ED0"/>
                </a:solidFill>
                <a:latin typeface="inherit"/>
              </a:rPr>
              <a:t>setMaximum</a:t>
            </a:r>
            <a:r>
              <a:rPr lang="en-US" sz="2200">
                <a:solidFill>
                  <a:srgbClr val="333333"/>
                </a:solidFill>
                <a:latin typeface="inherit"/>
              </a:rPr>
              <a:t>(</a:t>
            </a:r>
            <a:r>
              <a:rPr lang="en-US" sz="2200">
                <a:solidFill>
                  <a:srgbClr val="CE0000"/>
                </a:solidFill>
                <a:latin typeface="inherit"/>
              </a:rPr>
              <a:t>100</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dial</a:t>
            </a:r>
            <a:r>
              <a:rPr lang="en-US" sz="2200">
                <a:solidFill>
                  <a:srgbClr val="333333"/>
                </a:solidFill>
                <a:latin typeface="inherit"/>
              </a:rPr>
              <a:t>.</a:t>
            </a:r>
            <a:r>
              <a:rPr lang="en-US" sz="2200">
                <a:solidFill>
                  <a:srgbClr val="004ED0"/>
                </a:solidFill>
                <a:latin typeface="inherit"/>
              </a:rPr>
              <a:t>setValue</a:t>
            </a:r>
            <a:r>
              <a:rPr lang="en-US" sz="2200">
                <a:solidFill>
                  <a:srgbClr val="333333"/>
                </a:solidFill>
                <a:latin typeface="inherit"/>
              </a:rPr>
              <a:t>(</a:t>
            </a:r>
            <a:r>
              <a:rPr lang="en-US" sz="2200">
                <a:solidFill>
                  <a:srgbClr val="CE0000"/>
                </a:solidFill>
                <a:latin typeface="inherit"/>
              </a:rPr>
              <a:t>30</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highlight>
                  <a:srgbClr val="FFFF00"/>
                </a:highlight>
                <a:latin typeface="inherit"/>
              </a:rPr>
              <a:t>        </a:t>
            </a:r>
            <a:r>
              <a:rPr lang="en-US" sz="2200">
                <a:solidFill>
                  <a:srgbClr val="800080"/>
                </a:solidFill>
                <a:highlight>
                  <a:srgbClr val="FFFF00"/>
                </a:highlight>
                <a:latin typeface="inherit"/>
              </a:rPr>
              <a:t>self</a:t>
            </a:r>
            <a:r>
              <a:rPr lang="en-US" sz="2200">
                <a:solidFill>
                  <a:srgbClr val="333333"/>
                </a:solidFill>
                <a:highlight>
                  <a:srgbClr val="FFFF00"/>
                </a:highlight>
                <a:latin typeface="inherit"/>
              </a:rPr>
              <a:t>.</a:t>
            </a:r>
            <a:r>
              <a:rPr lang="en-US" sz="2200">
                <a:solidFill>
                  <a:srgbClr val="002D7A"/>
                </a:solidFill>
                <a:highlight>
                  <a:srgbClr val="FFFF00"/>
                </a:highlight>
                <a:latin typeface="inherit"/>
              </a:rPr>
              <a:t>dial</a:t>
            </a:r>
            <a:r>
              <a:rPr lang="en-US" sz="2200">
                <a:solidFill>
                  <a:srgbClr val="333333"/>
                </a:solidFill>
                <a:highlight>
                  <a:srgbClr val="FFFF00"/>
                </a:highlight>
                <a:latin typeface="inherit"/>
              </a:rPr>
              <a:t>.</a:t>
            </a:r>
            <a:r>
              <a:rPr lang="en-US" sz="2200">
                <a:solidFill>
                  <a:srgbClr val="002D7A"/>
                </a:solidFill>
                <a:highlight>
                  <a:srgbClr val="FFFF00"/>
                </a:highlight>
                <a:latin typeface="inherit"/>
              </a:rPr>
              <a:t>valueChanged</a:t>
            </a:r>
            <a:r>
              <a:rPr lang="en-US" sz="2200">
                <a:solidFill>
                  <a:srgbClr val="333333"/>
                </a:solidFill>
                <a:highlight>
                  <a:srgbClr val="FFFF00"/>
                </a:highlight>
                <a:latin typeface="inherit"/>
              </a:rPr>
              <a:t>.</a:t>
            </a:r>
            <a:r>
              <a:rPr lang="en-US" sz="2200">
                <a:solidFill>
                  <a:srgbClr val="004ED0"/>
                </a:solidFill>
                <a:highlight>
                  <a:srgbClr val="FFFF00"/>
                </a:highlight>
                <a:latin typeface="inherit"/>
              </a:rPr>
              <a:t>connect</a:t>
            </a:r>
            <a:r>
              <a:rPr lang="en-US" sz="2200">
                <a:solidFill>
                  <a:srgbClr val="333333"/>
                </a:solidFill>
                <a:highlight>
                  <a:srgbClr val="FFFF00"/>
                </a:highlight>
                <a:latin typeface="inherit"/>
              </a:rPr>
              <a:t>(</a:t>
            </a:r>
            <a:r>
              <a:rPr lang="en-US" sz="2200">
                <a:solidFill>
                  <a:srgbClr val="800080"/>
                </a:solidFill>
                <a:highlight>
                  <a:srgbClr val="FFFF00"/>
                </a:highlight>
                <a:latin typeface="inherit"/>
              </a:rPr>
              <a:t>self</a:t>
            </a:r>
            <a:r>
              <a:rPr lang="en-US" sz="2200">
                <a:solidFill>
                  <a:srgbClr val="333333"/>
                </a:solidFill>
                <a:highlight>
                  <a:srgbClr val="FFFF00"/>
                </a:highlight>
                <a:latin typeface="inherit"/>
              </a:rPr>
              <a:t>.</a:t>
            </a:r>
            <a:r>
              <a:rPr lang="en-US" sz="2200">
                <a:solidFill>
                  <a:srgbClr val="002D7A"/>
                </a:solidFill>
                <a:highlight>
                  <a:srgbClr val="FFFF00"/>
                </a:highlight>
                <a:latin typeface="inherit"/>
              </a:rPr>
              <a:t>dialer_changed</a:t>
            </a:r>
            <a:r>
              <a:rPr lang="en-US" sz="2200">
                <a:solidFill>
                  <a:srgbClr val="333333"/>
                </a:solidFill>
                <a:highlight>
                  <a:srgbClr val="FFFF00"/>
                </a:highlight>
                <a:latin typeface="inherit"/>
              </a:rPr>
              <a:t>)</a:t>
            </a:r>
            <a:endParaRPr lang="en-US" sz="2200">
              <a:solidFill>
                <a:srgbClr val="000000"/>
              </a:solidFill>
              <a:highlight>
                <a:srgbClr val="FFFF00"/>
              </a:highlight>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dial</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label</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setLayout</a:t>
            </a:r>
            <a:r>
              <a:rPr lang="en-US" sz="2200">
                <a:solidFill>
                  <a:srgbClr val="333333"/>
                </a:solidFill>
                <a:latin typeface="inherit"/>
              </a:rPr>
              <a:t>(</a:t>
            </a:r>
            <a:r>
              <a:rPr lang="en-US" sz="2200">
                <a:solidFill>
                  <a:srgbClr val="002D7A"/>
                </a:solidFill>
                <a:latin typeface="inherit"/>
              </a:rPr>
              <a:t>vbox</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show</a:t>
            </a:r>
            <a:r>
              <a:rPr lang="en-US" sz="2200">
                <a:solidFill>
                  <a:srgbClr val="333333"/>
                </a:solidFill>
                <a:latin typeface="inherit"/>
              </a:rPr>
              <a:t>()</a:t>
            </a:r>
            <a:endParaRPr lang="en-US" sz="2200" b="0" i="0">
              <a:solidFill>
                <a:srgbClr val="000000"/>
              </a:solidFill>
              <a:effectLst/>
              <a:latin typeface="Monaco"/>
            </a:endParaRPr>
          </a:p>
        </p:txBody>
      </p:sp>
    </p:spTree>
    <p:extLst>
      <p:ext uri="{BB962C8B-B14F-4D97-AF65-F5344CB8AC3E}">
        <p14:creationId xmlns:p14="http://schemas.microsoft.com/office/powerpoint/2010/main" val="35058309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64212-98A6-45CE-8B33-7707077F9486}"/>
              </a:ext>
            </a:extLst>
          </p:cNvPr>
          <p:cNvSpPr>
            <a:spLocks noGrp="1"/>
          </p:cNvSpPr>
          <p:nvPr>
            <p:ph idx="1"/>
          </p:nvPr>
        </p:nvSpPr>
        <p:spPr>
          <a:xfrm>
            <a:off x="9624" y="698742"/>
            <a:ext cx="9134375" cy="1120804"/>
          </a:xfrm>
        </p:spPr>
        <p:txBody>
          <a:bodyPr>
            <a:normAutofit/>
          </a:bodyPr>
          <a:lstStyle/>
          <a:p>
            <a:pPr marL="0" indent="0">
              <a:buNone/>
            </a:pPr>
            <a:r>
              <a:rPr lang="vi-VN" sz="2400"/>
              <a:t>Bây giờ chúng t</a:t>
            </a:r>
            <a:r>
              <a:rPr lang="en-US" sz="2400"/>
              <a:t>a</a:t>
            </a:r>
            <a:r>
              <a:rPr lang="vi-VN" sz="2400"/>
              <a:t> tạo </a:t>
            </a:r>
            <a:r>
              <a:rPr lang="en-US" sz="2400"/>
              <a:t>slot </a:t>
            </a:r>
            <a:r>
              <a:rPr lang="vi-VN" sz="2400"/>
              <a:t>để kết nối với </a:t>
            </a:r>
            <a:r>
              <a:rPr lang="en-US" sz="2400"/>
              <a:t>signal valueChanged </a:t>
            </a:r>
            <a:r>
              <a:rPr lang="vi-VN" sz="2400"/>
              <a:t>trong phương thức hoặc </a:t>
            </a:r>
            <a:r>
              <a:rPr lang="en-US" sz="2400"/>
              <a:t>slot </a:t>
            </a:r>
            <a:r>
              <a:rPr lang="vi-VN" sz="2400"/>
              <a:t>đầu tiên cần lấy giá trị từ Q</a:t>
            </a:r>
            <a:r>
              <a:rPr lang="en-US" sz="2400"/>
              <a:t>D</a:t>
            </a:r>
            <a:r>
              <a:rPr lang="vi-VN" sz="2400"/>
              <a:t>ial theo value() và sau đó đặt giá trị đó thành QLabel</a:t>
            </a:r>
          </a:p>
        </p:txBody>
      </p:sp>
      <p:sp>
        <p:nvSpPr>
          <p:cNvPr id="4" name="Title 1">
            <a:extLst>
              <a:ext uri="{FF2B5EF4-FFF2-40B4-BE49-F238E27FC236}">
                <a16:creationId xmlns:a16="http://schemas.microsoft.com/office/drawing/2014/main" id="{A30975F0-8D0C-466D-B0C7-528C4797D1D6}"/>
              </a:ext>
            </a:extLst>
          </p:cNvPr>
          <p:cNvSpPr>
            <a:spLocks noGrp="1"/>
          </p:cNvSpPr>
          <p:nvPr>
            <p:ph type="title"/>
          </p:nvPr>
        </p:nvSpPr>
        <p:spPr>
          <a:xfrm>
            <a:off x="9624" y="19251"/>
            <a:ext cx="9134375" cy="679490"/>
          </a:xfrm>
        </p:spPr>
        <p:txBody>
          <a:bodyPr>
            <a:normAutofit fontScale="90000"/>
          </a:bodyPr>
          <a:lstStyle/>
          <a:p>
            <a:r>
              <a:rPr lang="en-US"/>
              <a:t>Ví dụ về QDial với signal </a:t>
            </a:r>
            <a:r>
              <a:rPr lang="en-US" b="1"/>
              <a:t>valueChanged </a:t>
            </a:r>
            <a:r>
              <a:rPr lang="en-US"/>
              <a:t>(t.t)</a:t>
            </a:r>
          </a:p>
        </p:txBody>
      </p:sp>
      <p:sp>
        <p:nvSpPr>
          <p:cNvPr id="5" name="Rectangle 4">
            <a:extLst>
              <a:ext uri="{FF2B5EF4-FFF2-40B4-BE49-F238E27FC236}">
                <a16:creationId xmlns:a16="http://schemas.microsoft.com/office/drawing/2014/main" id="{FF4E1A99-CD30-412C-84EF-0EEB1079D585}"/>
              </a:ext>
            </a:extLst>
          </p:cNvPr>
          <p:cNvSpPr/>
          <p:nvPr/>
        </p:nvSpPr>
        <p:spPr>
          <a:xfrm>
            <a:off x="103517" y="1819546"/>
            <a:ext cx="6858000" cy="1200329"/>
          </a:xfrm>
          <a:prstGeom prst="rect">
            <a:avLst/>
          </a:prstGeom>
          <a:solidFill>
            <a:schemeClr val="accent4">
              <a:lumMod val="20000"/>
              <a:lumOff val="80000"/>
            </a:schemeClr>
          </a:solidFill>
        </p:spPr>
        <p:txBody>
          <a:bodyPr wrap="square">
            <a:spAutoFit/>
          </a:bodyPr>
          <a:lstStyle/>
          <a:p>
            <a:r>
              <a:rPr lang="en-US" sz="2400">
                <a:solidFill>
                  <a:srgbClr val="004ED0"/>
                </a:solidFill>
                <a:latin typeface="inherit"/>
              </a:rPr>
              <a:t>def dialer_changed</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getValue</a:t>
            </a:r>
            <a:r>
              <a:rPr lang="en-US" sz="2400">
                <a:solidFill>
                  <a:srgbClr val="006FE0"/>
                </a:solidFill>
                <a:latin typeface="inherit"/>
              </a:rPr>
              <a:t> =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dial</a:t>
            </a:r>
            <a:r>
              <a:rPr lang="en-US" sz="2400">
                <a:solidFill>
                  <a:srgbClr val="333333"/>
                </a:solidFill>
                <a:latin typeface="inherit"/>
              </a:rPr>
              <a:t>.</a:t>
            </a:r>
            <a:r>
              <a:rPr lang="en-US" sz="2400">
                <a:solidFill>
                  <a:srgbClr val="004ED0"/>
                </a:solidFill>
                <a:latin typeface="inherit"/>
              </a:rPr>
              <a:t>value</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label</a:t>
            </a:r>
            <a:r>
              <a:rPr lang="en-US" sz="2400">
                <a:solidFill>
                  <a:srgbClr val="333333"/>
                </a:solidFill>
                <a:latin typeface="inherit"/>
              </a:rPr>
              <a:t>.</a:t>
            </a:r>
            <a:r>
              <a:rPr lang="en-US" sz="2400">
                <a:solidFill>
                  <a:srgbClr val="004ED0"/>
                </a:solidFill>
                <a:latin typeface="inherit"/>
              </a:rPr>
              <a:t>setText</a:t>
            </a:r>
            <a:r>
              <a:rPr lang="en-US" sz="2400">
                <a:solidFill>
                  <a:srgbClr val="333333"/>
                </a:solidFill>
                <a:latin typeface="inherit"/>
              </a:rPr>
              <a:t>(</a:t>
            </a:r>
            <a:r>
              <a:rPr lang="en-US" sz="2400">
                <a:solidFill>
                  <a:srgbClr val="008000"/>
                </a:solidFill>
                <a:latin typeface="inherit"/>
              </a:rPr>
              <a:t>" Dialer Value : "</a:t>
            </a:r>
            <a:r>
              <a:rPr lang="en-US" sz="2400">
                <a:solidFill>
                  <a:srgbClr val="006FE0"/>
                </a:solidFill>
                <a:latin typeface="inherit"/>
              </a:rPr>
              <a:t> + </a:t>
            </a:r>
            <a:r>
              <a:rPr lang="en-US" sz="2400">
                <a:solidFill>
                  <a:srgbClr val="004ED0"/>
                </a:solidFill>
                <a:latin typeface="inherit"/>
              </a:rPr>
              <a:t>str</a:t>
            </a:r>
            <a:r>
              <a:rPr lang="en-US" sz="2400">
                <a:solidFill>
                  <a:srgbClr val="333333"/>
                </a:solidFill>
                <a:latin typeface="inherit"/>
              </a:rPr>
              <a:t>(</a:t>
            </a:r>
            <a:r>
              <a:rPr lang="en-US" sz="2400">
                <a:solidFill>
                  <a:srgbClr val="002D7A"/>
                </a:solidFill>
                <a:latin typeface="inherit"/>
              </a:rPr>
              <a:t>getValue</a:t>
            </a:r>
            <a:r>
              <a:rPr lang="en-US" sz="2400">
                <a:solidFill>
                  <a:srgbClr val="333333"/>
                </a:solidFill>
                <a:latin typeface="inherit"/>
              </a:rPr>
              <a:t>))</a:t>
            </a:r>
            <a:endParaRPr lang="en-US" sz="2400" b="0" i="0">
              <a:solidFill>
                <a:srgbClr val="000000"/>
              </a:solidFill>
              <a:effectLst/>
              <a:latin typeface="Monaco"/>
            </a:endParaRPr>
          </a:p>
        </p:txBody>
      </p:sp>
      <p:pic>
        <p:nvPicPr>
          <p:cNvPr id="8194" name="Picture 2">
            <a:extLst>
              <a:ext uri="{FF2B5EF4-FFF2-40B4-BE49-F238E27FC236}">
                <a16:creationId xmlns:a16="http://schemas.microsoft.com/office/drawing/2014/main" id="{F2F91619-54D1-4952-820D-D0F7E1CF0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1395" y="3547524"/>
            <a:ext cx="4010025" cy="32480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D839A4D-681D-4649-9D76-B61B5E02827B}"/>
              </a:ext>
            </a:extLst>
          </p:cNvPr>
          <p:cNvSpPr/>
          <p:nvPr/>
        </p:nvSpPr>
        <p:spPr>
          <a:xfrm>
            <a:off x="82580" y="4537342"/>
            <a:ext cx="3790680" cy="1200329"/>
          </a:xfrm>
          <a:prstGeom prst="rect">
            <a:avLst/>
          </a:prstGeom>
          <a:solidFill>
            <a:schemeClr val="accent5">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sp>
        <p:nvSpPr>
          <p:cNvPr id="8" name="Rectangle 7">
            <a:extLst>
              <a:ext uri="{FF2B5EF4-FFF2-40B4-BE49-F238E27FC236}">
                <a16:creationId xmlns:a16="http://schemas.microsoft.com/office/drawing/2014/main" id="{74A1C9B7-96D9-46A3-BACE-7C4178AFBC02}"/>
              </a:ext>
            </a:extLst>
          </p:cNvPr>
          <p:cNvSpPr/>
          <p:nvPr/>
        </p:nvSpPr>
        <p:spPr>
          <a:xfrm>
            <a:off x="9624" y="3547524"/>
            <a:ext cx="4769410" cy="830997"/>
          </a:xfrm>
          <a:prstGeom prst="rect">
            <a:avLst/>
          </a:prstGeom>
        </p:spPr>
        <p:txBody>
          <a:bodyPr wrap="square">
            <a:spAutoFit/>
          </a:bodyPr>
          <a:lstStyle/>
          <a:p>
            <a:r>
              <a:rPr lang="en-US" sz="2400" i="1"/>
              <a:t>Cuối cùng, chúng ta tạo đối tượng QApplication và Window</a:t>
            </a:r>
          </a:p>
        </p:txBody>
      </p:sp>
    </p:spTree>
    <p:extLst>
      <p:ext uri="{BB962C8B-B14F-4D97-AF65-F5344CB8AC3E}">
        <p14:creationId xmlns:p14="http://schemas.microsoft.com/office/powerpoint/2010/main" val="1723109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91146-6F46-4760-BB03-7E34CA1B76D4}"/>
              </a:ext>
            </a:extLst>
          </p:cNvPr>
          <p:cNvSpPr>
            <a:spLocks noGrp="1"/>
          </p:cNvSpPr>
          <p:nvPr>
            <p:ph type="title"/>
          </p:nvPr>
        </p:nvSpPr>
        <p:spPr/>
        <p:txBody>
          <a:bodyPr>
            <a:normAutofit/>
          </a:bodyPr>
          <a:lstStyle/>
          <a:p>
            <a:r>
              <a:rPr lang="en-US" b="1"/>
              <a:t>Cách tạo QSpinBox trong PyQt5</a:t>
            </a:r>
          </a:p>
        </p:txBody>
      </p:sp>
      <p:sp>
        <p:nvSpPr>
          <p:cNvPr id="3" name="Content Placeholder 2">
            <a:extLst>
              <a:ext uri="{FF2B5EF4-FFF2-40B4-BE49-F238E27FC236}">
                <a16:creationId xmlns:a16="http://schemas.microsoft.com/office/drawing/2014/main" id="{2BF7CCA7-BC1C-4D76-9668-B879A12A03D5}"/>
              </a:ext>
            </a:extLst>
          </p:cNvPr>
          <p:cNvSpPr>
            <a:spLocks noGrp="1"/>
          </p:cNvSpPr>
          <p:nvPr>
            <p:ph idx="1"/>
          </p:nvPr>
        </p:nvSpPr>
        <p:spPr/>
        <p:txBody>
          <a:bodyPr/>
          <a:lstStyle/>
          <a:p>
            <a:pPr marL="0" indent="0">
              <a:buNone/>
            </a:pPr>
            <a:r>
              <a:rPr lang="vi-VN"/>
              <a:t>Lớp QSpinBox cung cấp </a:t>
            </a:r>
            <a:r>
              <a:rPr lang="en-US"/>
              <a:t>widget spin box (</a:t>
            </a:r>
            <a:r>
              <a:rPr lang="vi-VN"/>
              <a:t>hộp </a:t>
            </a:r>
            <a:r>
              <a:rPr lang="en-US"/>
              <a:t>xoay)</a:t>
            </a:r>
            <a:r>
              <a:rPr lang="vi-VN"/>
              <a:t>.</a:t>
            </a:r>
            <a:r>
              <a:rPr lang="en-US"/>
              <a:t> </a:t>
            </a:r>
            <a:r>
              <a:rPr lang="vi-VN"/>
              <a:t>QSpinBox được thiết kế để xử lý các số nguyên và các bộ giá trị riêng biệt (ví dụ: tên tháng); sử dụng Q</a:t>
            </a:r>
            <a:r>
              <a:rPr lang="en-US"/>
              <a:t>D</a:t>
            </a:r>
            <a:r>
              <a:rPr lang="vi-VN"/>
              <a:t>oubleSpinBox cho các giá trị dấu phẩy động.</a:t>
            </a:r>
          </a:p>
          <a:p>
            <a:pPr marL="0" indent="0">
              <a:buNone/>
            </a:pPr>
            <a:endParaRPr lang="vi-VN"/>
          </a:p>
        </p:txBody>
      </p:sp>
      <p:graphicFrame>
        <p:nvGraphicFramePr>
          <p:cNvPr id="4" name="Table 3">
            <a:extLst>
              <a:ext uri="{FF2B5EF4-FFF2-40B4-BE49-F238E27FC236}">
                <a16:creationId xmlns:a16="http://schemas.microsoft.com/office/drawing/2014/main" id="{AE2799AA-7778-49F4-A82E-0C88D54EADC4}"/>
              </a:ext>
            </a:extLst>
          </p:cNvPr>
          <p:cNvGraphicFramePr>
            <a:graphicFrameLocks noGrp="1"/>
          </p:cNvGraphicFramePr>
          <p:nvPr>
            <p:extLst>
              <p:ext uri="{D42A27DB-BD31-4B8C-83A1-F6EECF244321}">
                <p14:modId xmlns:p14="http://schemas.microsoft.com/office/powerpoint/2010/main" val="1074282214"/>
              </p:ext>
            </p:extLst>
          </p:nvPr>
        </p:nvGraphicFramePr>
        <p:xfrm>
          <a:off x="9624" y="3164205"/>
          <a:ext cx="9124751" cy="2225040"/>
        </p:xfrm>
        <a:graphic>
          <a:graphicData uri="http://schemas.openxmlformats.org/drawingml/2006/table">
            <a:tbl>
              <a:tblPr/>
              <a:tblGrid>
                <a:gridCol w="696601">
                  <a:extLst>
                    <a:ext uri="{9D8B030D-6E8A-4147-A177-3AD203B41FA5}">
                      <a16:colId xmlns:a16="http://schemas.microsoft.com/office/drawing/2014/main" val="2558458383"/>
                    </a:ext>
                  </a:extLst>
                </a:gridCol>
                <a:gridCol w="8428150">
                  <a:extLst>
                    <a:ext uri="{9D8B030D-6E8A-4147-A177-3AD203B41FA5}">
                      <a16:colId xmlns:a16="http://schemas.microsoft.com/office/drawing/2014/main" val="3559129841"/>
                    </a:ext>
                  </a:extLst>
                </a:gridCol>
              </a:tblGrid>
              <a:tr h="0">
                <a:tc>
                  <a:txBody>
                    <a:bodyPr/>
                    <a:lstStyle/>
                    <a:p>
                      <a:pPr algn="ctr" fontAlgn="t"/>
                      <a:r>
                        <a:rPr lang="en-US" sz="2800" b="0">
                          <a:solidFill>
                            <a:srgbClr val="317CC5"/>
                          </a:solidFill>
                          <a:effectLst/>
                          <a:latin typeface="inherit"/>
                        </a:rPr>
                        <a:t>1</a:t>
                      </a:r>
                      <a:br>
                        <a:rPr lang="en-US" sz="2800" b="0">
                          <a:solidFill>
                            <a:srgbClr val="317CC5"/>
                          </a:solidFill>
                          <a:effectLst/>
                          <a:latin typeface="inherit"/>
                        </a:rPr>
                      </a:br>
                      <a:r>
                        <a:rPr lang="en-US" sz="2800" b="0">
                          <a:solidFill>
                            <a:srgbClr val="317CC5"/>
                          </a:solidFill>
                          <a:effectLst/>
                          <a:latin typeface="inherit"/>
                        </a:rPr>
                        <a:t>2</a:t>
                      </a:r>
                    </a:p>
                    <a:p>
                      <a:pPr algn="ctr" fontAlgn="t"/>
                      <a:r>
                        <a:rPr lang="en-US" sz="2800" b="0">
                          <a:solidFill>
                            <a:srgbClr val="5499DE"/>
                          </a:solidFill>
                          <a:effectLst/>
                          <a:latin typeface="inherit"/>
                        </a:rPr>
                        <a:t>3</a:t>
                      </a:r>
                    </a:p>
                    <a:p>
                      <a:pPr algn="ctr" fontAlgn="t"/>
                      <a:r>
                        <a:rPr lang="en-US" sz="2800" b="0">
                          <a:solidFill>
                            <a:srgbClr val="317CC5"/>
                          </a:solidFill>
                          <a:effectLst/>
                          <a:latin typeface="inherit"/>
                        </a:rPr>
                        <a:t>4</a:t>
                      </a:r>
                    </a:p>
                    <a:p>
                      <a:pPr algn="ctr" fontAlgn="t"/>
                      <a:r>
                        <a:rPr lang="en-US" sz="2800" b="0">
                          <a:solidFill>
                            <a:srgbClr val="317CC5"/>
                          </a:solidFill>
                          <a:effectLst/>
                          <a:latin typeface="inherit"/>
                        </a:rPr>
                        <a:t>5</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QWidget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QVBoxLayout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QSpinBox</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QLabel</a:t>
                      </a:r>
                      <a:endParaRPr lang="en-US" sz="2800" b="0">
                        <a:solidFill>
                          <a:srgbClr val="000000"/>
                        </a:solidFill>
                        <a:effectLst/>
                        <a:latin typeface="inherit"/>
                      </a:endParaRPr>
                    </a:p>
                    <a:p>
                      <a:pPr algn="l" fontAlgn="t"/>
                      <a:r>
                        <a:rPr lang="en-US" sz="2800" b="0">
                          <a:solidFill>
                            <a:srgbClr val="004ED0"/>
                          </a:solidFill>
                          <a:effectLst/>
                          <a:latin typeface="inherit"/>
                        </a:rPr>
                        <a:t>import sys</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QtCore import </a:t>
                      </a:r>
                      <a:r>
                        <a:rPr lang="en-US" sz="2800" b="0">
                          <a:solidFill>
                            <a:srgbClr val="002D7A"/>
                          </a:solidFill>
                          <a:effectLst/>
                          <a:latin typeface="inherit"/>
                        </a:rPr>
                        <a:t>Qt</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977087401"/>
                  </a:ext>
                </a:extLst>
              </a:tr>
            </a:tbl>
          </a:graphicData>
        </a:graphic>
      </p:graphicFrame>
    </p:spTree>
    <p:extLst>
      <p:ext uri="{BB962C8B-B14F-4D97-AF65-F5344CB8AC3E}">
        <p14:creationId xmlns:p14="http://schemas.microsoft.com/office/powerpoint/2010/main" val="12844495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5B041-5C1D-472B-BE6C-F5EC13A70E43}"/>
              </a:ext>
            </a:extLst>
          </p:cNvPr>
          <p:cNvSpPr>
            <a:spLocks noGrp="1"/>
          </p:cNvSpPr>
          <p:nvPr>
            <p:ph idx="1"/>
          </p:nvPr>
        </p:nvSpPr>
        <p:spPr>
          <a:xfrm>
            <a:off x="9623" y="856516"/>
            <a:ext cx="2837091" cy="2430148"/>
          </a:xfrm>
        </p:spPr>
        <p:txBody>
          <a:bodyPr>
            <a:normAutofit/>
          </a:bodyPr>
          <a:lstStyle/>
          <a:p>
            <a:pPr marL="0" indent="0">
              <a:buNone/>
            </a:pPr>
            <a:r>
              <a:rPr lang="vi-VN" sz="2000"/>
              <a:t>Bây giờ chúng ta cần tạo</a:t>
            </a:r>
            <a:r>
              <a:rPr lang="en-US" sz="2000"/>
              <a:t> </a:t>
            </a:r>
            <a:r>
              <a:rPr lang="vi-VN" sz="2000"/>
              <a:t>lớp</a:t>
            </a:r>
            <a:r>
              <a:rPr lang="en-US" sz="2000"/>
              <a:t> </a:t>
            </a:r>
            <a:r>
              <a:rPr lang="vi-VN" sz="2000"/>
              <a:t>Window chính kế thừa từ QWidget</a:t>
            </a:r>
            <a:r>
              <a:rPr lang="en-US" sz="2000"/>
              <a:t> </a:t>
            </a:r>
            <a:r>
              <a:rPr lang="vi-VN" sz="2000"/>
              <a:t>và trong lớp đó, chúng t</a:t>
            </a:r>
            <a:r>
              <a:rPr lang="en-US" sz="2000"/>
              <a:t>a</a:t>
            </a:r>
            <a:r>
              <a:rPr lang="vi-VN" sz="2000"/>
              <a:t> tạo QSpinBox và tạo ra </a:t>
            </a:r>
            <a:r>
              <a:rPr lang="en-US" sz="2000"/>
              <a:t>slot </a:t>
            </a:r>
            <a:r>
              <a:rPr lang="vi-VN" sz="2000"/>
              <a:t>hoặc</a:t>
            </a:r>
            <a:r>
              <a:rPr lang="en-US" sz="2000"/>
              <a:t> </a:t>
            </a:r>
            <a:r>
              <a:rPr lang="vi-VN" sz="2000"/>
              <a:t>phương</a:t>
            </a:r>
            <a:r>
              <a:rPr lang="en-US" sz="2000"/>
              <a:t> </a:t>
            </a:r>
            <a:r>
              <a:rPr lang="vi-VN" sz="2000"/>
              <a:t>thức spin_changed()</a:t>
            </a:r>
            <a:endParaRPr lang="en-US" sz="2000"/>
          </a:p>
        </p:txBody>
      </p:sp>
      <p:sp>
        <p:nvSpPr>
          <p:cNvPr id="4" name="Title 1">
            <a:extLst>
              <a:ext uri="{FF2B5EF4-FFF2-40B4-BE49-F238E27FC236}">
                <a16:creationId xmlns:a16="http://schemas.microsoft.com/office/drawing/2014/main" id="{B380CDCA-12E8-42CF-A849-8DE0A64ED01F}"/>
              </a:ext>
            </a:extLst>
          </p:cNvPr>
          <p:cNvSpPr>
            <a:spLocks noGrp="1"/>
          </p:cNvSpPr>
          <p:nvPr>
            <p:ph type="title"/>
          </p:nvPr>
        </p:nvSpPr>
        <p:spPr>
          <a:xfrm>
            <a:off x="9624" y="19250"/>
            <a:ext cx="9134375" cy="933651"/>
          </a:xfrm>
        </p:spPr>
        <p:txBody>
          <a:bodyPr>
            <a:normAutofit/>
          </a:bodyPr>
          <a:lstStyle/>
          <a:p>
            <a:r>
              <a:rPr lang="en-US" b="1"/>
              <a:t>Cách tạo QSpinBox trong PyQt5 (t.t)</a:t>
            </a:r>
          </a:p>
        </p:txBody>
      </p:sp>
      <p:sp>
        <p:nvSpPr>
          <p:cNvPr id="5" name="Rectangle 4">
            <a:extLst>
              <a:ext uri="{FF2B5EF4-FFF2-40B4-BE49-F238E27FC236}">
                <a16:creationId xmlns:a16="http://schemas.microsoft.com/office/drawing/2014/main" id="{B2B10958-F696-48DD-A9F1-72BAEF9873E7}"/>
              </a:ext>
            </a:extLst>
          </p:cNvPr>
          <p:cNvSpPr/>
          <p:nvPr/>
        </p:nvSpPr>
        <p:spPr>
          <a:xfrm>
            <a:off x="2846715" y="852521"/>
            <a:ext cx="6297284" cy="5632311"/>
          </a:xfrm>
          <a:prstGeom prst="rect">
            <a:avLst/>
          </a:prstGeom>
        </p:spPr>
        <p:txBody>
          <a:bodyPr wrap="square">
            <a:spAutoFit/>
          </a:bodyPr>
          <a:lstStyle/>
          <a:p>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0000"/>
                </a:solidFill>
                <a:latin typeface="Monaco"/>
              </a:rPr>
              <a:t> </a:t>
            </a: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lvl="1"/>
            <a:r>
              <a:rPr lang="en-US" sz="2000">
                <a:solidFill>
                  <a:srgbClr val="006FE0"/>
                </a:solidFill>
                <a:latin typeface="inherit"/>
              </a:rPr>
              <a:t> ...</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a:t>
            </a:r>
            <a:r>
              <a:rPr lang="en-US" sz="2000">
                <a:solidFill>
                  <a:srgbClr val="004ED0"/>
                </a:solidFill>
                <a:latin typeface="inherit"/>
              </a:rPr>
              <a:t>QVBoxLayout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spinbox</a:t>
            </a:r>
            <a:r>
              <a:rPr lang="en-US" sz="2000">
                <a:solidFill>
                  <a:srgbClr val="006FE0"/>
                </a:solidFill>
                <a:latin typeface="inherit"/>
              </a:rPr>
              <a:t> = </a:t>
            </a:r>
            <a:r>
              <a:rPr lang="en-US" sz="2000">
                <a:solidFill>
                  <a:srgbClr val="004ED0"/>
                </a:solidFill>
                <a:latin typeface="inherit"/>
              </a:rPr>
              <a:t>QSpinBox</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spinbox</a:t>
            </a:r>
            <a:r>
              <a:rPr lang="en-US" sz="2000">
                <a:solidFill>
                  <a:srgbClr val="333333"/>
                </a:solidFill>
                <a:latin typeface="inherit"/>
              </a:rPr>
              <a:t>.</a:t>
            </a:r>
            <a:r>
              <a:rPr lang="en-US" sz="2000">
                <a:solidFill>
                  <a:srgbClr val="002D7A"/>
                </a:solidFill>
                <a:latin typeface="inherit"/>
              </a:rPr>
              <a:t>valueChanged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spin_changed</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spinbox</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006FE0"/>
                </a:solidFill>
                <a:latin typeface="inherit"/>
              </a:rPr>
              <a:t> = </a:t>
            </a:r>
            <a:r>
              <a:rPr lang="en-US" sz="2000">
                <a:solidFill>
                  <a:srgbClr val="004ED0"/>
                </a:solidFill>
                <a:latin typeface="inherit"/>
              </a:rPr>
              <a:t>QLabel</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setAlignment</a:t>
            </a:r>
            <a:r>
              <a:rPr lang="en-US" sz="2000">
                <a:solidFill>
                  <a:srgbClr val="333333"/>
                </a:solidFill>
                <a:latin typeface="inherit"/>
              </a:rPr>
              <a:t>(</a:t>
            </a:r>
            <a:r>
              <a:rPr lang="en-US" sz="2000">
                <a:solidFill>
                  <a:srgbClr val="002D7A"/>
                </a:solidFill>
                <a:latin typeface="inherit"/>
              </a:rPr>
              <a:t>Qt</a:t>
            </a:r>
            <a:r>
              <a:rPr lang="en-US" sz="2000">
                <a:solidFill>
                  <a:srgbClr val="333333"/>
                </a:solidFill>
                <a:latin typeface="inherit"/>
              </a:rPr>
              <a:t>.</a:t>
            </a:r>
            <a:r>
              <a:rPr lang="en-US" sz="2000">
                <a:solidFill>
                  <a:srgbClr val="002D7A"/>
                </a:solidFill>
                <a:latin typeface="inherit"/>
              </a:rPr>
              <a:t>AlignCenter</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15</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a:solidFill>
                <a:srgbClr val="000000"/>
              </a:solidFill>
              <a:latin typeface="Monaco"/>
            </a:endParaRPr>
          </a:p>
          <a:p>
            <a:r>
              <a:rPr lang="en-US" sz="2000">
                <a:solidFill>
                  <a:srgbClr val="000000"/>
                </a:solidFill>
                <a:latin typeface="Monaco"/>
              </a:rPr>
              <a:t> </a:t>
            </a:r>
          </a:p>
          <a:p>
            <a:r>
              <a:rPr lang="en-US" sz="2000">
                <a:solidFill>
                  <a:srgbClr val="006FE0"/>
                </a:solidFill>
                <a:latin typeface="inherit"/>
              </a:rPr>
              <a:t>    </a:t>
            </a:r>
            <a:r>
              <a:rPr lang="en-US" sz="2000">
                <a:solidFill>
                  <a:srgbClr val="004ED0"/>
                </a:solidFill>
                <a:latin typeface="inherit"/>
              </a:rPr>
              <a:t>def spin_changed</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spinValue</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spinbox</a:t>
            </a:r>
            <a:r>
              <a:rPr lang="en-US" sz="2000">
                <a:solidFill>
                  <a:srgbClr val="333333"/>
                </a:solidFill>
                <a:latin typeface="inherit"/>
              </a:rPr>
              <a:t>.</a:t>
            </a:r>
            <a:r>
              <a:rPr lang="en-US" sz="2000">
                <a:solidFill>
                  <a:srgbClr val="004ED0"/>
                </a:solidFill>
                <a:latin typeface="inherit"/>
              </a:rPr>
              <a:t>value</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setText</a:t>
            </a:r>
            <a:r>
              <a:rPr lang="en-US" sz="2000">
                <a:solidFill>
                  <a:srgbClr val="333333"/>
                </a:solidFill>
                <a:latin typeface="inherit"/>
              </a:rPr>
              <a:t>(</a:t>
            </a:r>
            <a:r>
              <a:rPr lang="en-US" sz="2000">
                <a:solidFill>
                  <a:srgbClr val="008000"/>
                </a:solidFill>
                <a:latin typeface="inherit"/>
              </a:rPr>
              <a:t>"Current Value Is : "</a:t>
            </a:r>
            <a:r>
              <a:rPr lang="en-US" sz="2000">
                <a:solidFill>
                  <a:srgbClr val="006FE0"/>
                </a:solidFill>
                <a:latin typeface="inherit"/>
              </a:rPr>
              <a:t> + </a:t>
            </a:r>
            <a:r>
              <a:rPr lang="en-US" sz="2000">
                <a:solidFill>
                  <a:srgbClr val="004ED0"/>
                </a:solidFill>
                <a:latin typeface="inherit"/>
              </a:rPr>
              <a:t>str</a:t>
            </a:r>
            <a:r>
              <a:rPr lang="en-US" sz="2000">
                <a:solidFill>
                  <a:srgbClr val="333333"/>
                </a:solidFill>
                <a:latin typeface="inherit"/>
              </a:rPr>
              <a:t>(</a:t>
            </a:r>
            <a:r>
              <a:rPr lang="en-US" sz="2000">
                <a:solidFill>
                  <a:srgbClr val="002D7A"/>
                </a:solidFill>
                <a:latin typeface="inherit"/>
              </a:rPr>
              <a:t>spinValue</a:t>
            </a:r>
            <a:r>
              <a:rPr lang="en-US" sz="2000">
                <a:solidFill>
                  <a:srgbClr val="333333"/>
                </a:solidFill>
                <a:latin typeface="inherit"/>
              </a:rPr>
              <a:t>))</a:t>
            </a:r>
            <a:endParaRPr lang="en-US" sz="2000" b="0" i="0">
              <a:solidFill>
                <a:srgbClr val="000000"/>
              </a:solidFill>
              <a:effectLst/>
              <a:latin typeface="Monaco"/>
            </a:endParaRPr>
          </a:p>
        </p:txBody>
      </p:sp>
      <p:pic>
        <p:nvPicPr>
          <p:cNvPr id="1026" name="Picture 2">
            <a:extLst>
              <a:ext uri="{FF2B5EF4-FFF2-40B4-BE49-F238E27FC236}">
                <a16:creationId xmlns:a16="http://schemas.microsoft.com/office/drawing/2014/main" id="{87154205-DBF3-4494-83B6-7CBD3EB2E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3" y="3314096"/>
            <a:ext cx="2837091" cy="2058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7037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0E212-4446-4836-AA13-0DE686BD4590}"/>
              </a:ext>
            </a:extLst>
          </p:cNvPr>
          <p:cNvSpPr>
            <a:spLocks noGrp="1"/>
          </p:cNvSpPr>
          <p:nvPr>
            <p:ph type="title"/>
          </p:nvPr>
        </p:nvSpPr>
        <p:spPr/>
        <p:txBody>
          <a:bodyPr>
            <a:noAutofit/>
          </a:bodyPr>
          <a:lstStyle/>
          <a:p>
            <a:r>
              <a:rPr lang="en-US" b="1"/>
              <a:t>Tạo số ngẫu nhiên với QLCDNumber</a:t>
            </a:r>
          </a:p>
        </p:txBody>
      </p:sp>
      <p:sp>
        <p:nvSpPr>
          <p:cNvPr id="3" name="Content Placeholder 2">
            <a:extLst>
              <a:ext uri="{FF2B5EF4-FFF2-40B4-BE49-F238E27FC236}">
                <a16:creationId xmlns:a16="http://schemas.microsoft.com/office/drawing/2014/main" id="{2BF4D8D6-AB61-4B28-9365-201CD6073265}"/>
              </a:ext>
            </a:extLst>
          </p:cNvPr>
          <p:cNvSpPr>
            <a:spLocks noGrp="1"/>
          </p:cNvSpPr>
          <p:nvPr>
            <p:ph idx="1"/>
          </p:nvPr>
        </p:nvSpPr>
        <p:spPr/>
        <p:txBody>
          <a:bodyPr/>
          <a:lstStyle/>
          <a:p>
            <a:pPr marL="0" indent="0">
              <a:buNone/>
            </a:pPr>
            <a:r>
              <a:rPr lang="en-US"/>
              <a:t>Widget </a:t>
            </a:r>
            <a:r>
              <a:rPr lang="vi-VN"/>
              <a:t>QLCDNumber hiển thị một số có chữ số giống LCD. Nó có thể hiển thị một số ở bất kỳ kích thước nào. Nó có thể hiển thị số thập phân, thập lục phân, bát phân hoặc nhị phân. </a:t>
            </a:r>
            <a:r>
              <a:rPr lang="en-US"/>
              <a:t>Và </a:t>
            </a:r>
            <a:r>
              <a:rPr lang="vi-VN"/>
              <a:t>dễ dàng để kết nối với các nguồn dữ liệu bằng cách sử dụng </a:t>
            </a:r>
            <a:r>
              <a:rPr lang="en-US"/>
              <a:t>slot </a:t>
            </a:r>
            <a:r>
              <a:rPr lang="vi-VN"/>
              <a:t>display(), </a:t>
            </a:r>
            <a:r>
              <a:rPr lang="en-US"/>
              <a:t>nó đ</a:t>
            </a:r>
            <a:r>
              <a:rPr lang="vi-VN"/>
              <a:t>ư</a:t>
            </a:r>
            <a:r>
              <a:rPr lang="en-US"/>
              <a:t>ợc </a:t>
            </a:r>
            <a:r>
              <a:rPr lang="vi-VN"/>
              <a:t>quá tải để lấy bất kỳ loại nào trong năm loại đối số.</a:t>
            </a:r>
          </a:p>
        </p:txBody>
      </p:sp>
      <p:graphicFrame>
        <p:nvGraphicFramePr>
          <p:cNvPr id="4" name="Table 3">
            <a:extLst>
              <a:ext uri="{FF2B5EF4-FFF2-40B4-BE49-F238E27FC236}">
                <a16:creationId xmlns:a16="http://schemas.microsoft.com/office/drawing/2014/main" id="{FA692D9F-FA4F-4A94-AC69-41F584B1B1F3}"/>
              </a:ext>
            </a:extLst>
          </p:cNvPr>
          <p:cNvGraphicFramePr>
            <a:graphicFrameLocks noGrp="1"/>
          </p:cNvGraphicFramePr>
          <p:nvPr>
            <p:extLst>
              <p:ext uri="{D42A27DB-BD31-4B8C-83A1-F6EECF244321}">
                <p14:modId xmlns:p14="http://schemas.microsoft.com/office/powerpoint/2010/main" val="552530664"/>
              </p:ext>
            </p:extLst>
          </p:nvPr>
        </p:nvGraphicFramePr>
        <p:xfrm>
          <a:off x="19248" y="3639521"/>
          <a:ext cx="9124751" cy="1920240"/>
        </p:xfrm>
        <a:graphic>
          <a:graphicData uri="http://schemas.openxmlformats.org/drawingml/2006/table">
            <a:tbl>
              <a:tblPr/>
              <a:tblGrid>
                <a:gridCol w="696601">
                  <a:extLst>
                    <a:ext uri="{9D8B030D-6E8A-4147-A177-3AD203B41FA5}">
                      <a16:colId xmlns:a16="http://schemas.microsoft.com/office/drawing/2014/main" val="2359004872"/>
                    </a:ext>
                  </a:extLst>
                </a:gridCol>
                <a:gridCol w="8428150">
                  <a:extLst>
                    <a:ext uri="{9D8B030D-6E8A-4147-A177-3AD203B41FA5}">
                      <a16:colId xmlns:a16="http://schemas.microsoft.com/office/drawing/2014/main" val="809230466"/>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5499DE"/>
                        </a:solidFill>
                        <a:effectLst/>
                        <a:latin typeface="inherit"/>
                      </a:endParaRPr>
                    </a:p>
                    <a:p>
                      <a:pPr algn="ctr" fontAlgn="t"/>
                      <a:r>
                        <a:rPr lang="en-US" sz="2400" b="0">
                          <a:solidFill>
                            <a:srgbClr val="317CC5"/>
                          </a:solidFill>
                          <a:effectLst/>
                          <a:latin typeface="inherit"/>
                        </a:rPr>
                        <a:t>3</a:t>
                      </a:r>
                    </a:p>
                    <a:p>
                      <a:pPr algn="ctr" fontAlgn="t"/>
                      <a:r>
                        <a:rPr lang="en-US" sz="24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QWidget</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QVBoxLayout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QLCDNumber</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QPushButton</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random import </a:t>
                      </a:r>
                      <a:r>
                        <a:rPr lang="en-US" sz="2400" b="0">
                          <a:solidFill>
                            <a:srgbClr val="002D7A"/>
                          </a:solidFill>
                          <a:effectLst/>
                          <a:latin typeface="inherit"/>
                        </a:rPr>
                        <a:t>randint</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4290182319"/>
                  </a:ext>
                </a:extLst>
              </a:tr>
            </a:tbl>
          </a:graphicData>
        </a:graphic>
      </p:graphicFrame>
    </p:spTree>
    <p:extLst>
      <p:ext uri="{BB962C8B-B14F-4D97-AF65-F5344CB8AC3E}">
        <p14:creationId xmlns:p14="http://schemas.microsoft.com/office/powerpoint/2010/main" val="3137502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7E80E-55CB-471A-8E8E-D9FAB6F02BA2}"/>
              </a:ext>
            </a:extLst>
          </p:cNvPr>
          <p:cNvSpPr>
            <a:spLocks noGrp="1"/>
          </p:cNvSpPr>
          <p:nvPr>
            <p:ph type="title"/>
          </p:nvPr>
        </p:nvSpPr>
        <p:spPr>
          <a:xfrm>
            <a:off x="9624" y="19251"/>
            <a:ext cx="9134375" cy="679490"/>
          </a:xfrm>
        </p:spPr>
        <p:txBody>
          <a:bodyPr>
            <a:normAutofit fontScale="90000"/>
          </a:bodyPr>
          <a:lstStyle/>
          <a:p>
            <a:r>
              <a:rPr lang="en-US" b="1"/>
              <a:t>Tạo số ngẫu nhiên với QLCDNumber (t.t)</a:t>
            </a:r>
            <a:endParaRPr lang="en-US"/>
          </a:p>
        </p:txBody>
      </p:sp>
      <p:sp>
        <p:nvSpPr>
          <p:cNvPr id="3" name="Content Placeholder 2">
            <a:extLst>
              <a:ext uri="{FF2B5EF4-FFF2-40B4-BE49-F238E27FC236}">
                <a16:creationId xmlns:a16="http://schemas.microsoft.com/office/drawing/2014/main" id="{E5996192-0459-4664-882F-A01117B49E30}"/>
              </a:ext>
            </a:extLst>
          </p:cNvPr>
          <p:cNvSpPr>
            <a:spLocks noGrp="1"/>
          </p:cNvSpPr>
          <p:nvPr>
            <p:ph idx="1"/>
          </p:nvPr>
        </p:nvSpPr>
        <p:spPr>
          <a:xfrm>
            <a:off x="9624" y="698741"/>
            <a:ext cx="2059718" cy="6027867"/>
          </a:xfrm>
        </p:spPr>
        <p:txBody>
          <a:bodyPr>
            <a:normAutofit/>
          </a:bodyPr>
          <a:lstStyle/>
          <a:p>
            <a:pPr marL="0" indent="0">
              <a:buNone/>
            </a:pPr>
            <a:r>
              <a:rPr lang="en-US" sz="2200"/>
              <a:t>T</a:t>
            </a:r>
            <a:r>
              <a:rPr lang="vi-VN" sz="2200"/>
              <a:t>ạo lớp cửa sổ chính kế thừa từ QWidget trong lớp Window </a:t>
            </a:r>
            <a:r>
              <a:rPr lang="en-US" sz="2200"/>
              <a:t>và </a:t>
            </a:r>
            <a:r>
              <a:rPr lang="vi-VN" sz="2200"/>
              <a:t>thêm một số yêu cầu của Window như </a:t>
            </a:r>
            <a:r>
              <a:rPr lang="en-US" sz="2200"/>
              <a:t>các bài tr</a:t>
            </a:r>
            <a:r>
              <a:rPr lang="vi-VN" sz="2200"/>
              <a:t>ư</a:t>
            </a:r>
            <a:r>
              <a:rPr lang="en-US" sz="2200"/>
              <a:t>ớc. Trong </a:t>
            </a:r>
            <a:r>
              <a:rPr lang="vi-VN" sz="2200"/>
              <a:t>phương thức initUI () tạo các thành phần ui</a:t>
            </a:r>
            <a:r>
              <a:rPr lang="en-US" sz="2200"/>
              <a:t> </a:t>
            </a:r>
            <a:r>
              <a:rPr lang="vi-VN" sz="2200"/>
              <a:t>như</a:t>
            </a:r>
            <a:r>
              <a:rPr lang="en-US" sz="2200"/>
              <a:t> </a:t>
            </a:r>
            <a:r>
              <a:rPr lang="vi-VN" sz="2200"/>
              <a:t>QVBoxLayout,</a:t>
            </a:r>
            <a:r>
              <a:rPr lang="en-US" sz="2200"/>
              <a:t> </a:t>
            </a:r>
            <a:r>
              <a:rPr lang="vi-VN" sz="2200"/>
              <a:t>QPushButton</a:t>
            </a:r>
            <a:r>
              <a:rPr lang="en-US" sz="2200"/>
              <a:t> </a:t>
            </a:r>
            <a:r>
              <a:rPr lang="vi-VN" sz="2200"/>
              <a:t>và QLCDNumber</a:t>
            </a:r>
          </a:p>
        </p:txBody>
      </p:sp>
      <p:sp>
        <p:nvSpPr>
          <p:cNvPr id="4" name="Rectangle 3">
            <a:extLst>
              <a:ext uri="{FF2B5EF4-FFF2-40B4-BE49-F238E27FC236}">
                <a16:creationId xmlns:a16="http://schemas.microsoft.com/office/drawing/2014/main" id="{EB143069-20F8-4BB4-9577-B703BE41B9E1}"/>
              </a:ext>
            </a:extLst>
          </p:cNvPr>
          <p:cNvSpPr/>
          <p:nvPr/>
        </p:nvSpPr>
        <p:spPr>
          <a:xfrm>
            <a:off x="2069342" y="652440"/>
            <a:ext cx="7065034" cy="6186309"/>
          </a:xfrm>
          <a:prstGeom prst="rect">
            <a:avLst/>
          </a:prstGeom>
        </p:spPr>
        <p:txBody>
          <a:bodyPr wrap="square">
            <a:spAutoFit/>
          </a:bodyPr>
          <a:lstStyle/>
          <a:p>
            <a:r>
              <a:rPr lang="en-US" sz="2200">
                <a:solidFill>
                  <a:srgbClr val="800080"/>
                </a:solidFill>
                <a:latin typeface="inherit"/>
              </a:rPr>
              <a:t>class</a:t>
            </a:r>
            <a:r>
              <a:rPr lang="en-US" sz="2200">
                <a:solidFill>
                  <a:srgbClr val="006FE0"/>
                </a:solidFill>
                <a:latin typeface="inherit"/>
              </a:rPr>
              <a:t> </a:t>
            </a:r>
            <a:r>
              <a:rPr lang="en-US" sz="2200">
                <a:solidFill>
                  <a:srgbClr val="004ED0"/>
                </a:solidFill>
                <a:latin typeface="inherit"/>
              </a:rPr>
              <a:t>Window</a:t>
            </a:r>
            <a:r>
              <a:rPr lang="en-US" sz="2200">
                <a:solidFill>
                  <a:srgbClr val="333333"/>
                </a:solidFill>
                <a:latin typeface="inherit"/>
              </a:rPr>
              <a:t>(</a:t>
            </a:r>
            <a:r>
              <a:rPr lang="en-US" sz="2200">
                <a:solidFill>
                  <a:srgbClr val="002D7A"/>
                </a:solidFill>
                <a:latin typeface="inherit"/>
              </a:rPr>
              <a:t>QWidget</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4ED0"/>
                </a:solidFill>
                <a:latin typeface="inherit"/>
              </a:rPr>
              <a:t>def __init__</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super</a:t>
            </a:r>
            <a:r>
              <a:rPr lang="en-US" sz="2200">
                <a:solidFill>
                  <a:srgbClr val="333333"/>
                </a:solidFill>
                <a:latin typeface="inherit"/>
              </a:rPr>
              <a:t>().</a:t>
            </a:r>
            <a:r>
              <a:rPr lang="en-US" sz="2200">
                <a:solidFill>
                  <a:srgbClr val="004ED0"/>
                </a:solidFill>
                <a:latin typeface="inherit"/>
              </a:rPr>
              <a:t>__init__</a:t>
            </a:r>
            <a:r>
              <a:rPr lang="en-US" sz="2200">
                <a:solidFill>
                  <a:srgbClr val="333333"/>
                </a:solidFill>
                <a:latin typeface="inherit"/>
              </a:rPr>
              <a:t>()</a:t>
            </a:r>
            <a:endParaRPr lang="en-US" sz="2200">
              <a:solidFill>
                <a:srgbClr val="000000"/>
              </a:solidFill>
              <a:latin typeface="Monaco"/>
            </a:endParaRPr>
          </a:p>
          <a:p>
            <a:pPr lvl="1"/>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InitUi</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show</a:t>
            </a:r>
            <a:r>
              <a:rPr lang="en-US" sz="2200">
                <a:solidFill>
                  <a:srgbClr val="333333"/>
                </a:solidFill>
                <a:latin typeface="inherit"/>
              </a:rPr>
              <a:t>()</a:t>
            </a:r>
            <a:endParaRPr lang="en-US" sz="2200">
              <a:solidFill>
                <a:srgbClr val="000000"/>
              </a:solidFill>
              <a:latin typeface="Monaco"/>
            </a:endParaRPr>
          </a:p>
          <a:p>
            <a:r>
              <a:rPr lang="en-US" sz="2200">
                <a:solidFill>
                  <a:srgbClr val="000000"/>
                </a:solidFill>
                <a:latin typeface="Monaco"/>
              </a:rPr>
              <a:t> </a:t>
            </a:r>
          </a:p>
          <a:p>
            <a:r>
              <a:rPr lang="en-US" sz="2200">
                <a:solidFill>
                  <a:srgbClr val="006FE0"/>
                </a:solidFill>
                <a:latin typeface="inherit"/>
              </a:rPr>
              <a:t>    </a:t>
            </a:r>
            <a:r>
              <a:rPr lang="en-US" sz="2200">
                <a:solidFill>
                  <a:srgbClr val="004ED0"/>
                </a:solidFill>
                <a:latin typeface="inherit"/>
              </a:rPr>
              <a:t>def InitUi</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006FE0"/>
                </a:solidFill>
                <a:latin typeface="inherit"/>
              </a:rPr>
              <a:t> = </a:t>
            </a:r>
            <a:r>
              <a:rPr lang="en-US" sz="2200">
                <a:solidFill>
                  <a:srgbClr val="004ED0"/>
                </a:solidFill>
                <a:latin typeface="inherit"/>
              </a:rPr>
              <a:t>QVBoxLayout</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lcd</a:t>
            </a:r>
            <a:r>
              <a:rPr lang="en-US" sz="2200">
                <a:solidFill>
                  <a:srgbClr val="006FE0"/>
                </a:solidFill>
                <a:latin typeface="inherit"/>
              </a:rPr>
              <a:t> = </a:t>
            </a:r>
            <a:r>
              <a:rPr lang="en-US" sz="2200">
                <a:solidFill>
                  <a:srgbClr val="004ED0"/>
                </a:solidFill>
                <a:latin typeface="inherit"/>
              </a:rPr>
              <a:t>QLCDNumber</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lcd</a:t>
            </a:r>
            <a:r>
              <a:rPr lang="en-US" sz="2200">
                <a:solidFill>
                  <a:srgbClr val="333333"/>
                </a:solidFill>
                <a:latin typeface="inherit"/>
              </a:rPr>
              <a:t>.</a:t>
            </a:r>
            <a:r>
              <a:rPr lang="en-US" sz="2200">
                <a:solidFill>
                  <a:srgbClr val="004ED0"/>
                </a:solidFill>
                <a:latin typeface="inherit"/>
              </a:rPr>
              <a:t>display</a:t>
            </a:r>
            <a:r>
              <a:rPr lang="en-US" sz="2200">
                <a:solidFill>
                  <a:srgbClr val="333333"/>
                </a:solidFill>
                <a:latin typeface="inherit"/>
              </a:rPr>
              <a:t>(</a:t>
            </a:r>
            <a:r>
              <a:rPr lang="en-US" sz="2200">
                <a:solidFill>
                  <a:srgbClr val="CE0000"/>
                </a:solidFill>
                <a:latin typeface="inherit"/>
              </a:rPr>
              <a:t>60</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lcd</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lcd</a:t>
            </a:r>
            <a:r>
              <a:rPr lang="en-US" sz="2200">
                <a:solidFill>
                  <a:srgbClr val="333333"/>
                </a:solidFill>
                <a:latin typeface="inherit"/>
              </a:rPr>
              <a:t>.</a:t>
            </a:r>
            <a:r>
              <a:rPr lang="en-US" sz="2200">
                <a:solidFill>
                  <a:srgbClr val="004ED0"/>
                </a:solidFill>
                <a:latin typeface="inherit"/>
              </a:rPr>
              <a:t>setStyleSheet</a:t>
            </a:r>
            <a:r>
              <a:rPr lang="en-US" sz="2200">
                <a:solidFill>
                  <a:srgbClr val="333333"/>
                </a:solidFill>
                <a:latin typeface="inherit"/>
              </a:rPr>
              <a:t>(</a:t>
            </a:r>
            <a:r>
              <a:rPr lang="en-US" sz="2200">
                <a:solidFill>
                  <a:srgbClr val="008000"/>
                </a:solidFill>
                <a:latin typeface="inherit"/>
              </a:rPr>
              <a:t>'background-color:green'</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button</a:t>
            </a:r>
            <a:r>
              <a:rPr lang="en-US" sz="2200">
                <a:solidFill>
                  <a:srgbClr val="006FE0"/>
                </a:solidFill>
                <a:latin typeface="inherit"/>
              </a:rPr>
              <a:t> = </a:t>
            </a:r>
            <a:r>
              <a:rPr lang="en-US" sz="2200">
                <a:solidFill>
                  <a:srgbClr val="004ED0"/>
                </a:solidFill>
                <a:latin typeface="inherit"/>
              </a:rPr>
              <a:t>QPushButton</a:t>
            </a:r>
            <a:r>
              <a:rPr lang="en-US" sz="2200">
                <a:solidFill>
                  <a:srgbClr val="333333"/>
                </a:solidFill>
                <a:latin typeface="inherit"/>
              </a:rPr>
              <a:t>(</a:t>
            </a:r>
            <a:r>
              <a:rPr lang="en-US" sz="2200">
                <a:solidFill>
                  <a:srgbClr val="008000"/>
                </a:solidFill>
                <a:latin typeface="inherit"/>
              </a:rPr>
              <a:t>"Radom Number Gererator"</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button</a:t>
            </a:r>
            <a:r>
              <a:rPr lang="en-US" sz="2200">
                <a:solidFill>
                  <a:srgbClr val="333333"/>
                </a:solidFill>
                <a:latin typeface="inherit"/>
              </a:rPr>
              <a:t>.</a:t>
            </a:r>
            <a:r>
              <a:rPr lang="en-US" sz="2200">
                <a:solidFill>
                  <a:srgbClr val="004ED0"/>
                </a:solidFill>
                <a:latin typeface="inherit"/>
              </a:rPr>
              <a:t>setStyleSheet</a:t>
            </a:r>
            <a:r>
              <a:rPr lang="en-US" sz="2200">
                <a:solidFill>
                  <a:srgbClr val="333333"/>
                </a:solidFill>
                <a:latin typeface="inherit"/>
              </a:rPr>
              <a:t>(</a:t>
            </a:r>
            <a:r>
              <a:rPr lang="en-US" sz="2200">
                <a:solidFill>
                  <a:srgbClr val="008000"/>
                </a:solidFill>
                <a:latin typeface="inherit"/>
              </a:rPr>
              <a:t>'background-color:yellow'</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button</a:t>
            </a:r>
            <a:r>
              <a:rPr lang="en-US" sz="2200">
                <a:solidFill>
                  <a:srgbClr val="333333"/>
                </a:solidFill>
                <a:latin typeface="inherit"/>
              </a:rPr>
              <a:t>.</a:t>
            </a:r>
            <a:r>
              <a:rPr lang="en-US" sz="2200">
                <a:solidFill>
                  <a:srgbClr val="002D7A"/>
                </a:solidFill>
                <a:latin typeface="inherit"/>
              </a:rPr>
              <a:t>clicked</a:t>
            </a:r>
            <a:r>
              <a:rPr lang="en-US" sz="2200">
                <a:solidFill>
                  <a:srgbClr val="333333"/>
                </a:solidFill>
                <a:latin typeface="inherit"/>
              </a:rPr>
              <a:t>.</a:t>
            </a:r>
            <a:r>
              <a:rPr lang="en-US" sz="2200">
                <a:solidFill>
                  <a:srgbClr val="004ED0"/>
                </a:solidFill>
                <a:latin typeface="inherit"/>
              </a:rPr>
              <a:t>connect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lcdHanlder</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002D7A"/>
                </a:solidFill>
                <a:latin typeface="inherit"/>
              </a:rPr>
              <a:t>vbox</a:t>
            </a:r>
            <a:r>
              <a:rPr lang="en-US" sz="2200">
                <a:solidFill>
                  <a:srgbClr val="333333"/>
                </a:solidFill>
                <a:latin typeface="inherit"/>
              </a:rPr>
              <a:t>.</a:t>
            </a:r>
            <a:r>
              <a:rPr lang="en-US" sz="2200">
                <a:solidFill>
                  <a:srgbClr val="004ED0"/>
                </a:solidFill>
                <a:latin typeface="inherit"/>
              </a:rPr>
              <a:t>addWidget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button</a:t>
            </a:r>
            <a:r>
              <a:rPr lang="en-US" sz="2200">
                <a:solidFill>
                  <a:srgbClr val="333333"/>
                </a:solidFill>
                <a:latin typeface="inherit"/>
              </a:rPr>
              <a:t>)</a:t>
            </a:r>
            <a:endParaRPr lang="en-US" sz="2200">
              <a:solidFill>
                <a:srgbClr val="000000"/>
              </a:solidFill>
              <a:latin typeface="Monaco"/>
            </a:endParaRPr>
          </a:p>
          <a:p>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setLayout</a:t>
            </a:r>
            <a:r>
              <a:rPr lang="en-US" sz="2200">
                <a:solidFill>
                  <a:srgbClr val="333333"/>
                </a:solidFill>
                <a:latin typeface="inherit"/>
              </a:rPr>
              <a:t>(</a:t>
            </a:r>
            <a:r>
              <a:rPr lang="en-US" sz="2200">
                <a:solidFill>
                  <a:srgbClr val="002D7A"/>
                </a:solidFill>
                <a:latin typeface="inherit"/>
              </a:rPr>
              <a:t>vbox</a:t>
            </a:r>
            <a:r>
              <a:rPr lang="en-US" sz="2200">
                <a:solidFill>
                  <a:srgbClr val="333333"/>
                </a:solidFill>
                <a:latin typeface="inherit"/>
              </a:rPr>
              <a:t>)</a:t>
            </a:r>
            <a:endParaRPr lang="en-US" sz="2200" b="0" i="0">
              <a:solidFill>
                <a:srgbClr val="000000"/>
              </a:solidFill>
              <a:effectLst/>
              <a:latin typeface="Monaco"/>
            </a:endParaRPr>
          </a:p>
        </p:txBody>
      </p:sp>
    </p:spTree>
    <p:extLst>
      <p:ext uri="{BB962C8B-B14F-4D97-AF65-F5344CB8AC3E}">
        <p14:creationId xmlns:p14="http://schemas.microsoft.com/office/powerpoint/2010/main" val="42909644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C34A4D-3C7B-4DFE-97C9-30AAA270CC95}"/>
              </a:ext>
            </a:extLst>
          </p:cNvPr>
          <p:cNvSpPr>
            <a:spLocks noGrp="1"/>
          </p:cNvSpPr>
          <p:nvPr>
            <p:ph idx="1"/>
          </p:nvPr>
        </p:nvSpPr>
        <p:spPr>
          <a:xfrm>
            <a:off x="9624" y="698742"/>
            <a:ext cx="9134375" cy="1113913"/>
          </a:xfrm>
        </p:spPr>
        <p:txBody>
          <a:bodyPr>
            <a:normAutofit/>
          </a:bodyPr>
          <a:lstStyle/>
          <a:p>
            <a:pPr marL="0" indent="0" algn="just">
              <a:buNone/>
            </a:pPr>
            <a:r>
              <a:rPr lang="vi-VN" sz="2400"/>
              <a:t>Bây giờ chúng t</a:t>
            </a:r>
            <a:r>
              <a:rPr lang="en-US" sz="2400"/>
              <a:t>a</a:t>
            </a:r>
            <a:r>
              <a:rPr lang="vi-VN" sz="2400"/>
              <a:t> tạo một </a:t>
            </a:r>
            <a:r>
              <a:rPr lang="en-US" sz="2400"/>
              <a:t>slot </a:t>
            </a:r>
            <a:r>
              <a:rPr lang="vi-VN" sz="2400"/>
              <a:t>hoặc phương thức để kết nối với </a:t>
            </a:r>
            <a:r>
              <a:rPr lang="en-US" sz="2400"/>
              <a:t>signal </a:t>
            </a:r>
            <a:r>
              <a:rPr lang="vi-VN" sz="2400"/>
              <a:t>được nhấp của QPushButton nó là một phương thức </a:t>
            </a:r>
            <a:r>
              <a:rPr lang="en-US" sz="2400"/>
              <a:t>bộ phát sinh </a:t>
            </a:r>
            <a:r>
              <a:rPr lang="vi-VN" sz="2400"/>
              <a:t>ngẫu nhiên</a:t>
            </a:r>
          </a:p>
        </p:txBody>
      </p:sp>
      <p:sp>
        <p:nvSpPr>
          <p:cNvPr id="4" name="Title 1">
            <a:extLst>
              <a:ext uri="{FF2B5EF4-FFF2-40B4-BE49-F238E27FC236}">
                <a16:creationId xmlns:a16="http://schemas.microsoft.com/office/drawing/2014/main" id="{36B79A8C-DFED-489F-A088-364D203E08EA}"/>
              </a:ext>
            </a:extLst>
          </p:cNvPr>
          <p:cNvSpPr>
            <a:spLocks noGrp="1"/>
          </p:cNvSpPr>
          <p:nvPr>
            <p:ph type="title"/>
          </p:nvPr>
        </p:nvSpPr>
        <p:spPr>
          <a:xfrm>
            <a:off x="9624" y="19251"/>
            <a:ext cx="9134375" cy="679490"/>
          </a:xfrm>
        </p:spPr>
        <p:txBody>
          <a:bodyPr>
            <a:normAutofit fontScale="90000"/>
          </a:bodyPr>
          <a:lstStyle/>
          <a:p>
            <a:r>
              <a:rPr lang="en-US" b="1"/>
              <a:t>Tạo số ngẫu nhiên với QLCDNumber (t.t)</a:t>
            </a:r>
            <a:endParaRPr lang="en-US"/>
          </a:p>
        </p:txBody>
      </p:sp>
      <p:sp>
        <p:nvSpPr>
          <p:cNvPr id="5" name="Rectangle 4">
            <a:extLst>
              <a:ext uri="{FF2B5EF4-FFF2-40B4-BE49-F238E27FC236}">
                <a16:creationId xmlns:a16="http://schemas.microsoft.com/office/drawing/2014/main" id="{96560D95-9987-4258-900B-4D844D0A4B3E}"/>
              </a:ext>
            </a:extLst>
          </p:cNvPr>
          <p:cNvSpPr/>
          <p:nvPr/>
        </p:nvSpPr>
        <p:spPr>
          <a:xfrm>
            <a:off x="103516" y="1812655"/>
            <a:ext cx="3761117" cy="1200329"/>
          </a:xfrm>
          <a:prstGeom prst="rect">
            <a:avLst/>
          </a:prstGeom>
          <a:solidFill>
            <a:schemeClr val="accent4">
              <a:lumMod val="20000"/>
              <a:lumOff val="80000"/>
            </a:schemeClr>
          </a:solidFill>
        </p:spPr>
        <p:txBody>
          <a:bodyPr wrap="square">
            <a:spAutoFit/>
          </a:bodyPr>
          <a:lstStyle/>
          <a:p>
            <a:r>
              <a:rPr lang="en-US" sz="2400">
                <a:solidFill>
                  <a:srgbClr val="004ED0"/>
                </a:solidFill>
                <a:latin typeface="inherit"/>
              </a:rPr>
              <a:t>def lcdHanlder</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random</a:t>
            </a:r>
            <a:r>
              <a:rPr lang="en-US" sz="2400">
                <a:solidFill>
                  <a:srgbClr val="006FE0"/>
                </a:solidFill>
                <a:latin typeface="inherit"/>
              </a:rPr>
              <a:t> = </a:t>
            </a:r>
            <a:r>
              <a:rPr lang="en-US" sz="2400">
                <a:solidFill>
                  <a:srgbClr val="004ED0"/>
                </a:solidFill>
                <a:latin typeface="inherit"/>
              </a:rPr>
              <a:t>randint</a:t>
            </a:r>
            <a:r>
              <a:rPr lang="en-US" sz="2400">
                <a:solidFill>
                  <a:srgbClr val="333333"/>
                </a:solidFill>
                <a:latin typeface="inherit"/>
              </a:rPr>
              <a:t>(</a:t>
            </a:r>
            <a:r>
              <a:rPr lang="en-US" sz="2400">
                <a:solidFill>
                  <a:srgbClr val="CE0000"/>
                </a:solidFill>
                <a:latin typeface="inherit"/>
              </a:rPr>
              <a:t>1</a:t>
            </a:r>
            <a:r>
              <a:rPr lang="en-US" sz="2400">
                <a:solidFill>
                  <a:srgbClr val="333333"/>
                </a:solidFill>
                <a:latin typeface="inherit"/>
              </a:rPr>
              <a:t>,</a:t>
            </a:r>
            <a:r>
              <a:rPr lang="en-US" sz="2400">
                <a:solidFill>
                  <a:srgbClr val="CE0000"/>
                </a:solidFill>
                <a:latin typeface="inherit"/>
              </a:rPr>
              <a:t>200</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lcd</a:t>
            </a:r>
            <a:r>
              <a:rPr lang="en-US" sz="2400">
                <a:solidFill>
                  <a:srgbClr val="333333"/>
                </a:solidFill>
                <a:latin typeface="inherit"/>
              </a:rPr>
              <a:t>.</a:t>
            </a:r>
            <a:r>
              <a:rPr lang="en-US" sz="2400">
                <a:solidFill>
                  <a:srgbClr val="004ED0"/>
                </a:solidFill>
                <a:latin typeface="inherit"/>
              </a:rPr>
              <a:t>display</a:t>
            </a:r>
            <a:r>
              <a:rPr lang="en-US" sz="2400">
                <a:solidFill>
                  <a:srgbClr val="333333"/>
                </a:solidFill>
                <a:latin typeface="inherit"/>
              </a:rPr>
              <a:t>(</a:t>
            </a:r>
            <a:r>
              <a:rPr lang="en-US" sz="2400">
                <a:solidFill>
                  <a:srgbClr val="002D7A"/>
                </a:solidFill>
                <a:latin typeface="inherit"/>
              </a:rPr>
              <a:t>random</a:t>
            </a:r>
            <a:r>
              <a:rPr lang="en-US" sz="2400">
                <a:solidFill>
                  <a:srgbClr val="333333"/>
                </a:solidFill>
                <a:latin typeface="inherit"/>
              </a:rPr>
              <a:t>)</a:t>
            </a:r>
            <a:endParaRPr lang="en-US" sz="2400" b="0" i="0">
              <a:solidFill>
                <a:srgbClr val="000000"/>
              </a:solidFill>
              <a:effectLst/>
              <a:latin typeface="Monaco"/>
            </a:endParaRPr>
          </a:p>
        </p:txBody>
      </p:sp>
      <p:sp>
        <p:nvSpPr>
          <p:cNvPr id="6" name="Rectangle 5">
            <a:extLst>
              <a:ext uri="{FF2B5EF4-FFF2-40B4-BE49-F238E27FC236}">
                <a16:creationId xmlns:a16="http://schemas.microsoft.com/office/drawing/2014/main" id="{7EB24CC2-6B84-4C18-8B52-6C70968D98F4}"/>
              </a:ext>
            </a:extLst>
          </p:cNvPr>
          <p:cNvSpPr/>
          <p:nvPr/>
        </p:nvSpPr>
        <p:spPr>
          <a:xfrm>
            <a:off x="4390846" y="1581822"/>
            <a:ext cx="4649638" cy="830997"/>
          </a:xfrm>
          <a:prstGeom prst="rect">
            <a:avLst/>
          </a:prstGeom>
        </p:spPr>
        <p:txBody>
          <a:bodyPr wrap="square">
            <a:spAutoFit/>
          </a:bodyPr>
          <a:lstStyle/>
          <a:p>
            <a:r>
              <a:rPr lang="vi-VN" sz="2400" i="1">
                <a:solidFill>
                  <a:srgbClr val="3A3A3A"/>
                </a:solidFill>
              </a:rPr>
              <a:t>Cuối cùng, chúng ta tạo đối tượng QApplication và Window</a:t>
            </a:r>
            <a:endParaRPr lang="en-US" sz="2400" i="1"/>
          </a:p>
        </p:txBody>
      </p:sp>
      <p:sp>
        <p:nvSpPr>
          <p:cNvPr id="7" name="Rectangle 6">
            <a:extLst>
              <a:ext uri="{FF2B5EF4-FFF2-40B4-BE49-F238E27FC236}">
                <a16:creationId xmlns:a16="http://schemas.microsoft.com/office/drawing/2014/main" id="{05B86A5B-D959-4051-9812-7EB4F7E225F4}"/>
              </a:ext>
            </a:extLst>
          </p:cNvPr>
          <p:cNvSpPr/>
          <p:nvPr/>
        </p:nvSpPr>
        <p:spPr>
          <a:xfrm>
            <a:off x="5279369" y="2362623"/>
            <a:ext cx="3777371" cy="1200329"/>
          </a:xfrm>
          <a:prstGeom prst="rect">
            <a:avLst/>
          </a:prstGeom>
          <a:solidFill>
            <a:schemeClr val="accent5">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3074" name="Picture 2">
            <a:extLst>
              <a:ext uri="{FF2B5EF4-FFF2-40B4-BE49-F238E27FC236}">
                <a16:creationId xmlns:a16="http://schemas.microsoft.com/office/drawing/2014/main" id="{76B6F309-0463-4443-AF7F-D59A99912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18" y="3078596"/>
            <a:ext cx="4392273" cy="3775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353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CEC57-5C04-4326-8C67-B4CF5AE595EE}"/>
              </a:ext>
            </a:extLst>
          </p:cNvPr>
          <p:cNvSpPr>
            <a:spLocks noGrp="1"/>
          </p:cNvSpPr>
          <p:nvPr>
            <p:ph type="title"/>
          </p:nvPr>
        </p:nvSpPr>
        <p:spPr>
          <a:xfrm>
            <a:off x="9624" y="19251"/>
            <a:ext cx="9134375" cy="715856"/>
          </a:xfrm>
        </p:spPr>
        <p:txBody>
          <a:bodyPr>
            <a:normAutofit/>
          </a:bodyPr>
          <a:lstStyle/>
          <a:p>
            <a:r>
              <a:rPr lang="en-US" b="1"/>
              <a:t>Ví dụ QProgressbar với QThread</a:t>
            </a:r>
          </a:p>
        </p:txBody>
      </p:sp>
      <p:sp>
        <p:nvSpPr>
          <p:cNvPr id="3" name="Content Placeholder 2">
            <a:extLst>
              <a:ext uri="{FF2B5EF4-FFF2-40B4-BE49-F238E27FC236}">
                <a16:creationId xmlns:a16="http://schemas.microsoft.com/office/drawing/2014/main" id="{8C462DDB-1FBF-4929-9655-98384A813223}"/>
              </a:ext>
            </a:extLst>
          </p:cNvPr>
          <p:cNvSpPr>
            <a:spLocks noGrp="1"/>
          </p:cNvSpPr>
          <p:nvPr>
            <p:ph idx="1"/>
          </p:nvPr>
        </p:nvSpPr>
        <p:spPr>
          <a:xfrm>
            <a:off x="9624" y="735107"/>
            <a:ext cx="9134375" cy="6103643"/>
          </a:xfrm>
        </p:spPr>
        <p:txBody>
          <a:bodyPr/>
          <a:lstStyle/>
          <a:p>
            <a:pPr marL="0" indent="0">
              <a:buNone/>
            </a:pPr>
            <a:r>
              <a:rPr lang="vi-VN"/>
              <a:t>Một thanh tiến trình </a:t>
            </a:r>
            <a:r>
              <a:rPr lang="en-US"/>
              <a:t>(progress bar) </a:t>
            </a:r>
            <a:r>
              <a:rPr lang="vi-VN"/>
              <a:t>được sử dụng để cung cấp cho người dùng một dấu hiệu về tiến trình của một hoạt động và để trấn an họ rằng ứng dụng vẫn đang chạy.</a:t>
            </a:r>
          </a:p>
        </p:txBody>
      </p:sp>
      <p:graphicFrame>
        <p:nvGraphicFramePr>
          <p:cNvPr id="4" name="Table 3">
            <a:extLst>
              <a:ext uri="{FF2B5EF4-FFF2-40B4-BE49-F238E27FC236}">
                <a16:creationId xmlns:a16="http://schemas.microsoft.com/office/drawing/2014/main" id="{4801E112-B4AE-452E-ACE4-CB32060C533B}"/>
              </a:ext>
            </a:extLst>
          </p:cNvPr>
          <p:cNvGraphicFramePr>
            <a:graphicFrameLocks noGrp="1"/>
          </p:cNvGraphicFramePr>
          <p:nvPr>
            <p:extLst>
              <p:ext uri="{D42A27DB-BD31-4B8C-83A1-F6EECF244321}">
                <p14:modId xmlns:p14="http://schemas.microsoft.com/office/powerpoint/2010/main" val="397249808"/>
              </p:ext>
            </p:extLst>
          </p:nvPr>
        </p:nvGraphicFramePr>
        <p:xfrm>
          <a:off x="0" y="2868283"/>
          <a:ext cx="9144000" cy="2651760"/>
        </p:xfrm>
        <a:graphic>
          <a:graphicData uri="http://schemas.openxmlformats.org/drawingml/2006/table">
            <a:tbl>
              <a:tblPr/>
              <a:tblGrid>
                <a:gridCol w="698070">
                  <a:extLst>
                    <a:ext uri="{9D8B030D-6E8A-4147-A177-3AD203B41FA5}">
                      <a16:colId xmlns:a16="http://schemas.microsoft.com/office/drawing/2014/main" val="2945424326"/>
                    </a:ext>
                  </a:extLst>
                </a:gridCol>
                <a:gridCol w="8445930">
                  <a:extLst>
                    <a:ext uri="{9D8B030D-6E8A-4147-A177-3AD203B41FA5}">
                      <a16:colId xmlns:a16="http://schemas.microsoft.com/office/drawing/2014/main" val="588507906"/>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endParaRPr lang="en-US" sz="2800" b="0">
                        <a:solidFill>
                          <a:srgbClr val="317CC5"/>
                        </a:solidFill>
                        <a:effectLst/>
                        <a:latin typeface="inherit"/>
                      </a:endParaRPr>
                    </a:p>
                    <a:p>
                      <a:pPr algn="ctr" fontAlgn="t"/>
                      <a:r>
                        <a:rPr lang="en-US" sz="2800" b="0">
                          <a:solidFill>
                            <a:srgbClr val="5499DE"/>
                          </a:solidFill>
                          <a:effectLst/>
                          <a:latin typeface="inherit"/>
                        </a:rPr>
                        <a:t>3</a:t>
                      </a:r>
                    </a:p>
                    <a:p>
                      <a:pPr algn="ctr" fontAlgn="t"/>
                      <a:r>
                        <a:rPr lang="en-US" sz="2800" b="0">
                          <a:solidFill>
                            <a:srgbClr val="317CC5"/>
                          </a:solidFill>
                          <a:effectLst/>
                          <a:latin typeface="inherit"/>
                        </a:rPr>
                        <a:t>4</a:t>
                      </a:r>
                    </a:p>
                    <a:p>
                      <a:pPr algn="ctr" fontAlgn="t"/>
                      <a:r>
                        <a:rPr lang="en-US" sz="2800" b="0">
                          <a:solidFill>
                            <a:srgbClr val="5499DE"/>
                          </a:solidFill>
                          <a:effectLst/>
                          <a:latin typeface="inherit"/>
                        </a:rPr>
                        <a:t>5</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QDialog</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QProgressBar</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QPushButton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QVBoxLayout</a:t>
                      </a:r>
                      <a:endParaRPr lang="en-US" sz="2800" b="0">
                        <a:solidFill>
                          <a:srgbClr val="000000"/>
                        </a:solidFill>
                        <a:effectLst/>
                        <a:latin typeface="inherit"/>
                      </a:endParaRPr>
                    </a:p>
                    <a:p>
                      <a:pPr algn="l" fontAlgn="t"/>
                      <a:r>
                        <a:rPr lang="en-US" sz="2800" b="0">
                          <a:solidFill>
                            <a:srgbClr val="004ED0"/>
                          </a:solidFill>
                          <a:effectLst/>
                          <a:latin typeface="inherit"/>
                        </a:rPr>
                        <a:t>import sys</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QtCore import </a:t>
                      </a:r>
                      <a:r>
                        <a:rPr lang="en-US" sz="2800" b="0">
                          <a:solidFill>
                            <a:srgbClr val="002D7A"/>
                          </a:solidFill>
                          <a:effectLst/>
                          <a:latin typeface="inherit"/>
                        </a:rPr>
                        <a:t>Qt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QThread</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pyqtSignal</a:t>
                      </a:r>
                      <a:endParaRPr lang="en-US" sz="2800" b="0">
                        <a:solidFill>
                          <a:srgbClr val="000000"/>
                        </a:solidFill>
                        <a:effectLst/>
                        <a:latin typeface="inherit"/>
                      </a:endParaRPr>
                    </a:p>
                    <a:p>
                      <a:pPr algn="l" fontAlgn="t"/>
                      <a:r>
                        <a:rPr lang="en-US" sz="2800" b="0">
                          <a:solidFill>
                            <a:srgbClr val="004ED0"/>
                          </a:solidFill>
                          <a:effectLst/>
                          <a:latin typeface="inherit"/>
                        </a:rPr>
                        <a:t>import </a:t>
                      </a:r>
                      <a:r>
                        <a:rPr lang="en-US" sz="2800" b="0">
                          <a:solidFill>
                            <a:srgbClr val="002D7A"/>
                          </a:solidFill>
                          <a:effectLst/>
                          <a:latin typeface="inherit"/>
                        </a:rPr>
                        <a:t>time</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1474910379"/>
                  </a:ext>
                </a:extLst>
              </a:tr>
            </a:tbl>
          </a:graphicData>
        </a:graphic>
      </p:graphicFrame>
    </p:spTree>
    <p:extLst>
      <p:ext uri="{BB962C8B-B14F-4D97-AF65-F5344CB8AC3E}">
        <p14:creationId xmlns:p14="http://schemas.microsoft.com/office/powerpoint/2010/main" val="29268747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465EF6-0C80-4298-B573-FAB62A38FCA1}"/>
              </a:ext>
            </a:extLst>
          </p:cNvPr>
          <p:cNvSpPr>
            <a:spLocks noGrp="1"/>
          </p:cNvSpPr>
          <p:nvPr>
            <p:ph idx="1"/>
          </p:nvPr>
        </p:nvSpPr>
        <p:spPr>
          <a:xfrm>
            <a:off x="9624" y="735107"/>
            <a:ext cx="7305576" cy="541602"/>
          </a:xfrm>
        </p:spPr>
        <p:txBody>
          <a:bodyPr>
            <a:normAutofit/>
          </a:bodyPr>
          <a:lstStyle/>
          <a:p>
            <a:r>
              <a:rPr lang="en-US" sz="3200"/>
              <a:t>Sau đó, chúng tôi sẽ tạo lớp MyThread</a:t>
            </a:r>
          </a:p>
        </p:txBody>
      </p:sp>
      <p:sp>
        <p:nvSpPr>
          <p:cNvPr id="4" name="Title 1">
            <a:extLst>
              <a:ext uri="{FF2B5EF4-FFF2-40B4-BE49-F238E27FC236}">
                <a16:creationId xmlns:a16="http://schemas.microsoft.com/office/drawing/2014/main" id="{73A03CF7-A61B-4D08-A77A-7C7303936025}"/>
              </a:ext>
            </a:extLst>
          </p:cNvPr>
          <p:cNvSpPr>
            <a:spLocks noGrp="1"/>
          </p:cNvSpPr>
          <p:nvPr>
            <p:ph type="title"/>
          </p:nvPr>
        </p:nvSpPr>
        <p:spPr>
          <a:xfrm>
            <a:off x="9624" y="19251"/>
            <a:ext cx="9134375" cy="715856"/>
          </a:xfrm>
        </p:spPr>
        <p:txBody>
          <a:bodyPr>
            <a:normAutofit/>
          </a:bodyPr>
          <a:lstStyle/>
          <a:p>
            <a:r>
              <a:rPr lang="en-US" b="1"/>
              <a:t>Ví dụ QProgressbar với QThread (t.t)</a:t>
            </a:r>
          </a:p>
        </p:txBody>
      </p:sp>
      <p:sp>
        <p:nvSpPr>
          <p:cNvPr id="5" name="Rectangle 4">
            <a:extLst>
              <a:ext uri="{FF2B5EF4-FFF2-40B4-BE49-F238E27FC236}">
                <a16:creationId xmlns:a16="http://schemas.microsoft.com/office/drawing/2014/main" id="{AE92B31D-3313-4F28-8278-90FE02CE5B9D}"/>
              </a:ext>
            </a:extLst>
          </p:cNvPr>
          <p:cNvSpPr/>
          <p:nvPr/>
        </p:nvSpPr>
        <p:spPr>
          <a:xfrm>
            <a:off x="1147312" y="1712214"/>
            <a:ext cx="5641678" cy="3970318"/>
          </a:xfrm>
          <a:prstGeom prst="rect">
            <a:avLst/>
          </a:prstGeom>
        </p:spPr>
        <p:txBody>
          <a:bodyPr wrap="square">
            <a:spAutoFit/>
          </a:bodyPr>
          <a:lstStyle/>
          <a:p>
            <a:r>
              <a:rPr lang="en-US" sz="2800">
                <a:solidFill>
                  <a:srgbClr val="800080"/>
                </a:solidFill>
                <a:latin typeface="inherit"/>
              </a:rPr>
              <a:t>class</a:t>
            </a:r>
            <a:r>
              <a:rPr lang="en-US" sz="2800">
                <a:solidFill>
                  <a:srgbClr val="006FE0"/>
                </a:solidFill>
                <a:latin typeface="inherit"/>
              </a:rPr>
              <a:t> </a:t>
            </a:r>
            <a:r>
              <a:rPr lang="en-US" sz="2800">
                <a:solidFill>
                  <a:srgbClr val="004ED0"/>
                </a:solidFill>
                <a:latin typeface="inherit"/>
              </a:rPr>
              <a:t>MyThread</a:t>
            </a:r>
            <a:r>
              <a:rPr lang="en-US" sz="2800">
                <a:solidFill>
                  <a:srgbClr val="333333"/>
                </a:solidFill>
                <a:latin typeface="inherit"/>
              </a:rPr>
              <a:t>(</a:t>
            </a:r>
            <a:r>
              <a:rPr lang="en-US" sz="2800">
                <a:solidFill>
                  <a:srgbClr val="002D7A"/>
                </a:solidFill>
                <a:latin typeface="inherit"/>
              </a:rPr>
              <a:t>QThread</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B85C00"/>
                </a:solidFill>
                <a:latin typeface="inherit"/>
              </a:rPr>
              <a:t># Create a counter thread</a:t>
            </a:r>
            <a:endParaRPr lang="en-US" sz="2800">
              <a:solidFill>
                <a:srgbClr val="000000"/>
              </a:solidFill>
              <a:latin typeface="Monaco"/>
            </a:endParaRPr>
          </a:p>
          <a:p>
            <a:r>
              <a:rPr lang="en-US" sz="2800">
                <a:solidFill>
                  <a:srgbClr val="006FE0"/>
                </a:solidFill>
                <a:latin typeface="inherit"/>
              </a:rPr>
              <a:t>    </a:t>
            </a:r>
            <a:r>
              <a:rPr lang="en-US" sz="2800">
                <a:solidFill>
                  <a:srgbClr val="002D7A"/>
                </a:solidFill>
                <a:latin typeface="inherit"/>
              </a:rPr>
              <a:t>change_value</a:t>
            </a:r>
            <a:r>
              <a:rPr lang="en-US" sz="2800">
                <a:solidFill>
                  <a:srgbClr val="006FE0"/>
                </a:solidFill>
                <a:latin typeface="inherit"/>
              </a:rPr>
              <a:t> = </a:t>
            </a:r>
            <a:r>
              <a:rPr lang="en-US" sz="2800">
                <a:solidFill>
                  <a:srgbClr val="004ED0"/>
                </a:solidFill>
                <a:latin typeface="inherit"/>
              </a:rPr>
              <a:t>pyqtSignal</a:t>
            </a:r>
            <a:r>
              <a:rPr lang="en-US" sz="2800">
                <a:solidFill>
                  <a:srgbClr val="333333"/>
                </a:solidFill>
                <a:latin typeface="inherit"/>
              </a:rPr>
              <a:t>(</a:t>
            </a:r>
            <a:r>
              <a:rPr lang="en-US" sz="2800">
                <a:solidFill>
                  <a:srgbClr val="800080"/>
                </a:solidFill>
                <a:latin typeface="inherit"/>
              </a:rPr>
              <a:t>int</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4ED0"/>
                </a:solidFill>
                <a:latin typeface="inherit"/>
              </a:rPr>
              <a:t>def run</a:t>
            </a:r>
            <a:r>
              <a:rPr lang="en-US" sz="2800">
                <a:solidFill>
                  <a:srgbClr val="333333"/>
                </a:solidFill>
                <a:latin typeface="inherit"/>
              </a:rPr>
              <a:t>(</a:t>
            </a:r>
            <a:r>
              <a:rPr lang="en-US" sz="2800">
                <a:solidFill>
                  <a:srgbClr val="800080"/>
                </a:solidFill>
                <a:latin typeface="inherit"/>
              </a:rPr>
              <a:t>self</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2D7A"/>
                </a:solidFill>
                <a:latin typeface="inherit"/>
              </a:rPr>
              <a:t>cnt</a:t>
            </a:r>
            <a:r>
              <a:rPr lang="en-US" sz="2800">
                <a:solidFill>
                  <a:srgbClr val="006FE0"/>
                </a:solidFill>
                <a:latin typeface="inherit"/>
              </a:rPr>
              <a:t> = </a:t>
            </a:r>
            <a:r>
              <a:rPr lang="en-US" sz="2800">
                <a:solidFill>
                  <a:srgbClr val="CE0000"/>
                </a:solidFill>
                <a:latin typeface="inherit"/>
              </a:rPr>
              <a:t>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while</a:t>
            </a:r>
            <a:r>
              <a:rPr lang="en-US" sz="2800">
                <a:solidFill>
                  <a:srgbClr val="006FE0"/>
                </a:solidFill>
                <a:latin typeface="inherit"/>
              </a:rPr>
              <a:t> </a:t>
            </a:r>
            <a:r>
              <a:rPr lang="en-US" sz="2800">
                <a:solidFill>
                  <a:srgbClr val="002D7A"/>
                </a:solidFill>
                <a:latin typeface="inherit"/>
              </a:rPr>
              <a:t>cnt</a:t>
            </a:r>
            <a:r>
              <a:rPr lang="en-US" sz="2800">
                <a:solidFill>
                  <a:srgbClr val="006FE0"/>
                </a:solidFill>
                <a:latin typeface="inherit"/>
              </a:rPr>
              <a:t> &lt; </a:t>
            </a:r>
            <a:r>
              <a:rPr lang="en-US" sz="2800">
                <a:solidFill>
                  <a:srgbClr val="CE0000"/>
                </a:solidFill>
                <a:latin typeface="inherit"/>
              </a:rPr>
              <a:t>100</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2D7A"/>
                </a:solidFill>
                <a:latin typeface="inherit"/>
              </a:rPr>
              <a:t>cnt</a:t>
            </a:r>
            <a:r>
              <a:rPr lang="en-US" sz="2800">
                <a:solidFill>
                  <a:srgbClr val="006FE0"/>
                </a:solidFill>
                <a:latin typeface="inherit"/>
              </a:rPr>
              <a:t>+=</a:t>
            </a:r>
            <a:r>
              <a:rPr lang="en-US" sz="2800">
                <a:solidFill>
                  <a:srgbClr val="CE0000"/>
                </a:solidFill>
                <a:latin typeface="inherit"/>
              </a:rPr>
              <a:t>1</a:t>
            </a:r>
            <a:endParaRPr lang="en-US" sz="2800">
              <a:solidFill>
                <a:srgbClr val="000000"/>
              </a:solidFill>
              <a:latin typeface="Monaco"/>
            </a:endParaRPr>
          </a:p>
          <a:p>
            <a:r>
              <a:rPr lang="en-US" sz="2800">
                <a:solidFill>
                  <a:srgbClr val="006FE0"/>
                </a:solidFill>
                <a:latin typeface="inherit"/>
              </a:rPr>
              <a:t>            </a:t>
            </a:r>
            <a:r>
              <a:rPr lang="en-US" sz="2800">
                <a:solidFill>
                  <a:srgbClr val="002D7A"/>
                </a:solidFill>
                <a:latin typeface="inherit"/>
              </a:rPr>
              <a:t>time</a:t>
            </a:r>
            <a:r>
              <a:rPr lang="en-US" sz="2800">
                <a:solidFill>
                  <a:srgbClr val="333333"/>
                </a:solidFill>
                <a:latin typeface="inherit"/>
              </a:rPr>
              <a:t>.</a:t>
            </a:r>
            <a:r>
              <a:rPr lang="en-US" sz="2800">
                <a:solidFill>
                  <a:srgbClr val="004ED0"/>
                </a:solidFill>
                <a:latin typeface="inherit"/>
              </a:rPr>
              <a:t>sleep</a:t>
            </a:r>
            <a:r>
              <a:rPr lang="en-US" sz="2800">
                <a:solidFill>
                  <a:srgbClr val="333333"/>
                </a:solidFill>
                <a:latin typeface="inherit"/>
              </a:rPr>
              <a:t>(</a:t>
            </a:r>
            <a:r>
              <a:rPr lang="en-US" sz="2800">
                <a:solidFill>
                  <a:srgbClr val="CE0000"/>
                </a:solidFill>
                <a:latin typeface="inherit"/>
              </a:rPr>
              <a:t>0.3</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change_value</a:t>
            </a:r>
            <a:r>
              <a:rPr lang="en-US" sz="2800">
                <a:solidFill>
                  <a:srgbClr val="333333"/>
                </a:solidFill>
                <a:latin typeface="inherit"/>
              </a:rPr>
              <a:t>.</a:t>
            </a:r>
            <a:r>
              <a:rPr lang="en-US" sz="2800">
                <a:solidFill>
                  <a:srgbClr val="004ED0"/>
                </a:solidFill>
                <a:latin typeface="inherit"/>
              </a:rPr>
              <a:t>emit</a:t>
            </a:r>
            <a:r>
              <a:rPr lang="en-US" sz="2800">
                <a:solidFill>
                  <a:srgbClr val="333333"/>
                </a:solidFill>
                <a:latin typeface="inherit"/>
              </a:rPr>
              <a:t>(</a:t>
            </a:r>
            <a:r>
              <a:rPr lang="en-US" sz="2800">
                <a:solidFill>
                  <a:srgbClr val="002D7A"/>
                </a:solidFill>
                <a:latin typeface="inherit"/>
              </a:rPr>
              <a:t>cnt</a:t>
            </a:r>
            <a:r>
              <a:rPr lang="en-US" sz="2800">
                <a:solidFill>
                  <a:srgbClr val="333333"/>
                </a:solidFill>
                <a:latin typeface="inherit"/>
              </a:rPr>
              <a:t>)</a:t>
            </a:r>
            <a:endParaRPr lang="en-US" sz="2800" b="0" i="0">
              <a:solidFill>
                <a:srgbClr val="000000"/>
              </a:solidFill>
              <a:effectLst/>
              <a:latin typeface="Monaco"/>
            </a:endParaRPr>
          </a:p>
        </p:txBody>
      </p:sp>
    </p:spTree>
    <p:extLst>
      <p:ext uri="{BB962C8B-B14F-4D97-AF65-F5344CB8AC3E}">
        <p14:creationId xmlns:p14="http://schemas.microsoft.com/office/powerpoint/2010/main" val="1842175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EE50BA-96D2-4FDE-A210-DAA3E3C3E9A5}"/>
              </a:ext>
            </a:extLst>
          </p:cNvPr>
          <p:cNvSpPr>
            <a:spLocks noGrp="1"/>
          </p:cNvSpPr>
          <p:nvPr>
            <p:ph idx="1"/>
          </p:nvPr>
        </p:nvSpPr>
        <p:spPr>
          <a:xfrm>
            <a:off x="9625" y="693991"/>
            <a:ext cx="2742202" cy="6144760"/>
          </a:xfrm>
        </p:spPr>
        <p:txBody>
          <a:bodyPr>
            <a:normAutofit/>
          </a:bodyPr>
          <a:lstStyle/>
          <a:p>
            <a:pPr marL="0" indent="0">
              <a:buNone/>
            </a:pPr>
            <a:r>
              <a:rPr lang="vi-VN" sz="2400"/>
              <a:t>Sau khi tạo lớp Window kế thừa từ Q</a:t>
            </a:r>
            <a:r>
              <a:rPr lang="en-US" sz="2400"/>
              <a:t>D</a:t>
            </a:r>
            <a:r>
              <a:rPr lang="vi-VN" sz="2400"/>
              <a:t>ialog và trong lớp đó</a:t>
            </a:r>
            <a:r>
              <a:rPr lang="en-US" sz="2400"/>
              <a:t> </a:t>
            </a:r>
            <a:r>
              <a:rPr lang="vi-VN" sz="2400"/>
              <a:t>ta thêm các yêu cầu của Window với QProgresBar và QPushButton</a:t>
            </a:r>
            <a:endParaRPr lang="en-US" sz="2400"/>
          </a:p>
        </p:txBody>
      </p:sp>
      <p:sp>
        <p:nvSpPr>
          <p:cNvPr id="4" name="Title 1">
            <a:extLst>
              <a:ext uri="{FF2B5EF4-FFF2-40B4-BE49-F238E27FC236}">
                <a16:creationId xmlns:a16="http://schemas.microsoft.com/office/drawing/2014/main" id="{2BE41777-E569-45FF-9558-382B62A5400E}"/>
              </a:ext>
            </a:extLst>
          </p:cNvPr>
          <p:cNvSpPr>
            <a:spLocks noGrp="1"/>
          </p:cNvSpPr>
          <p:nvPr>
            <p:ph type="title"/>
          </p:nvPr>
        </p:nvSpPr>
        <p:spPr>
          <a:xfrm>
            <a:off x="9624" y="19251"/>
            <a:ext cx="9134375" cy="715856"/>
          </a:xfrm>
        </p:spPr>
        <p:txBody>
          <a:bodyPr>
            <a:normAutofit/>
          </a:bodyPr>
          <a:lstStyle/>
          <a:p>
            <a:r>
              <a:rPr lang="en-US" b="1"/>
              <a:t>Ví dụ QProgressbar với QThread (t.t)</a:t>
            </a:r>
          </a:p>
        </p:txBody>
      </p:sp>
      <p:sp>
        <p:nvSpPr>
          <p:cNvPr id="5" name="Rectangle 4">
            <a:extLst>
              <a:ext uri="{FF2B5EF4-FFF2-40B4-BE49-F238E27FC236}">
                <a16:creationId xmlns:a16="http://schemas.microsoft.com/office/drawing/2014/main" id="{91434875-59AB-4C6A-9D81-15B1C11B85E3}"/>
              </a:ext>
            </a:extLst>
          </p:cNvPr>
          <p:cNvSpPr/>
          <p:nvPr/>
        </p:nvSpPr>
        <p:spPr>
          <a:xfrm>
            <a:off x="2751827" y="693990"/>
            <a:ext cx="6366293" cy="6144759"/>
          </a:xfrm>
          <a:prstGeom prst="rect">
            <a:avLst/>
          </a:prstGeom>
        </p:spPr>
        <p:txBody>
          <a:bodyPr wrap="square">
            <a:spAutoFit/>
          </a:bodyPr>
          <a:lstStyle/>
          <a:p>
            <a:pPr>
              <a:lnSpc>
                <a:spcPct val="90000"/>
              </a:lnSpc>
            </a:pPr>
            <a:r>
              <a:rPr lang="en-US" sz="1900">
                <a:solidFill>
                  <a:srgbClr val="800080"/>
                </a:solidFill>
                <a:latin typeface="inherit"/>
              </a:rPr>
              <a:t>class</a:t>
            </a:r>
            <a:r>
              <a:rPr lang="en-US" sz="1900">
                <a:solidFill>
                  <a:srgbClr val="006FE0"/>
                </a:solidFill>
                <a:latin typeface="inherit"/>
              </a:rPr>
              <a:t> </a:t>
            </a:r>
            <a:r>
              <a:rPr lang="en-US" sz="1900">
                <a:solidFill>
                  <a:srgbClr val="004ED0"/>
                </a:solidFill>
                <a:latin typeface="inherit"/>
              </a:rPr>
              <a:t>Window</a:t>
            </a:r>
            <a:r>
              <a:rPr lang="en-US" sz="1900">
                <a:solidFill>
                  <a:srgbClr val="333333"/>
                </a:solidFill>
                <a:latin typeface="inherit"/>
              </a:rPr>
              <a:t>(</a:t>
            </a:r>
            <a:r>
              <a:rPr lang="en-US" sz="1900">
                <a:solidFill>
                  <a:srgbClr val="002D7A"/>
                </a:solidFill>
                <a:latin typeface="inherit"/>
              </a:rPr>
              <a:t>QDialog</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4ED0"/>
                </a:solidFill>
                <a:latin typeface="inherit"/>
              </a:rPr>
              <a:t>def __init__</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super</a:t>
            </a:r>
            <a:r>
              <a:rPr lang="en-US" sz="1900">
                <a:solidFill>
                  <a:srgbClr val="333333"/>
                </a:solidFill>
                <a:latin typeface="inherit"/>
              </a:rPr>
              <a:t>().</a:t>
            </a:r>
            <a:r>
              <a:rPr lang="en-US" sz="1900">
                <a:solidFill>
                  <a:srgbClr val="004ED0"/>
                </a:solidFill>
                <a:latin typeface="inherit"/>
              </a:rPr>
              <a:t>__init__</a:t>
            </a:r>
            <a:r>
              <a:rPr lang="en-US" sz="1900">
                <a:solidFill>
                  <a:srgbClr val="333333"/>
                </a:solidFill>
                <a:latin typeface="inherit"/>
              </a:rPr>
              <a:t>()</a:t>
            </a:r>
            <a:endParaRPr lang="en-US" sz="1900">
              <a:solidFill>
                <a:srgbClr val="000000"/>
              </a:solidFill>
              <a:latin typeface="Monaco"/>
            </a:endParaRPr>
          </a:p>
          <a:p>
            <a:pPr lvl="1">
              <a:lnSpc>
                <a:spcPct val="90000"/>
              </a:lnSpc>
            </a:pP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vbox</a:t>
            </a:r>
            <a:r>
              <a:rPr lang="en-US" sz="1900">
                <a:solidFill>
                  <a:srgbClr val="006FE0"/>
                </a:solidFill>
                <a:latin typeface="inherit"/>
              </a:rPr>
              <a:t> = </a:t>
            </a:r>
            <a:r>
              <a:rPr lang="en-US" sz="1900">
                <a:solidFill>
                  <a:srgbClr val="004ED0"/>
                </a:solidFill>
                <a:latin typeface="inherit"/>
              </a:rPr>
              <a:t>QVBoxLayout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progressbar</a:t>
            </a:r>
            <a:r>
              <a:rPr lang="en-US" sz="1900">
                <a:solidFill>
                  <a:srgbClr val="006FE0"/>
                </a:solidFill>
                <a:latin typeface="inherit"/>
              </a:rPr>
              <a:t> = </a:t>
            </a:r>
            <a:r>
              <a:rPr lang="en-US" sz="1900">
                <a:solidFill>
                  <a:srgbClr val="004ED0"/>
                </a:solidFill>
                <a:latin typeface="inherit"/>
              </a:rPr>
              <a:t>QProgressBar</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progressbar</a:t>
            </a:r>
            <a:r>
              <a:rPr lang="en-US" sz="1900">
                <a:solidFill>
                  <a:srgbClr val="333333"/>
                </a:solidFill>
                <a:latin typeface="inherit"/>
              </a:rPr>
              <a:t>.</a:t>
            </a:r>
            <a:r>
              <a:rPr lang="en-US" sz="1900">
                <a:solidFill>
                  <a:srgbClr val="004ED0"/>
                </a:solidFill>
                <a:latin typeface="inherit"/>
              </a:rPr>
              <a:t>setMaximum</a:t>
            </a:r>
            <a:r>
              <a:rPr lang="en-US" sz="1900">
                <a:solidFill>
                  <a:srgbClr val="333333"/>
                </a:solidFill>
                <a:latin typeface="inherit"/>
              </a:rPr>
              <a:t>(</a:t>
            </a:r>
            <a:r>
              <a:rPr lang="en-US" sz="1900">
                <a:solidFill>
                  <a:srgbClr val="CE0000"/>
                </a:solidFill>
                <a:latin typeface="inherit"/>
              </a:rPr>
              <a:t>100</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progressbar</a:t>
            </a:r>
            <a:r>
              <a:rPr lang="en-US" sz="1900">
                <a:solidFill>
                  <a:srgbClr val="333333"/>
                </a:solidFill>
                <a:latin typeface="inherit"/>
              </a:rPr>
              <a:t>.</a:t>
            </a:r>
            <a:r>
              <a:rPr lang="en-US" sz="1900">
                <a:solidFill>
                  <a:srgbClr val="004ED0"/>
                </a:solidFill>
                <a:latin typeface="inherit"/>
              </a:rPr>
              <a:t>setStyleSheet</a:t>
            </a:r>
            <a:r>
              <a:rPr lang="en-US" sz="1900">
                <a:solidFill>
                  <a:srgbClr val="333333"/>
                </a:solidFill>
                <a:latin typeface="inherit"/>
              </a:rPr>
              <a:t>(</a:t>
            </a:r>
            <a:r>
              <a:rPr lang="en-US" sz="1900">
                <a:solidFill>
                  <a:srgbClr val="008000"/>
                </a:solidFill>
                <a:latin typeface="inherit"/>
              </a:rPr>
              <a:t>"QProgressBar {border: 2px solid grey;border-radius:8px;padding:1px}"</a:t>
            </a:r>
            <a:r>
              <a:rPr lang="en-US" sz="1900">
                <a:solidFill>
                  <a:srgbClr val="006FE0"/>
                </a:solidFill>
                <a:latin typeface="inherit"/>
              </a:rPr>
              <a:t> </a:t>
            </a:r>
            <a:r>
              <a:rPr lang="en-US" sz="1900">
                <a:solidFill>
                  <a:srgbClr val="008000"/>
                </a:solidFill>
                <a:latin typeface="inherit"/>
              </a:rPr>
              <a:t>"QProgressBar::chunk {background:yellow}"</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vbox</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progressbar</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button</a:t>
            </a:r>
            <a:r>
              <a:rPr lang="en-US" sz="1900">
                <a:solidFill>
                  <a:srgbClr val="006FE0"/>
                </a:solidFill>
                <a:latin typeface="inherit"/>
              </a:rPr>
              <a:t> = </a:t>
            </a:r>
            <a:r>
              <a:rPr lang="en-US" sz="1900">
                <a:solidFill>
                  <a:srgbClr val="004ED0"/>
                </a:solidFill>
                <a:latin typeface="inherit"/>
              </a:rPr>
              <a:t>QPushButton</a:t>
            </a:r>
            <a:r>
              <a:rPr lang="en-US" sz="1900">
                <a:solidFill>
                  <a:srgbClr val="333333"/>
                </a:solidFill>
                <a:latin typeface="inherit"/>
              </a:rPr>
              <a:t>(</a:t>
            </a:r>
            <a:r>
              <a:rPr lang="en-US" sz="1900">
                <a:solidFill>
                  <a:srgbClr val="008000"/>
                </a:solidFill>
                <a:latin typeface="inherit"/>
              </a:rPr>
              <a:t>"Start Progressbar"</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button</a:t>
            </a:r>
            <a:r>
              <a:rPr lang="en-US" sz="1900">
                <a:solidFill>
                  <a:srgbClr val="333333"/>
                </a:solidFill>
                <a:latin typeface="inherit"/>
              </a:rPr>
              <a:t>.</a:t>
            </a:r>
            <a:r>
              <a:rPr lang="en-US" sz="1900">
                <a:solidFill>
                  <a:srgbClr val="002D7A"/>
                </a:solidFill>
                <a:latin typeface="inherit"/>
              </a:rPr>
              <a:t>clicked</a:t>
            </a:r>
            <a:r>
              <a:rPr lang="en-US" sz="1900">
                <a:solidFill>
                  <a:srgbClr val="333333"/>
                </a:solidFill>
                <a:latin typeface="inherit"/>
              </a:rPr>
              <a:t>.</a:t>
            </a:r>
            <a:r>
              <a:rPr lang="en-US" sz="1900">
                <a:solidFill>
                  <a:srgbClr val="004ED0"/>
                </a:solidFill>
                <a:latin typeface="inherit"/>
              </a:rPr>
              <a:t>connect</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startProgressBar</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button</a:t>
            </a:r>
            <a:r>
              <a:rPr lang="en-US" sz="1900">
                <a:solidFill>
                  <a:srgbClr val="333333"/>
                </a:solidFill>
                <a:latin typeface="inherit"/>
              </a:rPr>
              <a:t>.</a:t>
            </a:r>
            <a:r>
              <a:rPr lang="en-US" sz="1900">
                <a:solidFill>
                  <a:srgbClr val="004ED0"/>
                </a:solidFill>
                <a:latin typeface="inherit"/>
              </a:rPr>
              <a:t>setStyleSheet</a:t>
            </a:r>
            <a:r>
              <a:rPr lang="en-US" sz="1900">
                <a:solidFill>
                  <a:srgbClr val="333333"/>
                </a:solidFill>
                <a:latin typeface="inherit"/>
              </a:rPr>
              <a:t>(</a:t>
            </a:r>
            <a:r>
              <a:rPr lang="en-US" sz="1900">
                <a:solidFill>
                  <a:srgbClr val="008000"/>
                </a:solidFill>
                <a:latin typeface="inherit"/>
              </a:rPr>
              <a:t>'background-color:yellow'</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vbox</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button</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setLayout</a:t>
            </a:r>
            <a:r>
              <a:rPr lang="en-US" sz="1900">
                <a:solidFill>
                  <a:srgbClr val="333333"/>
                </a:solidFill>
                <a:latin typeface="inherit"/>
              </a:rPr>
              <a:t>(</a:t>
            </a:r>
            <a:r>
              <a:rPr lang="en-US" sz="1900">
                <a:solidFill>
                  <a:srgbClr val="002D7A"/>
                </a:solidFill>
                <a:latin typeface="inherit"/>
              </a:rPr>
              <a:t>vbox</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show</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4ED0"/>
                </a:solidFill>
                <a:latin typeface="inherit"/>
              </a:rPr>
              <a:t>def startProgressBar</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thread</a:t>
            </a:r>
            <a:r>
              <a:rPr lang="en-US" sz="1900">
                <a:solidFill>
                  <a:srgbClr val="006FE0"/>
                </a:solidFill>
                <a:latin typeface="inherit"/>
              </a:rPr>
              <a:t> = </a:t>
            </a:r>
            <a:r>
              <a:rPr lang="en-US" sz="1900">
                <a:solidFill>
                  <a:srgbClr val="004ED0"/>
                </a:solidFill>
                <a:latin typeface="inherit"/>
              </a:rPr>
              <a:t>MyThread</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thread</a:t>
            </a:r>
            <a:r>
              <a:rPr lang="en-US" sz="1900">
                <a:solidFill>
                  <a:srgbClr val="333333"/>
                </a:solidFill>
                <a:latin typeface="inherit"/>
              </a:rPr>
              <a:t>.</a:t>
            </a:r>
            <a:r>
              <a:rPr lang="en-US" sz="1900">
                <a:solidFill>
                  <a:srgbClr val="002D7A"/>
                </a:solidFill>
                <a:latin typeface="inherit"/>
              </a:rPr>
              <a:t>change_value</a:t>
            </a:r>
            <a:r>
              <a:rPr lang="en-US" sz="1900">
                <a:solidFill>
                  <a:srgbClr val="333333"/>
                </a:solidFill>
                <a:latin typeface="inherit"/>
              </a:rPr>
              <a:t>.</a:t>
            </a:r>
            <a:r>
              <a:rPr lang="en-US" sz="1900">
                <a:solidFill>
                  <a:srgbClr val="004ED0"/>
                </a:solidFill>
                <a:latin typeface="inherit"/>
              </a:rPr>
              <a:t>connect</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setProgressVal</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thread</a:t>
            </a:r>
            <a:r>
              <a:rPr lang="en-US" sz="1900">
                <a:solidFill>
                  <a:srgbClr val="333333"/>
                </a:solidFill>
                <a:latin typeface="inherit"/>
              </a:rPr>
              <a:t>.</a:t>
            </a:r>
            <a:r>
              <a:rPr lang="en-US" sz="1900">
                <a:solidFill>
                  <a:srgbClr val="004ED0"/>
                </a:solidFill>
                <a:latin typeface="inherit"/>
              </a:rPr>
              <a:t>start</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4ED0"/>
                </a:solidFill>
                <a:latin typeface="inherit"/>
              </a:rPr>
              <a:t>def setProgressVal</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 </a:t>
            </a:r>
            <a:r>
              <a:rPr lang="en-US" sz="1900">
                <a:solidFill>
                  <a:srgbClr val="002D7A"/>
                </a:solidFill>
                <a:latin typeface="inherit"/>
              </a:rPr>
              <a:t>val</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progressbar</a:t>
            </a:r>
            <a:r>
              <a:rPr lang="en-US" sz="1900">
                <a:solidFill>
                  <a:srgbClr val="333333"/>
                </a:solidFill>
                <a:latin typeface="inherit"/>
              </a:rPr>
              <a:t>.</a:t>
            </a:r>
            <a:r>
              <a:rPr lang="en-US" sz="1900">
                <a:solidFill>
                  <a:srgbClr val="004ED0"/>
                </a:solidFill>
                <a:latin typeface="inherit"/>
              </a:rPr>
              <a:t>setValue</a:t>
            </a:r>
            <a:r>
              <a:rPr lang="en-US" sz="1900">
                <a:solidFill>
                  <a:srgbClr val="333333"/>
                </a:solidFill>
                <a:latin typeface="inherit"/>
              </a:rPr>
              <a:t>(</a:t>
            </a:r>
            <a:r>
              <a:rPr lang="en-US" sz="1900">
                <a:solidFill>
                  <a:srgbClr val="002D7A"/>
                </a:solidFill>
                <a:latin typeface="inherit"/>
              </a:rPr>
              <a:t>val</a:t>
            </a:r>
            <a:r>
              <a:rPr lang="en-US" sz="1900">
                <a:solidFill>
                  <a:srgbClr val="333333"/>
                </a:solidFill>
                <a:latin typeface="inherit"/>
              </a:rPr>
              <a:t>)</a:t>
            </a:r>
            <a:endParaRPr lang="en-US" sz="1900" b="0" i="0">
              <a:solidFill>
                <a:srgbClr val="000000"/>
              </a:solidFill>
              <a:effectLst/>
              <a:latin typeface="Monaco"/>
            </a:endParaRPr>
          </a:p>
        </p:txBody>
      </p:sp>
      <p:pic>
        <p:nvPicPr>
          <p:cNvPr id="5122" name="Picture 2">
            <a:extLst>
              <a:ext uri="{FF2B5EF4-FFF2-40B4-BE49-F238E27FC236}">
                <a16:creationId xmlns:a16="http://schemas.microsoft.com/office/drawing/2014/main" id="{0057B7F7-42AA-441F-989C-4E4BE3A3C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5918" y="693989"/>
            <a:ext cx="2742202" cy="1227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0871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A747-FE6C-4616-A39B-EF95406AF787}"/>
              </a:ext>
            </a:extLst>
          </p:cNvPr>
          <p:cNvSpPr>
            <a:spLocks noGrp="1"/>
          </p:cNvSpPr>
          <p:nvPr>
            <p:ph type="title"/>
          </p:nvPr>
        </p:nvSpPr>
        <p:spPr>
          <a:xfrm>
            <a:off x="9624" y="19250"/>
            <a:ext cx="9134375" cy="843392"/>
          </a:xfrm>
        </p:spPr>
        <p:txBody>
          <a:bodyPr>
            <a:normAutofit/>
          </a:bodyPr>
          <a:lstStyle/>
          <a:p>
            <a:r>
              <a:rPr lang="en-US"/>
              <a:t>Tạo ứng dụng với QToolBox</a:t>
            </a:r>
          </a:p>
        </p:txBody>
      </p:sp>
      <p:sp>
        <p:nvSpPr>
          <p:cNvPr id="3" name="Content Placeholder 2">
            <a:extLst>
              <a:ext uri="{FF2B5EF4-FFF2-40B4-BE49-F238E27FC236}">
                <a16:creationId xmlns:a16="http://schemas.microsoft.com/office/drawing/2014/main" id="{DC112E21-1CD7-4CF3-9962-661C7B6D96F7}"/>
              </a:ext>
            </a:extLst>
          </p:cNvPr>
          <p:cNvSpPr>
            <a:spLocks noGrp="1"/>
          </p:cNvSpPr>
          <p:nvPr>
            <p:ph idx="1"/>
          </p:nvPr>
        </p:nvSpPr>
        <p:spPr>
          <a:xfrm>
            <a:off x="9625" y="990025"/>
            <a:ext cx="9134375" cy="2760452"/>
          </a:xfrm>
        </p:spPr>
        <p:txBody>
          <a:bodyPr>
            <a:normAutofit/>
          </a:bodyPr>
          <a:lstStyle/>
          <a:p>
            <a:r>
              <a:rPr lang="vi-VN"/>
              <a:t>Lớp </a:t>
            </a:r>
            <a:r>
              <a:rPr lang="vi-VN">
                <a:hlinkClick r:id="rId3"/>
              </a:rPr>
              <a:t>QToolBox</a:t>
            </a:r>
            <a:r>
              <a:rPr lang="vi-VN"/>
              <a:t> cung cấp </a:t>
            </a:r>
            <a:r>
              <a:rPr lang="en-US"/>
              <a:t>các item dạng tab</a:t>
            </a:r>
            <a:r>
              <a:rPr lang="vi-VN"/>
              <a:t>.</a:t>
            </a:r>
          </a:p>
          <a:p>
            <a:r>
              <a:rPr lang="vi-VN"/>
              <a:t>Hộp công cụ</a:t>
            </a:r>
            <a:r>
              <a:rPr lang="en-US"/>
              <a:t> (toolbox)</a:t>
            </a:r>
            <a:r>
              <a:rPr lang="vi-VN"/>
              <a:t> là một </a:t>
            </a:r>
            <a:r>
              <a:rPr lang="en-US"/>
              <a:t>widget </a:t>
            </a:r>
            <a:r>
              <a:rPr lang="vi-VN"/>
              <a:t>hiển thị một cột các tab chồng lên nhau, với mục hiện tại được hiển thị bên dưới tab hiện tại. Mỗi tab có một vị trí chỉ mục trong cột của các tab. </a:t>
            </a:r>
            <a:r>
              <a:rPr lang="en-US"/>
              <a:t>Mỗi m</a:t>
            </a:r>
            <a:r>
              <a:rPr lang="vi-VN"/>
              <a:t>ục </a:t>
            </a:r>
            <a:r>
              <a:rPr lang="en-US"/>
              <a:t>(item) </a:t>
            </a:r>
            <a:r>
              <a:rPr lang="vi-VN"/>
              <a:t>của tab là QWidget. </a:t>
            </a:r>
            <a:endParaRPr lang="en-US"/>
          </a:p>
        </p:txBody>
      </p:sp>
      <p:graphicFrame>
        <p:nvGraphicFramePr>
          <p:cNvPr id="4" name="Table 3">
            <a:extLst>
              <a:ext uri="{FF2B5EF4-FFF2-40B4-BE49-F238E27FC236}">
                <a16:creationId xmlns:a16="http://schemas.microsoft.com/office/drawing/2014/main" id="{0208ECE6-6A60-47BD-B521-CF74454F7CD6}"/>
              </a:ext>
            </a:extLst>
          </p:cNvPr>
          <p:cNvGraphicFramePr>
            <a:graphicFrameLocks noGrp="1"/>
          </p:cNvGraphicFramePr>
          <p:nvPr>
            <p:extLst>
              <p:ext uri="{D42A27DB-BD31-4B8C-83A1-F6EECF244321}">
                <p14:modId xmlns:p14="http://schemas.microsoft.com/office/powerpoint/2010/main" val="1564344755"/>
              </p:ext>
            </p:extLst>
          </p:nvPr>
        </p:nvGraphicFramePr>
        <p:xfrm>
          <a:off x="9624" y="3895113"/>
          <a:ext cx="9124752" cy="1798320"/>
        </p:xfrm>
        <a:graphic>
          <a:graphicData uri="http://schemas.openxmlformats.org/drawingml/2006/table">
            <a:tbl>
              <a:tblPr/>
              <a:tblGrid>
                <a:gridCol w="696601">
                  <a:extLst>
                    <a:ext uri="{9D8B030D-6E8A-4147-A177-3AD203B41FA5}">
                      <a16:colId xmlns:a16="http://schemas.microsoft.com/office/drawing/2014/main" val="3816482020"/>
                    </a:ext>
                  </a:extLst>
                </a:gridCol>
                <a:gridCol w="8428151">
                  <a:extLst>
                    <a:ext uri="{9D8B030D-6E8A-4147-A177-3AD203B41FA5}">
                      <a16:colId xmlns:a16="http://schemas.microsoft.com/office/drawing/2014/main" val="2050970548"/>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r>
                        <a:rPr lang="en-US" sz="28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QWidget</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QToolBox</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QLabel</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QVBoxLayout</a:t>
                      </a:r>
                      <a:endParaRPr lang="en-US" sz="2800" b="0">
                        <a:solidFill>
                          <a:srgbClr val="000000"/>
                        </a:solidFill>
                        <a:effectLst/>
                        <a:latin typeface="inherit"/>
                      </a:endParaRPr>
                    </a:p>
                    <a:p>
                      <a:pPr algn="l" fontAlgn="t"/>
                      <a:r>
                        <a:rPr lang="en-US" sz="2800" b="0">
                          <a:solidFill>
                            <a:srgbClr val="004ED0"/>
                          </a:solidFill>
                          <a:effectLst/>
                          <a:latin typeface="inherit"/>
                        </a:rPr>
                        <a:t>import </a:t>
                      </a:r>
                      <a:r>
                        <a:rPr lang="en-US" sz="2800" b="0">
                          <a:solidFill>
                            <a:srgbClr val="002D7A"/>
                          </a:solidFill>
                          <a:effectLst/>
                          <a:latin typeface="inherit"/>
                        </a:rPr>
                        <a:t>sys</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1720904688"/>
                  </a:ext>
                </a:extLst>
              </a:tr>
            </a:tbl>
          </a:graphicData>
        </a:graphic>
      </p:graphicFrame>
    </p:spTree>
    <p:extLst>
      <p:ext uri="{BB962C8B-B14F-4D97-AF65-F5344CB8AC3E}">
        <p14:creationId xmlns:p14="http://schemas.microsoft.com/office/powerpoint/2010/main" val="2391174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33CEF2-3475-4202-9788-EDFF1068E543}"/>
              </a:ext>
            </a:extLst>
          </p:cNvPr>
          <p:cNvSpPr>
            <a:spLocks noGrp="1"/>
          </p:cNvSpPr>
          <p:nvPr>
            <p:ph idx="1"/>
          </p:nvPr>
        </p:nvSpPr>
        <p:spPr>
          <a:xfrm>
            <a:off x="9624" y="862642"/>
            <a:ext cx="9134375" cy="5976108"/>
          </a:xfrm>
        </p:spPr>
        <p:txBody>
          <a:bodyPr>
            <a:normAutofit/>
          </a:bodyPr>
          <a:lstStyle/>
          <a:p>
            <a:pPr marL="0" indent="0">
              <a:buNone/>
            </a:pPr>
            <a:r>
              <a:rPr lang="en-US" sz="3200"/>
              <a:t>Sau đó, chúng ta sẽ tạo lớp Window và trong lớp đó viết các đặc tả của cửa sổ</a:t>
            </a:r>
          </a:p>
        </p:txBody>
      </p:sp>
      <p:sp>
        <p:nvSpPr>
          <p:cNvPr id="4" name="Title 1">
            <a:extLst>
              <a:ext uri="{FF2B5EF4-FFF2-40B4-BE49-F238E27FC236}">
                <a16:creationId xmlns:a16="http://schemas.microsoft.com/office/drawing/2014/main" id="{1199CD8C-97BE-4485-A05D-24BF16FDF431}"/>
              </a:ext>
            </a:extLst>
          </p:cNvPr>
          <p:cNvSpPr>
            <a:spLocks noGrp="1"/>
          </p:cNvSpPr>
          <p:nvPr>
            <p:ph type="title"/>
          </p:nvPr>
        </p:nvSpPr>
        <p:spPr>
          <a:xfrm>
            <a:off x="9624" y="19250"/>
            <a:ext cx="9134375" cy="843392"/>
          </a:xfrm>
        </p:spPr>
        <p:txBody>
          <a:bodyPr>
            <a:normAutofit/>
          </a:bodyPr>
          <a:lstStyle/>
          <a:p>
            <a:r>
              <a:rPr lang="en-US"/>
              <a:t>Tạo ứng dụng với QToolBox (t.t)</a:t>
            </a:r>
          </a:p>
        </p:txBody>
      </p:sp>
      <p:sp>
        <p:nvSpPr>
          <p:cNvPr id="5" name="Rectangle 4">
            <a:extLst>
              <a:ext uri="{FF2B5EF4-FFF2-40B4-BE49-F238E27FC236}">
                <a16:creationId xmlns:a16="http://schemas.microsoft.com/office/drawing/2014/main" id="{9F69AC3D-6878-41BC-BB2E-024CA4220942}"/>
              </a:ext>
            </a:extLst>
          </p:cNvPr>
          <p:cNvSpPr/>
          <p:nvPr/>
        </p:nvSpPr>
        <p:spPr>
          <a:xfrm>
            <a:off x="819508" y="1946558"/>
            <a:ext cx="4865299" cy="3970318"/>
          </a:xfrm>
          <a:prstGeom prst="rect">
            <a:avLst/>
          </a:prstGeom>
        </p:spPr>
        <p:txBody>
          <a:bodyPr wrap="square">
            <a:spAutoFit/>
          </a:bodyPr>
          <a:lstStyle/>
          <a:p>
            <a:r>
              <a:rPr lang="en-US" sz="2800">
                <a:solidFill>
                  <a:srgbClr val="800080"/>
                </a:solidFill>
                <a:latin typeface="inherit"/>
              </a:rPr>
              <a:t>class</a:t>
            </a:r>
            <a:r>
              <a:rPr lang="en-US" sz="2800">
                <a:solidFill>
                  <a:srgbClr val="006FE0"/>
                </a:solidFill>
                <a:latin typeface="inherit"/>
              </a:rPr>
              <a:t> </a:t>
            </a:r>
            <a:r>
              <a:rPr lang="en-US" sz="2800">
                <a:solidFill>
                  <a:srgbClr val="004ED0"/>
                </a:solidFill>
                <a:latin typeface="inherit"/>
              </a:rPr>
              <a:t>Window</a:t>
            </a:r>
            <a:r>
              <a:rPr lang="en-US" sz="2800">
                <a:solidFill>
                  <a:srgbClr val="333333"/>
                </a:solidFill>
                <a:latin typeface="inherit"/>
              </a:rPr>
              <a:t>(</a:t>
            </a:r>
            <a:r>
              <a:rPr lang="en-US" sz="2800">
                <a:solidFill>
                  <a:srgbClr val="002D7A"/>
                </a:solidFill>
                <a:latin typeface="inherit"/>
              </a:rPr>
              <a:t>QWidget</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004ED0"/>
                </a:solidFill>
                <a:latin typeface="inherit"/>
              </a:rPr>
              <a:t>def __init__</a:t>
            </a:r>
            <a:r>
              <a:rPr lang="en-US" sz="2800">
                <a:solidFill>
                  <a:srgbClr val="333333"/>
                </a:solidFill>
                <a:latin typeface="inherit"/>
              </a:rPr>
              <a:t>(</a:t>
            </a:r>
            <a:r>
              <a:rPr lang="en-US" sz="2800">
                <a:solidFill>
                  <a:srgbClr val="800080"/>
                </a:solidFill>
                <a:latin typeface="inherit"/>
              </a:rPr>
              <a:t>self</a:t>
            </a:r>
            <a:r>
              <a:rPr lang="en-US" sz="2800">
                <a:solidFill>
                  <a:srgbClr val="333333"/>
                </a:solidFill>
                <a:latin typeface="inherit"/>
              </a:rPr>
              <a:t>)</a:t>
            </a:r>
            <a:r>
              <a:rPr lang="en-US" sz="2800">
                <a:solidFill>
                  <a:srgbClr val="006FE0"/>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super</a:t>
            </a:r>
            <a:r>
              <a:rPr lang="en-US" sz="2800">
                <a:solidFill>
                  <a:srgbClr val="333333"/>
                </a:solidFill>
                <a:latin typeface="inherit"/>
              </a:rPr>
              <a:t>().</a:t>
            </a:r>
            <a:r>
              <a:rPr lang="en-US" sz="2800">
                <a:solidFill>
                  <a:srgbClr val="004ED0"/>
                </a:solidFill>
                <a:latin typeface="inherit"/>
              </a:rPr>
              <a:t>__init__</a:t>
            </a:r>
            <a:r>
              <a:rPr lang="en-US" sz="2800">
                <a:solidFill>
                  <a:srgbClr val="333333"/>
                </a:solidFill>
                <a:latin typeface="inherit"/>
              </a:rPr>
              <a:t>()</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title</a:t>
            </a:r>
            <a:r>
              <a:rPr lang="en-US" sz="2800">
                <a:solidFill>
                  <a:srgbClr val="006FE0"/>
                </a:solidFill>
                <a:latin typeface="inherit"/>
              </a:rPr>
              <a:t> = </a:t>
            </a:r>
            <a:r>
              <a:rPr lang="en-US" sz="2800">
                <a:solidFill>
                  <a:srgbClr val="008000"/>
                </a:solidFill>
                <a:latin typeface="inherit"/>
              </a:rPr>
              <a:t>"PyQt5 ToolBox"</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top</a:t>
            </a:r>
            <a:r>
              <a:rPr lang="en-US" sz="2800">
                <a:solidFill>
                  <a:srgbClr val="006FE0"/>
                </a:solidFill>
                <a:latin typeface="inherit"/>
              </a:rPr>
              <a:t> = </a:t>
            </a:r>
            <a:r>
              <a:rPr lang="en-US" sz="2800">
                <a:solidFill>
                  <a:srgbClr val="CE0000"/>
                </a:solidFill>
                <a:latin typeface="inherit"/>
              </a:rPr>
              <a:t>200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left</a:t>
            </a:r>
            <a:r>
              <a:rPr lang="en-US" sz="2800">
                <a:solidFill>
                  <a:srgbClr val="006FE0"/>
                </a:solidFill>
                <a:latin typeface="inherit"/>
              </a:rPr>
              <a:t> = </a:t>
            </a:r>
            <a:r>
              <a:rPr lang="en-US" sz="2800">
                <a:solidFill>
                  <a:srgbClr val="CE0000"/>
                </a:solidFill>
                <a:latin typeface="inherit"/>
              </a:rPr>
              <a:t>500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width</a:t>
            </a:r>
            <a:r>
              <a:rPr lang="en-US" sz="2800">
                <a:solidFill>
                  <a:srgbClr val="006FE0"/>
                </a:solidFill>
                <a:latin typeface="inherit"/>
              </a:rPr>
              <a:t> = </a:t>
            </a:r>
            <a:r>
              <a:rPr lang="en-US" sz="2800">
                <a:solidFill>
                  <a:srgbClr val="CE0000"/>
                </a:solidFill>
                <a:latin typeface="inherit"/>
              </a:rPr>
              <a:t>400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2D7A"/>
                </a:solidFill>
                <a:latin typeface="inherit"/>
              </a:rPr>
              <a:t>height</a:t>
            </a:r>
            <a:r>
              <a:rPr lang="en-US" sz="2800">
                <a:solidFill>
                  <a:srgbClr val="006FE0"/>
                </a:solidFill>
                <a:latin typeface="inherit"/>
              </a:rPr>
              <a:t> = </a:t>
            </a:r>
            <a:r>
              <a:rPr lang="en-US" sz="2800">
                <a:solidFill>
                  <a:srgbClr val="CE0000"/>
                </a:solidFill>
                <a:latin typeface="inherit"/>
              </a:rPr>
              <a:t>300</a:t>
            </a:r>
            <a:endParaRPr lang="en-US" sz="2800">
              <a:solidFill>
                <a:srgbClr val="000000"/>
              </a:solidFill>
              <a:latin typeface="Monaco"/>
            </a:endParaRPr>
          </a:p>
          <a:p>
            <a:r>
              <a:rPr lang="en-US" sz="2800">
                <a:solidFill>
                  <a:srgbClr val="006FE0"/>
                </a:solidFill>
                <a:latin typeface="inherit"/>
              </a:rPr>
              <a:t>        </a:t>
            </a:r>
            <a:r>
              <a:rPr lang="en-US" sz="2800">
                <a:solidFill>
                  <a:srgbClr val="800080"/>
                </a:solidFill>
                <a:latin typeface="inherit"/>
              </a:rPr>
              <a:t>self</a:t>
            </a:r>
            <a:r>
              <a:rPr lang="en-US" sz="2800">
                <a:solidFill>
                  <a:srgbClr val="333333"/>
                </a:solidFill>
                <a:latin typeface="inherit"/>
              </a:rPr>
              <a:t>.</a:t>
            </a:r>
            <a:r>
              <a:rPr lang="en-US" sz="2800">
                <a:solidFill>
                  <a:srgbClr val="004ED0"/>
                </a:solidFill>
                <a:latin typeface="inherit"/>
              </a:rPr>
              <a:t>InitWindow</a:t>
            </a:r>
            <a:r>
              <a:rPr lang="en-US" sz="2800">
                <a:solidFill>
                  <a:srgbClr val="333333"/>
                </a:solidFill>
                <a:latin typeface="inherit"/>
              </a:rPr>
              <a:t>()</a:t>
            </a:r>
            <a:endParaRPr lang="en-US" sz="2800" b="0" i="0">
              <a:solidFill>
                <a:srgbClr val="000000"/>
              </a:solidFill>
              <a:effectLst/>
              <a:latin typeface="Monaco"/>
            </a:endParaRPr>
          </a:p>
        </p:txBody>
      </p:sp>
    </p:spTree>
    <p:extLst>
      <p:ext uri="{BB962C8B-B14F-4D97-AF65-F5344CB8AC3E}">
        <p14:creationId xmlns:p14="http://schemas.microsoft.com/office/powerpoint/2010/main" val="19542485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75019-63D4-411C-B189-352EBFF6B54D}"/>
              </a:ext>
            </a:extLst>
          </p:cNvPr>
          <p:cNvSpPr>
            <a:spLocks noGrp="1"/>
          </p:cNvSpPr>
          <p:nvPr>
            <p:ph idx="1"/>
          </p:nvPr>
        </p:nvSpPr>
        <p:spPr>
          <a:xfrm>
            <a:off x="9624" y="715992"/>
            <a:ext cx="9134375" cy="6122758"/>
          </a:xfrm>
        </p:spPr>
        <p:txBody>
          <a:bodyPr>
            <a:normAutofit/>
          </a:bodyPr>
          <a:lstStyle/>
          <a:p>
            <a:pPr marL="0" indent="0" algn="just">
              <a:buNone/>
            </a:pPr>
            <a:r>
              <a:rPr lang="vi-VN" sz="2400"/>
              <a:t>Bây giờ chúng ta sẽ tạo phương thức initWindow() và trong phương thức đó</a:t>
            </a:r>
            <a:r>
              <a:rPr lang="en-US" sz="2400"/>
              <a:t> </a:t>
            </a:r>
            <a:r>
              <a:rPr lang="vi-VN" sz="2400"/>
              <a:t>đặt ra các yêu cầu của mình, </a:t>
            </a:r>
            <a:r>
              <a:rPr lang="en-US" sz="2400"/>
              <a:t>và </a:t>
            </a:r>
            <a:r>
              <a:rPr lang="vi-VN" sz="2400"/>
              <a:t>tạo ra QToolBox trong phương thức này</a:t>
            </a:r>
            <a:endParaRPr lang="en-US" sz="2400"/>
          </a:p>
        </p:txBody>
      </p:sp>
      <p:sp>
        <p:nvSpPr>
          <p:cNvPr id="4" name="Title 1">
            <a:extLst>
              <a:ext uri="{FF2B5EF4-FFF2-40B4-BE49-F238E27FC236}">
                <a16:creationId xmlns:a16="http://schemas.microsoft.com/office/drawing/2014/main" id="{1368C6EB-8CA5-4A64-A3C9-B3EE1FDA75AF}"/>
              </a:ext>
            </a:extLst>
          </p:cNvPr>
          <p:cNvSpPr>
            <a:spLocks noGrp="1"/>
          </p:cNvSpPr>
          <p:nvPr>
            <p:ph type="title"/>
          </p:nvPr>
        </p:nvSpPr>
        <p:spPr>
          <a:xfrm>
            <a:off x="9624" y="19250"/>
            <a:ext cx="9134375" cy="696742"/>
          </a:xfrm>
        </p:spPr>
        <p:txBody>
          <a:bodyPr>
            <a:normAutofit/>
          </a:bodyPr>
          <a:lstStyle/>
          <a:p>
            <a:r>
              <a:rPr lang="en-US"/>
              <a:t>Tạo ứng dụng với QToolBox (t.t)</a:t>
            </a:r>
          </a:p>
        </p:txBody>
      </p:sp>
      <p:sp>
        <p:nvSpPr>
          <p:cNvPr id="8" name="Rectangle 7">
            <a:extLst>
              <a:ext uri="{FF2B5EF4-FFF2-40B4-BE49-F238E27FC236}">
                <a16:creationId xmlns:a16="http://schemas.microsoft.com/office/drawing/2014/main" id="{89071778-49C8-432E-A428-326B1645D494}"/>
              </a:ext>
            </a:extLst>
          </p:cNvPr>
          <p:cNvSpPr/>
          <p:nvPr/>
        </p:nvSpPr>
        <p:spPr>
          <a:xfrm>
            <a:off x="2009956" y="1821237"/>
            <a:ext cx="6832121" cy="5036763"/>
          </a:xfrm>
          <a:prstGeom prst="rect">
            <a:avLst/>
          </a:prstGeom>
          <a:solidFill>
            <a:schemeClr val="accent4">
              <a:lumMod val="20000"/>
              <a:lumOff val="80000"/>
            </a:schemeClr>
          </a:solidFill>
        </p:spPr>
        <p:txBody>
          <a:bodyPr wrap="square">
            <a:spAutoFit/>
          </a:bodyPr>
          <a:lstStyle/>
          <a:p>
            <a:pPr>
              <a:lnSpc>
                <a:spcPct val="90000"/>
              </a:lnSpc>
            </a:pPr>
            <a:r>
              <a:rPr lang="en-US" sz="2100">
                <a:solidFill>
                  <a:srgbClr val="004ED0"/>
                </a:solidFill>
                <a:latin typeface="inherit"/>
              </a:rPr>
              <a:t>def InitWindow</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6FE0"/>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setWindowIcon</a:t>
            </a:r>
            <a:r>
              <a:rPr lang="en-US" sz="2100">
                <a:solidFill>
                  <a:srgbClr val="333333"/>
                </a:solidFill>
                <a:latin typeface="inherit"/>
              </a:rPr>
              <a:t>(</a:t>
            </a:r>
            <a:r>
              <a:rPr lang="en-US" sz="2100">
                <a:solidFill>
                  <a:srgbClr val="002D7A"/>
                </a:solidFill>
                <a:latin typeface="inherit"/>
              </a:rPr>
              <a:t>QtGui</a:t>
            </a:r>
            <a:r>
              <a:rPr lang="en-US" sz="2100">
                <a:solidFill>
                  <a:srgbClr val="333333"/>
                </a:solidFill>
                <a:latin typeface="inherit"/>
              </a:rPr>
              <a:t>.</a:t>
            </a:r>
            <a:r>
              <a:rPr lang="en-US" sz="2100">
                <a:solidFill>
                  <a:srgbClr val="004ED0"/>
                </a:solidFill>
                <a:latin typeface="inherit"/>
              </a:rPr>
              <a:t>QIcon</a:t>
            </a:r>
            <a:r>
              <a:rPr lang="en-US" sz="2100">
                <a:solidFill>
                  <a:srgbClr val="333333"/>
                </a:solidFill>
                <a:latin typeface="inherit"/>
              </a:rPr>
              <a:t>(</a:t>
            </a:r>
            <a:r>
              <a:rPr lang="en-US" sz="2100">
                <a:solidFill>
                  <a:srgbClr val="008000"/>
                </a:solidFill>
                <a:latin typeface="inherit"/>
              </a:rPr>
              <a:t>"icon.png"</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setWindowTitle</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title</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setGeometry</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left</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top</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width</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height</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setStyleSheet</a:t>
            </a:r>
            <a:r>
              <a:rPr lang="en-US" sz="2100">
                <a:solidFill>
                  <a:srgbClr val="333333"/>
                </a:solidFill>
                <a:latin typeface="inherit"/>
              </a:rPr>
              <a:t>(</a:t>
            </a:r>
            <a:r>
              <a:rPr lang="en-US" sz="2100">
                <a:solidFill>
                  <a:srgbClr val="008000"/>
                </a:solidFill>
                <a:latin typeface="inherit"/>
              </a:rPr>
              <a:t>"background-color:yellow"</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vbox</a:t>
            </a:r>
            <a:r>
              <a:rPr lang="en-US" sz="2100">
                <a:solidFill>
                  <a:srgbClr val="006FE0"/>
                </a:solidFill>
                <a:latin typeface="inherit"/>
              </a:rPr>
              <a:t> = </a:t>
            </a:r>
            <a:r>
              <a:rPr lang="en-US" sz="2100">
                <a:solidFill>
                  <a:srgbClr val="004ED0"/>
                </a:solidFill>
                <a:latin typeface="inherit"/>
              </a:rPr>
              <a:t>QVBoxLayout</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toolbox</a:t>
            </a:r>
            <a:r>
              <a:rPr lang="en-US" sz="2100">
                <a:solidFill>
                  <a:srgbClr val="006FE0"/>
                </a:solidFill>
                <a:latin typeface="inherit"/>
              </a:rPr>
              <a:t> = </a:t>
            </a:r>
            <a:r>
              <a:rPr lang="en-US" sz="2100">
                <a:solidFill>
                  <a:srgbClr val="004ED0"/>
                </a:solidFill>
                <a:latin typeface="inherit"/>
              </a:rPr>
              <a:t>QToolBox</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vbox</a:t>
            </a:r>
            <a:r>
              <a:rPr lang="en-US" sz="2100">
                <a:solidFill>
                  <a:srgbClr val="333333"/>
                </a:solidFill>
                <a:latin typeface="inherit"/>
              </a:rPr>
              <a:t>.</a:t>
            </a:r>
            <a:r>
              <a:rPr lang="en-US" sz="2100">
                <a:solidFill>
                  <a:srgbClr val="004ED0"/>
                </a:solidFill>
                <a:latin typeface="inherit"/>
              </a:rPr>
              <a:t>addWidget</a:t>
            </a:r>
            <a:r>
              <a:rPr lang="en-US" sz="2100">
                <a:solidFill>
                  <a:srgbClr val="333333"/>
                </a:solidFill>
                <a:latin typeface="inherit"/>
              </a:rPr>
              <a:t>(</a:t>
            </a:r>
            <a:r>
              <a:rPr lang="en-US" sz="2100">
                <a:solidFill>
                  <a:srgbClr val="002D7A"/>
                </a:solidFill>
                <a:latin typeface="inherit"/>
              </a:rPr>
              <a:t>toolbox</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label</a:t>
            </a:r>
            <a:r>
              <a:rPr lang="en-US" sz="2100">
                <a:solidFill>
                  <a:srgbClr val="006FE0"/>
                </a:solidFill>
                <a:latin typeface="inherit"/>
              </a:rPr>
              <a:t> = </a:t>
            </a:r>
            <a:r>
              <a:rPr lang="en-US" sz="2100">
                <a:solidFill>
                  <a:srgbClr val="004ED0"/>
                </a:solidFill>
                <a:latin typeface="inherit"/>
              </a:rPr>
              <a:t>QLabel</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toolbox</a:t>
            </a:r>
            <a:r>
              <a:rPr lang="en-US" sz="2100">
                <a:solidFill>
                  <a:srgbClr val="333333"/>
                </a:solidFill>
                <a:latin typeface="inherit"/>
              </a:rPr>
              <a:t>.</a:t>
            </a:r>
            <a:r>
              <a:rPr lang="en-US" sz="2100">
                <a:solidFill>
                  <a:srgbClr val="004ED0"/>
                </a:solidFill>
                <a:latin typeface="inherit"/>
              </a:rPr>
              <a:t>addItem</a:t>
            </a:r>
            <a:r>
              <a:rPr lang="en-US" sz="2100">
                <a:solidFill>
                  <a:srgbClr val="333333"/>
                </a:solidFill>
                <a:latin typeface="inherit"/>
              </a:rPr>
              <a:t>(</a:t>
            </a:r>
            <a:r>
              <a:rPr lang="en-US" sz="2100">
                <a:solidFill>
                  <a:srgbClr val="002D7A"/>
                </a:solidFill>
                <a:latin typeface="inherit"/>
              </a:rPr>
              <a:t>label</a:t>
            </a:r>
            <a:r>
              <a:rPr lang="en-US" sz="2100">
                <a:solidFill>
                  <a:srgbClr val="333333"/>
                </a:solidFill>
                <a:latin typeface="inherit"/>
              </a:rPr>
              <a:t>,</a:t>
            </a:r>
            <a:r>
              <a:rPr lang="en-US" sz="2100">
                <a:solidFill>
                  <a:srgbClr val="006FE0"/>
                </a:solidFill>
                <a:latin typeface="inherit"/>
              </a:rPr>
              <a:t> </a:t>
            </a:r>
            <a:r>
              <a:rPr lang="en-US" sz="2100">
                <a:solidFill>
                  <a:srgbClr val="008000"/>
                </a:solidFill>
                <a:latin typeface="inherit"/>
              </a:rPr>
              <a:t>"Python"</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toolbox</a:t>
            </a:r>
            <a:r>
              <a:rPr lang="en-US" sz="2100">
                <a:solidFill>
                  <a:srgbClr val="333333"/>
                </a:solidFill>
                <a:latin typeface="inherit"/>
              </a:rPr>
              <a:t>.</a:t>
            </a:r>
            <a:r>
              <a:rPr lang="en-US" sz="2100">
                <a:solidFill>
                  <a:srgbClr val="004ED0"/>
                </a:solidFill>
                <a:latin typeface="inherit"/>
              </a:rPr>
              <a:t>setFont</a:t>
            </a:r>
            <a:r>
              <a:rPr lang="en-US" sz="2100">
                <a:solidFill>
                  <a:srgbClr val="333333"/>
                </a:solidFill>
                <a:latin typeface="inherit"/>
              </a:rPr>
              <a:t>(</a:t>
            </a:r>
            <a:r>
              <a:rPr lang="en-US" sz="2100">
                <a:solidFill>
                  <a:srgbClr val="002D7A"/>
                </a:solidFill>
                <a:latin typeface="inherit"/>
              </a:rPr>
              <a:t>QtGui</a:t>
            </a:r>
            <a:r>
              <a:rPr lang="en-US" sz="2100">
                <a:solidFill>
                  <a:srgbClr val="333333"/>
                </a:solidFill>
                <a:latin typeface="inherit"/>
              </a:rPr>
              <a:t>.</a:t>
            </a:r>
            <a:r>
              <a:rPr lang="en-US" sz="2100">
                <a:solidFill>
                  <a:srgbClr val="004ED0"/>
                </a:solidFill>
                <a:latin typeface="inherit"/>
              </a:rPr>
              <a:t>QFont</a:t>
            </a:r>
            <a:r>
              <a:rPr lang="en-US" sz="2100">
                <a:solidFill>
                  <a:srgbClr val="333333"/>
                </a:solidFill>
                <a:latin typeface="inherit"/>
              </a:rPr>
              <a:t>(</a:t>
            </a:r>
            <a:r>
              <a:rPr lang="en-US" sz="2100">
                <a:solidFill>
                  <a:srgbClr val="008000"/>
                </a:solidFill>
                <a:latin typeface="inherit"/>
              </a:rPr>
              <a:t>"Sanserif"</a:t>
            </a:r>
            <a:r>
              <a:rPr lang="en-US" sz="2100">
                <a:solidFill>
                  <a:srgbClr val="333333"/>
                </a:solidFill>
                <a:latin typeface="inherit"/>
              </a:rPr>
              <a:t>,</a:t>
            </a:r>
            <a:r>
              <a:rPr lang="en-US" sz="2100">
                <a:solidFill>
                  <a:srgbClr val="006FE0"/>
                </a:solidFill>
                <a:latin typeface="inherit"/>
              </a:rPr>
              <a:t> </a:t>
            </a:r>
            <a:r>
              <a:rPr lang="en-US" sz="2100">
                <a:solidFill>
                  <a:srgbClr val="CE0000"/>
                </a:solidFill>
                <a:latin typeface="inherit"/>
              </a:rPr>
              <a:t>15</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label</a:t>
            </a:r>
            <a:r>
              <a:rPr lang="en-US" sz="2100">
                <a:solidFill>
                  <a:srgbClr val="006FE0"/>
                </a:solidFill>
                <a:latin typeface="inherit"/>
              </a:rPr>
              <a:t> = </a:t>
            </a:r>
            <a:r>
              <a:rPr lang="en-US" sz="2100">
                <a:solidFill>
                  <a:srgbClr val="004ED0"/>
                </a:solidFill>
                <a:latin typeface="inherit"/>
              </a:rPr>
              <a:t>QLabel</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toolbox</a:t>
            </a:r>
            <a:r>
              <a:rPr lang="en-US" sz="2100">
                <a:solidFill>
                  <a:srgbClr val="333333"/>
                </a:solidFill>
                <a:latin typeface="inherit"/>
              </a:rPr>
              <a:t>.</a:t>
            </a:r>
            <a:r>
              <a:rPr lang="en-US" sz="2100">
                <a:solidFill>
                  <a:srgbClr val="004ED0"/>
                </a:solidFill>
                <a:latin typeface="inherit"/>
              </a:rPr>
              <a:t>addItem</a:t>
            </a:r>
            <a:r>
              <a:rPr lang="en-US" sz="2100">
                <a:solidFill>
                  <a:srgbClr val="333333"/>
                </a:solidFill>
                <a:latin typeface="inherit"/>
              </a:rPr>
              <a:t>(</a:t>
            </a:r>
            <a:r>
              <a:rPr lang="en-US" sz="2100">
                <a:solidFill>
                  <a:srgbClr val="002D7A"/>
                </a:solidFill>
                <a:latin typeface="inherit"/>
              </a:rPr>
              <a:t>label</a:t>
            </a:r>
            <a:r>
              <a:rPr lang="en-US" sz="2100">
                <a:solidFill>
                  <a:srgbClr val="333333"/>
                </a:solidFill>
                <a:latin typeface="inherit"/>
              </a:rPr>
              <a:t>,</a:t>
            </a:r>
            <a:r>
              <a:rPr lang="en-US" sz="2100">
                <a:solidFill>
                  <a:srgbClr val="006FE0"/>
                </a:solidFill>
                <a:latin typeface="inherit"/>
              </a:rPr>
              <a:t> </a:t>
            </a:r>
            <a:r>
              <a:rPr lang="en-US" sz="2100">
                <a:solidFill>
                  <a:srgbClr val="008000"/>
                </a:solidFill>
                <a:latin typeface="inherit"/>
              </a:rPr>
              <a:t>"Java"</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label</a:t>
            </a:r>
            <a:r>
              <a:rPr lang="en-US" sz="2100">
                <a:solidFill>
                  <a:srgbClr val="006FE0"/>
                </a:solidFill>
                <a:latin typeface="inherit"/>
              </a:rPr>
              <a:t> = </a:t>
            </a:r>
            <a:r>
              <a:rPr lang="en-US" sz="2100">
                <a:solidFill>
                  <a:srgbClr val="004ED0"/>
                </a:solidFill>
                <a:latin typeface="inherit"/>
              </a:rPr>
              <a:t>QLabel</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2D7A"/>
                </a:solidFill>
                <a:latin typeface="inherit"/>
              </a:rPr>
              <a:t>toolbox</a:t>
            </a:r>
            <a:r>
              <a:rPr lang="en-US" sz="2100">
                <a:solidFill>
                  <a:srgbClr val="333333"/>
                </a:solidFill>
                <a:latin typeface="inherit"/>
              </a:rPr>
              <a:t>.</a:t>
            </a:r>
            <a:r>
              <a:rPr lang="en-US" sz="2100">
                <a:solidFill>
                  <a:srgbClr val="004ED0"/>
                </a:solidFill>
                <a:latin typeface="inherit"/>
              </a:rPr>
              <a:t>addItem</a:t>
            </a:r>
            <a:r>
              <a:rPr lang="en-US" sz="2100">
                <a:solidFill>
                  <a:srgbClr val="333333"/>
                </a:solidFill>
                <a:latin typeface="inherit"/>
              </a:rPr>
              <a:t>(</a:t>
            </a:r>
            <a:r>
              <a:rPr lang="en-US" sz="2100">
                <a:solidFill>
                  <a:srgbClr val="002D7A"/>
                </a:solidFill>
                <a:latin typeface="inherit"/>
              </a:rPr>
              <a:t>label</a:t>
            </a:r>
            <a:r>
              <a:rPr lang="en-US" sz="2100">
                <a:solidFill>
                  <a:srgbClr val="333333"/>
                </a:solidFill>
                <a:latin typeface="inherit"/>
              </a:rPr>
              <a:t>,</a:t>
            </a:r>
            <a:r>
              <a:rPr lang="en-US" sz="2100">
                <a:solidFill>
                  <a:srgbClr val="006FE0"/>
                </a:solidFill>
                <a:latin typeface="inherit"/>
              </a:rPr>
              <a:t> </a:t>
            </a:r>
            <a:r>
              <a:rPr lang="en-US" sz="2100">
                <a:solidFill>
                  <a:srgbClr val="008000"/>
                </a:solidFill>
                <a:latin typeface="inherit"/>
              </a:rPr>
              <a:t>"C++"</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setLayout</a:t>
            </a:r>
            <a:r>
              <a:rPr lang="en-US" sz="2100">
                <a:solidFill>
                  <a:srgbClr val="333333"/>
                </a:solidFill>
                <a:latin typeface="inherit"/>
              </a:rPr>
              <a:t>(</a:t>
            </a:r>
            <a:r>
              <a:rPr lang="en-US" sz="2100">
                <a:solidFill>
                  <a:srgbClr val="002D7A"/>
                </a:solidFill>
                <a:latin typeface="inherit"/>
              </a:rPr>
              <a:t>vbox</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show</a:t>
            </a:r>
            <a:r>
              <a:rPr lang="en-US" sz="2100">
                <a:solidFill>
                  <a:srgbClr val="333333"/>
                </a:solidFill>
                <a:latin typeface="inherit"/>
              </a:rPr>
              <a:t>()</a:t>
            </a:r>
            <a:endParaRPr lang="en-US" sz="2100" b="0" i="0">
              <a:solidFill>
                <a:srgbClr val="000000"/>
              </a:solidFill>
              <a:effectLst/>
              <a:latin typeface="Monaco"/>
            </a:endParaRPr>
          </a:p>
        </p:txBody>
      </p:sp>
    </p:spTree>
    <p:extLst>
      <p:ext uri="{BB962C8B-B14F-4D97-AF65-F5344CB8AC3E}">
        <p14:creationId xmlns:p14="http://schemas.microsoft.com/office/powerpoint/2010/main" val="31021472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D33335-3994-4396-88B2-B6F9AB65BEAB}"/>
              </a:ext>
            </a:extLst>
          </p:cNvPr>
          <p:cNvSpPr>
            <a:spLocks noGrp="1"/>
          </p:cNvSpPr>
          <p:nvPr>
            <p:ph idx="1"/>
          </p:nvPr>
        </p:nvSpPr>
        <p:spPr>
          <a:xfrm>
            <a:off x="9624" y="715992"/>
            <a:ext cx="9134375" cy="6122758"/>
          </a:xfrm>
        </p:spPr>
        <p:txBody>
          <a:bodyPr>
            <a:normAutofit/>
          </a:bodyPr>
          <a:lstStyle/>
          <a:p>
            <a:pPr marL="0" indent="0">
              <a:buNone/>
            </a:pPr>
            <a:r>
              <a:rPr lang="vi-VN" sz="2400"/>
              <a:t>Cuối cùng, chúng ta tạo các đối tượng QApplication và Window</a:t>
            </a:r>
            <a:endParaRPr lang="en-US" sz="2400"/>
          </a:p>
        </p:txBody>
      </p:sp>
      <p:sp>
        <p:nvSpPr>
          <p:cNvPr id="4" name="Title 1">
            <a:extLst>
              <a:ext uri="{FF2B5EF4-FFF2-40B4-BE49-F238E27FC236}">
                <a16:creationId xmlns:a16="http://schemas.microsoft.com/office/drawing/2014/main" id="{848EB32D-AD84-489A-A169-8D1BA61D53A2}"/>
              </a:ext>
            </a:extLst>
          </p:cNvPr>
          <p:cNvSpPr>
            <a:spLocks noGrp="1"/>
          </p:cNvSpPr>
          <p:nvPr>
            <p:ph type="title"/>
          </p:nvPr>
        </p:nvSpPr>
        <p:spPr>
          <a:xfrm>
            <a:off x="9624" y="19250"/>
            <a:ext cx="9134375" cy="696742"/>
          </a:xfrm>
        </p:spPr>
        <p:txBody>
          <a:bodyPr>
            <a:normAutofit/>
          </a:bodyPr>
          <a:lstStyle/>
          <a:p>
            <a:r>
              <a:rPr lang="en-US"/>
              <a:t>Tạo ứng dụng với QToolBox (t.t)</a:t>
            </a:r>
          </a:p>
        </p:txBody>
      </p:sp>
      <p:pic>
        <p:nvPicPr>
          <p:cNvPr id="10242" name="Picture 2">
            <a:extLst>
              <a:ext uri="{FF2B5EF4-FFF2-40B4-BE49-F238E27FC236}">
                <a16:creationId xmlns:a16="http://schemas.microsoft.com/office/drawing/2014/main" id="{48B384AE-BBDC-4902-B7C7-965356C72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9" y="1319920"/>
            <a:ext cx="4373593" cy="352620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08B1F1F-9237-4E9C-9820-7DCF3D93165E}"/>
              </a:ext>
            </a:extLst>
          </p:cNvPr>
          <p:cNvSpPr/>
          <p:nvPr/>
        </p:nvSpPr>
        <p:spPr>
          <a:xfrm>
            <a:off x="198407" y="1169267"/>
            <a:ext cx="3738114" cy="1200329"/>
          </a:xfrm>
          <a:prstGeom prst="rect">
            <a:avLst/>
          </a:prstGeom>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12911756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49177-FFA6-44DC-9065-7BC0E87DBA26}"/>
              </a:ext>
            </a:extLst>
          </p:cNvPr>
          <p:cNvSpPr>
            <a:spLocks noGrp="1"/>
          </p:cNvSpPr>
          <p:nvPr>
            <p:ph type="title"/>
          </p:nvPr>
        </p:nvSpPr>
        <p:spPr>
          <a:xfrm>
            <a:off x="9624" y="19250"/>
            <a:ext cx="9134375" cy="722621"/>
          </a:xfrm>
        </p:spPr>
        <p:txBody>
          <a:bodyPr>
            <a:normAutofit/>
          </a:bodyPr>
          <a:lstStyle/>
          <a:p>
            <a:r>
              <a:rPr lang="en-US" b="1"/>
              <a:t>Phát triển ứng dụng với QMenuBar</a:t>
            </a:r>
            <a:r>
              <a:rPr lang="en-US"/>
              <a:t> </a:t>
            </a:r>
            <a:endParaRPr lang="en-US" b="1"/>
          </a:p>
        </p:txBody>
      </p:sp>
      <p:sp>
        <p:nvSpPr>
          <p:cNvPr id="3" name="Content Placeholder 2">
            <a:extLst>
              <a:ext uri="{FF2B5EF4-FFF2-40B4-BE49-F238E27FC236}">
                <a16:creationId xmlns:a16="http://schemas.microsoft.com/office/drawing/2014/main" id="{B42564A0-DA06-411B-9075-6AAEC82164DA}"/>
              </a:ext>
            </a:extLst>
          </p:cNvPr>
          <p:cNvSpPr>
            <a:spLocks noGrp="1"/>
          </p:cNvSpPr>
          <p:nvPr>
            <p:ph idx="1"/>
          </p:nvPr>
        </p:nvSpPr>
        <p:spPr>
          <a:xfrm>
            <a:off x="9624" y="854013"/>
            <a:ext cx="9134375" cy="517585"/>
          </a:xfrm>
        </p:spPr>
        <p:txBody>
          <a:bodyPr/>
          <a:lstStyle/>
          <a:p>
            <a:pPr marL="0" indent="0">
              <a:buNone/>
            </a:pPr>
            <a:r>
              <a:rPr lang="en-US"/>
              <a:t>Chúng ta xem </a:t>
            </a:r>
            <a:r>
              <a:rPr lang="vi-VN"/>
              <a:t>cách </a:t>
            </a:r>
            <a:r>
              <a:rPr lang="en-US"/>
              <a:t>để </a:t>
            </a:r>
            <a:r>
              <a:rPr lang="vi-VN"/>
              <a:t>có thể tạo </a:t>
            </a:r>
            <a:r>
              <a:rPr lang="en-US"/>
              <a:t>QMenuBar </a:t>
            </a:r>
            <a:r>
              <a:rPr lang="vi-VN"/>
              <a:t>trong PyQt5</a:t>
            </a:r>
          </a:p>
        </p:txBody>
      </p:sp>
      <p:graphicFrame>
        <p:nvGraphicFramePr>
          <p:cNvPr id="5" name="Table 4">
            <a:extLst>
              <a:ext uri="{FF2B5EF4-FFF2-40B4-BE49-F238E27FC236}">
                <a16:creationId xmlns:a16="http://schemas.microsoft.com/office/drawing/2014/main" id="{797ECDA5-6023-4CB0-B1B4-AE9F60489171}"/>
              </a:ext>
            </a:extLst>
          </p:cNvPr>
          <p:cNvGraphicFramePr>
            <a:graphicFrameLocks noGrp="1"/>
          </p:cNvGraphicFramePr>
          <p:nvPr>
            <p:extLst>
              <p:ext uri="{D42A27DB-BD31-4B8C-83A1-F6EECF244321}">
                <p14:modId xmlns:p14="http://schemas.microsoft.com/office/powerpoint/2010/main" val="792711479"/>
              </p:ext>
            </p:extLst>
          </p:nvPr>
        </p:nvGraphicFramePr>
        <p:xfrm>
          <a:off x="0" y="2218750"/>
          <a:ext cx="9134375" cy="2225040"/>
        </p:xfrm>
        <a:graphic>
          <a:graphicData uri="http://schemas.openxmlformats.org/drawingml/2006/table">
            <a:tbl>
              <a:tblPr/>
              <a:tblGrid>
                <a:gridCol w="697335">
                  <a:extLst>
                    <a:ext uri="{9D8B030D-6E8A-4147-A177-3AD203B41FA5}">
                      <a16:colId xmlns:a16="http://schemas.microsoft.com/office/drawing/2014/main" val="172458934"/>
                    </a:ext>
                  </a:extLst>
                </a:gridCol>
                <a:gridCol w="8437040">
                  <a:extLst>
                    <a:ext uri="{9D8B030D-6E8A-4147-A177-3AD203B41FA5}">
                      <a16:colId xmlns:a16="http://schemas.microsoft.com/office/drawing/2014/main" val="755935035"/>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endParaRPr lang="en-US" sz="2800" b="0">
                        <a:solidFill>
                          <a:srgbClr val="317CC5"/>
                        </a:solidFill>
                        <a:effectLst/>
                        <a:latin typeface="inherit"/>
                      </a:endParaRPr>
                    </a:p>
                    <a:p>
                      <a:pPr algn="ctr" fontAlgn="t"/>
                      <a:r>
                        <a:rPr lang="en-US" sz="2800" b="0">
                          <a:solidFill>
                            <a:srgbClr val="5499DE"/>
                          </a:solidFill>
                          <a:effectLst/>
                          <a:latin typeface="inherit"/>
                        </a:rPr>
                        <a:t>3</a:t>
                      </a:r>
                    </a:p>
                    <a:p>
                      <a:pPr algn="ctr" fontAlgn="t"/>
                      <a:r>
                        <a:rPr lang="en-US" sz="28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QMainWindow</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QAction</a:t>
                      </a:r>
                      <a:endParaRPr lang="en-US" sz="2800" b="0">
                        <a:solidFill>
                          <a:srgbClr val="000000"/>
                        </a:solidFill>
                        <a:effectLst/>
                        <a:latin typeface="inherit"/>
                      </a:endParaRPr>
                    </a:p>
                    <a:p>
                      <a:pPr algn="l" fontAlgn="t"/>
                      <a:r>
                        <a:rPr lang="en-US" sz="2800" b="0">
                          <a:solidFill>
                            <a:srgbClr val="004ED0"/>
                          </a:solidFill>
                          <a:effectLst/>
                          <a:latin typeface="inherit"/>
                        </a:rPr>
                        <a:t>import sys</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QtGui import </a:t>
                      </a:r>
                      <a:r>
                        <a:rPr lang="en-US" sz="2800" b="0">
                          <a:solidFill>
                            <a:srgbClr val="002D7A"/>
                          </a:solidFill>
                          <a:effectLst/>
                          <a:latin typeface="inherit"/>
                        </a:rPr>
                        <a:t>QIcon</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647344980"/>
                  </a:ext>
                </a:extLst>
              </a:tr>
            </a:tbl>
          </a:graphicData>
        </a:graphic>
      </p:graphicFrame>
    </p:spTree>
    <p:extLst>
      <p:ext uri="{BB962C8B-B14F-4D97-AF65-F5344CB8AC3E}">
        <p14:creationId xmlns:p14="http://schemas.microsoft.com/office/powerpoint/2010/main" val="12231545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E5BCF7-9C6B-410F-A1F3-22093FE9B21C}"/>
              </a:ext>
            </a:extLst>
          </p:cNvPr>
          <p:cNvSpPr>
            <a:spLocks noGrp="1"/>
          </p:cNvSpPr>
          <p:nvPr>
            <p:ph idx="1"/>
          </p:nvPr>
        </p:nvSpPr>
        <p:spPr>
          <a:xfrm>
            <a:off x="9624" y="741871"/>
            <a:ext cx="3535833" cy="6096879"/>
          </a:xfrm>
        </p:spPr>
        <p:txBody>
          <a:bodyPr/>
          <a:lstStyle/>
          <a:p>
            <a:pPr marL="0" indent="0">
              <a:buNone/>
            </a:pPr>
            <a:r>
              <a:rPr lang="en-US"/>
              <a:t>C</a:t>
            </a:r>
            <a:r>
              <a:rPr lang="vi-VN"/>
              <a:t>húng ta sẽ tạo lớp Window kế thừa từ QMainWindow</a:t>
            </a:r>
            <a:r>
              <a:rPr lang="en-US"/>
              <a:t> </a:t>
            </a:r>
            <a:r>
              <a:rPr lang="vi-VN"/>
              <a:t>và thêm một số yêu cầu của cửa sổ của mình, cũng tạo ra một phương thức </a:t>
            </a:r>
            <a:r>
              <a:rPr lang="en-US"/>
              <a:t>CreateMenu </a:t>
            </a:r>
            <a:r>
              <a:rPr lang="vi-VN"/>
              <a:t>và trong phương thức đó</a:t>
            </a:r>
            <a:r>
              <a:rPr lang="en-US"/>
              <a:t> </a:t>
            </a:r>
            <a:r>
              <a:rPr lang="vi-VN"/>
              <a:t>thêm menu và menuitems</a:t>
            </a:r>
          </a:p>
        </p:txBody>
      </p:sp>
      <p:sp>
        <p:nvSpPr>
          <p:cNvPr id="4" name="Title 1">
            <a:extLst>
              <a:ext uri="{FF2B5EF4-FFF2-40B4-BE49-F238E27FC236}">
                <a16:creationId xmlns:a16="http://schemas.microsoft.com/office/drawing/2014/main" id="{239CAB10-A5A3-4581-B6ED-0B73F640F348}"/>
              </a:ext>
            </a:extLst>
          </p:cNvPr>
          <p:cNvSpPr>
            <a:spLocks noGrp="1"/>
          </p:cNvSpPr>
          <p:nvPr>
            <p:ph type="title"/>
          </p:nvPr>
        </p:nvSpPr>
        <p:spPr>
          <a:xfrm>
            <a:off x="9624" y="19250"/>
            <a:ext cx="9134375" cy="722621"/>
          </a:xfrm>
        </p:spPr>
        <p:txBody>
          <a:bodyPr>
            <a:normAutofit/>
          </a:bodyPr>
          <a:lstStyle/>
          <a:p>
            <a:r>
              <a:rPr lang="en-US" b="1"/>
              <a:t>Phát triển ứng dụng với QMenuBar</a:t>
            </a:r>
            <a:r>
              <a:rPr lang="en-US"/>
              <a:t> (t.t)</a:t>
            </a:r>
            <a:endParaRPr lang="en-US" b="1"/>
          </a:p>
        </p:txBody>
      </p:sp>
      <p:sp>
        <p:nvSpPr>
          <p:cNvPr id="5" name="Rectangle 4">
            <a:extLst>
              <a:ext uri="{FF2B5EF4-FFF2-40B4-BE49-F238E27FC236}">
                <a16:creationId xmlns:a16="http://schemas.microsoft.com/office/drawing/2014/main" id="{985CA7C1-0485-4E09-BDC0-E428A950D64D}"/>
              </a:ext>
            </a:extLst>
          </p:cNvPr>
          <p:cNvSpPr/>
          <p:nvPr/>
        </p:nvSpPr>
        <p:spPr>
          <a:xfrm>
            <a:off x="3851197" y="752555"/>
            <a:ext cx="5237231" cy="6075509"/>
          </a:xfrm>
          <a:prstGeom prst="rect">
            <a:avLst/>
          </a:prstGeom>
        </p:spPr>
        <p:txBody>
          <a:bodyPr wrap="square">
            <a:spAutoFit/>
          </a:bodyPr>
          <a:lstStyle/>
          <a:p>
            <a:pPr>
              <a:lnSpc>
                <a:spcPct val="90000"/>
              </a:lnSpc>
            </a:pPr>
            <a:r>
              <a:rPr lang="en-US" sz="1600">
                <a:solidFill>
                  <a:srgbClr val="800080"/>
                </a:solidFill>
                <a:latin typeface="inherit"/>
              </a:rPr>
              <a:t>class</a:t>
            </a:r>
            <a:r>
              <a:rPr lang="en-US" sz="1600">
                <a:solidFill>
                  <a:srgbClr val="006FE0"/>
                </a:solidFill>
                <a:latin typeface="inherit"/>
              </a:rPr>
              <a:t> </a:t>
            </a:r>
            <a:r>
              <a:rPr lang="en-US" sz="1600">
                <a:solidFill>
                  <a:srgbClr val="004ED0"/>
                </a:solidFill>
                <a:latin typeface="inherit"/>
              </a:rPr>
              <a:t>Window</a:t>
            </a:r>
            <a:r>
              <a:rPr lang="en-US" sz="1600">
                <a:solidFill>
                  <a:srgbClr val="333333"/>
                </a:solidFill>
                <a:latin typeface="inherit"/>
              </a:rPr>
              <a:t>(</a:t>
            </a:r>
            <a:r>
              <a:rPr lang="en-US" sz="1600">
                <a:solidFill>
                  <a:srgbClr val="002D7A"/>
                </a:solidFill>
                <a:latin typeface="inherit"/>
              </a:rPr>
              <a:t>QMainWindow</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4ED0"/>
                </a:solidFill>
                <a:latin typeface="inherit"/>
              </a:rPr>
              <a:t>def __init__</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super</a:t>
            </a:r>
            <a:r>
              <a:rPr lang="en-US" sz="1600">
                <a:solidFill>
                  <a:srgbClr val="333333"/>
                </a:solidFill>
                <a:latin typeface="inherit"/>
              </a:rPr>
              <a:t>().</a:t>
            </a:r>
            <a:r>
              <a:rPr lang="en-US" sz="1600">
                <a:solidFill>
                  <a:srgbClr val="004ED0"/>
                </a:solidFill>
                <a:latin typeface="inherit"/>
              </a:rPr>
              <a:t>__init__</a:t>
            </a:r>
            <a:r>
              <a:rPr lang="en-US" sz="1600">
                <a:solidFill>
                  <a:srgbClr val="333333"/>
                </a:solidFill>
                <a:latin typeface="inherit"/>
              </a:rPr>
              <a:t>()</a:t>
            </a:r>
            <a:endParaRPr lang="en-US" sz="1600">
              <a:solidFill>
                <a:srgbClr val="000000"/>
              </a:solidFill>
              <a:latin typeface="Monaco"/>
            </a:endParaRPr>
          </a:p>
          <a:p>
            <a:pPr lvl="1">
              <a:lnSpc>
                <a:spcPct val="90000"/>
              </a:lnSpc>
            </a:pP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CreateMenu</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show</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4ED0"/>
                </a:solidFill>
                <a:latin typeface="inherit"/>
              </a:rPr>
              <a:t>def CreateMenu</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mainMenu</a:t>
            </a:r>
            <a:r>
              <a:rPr lang="en-US" sz="1600">
                <a:solidFill>
                  <a:srgbClr val="006FE0"/>
                </a:solidFill>
                <a:latin typeface="inherit"/>
              </a:rPr>
              <a:t> =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menuBar</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'File'</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editMenu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'Edit'</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viewMenu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'View'</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helpMenu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'Help'</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copyAction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"copy.png"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'Copy'</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copyAction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"Ctrl+C"</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copyAction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saveAction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"Save.png"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'Save'</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saveAction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"Ctrl+S"</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saveAction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pasteAction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"Paste.png"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'Paste'</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pasteAction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"Ctrl+P"</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pasteAction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exiteAction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"exit.png"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'Exit'</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exiteAction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"Ctrl+E"</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exiteAction</a:t>
            </a:r>
            <a:r>
              <a:rPr lang="en-US" sz="1600">
                <a:solidFill>
                  <a:srgbClr val="333333"/>
                </a:solidFill>
                <a:latin typeface="inherit"/>
              </a:rPr>
              <a:t>.</a:t>
            </a:r>
            <a:r>
              <a:rPr lang="en-US" sz="1600">
                <a:solidFill>
                  <a:srgbClr val="002D7A"/>
                </a:solidFill>
                <a:latin typeface="inherit"/>
              </a:rPr>
              <a:t>triggered</a:t>
            </a:r>
            <a:r>
              <a:rPr lang="en-US" sz="1600">
                <a:solidFill>
                  <a:srgbClr val="333333"/>
                </a:solidFill>
                <a:latin typeface="inherit"/>
              </a:rPr>
              <a:t>.</a:t>
            </a:r>
            <a:r>
              <a:rPr lang="en-US" sz="1600">
                <a:solidFill>
                  <a:srgbClr val="004ED0"/>
                </a:solidFill>
                <a:latin typeface="inherit"/>
              </a:rPr>
              <a:t>connect</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exitWindow</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exiteAction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4ED0"/>
                </a:solidFill>
                <a:latin typeface="inherit"/>
              </a:rPr>
              <a:t>def exitWindow</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close</a:t>
            </a:r>
            <a:r>
              <a:rPr lang="en-US" sz="1600">
                <a:solidFill>
                  <a:srgbClr val="333333"/>
                </a:solidFill>
                <a:latin typeface="inherit"/>
              </a:rPr>
              <a:t>()</a:t>
            </a:r>
            <a:endParaRPr lang="en-US" sz="1600" b="0" i="0">
              <a:solidFill>
                <a:srgbClr val="000000"/>
              </a:solidFill>
              <a:effectLst/>
              <a:latin typeface="Monaco"/>
            </a:endParaRPr>
          </a:p>
        </p:txBody>
      </p:sp>
    </p:spTree>
    <p:extLst>
      <p:ext uri="{BB962C8B-B14F-4D97-AF65-F5344CB8AC3E}">
        <p14:creationId xmlns:p14="http://schemas.microsoft.com/office/powerpoint/2010/main" val="40225484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A07719-D363-4713-8C40-E0D647482747}"/>
              </a:ext>
            </a:extLst>
          </p:cNvPr>
          <p:cNvSpPr>
            <a:spLocks noGrp="1"/>
          </p:cNvSpPr>
          <p:nvPr>
            <p:ph type="title"/>
          </p:nvPr>
        </p:nvSpPr>
        <p:spPr>
          <a:xfrm>
            <a:off x="9624" y="19250"/>
            <a:ext cx="9134375" cy="722621"/>
          </a:xfrm>
        </p:spPr>
        <p:txBody>
          <a:bodyPr>
            <a:normAutofit/>
          </a:bodyPr>
          <a:lstStyle/>
          <a:p>
            <a:r>
              <a:rPr lang="en-US" b="1"/>
              <a:t>Phát triển ứng dụng với QMenuBar</a:t>
            </a:r>
            <a:r>
              <a:rPr lang="en-US"/>
              <a:t> (t.t)</a:t>
            </a:r>
            <a:endParaRPr lang="en-US" b="1"/>
          </a:p>
        </p:txBody>
      </p:sp>
      <p:pic>
        <p:nvPicPr>
          <p:cNvPr id="12290" name="Picture 2">
            <a:extLst>
              <a:ext uri="{FF2B5EF4-FFF2-40B4-BE49-F238E27FC236}">
                <a16:creationId xmlns:a16="http://schemas.microsoft.com/office/drawing/2014/main" id="{8803E767-9EC4-457B-A478-4EC4B3617AD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16327" y="806748"/>
            <a:ext cx="7859922" cy="5880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3354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E7A0A-940D-432A-B82B-D88367ECAE95}"/>
              </a:ext>
            </a:extLst>
          </p:cNvPr>
          <p:cNvSpPr>
            <a:spLocks noGrp="1"/>
          </p:cNvSpPr>
          <p:nvPr>
            <p:ph type="title"/>
          </p:nvPr>
        </p:nvSpPr>
        <p:spPr>
          <a:xfrm>
            <a:off x="9624" y="19250"/>
            <a:ext cx="9134375" cy="757127"/>
          </a:xfrm>
        </p:spPr>
        <p:txBody>
          <a:bodyPr>
            <a:normAutofit/>
          </a:bodyPr>
          <a:lstStyle/>
          <a:p>
            <a:r>
              <a:rPr lang="en-US" b="1"/>
              <a:t>Phát triển ứng dụng với QToolBar</a:t>
            </a:r>
          </a:p>
        </p:txBody>
      </p:sp>
      <p:sp>
        <p:nvSpPr>
          <p:cNvPr id="6" name="Content Placeholder 5">
            <a:extLst>
              <a:ext uri="{FF2B5EF4-FFF2-40B4-BE49-F238E27FC236}">
                <a16:creationId xmlns:a16="http://schemas.microsoft.com/office/drawing/2014/main" id="{5D7237D3-5B71-485C-B697-A87549884465}"/>
              </a:ext>
            </a:extLst>
          </p:cNvPr>
          <p:cNvSpPr>
            <a:spLocks noGrp="1"/>
          </p:cNvSpPr>
          <p:nvPr>
            <p:ph idx="1"/>
          </p:nvPr>
        </p:nvSpPr>
        <p:spPr>
          <a:xfrm>
            <a:off x="9624" y="776377"/>
            <a:ext cx="9134375" cy="6062373"/>
          </a:xfrm>
        </p:spPr>
        <p:txBody>
          <a:bodyPr>
            <a:normAutofit/>
          </a:bodyPr>
          <a:lstStyle/>
          <a:p>
            <a:pPr marL="0" indent="0">
              <a:buNone/>
            </a:pPr>
            <a:r>
              <a:rPr lang="en-US"/>
              <a:t>Xem cách </a:t>
            </a:r>
            <a:r>
              <a:rPr lang="vi-VN"/>
              <a:t>cách có thể tạo QToolBar trong PyQt5</a:t>
            </a:r>
            <a:r>
              <a:rPr lang="en-US"/>
              <a:t>, </a:t>
            </a:r>
            <a:r>
              <a:rPr lang="vi-VN"/>
              <a:t>về cơ bản chúng t</a:t>
            </a:r>
            <a:r>
              <a:rPr lang="en-US"/>
              <a:t>a</a:t>
            </a:r>
            <a:r>
              <a:rPr lang="vi-VN"/>
              <a:t> sử dụng </a:t>
            </a:r>
            <a:r>
              <a:rPr lang="en-US"/>
              <a:t>tiếp </a:t>
            </a:r>
            <a:r>
              <a:rPr lang="vi-VN"/>
              <a:t>ví dụ trước </a:t>
            </a:r>
            <a:r>
              <a:rPr lang="en-US"/>
              <a:t>là QMenuBar</a:t>
            </a:r>
          </a:p>
        </p:txBody>
      </p:sp>
      <p:graphicFrame>
        <p:nvGraphicFramePr>
          <p:cNvPr id="8" name="Table 7">
            <a:extLst>
              <a:ext uri="{FF2B5EF4-FFF2-40B4-BE49-F238E27FC236}">
                <a16:creationId xmlns:a16="http://schemas.microsoft.com/office/drawing/2014/main" id="{3DE3B54A-0020-4C97-8D86-5E1094DC50DA}"/>
              </a:ext>
            </a:extLst>
          </p:cNvPr>
          <p:cNvGraphicFramePr>
            <a:graphicFrameLocks noGrp="1"/>
          </p:cNvGraphicFramePr>
          <p:nvPr>
            <p:extLst>
              <p:ext uri="{D42A27DB-BD31-4B8C-83A1-F6EECF244321}">
                <p14:modId xmlns:p14="http://schemas.microsoft.com/office/powerpoint/2010/main" val="2473194420"/>
              </p:ext>
            </p:extLst>
          </p:nvPr>
        </p:nvGraphicFramePr>
        <p:xfrm>
          <a:off x="0" y="3076043"/>
          <a:ext cx="9134375" cy="2225040"/>
        </p:xfrm>
        <a:graphic>
          <a:graphicData uri="http://schemas.openxmlformats.org/drawingml/2006/table">
            <a:tbl>
              <a:tblPr/>
              <a:tblGrid>
                <a:gridCol w="697335">
                  <a:extLst>
                    <a:ext uri="{9D8B030D-6E8A-4147-A177-3AD203B41FA5}">
                      <a16:colId xmlns:a16="http://schemas.microsoft.com/office/drawing/2014/main" val="2586271933"/>
                    </a:ext>
                  </a:extLst>
                </a:gridCol>
                <a:gridCol w="8437040">
                  <a:extLst>
                    <a:ext uri="{9D8B030D-6E8A-4147-A177-3AD203B41FA5}">
                      <a16:colId xmlns:a16="http://schemas.microsoft.com/office/drawing/2014/main" val="3578276608"/>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endParaRPr lang="en-US" sz="2800" b="0">
                        <a:solidFill>
                          <a:srgbClr val="317CC5"/>
                        </a:solidFill>
                        <a:effectLst/>
                        <a:latin typeface="inherit"/>
                      </a:endParaRPr>
                    </a:p>
                    <a:p>
                      <a:pPr algn="ctr" fontAlgn="t"/>
                      <a:r>
                        <a:rPr lang="en-US" sz="2800" b="0">
                          <a:solidFill>
                            <a:srgbClr val="5499DE"/>
                          </a:solidFill>
                          <a:effectLst/>
                          <a:latin typeface="inherit"/>
                        </a:rPr>
                        <a:t>3</a:t>
                      </a:r>
                    </a:p>
                    <a:p>
                      <a:pPr algn="ctr" fontAlgn="t"/>
                      <a:r>
                        <a:rPr lang="en-US" sz="28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QMainWindow</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QAction</a:t>
                      </a:r>
                      <a:endParaRPr lang="en-US" sz="2800" b="0">
                        <a:solidFill>
                          <a:srgbClr val="000000"/>
                        </a:solidFill>
                        <a:effectLst/>
                        <a:latin typeface="inherit"/>
                      </a:endParaRPr>
                    </a:p>
                    <a:p>
                      <a:pPr algn="l" fontAlgn="t"/>
                      <a:r>
                        <a:rPr lang="en-US" sz="2800" b="0">
                          <a:solidFill>
                            <a:srgbClr val="004ED0"/>
                          </a:solidFill>
                          <a:effectLst/>
                          <a:latin typeface="inherit"/>
                        </a:rPr>
                        <a:t>import sys</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QtGui import </a:t>
                      </a:r>
                      <a:r>
                        <a:rPr lang="en-US" sz="2800" b="0">
                          <a:solidFill>
                            <a:srgbClr val="002D7A"/>
                          </a:solidFill>
                          <a:effectLst/>
                          <a:latin typeface="inherit"/>
                        </a:rPr>
                        <a:t>QIcon</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703538381"/>
                  </a:ext>
                </a:extLst>
              </a:tr>
            </a:tbl>
          </a:graphicData>
        </a:graphic>
      </p:graphicFrame>
    </p:spTree>
    <p:extLst>
      <p:ext uri="{BB962C8B-B14F-4D97-AF65-F5344CB8AC3E}">
        <p14:creationId xmlns:p14="http://schemas.microsoft.com/office/powerpoint/2010/main" val="41190494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F48F5-D055-479D-A781-8C726F159B95}"/>
              </a:ext>
            </a:extLst>
          </p:cNvPr>
          <p:cNvSpPr>
            <a:spLocks noGrp="1"/>
          </p:cNvSpPr>
          <p:nvPr>
            <p:ph idx="1"/>
          </p:nvPr>
        </p:nvSpPr>
        <p:spPr>
          <a:xfrm>
            <a:off x="9624" y="2596551"/>
            <a:ext cx="3630723" cy="4242199"/>
          </a:xfrm>
        </p:spPr>
        <p:txBody>
          <a:bodyPr>
            <a:normAutofit/>
          </a:bodyPr>
          <a:lstStyle/>
          <a:p>
            <a:pPr marL="0" indent="0">
              <a:buNone/>
            </a:pPr>
            <a:r>
              <a:rPr lang="vi-VN" sz="2400"/>
              <a:t>Sau đó, tạo lớp Window kế thừa từ QMainWindow và trong lớp đó, thêm một số yêu cầu của cửa sổ và tạo một phương thức </a:t>
            </a:r>
            <a:r>
              <a:rPr lang="en-US" sz="2400"/>
              <a:t>CreateMenu</a:t>
            </a:r>
            <a:r>
              <a:rPr lang="vi-VN" sz="2400"/>
              <a:t>() và trong phương thức đó, chúng ta tạo một số menu bằng QToolBar</a:t>
            </a:r>
            <a:endParaRPr lang="en-US" sz="2400"/>
          </a:p>
        </p:txBody>
      </p:sp>
      <p:sp>
        <p:nvSpPr>
          <p:cNvPr id="4" name="Title 1">
            <a:extLst>
              <a:ext uri="{FF2B5EF4-FFF2-40B4-BE49-F238E27FC236}">
                <a16:creationId xmlns:a16="http://schemas.microsoft.com/office/drawing/2014/main" id="{3E4F87FB-F184-40AC-B87C-5E189C8417FB}"/>
              </a:ext>
            </a:extLst>
          </p:cNvPr>
          <p:cNvSpPr>
            <a:spLocks noGrp="1"/>
          </p:cNvSpPr>
          <p:nvPr>
            <p:ph type="title"/>
          </p:nvPr>
        </p:nvSpPr>
        <p:spPr>
          <a:xfrm>
            <a:off x="9625" y="19250"/>
            <a:ext cx="3544458" cy="2223617"/>
          </a:xfrm>
        </p:spPr>
        <p:txBody>
          <a:bodyPr>
            <a:noAutofit/>
          </a:bodyPr>
          <a:lstStyle/>
          <a:p>
            <a:r>
              <a:rPr lang="en-US" sz="3600" b="1"/>
              <a:t>Phát triển ứng dụng với QToolBar (t.t)</a:t>
            </a:r>
          </a:p>
        </p:txBody>
      </p:sp>
      <p:sp>
        <p:nvSpPr>
          <p:cNvPr id="5" name="Rectangle 4">
            <a:extLst>
              <a:ext uri="{FF2B5EF4-FFF2-40B4-BE49-F238E27FC236}">
                <a16:creationId xmlns:a16="http://schemas.microsoft.com/office/drawing/2014/main" id="{69347A8E-E1C5-424E-9D2C-92C1BFAFB212}"/>
              </a:ext>
            </a:extLst>
          </p:cNvPr>
          <p:cNvSpPr/>
          <p:nvPr/>
        </p:nvSpPr>
        <p:spPr>
          <a:xfrm>
            <a:off x="3810882" y="0"/>
            <a:ext cx="5333118" cy="6961906"/>
          </a:xfrm>
          <a:prstGeom prst="rect">
            <a:avLst/>
          </a:prstGeom>
        </p:spPr>
        <p:txBody>
          <a:bodyPr wrap="square">
            <a:spAutoFit/>
          </a:bodyPr>
          <a:lstStyle/>
          <a:p>
            <a:pPr>
              <a:lnSpc>
                <a:spcPct val="90000"/>
              </a:lnSpc>
            </a:pPr>
            <a:r>
              <a:rPr lang="en-US" sz="1600">
                <a:solidFill>
                  <a:srgbClr val="800080"/>
                </a:solidFill>
                <a:latin typeface="inherit"/>
              </a:rPr>
              <a:t>class</a:t>
            </a:r>
            <a:r>
              <a:rPr lang="en-US" sz="1600">
                <a:solidFill>
                  <a:srgbClr val="006FE0"/>
                </a:solidFill>
                <a:latin typeface="inherit"/>
              </a:rPr>
              <a:t> </a:t>
            </a:r>
            <a:r>
              <a:rPr lang="en-US" sz="1600">
                <a:solidFill>
                  <a:srgbClr val="004ED0"/>
                </a:solidFill>
                <a:latin typeface="inherit"/>
              </a:rPr>
              <a:t>Window</a:t>
            </a:r>
            <a:r>
              <a:rPr lang="en-US" sz="1600">
                <a:solidFill>
                  <a:srgbClr val="333333"/>
                </a:solidFill>
                <a:latin typeface="inherit"/>
              </a:rPr>
              <a:t>(</a:t>
            </a:r>
            <a:r>
              <a:rPr lang="en-US" sz="1600">
                <a:solidFill>
                  <a:srgbClr val="002D7A"/>
                </a:solidFill>
                <a:latin typeface="inherit"/>
              </a:rPr>
              <a:t>QMainWindow</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4ED0"/>
                </a:solidFill>
                <a:latin typeface="inherit"/>
              </a:rPr>
              <a:t>def __init__</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super</a:t>
            </a:r>
            <a:r>
              <a:rPr lang="en-US" sz="1600">
                <a:solidFill>
                  <a:srgbClr val="333333"/>
                </a:solidFill>
                <a:latin typeface="inherit"/>
              </a:rPr>
              <a:t>().</a:t>
            </a:r>
            <a:r>
              <a:rPr lang="en-US" sz="1600">
                <a:solidFill>
                  <a:srgbClr val="004ED0"/>
                </a:solidFill>
                <a:latin typeface="inherit"/>
              </a:rPr>
              <a:t>__init__</a:t>
            </a:r>
            <a:r>
              <a:rPr lang="en-US" sz="1600">
                <a:solidFill>
                  <a:srgbClr val="333333"/>
                </a:solidFill>
                <a:latin typeface="inherit"/>
              </a:rPr>
              <a:t>()</a:t>
            </a:r>
            <a:endParaRPr lang="en-US" sz="1600">
              <a:solidFill>
                <a:srgbClr val="000000"/>
              </a:solidFill>
              <a:latin typeface="Monaco"/>
            </a:endParaRPr>
          </a:p>
          <a:p>
            <a:pPr lvl="1">
              <a:lnSpc>
                <a:spcPct val="90000"/>
              </a:lnSpc>
            </a:pP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show</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4ED0"/>
                </a:solidFill>
                <a:latin typeface="inherit"/>
              </a:rPr>
              <a:t>def CreateMenu</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mainMenu</a:t>
            </a:r>
            <a:r>
              <a:rPr lang="en-US" sz="1600">
                <a:solidFill>
                  <a:srgbClr val="006FE0"/>
                </a:solidFill>
                <a:latin typeface="inherit"/>
              </a:rPr>
              <a:t> =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menuBar</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'File'</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editMenu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'Edit'</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viewMenu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'View'</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helpMenu</a:t>
            </a:r>
            <a:r>
              <a:rPr lang="en-US" sz="1600">
                <a:solidFill>
                  <a:srgbClr val="006FE0"/>
                </a:solidFill>
                <a:latin typeface="inherit"/>
              </a:rPr>
              <a:t> = </a:t>
            </a:r>
            <a:r>
              <a:rPr lang="en-US" sz="1600">
                <a:solidFill>
                  <a:srgbClr val="002D7A"/>
                </a:solidFill>
                <a:latin typeface="inherit"/>
              </a:rPr>
              <a:t>mainMenu</a:t>
            </a:r>
            <a:r>
              <a:rPr lang="en-US" sz="1600">
                <a:solidFill>
                  <a:srgbClr val="333333"/>
                </a:solidFill>
                <a:latin typeface="inherit"/>
              </a:rPr>
              <a:t>.</a:t>
            </a:r>
            <a:r>
              <a:rPr lang="en-US" sz="1600">
                <a:solidFill>
                  <a:srgbClr val="004ED0"/>
                </a:solidFill>
                <a:latin typeface="inherit"/>
              </a:rPr>
              <a:t>addMenu</a:t>
            </a:r>
            <a:r>
              <a:rPr lang="en-US" sz="1600">
                <a:solidFill>
                  <a:srgbClr val="333333"/>
                </a:solidFill>
                <a:latin typeface="inherit"/>
              </a:rPr>
              <a:t>(</a:t>
            </a:r>
            <a:r>
              <a:rPr lang="en-US" sz="1600">
                <a:solidFill>
                  <a:srgbClr val="008000"/>
                </a:solidFill>
                <a:latin typeface="inherit"/>
              </a:rPr>
              <a:t>'Help'</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copyAction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"copy.png"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'Copy'</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copyAction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"Ctrl+C"</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copyAction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saveAction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"Save.png"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'Save'</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saveAction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"Ctrl+S"</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saveAction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pasteAction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"Paste.png"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'Paste'</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pasteAction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"Ctrl+P"</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pasteAction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exiteAction</a:t>
            </a:r>
            <a:r>
              <a:rPr lang="en-US" sz="1600">
                <a:solidFill>
                  <a:srgbClr val="006FE0"/>
                </a:solidFill>
                <a:latin typeface="inherit"/>
              </a:rPr>
              <a:t> = </a:t>
            </a:r>
            <a:r>
              <a:rPr lang="en-US" sz="1600">
                <a:solidFill>
                  <a:srgbClr val="004ED0"/>
                </a:solidFill>
                <a:latin typeface="inherit"/>
              </a:rPr>
              <a:t>QAction</a:t>
            </a:r>
            <a:r>
              <a:rPr lang="en-US" sz="1600">
                <a:solidFill>
                  <a:srgbClr val="333333"/>
                </a:solidFill>
                <a:latin typeface="inherit"/>
              </a:rPr>
              <a:t>(</a:t>
            </a:r>
            <a:r>
              <a:rPr lang="en-US" sz="1600">
                <a:solidFill>
                  <a:srgbClr val="004ED0"/>
                </a:solidFill>
                <a:latin typeface="inherit"/>
              </a:rPr>
              <a:t>QIcon</a:t>
            </a:r>
            <a:r>
              <a:rPr lang="en-US" sz="1600">
                <a:solidFill>
                  <a:srgbClr val="333333"/>
                </a:solidFill>
                <a:latin typeface="inherit"/>
              </a:rPr>
              <a:t>(</a:t>
            </a:r>
            <a:r>
              <a:rPr lang="en-US" sz="1600">
                <a:solidFill>
                  <a:srgbClr val="008000"/>
                </a:solidFill>
                <a:latin typeface="inherit"/>
              </a:rPr>
              <a:t>"exit.png"</a:t>
            </a:r>
            <a:r>
              <a:rPr lang="en-US" sz="1600">
                <a:solidFill>
                  <a:srgbClr val="333333"/>
                </a:solidFill>
                <a:latin typeface="inherit"/>
              </a:rPr>
              <a:t>),</a:t>
            </a:r>
            <a:r>
              <a:rPr lang="en-US" sz="1600">
                <a:solidFill>
                  <a:srgbClr val="006FE0"/>
                </a:solidFill>
                <a:latin typeface="inherit"/>
              </a:rPr>
              <a:t> </a:t>
            </a:r>
            <a:r>
              <a:rPr lang="en-US" sz="1600">
                <a:solidFill>
                  <a:srgbClr val="008000"/>
                </a:solidFill>
                <a:latin typeface="inherit"/>
              </a:rPr>
              <a:t>'Exit'</a:t>
            </a:r>
            <a:r>
              <a:rPr lang="en-US" sz="1600">
                <a:solidFill>
                  <a:srgbClr val="333333"/>
                </a:solidFill>
                <a:latin typeface="inherit"/>
              </a:rPr>
              <a:t>,</a:t>
            </a: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exiteAction</a:t>
            </a:r>
            <a:r>
              <a:rPr lang="en-US" sz="1600">
                <a:solidFill>
                  <a:srgbClr val="333333"/>
                </a:solidFill>
                <a:latin typeface="inherit"/>
              </a:rPr>
              <a:t>.</a:t>
            </a:r>
            <a:r>
              <a:rPr lang="en-US" sz="1600">
                <a:solidFill>
                  <a:srgbClr val="004ED0"/>
                </a:solidFill>
                <a:latin typeface="inherit"/>
              </a:rPr>
              <a:t>setShortcut</a:t>
            </a:r>
            <a:r>
              <a:rPr lang="en-US" sz="1600">
                <a:solidFill>
                  <a:srgbClr val="333333"/>
                </a:solidFill>
                <a:latin typeface="inherit"/>
              </a:rPr>
              <a:t>(</a:t>
            </a:r>
            <a:r>
              <a:rPr lang="en-US" sz="1600">
                <a:solidFill>
                  <a:srgbClr val="008000"/>
                </a:solidFill>
                <a:latin typeface="inherit"/>
              </a:rPr>
              <a:t>"Ctrl+E"</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exiteAction</a:t>
            </a:r>
            <a:r>
              <a:rPr lang="en-US" sz="1600">
                <a:solidFill>
                  <a:srgbClr val="333333"/>
                </a:solidFill>
                <a:latin typeface="inherit"/>
              </a:rPr>
              <a:t>.</a:t>
            </a:r>
            <a:r>
              <a:rPr lang="en-US" sz="1600">
                <a:solidFill>
                  <a:srgbClr val="002D7A"/>
                </a:solidFill>
                <a:latin typeface="inherit"/>
              </a:rPr>
              <a:t>triggered</a:t>
            </a:r>
            <a:r>
              <a:rPr lang="en-US" sz="1600">
                <a:solidFill>
                  <a:srgbClr val="333333"/>
                </a:solidFill>
                <a:latin typeface="inherit"/>
              </a:rPr>
              <a:t>.</a:t>
            </a:r>
            <a:r>
              <a:rPr lang="en-US" sz="1600">
                <a:solidFill>
                  <a:srgbClr val="004ED0"/>
                </a:solidFill>
                <a:latin typeface="inherit"/>
              </a:rPr>
              <a:t>connect</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exitWindow</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2D7A"/>
                </a:solidFill>
                <a:latin typeface="inherit"/>
              </a:rPr>
              <a:t>fileMenu</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exiteAction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toolbar</a:t>
            </a:r>
            <a:r>
              <a:rPr lang="en-US" sz="1600">
                <a:solidFill>
                  <a:srgbClr val="006FE0"/>
                </a:solidFill>
                <a:latin typeface="inherit"/>
              </a:rPr>
              <a:t> =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addToolBar</a:t>
            </a:r>
            <a:r>
              <a:rPr lang="en-US" sz="1600">
                <a:solidFill>
                  <a:srgbClr val="333333"/>
                </a:solidFill>
                <a:latin typeface="inherit"/>
              </a:rPr>
              <a:t>(</a:t>
            </a:r>
            <a:r>
              <a:rPr lang="en-US" sz="1600">
                <a:solidFill>
                  <a:srgbClr val="008000"/>
                </a:solidFill>
                <a:latin typeface="inherit"/>
              </a:rPr>
              <a:t>'Toolbar'</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toolbar</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copyAction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toolbar</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saveAction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toolbar</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pasteAction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2D7A"/>
                </a:solidFill>
                <a:latin typeface="inherit"/>
              </a:rPr>
              <a:t>toolbar</a:t>
            </a:r>
            <a:r>
              <a:rPr lang="en-US" sz="1600">
                <a:solidFill>
                  <a:srgbClr val="333333"/>
                </a:solidFill>
                <a:latin typeface="inherit"/>
              </a:rPr>
              <a:t>.</a:t>
            </a:r>
            <a:r>
              <a:rPr lang="en-US" sz="1600">
                <a:solidFill>
                  <a:srgbClr val="004ED0"/>
                </a:solidFill>
                <a:latin typeface="inherit"/>
              </a:rPr>
              <a:t>addAction</a:t>
            </a:r>
            <a:r>
              <a:rPr lang="en-US" sz="1600">
                <a:solidFill>
                  <a:srgbClr val="333333"/>
                </a:solidFill>
                <a:latin typeface="inherit"/>
              </a:rPr>
              <a:t>(</a:t>
            </a:r>
            <a:r>
              <a:rPr lang="en-US" sz="1600">
                <a:solidFill>
                  <a:srgbClr val="002D7A"/>
                </a:solidFill>
                <a:latin typeface="inherit"/>
              </a:rPr>
              <a:t>exiteAction</a:t>
            </a:r>
            <a:r>
              <a:rPr lang="en-US" sz="1600">
                <a:solidFill>
                  <a:srgbClr val="333333"/>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004ED0"/>
                </a:solidFill>
                <a:latin typeface="inherit"/>
              </a:rPr>
              <a:t>def exitWindow</a:t>
            </a:r>
            <a:r>
              <a:rPr lang="en-US" sz="1600">
                <a:solidFill>
                  <a:srgbClr val="333333"/>
                </a:solidFill>
                <a:latin typeface="inherit"/>
              </a:rPr>
              <a:t>(</a:t>
            </a:r>
            <a:r>
              <a:rPr lang="en-US" sz="1600">
                <a:solidFill>
                  <a:srgbClr val="800080"/>
                </a:solidFill>
                <a:latin typeface="inherit"/>
              </a:rPr>
              <a:t>self</a:t>
            </a:r>
            <a:r>
              <a:rPr lang="en-US" sz="1600">
                <a:solidFill>
                  <a:srgbClr val="333333"/>
                </a:solidFill>
                <a:latin typeface="inherit"/>
              </a:rPr>
              <a:t>)</a:t>
            </a:r>
            <a:r>
              <a:rPr lang="en-US" sz="1600">
                <a:solidFill>
                  <a:srgbClr val="006FE0"/>
                </a:solidFill>
                <a:latin typeface="inherit"/>
              </a:rPr>
              <a:t>:</a:t>
            </a:r>
            <a:endParaRPr lang="en-US" sz="1600">
              <a:solidFill>
                <a:srgbClr val="000000"/>
              </a:solidFill>
              <a:latin typeface="Monaco"/>
            </a:endParaRPr>
          </a:p>
          <a:p>
            <a:pPr>
              <a:lnSpc>
                <a:spcPct val="90000"/>
              </a:lnSpc>
            </a:pPr>
            <a:r>
              <a:rPr lang="en-US" sz="1600">
                <a:solidFill>
                  <a:srgbClr val="006FE0"/>
                </a:solidFill>
                <a:latin typeface="inherit"/>
              </a:rPr>
              <a:t>        </a:t>
            </a:r>
            <a:r>
              <a:rPr lang="en-US" sz="1600">
                <a:solidFill>
                  <a:srgbClr val="800080"/>
                </a:solidFill>
                <a:latin typeface="inherit"/>
              </a:rPr>
              <a:t>self</a:t>
            </a:r>
            <a:r>
              <a:rPr lang="en-US" sz="1600">
                <a:solidFill>
                  <a:srgbClr val="333333"/>
                </a:solidFill>
                <a:latin typeface="inherit"/>
              </a:rPr>
              <a:t>.</a:t>
            </a:r>
            <a:r>
              <a:rPr lang="en-US" sz="1600">
                <a:solidFill>
                  <a:srgbClr val="004ED0"/>
                </a:solidFill>
                <a:latin typeface="inherit"/>
              </a:rPr>
              <a:t>close</a:t>
            </a:r>
            <a:r>
              <a:rPr lang="en-US" sz="1600">
                <a:solidFill>
                  <a:srgbClr val="333333"/>
                </a:solidFill>
                <a:latin typeface="inherit"/>
              </a:rPr>
              <a:t>()</a:t>
            </a:r>
            <a:endParaRPr lang="en-US" sz="1600" b="0" i="0">
              <a:solidFill>
                <a:srgbClr val="000000"/>
              </a:solidFill>
              <a:effectLst/>
              <a:latin typeface="Monaco"/>
            </a:endParaRPr>
          </a:p>
        </p:txBody>
      </p:sp>
    </p:spTree>
    <p:extLst>
      <p:ext uri="{BB962C8B-B14F-4D97-AF65-F5344CB8AC3E}">
        <p14:creationId xmlns:p14="http://schemas.microsoft.com/office/powerpoint/2010/main" val="27922857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8A116F-93B9-4E0E-B5E4-0A2E49A06DF7}"/>
              </a:ext>
            </a:extLst>
          </p:cNvPr>
          <p:cNvSpPr>
            <a:spLocks noGrp="1"/>
          </p:cNvSpPr>
          <p:nvPr>
            <p:ph type="title"/>
          </p:nvPr>
        </p:nvSpPr>
        <p:spPr>
          <a:xfrm>
            <a:off x="9624" y="19250"/>
            <a:ext cx="9134375" cy="757127"/>
          </a:xfrm>
        </p:spPr>
        <p:txBody>
          <a:bodyPr>
            <a:normAutofit/>
          </a:bodyPr>
          <a:lstStyle/>
          <a:p>
            <a:r>
              <a:rPr lang="en-US" b="1"/>
              <a:t>Phát triển ứng dụng với QToolBar (t.t)</a:t>
            </a:r>
          </a:p>
        </p:txBody>
      </p:sp>
      <p:pic>
        <p:nvPicPr>
          <p:cNvPr id="15362" name="Picture 2">
            <a:extLst>
              <a:ext uri="{FF2B5EF4-FFF2-40B4-BE49-F238E27FC236}">
                <a16:creationId xmlns:a16="http://schemas.microsoft.com/office/drawing/2014/main" id="{8091D1AE-597B-4284-B151-F1794A3D525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4799" y="776377"/>
            <a:ext cx="7829337" cy="5847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0789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B6AE-D2A4-4C37-B0FC-137E17EDD7A4}"/>
              </a:ext>
            </a:extLst>
          </p:cNvPr>
          <p:cNvSpPr>
            <a:spLocks noGrp="1"/>
          </p:cNvSpPr>
          <p:nvPr>
            <p:ph type="title"/>
          </p:nvPr>
        </p:nvSpPr>
        <p:spPr>
          <a:xfrm>
            <a:off x="9624" y="19250"/>
            <a:ext cx="9134375" cy="720979"/>
          </a:xfrm>
        </p:spPr>
        <p:txBody>
          <a:bodyPr>
            <a:normAutofit/>
          </a:bodyPr>
          <a:lstStyle/>
          <a:p>
            <a:r>
              <a:rPr lang="en-US" b="1"/>
              <a:t>Cách tạo QTextEdit trong PyQt5</a:t>
            </a:r>
          </a:p>
        </p:txBody>
      </p:sp>
      <p:sp>
        <p:nvSpPr>
          <p:cNvPr id="3" name="Content Placeholder 2">
            <a:extLst>
              <a:ext uri="{FF2B5EF4-FFF2-40B4-BE49-F238E27FC236}">
                <a16:creationId xmlns:a16="http://schemas.microsoft.com/office/drawing/2014/main" id="{0F97B800-BAEB-46ED-AF87-F3CC1310E44B}"/>
              </a:ext>
            </a:extLst>
          </p:cNvPr>
          <p:cNvSpPr>
            <a:spLocks noGrp="1"/>
          </p:cNvSpPr>
          <p:nvPr>
            <p:ph idx="1"/>
          </p:nvPr>
        </p:nvSpPr>
        <p:spPr>
          <a:xfrm>
            <a:off x="9624" y="740229"/>
            <a:ext cx="9134375" cy="6098521"/>
          </a:xfrm>
        </p:spPr>
        <p:txBody>
          <a:bodyPr>
            <a:normAutofit/>
          </a:bodyPr>
          <a:lstStyle/>
          <a:p>
            <a:pPr marL="0" indent="0" algn="just">
              <a:buNone/>
            </a:pPr>
            <a:r>
              <a:rPr lang="vi-VN"/>
              <a:t>Trong bài này </a:t>
            </a:r>
            <a:r>
              <a:rPr lang="en-US"/>
              <a:t>chúng ta xem cách t</a:t>
            </a:r>
            <a:r>
              <a:rPr lang="vi-VN"/>
              <a:t>ạo QTextEdit Trong PyQt5 (Phát triển ứng dụng để bàn), </a:t>
            </a:r>
            <a:r>
              <a:rPr lang="en-US"/>
              <a:t>bài này </a:t>
            </a:r>
            <a:r>
              <a:rPr lang="vi-VN"/>
              <a:t>sẽ tiếp tục ví dụ trước</a:t>
            </a:r>
            <a:r>
              <a:rPr lang="en-US"/>
              <a:t> về QMenu và QToolBar</a:t>
            </a:r>
            <a:endParaRPr lang="vi-VN"/>
          </a:p>
        </p:txBody>
      </p:sp>
      <p:graphicFrame>
        <p:nvGraphicFramePr>
          <p:cNvPr id="4" name="Table 3">
            <a:extLst>
              <a:ext uri="{FF2B5EF4-FFF2-40B4-BE49-F238E27FC236}">
                <a16:creationId xmlns:a16="http://schemas.microsoft.com/office/drawing/2014/main" id="{CA5D3CDC-DFB9-4495-ACD8-C3BDEEE9EC85}"/>
              </a:ext>
            </a:extLst>
          </p:cNvPr>
          <p:cNvGraphicFramePr>
            <a:graphicFrameLocks noGrp="1"/>
          </p:cNvGraphicFramePr>
          <p:nvPr>
            <p:extLst>
              <p:ext uri="{D42A27DB-BD31-4B8C-83A1-F6EECF244321}">
                <p14:modId xmlns:p14="http://schemas.microsoft.com/office/powerpoint/2010/main" val="3143616824"/>
              </p:ext>
            </p:extLst>
          </p:nvPr>
        </p:nvGraphicFramePr>
        <p:xfrm>
          <a:off x="0" y="2884225"/>
          <a:ext cx="9134375" cy="1920240"/>
        </p:xfrm>
        <a:graphic>
          <a:graphicData uri="http://schemas.openxmlformats.org/drawingml/2006/table">
            <a:tbl>
              <a:tblPr/>
              <a:tblGrid>
                <a:gridCol w="697335">
                  <a:extLst>
                    <a:ext uri="{9D8B030D-6E8A-4147-A177-3AD203B41FA5}">
                      <a16:colId xmlns:a16="http://schemas.microsoft.com/office/drawing/2014/main" val="3426598159"/>
                    </a:ext>
                  </a:extLst>
                </a:gridCol>
                <a:gridCol w="8437040">
                  <a:extLst>
                    <a:ext uri="{9D8B030D-6E8A-4147-A177-3AD203B41FA5}">
                      <a16:colId xmlns:a16="http://schemas.microsoft.com/office/drawing/2014/main" val="3849293621"/>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QMainWindow</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QAction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QTextEdit</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a:t>
                      </a:r>
                      <a:r>
                        <a:rPr lang="en-US" sz="2400" b="0">
                          <a:solidFill>
                            <a:srgbClr val="002D7A"/>
                          </a:solidFill>
                          <a:effectLst/>
                          <a:latin typeface="inherit"/>
                        </a:rPr>
                        <a:t>QIcon</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191299728"/>
                  </a:ext>
                </a:extLst>
              </a:tr>
            </a:tbl>
          </a:graphicData>
        </a:graphic>
      </p:graphicFrame>
    </p:spTree>
    <p:extLst>
      <p:ext uri="{BB962C8B-B14F-4D97-AF65-F5344CB8AC3E}">
        <p14:creationId xmlns:p14="http://schemas.microsoft.com/office/powerpoint/2010/main" val="24449401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7B8BB-080D-408F-84F2-7D885B1BE05C}"/>
              </a:ext>
            </a:extLst>
          </p:cNvPr>
          <p:cNvSpPr>
            <a:spLocks noGrp="1"/>
          </p:cNvSpPr>
          <p:nvPr>
            <p:ph idx="1"/>
          </p:nvPr>
        </p:nvSpPr>
        <p:spPr>
          <a:xfrm>
            <a:off x="9624" y="740229"/>
            <a:ext cx="3282216" cy="6098521"/>
          </a:xfrm>
        </p:spPr>
        <p:txBody>
          <a:bodyPr>
            <a:normAutofit/>
          </a:bodyPr>
          <a:lstStyle/>
          <a:p>
            <a:pPr marL="0" indent="0">
              <a:buNone/>
            </a:pPr>
            <a:r>
              <a:rPr lang="vi-VN" sz="2400"/>
              <a:t>Sau khi chúng ta tạo lớp Window chính kế thừa từ QMainWindow và trong lớp đó, chúng ta sẽ thêm một số yêu cầu của cửa sổ, chúng ta sẽ tạo một phương thức </a:t>
            </a:r>
            <a:r>
              <a:rPr lang="en-US" sz="2400"/>
              <a:t>CreateMenu</a:t>
            </a:r>
            <a:r>
              <a:rPr lang="vi-VN" sz="2400"/>
              <a:t> () trong phương thức đó, chúng ta tạo các menu và thanh công cụ</a:t>
            </a:r>
            <a:endParaRPr lang="en-US" sz="2400"/>
          </a:p>
        </p:txBody>
      </p:sp>
      <p:sp>
        <p:nvSpPr>
          <p:cNvPr id="4" name="Title 1">
            <a:extLst>
              <a:ext uri="{FF2B5EF4-FFF2-40B4-BE49-F238E27FC236}">
                <a16:creationId xmlns:a16="http://schemas.microsoft.com/office/drawing/2014/main" id="{392C7CD2-FBB7-4F45-A33D-08417D700E9B}"/>
              </a:ext>
            </a:extLst>
          </p:cNvPr>
          <p:cNvSpPr>
            <a:spLocks noGrp="1"/>
          </p:cNvSpPr>
          <p:nvPr>
            <p:ph type="title"/>
          </p:nvPr>
        </p:nvSpPr>
        <p:spPr>
          <a:xfrm>
            <a:off x="9624" y="19250"/>
            <a:ext cx="9134375" cy="720979"/>
          </a:xfrm>
        </p:spPr>
        <p:txBody>
          <a:bodyPr>
            <a:normAutofit/>
          </a:bodyPr>
          <a:lstStyle/>
          <a:p>
            <a:r>
              <a:rPr lang="en-US" b="1"/>
              <a:t>Cách tạo QTextEdit trong PyQt5 (t.t)</a:t>
            </a:r>
          </a:p>
        </p:txBody>
      </p:sp>
      <p:sp>
        <p:nvSpPr>
          <p:cNvPr id="5" name="Rectangle 4">
            <a:extLst>
              <a:ext uri="{FF2B5EF4-FFF2-40B4-BE49-F238E27FC236}">
                <a16:creationId xmlns:a16="http://schemas.microsoft.com/office/drawing/2014/main" id="{D1D2B1D6-6AC1-41C2-B4F5-1278816B9171}"/>
              </a:ext>
            </a:extLst>
          </p:cNvPr>
          <p:cNvSpPr/>
          <p:nvPr/>
        </p:nvSpPr>
        <p:spPr>
          <a:xfrm>
            <a:off x="3570513" y="682484"/>
            <a:ext cx="5573487" cy="6214009"/>
          </a:xfrm>
          <a:prstGeom prst="rect">
            <a:avLst/>
          </a:prstGeom>
        </p:spPr>
        <p:txBody>
          <a:bodyPr wrap="square">
            <a:spAutoFit/>
          </a:bodyPr>
          <a:lstStyle/>
          <a:p>
            <a:pPr>
              <a:lnSpc>
                <a:spcPct val="90000"/>
              </a:lnSpc>
            </a:pPr>
            <a:r>
              <a:rPr lang="en-US" sz="1700">
                <a:solidFill>
                  <a:srgbClr val="004ED0"/>
                </a:solidFill>
                <a:latin typeface="inherit"/>
              </a:rPr>
              <a:t>def CreateMenu</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mainMenu</a:t>
            </a:r>
            <a:r>
              <a:rPr lang="en-US" sz="1700">
                <a:solidFill>
                  <a:srgbClr val="006FE0"/>
                </a:solidFill>
                <a:latin typeface="inherit"/>
              </a:rPr>
              <a:t> =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menuBar</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fileMenu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'File'</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editMenu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'Edit'</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viewMenu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'View'</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helpMenu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'Help'</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copyAction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"copy.png"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'Copy'</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copyAction</a:t>
            </a:r>
            <a:r>
              <a:rPr lang="en-US" sz="1700">
                <a:solidFill>
                  <a:srgbClr val="333333"/>
                </a:solidFill>
                <a:latin typeface="inherit"/>
              </a:rPr>
              <a:t>.</a:t>
            </a:r>
            <a:r>
              <a:rPr lang="en-US" sz="1700">
                <a:solidFill>
                  <a:srgbClr val="004ED0"/>
                </a:solidFill>
                <a:latin typeface="inherit"/>
              </a:rPr>
              <a:t>setShortcut</a:t>
            </a:r>
            <a:r>
              <a:rPr lang="en-US" sz="1700">
                <a:solidFill>
                  <a:srgbClr val="333333"/>
                </a:solidFill>
                <a:latin typeface="inherit"/>
              </a:rPr>
              <a:t>(</a:t>
            </a:r>
            <a:r>
              <a:rPr lang="en-US" sz="1700">
                <a:solidFill>
                  <a:srgbClr val="008000"/>
                </a:solidFill>
                <a:latin typeface="inherit"/>
              </a:rPr>
              <a:t>"Ctrl+C"</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fileMenu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copyAction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saveAction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"Save.png"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'Save'</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saveAction</a:t>
            </a:r>
            <a:r>
              <a:rPr lang="en-US" sz="1700">
                <a:solidFill>
                  <a:srgbClr val="333333"/>
                </a:solidFill>
                <a:latin typeface="inherit"/>
              </a:rPr>
              <a:t>.</a:t>
            </a:r>
            <a:r>
              <a:rPr lang="en-US" sz="1700">
                <a:solidFill>
                  <a:srgbClr val="004ED0"/>
                </a:solidFill>
                <a:latin typeface="inherit"/>
              </a:rPr>
              <a:t>setShortcut</a:t>
            </a:r>
            <a:r>
              <a:rPr lang="en-US" sz="1700">
                <a:solidFill>
                  <a:srgbClr val="333333"/>
                </a:solidFill>
                <a:latin typeface="inherit"/>
              </a:rPr>
              <a:t>(</a:t>
            </a:r>
            <a:r>
              <a:rPr lang="en-US" sz="1700">
                <a:solidFill>
                  <a:srgbClr val="008000"/>
                </a:solidFill>
                <a:latin typeface="inherit"/>
              </a:rPr>
              <a:t>"Ctrl+S"</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fileMenu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saveAction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pasteAction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"Paste.png"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'Paste'</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pasteAction</a:t>
            </a:r>
            <a:r>
              <a:rPr lang="en-US" sz="1700">
                <a:solidFill>
                  <a:srgbClr val="333333"/>
                </a:solidFill>
                <a:latin typeface="inherit"/>
              </a:rPr>
              <a:t>.</a:t>
            </a:r>
            <a:r>
              <a:rPr lang="en-US" sz="1700">
                <a:solidFill>
                  <a:srgbClr val="004ED0"/>
                </a:solidFill>
                <a:latin typeface="inherit"/>
              </a:rPr>
              <a:t>setShortcut</a:t>
            </a:r>
            <a:r>
              <a:rPr lang="en-US" sz="1700">
                <a:solidFill>
                  <a:srgbClr val="333333"/>
                </a:solidFill>
                <a:latin typeface="inherit"/>
              </a:rPr>
              <a:t>(</a:t>
            </a:r>
            <a:r>
              <a:rPr lang="en-US" sz="1700">
                <a:solidFill>
                  <a:srgbClr val="008000"/>
                </a:solidFill>
                <a:latin typeface="inherit"/>
              </a:rPr>
              <a:t>"Ctrl+P"</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fileMenu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pasteAction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exiteAction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"exit.png"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'Exit'</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exiteAction</a:t>
            </a:r>
            <a:r>
              <a:rPr lang="en-US" sz="1700">
                <a:solidFill>
                  <a:srgbClr val="333333"/>
                </a:solidFill>
                <a:latin typeface="inherit"/>
              </a:rPr>
              <a:t>.</a:t>
            </a:r>
            <a:r>
              <a:rPr lang="en-US" sz="1700">
                <a:solidFill>
                  <a:srgbClr val="004ED0"/>
                </a:solidFill>
                <a:latin typeface="inherit"/>
              </a:rPr>
              <a:t>setShortcut</a:t>
            </a:r>
            <a:r>
              <a:rPr lang="en-US" sz="1700">
                <a:solidFill>
                  <a:srgbClr val="333333"/>
                </a:solidFill>
                <a:latin typeface="inherit"/>
              </a:rPr>
              <a:t>(</a:t>
            </a:r>
            <a:r>
              <a:rPr lang="en-US" sz="1700">
                <a:solidFill>
                  <a:srgbClr val="008000"/>
                </a:solidFill>
                <a:latin typeface="inherit"/>
              </a:rPr>
              <a:t>"Ctrl+E"</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exiteAction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exitWindow</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fileMenu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exiteAction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006FE0"/>
                </a:solidFill>
                <a:latin typeface="inherit"/>
              </a:rPr>
              <a:t> =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addToolBar</a:t>
            </a:r>
            <a:r>
              <a:rPr lang="en-US" sz="1700">
                <a:solidFill>
                  <a:srgbClr val="333333"/>
                </a:solidFill>
                <a:latin typeface="inherit"/>
              </a:rPr>
              <a:t>(</a:t>
            </a:r>
            <a:r>
              <a:rPr lang="en-US" sz="1700">
                <a:solidFill>
                  <a:srgbClr val="008000"/>
                </a:solidFill>
                <a:latin typeface="inherit"/>
              </a:rPr>
              <a:t>'Toolbar'</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copyAction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saveAction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pasteAction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exiteAction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4ED0"/>
                </a:solidFill>
                <a:latin typeface="inherit"/>
              </a:rPr>
              <a:t>def exitWindow</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close</a:t>
            </a:r>
            <a:r>
              <a:rPr lang="en-US" sz="1700">
                <a:solidFill>
                  <a:srgbClr val="333333"/>
                </a:solidFill>
                <a:latin typeface="inherit"/>
              </a:rPr>
              <a:t>()</a:t>
            </a:r>
            <a:endParaRPr lang="en-US" sz="1700" b="0" i="0">
              <a:solidFill>
                <a:srgbClr val="000000"/>
              </a:solidFill>
              <a:effectLst/>
              <a:latin typeface="Monaco"/>
            </a:endParaRPr>
          </a:p>
        </p:txBody>
      </p:sp>
    </p:spTree>
    <p:extLst>
      <p:ext uri="{BB962C8B-B14F-4D97-AF65-F5344CB8AC3E}">
        <p14:creationId xmlns:p14="http://schemas.microsoft.com/office/powerpoint/2010/main" val="18841910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70331-BD7C-43F0-85E7-5623ED934970}"/>
              </a:ext>
            </a:extLst>
          </p:cNvPr>
          <p:cNvSpPr>
            <a:spLocks noGrp="1"/>
          </p:cNvSpPr>
          <p:nvPr>
            <p:ph idx="1"/>
          </p:nvPr>
        </p:nvSpPr>
        <p:spPr>
          <a:xfrm>
            <a:off x="9624" y="740229"/>
            <a:ext cx="2594239" cy="6098521"/>
          </a:xfrm>
        </p:spPr>
        <p:txBody>
          <a:bodyPr>
            <a:normAutofit/>
          </a:bodyPr>
          <a:lstStyle/>
          <a:p>
            <a:pPr marL="0" indent="0">
              <a:buNone/>
            </a:pPr>
            <a:r>
              <a:rPr lang="vi-VN" sz="2400"/>
              <a:t>Bây giờ chúng ta tạo phương thức createEditor () và trong phương thức đó, chúng ta viết mã QTextEdit</a:t>
            </a:r>
            <a:endParaRPr lang="en-US" sz="2400"/>
          </a:p>
        </p:txBody>
      </p:sp>
      <p:sp>
        <p:nvSpPr>
          <p:cNvPr id="4" name="Title 1">
            <a:extLst>
              <a:ext uri="{FF2B5EF4-FFF2-40B4-BE49-F238E27FC236}">
                <a16:creationId xmlns:a16="http://schemas.microsoft.com/office/drawing/2014/main" id="{90D95947-84D4-413F-BD62-600D55DCD60C}"/>
              </a:ext>
            </a:extLst>
          </p:cNvPr>
          <p:cNvSpPr>
            <a:spLocks noGrp="1"/>
          </p:cNvSpPr>
          <p:nvPr>
            <p:ph type="title"/>
          </p:nvPr>
        </p:nvSpPr>
        <p:spPr>
          <a:xfrm>
            <a:off x="9624" y="19250"/>
            <a:ext cx="9134375" cy="720979"/>
          </a:xfrm>
        </p:spPr>
        <p:txBody>
          <a:bodyPr>
            <a:normAutofit/>
          </a:bodyPr>
          <a:lstStyle/>
          <a:p>
            <a:r>
              <a:rPr lang="en-US" b="1"/>
              <a:t>Cách tạo QTextEdit trong PyQt5 (t.t)</a:t>
            </a:r>
          </a:p>
        </p:txBody>
      </p:sp>
      <p:sp>
        <p:nvSpPr>
          <p:cNvPr id="5" name="Rectangle 4">
            <a:extLst>
              <a:ext uri="{FF2B5EF4-FFF2-40B4-BE49-F238E27FC236}">
                <a16:creationId xmlns:a16="http://schemas.microsoft.com/office/drawing/2014/main" id="{ABE812CB-CACC-49EC-A2B0-469327497FAB}"/>
              </a:ext>
            </a:extLst>
          </p:cNvPr>
          <p:cNvSpPr/>
          <p:nvPr/>
        </p:nvSpPr>
        <p:spPr>
          <a:xfrm>
            <a:off x="2764971" y="740229"/>
            <a:ext cx="5081451" cy="1200329"/>
          </a:xfrm>
          <a:prstGeom prst="rect">
            <a:avLst/>
          </a:prstGeom>
          <a:solidFill>
            <a:schemeClr val="accent4">
              <a:lumMod val="20000"/>
              <a:lumOff val="80000"/>
            </a:schemeClr>
          </a:solidFill>
        </p:spPr>
        <p:txBody>
          <a:bodyPr wrap="square">
            <a:spAutoFit/>
          </a:bodyPr>
          <a:lstStyle/>
          <a:p>
            <a:r>
              <a:rPr lang="en-US" sz="2400">
                <a:solidFill>
                  <a:srgbClr val="004ED0"/>
                </a:solidFill>
                <a:latin typeface="inherit"/>
              </a:rPr>
              <a:t>def createEditor</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textEdit</a:t>
            </a:r>
            <a:r>
              <a:rPr lang="en-US" sz="2400">
                <a:solidFill>
                  <a:srgbClr val="006FE0"/>
                </a:solidFill>
                <a:latin typeface="inherit"/>
              </a:rPr>
              <a:t> = </a:t>
            </a:r>
            <a:r>
              <a:rPr lang="en-US" sz="2400">
                <a:solidFill>
                  <a:srgbClr val="004ED0"/>
                </a:solidFill>
                <a:latin typeface="inherit"/>
              </a:rPr>
              <a:t>QTextEdit</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setCentralWidget</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textEdit</a:t>
            </a:r>
            <a:r>
              <a:rPr lang="en-US" sz="2400">
                <a:solidFill>
                  <a:srgbClr val="333333"/>
                </a:solidFill>
                <a:latin typeface="inherit"/>
              </a:rPr>
              <a:t>)</a:t>
            </a:r>
            <a:endParaRPr lang="en-US" sz="2400" b="0" i="0">
              <a:solidFill>
                <a:srgbClr val="000000"/>
              </a:solidFill>
              <a:effectLst/>
              <a:latin typeface="Monaco"/>
            </a:endParaRPr>
          </a:p>
        </p:txBody>
      </p:sp>
      <p:sp>
        <p:nvSpPr>
          <p:cNvPr id="6" name="Rectangle 5">
            <a:extLst>
              <a:ext uri="{FF2B5EF4-FFF2-40B4-BE49-F238E27FC236}">
                <a16:creationId xmlns:a16="http://schemas.microsoft.com/office/drawing/2014/main" id="{98756BB8-47AF-4924-BB9F-8080A733F3B1}"/>
              </a:ext>
            </a:extLst>
          </p:cNvPr>
          <p:cNvSpPr/>
          <p:nvPr/>
        </p:nvSpPr>
        <p:spPr>
          <a:xfrm>
            <a:off x="9625" y="3013501"/>
            <a:ext cx="2002056" cy="1631216"/>
          </a:xfrm>
          <a:prstGeom prst="rect">
            <a:avLst/>
          </a:prstGeom>
        </p:spPr>
        <p:txBody>
          <a:bodyPr wrap="square">
            <a:spAutoFit/>
          </a:bodyPr>
          <a:lstStyle/>
          <a:p>
            <a:r>
              <a:rPr lang="vi-VN" sz="2000" i="1">
                <a:solidFill>
                  <a:srgbClr val="3A3A3A"/>
                </a:solidFill>
              </a:rPr>
              <a:t>Cuối cùng, chúng ta tạo đối tượng của lớp QApplication và Window</a:t>
            </a:r>
            <a:endParaRPr lang="en-US" sz="2000" i="1"/>
          </a:p>
        </p:txBody>
      </p:sp>
      <p:sp>
        <p:nvSpPr>
          <p:cNvPr id="7" name="Rectangle 6">
            <a:extLst>
              <a:ext uri="{FF2B5EF4-FFF2-40B4-BE49-F238E27FC236}">
                <a16:creationId xmlns:a16="http://schemas.microsoft.com/office/drawing/2014/main" id="{59EAD230-E5D3-4412-8798-9323FE59493F}"/>
              </a:ext>
            </a:extLst>
          </p:cNvPr>
          <p:cNvSpPr/>
          <p:nvPr/>
        </p:nvSpPr>
        <p:spPr>
          <a:xfrm>
            <a:off x="124097" y="4644717"/>
            <a:ext cx="3775168" cy="1200329"/>
          </a:xfrm>
          <a:prstGeom prst="rect">
            <a:avLst/>
          </a:prstGeom>
          <a:solidFill>
            <a:schemeClr val="accent5">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8434" name="Picture 2">
            <a:extLst>
              <a:ext uri="{FF2B5EF4-FFF2-40B4-BE49-F238E27FC236}">
                <a16:creationId xmlns:a16="http://schemas.microsoft.com/office/drawing/2014/main" id="{FCCB74D8-AB5B-4531-B1AE-C7E1953168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0901" y="3013501"/>
            <a:ext cx="5098266" cy="379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1733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1CDF3-AAF7-42A0-8F44-CF9C48B3741B}"/>
              </a:ext>
            </a:extLst>
          </p:cNvPr>
          <p:cNvSpPr>
            <a:spLocks noGrp="1"/>
          </p:cNvSpPr>
          <p:nvPr>
            <p:ph type="title"/>
          </p:nvPr>
        </p:nvSpPr>
        <p:spPr>
          <a:xfrm>
            <a:off x="9624" y="19251"/>
            <a:ext cx="9134375" cy="747104"/>
          </a:xfrm>
        </p:spPr>
        <p:txBody>
          <a:bodyPr>
            <a:normAutofit/>
          </a:bodyPr>
          <a:lstStyle/>
          <a:p>
            <a:r>
              <a:rPr lang="en-US" b="1"/>
              <a:t>Cách tạo QFontDialog trong PyQt5</a:t>
            </a:r>
          </a:p>
        </p:txBody>
      </p:sp>
      <p:sp>
        <p:nvSpPr>
          <p:cNvPr id="3" name="Content Placeholder 2">
            <a:extLst>
              <a:ext uri="{FF2B5EF4-FFF2-40B4-BE49-F238E27FC236}">
                <a16:creationId xmlns:a16="http://schemas.microsoft.com/office/drawing/2014/main" id="{828AFB3F-3F52-4B8C-964C-14E8872EDBD7}"/>
              </a:ext>
            </a:extLst>
          </p:cNvPr>
          <p:cNvSpPr>
            <a:spLocks noGrp="1"/>
          </p:cNvSpPr>
          <p:nvPr>
            <p:ph idx="1"/>
          </p:nvPr>
        </p:nvSpPr>
        <p:spPr>
          <a:xfrm>
            <a:off x="9624" y="766355"/>
            <a:ext cx="9134375" cy="6072395"/>
          </a:xfrm>
        </p:spPr>
        <p:txBody>
          <a:bodyPr>
            <a:normAutofit/>
          </a:bodyPr>
          <a:lstStyle/>
          <a:p>
            <a:pPr marL="0" indent="0">
              <a:buNone/>
            </a:pPr>
            <a:r>
              <a:rPr lang="vi-VN"/>
              <a:t>Trong bài này </a:t>
            </a:r>
            <a:r>
              <a:rPr lang="en-US"/>
              <a:t>chúng ta học </a:t>
            </a:r>
            <a:r>
              <a:rPr lang="vi-VN"/>
              <a:t>cách</a:t>
            </a:r>
            <a:r>
              <a:rPr lang="en-US"/>
              <a:t> t</a:t>
            </a:r>
            <a:r>
              <a:rPr lang="vi-VN"/>
              <a:t>ạo QFontDialog Trong PyQt5 (Phát triển GUI Python)</a:t>
            </a:r>
            <a:r>
              <a:rPr lang="en-US"/>
              <a:t> </a:t>
            </a:r>
            <a:r>
              <a:rPr lang="vi-VN"/>
              <a:t>về cơ bản, chúng tôi </a:t>
            </a:r>
            <a:r>
              <a:rPr lang="en-US"/>
              <a:t>tiếp tục </a:t>
            </a:r>
            <a:r>
              <a:rPr lang="vi-VN"/>
              <a:t>sử dụng mã </a:t>
            </a:r>
            <a:r>
              <a:rPr lang="en-US"/>
              <a:t>lệnh </a:t>
            </a:r>
            <a:r>
              <a:rPr lang="vi-VN"/>
              <a:t>trước đây</a:t>
            </a:r>
            <a:r>
              <a:rPr lang="en-US"/>
              <a:t> là QMenuBar, QToolBar, QTextEdit</a:t>
            </a:r>
            <a:endParaRPr lang="vi-VN"/>
          </a:p>
        </p:txBody>
      </p:sp>
      <p:graphicFrame>
        <p:nvGraphicFramePr>
          <p:cNvPr id="4" name="Table 3">
            <a:extLst>
              <a:ext uri="{FF2B5EF4-FFF2-40B4-BE49-F238E27FC236}">
                <a16:creationId xmlns:a16="http://schemas.microsoft.com/office/drawing/2014/main" id="{46535F7E-6B7C-476C-9CA7-AEADBF382EAD}"/>
              </a:ext>
            </a:extLst>
          </p:cNvPr>
          <p:cNvGraphicFramePr>
            <a:graphicFrameLocks noGrp="1"/>
          </p:cNvGraphicFramePr>
          <p:nvPr>
            <p:extLst>
              <p:ext uri="{D42A27DB-BD31-4B8C-83A1-F6EECF244321}">
                <p14:modId xmlns:p14="http://schemas.microsoft.com/office/powerpoint/2010/main" val="1655289580"/>
              </p:ext>
            </p:extLst>
          </p:nvPr>
        </p:nvGraphicFramePr>
        <p:xfrm>
          <a:off x="9624" y="2835456"/>
          <a:ext cx="9134376" cy="1920240"/>
        </p:xfrm>
        <a:graphic>
          <a:graphicData uri="http://schemas.openxmlformats.org/drawingml/2006/table">
            <a:tbl>
              <a:tblPr/>
              <a:tblGrid>
                <a:gridCol w="697335">
                  <a:extLst>
                    <a:ext uri="{9D8B030D-6E8A-4147-A177-3AD203B41FA5}">
                      <a16:colId xmlns:a16="http://schemas.microsoft.com/office/drawing/2014/main" val="3673970105"/>
                    </a:ext>
                  </a:extLst>
                </a:gridCol>
                <a:gridCol w="8437041">
                  <a:extLst>
                    <a:ext uri="{9D8B030D-6E8A-4147-A177-3AD203B41FA5}">
                      <a16:colId xmlns:a16="http://schemas.microsoft.com/office/drawing/2014/main" val="3392752235"/>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p>
                    <a:p>
                      <a:pPr algn="r" fontAlgn="t"/>
                      <a:r>
                        <a:rPr lang="en-US" sz="2400" b="0">
                          <a:solidFill>
                            <a:srgbClr val="006FE0"/>
                          </a:solidFill>
                          <a:effectLst/>
                          <a:latin typeface="inherit"/>
                        </a:rPr>
                        <a:t> </a:t>
                      </a:r>
                      <a:r>
                        <a:rPr lang="en-US" sz="2400" b="0">
                          <a:solidFill>
                            <a:srgbClr val="002D7A"/>
                          </a:solidFill>
                          <a:effectLst/>
                          <a:latin typeface="inherit"/>
                        </a:rPr>
                        <a:t>QMainWindow</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QAction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QTextEdit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QFontDialog</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a:t>
                      </a:r>
                      <a:r>
                        <a:rPr lang="en-US" sz="2400" b="0">
                          <a:solidFill>
                            <a:srgbClr val="002D7A"/>
                          </a:solidFill>
                          <a:effectLst/>
                          <a:latin typeface="inherit"/>
                        </a:rPr>
                        <a:t>QIcon</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3763044495"/>
                  </a:ext>
                </a:extLst>
              </a:tr>
            </a:tbl>
          </a:graphicData>
        </a:graphic>
      </p:graphicFrame>
    </p:spTree>
    <p:extLst>
      <p:ext uri="{BB962C8B-B14F-4D97-AF65-F5344CB8AC3E}">
        <p14:creationId xmlns:p14="http://schemas.microsoft.com/office/powerpoint/2010/main" val="39669867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E5D43A-7DB0-4C86-9E2E-7D7F9AB83C39}"/>
              </a:ext>
            </a:extLst>
          </p:cNvPr>
          <p:cNvSpPr>
            <a:spLocks noGrp="1"/>
          </p:cNvSpPr>
          <p:nvPr>
            <p:ph idx="1"/>
          </p:nvPr>
        </p:nvSpPr>
        <p:spPr>
          <a:xfrm>
            <a:off x="9624" y="766355"/>
            <a:ext cx="3689687" cy="6072395"/>
          </a:xfrm>
        </p:spPr>
        <p:txBody>
          <a:bodyPr>
            <a:normAutofit/>
          </a:bodyPr>
          <a:lstStyle/>
          <a:p>
            <a:pPr marL="0" indent="0">
              <a:buNone/>
            </a:pPr>
            <a:r>
              <a:rPr lang="vi-VN" sz="2400"/>
              <a:t>Sau đó, tạo lớp Window và thêm các yêu cầu cửa sổ vào lớp đó</a:t>
            </a:r>
            <a:r>
              <a:rPr lang="en-US" sz="2400"/>
              <a:t>, </a:t>
            </a:r>
            <a:r>
              <a:rPr lang="vi-VN" sz="2400"/>
              <a:t>chúng ta sẽ tạo phương thức </a:t>
            </a:r>
            <a:r>
              <a:rPr lang="en-US" sz="2400"/>
              <a:t>CreateMenu</a:t>
            </a:r>
            <a:r>
              <a:rPr lang="vi-VN" sz="2400"/>
              <a:t>() và thêm </a:t>
            </a:r>
            <a:r>
              <a:rPr lang="en-US" sz="2400"/>
              <a:t>QMenu </a:t>
            </a:r>
            <a:r>
              <a:rPr lang="vi-VN" sz="2400"/>
              <a:t>và QToolBar vào phương thức đó, chúng ta cũng sẽ tạo một phương thức khác để tạo QTextEdit</a:t>
            </a:r>
          </a:p>
        </p:txBody>
      </p:sp>
      <p:sp>
        <p:nvSpPr>
          <p:cNvPr id="4" name="Title 1">
            <a:extLst>
              <a:ext uri="{FF2B5EF4-FFF2-40B4-BE49-F238E27FC236}">
                <a16:creationId xmlns:a16="http://schemas.microsoft.com/office/drawing/2014/main" id="{2D442506-E7D2-439F-854E-6A50FD183104}"/>
              </a:ext>
            </a:extLst>
          </p:cNvPr>
          <p:cNvSpPr>
            <a:spLocks noGrp="1"/>
          </p:cNvSpPr>
          <p:nvPr>
            <p:ph type="title"/>
          </p:nvPr>
        </p:nvSpPr>
        <p:spPr>
          <a:xfrm>
            <a:off x="9624" y="19251"/>
            <a:ext cx="9134375" cy="747104"/>
          </a:xfrm>
        </p:spPr>
        <p:txBody>
          <a:bodyPr>
            <a:normAutofit/>
          </a:bodyPr>
          <a:lstStyle/>
          <a:p>
            <a:r>
              <a:rPr lang="en-US" sz="4000" b="1"/>
              <a:t>Cách tạo QFontDialog trong PyQt5 (t.t)</a:t>
            </a:r>
          </a:p>
        </p:txBody>
      </p:sp>
      <p:sp>
        <p:nvSpPr>
          <p:cNvPr id="5" name="Rectangle 4">
            <a:extLst>
              <a:ext uri="{FF2B5EF4-FFF2-40B4-BE49-F238E27FC236}">
                <a16:creationId xmlns:a16="http://schemas.microsoft.com/office/drawing/2014/main" id="{DEE8FE55-6AB7-49FB-86BE-DE018CA1C983}"/>
              </a:ext>
            </a:extLst>
          </p:cNvPr>
          <p:cNvSpPr/>
          <p:nvPr/>
        </p:nvSpPr>
        <p:spPr>
          <a:xfrm>
            <a:off x="3708936" y="642232"/>
            <a:ext cx="5425439" cy="6320641"/>
          </a:xfrm>
          <a:prstGeom prst="rect">
            <a:avLst/>
          </a:prstGeom>
          <a:solidFill>
            <a:schemeClr val="accent2">
              <a:lumMod val="20000"/>
              <a:lumOff val="80000"/>
            </a:schemeClr>
          </a:solidFill>
        </p:spPr>
        <p:txBody>
          <a:bodyPr wrap="square">
            <a:spAutoFit/>
          </a:bodyPr>
          <a:lstStyle/>
          <a:p>
            <a:pPr>
              <a:lnSpc>
                <a:spcPct val="85000"/>
              </a:lnSpc>
            </a:pPr>
            <a:r>
              <a:rPr lang="en-US" sz="1700">
                <a:solidFill>
                  <a:srgbClr val="800080"/>
                </a:solidFill>
                <a:latin typeface="inherit"/>
              </a:rPr>
              <a:t>class</a:t>
            </a:r>
            <a:r>
              <a:rPr lang="en-US" sz="1700">
                <a:solidFill>
                  <a:srgbClr val="006FE0"/>
                </a:solidFill>
                <a:latin typeface="inherit"/>
              </a:rPr>
              <a:t> </a:t>
            </a:r>
            <a:r>
              <a:rPr lang="en-US" sz="1700">
                <a:solidFill>
                  <a:srgbClr val="004ED0"/>
                </a:solidFill>
                <a:latin typeface="inherit"/>
              </a:rPr>
              <a:t>Window</a:t>
            </a:r>
            <a:r>
              <a:rPr lang="en-US" sz="1700">
                <a:solidFill>
                  <a:srgbClr val="333333"/>
                </a:solidFill>
                <a:latin typeface="inherit"/>
              </a:rPr>
              <a:t>(</a:t>
            </a:r>
            <a:r>
              <a:rPr lang="en-US" sz="1700">
                <a:solidFill>
                  <a:srgbClr val="002D7A"/>
                </a:solidFill>
                <a:latin typeface="inherit"/>
              </a:rPr>
              <a:t>QMainWindow</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4ED0"/>
                </a:solidFill>
                <a:latin typeface="inherit"/>
              </a:rPr>
              <a:t>def __init__</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super</a:t>
            </a:r>
            <a:r>
              <a:rPr lang="en-US" sz="1700">
                <a:solidFill>
                  <a:srgbClr val="333333"/>
                </a:solidFill>
                <a:latin typeface="inherit"/>
              </a:rPr>
              <a:t>().</a:t>
            </a:r>
            <a:r>
              <a:rPr lang="en-US" sz="1700">
                <a:solidFill>
                  <a:srgbClr val="004ED0"/>
                </a:solidFill>
                <a:latin typeface="inherit"/>
              </a:rPr>
              <a:t>__init__</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createEditor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CreateMenu</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show</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4ED0"/>
                </a:solidFill>
                <a:latin typeface="inherit"/>
              </a:rPr>
              <a:t>def CreateMenu</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mainMenu</a:t>
            </a:r>
            <a:r>
              <a:rPr lang="en-US" sz="1700">
                <a:solidFill>
                  <a:srgbClr val="006FE0"/>
                </a:solidFill>
                <a:latin typeface="inherit"/>
              </a:rPr>
              <a:t> =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menuBar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fileMenu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'File'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editMenu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viewMenu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'View'</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helpMenu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'Help'</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exiteAction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"exit.png"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'Exit'</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exiteAction</a:t>
            </a:r>
            <a:r>
              <a:rPr lang="en-US" sz="1700">
                <a:solidFill>
                  <a:srgbClr val="333333"/>
                </a:solidFill>
                <a:latin typeface="inherit"/>
              </a:rPr>
              <a:t>.</a:t>
            </a:r>
            <a:r>
              <a:rPr lang="en-US" sz="1700">
                <a:solidFill>
                  <a:srgbClr val="004ED0"/>
                </a:solidFill>
                <a:latin typeface="inherit"/>
              </a:rPr>
              <a:t>setShortcut</a:t>
            </a:r>
            <a:r>
              <a:rPr lang="en-US" sz="1700">
                <a:solidFill>
                  <a:srgbClr val="333333"/>
                </a:solidFill>
                <a:latin typeface="inherit"/>
              </a:rPr>
              <a:t>(</a:t>
            </a:r>
            <a:r>
              <a:rPr lang="en-US" sz="1700">
                <a:solidFill>
                  <a:srgbClr val="008000"/>
                </a:solidFill>
                <a:latin typeface="inherit"/>
              </a:rPr>
              <a:t>"Ctrl+E"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exiteAction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exitWindow</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fileMenu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exiteAction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fontAction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"font.png"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"Font"</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fontAction</a:t>
            </a:r>
            <a:r>
              <a:rPr lang="en-US" sz="1700">
                <a:solidFill>
                  <a:srgbClr val="333333"/>
                </a:solidFill>
                <a:latin typeface="inherit"/>
              </a:rPr>
              <a:t>.</a:t>
            </a:r>
            <a:r>
              <a:rPr lang="en-US" sz="1700">
                <a:solidFill>
                  <a:srgbClr val="004ED0"/>
                </a:solidFill>
                <a:latin typeface="inherit"/>
              </a:rPr>
              <a:t>setShortcut</a:t>
            </a:r>
            <a:r>
              <a:rPr lang="en-US" sz="1700">
                <a:solidFill>
                  <a:srgbClr val="333333"/>
                </a:solidFill>
                <a:latin typeface="inherit"/>
              </a:rPr>
              <a:t>(</a:t>
            </a:r>
            <a:r>
              <a:rPr lang="en-US" sz="1700">
                <a:solidFill>
                  <a:srgbClr val="008000"/>
                </a:solidFill>
                <a:latin typeface="inherit"/>
              </a:rPr>
              <a:t>"Ctrl+F"</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fontAction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fontDialog</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viewMenu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fontAction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006FE0"/>
                </a:solidFill>
                <a:latin typeface="inherit"/>
              </a:rPr>
              <a:t> =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addToolBar</a:t>
            </a:r>
            <a:r>
              <a:rPr lang="en-US" sz="1700">
                <a:solidFill>
                  <a:srgbClr val="333333"/>
                </a:solidFill>
                <a:latin typeface="inherit"/>
              </a:rPr>
              <a:t>(</a:t>
            </a:r>
            <a:r>
              <a:rPr lang="en-US" sz="1700">
                <a:solidFill>
                  <a:srgbClr val="008000"/>
                </a:solidFill>
                <a:latin typeface="inherit"/>
              </a:rPr>
              <a:t>'Toolbar'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copyAction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saveAction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pasteAction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exiteAction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fontAction</a:t>
            </a:r>
            <a:r>
              <a:rPr lang="en-US" sz="1700">
                <a:solidFill>
                  <a:srgbClr val="333333"/>
                </a:solidFill>
                <a:latin typeface="inherit"/>
              </a:rPr>
              <a:t>)</a:t>
            </a:r>
            <a:endParaRPr lang="en-US" sz="1700">
              <a:solidFill>
                <a:srgbClr val="000000"/>
              </a:solidFill>
              <a:latin typeface="Monaco"/>
            </a:endParaRPr>
          </a:p>
        </p:txBody>
      </p:sp>
      <p:sp>
        <p:nvSpPr>
          <p:cNvPr id="6" name="Rectangle 5">
            <a:extLst>
              <a:ext uri="{FF2B5EF4-FFF2-40B4-BE49-F238E27FC236}">
                <a16:creationId xmlns:a16="http://schemas.microsoft.com/office/drawing/2014/main" id="{48EFCB7C-FD01-4285-81C4-1287F0D8F791}"/>
              </a:ext>
            </a:extLst>
          </p:cNvPr>
          <p:cNvSpPr/>
          <p:nvPr/>
        </p:nvSpPr>
        <p:spPr>
          <a:xfrm>
            <a:off x="-239141" y="4458790"/>
            <a:ext cx="3948078" cy="1271630"/>
          </a:xfrm>
          <a:prstGeom prst="rect">
            <a:avLst/>
          </a:prstGeom>
          <a:solidFill>
            <a:schemeClr val="accent4">
              <a:lumMod val="20000"/>
              <a:lumOff val="80000"/>
            </a:schemeClr>
          </a:solidFill>
        </p:spPr>
        <p:txBody>
          <a:bodyPr wrap="square">
            <a:spAutoFit/>
          </a:bodyPr>
          <a:lstStyle/>
          <a:p>
            <a:pPr>
              <a:lnSpc>
                <a:spcPct val="85000"/>
              </a:lnSpc>
            </a:pPr>
            <a:r>
              <a:rPr lang="en-US">
                <a:solidFill>
                  <a:srgbClr val="006FE0"/>
                </a:solidFill>
                <a:latin typeface="inherit"/>
              </a:rPr>
              <a:t>    </a:t>
            </a:r>
            <a:r>
              <a:rPr lang="en-US">
                <a:solidFill>
                  <a:srgbClr val="004ED0"/>
                </a:solidFill>
                <a:latin typeface="inherit"/>
              </a:rPr>
              <a:t>def exitWindow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close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createEditor</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006FE0"/>
                </a:solidFill>
                <a:latin typeface="inherit"/>
              </a:rPr>
              <a:t> = </a:t>
            </a:r>
            <a:r>
              <a:rPr lang="en-US">
                <a:solidFill>
                  <a:srgbClr val="004ED0"/>
                </a:solidFill>
                <a:latin typeface="inherit"/>
              </a:rPr>
              <a:t>QTextEdit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setCentralWidget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1924393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442506-E7D2-439F-854E-6A50FD183104}"/>
              </a:ext>
            </a:extLst>
          </p:cNvPr>
          <p:cNvSpPr>
            <a:spLocks noGrp="1"/>
          </p:cNvSpPr>
          <p:nvPr>
            <p:ph type="title"/>
          </p:nvPr>
        </p:nvSpPr>
        <p:spPr>
          <a:xfrm>
            <a:off x="9624" y="19251"/>
            <a:ext cx="9134375" cy="747104"/>
          </a:xfrm>
        </p:spPr>
        <p:txBody>
          <a:bodyPr>
            <a:normAutofit/>
          </a:bodyPr>
          <a:lstStyle/>
          <a:p>
            <a:r>
              <a:rPr lang="en-US" sz="4000" b="1"/>
              <a:t>Cách tạo QFontDialog trong PyQt5 (t.t)</a:t>
            </a:r>
          </a:p>
        </p:txBody>
      </p:sp>
      <p:sp>
        <p:nvSpPr>
          <p:cNvPr id="7" name="Rectangle 6">
            <a:extLst>
              <a:ext uri="{FF2B5EF4-FFF2-40B4-BE49-F238E27FC236}">
                <a16:creationId xmlns:a16="http://schemas.microsoft.com/office/drawing/2014/main" id="{5DE67233-0674-4F87-A85F-A8C829478C12}"/>
              </a:ext>
            </a:extLst>
          </p:cNvPr>
          <p:cNvSpPr/>
          <p:nvPr/>
        </p:nvSpPr>
        <p:spPr>
          <a:xfrm>
            <a:off x="0" y="766355"/>
            <a:ext cx="9144000" cy="1200329"/>
          </a:xfrm>
          <a:prstGeom prst="rect">
            <a:avLst/>
          </a:prstGeom>
        </p:spPr>
        <p:txBody>
          <a:bodyPr wrap="square">
            <a:spAutoFit/>
          </a:bodyPr>
          <a:lstStyle/>
          <a:p>
            <a:pPr algn="just"/>
            <a:r>
              <a:rPr lang="vi-VN" sz="2400">
                <a:solidFill>
                  <a:srgbClr val="3A3A3A"/>
                </a:solidFill>
              </a:rPr>
              <a:t>Sau đó, chúng tôi sẽ tạo phương thức fontDialog () và trong phương thức đó, chúng tôi nhận được phông chữ từ QFontDialog và đặt phông chữ </a:t>
            </a:r>
            <a:r>
              <a:rPr lang="en-US" sz="2400">
                <a:solidFill>
                  <a:srgbClr val="3A3A3A"/>
                </a:solidFill>
              </a:rPr>
              <a:t>vào </a:t>
            </a:r>
            <a:r>
              <a:rPr lang="vi-VN" sz="2400">
                <a:solidFill>
                  <a:srgbClr val="3A3A3A"/>
                </a:solidFill>
              </a:rPr>
              <a:t>QTextEdit</a:t>
            </a:r>
            <a:endParaRPr lang="en-US" sz="2400"/>
          </a:p>
        </p:txBody>
      </p:sp>
      <p:sp>
        <p:nvSpPr>
          <p:cNvPr id="8" name="Rectangle 7">
            <a:extLst>
              <a:ext uri="{FF2B5EF4-FFF2-40B4-BE49-F238E27FC236}">
                <a16:creationId xmlns:a16="http://schemas.microsoft.com/office/drawing/2014/main" id="{46CDD231-E664-40D1-A0D1-F67DF6E9F19B}"/>
              </a:ext>
            </a:extLst>
          </p:cNvPr>
          <p:cNvSpPr/>
          <p:nvPr/>
        </p:nvSpPr>
        <p:spPr>
          <a:xfrm>
            <a:off x="117565" y="1966684"/>
            <a:ext cx="4811486" cy="1569660"/>
          </a:xfrm>
          <a:prstGeom prst="rect">
            <a:avLst/>
          </a:prstGeom>
          <a:solidFill>
            <a:schemeClr val="accent4">
              <a:lumMod val="20000"/>
              <a:lumOff val="80000"/>
            </a:schemeClr>
          </a:solidFill>
        </p:spPr>
        <p:txBody>
          <a:bodyPr wrap="square">
            <a:spAutoFit/>
          </a:bodyPr>
          <a:lstStyle/>
          <a:p>
            <a:r>
              <a:rPr lang="en-US" sz="2400">
                <a:solidFill>
                  <a:srgbClr val="004ED0"/>
                </a:solidFill>
                <a:latin typeface="inherit"/>
              </a:rPr>
              <a:t>def fontDialog</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p>
          <a:p>
            <a:r>
              <a:rPr lang="en-US" sz="2400">
                <a:solidFill>
                  <a:srgbClr val="006FE0"/>
                </a:solidFill>
                <a:latin typeface="inherit"/>
              </a:rPr>
              <a:t>        </a:t>
            </a:r>
            <a:r>
              <a:rPr lang="en-US" sz="2400">
                <a:solidFill>
                  <a:srgbClr val="002D7A"/>
                </a:solidFill>
                <a:latin typeface="inherit"/>
              </a:rPr>
              <a:t>font</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ok</a:t>
            </a:r>
            <a:r>
              <a:rPr lang="en-US" sz="2400">
                <a:solidFill>
                  <a:srgbClr val="006FE0"/>
                </a:solidFill>
                <a:latin typeface="inherit"/>
              </a:rPr>
              <a:t> = </a:t>
            </a:r>
            <a:r>
              <a:rPr lang="en-US" sz="2400">
                <a:solidFill>
                  <a:srgbClr val="002D7A"/>
                </a:solidFill>
                <a:latin typeface="inherit"/>
              </a:rPr>
              <a:t>QFontDialog</a:t>
            </a:r>
            <a:r>
              <a:rPr lang="en-US" sz="2400">
                <a:solidFill>
                  <a:srgbClr val="333333"/>
                </a:solidFill>
                <a:latin typeface="inherit"/>
              </a:rPr>
              <a:t>.</a:t>
            </a:r>
            <a:r>
              <a:rPr lang="en-US" sz="2400">
                <a:solidFill>
                  <a:srgbClr val="004ED0"/>
                </a:solidFill>
                <a:latin typeface="inherit"/>
              </a:rPr>
              <a:t>getFont</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if</a:t>
            </a:r>
            <a:r>
              <a:rPr lang="en-US" sz="2400">
                <a:solidFill>
                  <a:srgbClr val="006FE0"/>
                </a:solidFill>
                <a:latin typeface="inherit"/>
              </a:rPr>
              <a:t> </a:t>
            </a:r>
            <a:r>
              <a:rPr lang="en-US" sz="2400">
                <a:solidFill>
                  <a:srgbClr val="002D7A"/>
                </a:solidFill>
                <a:latin typeface="inherit"/>
              </a:rPr>
              <a:t>ok</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textEdit</a:t>
            </a:r>
            <a:r>
              <a:rPr lang="en-US" sz="2400">
                <a:solidFill>
                  <a:srgbClr val="333333"/>
                </a:solidFill>
                <a:latin typeface="inherit"/>
              </a:rPr>
              <a:t>.</a:t>
            </a:r>
            <a:r>
              <a:rPr lang="en-US" sz="2400">
                <a:solidFill>
                  <a:srgbClr val="004ED0"/>
                </a:solidFill>
                <a:latin typeface="inherit"/>
              </a:rPr>
              <a:t>setFont</a:t>
            </a:r>
            <a:r>
              <a:rPr lang="en-US" sz="2400">
                <a:solidFill>
                  <a:srgbClr val="333333"/>
                </a:solidFill>
                <a:latin typeface="inherit"/>
              </a:rPr>
              <a:t>(</a:t>
            </a:r>
            <a:r>
              <a:rPr lang="en-US" sz="2400">
                <a:solidFill>
                  <a:srgbClr val="002D7A"/>
                </a:solidFill>
                <a:latin typeface="inherit"/>
              </a:rPr>
              <a:t>font</a:t>
            </a:r>
            <a:r>
              <a:rPr lang="en-US" sz="2400">
                <a:solidFill>
                  <a:srgbClr val="333333"/>
                </a:solidFill>
                <a:latin typeface="inherit"/>
              </a:rPr>
              <a:t>)</a:t>
            </a:r>
            <a:endParaRPr lang="en-US" sz="2400" b="0" i="0">
              <a:solidFill>
                <a:srgbClr val="000000"/>
              </a:solidFill>
              <a:effectLst/>
              <a:latin typeface="Monaco"/>
            </a:endParaRPr>
          </a:p>
        </p:txBody>
      </p:sp>
      <p:sp>
        <p:nvSpPr>
          <p:cNvPr id="9" name="Rectangle 8">
            <a:extLst>
              <a:ext uri="{FF2B5EF4-FFF2-40B4-BE49-F238E27FC236}">
                <a16:creationId xmlns:a16="http://schemas.microsoft.com/office/drawing/2014/main" id="{F3CA1A6D-3DFE-451C-B94A-D8A52E750C64}"/>
              </a:ext>
            </a:extLst>
          </p:cNvPr>
          <p:cNvSpPr/>
          <p:nvPr/>
        </p:nvSpPr>
        <p:spPr>
          <a:xfrm>
            <a:off x="9624" y="3623430"/>
            <a:ext cx="4632046" cy="830997"/>
          </a:xfrm>
          <a:prstGeom prst="rect">
            <a:avLst/>
          </a:prstGeom>
        </p:spPr>
        <p:txBody>
          <a:bodyPr wrap="square">
            <a:spAutoFit/>
          </a:bodyPr>
          <a:lstStyle/>
          <a:p>
            <a:r>
              <a:rPr lang="vi-VN" sz="2400">
                <a:solidFill>
                  <a:srgbClr val="3A3A3A"/>
                </a:solidFill>
              </a:rPr>
              <a:t>Cuối cùng, chúng ta tạo đối tượng QApplication và Window</a:t>
            </a:r>
            <a:endParaRPr lang="en-US" sz="2400"/>
          </a:p>
        </p:txBody>
      </p:sp>
      <p:sp>
        <p:nvSpPr>
          <p:cNvPr id="10" name="Rectangle 9">
            <a:extLst>
              <a:ext uri="{FF2B5EF4-FFF2-40B4-BE49-F238E27FC236}">
                <a16:creationId xmlns:a16="http://schemas.microsoft.com/office/drawing/2014/main" id="{3DE7C7D3-DD50-4831-984B-8A91CC28D591}"/>
              </a:ext>
            </a:extLst>
          </p:cNvPr>
          <p:cNvSpPr/>
          <p:nvPr/>
        </p:nvSpPr>
        <p:spPr>
          <a:xfrm>
            <a:off x="117565" y="4454427"/>
            <a:ext cx="3809542" cy="1200329"/>
          </a:xfrm>
          <a:prstGeom prst="rect">
            <a:avLst/>
          </a:prstGeom>
          <a:solidFill>
            <a:schemeClr val="accent5">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21506" name="Picture 2">
            <a:extLst>
              <a:ext uri="{FF2B5EF4-FFF2-40B4-BE49-F238E27FC236}">
                <a16:creationId xmlns:a16="http://schemas.microsoft.com/office/drawing/2014/main" id="{3302ED6E-E4E5-4E4D-A561-BF89D1E94F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3955" y="3307489"/>
            <a:ext cx="4632046" cy="3466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7148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4B3A-BBA7-4398-BDBE-E8BB296888EF}"/>
              </a:ext>
            </a:extLst>
          </p:cNvPr>
          <p:cNvSpPr>
            <a:spLocks noGrp="1"/>
          </p:cNvSpPr>
          <p:nvPr>
            <p:ph type="title"/>
          </p:nvPr>
        </p:nvSpPr>
        <p:spPr/>
        <p:txBody>
          <a:bodyPr>
            <a:normAutofit/>
          </a:bodyPr>
          <a:lstStyle/>
          <a:p>
            <a:r>
              <a:rPr lang="en-US"/>
              <a:t>Cách tạo QColorDialog trong PyQt5</a:t>
            </a:r>
          </a:p>
        </p:txBody>
      </p:sp>
      <p:sp>
        <p:nvSpPr>
          <p:cNvPr id="3" name="Content Placeholder 2">
            <a:extLst>
              <a:ext uri="{FF2B5EF4-FFF2-40B4-BE49-F238E27FC236}">
                <a16:creationId xmlns:a16="http://schemas.microsoft.com/office/drawing/2014/main" id="{0E53B446-B56C-46F2-B497-5099602AD352}"/>
              </a:ext>
            </a:extLst>
          </p:cNvPr>
          <p:cNvSpPr>
            <a:spLocks noGrp="1"/>
          </p:cNvSpPr>
          <p:nvPr>
            <p:ph idx="1"/>
          </p:nvPr>
        </p:nvSpPr>
        <p:spPr/>
        <p:txBody>
          <a:bodyPr>
            <a:normAutofit/>
          </a:bodyPr>
          <a:lstStyle/>
          <a:p>
            <a:pPr marL="0" indent="0">
              <a:buNone/>
            </a:pPr>
            <a:r>
              <a:rPr lang="vi-VN"/>
              <a:t>Lớp QColorDialog cung cấp một </a:t>
            </a:r>
            <a:r>
              <a:rPr lang="en-US"/>
              <a:t>widget </a:t>
            </a:r>
            <a:r>
              <a:rPr lang="vi-VN"/>
              <a:t>hộp thoại để chỉ định màu. Chức năng của hộp thoại màu là cho phép người dùng chọn màu. Ví dụ: bạn có thể sử dụng điều này trong một chương trình vẽ để cho phép người dùng đặt màu cọ.</a:t>
            </a:r>
          </a:p>
          <a:p>
            <a:pPr marL="0" indent="0">
              <a:buNone/>
            </a:pPr>
            <a:endParaRPr lang="vi-VN"/>
          </a:p>
          <a:p>
            <a:endParaRPr lang="vi-VN"/>
          </a:p>
          <a:p>
            <a:endParaRPr lang="en-US"/>
          </a:p>
        </p:txBody>
      </p:sp>
      <p:sp>
        <p:nvSpPr>
          <p:cNvPr id="5" name="Rectangle 4">
            <a:extLst>
              <a:ext uri="{FF2B5EF4-FFF2-40B4-BE49-F238E27FC236}">
                <a16:creationId xmlns:a16="http://schemas.microsoft.com/office/drawing/2014/main" id="{CFCCE43C-DB70-48CD-B88F-262993A038AE}"/>
              </a:ext>
            </a:extLst>
          </p:cNvPr>
          <p:cNvSpPr/>
          <p:nvPr/>
        </p:nvSpPr>
        <p:spPr>
          <a:xfrm>
            <a:off x="0" y="3429000"/>
            <a:ext cx="9144000" cy="2246769"/>
          </a:xfrm>
          <a:prstGeom prst="rect">
            <a:avLst/>
          </a:prstGeom>
        </p:spPr>
        <p:txBody>
          <a:bodyPr wrap="square">
            <a:spAutoFit/>
          </a:bodyPr>
          <a:lstStyle/>
          <a:p>
            <a:r>
              <a:rPr lang="en-US" sz="2800">
                <a:solidFill>
                  <a:srgbClr val="004ED0"/>
                </a:solidFill>
                <a:latin typeface="inherit"/>
              </a:rPr>
              <a:t>from PyQt5 import QtGui</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QtWidgets import </a:t>
            </a:r>
            <a:r>
              <a:rPr lang="en-US" sz="2800">
                <a:solidFill>
                  <a:srgbClr val="002D7A"/>
                </a:solidFill>
                <a:latin typeface="inherit"/>
              </a:rPr>
              <a:t>QApplication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QMainWindow</a:t>
            </a:r>
            <a:r>
              <a:rPr lang="en-US" sz="2800">
                <a:solidFill>
                  <a:srgbClr val="333333"/>
                </a:solidFill>
                <a:latin typeface="inherit"/>
              </a:rPr>
              <a:t>,</a:t>
            </a:r>
            <a:r>
              <a:rPr lang="en-US" sz="2800">
                <a:solidFill>
                  <a:srgbClr val="006FE0"/>
                </a:solidFill>
                <a:latin typeface="inherit"/>
              </a:rPr>
              <a:t>  </a:t>
            </a:r>
          </a:p>
          <a:p>
            <a:pPr algn="r"/>
            <a:r>
              <a:rPr lang="en-US" sz="2800">
                <a:solidFill>
                  <a:srgbClr val="002D7A"/>
                </a:solidFill>
                <a:latin typeface="inherit"/>
              </a:rPr>
              <a:t>QAction</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QTextEdit</a:t>
            </a:r>
            <a:r>
              <a:rPr lang="en-US" sz="2800">
                <a:solidFill>
                  <a:srgbClr val="333333"/>
                </a:solidFill>
                <a:latin typeface="inherit"/>
              </a:rPr>
              <a:t>,</a:t>
            </a:r>
            <a:r>
              <a:rPr lang="en-US" sz="2800">
                <a:solidFill>
                  <a:srgbClr val="006FE0"/>
                </a:solidFill>
                <a:latin typeface="inherit"/>
              </a:rPr>
              <a:t> </a:t>
            </a:r>
            <a:r>
              <a:rPr lang="en-US" sz="2800">
                <a:solidFill>
                  <a:srgbClr val="002D7A"/>
                </a:solidFill>
                <a:latin typeface="inherit"/>
              </a:rPr>
              <a:t>QFontDialog</a:t>
            </a:r>
            <a:r>
              <a:rPr lang="en-US" sz="2800">
                <a:solidFill>
                  <a:srgbClr val="333333"/>
                </a:solidFill>
                <a:latin typeface="inherit"/>
              </a:rPr>
              <a:t>,</a:t>
            </a:r>
            <a:r>
              <a:rPr lang="en-US" sz="2800">
                <a:solidFill>
                  <a:srgbClr val="006FE0"/>
                </a:solidFill>
                <a:latin typeface="inherit"/>
              </a:rPr>
              <a:t> </a:t>
            </a:r>
            <a:r>
              <a:rPr lang="en-US" sz="2800">
                <a:solidFill>
                  <a:srgbClr val="004ED0"/>
                </a:solidFill>
                <a:latin typeface="inherit"/>
              </a:rPr>
              <a:t>QColorDialog</a:t>
            </a:r>
            <a:endParaRPr lang="en-US" sz="2800">
              <a:solidFill>
                <a:srgbClr val="000000"/>
              </a:solidFill>
              <a:latin typeface="Monaco"/>
            </a:endParaRPr>
          </a:p>
          <a:p>
            <a:r>
              <a:rPr lang="en-US" sz="2800">
                <a:solidFill>
                  <a:srgbClr val="004ED0"/>
                </a:solidFill>
                <a:latin typeface="inherit"/>
              </a:rPr>
              <a:t>import sys</a:t>
            </a:r>
            <a:endParaRPr lang="en-US" sz="2800">
              <a:solidFill>
                <a:srgbClr val="000000"/>
              </a:solidFill>
              <a:latin typeface="Monaco"/>
            </a:endParaRPr>
          </a:p>
          <a:p>
            <a:r>
              <a:rPr lang="en-US" sz="2800">
                <a:solidFill>
                  <a:srgbClr val="004ED0"/>
                </a:solidFill>
                <a:latin typeface="inherit"/>
              </a:rPr>
              <a:t>from </a:t>
            </a:r>
            <a:r>
              <a:rPr lang="en-US" sz="2800">
                <a:solidFill>
                  <a:srgbClr val="002D7A"/>
                </a:solidFill>
                <a:latin typeface="inherit"/>
              </a:rPr>
              <a:t>PyQt5</a:t>
            </a:r>
            <a:r>
              <a:rPr lang="en-US" sz="2800">
                <a:solidFill>
                  <a:srgbClr val="333333"/>
                </a:solidFill>
                <a:latin typeface="inherit"/>
              </a:rPr>
              <a:t>.</a:t>
            </a:r>
            <a:r>
              <a:rPr lang="en-US" sz="2800">
                <a:solidFill>
                  <a:srgbClr val="004ED0"/>
                </a:solidFill>
                <a:latin typeface="inherit"/>
              </a:rPr>
              <a:t>QtGui import </a:t>
            </a:r>
            <a:r>
              <a:rPr lang="en-US" sz="2800">
                <a:solidFill>
                  <a:srgbClr val="002D7A"/>
                </a:solidFill>
                <a:latin typeface="inherit"/>
              </a:rPr>
              <a:t>QIcon</a:t>
            </a:r>
            <a:endParaRPr lang="en-US" sz="2800" b="0" i="0">
              <a:solidFill>
                <a:srgbClr val="000000"/>
              </a:solidFill>
              <a:effectLst/>
              <a:latin typeface="Monaco"/>
            </a:endParaRPr>
          </a:p>
        </p:txBody>
      </p:sp>
    </p:spTree>
    <p:extLst>
      <p:ext uri="{BB962C8B-B14F-4D97-AF65-F5344CB8AC3E}">
        <p14:creationId xmlns:p14="http://schemas.microsoft.com/office/powerpoint/2010/main" val="377152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69203F-0050-4CFE-A5E8-BCD1D0D7EE12}"/>
              </a:ext>
            </a:extLst>
          </p:cNvPr>
          <p:cNvSpPr>
            <a:spLocks noGrp="1"/>
          </p:cNvSpPr>
          <p:nvPr>
            <p:ph idx="1"/>
          </p:nvPr>
        </p:nvSpPr>
        <p:spPr>
          <a:xfrm>
            <a:off x="9624" y="818606"/>
            <a:ext cx="2106559" cy="6020144"/>
          </a:xfrm>
        </p:spPr>
        <p:txBody>
          <a:bodyPr>
            <a:normAutofit/>
          </a:bodyPr>
          <a:lstStyle/>
          <a:p>
            <a:pPr marL="0" indent="0" algn="just">
              <a:buNone/>
            </a:pPr>
            <a:r>
              <a:rPr lang="vi-VN" sz="2400"/>
              <a:t>Sau đó, chúng ta sẽ tạo lớp Window kế thừa từ QMainWindow và thêm các yêu cầu cửa sổ vào đó, chúng ta cũng tạo một số phương thức cho menu và thanh công cụ</a:t>
            </a:r>
            <a:endParaRPr lang="en-US" sz="2400"/>
          </a:p>
        </p:txBody>
      </p:sp>
      <p:sp>
        <p:nvSpPr>
          <p:cNvPr id="4" name="Title 1">
            <a:extLst>
              <a:ext uri="{FF2B5EF4-FFF2-40B4-BE49-F238E27FC236}">
                <a16:creationId xmlns:a16="http://schemas.microsoft.com/office/drawing/2014/main" id="{1544C0DE-0B6E-4718-BC93-48AE999D7357}"/>
              </a:ext>
            </a:extLst>
          </p:cNvPr>
          <p:cNvSpPr>
            <a:spLocks noGrp="1"/>
          </p:cNvSpPr>
          <p:nvPr>
            <p:ph type="title"/>
          </p:nvPr>
        </p:nvSpPr>
        <p:spPr>
          <a:xfrm>
            <a:off x="9624" y="19250"/>
            <a:ext cx="9134375" cy="933651"/>
          </a:xfrm>
        </p:spPr>
        <p:txBody>
          <a:bodyPr>
            <a:normAutofit/>
          </a:bodyPr>
          <a:lstStyle/>
          <a:p>
            <a:r>
              <a:rPr lang="en-US"/>
              <a:t>Cách tạo QColorDialog trong PyQt5 (t.t)</a:t>
            </a:r>
          </a:p>
        </p:txBody>
      </p:sp>
      <p:sp>
        <p:nvSpPr>
          <p:cNvPr id="5" name="Rectangle 4">
            <a:extLst>
              <a:ext uri="{FF2B5EF4-FFF2-40B4-BE49-F238E27FC236}">
                <a16:creationId xmlns:a16="http://schemas.microsoft.com/office/drawing/2014/main" id="{E16DAB11-8A23-41D6-A3BC-8494855AC6B7}"/>
              </a:ext>
            </a:extLst>
          </p:cNvPr>
          <p:cNvSpPr/>
          <p:nvPr/>
        </p:nvSpPr>
        <p:spPr>
          <a:xfrm>
            <a:off x="2116182" y="793205"/>
            <a:ext cx="7027817" cy="6138091"/>
          </a:xfrm>
          <a:prstGeom prst="rect">
            <a:avLst/>
          </a:prstGeom>
        </p:spPr>
        <p:txBody>
          <a:bodyPr wrap="square">
            <a:spAutoFit/>
          </a:bodyPr>
          <a:lstStyle/>
          <a:p>
            <a:pPr>
              <a:lnSpc>
                <a:spcPct val="85000"/>
              </a:lnSpc>
            </a:pPr>
            <a:r>
              <a:rPr lang="en-US" sz="2200">
                <a:solidFill>
                  <a:srgbClr val="004ED0"/>
                </a:solidFill>
                <a:latin typeface="inherit"/>
              </a:rPr>
              <a:t>def CreateMenu</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mainMenu</a:t>
            </a:r>
            <a:r>
              <a:rPr lang="en-US" sz="2200">
                <a:solidFill>
                  <a:srgbClr val="006FE0"/>
                </a:solidFill>
                <a:latin typeface="inherit"/>
              </a:rPr>
              <a:t> =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menuBar</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fontAction</a:t>
            </a:r>
            <a:r>
              <a:rPr lang="en-US" sz="2200">
                <a:solidFill>
                  <a:srgbClr val="006FE0"/>
                </a:solidFill>
                <a:latin typeface="inherit"/>
              </a:rPr>
              <a:t> = </a:t>
            </a:r>
            <a:r>
              <a:rPr lang="en-US" sz="2200">
                <a:solidFill>
                  <a:srgbClr val="004ED0"/>
                </a:solidFill>
                <a:latin typeface="inherit"/>
              </a:rPr>
              <a:t>QAction</a:t>
            </a:r>
            <a:r>
              <a:rPr lang="en-US" sz="2200">
                <a:solidFill>
                  <a:srgbClr val="333333"/>
                </a:solidFill>
                <a:latin typeface="inherit"/>
              </a:rPr>
              <a:t>(</a:t>
            </a:r>
            <a:r>
              <a:rPr lang="en-US" sz="2200">
                <a:solidFill>
                  <a:srgbClr val="004ED0"/>
                </a:solidFill>
                <a:latin typeface="inherit"/>
              </a:rPr>
              <a:t>QIcon</a:t>
            </a:r>
            <a:r>
              <a:rPr lang="en-US" sz="2200">
                <a:solidFill>
                  <a:srgbClr val="333333"/>
                </a:solidFill>
                <a:latin typeface="inherit"/>
              </a:rPr>
              <a:t>(</a:t>
            </a:r>
            <a:r>
              <a:rPr lang="en-US" sz="2200">
                <a:solidFill>
                  <a:srgbClr val="008000"/>
                </a:solidFill>
                <a:latin typeface="inherit"/>
              </a:rPr>
              <a:t>"font.png"</a:t>
            </a:r>
            <a:r>
              <a:rPr lang="en-US" sz="2200">
                <a:solidFill>
                  <a:srgbClr val="333333"/>
                </a:solidFill>
                <a:latin typeface="inherit"/>
              </a:rPr>
              <a:t>),</a:t>
            </a:r>
            <a:r>
              <a:rPr lang="en-US" sz="2200">
                <a:solidFill>
                  <a:srgbClr val="006FE0"/>
                </a:solidFill>
                <a:latin typeface="inherit"/>
              </a:rPr>
              <a:t> </a:t>
            </a:r>
            <a:r>
              <a:rPr lang="en-US" sz="2200">
                <a:solidFill>
                  <a:srgbClr val="008000"/>
                </a:solidFill>
                <a:latin typeface="inherit"/>
              </a:rPr>
              <a:t>"Font"</a:t>
            </a:r>
            <a:r>
              <a:rPr lang="en-US" sz="2200">
                <a:solidFill>
                  <a:srgbClr val="333333"/>
                </a:solidFill>
                <a:latin typeface="inherit"/>
              </a:rPr>
              <a:t>,</a:t>
            </a: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fontAction</a:t>
            </a:r>
            <a:r>
              <a:rPr lang="en-US" sz="2200">
                <a:solidFill>
                  <a:srgbClr val="333333"/>
                </a:solidFill>
                <a:latin typeface="inherit"/>
              </a:rPr>
              <a:t>.</a:t>
            </a:r>
            <a:r>
              <a:rPr lang="en-US" sz="2200">
                <a:solidFill>
                  <a:srgbClr val="004ED0"/>
                </a:solidFill>
                <a:latin typeface="inherit"/>
              </a:rPr>
              <a:t>setShortcut</a:t>
            </a:r>
            <a:r>
              <a:rPr lang="en-US" sz="2200">
                <a:solidFill>
                  <a:srgbClr val="333333"/>
                </a:solidFill>
                <a:latin typeface="inherit"/>
              </a:rPr>
              <a:t>(</a:t>
            </a:r>
            <a:r>
              <a:rPr lang="en-US" sz="2200">
                <a:solidFill>
                  <a:srgbClr val="008000"/>
                </a:solidFill>
                <a:latin typeface="inherit"/>
              </a:rPr>
              <a:t>"Ctrl+F"</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fontAction</a:t>
            </a:r>
            <a:r>
              <a:rPr lang="en-US" sz="2200">
                <a:solidFill>
                  <a:srgbClr val="333333"/>
                </a:solidFill>
                <a:latin typeface="inherit"/>
              </a:rPr>
              <a:t>.</a:t>
            </a:r>
            <a:r>
              <a:rPr lang="en-US" sz="2200">
                <a:solidFill>
                  <a:srgbClr val="002D7A"/>
                </a:solidFill>
                <a:latin typeface="inherit"/>
              </a:rPr>
              <a:t>triggered</a:t>
            </a:r>
            <a:r>
              <a:rPr lang="en-US" sz="2200">
                <a:solidFill>
                  <a:srgbClr val="333333"/>
                </a:solidFill>
                <a:latin typeface="inherit"/>
              </a:rPr>
              <a:t>.</a:t>
            </a:r>
            <a:r>
              <a:rPr lang="en-US" sz="2200">
                <a:solidFill>
                  <a:srgbClr val="004ED0"/>
                </a:solidFill>
                <a:latin typeface="inherit"/>
              </a:rPr>
              <a:t>connect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fontDialog</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viewMenu</a:t>
            </a:r>
            <a:r>
              <a:rPr lang="en-US" sz="2200">
                <a:solidFill>
                  <a:srgbClr val="333333"/>
                </a:solidFill>
                <a:latin typeface="inherit"/>
              </a:rPr>
              <a:t>.</a:t>
            </a:r>
            <a:r>
              <a:rPr lang="en-US" sz="2200">
                <a:solidFill>
                  <a:srgbClr val="004ED0"/>
                </a:solidFill>
                <a:latin typeface="inherit"/>
              </a:rPr>
              <a:t>addAction</a:t>
            </a:r>
            <a:r>
              <a:rPr lang="en-US" sz="2200">
                <a:solidFill>
                  <a:srgbClr val="333333"/>
                </a:solidFill>
                <a:latin typeface="inherit"/>
              </a:rPr>
              <a:t>(</a:t>
            </a:r>
            <a:r>
              <a:rPr lang="en-US" sz="2200">
                <a:solidFill>
                  <a:srgbClr val="002D7A"/>
                </a:solidFill>
                <a:latin typeface="inherit"/>
              </a:rPr>
              <a:t>fontAction</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colorAction</a:t>
            </a:r>
            <a:r>
              <a:rPr lang="en-US" sz="2200">
                <a:solidFill>
                  <a:srgbClr val="006FE0"/>
                </a:solidFill>
                <a:latin typeface="inherit"/>
              </a:rPr>
              <a:t> = </a:t>
            </a:r>
            <a:r>
              <a:rPr lang="en-US" sz="2200">
                <a:solidFill>
                  <a:srgbClr val="004ED0"/>
                </a:solidFill>
                <a:latin typeface="inherit"/>
              </a:rPr>
              <a:t>QAction</a:t>
            </a:r>
            <a:r>
              <a:rPr lang="en-US" sz="2200">
                <a:solidFill>
                  <a:srgbClr val="333333"/>
                </a:solidFill>
                <a:latin typeface="inherit"/>
              </a:rPr>
              <a:t>(</a:t>
            </a:r>
            <a:r>
              <a:rPr lang="en-US" sz="2200">
                <a:solidFill>
                  <a:srgbClr val="004ED0"/>
                </a:solidFill>
                <a:latin typeface="inherit"/>
              </a:rPr>
              <a:t>QIcon</a:t>
            </a:r>
            <a:r>
              <a:rPr lang="en-US" sz="2200">
                <a:solidFill>
                  <a:srgbClr val="333333"/>
                </a:solidFill>
                <a:latin typeface="inherit"/>
              </a:rPr>
              <a:t>(</a:t>
            </a:r>
            <a:r>
              <a:rPr lang="en-US" sz="2200">
                <a:solidFill>
                  <a:srgbClr val="008000"/>
                </a:solidFill>
                <a:latin typeface="inherit"/>
              </a:rPr>
              <a:t>"color.png"</a:t>
            </a:r>
            <a:r>
              <a:rPr lang="en-US" sz="2200">
                <a:solidFill>
                  <a:srgbClr val="333333"/>
                </a:solidFill>
                <a:latin typeface="inherit"/>
              </a:rPr>
              <a:t>),</a:t>
            </a:r>
            <a:r>
              <a:rPr lang="en-US" sz="2200">
                <a:solidFill>
                  <a:srgbClr val="006FE0"/>
                </a:solidFill>
                <a:latin typeface="inherit"/>
              </a:rPr>
              <a:t> </a:t>
            </a:r>
            <a:r>
              <a:rPr lang="en-US" sz="2200">
                <a:solidFill>
                  <a:srgbClr val="008000"/>
                </a:solidFill>
                <a:latin typeface="inherit"/>
              </a:rPr>
              <a:t>"Color"</a:t>
            </a:r>
            <a:r>
              <a:rPr lang="en-US" sz="2200">
                <a:solidFill>
                  <a:srgbClr val="333333"/>
                </a:solidFill>
                <a:latin typeface="inherit"/>
              </a:rPr>
              <a:t>,</a:t>
            </a: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colorAction</a:t>
            </a:r>
            <a:r>
              <a:rPr lang="en-US" sz="2200">
                <a:solidFill>
                  <a:srgbClr val="333333"/>
                </a:solidFill>
                <a:latin typeface="inherit"/>
              </a:rPr>
              <a:t>.</a:t>
            </a:r>
            <a:r>
              <a:rPr lang="en-US" sz="2200">
                <a:solidFill>
                  <a:srgbClr val="002D7A"/>
                </a:solidFill>
                <a:latin typeface="inherit"/>
              </a:rPr>
              <a:t>triggered</a:t>
            </a:r>
            <a:r>
              <a:rPr lang="en-US" sz="2200">
                <a:solidFill>
                  <a:srgbClr val="333333"/>
                </a:solidFill>
                <a:latin typeface="inherit"/>
              </a:rPr>
              <a:t>.</a:t>
            </a:r>
            <a:r>
              <a:rPr lang="en-US" sz="2200">
                <a:solidFill>
                  <a:srgbClr val="004ED0"/>
                </a:solidFill>
                <a:latin typeface="inherit"/>
              </a:rPr>
              <a:t>connect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colorDialog</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viewMenu</a:t>
            </a:r>
            <a:r>
              <a:rPr lang="en-US" sz="2200">
                <a:solidFill>
                  <a:srgbClr val="333333"/>
                </a:solidFill>
                <a:latin typeface="inherit"/>
              </a:rPr>
              <a:t>.</a:t>
            </a:r>
            <a:r>
              <a:rPr lang="en-US" sz="2200">
                <a:solidFill>
                  <a:srgbClr val="004ED0"/>
                </a:solidFill>
                <a:latin typeface="inherit"/>
              </a:rPr>
              <a:t>addAction</a:t>
            </a:r>
            <a:r>
              <a:rPr lang="en-US" sz="2200">
                <a:solidFill>
                  <a:srgbClr val="333333"/>
                </a:solidFill>
                <a:latin typeface="inherit"/>
              </a:rPr>
              <a:t>(</a:t>
            </a:r>
            <a:r>
              <a:rPr lang="en-US" sz="2200">
                <a:solidFill>
                  <a:srgbClr val="002D7A"/>
                </a:solidFill>
                <a:latin typeface="inherit"/>
              </a:rPr>
              <a:t>colorAction</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toolbar</a:t>
            </a:r>
            <a:r>
              <a:rPr lang="en-US" sz="2200">
                <a:solidFill>
                  <a:srgbClr val="006FE0"/>
                </a:solidFill>
                <a:latin typeface="inherit"/>
              </a:rPr>
              <a:t> =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addToolBar</a:t>
            </a:r>
            <a:r>
              <a:rPr lang="en-US" sz="2200">
                <a:solidFill>
                  <a:srgbClr val="333333"/>
                </a:solidFill>
                <a:latin typeface="inherit"/>
              </a:rPr>
              <a:t>(</a:t>
            </a:r>
            <a:r>
              <a:rPr lang="en-US" sz="2200">
                <a:solidFill>
                  <a:srgbClr val="008000"/>
                </a:solidFill>
                <a:latin typeface="inherit"/>
              </a:rPr>
              <a:t>'Toolbar'</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4ED0"/>
                </a:solidFill>
                <a:latin typeface="inherit"/>
              </a:rPr>
              <a:t>def exitWindow</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close</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4ED0"/>
                </a:solidFill>
                <a:latin typeface="inherit"/>
              </a:rPr>
              <a:t>def createEditor</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textEdit</a:t>
            </a:r>
            <a:r>
              <a:rPr lang="en-US" sz="2200">
                <a:solidFill>
                  <a:srgbClr val="006FE0"/>
                </a:solidFill>
                <a:latin typeface="inherit"/>
              </a:rPr>
              <a:t> = </a:t>
            </a:r>
            <a:r>
              <a:rPr lang="en-US" sz="2200">
                <a:solidFill>
                  <a:srgbClr val="004ED0"/>
                </a:solidFill>
                <a:latin typeface="inherit"/>
              </a:rPr>
              <a:t>QTextEdit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4ED0"/>
                </a:solidFill>
                <a:latin typeface="inherit"/>
              </a:rPr>
              <a:t>setCentralWidget</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textEdit</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4ED0"/>
                </a:solidFill>
                <a:latin typeface="inherit"/>
              </a:rPr>
              <a:t>def fontDialog</a:t>
            </a:r>
            <a:r>
              <a:rPr lang="en-US" sz="2200">
                <a:solidFill>
                  <a:srgbClr val="333333"/>
                </a:solidFill>
                <a:latin typeface="inherit"/>
              </a:rPr>
              <a:t>(</a:t>
            </a:r>
            <a:r>
              <a:rPr lang="en-US" sz="2200">
                <a:solidFill>
                  <a:srgbClr val="800080"/>
                </a:solidFill>
                <a:latin typeface="inherit"/>
              </a:rPr>
              <a:t>self</a:t>
            </a:r>
            <a:r>
              <a:rPr lang="en-US" sz="2200">
                <a:solidFill>
                  <a:srgbClr val="333333"/>
                </a:solidFill>
                <a:latin typeface="inherit"/>
              </a:rPr>
              <a:t>)</a:t>
            </a:r>
            <a:r>
              <a:rPr lang="en-US" sz="2200">
                <a:solidFill>
                  <a:srgbClr val="006FE0"/>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002D7A"/>
                </a:solidFill>
                <a:latin typeface="inherit"/>
              </a:rPr>
              <a:t>font</a:t>
            </a:r>
            <a:r>
              <a:rPr lang="en-US" sz="2200">
                <a:solidFill>
                  <a:srgbClr val="333333"/>
                </a:solidFill>
                <a:latin typeface="inherit"/>
              </a:rPr>
              <a:t>,</a:t>
            </a:r>
            <a:r>
              <a:rPr lang="en-US" sz="2200">
                <a:solidFill>
                  <a:srgbClr val="006FE0"/>
                </a:solidFill>
                <a:latin typeface="inherit"/>
              </a:rPr>
              <a:t> </a:t>
            </a:r>
            <a:r>
              <a:rPr lang="en-US" sz="2200">
                <a:solidFill>
                  <a:srgbClr val="002D7A"/>
                </a:solidFill>
                <a:latin typeface="inherit"/>
              </a:rPr>
              <a:t>ok</a:t>
            </a:r>
            <a:r>
              <a:rPr lang="en-US" sz="2200">
                <a:solidFill>
                  <a:srgbClr val="006FE0"/>
                </a:solidFill>
                <a:latin typeface="inherit"/>
              </a:rPr>
              <a:t> = </a:t>
            </a:r>
            <a:r>
              <a:rPr lang="en-US" sz="2200">
                <a:solidFill>
                  <a:srgbClr val="002D7A"/>
                </a:solidFill>
                <a:latin typeface="inherit"/>
              </a:rPr>
              <a:t>QFontDialog</a:t>
            </a:r>
            <a:r>
              <a:rPr lang="en-US" sz="2200">
                <a:solidFill>
                  <a:srgbClr val="333333"/>
                </a:solidFill>
                <a:latin typeface="inherit"/>
              </a:rPr>
              <a:t>.</a:t>
            </a:r>
            <a:r>
              <a:rPr lang="en-US" sz="2200">
                <a:solidFill>
                  <a:srgbClr val="004ED0"/>
                </a:solidFill>
                <a:latin typeface="inherit"/>
              </a:rPr>
              <a:t>getFont</a:t>
            </a:r>
            <a:r>
              <a:rPr lang="en-US" sz="2200">
                <a:solidFill>
                  <a:srgbClr val="333333"/>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if</a:t>
            </a:r>
            <a:r>
              <a:rPr lang="en-US" sz="2200">
                <a:solidFill>
                  <a:srgbClr val="006FE0"/>
                </a:solidFill>
                <a:latin typeface="inherit"/>
              </a:rPr>
              <a:t> </a:t>
            </a:r>
            <a:r>
              <a:rPr lang="en-US" sz="2200">
                <a:solidFill>
                  <a:srgbClr val="002D7A"/>
                </a:solidFill>
                <a:latin typeface="inherit"/>
              </a:rPr>
              <a:t>ok</a:t>
            </a:r>
            <a:r>
              <a:rPr lang="en-US" sz="2200">
                <a:solidFill>
                  <a:srgbClr val="006FE0"/>
                </a:solidFill>
                <a:latin typeface="inherit"/>
              </a:rPr>
              <a:t>:</a:t>
            </a:r>
            <a:endParaRPr lang="en-US" sz="2200">
              <a:solidFill>
                <a:srgbClr val="000000"/>
              </a:solidFill>
              <a:latin typeface="Monaco"/>
            </a:endParaRPr>
          </a:p>
          <a:p>
            <a:pPr>
              <a:lnSpc>
                <a:spcPct val="85000"/>
              </a:lnSpc>
            </a:pPr>
            <a:r>
              <a:rPr lang="en-US" sz="2200">
                <a:solidFill>
                  <a:srgbClr val="006FE0"/>
                </a:solidFill>
                <a:latin typeface="inherit"/>
              </a:rPr>
              <a:t>            </a:t>
            </a:r>
            <a:r>
              <a:rPr lang="en-US" sz="2200">
                <a:solidFill>
                  <a:srgbClr val="800080"/>
                </a:solidFill>
                <a:latin typeface="inherit"/>
              </a:rPr>
              <a:t>self</a:t>
            </a:r>
            <a:r>
              <a:rPr lang="en-US" sz="2200">
                <a:solidFill>
                  <a:srgbClr val="333333"/>
                </a:solidFill>
                <a:latin typeface="inherit"/>
              </a:rPr>
              <a:t>.</a:t>
            </a:r>
            <a:r>
              <a:rPr lang="en-US" sz="2200">
                <a:solidFill>
                  <a:srgbClr val="002D7A"/>
                </a:solidFill>
                <a:latin typeface="inherit"/>
              </a:rPr>
              <a:t>textEdit</a:t>
            </a:r>
            <a:r>
              <a:rPr lang="en-US" sz="2200">
                <a:solidFill>
                  <a:srgbClr val="333333"/>
                </a:solidFill>
                <a:latin typeface="inherit"/>
              </a:rPr>
              <a:t>.</a:t>
            </a:r>
            <a:r>
              <a:rPr lang="en-US" sz="2200">
                <a:solidFill>
                  <a:srgbClr val="004ED0"/>
                </a:solidFill>
                <a:latin typeface="inherit"/>
              </a:rPr>
              <a:t>setFont</a:t>
            </a:r>
            <a:r>
              <a:rPr lang="en-US" sz="2200">
                <a:solidFill>
                  <a:srgbClr val="333333"/>
                </a:solidFill>
                <a:latin typeface="inherit"/>
              </a:rPr>
              <a:t>(</a:t>
            </a:r>
            <a:r>
              <a:rPr lang="en-US" sz="2200">
                <a:solidFill>
                  <a:srgbClr val="002D7A"/>
                </a:solidFill>
                <a:latin typeface="inherit"/>
              </a:rPr>
              <a:t>font</a:t>
            </a:r>
            <a:r>
              <a:rPr lang="en-US" sz="2200">
                <a:solidFill>
                  <a:srgbClr val="333333"/>
                </a:solidFill>
                <a:latin typeface="inherit"/>
              </a:rPr>
              <a:t>)</a:t>
            </a:r>
            <a:endParaRPr lang="en-US" sz="2200" b="0" i="0">
              <a:solidFill>
                <a:srgbClr val="000000"/>
              </a:solidFill>
              <a:effectLst/>
              <a:latin typeface="Monaco"/>
            </a:endParaRPr>
          </a:p>
        </p:txBody>
      </p:sp>
    </p:spTree>
    <p:extLst>
      <p:ext uri="{BB962C8B-B14F-4D97-AF65-F5344CB8AC3E}">
        <p14:creationId xmlns:p14="http://schemas.microsoft.com/office/powerpoint/2010/main" val="28889361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56374E-35C6-4E86-A6B2-EEEC20BD5B8F}"/>
              </a:ext>
            </a:extLst>
          </p:cNvPr>
          <p:cNvSpPr>
            <a:spLocks noGrp="1"/>
          </p:cNvSpPr>
          <p:nvPr>
            <p:ph idx="1"/>
          </p:nvPr>
        </p:nvSpPr>
        <p:spPr>
          <a:xfrm>
            <a:off x="9624" y="821268"/>
            <a:ext cx="9134375" cy="558800"/>
          </a:xfrm>
        </p:spPr>
        <p:txBody>
          <a:bodyPr/>
          <a:lstStyle/>
          <a:p>
            <a:r>
              <a:rPr lang="vi-VN"/>
              <a:t>Sau đó, chúng ta sẽ tạo phương thức colorDialog ()</a:t>
            </a:r>
            <a:endParaRPr lang="en-US"/>
          </a:p>
        </p:txBody>
      </p:sp>
      <p:sp>
        <p:nvSpPr>
          <p:cNvPr id="4" name="Title 1">
            <a:extLst>
              <a:ext uri="{FF2B5EF4-FFF2-40B4-BE49-F238E27FC236}">
                <a16:creationId xmlns:a16="http://schemas.microsoft.com/office/drawing/2014/main" id="{CC0C7B4D-6140-4810-ACFD-F1A837173747}"/>
              </a:ext>
            </a:extLst>
          </p:cNvPr>
          <p:cNvSpPr>
            <a:spLocks noGrp="1"/>
          </p:cNvSpPr>
          <p:nvPr>
            <p:ph type="title"/>
          </p:nvPr>
        </p:nvSpPr>
        <p:spPr>
          <a:xfrm>
            <a:off x="9624" y="19250"/>
            <a:ext cx="9134375" cy="802017"/>
          </a:xfrm>
        </p:spPr>
        <p:txBody>
          <a:bodyPr>
            <a:normAutofit/>
          </a:bodyPr>
          <a:lstStyle/>
          <a:p>
            <a:r>
              <a:rPr lang="en-US"/>
              <a:t>Cách tạo QColorDialog trong PyQt5 (t.t)</a:t>
            </a:r>
          </a:p>
        </p:txBody>
      </p:sp>
      <p:sp>
        <p:nvSpPr>
          <p:cNvPr id="5" name="Rectangle 4">
            <a:extLst>
              <a:ext uri="{FF2B5EF4-FFF2-40B4-BE49-F238E27FC236}">
                <a16:creationId xmlns:a16="http://schemas.microsoft.com/office/drawing/2014/main" id="{A5A492D8-8803-4AAC-8AC3-085B49E49165}"/>
              </a:ext>
            </a:extLst>
          </p:cNvPr>
          <p:cNvSpPr/>
          <p:nvPr/>
        </p:nvSpPr>
        <p:spPr>
          <a:xfrm>
            <a:off x="169332" y="1274001"/>
            <a:ext cx="4741335" cy="1089529"/>
          </a:xfrm>
          <a:prstGeom prst="rect">
            <a:avLst/>
          </a:prstGeom>
          <a:solidFill>
            <a:schemeClr val="accent4">
              <a:lumMod val="20000"/>
              <a:lumOff val="80000"/>
            </a:schemeClr>
          </a:solidFill>
        </p:spPr>
        <p:txBody>
          <a:bodyPr wrap="square">
            <a:spAutoFit/>
          </a:bodyPr>
          <a:lstStyle/>
          <a:p>
            <a:pPr>
              <a:lnSpc>
                <a:spcPct val="90000"/>
              </a:lnSpc>
            </a:pPr>
            <a:r>
              <a:rPr lang="en-US" sz="2400">
                <a:solidFill>
                  <a:srgbClr val="004ED0"/>
                </a:solidFill>
                <a:latin typeface="inherit"/>
              </a:rPr>
              <a:t>def colorDialog</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pPr>
              <a:lnSpc>
                <a:spcPct val="90000"/>
              </a:lnSpc>
            </a:pPr>
            <a:r>
              <a:rPr lang="en-US" sz="2400">
                <a:solidFill>
                  <a:srgbClr val="006FE0"/>
                </a:solidFill>
                <a:latin typeface="inherit"/>
              </a:rPr>
              <a:t>        </a:t>
            </a:r>
            <a:r>
              <a:rPr lang="en-US" sz="2400">
                <a:solidFill>
                  <a:srgbClr val="002D7A"/>
                </a:solidFill>
                <a:latin typeface="inherit"/>
              </a:rPr>
              <a:t>color</a:t>
            </a:r>
            <a:r>
              <a:rPr lang="en-US" sz="2400">
                <a:solidFill>
                  <a:srgbClr val="006FE0"/>
                </a:solidFill>
                <a:latin typeface="inherit"/>
              </a:rPr>
              <a:t> = </a:t>
            </a:r>
            <a:r>
              <a:rPr lang="en-US" sz="2400">
                <a:solidFill>
                  <a:srgbClr val="002D7A"/>
                </a:solidFill>
                <a:latin typeface="inherit"/>
              </a:rPr>
              <a:t>QColorDialog</a:t>
            </a:r>
            <a:r>
              <a:rPr lang="en-US" sz="2400">
                <a:solidFill>
                  <a:srgbClr val="333333"/>
                </a:solidFill>
                <a:latin typeface="inherit"/>
              </a:rPr>
              <a:t>.</a:t>
            </a:r>
            <a:r>
              <a:rPr lang="en-US" sz="2400">
                <a:solidFill>
                  <a:srgbClr val="004ED0"/>
                </a:solidFill>
                <a:latin typeface="inherit"/>
              </a:rPr>
              <a:t>getColor</a:t>
            </a:r>
            <a:r>
              <a:rPr lang="en-US" sz="2400">
                <a:solidFill>
                  <a:srgbClr val="333333"/>
                </a:solidFill>
                <a:latin typeface="inherit"/>
              </a:rPr>
              <a:t>()</a:t>
            </a:r>
            <a:endParaRPr lang="en-US" sz="2400">
              <a:solidFill>
                <a:srgbClr val="000000"/>
              </a:solidFill>
              <a:latin typeface="Monaco"/>
            </a:endParaRPr>
          </a:p>
          <a:p>
            <a:pPr>
              <a:lnSpc>
                <a:spcPct val="90000"/>
              </a:lnSpc>
            </a:pP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textEdit</a:t>
            </a:r>
            <a:r>
              <a:rPr lang="en-US" sz="2400">
                <a:solidFill>
                  <a:srgbClr val="333333"/>
                </a:solidFill>
                <a:latin typeface="inherit"/>
              </a:rPr>
              <a:t>.</a:t>
            </a:r>
            <a:r>
              <a:rPr lang="en-US" sz="2400">
                <a:solidFill>
                  <a:srgbClr val="004ED0"/>
                </a:solidFill>
                <a:latin typeface="inherit"/>
              </a:rPr>
              <a:t>setTextColor</a:t>
            </a:r>
            <a:r>
              <a:rPr lang="en-US" sz="2400">
                <a:solidFill>
                  <a:srgbClr val="333333"/>
                </a:solidFill>
                <a:latin typeface="inherit"/>
              </a:rPr>
              <a:t>(</a:t>
            </a:r>
            <a:r>
              <a:rPr lang="en-US" sz="2400">
                <a:solidFill>
                  <a:srgbClr val="002D7A"/>
                </a:solidFill>
                <a:latin typeface="inherit"/>
              </a:rPr>
              <a:t>color</a:t>
            </a:r>
            <a:r>
              <a:rPr lang="en-US" sz="2400">
                <a:solidFill>
                  <a:srgbClr val="333333"/>
                </a:solidFill>
                <a:latin typeface="inherit"/>
              </a:rPr>
              <a:t>)</a:t>
            </a:r>
            <a:endParaRPr lang="en-US" sz="2400" b="0" i="0">
              <a:solidFill>
                <a:srgbClr val="000000"/>
              </a:solidFill>
              <a:effectLst/>
              <a:latin typeface="Monaco"/>
            </a:endParaRPr>
          </a:p>
        </p:txBody>
      </p:sp>
      <p:sp>
        <p:nvSpPr>
          <p:cNvPr id="6" name="Rectangle 5">
            <a:extLst>
              <a:ext uri="{FF2B5EF4-FFF2-40B4-BE49-F238E27FC236}">
                <a16:creationId xmlns:a16="http://schemas.microsoft.com/office/drawing/2014/main" id="{FEDEED65-10F0-4C3B-9B75-66F51B438412}"/>
              </a:ext>
            </a:extLst>
          </p:cNvPr>
          <p:cNvSpPr/>
          <p:nvPr/>
        </p:nvSpPr>
        <p:spPr>
          <a:xfrm>
            <a:off x="5604932" y="2519707"/>
            <a:ext cx="3505201" cy="1200329"/>
          </a:xfrm>
          <a:prstGeom prst="rect">
            <a:avLst/>
          </a:prstGeom>
        </p:spPr>
        <p:txBody>
          <a:bodyPr wrap="square">
            <a:spAutoFit/>
          </a:bodyPr>
          <a:lstStyle/>
          <a:p>
            <a:r>
              <a:rPr lang="vi-VN" sz="2400" i="1">
                <a:solidFill>
                  <a:srgbClr val="3A3A3A"/>
                </a:solidFill>
              </a:rPr>
              <a:t>Cuối cùng, chúng ta tạo đối tượng QApplication và Window</a:t>
            </a:r>
            <a:endParaRPr lang="en-US" sz="2400" i="1"/>
          </a:p>
        </p:txBody>
      </p:sp>
      <p:sp>
        <p:nvSpPr>
          <p:cNvPr id="7" name="Rectangle 6">
            <a:extLst>
              <a:ext uri="{FF2B5EF4-FFF2-40B4-BE49-F238E27FC236}">
                <a16:creationId xmlns:a16="http://schemas.microsoft.com/office/drawing/2014/main" id="{D28BC94C-D151-4270-993E-6E1DBB2E4264}"/>
              </a:ext>
            </a:extLst>
          </p:cNvPr>
          <p:cNvSpPr/>
          <p:nvPr/>
        </p:nvSpPr>
        <p:spPr>
          <a:xfrm>
            <a:off x="5334000" y="3738128"/>
            <a:ext cx="3776133" cy="1089529"/>
          </a:xfrm>
          <a:prstGeom prst="rect">
            <a:avLst/>
          </a:prstGeom>
          <a:solidFill>
            <a:schemeClr val="accent5">
              <a:lumMod val="20000"/>
              <a:lumOff val="80000"/>
            </a:schemeClr>
          </a:solidFill>
        </p:spPr>
        <p:txBody>
          <a:bodyPr wrap="square">
            <a:spAutoFit/>
          </a:bodyPr>
          <a:lstStyle/>
          <a:p>
            <a:pPr>
              <a:lnSpc>
                <a:spcPct val="90000"/>
              </a:lnSpc>
            </a:pPr>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pPr>
              <a:lnSpc>
                <a:spcPct val="90000"/>
              </a:lnSpc>
            </a:pPr>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pPr>
              <a:lnSpc>
                <a:spcPct val="90000"/>
              </a:lnSpc>
            </a:pPr>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2050" name="Picture 2">
            <a:extLst>
              <a:ext uri="{FF2B5EF4-FFF2-40B4-BE49-F238E27FC236}">
                <a16:creationId xmlns:a16="http://schemas.microsoft.com/office/drawing/2014/main" id="{2B801B95-3600-4B7F-A315-F28F18EEF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67" y="2519707"/>
            <a:ext cx="5219994" cy="4299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158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AD8E-CBEC-419F-B7ED-ED8ADDBB6A20}"/>
              </a:ext>
            </a:extLst>
          </p:cNvPr>
          <p:cNvSpPr>
            <a:spLocks noGrp="1"/>
          </p:cNvSpPr>
          <p:nvPr>
            <p:ph type="title"/>
          </p:nvPr>
        </p:nvSpPr>
        <p:spPr>
          <a:xfrm>
            <a:off x="9624" y="19250"/>
            <a:ext cx="9134375" cy="802017"/>
          </a:xfrm>
        </p:spPr>
        <p:txBody>
          <a:bodyPr>
            <a:normAutofit/>
          </a:bodyPr>
          <a:lstStyle/>
          <a:p>
            <a:r>
              <a:rPr lang="en-US"/>
              <a:t>Tạo QPrintDialog trong PyQt5</a:t>
            </a:r>
          </a:p>
        </p:txBody>
      </p:sp>
      <p:sp>
        <p:nvSpPr>
          <p:cNvPr id="3" name="Content Placeholder 2">
            <a:extLst>
              <a:ext uri="{FF2B5EF4-FFF2-40B4-BE49-F238E27FC236}">
                <a16:creationId xmlns:a16="http://schemas.microsoft.com/office/drawing/2014/main" id="{77EFFD8D-D7FD-4DD9-B016-2E662E8B01E9}"/>
              </a:ext>
            </a:extLst>
          </p:cNvPr>
          <p:cNvSpPr>
            <a:spLocks noGrp="1"/>
          </p:cNvSpPr>
          <p:nvPr>
            <p:ph idx="1"/>
          </p:nvPr>
        </p:nvSpPr>
        <p:spPr>
          <a:xfrm>
            <a:off x="9624" y="821268"/>
            <a:ext cx="9134375" cy="1507066"/>
          </a:xfrm>
        </p:spPr>
        <p:txBody>
          <a:bodyPr>
            <a:normAutofit/>
          </a:bodyPr>
          <a:lstStyle/>
          <a:p>
            <a:pPr marL="0" indent="0" algn="just">
              <a:buNone/>
            </a:pPr>
            <a:r>
              <a:rPr lang="en-US" sz="3200"/>
              <a:t>Phần này </a:t>
            </a:r>
            <a:r>
              <a:rPr lang="vi-VN" sz="3200"/>
              <a:t>chúng t</a:t>
            </a:r>
            <a:r>
              <a:rPr lang="en-US" sz="3200"/>
              <a:t>a</a:t>
            </a:r>
            <a:r>
              <a:rPr lang="vi-VN" sz="3200"/>
              <a:t> sử dụng lớp QPrintDialog và cả lớp QPrinter, chúng t</a:t>
            </a:r>
            <a:r>
              <a:rPr lang="en-US" sz="3200"/>
              <a:t>a</a:t>
            </a:r>
            <a:r>
              <a:rPr lang="vi-VN" sz="3200"/>
              <a:t> cũng cần </a:t>
            </a:r>
            <a:r>
              <a:rPr lang="en-US" sz="3200"/>
              <a:t>import </a:t>
            </a:r>
            <a:r>
              <a:rPr lang="vi-VN" sz="3200"/>
              <a:t>từ lớp QPrintSupport.</a:t>
            </a:r>
          </a:p>
        </p:txBody>
      </p:sp>
      <p:graphicFrame>
        <p:nvGraphicFramePr>
          <p:cNvPr id="4" name="Table 3">
            <a:extLst>
              <a:ext uri="{FF2B5EF4-FFF2-40B4-BE49-F238E27FC236}">
                <a16:creationId xmlns:a16="http://schemas.microsoft.com/office/drawing/2014/main" id="{E9602376-5D97-46B4-A7B1-5D2E0DB5EF05}"/>
              </a:ext>
            </a:extLst>
          </p:cNvPr>
          <p:cNvGraphicFramePr>
            <a:graphicFrameLocks noGrp="1"/>
          </p:cNvGraphicFramePr>
          <p:nvPr>
            <p:extLst>
              <p:ext uri="{D42A27DB-BD31-4B8C-83A1-F6EECF244321}">
                <p14:modId xmlns:p14="http://schemas.microsoft.com/office/powerpoint/2010/main" val="240881449"/>
              </p:ext>
            </p:extLst>
          </p:nvPr>
        </p:nvGraphicFramePr>
        <p:xfrm>
          <a:off x="0" y="2692399"/>
          <a:ext cx="9134376" cy="2286000"/>
        </p:xfrm>
        <a:graphic>
          <a:graphicData uri="http://schemas.openxmlformats.org/drawingml/2006/table">
            <a:tbl>
              <a:tblPr/>
              <a:tblGrid>
                <a:gridCol w="697335">
                  <a:extLst>
                    <a:ext uri="{9D8B030D-6E8A-4147-A177-3AD203B41FA5}">
                      <a16:colId xmlns:a16="http://schemas.microsoft.com/office/drawing/2014/main" val="1931531738"/>
                    </a:ext>
                  </a:extLst>
                </a:gridCol>
                <a:gridCol w="8437041">
                  <a:extLst>
                    <a:ext uri="{9D8B030D-6E8A-4147-A177-3AD203B41FA5}">
                      <a16:colId xmlns:a16="http://schemas.microsoft.com/office/drawing/2014/main" val="1518923807"/>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p>
                      <a:pPr algn="ctr" fontAlgn="t"/>
                      <a:r>
                        <a:rPr lang="en-US" sz="2400" b="0">
                          <a:solidFill>
                            <a:srgbClr val="5499DE"/>
                          </a:solidFill>
                          <a:effectLst/>
                          <a:latin typeface="inherit"/>
                        </a:rPr>
                        <a:t>5</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QMainWindow</a:t>
                      </a:r>
                      <a:r>
                        <a:rPr lang="en-US" sz="2400" b="0">
                          <a:solidFill>
                            <a:srgbClr val="333333"/>
                          </a:solidFill>
                          <a:effectLst/>
                          <a:latin typeface="inherit"/>
                        </a:rPr>
                        <a:t>, </a:t>
                      </a:r>
                    </a:p>
                    <a:p>
                      <a:pPr algn="r" fontAlgn="t"/>
                      <a:r>
                        <a:rPr lang="en-US" sz="2400" b="0">
                          <a:solidFill>
                            <a:srgbClr val="002D7A"/>
                          </a:solidFill>
                          <a:effectLst/>
                          <a:latin typeface="inherit"/>
                        </a:rPr>
                        <a:t>QAction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QTextEdit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QFontDialog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QColorDialog</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QIcon</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QtPrintSupport import </a:t>
                      </a:r>
                      <a:r>
                        <a:rPr lang="en-US" sz="2400" b="0">
                          <a:solidFill>
                            <a:srgbClr val="002D7A"/>
                          </a:solidFill>
                          <a:effectLst/>
                          <a:latin typeface="inherit"/>
                        </a:rPr>
                        <a:t>QPrintDialog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QPrinter</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167628189"/>
                  </a:ext>
                </a:extLst>
              </a:tr>
            </a:tbl>
          </a:graphicData>
        </a:graphic>
      </p:graphicFrame>
    </p:spTree>
    <p:extLst>
      <p:ext uri="{BB962C8B-B14F-4D97-AF65-F5344CB8AC3E}">
        <p14:creationId xmlns:p14="http://schemas.microsoft.com/office/powerpoint/2010/main" val="16299096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DC0CC-BAAE-4E7A-BD26-30BE77CF9935}"/>
              </a:ext>
            </a:extLst>
          </p:cNvPr>
          <p:cNvSpPr>
            <a:spLocks noGrp="1"/>
          </p:cNvSpPr>
          <p:nvPr>
            <p:ph idx="1"/>
          </p:nvPr>
        </p:nvSpPr>
        <p:spPr>
          <a:xfrm>
            <a:off x="9624" y="821267"/>
            <a:ext cx="3850020" cy="2607733"/>
          </a:xfrm>
        </p:spPr>
        <p:txBody>
          <a:bodyPr>
            <a:normAutofit/>
          </a:bodyPr>
          <a:lstStyle/>
          <a:p>
            <a:pPr marL="0" indent="0">
              <a:buNone/>
            </a:pPr>
            <a:r>
              <a:rPr lang="vi-VN" sz="2000"/>
              <a:t>Bây giờ chúng tôi tạo </a:t>
            </a:r>
            <a:r>
              <a:rPr lang="en-US" sz="2000"/>
              <a:t>c</a:t>
            </a:r>
            <a:r>
              <a:rPr lang="vi-VN" sz="2000"/>
              <a:t>ửa sổ chính </a:t>
            </a:r>
            <a:r>
              <a:rPr lang="en-US" sz="2000"/>
              <a:t>(Window) </a:t>
            </a:r>
            <a:r>
              <a:rPr lang="vi-VN" sz="2000"/>
              <a:t>kế thừa từ QMainWindow và tạo phương thức </a:t>
            </a:r>
            <a:r>
              <a:rPr lang="en-US" sz="2000"/>
              <a:t>CreateMenu </a:t>
            </a:r>
            <a:r>
              <a:rPr lang="vi-VN" sz="2000"/>
              <a:t> trong phương thức này, chúng t</a:t>
            </a:r>
            <a:r>
              <a:rPr lang="en-US" sz="2000"/>
              <a:t>a</a:t>
            </a:r>
            <a:r>
              <a:rPr lang="vi-VN" sz="2000"/>
              <a:t> thêm menuitem bằng thanh công cụ và tạo một số phương thức cho QFontDialog, QColorDialog và createdEditor</a:t>
            </a:r>
            <a:endParaRPr lang="en-US" sz="2000"/>
          </a:p>
        </p:txBody>
      </p:sp>
      <p:sp>
        <p:nvSpPr>
          <p:cNvPr id="4" name="Title 1">
            <a:extLst>
              <a:ext uri="{FF2B5EF4-FFF2-40B4-BE49-F238E27FC236}">
                <a16:creationId xmlns:a16="http://schemas.microsoft.com/office/drawing/2014/main" id="{55263343-36FD-4EDC-8D39-C2830F206162}"/>
              </a:ext>
            </a:extLst>
          </p:cNvPr>
          <p:cNvSpPr>
            <a:spLocks noGrp="1"/>
          </p:cNvSpPr>
          <p:nvPr>
            <p:ph type="title"/>
          </p:nvPr>
        </p:nvSpPr>
        <p:spPr>
          <a:xfrm>
            <a:off x="9624" y="19250"/>
            <a:ext cx="9134375" cy="607283"/>
          </a:xfrm>
        </p:spPr>
        <p:txBody>
          <a:bodyPr>
            <a:normAutofit fontScale="90000"/>
          </a:bodyPr>
          <a:lstStyle/>
          <a:p>
            <a:r>
              <a:rPr lang="en-US"/>
              <a:t>Tạo QPrintDialog trong PyQt5 (t.t)</a:t>
            </a:r>
          </a:p>
        </p:txBody>
      </p:sp>
      <p:sp>
        <p:nvSpPr>
          <p:cNvPr id="7" name="Rectangle 6">
            <a:extLst>
              <a:ext uri="{FF2B5EF4-FFF2-40B4-BE49-F238E27FC236}">
                <a16:creationId xmlns:a16="http://schemas.microsoft.com/office/drawing/2014/main" id="{C5726C38-8438-42F4-B4A0-F7FEEDD4970E}"/>
              </a:ext>
            </a:extLst>
          </p:cNvPr>
          <p:cNvSpPr/>
          <p:nvPr/>
        </p:nvSpPr>
        <p:spPr>
          <a:xfrm>
            <a:off x="1" y="3421570"/>
            <a:ext cx="3859644" cy="3416320"/>
          </a:xfrm>
          <a:prstGeom prst="rect">
            <a:avLst/>
          </a:prstGeom>
        </p:spPr>
        <p:txBody>
          <a:bodyPr wrap="square">
            <a:spAutoFit/>
          </a:bodyPr>
          <a:lstStyle/>
          <a:p>
            <a:r>
              <a:rPr lang="en-US">
                <a:solidFill>
                  <a:srgbClr val="006FE0"/>
                </a:solidFill>
                <a:latin typeface="inherit"/>
              </a:rPr>
              <a:t>  </a:t>
            </a:r>
            <a:r>
              <a:rPr lang="en-US">
                <a:solidFill>
                  <a:srgbClr val="006FE0"/>
                </a:solidFill>
                <a:highlight>
                  <a:srgbClr val="FFFF00"/>
                </a:highlight>
                <a:latin typeface="inherit"/>
              </a:rPr>
              <a:t>  </a:t>
            </a:r>
            <a:r>
              <a:rPr lang="en-US">
                <a:solidFill>
                  <a:srgbClr val="004ED0"/>
                </a:solidFill>
                <a:highlight>
                  <a:srgbClr val="FFFF00"/>
                </a:highlight>
                <a:latin typeface="inherit"/>
              </a:rPr>
              <a:t>def exitWindow</a:t>
            </a:r>
            <a:r>
              <a:rPr lang="en-US">
                <a:solidFill>
                  <a:srgbClr val="333333"/>
                </a:solidFill>
                <a:highlight>
                  <a:srgbClr val="FFFF00"/>
                </a:highlight>
                <a:latin typeface="inherit"/>
              </a:rPr>
              <a:t>(</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6FE0"/>
                </a:solidFill>
                <a:highlight>
                  <a:srgbClr val="FFFF00"/>
                </a:highlight>
                <a:latin typeface="inherit"/>
              </a:rPr>
              <a:t>:</a:t>
            </a:r>
            <a:endParaRPr lang="en-US">
              <a:solidFill>
                <a:srgbClr val="000000"/>
              </a:solidFill>
              <a:highlight>
                <a:srgbClr val="FFFF00"/>
              </a:highlight>
              <a:latin typeface="Monaco"/>
            </a:endParaRPr>
          </a:p>
          <a:p>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4ED0"/>
                </a:solidFill>
                <a:highlight>
                  <a:srgbClr val="FFFF00"/>
                </a:highlight>
                <a:latin typeface="inherit"/>
              </a:rPr>
              <a:t>close</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r>
              <a:rPr lang="en-US">
                <a:solidFill>
                  <a:srgbClr val="006FE0"/>
                </a:solidFill>
                <a:latin typeface="inherit"/>
              </a:rPr>
              <a:t>    </a:t>
            </a:r>
            <a:r>
              <a:rPr lang="en-US">
                <a:solidFill>
                  <a:srgbClr val="004ED0"/>
                </a:solidFill>
                <a:highlight>
                  <a:srgbClr val="00FF00"/>
                </a:highlight>
                <a:latin typeface="inherit"/>
              </a:rPr>
              <a:t>def createEditor</a:t>
            </a:r>
            <a:r>
              <a:rPr lang="en-US">
                <a:solidFill>
                  <a:srgbClr val="333333"/>
                </a:solidFill>
                <a:highlight>
                  <a:srgbClr val="00FF00"/>
                </a:highlight>
                <a:latin typeface="inherit"/>
              </a:rPr>
              <a:t>(</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6FE0"/>
                </a:solidFill>
                <a:highlight>
                  <a:srgbClr val="00FF00"/>
                </a:highlight>
                <a:latin typeface="inherit"/>
              </a:rPr>
              <a:t>:</a:t>
            </a:r>
            <a:endParaRPr lang="en-US">
              <a:solidFill>
                <a:srgbClr val="000000"/>
              </a:solidFill>
              <a:highlight>
                <a:srgbClr val="00FF00"/>
              </a:highlight>
              <a:latin typeface="Monaco"/>
            </a:endParaRPr>
          </a:p>
          <a:p>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textEdit</a:t>
            </a:r>
            <a:r>
              <a:rPr lang="en-US">
                <a:solidFill>
                  <a:srgbClr val="006FE0"/>
                </a:solidFill>
                <a:highlight>
                  <a:srgbClr val="00FF00"/>
                </a:highlight>
                <a:latin typeface="inherit"/>
              </a:rPr>
              <a:t> = </a:t>
            </a:r>
            <a:r>
              <a:rPr lang="en-US">
                <a:solidFill>
                  <a:srgbClr val="004ED0"/>
                </a:solidFill>
                <a:highlight>
                  <a:srgbClr val="00FF00"/>
                </a:highlight>
                <a:latin typeface="inherit"/>
              </a:rPr>
              <a:t>QTextEdit</a:t>
            </a:r>
            <a:r>
              <a:rPr lang="en-US">
                <a:solidFill>
                  <a:srgbClr val="333333"/>
                </a:solidFill>
                <a:highlight>
                  <a:srgbClr val="00FF00"/>
                </a:highlight>
                <a:latin typeface="inherit"/>
              </a:rPr>
              <a:t>(</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endParaRPr lang="en-US">
              <a:solidFill>
                <a:srgbClr val="000000"/>
              </a:solidFill>
              <a:highlight>
                <a:srgbClr val="00FF00"/>
              </a:highlight>
              <a:latin typeface="Monaco"/>
            </a:endParaRPr>
          </a:p>
          <a:p>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4ED0"/>
                </a:solidFill>
                <a:highlight>
                  <a:srgbClr val="00FF00"/>
                </a:highlight>
                <a:latin typeface="inherit"/>
              </a:rPr>
              <a:t>setCentralWidget</a:t>
            </a:r>
            <a:r>
              <a:rPr lang="en-US">
                <a:solidFill>
                  <a:srgbClr val="333333"/>
                </a:solidFill>
                <a:highlight>
                  <a:srgbClr val="00FF00"/>
                </a:highlight>
                <a:latin typeface="inherit"/>
              </a:rPr>
              <a:t>(</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textEdit</a:t>
            </a:r>
            <a:r>
              <a:rPr lang="en-US">
                <a:solidFill>
                  <a:srgbClr val="333333"/>
                </a:solidFill>
                <a:highlight>
                  <a:srgbClr val="00FF00"/>
                </a:highlight>
                <a:latin typeface="inherit"/>
              </a:rPr>
              <a:t>)</a:t>
            </a:r>
            <a:endParaRPr lang="en-US">
              <a:solidFill>
                <a:srgbClr val="000000"/>
              </a:solidFill>
              <a:highlight>
                <a:srgbClr val="00FF00"/>
              </a:highlight>
              <a:latin typeface="Monaco"/>
            </a:endParaRPr>
          </a:p>
          <a:p>
            <a:r>
              <a:rPr lang="en-US">
                <a:solidFill>
                  <a:srgbClr val="006FE0"/>
                </a:solidFill>
                <a:latin typeface="inherit"/>
              </a:rPr>
              <a:t>   </a:t>
            </a:r>
            <a:r>
              <a:rPr lang="en-US">
                <a:solidFill>
                  <a:srgbClr val="006FE0"/>
                </a:solidFill>
                <a:highlight>
                  <a:srgbClr val="00FFFF"/>
                </a:highlight>
                <a:latin typeface="inherit"/>
              </a:rPr>
              <a:t> </a:t>
            </a:r>
            <a:r>
              <a:rPr lang="en-US">
                <a:solidFill>
                  <a:srgbClr val="004ED0"/>
                </a:solidFill>
                <a:highlight>
                  <a:srgbClr val="00FFFF"/>
                </a:highlight>
                <a:latin typeface="inherit"/>
              </a:rPr>
              <a:t>def fontDialog</a:t>
            </a:r>
            <a:r>
              <a:rPr lang="en-US">
                <a:solidFill>
                  <a:srgbClr val="333333"/>
                </a:solidFill>
                <a:highlight>
                  <a:srgbClr val="00FFFF"/>
                </a:highlight>
                <a:latin typeface="inherit"/>
              </a:rPr>
              <a:t>(</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6FE0"/>
                </a:solidFill>
                <a:highlight>
                  <a:srgbClr val="00FFFF"/>
                </a:highlight>
                <a:latin typeface="inherit"/>
              </a:rPr>
              <a:t>:</a:t>
            </a:r>
            <a:endParaRPr lang="en-US">
              <a:solidFill>
                <a:srgbClr val="000000"/>
              </a:solidFill>
              <a:highlight>
                <a:srgbClr val="00FFFF"/>
              </a:highlight>
              <a:latin typeface="Monaco"/>
            </a:endParaRPr>
          </a:p>
          <a:p>
            <a:r>
              <a:rPr lang="en-US">
                <a:solidFill>
                  <a:srgbClr val="006FE0"/>
                </a:solidFill>
                <a:highlight>
                  <a:srgbClr val="00FFFF"/>
                </a:highlight>
                <a:latin typeface="inherit"/>
              </a:rPr>
              <a:t>        </a:t>
            </a:r>
            <a:r>
              <a:rPr lang="en-US">
                <a:solidFill>
                  <a:srgbClr val="002D7A"/>
                </a:solidFill>
                <a:highlight>
                  <a:srgbClr val="00FFFF"/>
                </a:highlight>
                <a:latin typeface="inherit"/>
              </a:rPr>
              <a:t>font</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2D7A"/>
                </a:solidFill>
                <a:highlight>
                  <a:srgbClr val="00FFFF"/>
                </a:highlight>
                <a:latin typeface="inherit"/>
              </a:rPr>
              <a:t>ok</a:t>
            </a:r>
            <a:r>
              <a:rPr lang="en-US">
                <a:solidFill>
                  <a:srgbClr val="006FE0"/>
                </a:solidFill>
                <a:highlight>
                  <a:srgbClr val="00FFFF"/>
                </a:highlight>
                <a:latin typeface="inherit"/>
              </a:rPr>
              <a:t> = </a:t>
            </a:r>
            <a:r>
              <a:rPr lang="en-US">
                <a:solidFill>
                  <a:srgbClr val="002D7A"/>
                </a:solidFill>
                <a:highlight>
                  <a:srgbClr val="00FFFF"/>
                </a:highlight>
                <a:latin typeface="inherit"/>
              </a:rPr>
              <a:t>QFontDialog</a:t>
            </a:r>
            <a:r>
              <a:rPr lang="en-US">
                <a:solidFill>
                  <a:srgbClr val="333333"/>
                </a:solidFill>
                <a:highlight>
                  <a:srgbClr val="00FFFF"/>
                </a:highlight>
                <a:latin typeface="inherit"/>
              </a:rPr>
              <a:t>.</a:t>
            </a:r>
            <a:r>
              <a:rPr lang="en-US">
                <a:solidFill>
                  <a:srgbClr val="004ED0"/>
                </a:solidFill>
                <a:highlight>
                  <a:srgbClr val="00FFFF"/>
                </a:highlight>
                <a:latin typeface="inherit"/>
              </a:rPr>
              <a:t>getFont</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r>
              <a:rPr lang="en-US">
                <a:solidFill>
                  <a:srgbClr val="006FE0"/>
                </a:solidFill>
                <a:highlight>
                  <a:srgbClr val="00FFFF"/>
                </a:highlight>
                <a:latin typeface="inherit"/>
              </a:rPr>
              <a:t>        </a:t>
            </a:r>
            <a:r>
              <a:rPr lang="en-US">
                <a:solidFill>
                  <a:srgbClr val="800080"/>
                </a:solidFill>
                <a:highlight>
                  <a:srgbClr val="00FFFF"/>
                </a:highlight>
                <a:latin typeface="inherit"/>
              </a:rPr>
              <a:t>if</a:t>
            </a:r>
            <a:r>
              <a:rPr lang="en-US">
                <a:solidFill>
                  <a:srgbClr val="006FE0"/>
                </a:solidFill>
                <a:highlight>
                  <a:srgbClr val="00FFFF"/>
                </a:highlight>
                <a:latin typeface="inherit"/>
              </a:rPr>
              <a:t> </a:t>
            </a:r>
            <a:r>
              <a:rPr lang="en-US">
                <a:solidFill>
                  <a:srgbClr val="002D7A"/>
                </a:solidFill>
                <a:highlight>
                  <a:srgbClr val="00FFFF"/>
                </a:highlight>
                <a:latin typeface="inherit"/>
              </a:rPr>
              <a:t>ok</a:t>
            </a:r>
            <a:r>
              <a:rPr lang="en-US">
                <a:solidFill>
                  <a:srgbClr val="006FE0"/>
                </a:solidFill>
                <a:highlight>
                  <a:srgbClr val="00FFFF"/>
                </a:highlight>
                <a:latin typeface="inherit"/>
              </a:rPr>
              <a:t>:</a:t>
            </a:r>
            <a:endParaRPr lang="en-US">
              <a:solidFill>
                <a:srgbClr val="000000"/>
              </a:solidFill>
              <a:highlight>
                <a:srgbClr val="00FFFF"/>
              </a:highlight>
              <a:latin typeface="Monaco"/>
            </a:endParaRPr>
          </a:p>
          <a:p>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textEdit</a:t>
            </a:r>
            <a:r>
              <a:rPr lang="en-US">
                <a:solidFill>
                  <a:srgbClr val="333333"/>
                </a:solidFill>
                <a:highlight>
                  <a:srgbClr val="00FFFF"/>
                </a:highlight>
                <a:latin typeface="inherit"/>
              </a:rPr>
              <a:t>.</a:t>
            </a:r>
            <a:r>
              <a:rPr lang="en-US">
                <a:solidFill>
                  <a:srgbClr val="004ED0"/>
                </a:solidFill>
                <a:highlight>
                  <a:srgbClr val="00FFFF"/>
                </a:highlight>
                <a:latin typeface="inherit"/>
              </a:rPr>
              <a:t>setFont</a:t>
            </a:r>
            <a:r>
              <a:rPr lang="en-US">
                <a:solidFill>
                  <a:srgbClr val="333333"/>
                </a:solidFill>
                <a:highlight>
                  <a:srgbClr val="00FFFF"/>
                </a:highlight>
                <a:latin typeface="inherit"/>
              </a:rPr>
              <a:t>(</a:t>
            </a:r>
            <a:r>
              <a:rPr lang="en-US">
                <a:solidFill>
                  <a:srgbClr val="002D7A"/>
                </a:solidFill>
                <a:highlight>
                  <a:srgbClr val="00FFFF"/>
                </a:highlight>
                <a:latin typeface="inherit"/>
              </a:rPr>
              <a:t>font</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r>
              <a:rPr lang="en-US">
                <a:solidFill>
                  <a:srgbClr val="006FE0"/>
                </a:solidFill>
                <a:latin typeface="inherit"/>
              </a:rPr>
              <a:t>    </a:t>
            </a:r>
            <a:r>
              <a:rPr lang="en-US">
                <a:solidFill>
                  <a:srgbClr val="004ED0"/>
                </a:solidFill>
                <a:highlight>
                  <a:srgbClr val="FF00FF"/>
                </a:highlight>
                <a:latin typeface="inherit"/>
              </a:rPr>
              <a:t>def colorDialog</a:t>
            </a:r>
            <a:r>
              <a:rPr lang="en-US">
                <a:solidFill>
                  <a:srgbClr val="333333"/>
                </a:solidFill>
                <a:highlight>
                  <a:srgbClr val="FF00FF"/>
                </a:highlight>
                <a:latin typeface="inherit"/>
              </a:rPr>
              <a:t>(</a:t>
            </a:r>
            <a:r>
              <a:rPr lang="en-US">
                <a:solidFill>
                  <a:srgbClr val="800080"/>
                </a:solidFill>
                <a:highlight>
                  <a:srgbClr val="FF00FF"/>
                </a:highlight>
                <a:latin typeface="inherit"/>
              </a:rPr>
              <a:t>self</a:t>
            </a:r>
            <a:r>
              <a:rPr lang="en-US">
                <a:solidFill>
                  <a:srgbClr val="333333"/>
                </a:solidFill>
                <a:highlight>
                  <a:srgbClr val="FF00FF"/>
                </a:highlight>
                <a:latin typeface="inherit"/>
              </a:rPr>
              <a:t>)</a:t>
            </a:r>
            <a:r>
              <a:rPr lang="en-US">
                <a:solidFill>
                  <a:srgbClr val="006FE0"/>
                </a:solidFill>
                <a:highlight>
                  <a:srgbClr val="FF00FF"/>
                </a:highlight>
                <a:latin typeface="inherit"/>
              </a:rPr>
              <a:t>:</a:t>
            </a:r>
            <a:endParaRPr lang="en-US">
              <a:solidFill>
                <a:srgbClr val="000000"/>
              </a:solidFill>
              <a:highlight>
                <a:srgbClr val="FF00FF"/>
              </a:highlight>
              <a:latin typeface="Monaco"/>
            </a:endParaRPr>
          </a:p>
          <a:p>
            <a:r>
              <a:rPr lang="en-US">
                <a:solidFill>
                  <a:srgbClr val="006FE0"/>
                </a:solidFill>
                <a:highlight>
                  <a:srgbClr val="FF00FF"/>
                </a:highlight>
                <a:latin typeface="inherit"/>
              </a:rPr>
              <a:t>        </a:t>
            </a:r>
            <a:r>
              <a:rPr lang="en-US">
                <a:solidFill>
                  <a:srgbClr val="002D7A"/>
                </a:solidFill>
                <a:highlight>
                  <a:srgbClr val="FF00FF"/>
                </a:highlight>
                <a:latin typeface="inherit"/>
              </a:rPr>
              <a:t>color</a:t>
            </a:r>
            <a:r>
              <a:rPr lang="en-US">
                <a:solidFill>
                  <a:srgbClr val="006FE0"/>
                </a:solidFill>
                <a:highlight>
                  <a:srgbClr val="FF00FF"/>
                </a:highlight>
                <a:latin typeface="inherit"/>
              </a:rPr>
              <a:t> = </a:t>
            </a:r>
            <a:r>
              <a:rPr lang="en-US">
                <a:solidFill>
                  <a:srgbClr val="002D7A"/>
                </a:solidFill>
                <a:highlight>
                  <a:srgbClr val="FF00FF"/>
                </a:highlight>
                <a:latin typeface="inherit"/>
              </a:rPr>
              <a:t>QColorDialog</a:t>
            </a:r>
            <a:r>
              <a:rPr lang="en-US">
                <a:solidFill>
                  <a:srgbClr val="333333"/>
                </a:solidFill>
                <a:highlight>
                  <a:srgbClr val="FF00FF"/>
                </a:highlight>
                <a:latin typeface="inherit"/>
              </a:rPr>
              <a:t>.</a:t>
            </a:r>
            <a:r>
              <a:rPr lang="en-US">
                <a:solidFill>
                  <a:srgbClr val="004ED0"/>
                </a:solidFill>
                <a:highlight>
                  <a:srgbClr val="FF00FF"/>
                </a:highlight>
                <a:latin typeface="inherit"/>
              </a:rPr>
              <a:t>getColor</a:t>
            </a:r>
            <a:r>
              <a:rPr lang="en-US">
                <a:solidFill>
                  <a:srgbClr val="333333"/>
                </a:solidFill>
                <a:highlight>
                  <a:srgbClr val="FF00FF"/>
                </a:highlight>
                <a:latin typeface="inherit"/>
              </a:rPr>
              <a:t>()</a:t>
            </a:r>
            <a:endParaRPr lang="en-US">
              <a:solidFill>
                <a:srgbClr val="000000"/>
              </a:solidFill>
              <a:highlight>
                <a:srgbClr val="FF00FF"/>
              </a:highlight>
              <a:latin typeface="Monaco"/>
            </a:endParaRPr>
          </a:p>
          <a:p>
            <a:r>
              <a:rPr lang="en-US">
                <a:solidFill>
                  <a:srgbClr val="006FE0"/>
                </a:solidFill>
                <a:highlight>
                  <a:srgbClr val="FF00FF"/>
                </a:highlight>
                <a:latin typeface="inherit"/>
              </a:rPr>
              <a:t>        </a:t>
            </a:r>
            <a:r>
              <a:rPr lang="en-US">
                <a:solidFill>
                  <a:srgbClr val="800080"/>
                </a:solidFill>
                <a:highlight>
                  <a:srgbClr val="FF00FF"/>
                </a:highlight>
                <a:latin typeface="inherit"/>
              </a:rPr>
              <a:t>self</a:t>
            </a:r>
            <a:r>
              <a:rPr lang="en-US">
                <a:solidFill>
                  <a:srgbClr val="333333"/>
                </a:solidFill>
                <a:highlight>
                  <a:srgbClr val="FF00FF"/>
                </a:highlight>
                <a:latin typeface="inherit"/>
              </a:rPr>
              <a:t>.</a:t>
            </a:r>
            <a:r>
              <a:rPr lang="en-US">
                <a:solidFill>
                  <a:srgbClr val="002D7A"/>
                </a:solidFill>
                <a:highlight>
                  <a:srgbClr val="FF00FF"/>
                </a:highlight>
                <a:latin typeface="inherit"/>
              </a:rPr>
              <a:t>textEdit</a:t>
            </a:r>
            <a:r>
              <a:rPr lang="en-US">
                <a:solidFill>
                  <a:srgbClr val="333333"/>
                </a:solidFill>
                <a:highlight>
                  <a:srgbClr val="FF00FF"/>
                </a:highlight>
                <a:latin typeface="inherit"/>
              </a:rPr>
              <a:t>.</a:t>
            </a:r>
            <a:r>
              <a:rPr lang="en-US">
                <a:solidFill>
                  <a:srgbClr val="004ED0"/>
                </a:solidFill>
                <a:highlight>
                  <a:srgbClr val="FF00FF"/>
                </a:highlight>
                <a:latin typeface="inherit"/>
              </a:rPr>
              <a:t>setTextColor</a:t>
            </a:r>
            <a:r>
              <a:rPr lang="en-US">
                <a:solidFill>
                  <a:srgbClr val="333333"/>
                </a:solidFill>
                <a:highlight>
                  <a:srgbClr val="FF00FF"/>
                </a:highlight>
                <a:latin typeface="inherit"/>
              </a:rPr>
              <a:t>(</a:t>
            </a:r>
            <a:r>
              <a:rPr lang="en-US">
                <a:solidFill>
                  <a:srgbClr val="002D7A"/>
                </a:solidFill>
                <a:highlight>
                  <a:srgbClr val="FF00FF"/>
                </a:highlight>
                <a:latin typeface="inherit"/>
              </a:rPr>
              <a:t>color</a:t>
            </a:r>
            <a:r>
              <a:rPr lang="en-US">
                <a:solidFill>
                  <a:srgbClr val="333333"/>
                </a:solidFill>
                <a:highlight>
                  <a:srgbClr val="FF00FF"/>
                </a:highlight>
                <a:latin typeface="inherit"/>
              </a:rPr>
              <a:t>)</a:t>
            </a:r>
            <a:endParaRPr lang="en-US" b="0" i="0">
              <a:solidFill>
                <a:srgbClr val="000000"/>
              </a:solidFill>
              <a:effectLst/>
              <a:highlight>
                <a:srgbClr val="FF00FF"/>
              </a:highlight>
              <a:latin typeface="Monaco"/>
            </a:endParaRPr>
          </a:p>
        </p:txBody>
      </p:sp>
      <p:sp>
        <p:nvSpPr>
          <p:cNvPr id="8" name="Rectangle 7">
            <a:extLst>
              <a:ext uri="{FF2B5EF4-FFF2-40B4-BE49-F238E27FC236}">
                <a16:creationId xmlns:a16="http://schemas.microsoft.com/office/drawing/2014/main" id="{440F174B-4814-4CB4-AF20-5118ED139DAF}"/>
              </a:ext>
            </a:extLst>
          </p:cNvPr>
          <p:cNvSpPr/>
          <p:nvPr/>
        </p:nvSpPr>
        <p:spPr>
          <a:xfrm>
            <a:off x="3699933" y="626533"/>
            <a:ext cx="5434443" cy="6214009"/>
          </a:xfrm>
          <a:prstGeom prst="rect">
            <a:avLst/>
          </a:prstGeom>
          <a:solidFill>
            <a:schemeClr val="accent2">
              <a:lumMod val="20000"/>
              <a:lumOff val="80000"/>
            </a:schemeClr>
          </a:solidFill>
        </p:spPr>
        <p:txBody>
          <a:bodyPr wrap="square">
            <a:spAutoFit/>
          </a:bodyPr>
          <a:lstStyle/>
          <a:p>
            <a:pPr>
              <a:lnSpc>
                <a:spcPct val="90000"/>
              </a:lnSpc>
            </a:pPr>
            <a:r>
              <a:rPr lang="en-US" sz="1700">
                <a:solidFill>
                  <a:srgbClr val="800080"/>
                </a:solidFill>
                <a:latin typeface="inherit"/>
              </a:rPr>
              <a:t>class</a:t>
            </a:r>
            <a:r>
              <a:rPr lang="en-US" sz="1700">
                <a:solidFill>
                  <a:srgbClr val="006FE0"/>
                </a:solidFill>
                <a:latin typeface="inherit"/>
              </a:rPr>
              <a:t> </a:t>
            </a:r>
            <a:r>
              <a:rPr lang="en-US" sz="1700">
                <a:solidFill>
                  <a:srgbClr val="004ED0"/>
                </a:solidFill>
                <a:latin typeface="inherit"/>
              </a:rPr>
              <a:t>Window</a:t>
            </a:r>
            <a:r>
              <a:rPr lang="en-US" sz="1700">
                <a:solidFill>
                  <a:srgbClr val="333333"/>
                </a:solidFill>
                <a:latin typeface="inherit"/>
              </a:rPr>
              <a:t>(</a:t>
            </a:r>
            <a:r>
              <a:rPr lang="en-US" sz="1700">
                <a:solidFill>
                  <a:srgbClr val="002D7A"/>
                </a:solidFill>
                <a:latin typeface="inherit"/>
              </a:rPr>
              <a:t>QMainWindow</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4ED0"/>
                </a:solidFill>
                <a:latin typeface="inherit"/>
              </a:rPr>
              <a:t>def __init__</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super</a:t>
            </a:r>
            <a:r>
              <a:rPr lang="en-US" sz="1700">
                <a:solidFill>
                  <a:srgbClr val="333333"/>
                </a:solidFill>
                <a:latin typeface="inherit"/>
              </a:rPr>
              <a:t>().</a:t>
            </a:r>
            <a:r>
              <a:rPr lang="en-US" sz="1700">
                <a:solidFill>
                  <a:srgbClr val="004ED0"/>
                </a:solidFill>
                <a:latin typeface="inherit"/>
              </a:rPr>
              <a:t>__init__</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title</a:t>
            </a:r>
            <a:r>
              <a:rPr lang="en-US" sz="1700">
                <a:solidFill>
                  <a:srgbClr val="006FE0"/>
                </a:solidFill>
                <a:latin typeface="inherit"/>
              </a:rPr>
              <a:t> = </a:t>
            </a:r>
            <a:r>
              <a:rPr lang="en-US" sz="1700">
                <a:solidFill>
                  <a:srgbClr val="008000"/>
                </a:solidFill>
                <a:latin typeface="inherit"/>
              </a:rPr>
              <a:t>"PyQt5 QToolbar"</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createEditor</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CreateMenu</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show</a:t>
            </a:r>
            <a:r>
              <a:rPr lang="en-US" sz="1700">
                <a:solidFill>
                  <a:srgbClr val="333333"/>
                </a:solidFill>
                <a:latin typeface="inherit"/>
              </a:rPr>
              <a:t>()</a:t>
            </a:r>
          </a:p>
          <a:p>
            <a:pPr>
              <a:lnSpc>
                <a:spcPct val="90000"/>
              </a:lnSpc>
            </a:pP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4ED0"/>
                </a:solidFill>
                <a:latin typeface="inherit"/>
              </a:rPr>
              <a:t>def CreateMenu</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mainMenu</a:t>
            </a:r>
            <a:r>
              <a:rPr lang="en-US" sz="1700">
                <a:solidFill>
                  <a:srgbClr val="006FE0"/>
                </a:solidFill>
                <a:latin typeface="inherit"/>
              </a:rPr>
              <a:t> =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menuBar</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fileMenu</a:t>
            </a:r>
            <a:r>
              <a:rPr lang="en-US" sz="1700">
                <a:solidFill>
                  <a:srgbClr val="006FE0"/>
                </a:solidFill>
                <a:latin typeface="inherit"/>
              </a:rPr>
              <a:t> = </a:t>
            </a:r>
            <a:r>
              <a:rPr lang="en-US" sz="1700">
                <a:solidFill>
                  <a:srgbClr val="002D7A"/>
                </a:solidFill>
                <a:latin typeface="inherit"/>
              </a:rPr>
              <a:t>mainMenu</a:t>
            </a:r>
            <a:r>
              <a:rPr lang="en-US" sz="1700">
                <a:solidFill>
                  <a:srgbClr val="333333"/>
                </a:solidFill>
                <a:latin typeface="inherit"/>
              </a:rPr>
              <a:t>.</a:t>
            </a:r>
            <a:r>
              <a:rPr lang="en-US" sz="1700">
                <a:solidFill>
                  <a:srgbClr val="004ED0"/>
                </a:solidFill>
                <a:latin typeface="inherit"/>
              </a:rPr>
              <a:t>addMenu</a:t>
            </a:r>
            <a:r>
              <a:rPr lang="en-US" sz="1700">
                <a:solidFill>
                  <a:srgbClr val="333333"/>
                </a:solidFill>
                <a:latin typeface="inherit"/>
              </a:rPr>
              <a:t>(</a:t>
            </a:r>
            <a:r>
              <a:rPr lang="en-US" sz="1700">
                <a:solidFill>
                  <a:srgbClr val="008000"/>
                </a:solidFill>
                <a:latin typeface="inherit"/>
              </a:rPr>
              <a:t>'File'</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printAction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"print.png"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"Print"</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printAction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printDialog</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exiteAction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exitWindow</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fontAction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fontDialog</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viewMenu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fontAction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colorAction</a:t>
            </a:r>
            <a:r>
              <a:rPr lang="en-US" sz="1700">
                <a:solidFill>
                  <a:srgbClr val="006FE0"/>
                </a:solidFill>
                <a:latin typeface="inherit"/>
              </a:rPr>
              <a:t> = </a:t>
            </a:r>
            <a:r>
              <a:rPr lang="en-US" sz="1700">
                <a:solidFill>
                  <a:srgbClr val="004ED0"/>
                </a:solidFill>
                <a:latin typeface="inherit"/>
              </a:rPr>
              <a:t>QAction</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"color.png"</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"Color"</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colorAction</a:t>
            </a:r>
            <a:r>
              <a:rPr lang="en-US" sz="1700">
                <a:solidFill>
                  <a:srgbClr val="333333"/>
                </a:solidFill>
                <a:latin typeface="inherit"/>
              </a:rPr>
              <a:t>.</a:t>
            </a:r>
            <a:r>
              <a:rPr lang="en-US" sz="1700">
                <a:solidFill>
                  <a:srgbClr val="002D7A"/>
                </a:solidFill>
                <a:latin typeface="inherit"/>
              </a:rPr>
              <a:t>triggered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colorDialog</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002D7A"/>
                </a:solidFill>
                <a:latin typeface="inherit"/>
              </a:rPr>
              <a:t>viewMenu</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colorAction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006FE0"/>
                </a:solidFill>
                <a:latin typeface="inherit"/>
              </a:rPr>
              <a:t> =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addToolBar</a:t>
            </a:r>
            <a:r>
              <a:rPr lang="en-US" sz="1700">
                <a:solidFill>
                  <a:srgbClr val="333333"/>
                </a:solidFill>
                <a:latin typeface="inherit"/>
              </a:rPr>
              <a:t>(</a:t>
            </a:r>
            <a:r>
              <a:rPr lang="en-US" sz="1700">
                <a:solidFill>
                  <a:srgbClr val="008000"/>
                </a:solidFill>
                <a:latin typeface="inherit"/>
              </a:rPr>
              <a:t>'Toolbar'</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toolbar</a:t>
            </a:r>
            <a:r>
              <a:rPr lang="en-US" sz="1700">
                <a:solidFill>
                  <a:srgbClr val="333333"/>
                </a:solidFill>
                <a:latin typeface="inherit"/>
              </a:rPr>
              <a:t>.</a:t>
            </a:r>
            <a:r>
              <a:rPr lang="en-US" sz="1700">
                <a:solidFill>
                  <a:srgbClr val="004ED0"/>
                </a:solidFill>
                <a:latin typeface="inherit"/>
              </a:rPr>
              <a:t>addAction</a:t>
            </a:r>
            <a:r>
              <a:rPr lang="en-US" sz="1700">
                <a:solidFill>
                  <a:srgbClr val="333333"/>
                </a:solidFill>
                <a:latin typeface="inherit"/>
              </a:rPr>
              <a:t>(</a:t>
            </a:r>
            <a:r>
              <a:rPr lang="en-US" sz="1700">
                <a:solidFill>
                  <a:srgbClr val="002D7A"/>
                </a:solidFill>
                <a:latin typeface="inherit"/>
              </a:rPr>
              <a:t>copyAction</a:t>
            </a:r>
            <a:r>
              <a:rPr lang="en-US" sz="1700">
                <a:solidFill>
                  <a:srgbClr val="333333"/>
                </a:solidFill>
                <a:latin typeface="inherit"/>
              </a:rPr>
              <a:t>)</a:t>
            </a:r>
            <a:endParaRPr lang="en-US" sz="1700">
              <a:solidFill>
                <a:srgbClr val="000000"/>
              </a:solidFill>
              <a:latin typeface="Monaco"/>
            </a:endParaRPr>
          </a:p>
          <a:p>
            <a:pPr>
              <a:lnSpc>
                <a:spcPct val="90000"/>
              </a:lnSpc>
            </a:pPr>
            <a:r>
              <a:rPr lang="en-US" sz="1700">
                <a:solidFill>
                  <a:srgbClr val="006FE0"/>
                </a:solidFill>
                <a:latin typeface="inherit"/>
              </a:rPr>
              <a:t>        </a:t>
            </a:r>
            <a:r>
              <a:rPr lang="en-US" sz="1700">
                <a:solidFill>
                  <a:srgbClr val="800080"/>
                </a:solidFill>
                <a:latin typeface="inherit"/>
              </a:rPr>
              <a:t>...</a:t>
            </a:r>
            <a:endParaRPr lang="en-US" sz="1700" b="0" i="0">
              <a:solidFill>
                <a:srgbClr val="000000"/>
              </a:solidFill>
              <a:effectLst/>
              <a:latin typeface="Monaco"/>
            </a:endParaRPr>
          </a:p>
        </p:txBody>
      </p:sp>
    </p:spTree>
    <p:extLst>
      <p:ext uri="{BB962C8B-B14F-4D97-AF65-F5344CB8AC3E}">
        <p14:creationId xmlns:p14="http://schemas.microsoft.com/office/powerpoint/2010/main" val="7242626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A1EF8E-4753-455D-BD7C-8CF58DB5C97E}"/>
              </a:ext>
            </a:extLst>
          </p:cNvPr>
          <p:cNvSpPr>
            <a:spLocks noGrp="1"/>
          </p:cNvSpPr>
          <p:nvPr>
            <p:ph idx="1"/>
          </p:nvPr>
        </p:nvSpPr>
        <p:spPr>
          <a:xfrm>
            <a:off x="9624" y="626533"/>
            <a:ext cx="9134375" cy="6212217"/>
          </a:xfrm>
        </p:spPr>
        <p:txBody>
          <a:bodyPr/>
          <a:lstStyle/>
          <a:p>
            <a:pPr marL="0" indent="0">
              <a:buNone/>
            </a:pPr>
            <a:r>
              <a:rPr lang="vi-VN"/>
              <a:t>Bây giờ chúng ta sẽ tạo phương thức printDialog, trong lần đầu tiên chúng ta tạo đối tượng của QPrinter và QPrintDialog sau đó chúng ta thực hiện hộp thoại</a:t>
            </a:r>
            <a:endParaRPr lang="en-US"/>
          </a:p>
        </p:txBody>
      </p:sp>
      <p:sp>
        <p:nvSpPr>
          <p:cNvPr id="4" name="Title 1">
            <a:extLst>
              <a:ext uri="{FF2B5EF4-FFF2-40B4-BE49-F238E27FC236}">
                <a16:creationId xmlns:a16="http://schemas.microsoft.com/office/drawing/2014/main" id="{7F096D89-C830-4DBA-81EB-78B73137EDC5}"/>
              </a:ext>
            </a:extLst>
          </p:cNvPr>
          <p:cNvSpPr>
            <a:spLocks noGrp="1"/>
          </p:cNvSpPr>
          <p:nvPr>
            <p:ph type="title"/>
          </p:nvPr>
        </p:nvSpPr>
        <p:spPr>
          <a:xfrm>
            <a:off x="9624" y="19250"/>
            <a:ext cx="9134375" cy="607283"/>
          </a:xfrm>
        </p:spPr>
        <p:txBody>
          <a:bodyPr>
            <a:normAutofit fontScale="90000"/>
          </a:bodyPr>
          <a:lstStyle/>
          <a:p>
            <a:r>
              <a:rPr lang="en-US"/>
              <a:t>Tạo QPrintDialog trong PyQt5 (t.t)</a:t>
            </a:r>
          </a:p>
        </p:txBody>
      </p:sp>
      <p:sp>
        <p:nvSpPr>
          <p:cNvPr id="5" name="Rectangle 4">
            <a:extLst>
              <a:ext uri="{FF2B5EF4-FFF2-40B4-BE49-F238E27FC236}">
                <a16:creationId xmlns:a16="http://schemas.microsoft.com/office/drawing/2014/main" id="{B57691AA-A101-4CED-AE00-AC76750FB696}"/>
              </a:ext>
            </a:extLst>
          </p:cNvPr>
          <p:cNvSpPr/>
          <p:nvPr/>
        </p:nvSpPr>
        <p:spPr>
          <a:xfrm>
            <a:off x="9623" y="1874504"/>
            <a:ext cx="5282044" cy="1631216"/>
          </a:xfrm>
          <a:prstGeom prst="rect">
            <a:avLst/>
          </a:prstGeom>
          <a:solidFill>
            <a:schemeClr val="accent6">
              <a:lumMod val="20000"/>
              <a:lumOff val="80000"/>
            </a:schemeClr>
          </a:solidFill>
        </p:spPr>
        <p:txBody>
          <a:bodyPr wrap="square">
            <a:spAutoFit/>
          </a:bodyPr>
          <a:lstStyle/>
          <a:p>
            <a:r>
              <a:rPr lang="en-US" sz="2000">
                <a:solidFill>
                  <a:srgbClr val="004ED0"/>
                </a:solidFill>
                <a:latin typeface="inherit"/>
              </a:rPr>
              <a:t>def printDialog</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printer</a:t>
            </a:r>
            <a:r>
              <a:rPr lang="en-US" sz="2000">
                <a:solidFill>
                  <a:srgbClr val="006FE0"/>
                </a:solidFill>
                <a:latin typeface="inherit"/>
              </a:rPr>
              <a:t> = </a:t>
            </a:r>
            <a:r>
              <a:rPr lang="en-US" sz="2000">
                <a:solidFill>
                  <a:srgbClr val="004ED0"/>
                </a:solidFill>
                <a:latin typeface="inherit"/>
              </a:rPr>
              <a:t>QPrinter</a:t>
            </a:r>
            <a:r>
              <a:rPr lang="en-US" sz="2000">
                <a:solidFill>
                  <a:srgbClr val="333333"/>
                </a:solidFill>
                <a:latin typeface="inherit"/>
              </a:rPr>
              <a:t>(</a:t>
            </a:r>
            <a:r>
              <a:rPr lang="en-US" sz="2000">
                <a:solidFill>
                  <a:srgbClr val="002D7A"/>
                </a:solidFill>
                <a:latin typeface="inherit"/>
              </a:rPr>
              <a:t>QPrinter</a:t>
            </a:r>
            <a:r>
              <a:rPr lang="en-US" sz="2000">
                <a:solidFill>
                  <a:srgbClr val="333333"/>
                </a:solidFill>
                <a:latin typeface="inherit"/>
              </a:rPr>
              <a:t>.</a:t>
            </a:r>
            <a:r>
              <a:rPr lang="en-US" sz="2000">
                <a:solidFill>
                  <a:srgbClr val="002D7A"/>
                </a:solidFill>
                <a:latin typeface="inherit"/>
              </a:rPr>
              <a:t>HighResolution</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dialog</a:t>
            </a:r>
            <a:r>
              <a:rPr lang="en-US" sz="2000">
                <a:solidFill>
                  <a:srgbClr val="006FE0"/>
                </a:solidFill>
                <a:latin typeface="inherit"/>
              </a:rPr>
              <a:t> = </a:t>
            </a:r>
            <a:r>
              <a:rPr lang="en-US" sz="2000">
                <a:solidFill>
                  <a:srgbClr val="004ED0"/>
                </a:solidFill>
                <a:latin typeface="inherit"/>
              </a:rPr>
              <a:t>QPrintDialog</a:t>
            </a:r>
            <a:r>
              <a:rPr lang="en-US" sz="2000">
                <a:solidFill>
                  <a:srgbClr val="333333"/>
                </a:solidFill>
                <a:latin typeface="inherit"/>
              </a:rPr>
              <a:t>(</a:t>
            </a:r>
            <a:r>
              <a:rPr lang="en-US" sz="2000">
                <a:solidFill>
                  <a:srgbClr val="002D7A"/>
                </a:solidFill>
                <a:latin typeface="inherit"/>
              </a:rPr>
              <a:t>printer</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002D7A"/>
                </a:solidFill>
                <a:latin typeface="inherit"/>
              </a:rPr>
              <a:t>dialog</a:t>
            </a:r>
            <a:r>
              <a:rPr lang="en-US" sz="2000">
                <a:solidFill>
                  <a:srgbClr val="333333"/>
                </a:solidFill>
                <a:latin typeface="inherit"/>
              </a:rPr>
              <a:t>.</a:t>
            </a:r>
            <a:r>
              <a:rPr lang="en-US" sz="2000">
                <a:solidFill>
                  <a:srgbClr val="004ED0"/>
                </a:solidFill>
                <a:latin typeface="inherit"/>
              </a:rPr>
              <a:t>exec_</a:t>
            </a:r>
            <a:r>
              <a:rPr lang="en-US" sz="2000">
                <a:solidFill>
                  <a:srgbClr val="333333"/>
                </a:solidFill>
                <a:latin typeface="inherit"/>
              </a:rPr>
              <a:t>()</a:t>
            </a:r>
            <a:r>
              <a:rPr lang="en-US" sz="2000">
                <a:solidFill>
                  <a:srgbClr val="006FE0"/>
                </a:solidFill>
                <a:latin typeface="inherit"/>
              </a:rPr>
              <a:t> == </a:t>
            </a:r>
            <a:r>
              <a:rPr lang="en-US" sz="2000">
                <a:solidFill>
                  <a:srgbClr val="002D7A"/>
                </a:solidFill>
                <a:latin typeface="inherit"/>
              </a:rPr>
              <a:t>QPrintDialog</a:t>
            </a:r>
            <a:r>
              <a:rPr lang="en-US" sz="2000">
                <a:solidFill>
                  <a:srgbClr val="333333"/>
                </a:solidFill>
                <a:latin typeface="inherit"/>
              </a:rPr>
              <a:t>.</a:t>
            </a:r>
            <a:r>
              <a:rPr lang="en-US" sz="2000">
                <a:solidFill>
                  <a:srgbClr val="002D7A"/>
                </a:solidFill>
                <a:latin typeface="inherit"/>
              </a:rPr>
              <a:t>Accepted</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textEdit</a:t>
            </a:r>
            <a:r>
              <a:rPr lang="en-US" sz="2000">
                <a:solidFill>
                  <a:srgbClr val="333333"/>
                </a:solidFill>
                <a:latin typeface="inherit"/>
              </a:rPr>
              <a:t>.</a:t>
            </a:r>
            <a:r>
              <a:rPr lang="en-US" sz="2000">
                <a:solidFill>
                  <a:srgbClr val="004ED0"/>
                </a:solidFill>
                <a:latin typeface="inherit"/>
              </a:rPr>
              <a:t>print_</a:t>
            </a:r>
            <a:r>
              <a:rPr lang="en-US" sz="2000">
                <a:solidFill>
                  <a:srgbClr val="333333"/>
                </a:solidFill>
                <a:latin typeface="inherit"/>
              </a:rPr>
              <a:t>(</a:t>
            </a:r>
            <a:r>
              <a:rPr lang="en-US" sz="2000">
                <a:solidFill>
                  <a:srgbClr val="002D7A"/>
                </a:solidFill>
                <a:latin typeface="inherit"/>
              </a:rPr>
              <a:t>printer</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77F4853D-270D-4A43-866F-F3A33EC98BC8}"/>
              </a:ext>
            </a:extLst>
          </p:cNvPr>
          <p:cNvSpPr/>
          <p:nvPr/>
        </p:nvSpPr>
        <p:spPr>
          <a:xfrm>
            <a:off x="0" y="3813496"/>
            <a:ext cx="4114800" cy="1200329"/>
          </a:xfrm>
          <a:prstGeom prst="rect">
            <a:avLst/>
          </a:prstGeom>
        </p:spPr>
        <p:txBody>
          <a:bodyPr wrap="square">
            <a:spAutoFit/>
          </a:bodyPr>
          <a:lstStyle/>
          <a:p>
            <a:r>
              <a:rPr lang="vi-VN" sz="2400">
                <a:solidFill>
                  <a:srgbClr val="3A3A3A"/>
                </a:solidFill>
              </a:rPr>
              <a:t>Cuối cùng, chúng ta tạo đối tượng của Window và QApplication</a:t>
            </a:r>
            <a:endParaRPr lang="en-US" sz="2400"/>
          </a:p>
        </p:txBody>
      </p:sp>
      <p:sp>
        <p:nvSpPr>
          <p:cNvPr id="7" name="Rectangle 6">
            <a:extLst>
              <a:ext uri="{FF2B5EF4-FFF2-40B4-BE49-F238E27FC236}">
                <a16:creationId xmlns:a16="http://schemas.microsoft.com/office/drawing/2014/main" id="{0E3CA935-4E6E-4B24-A194-A2A546474B04}"/>
              </a:ext>
            </a:extLst>
          </p:cNvPr>
          <p:cNvSpPr/>
          <p:nvPr/>
        </p:nvSpPr>
        <p:spPr>
          <a:xfrm>
            <a:off x="9623" y="5192145"/>
            <a:ext cx="3859644" cy="1200329"/>
          </a:xfrm>
          <a:prstGeom prst="rect">
            <a:avLst/>
          </a:prstGeom>
          <a:solidFill>
            <a:schemeClr val="accent4">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2" name="Picture 11">
            <a:extLst>
              <a:ext uri="{FF2B5EF4-FFF2-40B4-BE49-F238E27FC236}">
                <a16:creationId xmlns:a16="http://schemas.microsoft.com/office/drawing/2014/main" id="{6B38FBB1-17B6-479B-8724-D8B319396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1" y="3261583"/>
            <a:ext cx="5019576" cy="3577167"/>
          </a:xfrm>
          <a:prstGeom prst="rect">
            <a:avLst/>
          </a:prstGeom>
        </p:spPr>
      </p:pic>
    </p:spTree>
    <p:extLst>
      <p:ext uri="{BB962C8B-B14F-4D97-AF65-F5344CB8AC3E}">
        <p14:creationId xmlns:p14="http://schemas.microsoft.com/office/powerpoint/2010/main" val="22048006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7D54-FFCC-44ED-8EE4-4F442B3CE3D2}"/>
              </a:ext>
            </a:extLst>
          </p:cNvPr>
          <p:cNvSpPr>
            <a:spLocks noGrp="1"/>
          </p:cNvSpPr>
          <p:nvPr>
            <p:ph type="title"/>
          </p:nvPr>
        </p:nvSpPr>
        <p:spPr>
          <a:xfrm>
            <a:off x="9624" y="19250"/>
            <a:ext cx="9134375" cy="1283338"/>
          </a:xfrm>
        </p:spPr>
        <p:txBody>
          <a:bodyPr>
            <a:normAutofit fontScale="90000"/>
          </a:bodyPr>
          <a:lstStyle/>
          <a:p>
            <a:r>
              <a:rPr lang="vi-VN" b="1">
                <a:latin typeface="Calibri" panose="020F0502020204030204" pitchFamily="34" charset="0"/>
                <a:cs typeface="Calibri" panose="020F0502020204030204" pitchFamily="34" charset="0"/>
              </a:rPr>
              <a:t>Tạo hộp thoại xem trước</a:t>
            </a:r>
            <a:r>
              <a:rPr lang="en-US" b="1">
                <a:latin typeface="Calibri" panose="020F0502020204030204" pitchFamily="34" charset="0"/>
                <a:cs typeface="Calibri" panose="020F0502020204030204" pitchFamily="34" charset="0"/>
              </a:rPr>
              <a:t>-Print Preview </a:t>
            </a:r>
            <a:r>
              <a:rPr lang="vi-VN" b="1">
                <a:latin typeface="Calibri" panose="020F0502020204030204" pitchFamily="34" charset="0"/>
                <a:cs typeface="Calibri" panose="020F0502020204030204" pitchFamily="34" charset="0"/>
              </a:rPr>
              <a:t>(QPrintPreviewDialog)</a:t>
            </a:r>
            <a:endParaRPr lang="en-US" b="1">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49FE8308-5966-4AEF-908B-582BC7F5667B}"/>
              </a:ext>
            </a:extLst>
          </p:cNvPr>
          <p:cNvSpPr>
            <a:spLocks noGrp="1"/>
          </p:cNvSpPr>
          <p:nvPr>
            <p:ph idx="1"/>
          </p:nvPr>
        </p:nvSpPr>
        <p:spPr>
          <a:xfrm>
            <a:off x="9624" y="1302588"/>
            <a:ext cx="9134375" cy="5536161"/>
          </a:xfrm>
        </p:spPr>
        <p:txBody>
          <a:bodyPr/>
          <a:lstStyle/>
          <a:p>
            <a:pPr marL="0" indent="0">
              <a:buNone/>
            </a:pPr>
            <a:r>
              <a:rPr lang="en-US"/>
              <a:t>V</a:t>
            </a:r>
            <a:r>
              <a:rPr lang="vi-VN"/>
              <a:t>ề cơ bản chúng t</a:t>
            </a:r>
            <a:r>
              <a:rPr lang="en-US"/>
              <a:t>a</a:t>
            </a:r>
            <a:r>
              <a:rPr lang="vi-VN"/>
              <a:t> sử dụng lớp QPrintPreviewDialog.</a:t>
            </a:r>
            <a:r>
              <a:rPr lang="en-US"/>
              <a:t> </a:t>
            </a:r>
            <a:r>
              <a:rPr lang="vi-VN"/>
              <a:t>Lớp QPrintPreviewDialog cung cấp một hộp thoại để xem trước và định cấu hình bố cục trang cho đầu ra của máy in.</a:t>
            </a:r>
          </a:p>
          <a:p>
            <a:pPr marL="0" indent="0">
              <a:buNone/>
            </a:pPr>
            <a:endParaRPr lang="en-US"/>
          </a:p>
        </p:txBody>
      </p:sp>
      <p:graphicFrame>
        <p:nvGraphicFramePr>
          <p:cNvPr id="5" name="Table 4">
            <a:extLst>
              <a:ext uri="{FF2B5EF4-FFF2-40B4-BE49-F238E27FC236}">
                <a16:creationId xmlns:a16="http://schemas.microsoft.com/office/drawing/2014/main" id="{B098BE42-0CD8-4903-A47B-434C4FA3D1A4}"/>
              </a:ext>
            </a:extLst>
          </p:cNvPr>
          <p:cNvGraphicFramePr>
            <a:graphicFrameLocks noGrp="1"/>
          </p:cNvGraphicFramePr>
          <p:nvPr>
            <p:extLst>
              <p:ext uri="{D42A27DB-BD31-4B8C-83A1-F6EECF244321}">
                <p14:modId xmlns:p14="http://schemas.microsoft.com/office/powerpoint/2010/main" val="3724638030"/>
              </p:ext>
            </p:extLst>
          </p:nvPr>
        </p:nvGraphicFramePr>
        <p:xfrm>
          <a:off x="9624" y="3115035"/>
          <a:ext cx="9124752" cy="2651760"/>
        </p:xfrm>
        <a:graphic>
          <a:graphicData uri="http://schemas.openxmlformats.org/drawingml/2006/table">
            <a:tbl>
              <a:tblPr/>
              <a:tblGrid>
                <a:gridCol w="696600">
                  <a:extLst>
                    <a:ext uri="{9D8B030D-6E8A-4147-A177-3AD203B41FA5}">
                      <a16:colId xmlns:a16="http://schemas.microsoft.com/office/drawing/2014/main" val="1670197141"/>
                    </a:ext>
                  </a:extLst>
                </a:gridCol>
                <a:gridCol w="8428152">
                  <a:extLst>
                    <a:ext uri="{9D8B030D-6E8A-4147-A177-3AD203B41FA5}">
                      <a16:colId xmlns:a16="http://schemas.microsoft.com/office/drawing/2014/main" val="583630650"/>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p>
                      <a:pPr algn="ctr" fontAlgn="t"/>
                      <a:r>
                        <a:rPr lang="en-US" sz="2400" b="0">
                          <a:solidFill>
                            <a:srgbClr val="5499DE"/>
                          </a:solidFill>
                          <a:effectLst/>
                          <a:latin typeface="inherit"/>
                        </a:rPr>
                        <a:t>5</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 </a:t>
                      </a:r>
                      <a:r>
                        <a:rPr lang="en-US" sz="2400" b="0">
                          <a:solidFill>
                            <a:srgbClr val="002D7A"/>
                          </a:solidFill>
                          <a:effectLst/>
                          <a:latin typeface="inherit"/>
                        </a:rPr>
                        <a:t>QMainWindow</a:t>
                      </a:r>
                      <a:r>
                        <a:rPr lang="en-US" sz="2400" b="0">
                          <a:solidFill>
                            <a:srgbClr val="333333"/>
                          </a:solidFill>
                          <a:effectLst/>
                          <a:latin typeface="inherit"/>
                        </a:rPr>
                        <a:t>, </a:t>
                      </a:r>
                    </a:p>
                    <a:p>
                      <a:pPr algn="r" fontAlgn="t"/>
                      <a:r>
                        <a:rPr lang="en-US" sz="2400" b="0">
                          <a:solidFill>
                            <a:srgbClr val="002D7A"/>
                          </a:solidFill>
                          <a:effectLst/>
                          <a:latin typeface="inherit"/>
                        </a:rPr>
                        <a:t>QAction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QTextEdit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QFontDialog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QColorDialog</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QIcon</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QtPrintSupport import </a:t>
                      </a:r>
                      <a:r>
                        <a:rPr lang="en-US" sz="2400" b="0">
                          <a:solidFill>
                            <a:srgbClr val="002D7A"/>
                          </a:solidFill>
                          <a:effectLst/>
                          <a:latin typeface="inherit"/>
                        </a:rPr>
                        <a:t>QPrintDialog</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QPrinter</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QPrintPreviewDialog</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3454872951"/>
                  </a:ext>
                </a:extLst>
              </a:tr>
            </a:tbl>
          </a:graphicData>
        </a:graphic>
      </p:graphicFrame>
    </p:spTree>
    <p:extLst>
      <p:ext uri="{BB962C8B-B14F-4D97-AF65-F5344CB8AC3E}">
        <p14:creationId xmlns:p14="http://schemas.microsoft.com/office/powerpoint/2010/main" val="13007913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8B97B9-C37D-4E09-8D72-C012013CF714}"/>
              </a:ext>
            </a:extLst>
          </p:cNvPr>
          <p:cNvSpPr>
            <a:spLocks noGrp="1"/>
          </p:cNvSpPr>
          <p:nvPr>
            <p:ph idx="1"/>
          </p:nvPr>
        </p:nvSpPr>
        <p:spPr>
          <a:xfrm>
            <a:off x="9625" y="1302588"/>
            <a:ext cx="2500662" cy="5536162"/>
          </a:xfrm>
        </p:spPr>
        <p:txBody>
          <a:bodyPr>
            <a:normAutofit/>
          </a:bodyPr>
          <a:lstStyle/>
          <a:p>
            <a:pPr marL="0" indent="0">
              <a:buNone/>
            </a:pPr>
            <a:r>
              <a:rPr lang="vi-VN" sz="2000"/>
              <a:t>Sau đó, chúng ta tạo lớp Window kế thừa từ QMainWindow và chúng ta thêm các yêu cầu và phương thức cụ thể trong lớp đó</a:t>
            </a:r>
            <a:endParaRPr lang="en-US" sz="2000"/>
          </a:p>
        </p:txBody>
      </p:sp>
      <p:sp>
        <p:nvSpPr>
          <p:cNvPr id="4" name="Title 1">
            <a:extLst>
              <a:ext uri="{FF2B5EF4-FFF2-40B4-BE49-F238E27FC236}">
                <a16:creationId xmlns:a16="http://schemas.microsoft.com/office/drawing/2014/main" id="{5BE95304-03E0-4E6A-95CD-B90A9FD4193D}"/>
              </a:ext>
            </a:extLst>
          </p:cNvPr>
          <p:cNvSpPr>
            <a:spLocks noGrp="1"/>
          </p:cNvSpPr>
          <p:nvPr>
            <p:ph type="title"/>
          </p:nvPr>
        </p:nvSpPr>
        <p:spPr>
          <a:xfrm>
            <a:off x="9624" y="19250"/>
            <a:ext cx="9134375" cy="1283338"/>
          </a:xfrm>
        </p:spPr>
        <p:txBody>
          <a:bodyPr>
            <a:normAutofit fontScale="90000"/>
          </a:bodyPr>
          <a:lstStyle/>
          <a:p>
            <a:r>
              <a:rPr lang="vi-VN" b="1">
                <a:latin typeface="Calibri" panose="020F0502020204030204" pitchFamily="34" charset="0"/>
                <a:cs typeface="Calibri" panose="020F0502020204030204" pitchFamily="34" charset="0"/>
              </a:rPr>
              <a:t>Tạo hộp thoại xem trước</a:t>
            </a:r>
            <a:r>
              <a:rPr lang="en-US" b="1">
                <a:latin typeface="Calibri" panose="020F0502020204030204" pitchFamily="34" charset="0"/>
                <a:cs typeface="Calibri" panose="020F0502020204030204" pitchFamily="34" charset="0"/>
              </a:rPr>
              <a:t>-Print Preview </a:t>
            </a:r>
            <a:r>
              <a:rPr lang="vi-VN" b="1">
                <a:latin typeface="Calibri" panose="020F0502020204030204" pitchFamily="34" charset="0"/>
                <a:cs typeface="Calibri" panose="020F0502020204030204" pitchFamily="34" charset="0"/>
              </a:rPr>
              <a:t>(QPrintPreviewDialog)</a:t>
            </a:r>
            <a:r>
              <a:rPr lang="en-US" b="1">
                <a:latin typeface="Calibri" panose="020F0502020204030204" pitchFamily="34" charset="0"/>
                <a:cs typeface="Calibri" panose="020F0502020204030204" pitchFamily="34" charset="0"/>
              </a:rPr>
              <a:t> (t.t)</a:t>
            </a:r>
          </a:p>
        </p:txBody>
      </p:sp>
      <p:sp>
        <p:nvSpPr>
          <p:cNvPr id="5" name="Rectangle 4">
            <a:extLst>
              <a:ext uri="{FF2B5EF4-FFF2-40B4-BE49-F238E27FC236}">
                <a16:creationId xmlns:a16="http://schemas.microsoft.com/office/drawing/2014/main" id="{C579FCDB-ED68-4DC1-93D7-9DED4EAB0935}"/>
              </a:ext>
            </a:extLst>
          </p:cNvPr>
          <p:cNvSpPr/>
          <p:nvPr/>
        </p:nvSpPr>
        <p:spPr>
          <a:xfrm>
            <a:off x="2742202" y="1348287"/>
            <a:ext cx="6392173" cy="5509713"/>
          </a:xfrm>
          <a:prstGeom prst="rect">
            <a:avLst/>
          </a:prstGeom>
        </p:spPr>
        <p:txBody>
          <a:bodyPr wrap="square">
            <a:spAutoFit/>
          </a:bodyPr>
          <a:lstStyle/>
          <a:p>
            <a:pPr>
              <a:lnSpc>
                <a:spcPct val="85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QMainWindow</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QToolbar"</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createEditor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CreateMenu</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CreateMenu</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mainMenu</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menuBar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fileMenu</a:t>
            </a:r>
            <a:r>
              <a:rPr lang="en-US">
                <a:solidFill>
                  <a:srgbClr val="006FE0"/>
                </a:solidFill>
                <a:latin typeface="inherit"/>
              </a:rPr>
              <a:t> = </a:t>
            </a:r>
            <a:r>
              <a:rPr lang="en-US">
                <a:solidFill>
                  <a:srgbClr val="002D7A"/>
                </a:solidFill>
                <a:latin typeface="inherit"/>
              </a:rPr>
              <a:t>mainMenu</a:t>
            </a:r>
            <a:r>
              <a:rPr lang="en-US">
                <a:solidFill>
                  <a:srgbClr val="333333"/>
                </a:solidFill>
                <a:latin typeface="inherit"/>
              </a:rPr>
              <a:t>.</a:t>
            </a:r>
            <a:r>
              <a:rPr lang="en-US">
                <a:solidFill>
                  <a:srgbClr val="004ED0"/>
                </a:solidFill>
                <a:latin typeface="inherit"/>
              </a:rPr>
              <a:t>addMenu</a:t>
            </a:r>
            <a:r>
              <a:rPr lang="en-US">
                <a:solidFill>
                  <a:srgbClr val="333333"/>
                </a:solidFill>
                <a:latin typeface="inherit"/>
              </a:rPr>
              <a:t>(</a:t>
            </a:r>
            <a:r>
              <a:rPr lang="en-US">
                <a:solidFill>
                  <a:srgbClr val="008000"/>
                </a:solidFill>
                <a:latin typeface="inherit"/>
              </a:rPr>
              <a:t>'File'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printAction</a:t>
            </a:r>
            <a:r>
              <a:rPr lang="en-US">
                <a:solidFill>
                  <a:srgbClr val="006FE0"/>
                </a:solidFill>
                <a:latin typeface="inherit"/>
              </a:rPr>
              <a:t> = </a:t>
            </a:r>
            <a:r>
              <a:rPr lang="en-US">
                <a:solidFill>
                  <a:srgbClr val="004ED0"/>
                </a:solidFill>
                <a:latin typeface="inherit"/>
              </a:rPr>
              <a:t>QAction</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"print.png"</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"Print"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printAction</a:t>
            </a:r>
            <a:r>
              <a:rPr lang="en-US">
                <a:solidFill>
                  <a:srgbClr val="333333"/>
                </a:solidFill>
                <a:latin typeface="inherit"/>
              </a:rPr>
              <a:t>.</a:t>
            </a:r>
            <a:r>
              <a:rPr lang="en-US">
                <a:solidFill>
                  <a:srgbClr val="002D7A"/>
                </a:solidFill>
                <a:latin typeface="inherit"/>
              </a:rPr>
              <a:t>triggered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printDialog</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printPreviewAction</a:t>
            </a:r>
            <a:r>
              <a:rPr lang="en-US">
                <a:solidFill>
                  <a:srgbClr val="333333"/>
                </a:solidFill>
                <a:latin typeface="inherit"/>
              </a:rPr>
              <a:t>.</a:t>
            </a:r>
            <a:r>
              <a:rPr lang="en-US">
                <a:solidFill>
                  <a:srgbClr val="002D7A"/>
                </a:solidFill>
                <a:latin typeface="inherit"/>
              </a:rPr>
              <a:t>triggered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printpreviewDialog</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        </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colorAction</a:t>
            </a:r>
            <a:r>
              <a:rPr lang="en-US">
                <a:solidFill>
                  <a:srgbClr val="333333"/>
                </a:solidFill>
                <a:latin typeface="inherit"/>
              </a:rPr>
              <a:t>.</a:t>
            </a:r>
            <a:r>
              <a:rPr lang="en-US">
                <a:solidFill>
                  <a:srgbClr val="002D7A"/>
                </a:solidFill>
                <a:latin typeface="inherit"/>
              </a:rPr>
              <a:t>triggered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colorDialog</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viewMenu</a:t>
            </a:r>
            <a:r>
              <a:rPr lang="en-US">
                <a:solidFill>
                  <a:srgbClr val="333333"/>
                </a:solidFill>
                <a:latin typeface="inherit"/>
              </a:rPr>
              <a:t>.</a:t>
            </a:r>
            <a:r>
              <a:rPr lang="en-US">
                <a:solidFill>
                  <a:srgbClr val="004ED0"/>
                </a:solidFill>
                <a:latin typeface="inherit"/>
              </a:rPr>
              <a:t>addAction</a:t>
            </a:r>
            <a:r>
              <a:rPr lang="en-US">
                <a:solidFill>
                  <a:srgbClr val="333333"/>
                </a:solidFill>
                <a:latin typeface="inherit"/>
              </a:rPr>
              <a:t>(</a:t>
            </a:r>
            <a:r>
              <a:rPr lang="en-US">
                <a:solidFill>
                  <a:srgbClr val="002D7A"/>
                </a:solidFill>
                <a:latin typeface="inherit"/>
              </a:rPr>
              <a:t>colorAction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toolbar</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addToolBar</a:t>
            </a:r>
            <a:r>
              <a:rPr lang="en-US">
                <a:solidFill>
                  <a:srgbClr val="333333"/>
                </a:solidFill>
                <a:latin typeface="inherit"/>
              </a:rPr>
              <a:t>(</a:t>
            </a:r>
            <a:r>
              <a:rPr lang="en-US">
                <a:solidFill>
                  <a:srgbClr val="008000"/>
                </a:solidFill>
                <a:latin typeface="inherit"/>
              </a:rPr>
              <a:t>'Toolbar'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toolbar</a:t>
            </a:r>
            <a:r>
              <a:rPr lang="en-US">
                <a:solidFill>
                  <a:srgbClr val="333333"/>
                </a:solidFill>
                <a:latin typeface="inherit"/>
              </a:rPr>
              <a:t>.</a:t>
            </a:r>
            <a:r>
              <a:rPr lang="en-US">
                <a:solidFill>
                  <a:srgbClr val="004ED0"/>
                </a:solidFill>
                <a:latin typeface="inherit"/>
              </a:rPr>
              <a:t>addAction</a:t>
            </a:r>
            <a:r>
              <a:rPr lang="en-US">
                <a:solidFill>
                  <a:srgbClr val="333333"/>
                </a:solidFill>
                <a:latin typeface="inherit"/>
              </a:rPr>
              <a:t>(</a:t>
            </a:r>
            <a:r>
              <a:rPr lang="en-US">
                <a:solidFill>
                  <a:srgbClr val="002D7A"/>
                </a:solidFill>
                <a:latin typeface="inherit"/>
              </a:rPr>
              <a:t>copyAction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a:t>
            </a:r>
            <a:endParaRPr lang="en-US">
              <a:solidFill>
                <a:srgbClr val="000000"/>
              </a:solidFill>
              <a:latin typeface="Monaco"/>
            </a:endParaRPr>
          </a:p>
        </p:txBody>
      </p:sp>
    </p:spTree>
    <p:extLst>
      <p:ext uri="{BB962C8B-B14F-4D97-AF65-F5344CB8AC3E}">
        <p14:creationId xmlns:p14="http://schemas.microsoft.com/office/powerpoint/2010/main" val="12418777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E95304-03E0-4E6A-95CD-B90A9FD4193D}"/>
              </a:ext>
            </a:extLst>
          </p:cNvPr>
          <p:cNvSpPr>
            <a:spLocks noGrp="1"/>
          </p:cNvSpPr>
          <p:nvPr>
            <p:ph type="title"/>
          </p:nvPr>
        </p:nvSpPr>
        <p:spPr>
          <a:xfrm>
            <a:off x="9624" y="19250"/>
            <a:ext cx="9134375" cy="1283338"/>
          </a:xfrm>
        </p:spPr>
        <p:txBody>
          <a:bodyPr>
            <a:normAutofit fontScale="90000"/>
          </a:bodyPr>
          <a:lstStyle/>
          <a:p>
            <a:r>
              <a:rPr lang="vi-VN" b="1">
                <a:latin typeface="Calibri" panose="020F0502020204030204" pitchFamily="34" charset="0"/>
                <a:cs typeface="Calibri" panose="020F0502020204030204" pitchFamily="34" charset="0"/>
              </a:rPr>
              <a:t>Tạo hộp thoại xem trước</a:t>
            </a:r>
            <a:r>
              <a:rPr lang="en-US" b="1">
                <a:latin typeface="Calibri" panose="020F0502020204030204" pitchFamily="34" charset="0"/>
                <a:cs typeface="Calibri" panose="020F0502020204030204" pitchFamily="34" charset="0"/>
              </a:rPr>
              <a:t>-Print Preview </a:t>
            </a:r>
            <a:r>
              <a:rPr lang="vi-VN" b="1">
                <a:latin typeface="Calibri" panose="020F0502020204030204" pitchFamily="34" charset="0"/>
                <a:cs typeface="Calibri" panose="020F0502020204030204" pitchFamily="34" charset="0"/>
              </a:rPr>
              <a:t>(QPrintPreviewDialog)</a:t>
            </a:r>
            <a:r>
              <a:rPr lang="en-US" b="1">
                <a:latin typeface="Calibri" panose="020F0502020204030204" pitchFamily="34" charset="0"/>
                <a:cs typeface="Calibri" panose="020F0502020204030204" pitchFamily="34" charset="0"/>
              </a:rPr>
              <a:t> (t.t)</a:t>
            </a:r>
          </a:p>
        </p:txBody>
      </p:sp>
      <p:sp>
        <p:nvSpPr>
          <p:cNvPr id="5" name="Rectangle 4">
            <a:extLst>
              <a:ext uri="{FF2B5EF4-FFF2-40B4-BE49-F238E27FC236}">
                <a16:creationId xmlns:a16="http://schemas.microsoft.com/office/drawing/2014/main" id="{C579FCDB-ED68-4DC1-93D7-9DED4EAB0935}"/>
              </a:ext>
            </a:extLst>
          </p:cNvPr>
          <p:cNvSpPr/>
          <p:nvPr/>
        </p:nvSpPr>
        <p:spPr>
          <a:xfrm>
            <a:off x="18250" y="1276715"/>
            <a:ext cx="5278368" cy="4764061"/>
          </a:xfrm>
          <a:prstGeom prst="rect">
            <a:avLst/>
          </a:prstGeom>
          <a:solidFill>
            <a:schemeClr val="accent6">
              <a:lumMod val="20000"/>
              <a:lumOff val="80000"/>
            </a:schemeClr>
          </a:solidFill>
        </p:spPr>
        <p:txBody>
          <a:bodyPr wrap="square">
            <a:spAutoFit/>
          </a:bodyPr>
          <a:lstStyle/>
          <a:p>
            <a:pPr>
              <a:lnSpc>
                <a:spcPct val="85000"/>
              </a:lnSpc>
            </a:pPr>
            <a:r>
              <a:rPr lang="en-US" sz="1700">
                <a:solidFill>
                  <a:srgbClr val="006FE0"/>
                </a:solidFill>
                <a:latin typeface="inherit"/>
              </a:rPr>
              <a:t>    </a:t>
            </a:r>
            <a:r>
              <a:rPr lang="en-US" sz="1700">
                <a:solidFill>
                  <a:srgbClr val="004ED0"/>
                </a:solidFill>
                <a:latin typeface="inherit"/>
              </a:rPr>
              <a:t>def exitWindow</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close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0000"/>
                </a:solidFill>
                <a:latin typeface="Monaco"/>
              </a:rPr>
              <a:t> </a:t>
            </a:r>
          </a:p>
          <a:p>
            <a:pPr>
              <a:lnSpc>
                <a:spcPct val="85000"/>
              </a:lnSpc>
            </a:pPr>
            <a:r>
              <a:rPr lang="en-US" sz="1700">
                <a:solidFill>
                  <a:srgbClr val="006FE0"/>
                </a:solidFill>
                <a:latin typeface="inherit"/>
              </a:rPr>
              <a:t>    </a:t>
            </a:r>
            <a:r>
              <a:rPr lang="en-US" sz="1700">
                <a:solidFill>
                  <a:srgbClr val="004ED0"/>
                </a:solidFill>
                <a:latin typeface="inherit"/>
              </a:rPr>
              <a:t>def createEditor</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textEdit</a:t>
            </a:r>
            <a:r>
              <a:rPr lang="en-US" sz="1700">
                <a:solidFill>
                  <a:srgbClr val="006FE0"/>
                </a:solidFill>
                <a:latin typeface="inherit"/>
              </a:rPr>
              <a:t> = </a:t>
            </a:r>
            <a:r>
              <a:rPr lang="en-US" sz="1700">
                <a:solidFill>
                  <a:srgbClr val="004ED0"/>
                </a:solidFill>
                <a:latin typeface="inherit"/>
              </a:rPr>
              <a:t>QTextEdit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setCentralWidget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textEdit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0000"/>
                </a:solidFill>
                <a:latin typeface="Monaco"/>
              </a:rPr>
              <a:t> </a:t>
            </a:r>
          </a:p>
          <a:p>
            <a:pPr>
              <a:lnSpc>
                <a:spcPct val="85000"/>
              </a:lnSpc>
            </a:pPr>
            <a:r>
              <a:rPr lang="en-US" sz="1700">
                <a:solidFill>
                  <a:srgbClr val="006FE0"/>
                </a:solidFill>
                <a:latin typeface="inherit"/>
              </a:rPr>
              <a:t>    </a:t>
            </a:r>
            <a:r>
              <a:rPr lang="en-US" sz="1700">
                <a:solidFill>
                  <a:srgbClr val="004ED0"/>
                </a:solidFill>
                <a:latin typeface="inherit"/>
              </a:rPr>
              <a:t>def fontDialog</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font</a:t>
            </a:r>
            <a:r>
              <a:rPr lang="en-US" sz="1700">
                <a:solidFill>
                  <a:srgbClr val="333333"/>
                </a:solidFill>
                <a:latin typeface="inherit"/>
              </a:rPr>
              <a:t>,</a:t>
            </a:r>
            <a:r>
              <a:rPr lang="en-US" sz="1700">
                <a:solidFill>
                  <a:srgbClr val="006FE0"/>
                </a:solidFill>
                <a:latin typeface="inherit"/>
              </a:rPr>
              <a:t> </a:t>
            </a:r>
            <a:r>
              <a:rPr lang="en-US" sz="1700">
                <a:solidFill>
                  <a:srgbClr val="002D7A"/>
                </a:solidFill>
                <a:latin typeface="inherit"/>
              </a:rPr>
              <a:t>ok</a:t>
            </a:r>
            <a:r>
              <a:rPr lang="en-US" sz="1700">
                <a:solidFill>
                  <a:srgbClr val="006FE0"/>
                </a:solidFill>
                <a:latin typeface="inherit"/>
              </a:rPr>
              <a:t> = </a:t>
            </a:r>
            <a:r>
              <a:rPr lang="en-US" sz="1700">
                <a:solidFill>
                  <a:srgbClr val="002D7A"/>
                </a:solidFill>
                <a:latin typeface="inherit"/>
              </a:rPr>
              <a:t>QFontDialog</a:t>
            </a:r>
            <a:r>
              <a:rPr lang="en-US" sz="1700">
                <a:solidFill>
                  <a:srgbClr val="333333"/>
                </a:solidFill>
                <a:latin typeface="inherit"/>
              </a:rPr>
              <a:t>.</a:t>
            </a:r>
            <a:r>
              <a:rPr lang="en-US" sz="1700">
                <a:solidFill>
                  <a:srgbClr val="004ED0"/>
                </a:solidFill>
                <a:latin typeface="inherit"/>
              </a:rPr>
              <a:t>getFont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if</a:t>
            </a:r>
            <a:r>
              <a:rPr lang="en-US" sz="1700">
                <a:solidFill>
                  <a:srgbClr val="006FE0"/>
                </a:solidFill>
                <a:latin typeface="inherit"/>
              </a:rPr>
              <a:t> </a:t>
            </a:r>
            <a:r>
              <a:rPr lang="en-US" sz="1700">
                <a:solidFill>
                  <a:srgbClr val="002D7A"/>
                </a:solidFill>
                <a:latin typeface="inherit"/>
              </a:rPr>
              <a:t>ok</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textEdit</a:t>
            </a:r>
            <a:r>
              <a:rPr lang="en-US" sz="1700">
                <a:solidFill>
                  <a:srgbClr val="333333"/>
                </a:solidFill>
                <a:latin typeface="inherit"/>
              </a:rPr>
              <a:t>.</a:t>
            </a:r>
            <a:r>
              <a:rPr lang="en-US" sz="1700">
                <a:solidFill>
                  <a:srgbClr val="004ED0"/>
                </a:solidFill>
                <a:latin typeface="inherit"/>
              </a:rPr>
              <a:t>setFont</a:t>
            </a:r>
            <a:r>
              <a:rPr lang="en-US" sz="1700">
                <a:solidFill>
                  <a:srgbClr val="333333"/>
                </a:solidFill>
                <a:latin typeface="inherit"/>
              </a:rPr>
              <a:t>(</a:t>
            </a:r>
            <a:r>
              <a:rPr lang="en-US" sz="1700">
                <a:solidFill>
                  <a:srgbClr val="002D7A"/>
                </a:solidFill>
                <a:latin typeface="inherit"/>
              </a:rPr>
              <a:t>font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0000"/>
                </a:solidFill>
                <a:latin typeface="Monaco"/>
              </a:rPr>
              <a:t> </a:t>
            </a:r>
          </a:p>
          <a:p>
            <a:pPr>
              <a:lnSpc>
                <a:spcPct val="85000"/>
              </a:lnSpc>
            </a:pPr>
            <a:r>
              <a:rPr lang="en-US" sz="1700">
                <a:solidFill>
                  <a:srgbClr val="006FE0"/>
                </a:solidFill>
                <a:latin typeface="inherit"/>
              </a:rPr>
              <a:t>    </a:t>
            </a:r>
            <a:r>
              <a:rPr lang="en-US" sz="1700">
                <a:solidFill>
                  <a:srgbClr val="004ED0"/>
                </a:solidFill>
                <a:latin typeface="inherit"/>
              </a:rPr>
              <a:t>def colorDialog</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color</a:t>
            </a:r>
            <a:r>
              <a:rPr lang="en-US" sz="1700">
                <a:solidFill>
                  <a:srgbClr val="006FE0"/>
                </a:solidFill>
                <a:latin typeface="inherit"/>
              </a:rPr>
              <a:t> = </a:t>
            </a:r>
            <a:r>
              <a:rPr lang="en-US" sz="1700">
                <a:solidFill>
                  <a:srgbClr val="002D7A"/>
                </a:solidFill>
                <a:latin typeface="inherit"/>
              </a:rPr>
              <a:t>QColorDialog</a:t>
            </a:r>
            <a:r>
              <a:rPr lang="en-US" sz="1700">
                <a:solidFill>
                  <a:srgbClr val="333333"/>
                </a:solidFill>
                <a:latin typeface="inherit"/>
              </a:rPr>
              <a:t>.</a:t>
            </a:r>
            <a:r>
              <a:rPr lang="en-US" sz="1700">
                <a:solidFill>
                  <a:srgbClr val="004ED0"/>
                </a:solidFill>
                <a:latin typeface="inherit"/>
              </a:rPr>
              <a:t>getColor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textEdit</a:t>
            </a:r>
            <a:r>
              <a:rPr lang="en-US" sz="1700">
                <a:solidFill>
                  <a:srgbClr val="333333"/>
                </a:solidFill>
                <a:latin typeface="inherit"/>
              </a:rPr>
              <a:t>.</a:t>
            </a:r>
            <a:r>
              <a:rPr lang="en-US" sz="1700">
                <a:solidFill>
                  <a:srgbClr val="004ED0"/>
                </a:solidFill>
                <a:latin typeface="inherit"/>
              </a:rPr>
              <a:t>setTextColor</a:t>
            </a:r>
            <a:r>
              <a:rPr lang="en-US" sz="1700">
                <a:solidFill>
                  <a:srgbClr val="333333"/>
                </a:solidFill>
                <a:latin typeface="inherit"/>
              </a:rPr>
              <a:t>(</a:t>
            </a:r>
            <a:r>
              <a:rPr lang="en-US" sz="1700">
                <a:solidFill>
                  <a:srgbClr val="002D7A"/>
                </a:solidFill>
                <a:latin typeface="inherit"/>
              </a:rPr>
              <a:t>color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0000"/>
                </a:solidFill>
                <a:latin typeface="Monaco"/>
              </a:rPr>
              <a:t> </a:t>
            </a:r>
          </a:p>
          <a:p>
            <a:pPr>
              <a:lnSpc>
                <a:spcPct val="85000"/>
              </a:lnSpc>
            </a:pPr>
            <a:r>
              <a:rPr lang="en-US" sz="1700">
                <a:solidFill>
                  <a:srgbClr val="006FE0"/>
                </a:solidFill>
                <a:latin typeface="inherit"/>
              </a:rPr>
              <a:t>    </a:t>
            </a:r>
            <a:r>
              <a:rPr lang="en-US" sz="1700">
                <a:solidFill>
                  <a:srgbClr val="004ED0"/>
                </a:solidFill>
                <a:latin typeface="inherit"/>
              </a:rPr>
              <a:t>def printDialog</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printer</a:t>
            </a:r>
            <a:r>
              <a:rPr lang="en-US" sz="1700">
                <a:solidFill>
                  <a:srgbClr val="006FE0"/>
                </a:solidFill>
                <a:latin typeface="inherit"/>
              </a:rPr>
              <a:t> = </a:t>
            </a:r>
            <a:r>
              <a:rPr lang="en-US" sz="1700">
                <a:solidFill>
                  <a:srgbClr val="004ED0"/>
                </a:solidFill>
                <a:latin typeface="inherit"/>
              </a:rPr>
              <a:t>QPrinter</a:t>
            </a:r>
            <a:r>
              <a:rPr lang="en-US" sz="1700">
                <a:solidFill>
                  <a:srgbClr val="333333"/>
                </a:solidFill>
                <a:latin typeface="inherit"/>
              </a:rPr>
              <a:t>(</a:t>
            </a:r>
            <a:r>
              <a:rPr lang="en-US" sz="1700">
                <a:solidFill>
                  <a:srgbClr val="002D7A"/>
                </a:solidFill>
                <a:latin typeface="inherit"/>
              </a:rPr>
              <a:t>QPrinter</a:t>
            </a:r>
            <a:r>
              <a:rPr lang="en-US" sz="1700">
                <a:solidFill>
                  <a:srgbClr val="333333"/>
                </a:solidFill>
                <a:latin typeface="inherit"/>
              </a:rPr>
              <a:t>.</a:t>
            </a:r>
            <a:r>
              <a:rPr lang="en-US" sz="1700">
                <a:solidFill>
                  <a:srgbClr val="002D7A"/>
                </a:solidFill>
                <a:latin typeface="inherit"/>
              </a:rPr>
              <a:t>HighResolution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dialog</a:t>
            </a:r>
            <a:r>
              <a:rPr lang="en-US" sz="1700">
                <a:solidFill>
                  <a:srgbClr val="006FE0"/>
                </a:solidFill>
                <a:latin typeface="inherit"/>
              </a:rPr>
              <a:t> = </a:t>
            </a:r>
            <a:r>
              <a:rPr lang="en-US" sz="1700">
                <a:solidFill>
                  <a:srgbClr val="004ED0"/>
                </a:solidFill>
                <a:latin typeface="inherit"/>
              </a:rPr>
              <a:t>QPrintDialog</a:t>
            </a:r>
            <a:r>
              <a:rPr lang="en-US" sz="1700">
                <a:solidFill>
                  <a:srgbClr val="333333"/>
                </a:solidFill>
                <a:latin typeface="inherit"/>
              </a:rPr>
              <a:t>(</a:t>
            </a:r>
            <a:r>
              <a:rPr lang="en-US" sz="1700">
                <a:solidFill>
                  <a:srgbClr val="002D7A"/>
                </a:solidFill>
                <a:latin typeface="inherit"/>
              </a:rPr>
              <a:t>printer</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if</a:t>
            </a:r>
            <a:r>
              <a:rPr lang="en-US" sz="1700">
                <a:solidFill>
                  <a:srgbClr val="006FE0"/>
                </a:solidFill>
                <a:latin typeface="inherit"/>
              </a:rPr>
              <a:t> </a:t>
            </a:r>
            <a:r>
              <a:rPr lang="en-US" sz="1700">
                <a:solidFill>
                  <a:srgbClr val="002D7A"/>
                </a:solidFill>
                <a:latin typeface="inherit"/>
              </a:rPr>
              <a:t>dialog</a:t>
            </a:r>
            <a:r>
              <a:rPr lang="en-US" sz="1700">
                <a:solidFill>
                  <a:srgbClr val="333333"/>
                </a:solidFill>
                <a:latin typeface="inherit"/>
              </a:rPr>
              <a:t>.</a:t>
            </a:r>
            <a:r>
              <a:rPr lang="en-US" sz="1700">
                <a:solidFill>
                  <a:srgbClr val="004ED0"/>
                </a:solidFill>
                <a:latin typeface="inherit"/>
              </a:rPr>
              <a:t>exec_</a:t>
            </a:r>
            <a:r>
              <a:rPr lang="en-US" sz="1700">
                <a:solidFill>
                  <a:srgbClr val="333333"/>
                </a:solidFill>
                <a:latin typeface="inherit"/>
              </a:rPr>
              <a:t>()</a:t>
            </a:r>
            <a:r>
              <a:rPr lang="en-US" sz="1700">
                <a:solidFill>
                  <a:srgbClr val="006FE0"/>
                </a:solidFill>
                <a:latin typeface="inherit"/>
              </a:rPr>
              <a:t> == </a:t>
            </a:r>
            <a:r>
              <a:rPr lang="en-US" sz="1700">
                <a:solidFill>
                  <a:srgbClr val="002D7A"/>
                </a:solidFill>
                <a:latin typeface="inherit"/>
              </a:rPr>
              <a:t>QPrintDialog</a:t>
            </a:r>
            <a:r>
              <a:rPr lang="en-US" sz="1700">
                <a:solidFill>
                  <a:srgbClr val="333333"/>
                </a:solidFill>
                <a:latin typeface="inherit"/>
              </a:rPr>
              <a:t>.</a:t>
            </a:r>
            <a:r>
              <a:rPr lang="en-US" sz="1700">
                <a:solidFill>
                  <a:srgbClr val="002D7A"/>
                </a:solidFill>
                <a:latin typeface="inherit"/>
              </a:rPr>
              <a:t>Accepted</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textEdit</a:t>
            </a:r>
            <a:r>
              <a:rPr lang="en-US" sz="1700">
                <a:solidFill>
                  <a:srgbClr val="333333"/>
                </a:solidFill>
                <a:latin typeface="inherit"/>
              </a:rPr>
              <a:t>.</a:t>
            </a:r>
            <a:r>
              <a:rPr lang="en-US" sz="1700">
                <a:solidFill>
                  <a:srgbClr val="004ED0"/>
                </a:solidFill>
                <a:latin typeface="inherit"/>
              </a:rPr>
              <a:t>print_</a:t>
            </a:r>
            <a:r>
              <a:rPr lang="en-US" sz="1700">
                <a:solidFill>
                  <a:srgbClr val="333333"/>
                </a:solidFill>
                <a:latin typeface="inherit"/>
              </a:rPr>
              <a:t>(</a:t>
            </a:r>
            <a:r>
              <a:rPr lang="en-US" sz="1700">
                <a:solidFill>
                  <a:srgbClr val="002D7A"/>
                </a:solidFill>
                <a:latin typeface="inherit"/>
              </a:rPr>
              <a:t>printer</a:t>
            </a:r>
            <a:r>
              <a:rPr lang="en-US" sz="1700">
                <a:solidFill>
                  <a:srgbClr val="333333"/>
                </a:solidFill>
                <a:latin typeface="inherit"/>
              </a:rPr>
              <a:t>)</a:t>
            </a:r>
            <a:endParaRPr lang="en-US" sz="1700" b="0" i="0">
              <a:solidFill>
                <a:srgbClr val="000000"/>
              </a:solidFill>
              <a:effectLst/>
              <a:latin typeface="Monaco"/>
            </a:endParaRPr>
          </a:p>
        </p:txBody>
      </p:sp>
      <p:sp>
        <p:nvSpPr>
          <p:cNvPr id="9" name="Rectangle 8">
            <a:extLst>
              <a:ext uri="{FF2B5EF4-FFF2-40B4-BE49-F238E27FC236}">
                <a16:creationId xmlns:a16="http://schemas.microsoft.com/office/drawing/2014/main" id="{2E21A478-7BD7-49C5-BA14-084E031FF949}"/>
              </a:ext>
            </a:extLst>
          </p:cNvPr>
          <p:cNvSpPr/>
          <p:nvPr/>
        </p:nvSpPr>
        <p:spPr>
          <a:xfrm>
            <a:off x="3467819" y="2800095"/>
            <a:ext cx="5676181" cy="1923604"/>
          </a:xfrm>
          <a:prstGeom prst="rect">
            <a:avLst/>
          </a:prstGeom>
          <a:solidFill>
            <a:schemeClr val="accent4">
              <a:lumMod val="20000"/>
              <a:lumOff val="80000"/>
            </a:schemeClr>
          </a:solidFill>
        </p:spPr>
        <p:txBody>
          <a:bodyPr wrap="square">
            <a:spAutoFit/>
          </a:bodyPr>
          <a:lstStyle/>
          <a:p>
            <a:r>
              <a:rPr lang="en-US" sz="1700">
                <a:solidFill>
                  <a:srgbClr val="004ED0"/>
                </a:solidFill>
                <a:latin typeface="inherit"/>
              </a:rPr>
              <a:t>def printpreviewDialog</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r>
              <a:rPr lang="en-US" sz="1700">
                <a:solidFill>
                  <a:srgbClr val="006FE0"/>
                </a:solidFill>
                <a:latin typeface="inherit"/>
              </a:rPr>
              <a:t>        </a:t>
            </a:r>
            <a:r>
              <a:rPr lang="en-US" sz="1700">
                <a:solidFill>
                  <a:srgbClr val="002D7A"/>
                </a:solidFill>
                <a:latin typeface="inherit"/>
              </a:rPr>
              <a:t>printer</a:t>
            </a:r>
            <a:r>
              <a:rPr lang="en-US" sz="1700">
                <a:solidFill>
                  <a:srgbClr val="006FE0"/>
                </a:solidFill>
                <a:latin typeface="inherit"/>
              </a:rPr>
              <a:t> = </a:t>
            </a:r>
            <a:r>
              <a:rPr lang="en-US" sz="1700">
                <a:solidFill>
                  <a:srgbClr val="004ED0"/>
                </a:solidFill>
                <a:latin typeface="inherit"/>
              </a:rPr>
              <a:t>QPrinter</a:t>
            </a:r>
            <a:r>
              <a:rPr lang="en-US" sz="1700">
                <a:solidFill>
                  <a:srgbClr val="333333"/>
                </a:solidFill>
                <a:latin typeface="inherit"/>
              </a:rPr>
              <a:t>(</a:t>
            </a:r>
            <a:r>
              <a:rPr lang="en-US" sz="1700">
                <a:solidFill>
                  <a:srgbClr val="002D7A"/>
                </a:solidFill>
                <a:latin typeface="inherit"/>
              </a:rPr>
              <a:t>QPrinter</a:t>
            </a:r>
            <a:r>
              <a:rPr lang="en-US" sz="1700">
                <a:solidFill>
                  <a:srgbClr val="333333"/>
                </a:solidFill>
                <a:latin typeface="inherit"/>
              </a:rPr>
              <a:t>.</a:t>
            </a:r>
            <a:r>
              <a:rPr lang="en-US" sz="1700">
                <a:solidFill>
                  <a:srgbClr val="002D7A"/>
                </a:solidFill>
                <a:latin typeface="inherit"/>
              </a:rPr>
              <a:t>HighResolution</a:t>
            </a:r>
            <a:r>
              <a:rPr lang="en-US" sz="1700">
                <a:solidFill>
                  <a:srgbClr val="333333"/>
                </a:solidFill>
                <a:latin typeface="inherit"/>
              </a:rPr>
              <a:t>)</a:t>
            </a:r>
            <a:endParaRPr lang="en-US" sz="1700">
              <a:solidFill>
                <a:srgbClr val="000000"/>
              </a:solidFill>
              <a:latin typeface="Monaco"/>
            </a:endParaRPr>
          </a:p>
          <a:p>
            <a:r>
              <a:rPr lang="en-US" sz="1700">
                <a:solidFill>
                  <a:srgbClr val="006FE0"/>
                </a:solidFill>
                <a:latin typeface="inherit"/>
              </a:rPr>
              <a:t>        </a:t>
            </a:r>
            <a:r>
              <a:rPr lang="en-US" sz="1700">
                <a:solidFill>
                  <a:srgbClr val="002D7A"/>
                </a:solidFill>
                <a:latin typeface="inherit"/>
              </a:rPr>
              <a:t>previewDialog</a:t>
            </a:r>
            <a:r>
              <a:rPr lang="en-US" sz="1700">
                <a:solidFill>
                  <a:srgbClr val="006FE0"/>
                </a:solidFill>
                <a:latin typeface="inherit"/>
              </a:rPr>
              <a:t> = </a:t>
            </a:r>
            <a:r>
              <a:rPr lang="en-US" sz="1700">
                <a:solidFill>
                  <a:srgbClr val="004ED0"/>
                </a:solidFill>
                <a:latin typeface="inherit"/>
              </a:rPr>
              <a:t>QPrintPreviewDialog</a:t>
            </a:r>
            <a:r>
              <a:rPr lang="en-US" sz="1700">
                <a:solidFill>
                  <a:srgbClr val="333333"/>
                </a:solidFill>
                <a:latin typeface="inherit"/>
              </a:rPr>
              <a:t>(</a:t>
            </a:r>
            <a:r>
              <a:rPr lang="en-US" sz="1700">
                <a:solidFill>
                  <a:srgbClr val="002D7A"/>
                </a:solidFill>
                <a:latin typeface="inherit"/>
              </a:rPr>
              <a:t>printer</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endParaRPr lang="en-US" sz="1700">
              <a:solidFill>
                <a:srgbClr val="000000"/>
              </a:solidFill>
              <a:latin typeface="Monaco"/>
            </a:endParaRPr>
          </a:p>
          <a:p>
            <a:r>
              <a:rPr lang="en-US" sz="1700">
                <a:solidFill>
                  <a:srgbClr val="006FE0"/>
                </a:solidFill>
                <a:latin typeface="inherit"/>
              </a:rPr>
              <a:t>        </a:t>
            </a:r>
            <a:r>
              <a:rPr lang="en-US" sz="1700">
                <a:solidFill>
                  <a:srgbClr val="002D7A"/>
                </a:solidFill>
                <a:latin typeface="inherit"/>
              </a:rPr>
              <a:t>previewDialog</a:t>
            </a:r>
            <a:r>
              <a:rPr lang="en-US" sz="1700">
                <a:solidFill>
                  <a:srgbClr val="333333"/>
                </a:solidFill>
                <a:latin typeface="inherit"/>
              </a:rPr>
              <a:t>.</a:t>
            </a:r>
            <a:r>
              <a:rPr lang="en-US" sz="1700">
                <a:solidFill>
                  <a:srgbClr val="002D7A"/>
                </a:solidFill>
                <a:latin typeface="inherit"/>
              </a:rPr>
              <a:t>paintRequested</a:t>
            </a:r>
            <a:r>
              <a:rPr lang="en-US" sz="1700">
                <a:solidFill>
                  <a:srgbClr val="333333"/>
                </a:solidFill>
                <a:latin typeface="inherit"/>
              </a:rPr>
              <a:t>.</a:t>
            </a:r>
            <a:r>
              <a:rPr lang="en-US" sz="1700">
                <a:solidFill>
                  <a:srgbClr val="004ED0"/>
                </a:solidFill>
                <a:latin typeface="inherit"/>
              </a:rPr>
              <a:t>connect</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printPreview</a:t>
            </a:r>
            <a:r>
              <a:rPr lang="en-US" sz="1700">
                <a:solidFill>
                  <a:srgbClr val="333333"/>
                </a:solidFill>
                <a:latin typeface="inherit"/>
              </a:rPr>
              <a:t>)</a:t>
            </a:r>
            <a:endParaRPr lang="en-US" sz="1700">
              <a:solidFill>
                <a:srgbClr val="000000"/>
              </a:solidFill>
              <a:latin typeface="Monaco"/>
            </a:endParaRPr>
          </a:p>
          <a:p>
            <a:r>
              <a:rPr lang="en-US" sz="1700">
                <a:solidFill>
                  <a:srgbClr val="006FE0"/>
                </a:solidFill>
                <a:latin typeface="inherit"/>
              </a:rPr>
              <a:t>        </a:t>
            </a:r>
            <a:r>
              <a:rPr lang="en-US" sz="1700">
                <a:solidFill>
                  <a:srgbClr val="002D7A"/>
                </a:solidFill>
                <a:latin typeface="inherit"/>
              </a:rPr>
              <a:t>previewDialog</a:t>
            </a:r>
            <a:r>
              <a:rPr lang="en-US" sz="1700">
                <a:solidFill>
                  <a:srgbClr val="333333"/>
                </a:solidFill>
                <a:latin typeface="inherit"/>
              </a:rPr>
              <a:t>.</a:t>
            </a:r>
            <a:r>
              <a:rPr lang="en-US" sz="1700">
                <a:solidFill>
                  <a:srgbClr val="004ED0"/>
                </a:solidFill>
                <a:latin typeface="inherit"/>
              </a:rPr>
              <a:t>exec_</a:t>
            </a:r>
            <a:r>
              <a:rPr lang="en-US" sz="1700">
                <a:solidFill>
                  <a:srgbClr val="333333"/>
                </a:solidFill>
                <a:latin typeface="inherit"/>
              </a:rPr>
              <a:t>()</a:t>
            </a:r>
            <a:endParaRPr lang="en-US" sz="1700">
              <a:solidFill>
                <a:srgbClr val="000000"/>
              </a:solidFill>
              <a:latin typeface="Monaco"/>
            </a:endParaRPr>
          </a:p>
          <a:p>
            <a:r>
              <a:rPr lang="en-US" sz="1700">
                <a:solidFill>
                  <a:srgbClr val="006FE0"/>
                </a:solidFill>
                <a:latin typeface="inherit"/>
              </a:rPr>
              <a:t>    </a:t>
            </a:r>
            <a:r>
              <a:rPr lang="en-US" sz="1700">
                <a:solidFill>
                  <a:srgbClr val="004ED0"/>
                </a:solidFill>
                <a:latin typeface="inherit"/>
              </a:rPr>
              <a:t>def printPreview</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 </a:t>
            </a:r>
            <a:r>
              <a:rPr lang="en-US" sz="1700">
                <a:solidFill>
                  <a:srgbClr val="002D7A"/>
                </a:solidFill>
                <a:latin typeface="inherit"/>
              </a:rPr>
              <a:t>printer</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textEdit</a:t>
            </a:r>
            <a:r>
              <a:rPr lang="en-US" sz="1700">
                <a:solidFill>
                  <a:srgbClr val="333333"/>
                </a:solidFill>
                <a:latin typeface="inherit"/>
              </a:rPr>
              <a:t>.</a:t>
            </a:r>
            <a:r>
              <a:rPr lang="en-US" sz="1700">
                <a:solidFill>
                  <a:srgbClr val="004ED0"/>
                </a:solidFill>
                <a:latin typeface="inherit"/>
              </a:rPr>
              <a:t>print_</a:t>
            </a:r>
            <a:r>
              <a:rPr lang="en-US" sz="1700">
                <a:solidFill>
                  <a:srgbClr val="333333"/>
                </a:solidFill>
                <a:latin typeface="inherit"/>
              </a:rPr>
              <a:t>(</a:t>
            </a:r>
            <a:r>
              <a:rPr lang="en-US" sz="1700">
                <a:solidFill>
                  <a:srgbClr val="002D7A"/>
                </a:solidFill>
                <a:latin typeface="inherit"/>
              </a:rPr>
              <a:t>printer</a:t>
            </a:r>
            <a:r>
              <a:rPr lang="en-US" sz="1700">
                <a:solidFill>
                  <a:srgbClr val="333333"/>
                </a:solidFill>
                <a:latin typeface="inherit"/>
              </a:rPr>
              <a:t>)</a:t>
            </a:r>
            <a:endParaRPr lang="en-US" sz="1700" b="0" i="0">
              <a:solidFill>
                <a:srgbClr val="000000"/>
              </a:solidFill>
              <a:effectLst/>
              <a:latin typeface="Monaco"/>
            </a:endParaRPr>
          </a:p>
        </p:txBody>
      </p:sp>
      <p:sp>
        <p:nvSpPr>
          <p:cNvPr id="10" name="Rectangle 9">
            <a:extLst>
              <a:ext uri="{FF2B5EF4-FFF2-40B4-BE49-F238E27FC236}">
                <a16:creationId xmlns:a16="http://schemas.microsoft.com/office/drawing/2014/main" id="{185F08ED-D52A-420F-81FE-E601A1A00CE1}"/>
              </a:ext>
            </a:extLst>
          </p:cNvPr>
          <p:cNvSpPr/>
          <p:nvPr/>
        </p:nvSpPr>
        <p:spPr>
          <a:xfrm>
            <a:off x="5589916" y="5736180"/>
            <a:ext cx="3260785" cy="1015663"/>
          </a:xfrm>
          <a:prstGeom prst="rect">
            <a:avLst/>
          </a:prstGeom>
          <a:solidFill>
            <a:schemeClr val="accent2">
              <a:lumMod val="20000"/>
              <a:lumOff val="80000"/>
            </a:schemeClr>
          </a:solidFill>
        </p:spPr>
        <p:txBody>
          <a:bodyPr wrap="square">
            <a:spAutoFit/>
          </a:bodyPr>
          <a:lstStyle/>
          <a:p>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002D7A"/>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Window</a:t>
            </a:r>
            <a:r>
              <a:rPr lang="en-US" sz="2000">
                <a:solidFill>
                  <a:srgbClr val="333333"/>
                </a:solidFill>
                <a:latin typeface="inherit"/>
              </a:rPr>
              <a:t>()</a:t>
            </a:r>
            <a:endParaRPr lang="en-US" sz="2000">
              <a:solidFill>
                <a:srgbClr val="000000"/>
              </a:solidFill>
              <a:latin typeface="Monaco"/>
            </a:endParaRPr>
          </a:p>
          <a:p>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004ED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sp>
        <p:nvSpPr>
          <p:cNvPr id="11" name="Rectangle 10">
            <a:extLst>
              <a:ext uri="{FF2B5EF4-FFF2-40B4-BE49-F238E27FC236}">
                <a16:creationId xmlns:a16="http://schemas.microsoft.com/office/drawing/2014/main" id="{5CA623F3-D428-4D7D-8A27-A263D14EA148}"/>
              </a:ext>
            </a:extLst>
          </p:cNvPr>
          <p:cNvSpPr/>
          <p:nvPr/>
        </p:nvSpPr>
        <p:spPr>
          <a:xfrm>
            <a:off x="5442271" y="5028294"/>
            <a:ext cx="3701729" cy="707886"/>
          </a:xfrm>
          <a:prstGeom prst="rect">
            <a:avLst/>
          </a:prstGeom>
        </p:spPr>
        <p:txBody>
          <a:bodyPr wrap="square">
            <a:spAutoFit/>
          </a:bodyPr>
          <a:lstStyle/>
          <a:p>
            <a:r>
              <a:rPr lang="vi-VN" sz="2000" i="1">
                <a:solidFill>
                  <a:srgbClr val="3A3A3A"/>
                </a:solidFill>
              </a:rPr>
              <a:t>Cuối cùng, chúng ta tạo đối tượng QApplication và Window</a:t>
            </a:r>
            <a:endParaRPr lang="en-US" sz="2000" i="1"/>
          </a:p>
        </p:txBody>
      </p:sp>
    </p:spTree>
    <p:extLst>
      <p:ext uri="{BB962C8B-B14F-4D97-AF65-F5344CB8AC3E}">
        <p14:creationId xmlns:p14="http://schemas.microsoft.com/office/powerpoint/2010/main" val="11049157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7B2359-2398-40BB-87CA-A8FA43A8D99B}"/>
              </a:ext>
            </a:extLst>
          </p:cNvPr>
          <p:cNvSpPr>
            <a:spLocks noGrp="1"/>
          </p:cNvSpPr>
          <p:nvPr>
            <p:ph type="title"/>
          </p:nvPr>
        </p:nvSpPr>
        <p:spPr>
          <a:xfrm>
            <a:off x="9624" y="19250"/>
            <a:ext cx="9134375" cy="1283338"/>
          </a:xfrm>
        </p:spPr>
        <p:txBody>
          <a:bodyPr>
            <a:normAutofit fontScale="90000"/>
          </a:bodyPr>
          <a:lstStyle/>
          <a:p>
            <a:r>
              <a:rPr lang="vi-VN" b="1">
                <a:latin typeface="Calibri" panose="020F0502020204030204" pitchFamily="34" charset="0"/>
                <a:cs typeface="Calibri" panose="020F0502020204030204" pitchFamily="34" charset="0"/>
              </a:rPr>
              <a:t>Tạo hộp thoại xem trước</a:t>
            </a:r>
            <a:r>
              <a:rPr lang="en-US" b="1">
                <a:latin typeface="Calibri" panose="020F0502020204030204" pitchFamily="34" charset="0"/>
                <a:cs typeface="Calibri" panose="020F0502020204030204" pitchFamily="34" charset="0"/>
              </a:rPr>
              <a:t>-Print Preview </a:t>
            </a:r>
            <a:r>
              <a:rPr lang="vi-VN" b="1">
                <a:latin typeface="Calibri" panose="020F0502020204030204" pitchFamily="34" charset="0"/>
                <a:cs typeface="Calibri" panose="020F0502020204030204" pitchFamily="34" charset="0"/>
              </a:rPr>
              <a:t>(QPrintPreviewDialog)</a:t>
            </a:r>
            <a:r>
              <a:rPr lang="en-US" b="1">
                <a:latin typeface="Calibri" panose="020F0502020204030204" pitchFamily="34" charset="0"/>
                <a:cs typeface="Calibri" panose="020F0502020204030204" pitchFamily="34" charset="0"/>
              </a:rPr>
              <a:t> (t.t)</a:t>
            </a:r>
          </a:p>
        </p:txBody>
      </p:sp>
      <p:pic>
        <p:nvPicPr>
          <p:cNvPr id="2050" name="Picture 2">
            <a:extLst>
              <a:ext uri="{FF2B5EF4-FFF2-40B4-BE49-F238E27FC236}">
                <a16:creationId xmlns:a16="http://schemas.microsoft.com/office/drawing/2014/main" id="{FDA65D93-ADFC-40C2-BE82-E64AE9597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75" y="1293243"/>
            <a:ext cx="8577533" cy="542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3227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2008-5A85-4674-90E4-2CBA9B5CFC9A}"/>
              </a:ext>
            </a:extLst>
          </p:cNvPr>
          <p:cNvSpPr>
            <a:spLocks noGrp="1"/>
          </p:cNvSpPr>
          <p:nvPr>
            <p:ph type="title"/>
          </p:nvPr>
        </p:nvSpPr>
        <p:spPr>
          <a:xfrm>
            <a:off x="9624" y="19251"/>
            <a:ext cx="9134375" cy="742750"/>
          </a:xfrm>
        </p:spPr>
        <p:txBody>
          <a:bodyPr>
            <a:normAutofit fontScale="90000"/>
          </a:bodyPr>
          <a:lstStyle/>
          <a:p>
            <a:r>
              <a:rPr lang="vi-VN"/>
              <a:t>Cách xuất tệp dưới dạng PDF trong PyQt5</a:t>
            </a:r>
            <a:endParaRPr lang="en-US"/>
          </a:p>
        </p:txBody>
      </p:sp>
      <p:sp>
        <p:nvSpPr>
          <p:cNvPr id="3" name="Content Placeholder 2">
            <a:extLst>
              <a:ext uri="{FF2B5EF4-FFF2-40B4-BE49-F238E27FC236}">
                <a16:creationId xmlns:a16="http://schemas.microsoft.com/office/drawing/2014/main" id="{B792E1C1-37FD-4F1B-8CBC-51BD0908BB92}"/>
              </a:ext>
            </a:extLst>
          </p:cNvPr>
          <p:cNvSpPr>
            <a:spLocks noGrp="1"/>
          </p:cNvSpPr>
          <p:nvPr>
            <p:ph idx="1"/>
          </p:nvPr>
        </p:nvSpPr>
        <p:spPr>
          <a:xfrm>
            <a:off x="9624" y="762001"/>
            <a:ext cx="9134375" cy="6076749"/>
          </a:xfrm>
        </p:spPr>
        <p:txBody>
          <a:bodyPr>
            <a:normAutofit/>
          </a:bodyPr>
          <a:lstStyle/>
          <a:p>
            <a:pPr marL="0" indent="0">
              <a:buNone/>
            </a:pPr>
            <a:r>
              <a:rPr lang="en-US" sz="3200"/>
              <a:t>V</a:t>
            </a:r>
            <a:r>
              <a:rPr lang="vi-VN" sz="3200"/>
              <a:t>iệc xuất tệp dưới dạng PDF trong PyQt5 rất đơn giản và dễ dàng</a:t>
            </a:r>
            <a:r>
              <a:rPr lang="en-US" sz="3200"/>
              <a:t>, đ</a:t>
            </a:r>
            <a:r>
              <a:rPr lang="vi-VN" sz="3200"/>
              <a:t>ầu tiên chúng ta cần một số hàng nhập khẩu</a:t>
            </a:r>
          </a:p>
        </p:txBody>
      </p:sp>
      <p:graphicFrame>
        <p:nvGraphicFramePr>
          <p:cNvPr id="4" name="Table 3">
            <a:extLst>
              <a:ext uri="{FF2B5EF4-FFF2-40B4-BE49-F238E27FC236}">
                <a16:creationId xmlns:a16="http://schemas.microsoft.com/office/drawing/2014/main" id="{819F77FE-582D-4C04-8FE6-B5BDE58B3EE6}"/>
              </a:ext>
            </a:extLst>
          </p:cNvPr>
          <p:cNvGraphicFramePr>
            <a:graphicFrameLocks noGrp="1"/>
          </p:cNvGraphicFramePr>
          <p:nvPr>
            <p:extLst>
              <p:ext uri="{D42A27DB-BD31-4B8C-83A1-F6EECF244321}">
                <p14:modId xmlns:p14="http://schemas.microsoft.com/office/powerpoint/2010/main" val="3948072622"/>
              </p:ext>
            </p:extLst>
          </p:nvPr>
        </p:nvGraphicFramePr>
        <p:xfrm>
          <a:off x="9626" y="2794535"/>
          <a:ext cx="9134374" cy="3017520"/>
        </p:xfrm>
        <a:graphic>
          <a:graphicData uri="http://schemas.openxmlformats.org/drawingml/2006/table">
            <a:tbl>
              <a:tblPr/>
              <a:tblGrid>
                <a:gridCol w="562963">
                  <a:extLst>
                    <a:ext uri="{9D8B030D-6E8A-4147-A177-3AD203B41FA5}">
                      <a16:colId xmlns:a16="http://schemas.microsoft.com/office/drawing/2014/main" val="2706323584"/>
                    </a:ext>
                  </a:extLst>
                </a:gridCol>
                <a:gridCol w="8571411">
                  <a:extLst>
                    <a:ext uri="{9D8B030D-6E8A-4147-A177-3AD203B41FA5}">
                      <a16:colId xmlns:a16="http://schemas.microsoft.com/office/drawing/2014/main" val="3970915568"/>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p>
                      <a:pPr algn="ctr" fontAlgn="t"/>
                      <a:r>
                        <a:rPr lang="en-US" sz="2400" b="0">
                          <a:solidFill>
                            <a:srgbClr val="5499DE"/>
                          </a:solidFill>
                          <a:effectLst/>
                          <a:latin typeface="inherit"/>
                        </a:rPr>
                        <a:t>5</a:t>
                      </a:r>
                    </a:p>
                    <a:p>
                      <a:pPr algn="ctr" fontAlgn="t"/>
                      <a:endParaRPr lang="en-US" sz="2400" b="0">
                        <a:solidFill>
                          <a:srgbClr val="5499DE"/>
                        </a:solidFill>
                        <a:effectLst/>
                        <a:latin typeface="inherit"/>
                      </a:endParaRPr>
                    </a:p>
                    <a:p>
                      <a:pPr algn="ctr" fontAlgn="t"/>
                      <a:r>
                        <a:rPr lang="en-US" sz="2400" b="0">
                          <a:solidFill>
                            <a:srgbClr val="317CC5"/>
                          </a:solidFill>
                          <a:effectLst/>
                          <a:latin typeface="inherit"/>
                        </a:rPr>
                        <a:t>6</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QMainWindow</a:t>
                      </a:r>
                      <a:r>
                        <a:rPr lang="en-US" sz="2400" b="0">
                          <a:solidFill>
                            <a:srgbClr val="333333"/>
                          </a:solidFill>
                          <a:effectLst/>
                          <a:latin typeface="inherit"/>
                        </a:rPr>
                        <a:t>, </a:t>
                      </a:r>
                    </a:p>
                    <a:p>
                      <a:pPr algn="r" fontAlgn="t"/>
                      <a:r>
                        <a:rPr lang="en-US" sz="2400" b="0">
                          <a:solidFill>
                            <a:srgbClr val="002D7A"/>
                          </a:solidFill>
                          <a:effectLst/>
                          <a:latin typeface="inherit"/>
                        </a:rPr>
                        <a:t>QAction</a:t>
                      </a:r>
                      <a:r>
                        <a:rPr lang="en-US" sz="2400" b="0">
                          <a:solidFill>
                            <a:srgbClr val="333333"/>
                          </a:solidFill>
                          <a:effectLst/>
                          <a:latin typeface="inherit"/>
                        </a:rPr>
                        <a:t>, </a:t>
                      </a:r>
                      <a:r>
                        <a:rPr lang="en-US" sz="2400" b="0">
                          <a:solidFill>
                            <a:srgbClr val="002D7A"/>
                          </a:solidFill>
                          <a:effectLst/>
                          <a:latin typeface="inherit"/>
                        </a:rPr>
                        <a:t>QTextEdit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QFontDialog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QColorDialog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QFileDialog</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QIcon</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QtPrintSupport import </a:t>
                      </a:r>
                      <a:r>
                        <a:rPr lang="en-US" sz="2400" b="0">
                          <a:solidFill>
                            <a:srgbClr val="002D7A"/>
                          </a:solidFill>
                          <a:effectLst/>
                          <a:latin typeface="inherit"/>
                        </a:rPr>
                        <a:t>QPrintDialog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QPrinter</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4ED0"/>
                          </a:solidFill>
                          <a:effectLst/>
                          <a:latin typeface="inherit"/>
                        </a:rPr>
                        <a:t>QPrintPreviewDialog</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 import </a:t>
                      </a:r>
                      <a:r>
                        <a:rPr lang="en-US" sz="2400" b="0">
                          <a:solidFill>
                            <a:srgbClr val="002D7A"/>
                          </a:solidFill>
                          <a:effectLst/>
                          <a:latin typeface="inherit"/>
                        </a:rPr>
                        <a:t>QFileInfo</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511280423"/>
                  </a:ext>
                </a:extLst>
              </a:tr>
            </a:tbl>
          </a:graphicData>
        </a:graphic>
      </p:graphicFrame>
    </p:spTree>
    <p:extLst>
      <p:ext uri="{BB962C8B-B14F-4D97-AF65-F5344CB8AC3E}">
        <p14:creationId xmlns:p14="http://schemas.microsoft.com/office/powerpoint/2010/main" val="20939170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F8B95-87C9-4077-AC9D-B9BFD5970EE6}"/>
              </a:ext>
            </a:extLst>
          </p:cNvPr>
          <p:cNvSpPr>
            <a:spLocks noGrp="1"/>
          </p:cNvSpPr>
          <p:nvPr>
            <p:ph idx="1"/>
          </p:nvPr>
        </p:nvSpPr>
        <p:spPr>
          <a:xfrm>
            <a:off x="9624" y="715992"/>
            <a:ext cx="9134375" cy="1319842"/>
          </a:xfrm>
        </p:spPr>
        <p:txBody>
          <a:bodyPr>
            <a:normAutofit/>
          </a:bodyPr>
          <a:lstStyle/>
          <a:p>
            <a:pPr marL="0" indent="0">
              <a:buNone/>
            </a:pPr>
            <a:r>
              <a:rPr lang="vi-VN" sz="2400"/>
              <a:t>Sau đó, tạo lớp Window kế thừa từ lớp QMainWindow và trong lớp đó, tạo một phương thức </a:t>
            </a:r>
            <a:r>
              <a:rPr lang="en-US"/>
              <a:t>CreateMenu</a:t>
            </a:r>
            <a:r>
              <a:rPr lang="vi-VN" sz="2400"/>
              <a:t>() và thêm các yêu cầu và phương thức </a:t>
            </a:r>
            <a:r>
              <a:rPr lang="en-US" sz="2400"/>
              <a:t>menu giống trong các bài tr</a:t>
            </a:r>
            <a:r>
              <a:rPr lang="vi-VN" sz="2400"/>
              <a:t>ư</a:t>
            </a:r>
            <a:r>
              <a:rPr lang="en-US" sz="2400"/>
              <a:t>ớc</a:t>
            </a:r>
          </a:p>
        </p:txBody>
      </p:sp>
      <p:sp>
        <p:nvSpPr>
          <p:cNvPr id="4" name="Title 1">
            <a:extLst>
              <a:ext uri="{FF2B5EF4-FFF2-40B4-BE49-F238E27FC236}">
                <a16:creationId xmlns:a16="http://schemas.microsoft.com/office/drawing/2014/main" id="{C3656F01-37E7-48BE-B93A-590012829927}"/>
              </a:ext>
            </a:extLst>
          </p:cNvPr>
          <p:cNvSpPr>
            <a:spLocks noGrp="1"/>
          </p:cNvSpPr>
          <p:nvPr>
            <p:ph type="title"/>
          </p:nvPr>
        </p:nvSpPr>
        <p:spPr>
          <a:xfrm>
            <a:off x="9525" y="19050"/>
            <a:ext cx="9134475" cy="696942"/>
          </a:xfrm>
        </p:spPr>
        <p:txBody>
          <a:bodyPr>
            <a:noAutofit/>
          </a:bodyPr>
          <a:lstStyle/>
          <a:p>
            <a:r>
              <a:rPr lang="vi-VN" sz="3600"/>
              <a:t>Cách xuất tệp dưới dạng PDF trong PyQt5</a:t>
            </a:r>
            <a:r>
              <a:rPr lang="en-US" sz="3600"/>
              <a:t> (t.t)</a:t>
            </a:r>
          </a:p>
        </p:txBody>
      </p:sp>
      <p:sp>
        <p:nvSpPr>
          <p:cNvPr id="5" name="Rectangle 4">
            <a:extLst>
              <a:ext uri="{FF2B5EF4-FFF2-40B4-BE49-F238E27FC236}">
                <a16:creationId xmlns:a16="http://schemas.microsoft.com/office/drawing/2014/main" id="{8C104D94-5FAA-4DB3-A771-E4B91E5CCEA8}"/>
              </a:ext>
            </a:extLst>
          </p:cNvPr>
          <p:cNvSpPr/>
          <p:nvPr/>
        </p:nvSpPr>
        <p:spPr>
          <a:xfrm>
            <a:off x="6471" y="1819185"/>
            <a:ext cx="3872193" cy="5038815"/>
          </a:xfrm>
          <a:prstGeom prst="rect">
            <a:avLst/>
          </a:prstGeom>
          <a:solidFill>
            <a:schemeClr val="accent4">
              <a:lumMod val="20000"/>
              <a:lumOff val="80000"/>
            </a:schemeClr>
          </a:solidFill>
        </p:spPr>
        <p:txBody>
          <a:bodyPr wrap="square">
            <a:spAutoFit/>
          </a:bodyPr>
          <a:lstStyle/>
          <a:p>
            <a:pPr>
              <a:lnSpc>
                <a:spcPct val="85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QMainWindow</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QToolbar"</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createEditor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CreateMenu</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CreateMenu</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mainMenu</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menuBar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a:t>
            </a:r>
            <a:r>
              <a:rPr lang="en-US">
                <a:solidFill>
                  <a:srgbClr val="006FE0"/>
                </a:solidFill>
                <a:latin typeface="inherit"/>
              </a:rPr>
              <a:t>        </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exitWindow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close</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createEditor</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006FE0"/>
                </a:solidFill>
                <a:latin typeface="inherit"/>
              </a:rPr>
              <a:t> = </a:t>
            </a:r>
            <a:r>
              <a:rPr lang="en-US">
                <a:solidFill>
                  <a:srgbClr val="004ED0"/>
                </a:solidFill>
                <a:latin typeface="inherit"/>
              </a:rPr>
              <a:t>QTextEdit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setCentralWidget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p>
          <a:p>
            <a:pPr>
              <a:lnSpc>
                <a:spcPct val="85000"/>
              </a:lnSpc>
            </a:pPr>
            <a:r>
              <a:rPr lang="en-US">
                <a:solidFill>
                  <a:srgbClr val="006FE0"/>
                </a:solidFill>
                <a:latin typeface="inherit"/>
              </a:rPr>
              <a:t>    </a:t>
            </a:r>
            <a:r>
              <a:rPr lang="en-US">
                <a:solidFill>
                  <a:srgbClr val="004ED0"/>
                </a:solidFill>
                <a:latin typeface="inherit"/>
              </a:rPr>
              <a:t>def fontDialog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font</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ok</a:t>
            </a:r>
            <a:r>
              <a:rPr lang="en-US">
                <a:solidFill>
                  <a:srgbClr val="006FE0"/>
                </a:solidFill>
                <a:latin typeface="inherit"/>
              </a:rPr>
              <a:t> = </a:t>
            </a:r>
            <a:r>
              <a:rPr lang="en-US">
                <a:solidFill>
                  <a:srgbClr val="002D7A"/>
                </a:solidFill>
                <a:latin typeface="inherit"/>
              </a:rPr>
              <a:t>QFontDialog</a:t>
            </a:r>
            <a:r>
              <a:rPr lang="en-US">
                <a:solidFill>
                  <a:srgbClr val="333333"/>
                </a:solidFill>
                <a:latin typeface="inherit"/>
              </a:rPr>
              <a:t>.</a:t>
            </a:r>
            <a:r>
              <a:rPr lang="en-US">
                <a:solidFill>
                  <a:srgbClr val="004ED0"/>
                </a:solidFill>
                <a:latin typeface="inherit"/>
              </a:rPr>
              <a:t>getFont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2D7A"/>
                </a:solidFill>
                <a:latin typeface="inherit"/>
              </a:rPr>
              <a:t>ok</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setFont</a:t>
            </a:r>
            <a:r>
              <a:rPr lang="en-US">
                <a:solidFill>
                  <a:srgbClr val="333333"/>
                </a:solidFill>
                <a:latin typeface="inherit"/>
              </a:rPr>
              <a:t>(</a:t>
            </a:r>
            <a:r>
              <a:rPr lang="en-US">
                <a:solidFill>
                  <a:srgbClr val="002D7A"/>
                </a:solidFill>
                <a:latin typeface="inherit"/>
              </a:rPr>
              <a:t>font</a:t>
            </a:r>
            <a:r>
              <a:rPr lang="en-US">
                <a:solidFill>
                  <a:srgbClr val="333333"/>
                </a:solidFill>
                <a:latin typeface="inherit"/>
              </a:rPr>
              <a:t>)</a:t>
            </a:r>
            <a:endParaRPr lang="en-US">
              <a:solidFill>
                <a:srgbClr val="000000"/>
              </a:solidFill>
              <a:latin typeface="Monaco"/>
            </a:endParaRPr>
          </a:p>
        </p:txBody>
      </p:sp>
      <p:sp>
        <p:nvSpPr>
          <p:cNvPr id="6" name="Rectangle 5">
            <a:extLst>
              <a:ext uri="{FF2B5EF4-FFF2-40B4-BE49-F238E27FC236}">
                <a16:creationId xmlns:a16="http://schemas.microsoft.com/office/drawing/2014/main" id="{42B6BA8C-B006-4FC4-BA16-D6FCB2CFE21C}"/>
              </a:ext>
            </a:extLst>
          </p:cNvPr>
          <p:cNvSpPr/>
          <p:nvPr/>
        </p:nvSpPr>
        <p:spPr>
          <a:xfrm>
            <a:off x="3875511" y="1989615"/>
            <a:ext cx="5268488" cy="4332468"/>
          </a:xfrm>
          <a:prstGeom prst="rect">
            <a:avLst/>
          </a:prstGeom>
          <a:solidFill>
            <a:schemeClr val="accent2">
              <a:lumMod val="20000"/>
              <a:lumOff val="80000"/>
            </a:schemeClr>
          </a:solidFill>
        </p:spPr>
        <p:txBody>
          <a:bodyPr wrap="square">
            <a:spAutoFit/>
          </a:bodyPr>
          <a:lstStyle/>
          <a:p>
            <a:pPr>
              <a:lnSpc>
                <a:spcPct val="85000"/>
              </a:lnSpc>
            </a:pPr>
            <a:r>
              <a:rPr lang="en-US">
                <a:solidFill>
                  <a:srgbClr val="006FE0"/>
                </a:solidFill>
                <a:latin typeface="inherit"/>
              </a:rPr>
              <a:t>    </a:t>
            </a:r>
            <a:r>
              <a:rPr lang="en-US">
                <a:solidFill>
                  <a:srgbClr val="004ED0"/>
                </a:solidFill>
                <a:latin typeface="inherit"/>
              </a:rPr>
              <a:t>def colorDialog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color</a:t>
            </a:r>
            <a:r>
              <a:rPr lang="en-US">
                <a:solidFill>
                  <a:srgbClr val="006FE0"/>
                </a:solidFill>
                <a:latin typeface="inherit"/>
              </a:rPr>
              <a:t> = </a:t>
            </a:r>
            <a:r>
              <a:rPr lang="en-US">
                <a:solidFill>
                  <a:srgbClr val="002D7A"/>
                </a:solidFill>
                <a:latin typeface="inherit"/>
              </a:rPr>
              <a:t>QColorDialog</a:t>
            </a:r>
            <a:r>
              <a:rPr lang="en-US">
                <a:solidFill>
                  <a:srgbClr val="333333"/>
                </a:solidFill>
                <a:latin typeface="inherit"/>
              </a:rPr>
              <a:t>.</a:t>
            </a:r>
            <a:r>
              <a:rPr lang="en-US">
                <a:solidFill>
                  <a:srgbClr val="004ED0"/>
                </a:solidFill>
                <a:latin typeface="inherit"/>
              </a:rPr>
              <a:t>getColor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setTextColor</a:t>
            </a:r>
            <a:r>
              <a:rPr lang="en-US">
                <a:solidFill>
                  <a:srgbClr val="333333"/>
                </a:solidFill>
                <a:latin typeface="inherit"/>
              </a:rPr>
              <a:t>(</a:t>
            </a:r>
            <a:r>
              <a:rPr lang="en-US">
                <a:solidFill>
                  <a:srgbClr val="002D7A"/>
                </a:solidFill>
                <a:latin typeface="inherit"/>
              </a:rPr>
              <a:t>color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printDialog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006FE0"/>
                </a:solidFill>
                <a:latin typeface="inherit"/>
              </a:rPr>
              <a:t> = </a:t>
            </a:r>
            <a:r>
              <a:rPr lang="en-US">
                <a:solidFill>
                  <a:srgbClr val="004ED0"/>
                </a:solidFill>
                <a:latin typeface="inherit"/>
              </a:rPr>
              <a:t>QPrinter</a:t>
            </a:r>
            <a:r>
              <a:rPr lang="en-US">
                <a:solidFill>
                  <a:srgbClr val="333333"/>
                </a:solidFill>
                <a:latin typeface="inherit"/>
              </a:rPr>
              <a:t>(</a:t>
            </a:r>
            <a:r>
              <a:rPr lang="en-US">
                <a:solidFill>
                  <a:srgbClr val="002D7A"/>
                </a:solidFill>
                <a:latin typeface="inherit"/>
              </a:rPr>
              <a:t>QPrinter</a:t>
            </a:r>
            <a:r>
              <a:rPr lang="en-US">
                <a:solidFill>
                  <a:srgbClr val="333333"/>
                </a:solidFill>
                <a:latin typeface="inherit"/>
              </a:rPr>
              <a:t>.</a:t>
            </a:r>
            <a:r>
              <a:rPr lang="en-US">
                <a:solidFill>
                  <a:srgbClr val="002D7A"/>
                </a:solidFill>
                <a:latin typeface="inherit"/>
              </a:rPr>
              <a:t>HighResolution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dialog</a:t>
            </a:r>
            <a:r>
              <a:rPr lang="en-US">
                <a:solidFill>
                  <a:srgbClr val="006FE0"/>
                </a:solidFill>
                <a:latin typeface="inherit"/>
              </a:rPr>
              <a:t> = </a:t>
            </a:r>
            <a:r>
              <a:rPr lang="en-US">
                <a:solidFill>
                  <a:srgbClr val="004ED0"/>
                </a:solidFill>
                <a:latin typeface="inherit"/>
              </a:rPr>
              <a:t>QPrintDialog</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2D7A"/>
                </a:solidFill>
                <a:latin typeface="inherit"/>
              </a:rPr>
              <a:t>dialog</a:t>
            </a:r>
            <a:r>
              <a:rPr lang="en-US">
                <a:solidFill>
                  <a:srgbClr val="333333"/>
                </a:solidFill>
                <a:latin typeface="inherit"/>
              </a:rPr>
              <a:t>.</a:t>
            </a:r>
            <a:r>
              <a:rPr lang="en-US">
                <a:solidFill>
                  <a:srgbClr val="004ED0"/>
                </a:solidFill>
                <a:latin typeface="inherit"/>
              </a:rPr>
              <a:t>exec_</a:t>
            </a:r>
            <a:r>
              <a:rPr lang="en-US">
                <a:solidFill>
                  <a:srgbClr val="333333"/>
                </a:solidFill>
                <a:latin typeface="inherit"/>
              </a:rPr>
              <a:t>()</a:t>
            </a:r>
            <a:r>
              <a:rPr lang="en-US">
                <a:solidFill>
                  <a:srgbClr val="006FE0"/>
                </a:solidFill>
                <a:latin typeface="inherit"/>
              </a:rPr>
              <a:t> == </a:t>
            </a:r>
            <a:r>
              <a:rPr lang="en-US">
                <a:solidFill>
                  <a:srgbClr val="002D7A"/>
                </a:solidFill>
                <a:latin typeface="inherit"/>
              </a:rPr>
              <a:t>QPrintDialog</a:t>
            </a:r>
            <a:r>
              <a:rPr lang="en-US">
                <a:solidFill>
                  <a:srgbClr val="333333"/>
                </a:solidFill>
                <a:latin typeface="inherit"/>
              </a:rPr>
              <a:t>.</a:t>
            </a:r>
            <a:r>
              <a:rPr lang="en-US">
                <a:solidFill>
                  <a:srgbClr val="002D7A"/>
                </a:solidFill>
                <a:latin typeface="inherit"/>
              </a:rPr>
              <a:t>Accepted</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print_</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printpreviewDialog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006FE0"/>
                </a:solidFill>
                <a:latin typeface="inherit"/>
              </a:rPr>
              <a:t> = </a:t>
            </a:r>
            <a:r>
              <a:rPr lang="en-US">
                <a:solidFill>
                  <a:srgbClr val="004ED0"/>
                </a:solidFill>
                <a:latin typeface="inherit"/>
              </a:rPr>
              <a:t>QPrinter</a:t>
            </a:r>
            <a:r>
              <a:rPr lang="en-US">
                <a:solidFill>
                  <a:srgbClr val="333333"/>
                </a:solidFill>
                <a:latin typeface="inherit"/>
              </a:rPr>
              <a:t>(</a:t>
            </a:r>
            <a:r>
              <a:rPr lang="en-US">
                <a:solidFill>
                  <a:srgbClr val="002D7A"/>
                </a:solidFill>
                <a:latin typeface="inherit"/>
              </a:rPr>
              <a:t>QPrinter</a:t>
            </a:r>
            <a:r>
              <a:rPr lang="en-US">
                <a:solidFill>
                  <a:srgbClr val="333333"/>
                </a:solidFill>
                <a:latin typeface="inherit"/>
              </a:rPr>
              <a:t>.</a:t>
            </a:r>
            <a:r>
              <a:rPr lang="en-US">
                <a:solidFill>
                  <a:srgbClr val="002D7A"/>
                </a:solidFill>
                <a:latin typeface="inherit"/>
              </a:rPr>
              <a:t>HighResolution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previewDialog</a:t>
            </a:r>
            <a:r>
              <a:rPr lang="en-US">
                <a:solidFill>
                  <a:srgbClr val="006FE0"/>
                </a:solidFill>
                <a:latin typeface="inherit"/>
              </a:rPr>
              <a:t> = </a:t>
            </a:r>
            <a:r>
              <a:rPr lang="en-US">
                <a:solidFill>
                  <a:srgbClr val="004ED0"/>
                </a:solidFill>
                <a:latin typeface="inherit"/>
              </a:rPr>
              <a:t>QPrintPreviewDialog</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previewDialog</a:t>
            </a:r>
            <a:r>
              <a:rPr lang="en-US">
                <a:solidFill>
                  <a:srgbClr val="333333"/>
                </a:solidFill>
                <a:latin typeface="inherit"/>
              </a:rPr>
              <a:t>.</a:t>
            </a:r>
            <a:r>
              <a:rPr lang="en-US">
                <a:solidFill>
                  <a:srgbClr val="002D7A"/>
                </a:solidFill>
                <a:latin typeface="inherit"/>
              </a:rPr>
              <a:t>paintRequested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p>
          <a:p>
            <a:pPr algn="r">
              <a:lnSpc>
                <a:spcPct val="85000"/>
              </a:lnSpc>
            </a:pP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printPreview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previewDialog</a:t>
            </a:r>
            <a:r>
              <a:rPr lang="en-US">
                <a:solidFill>
                  <a:srgbClr val="333333"/>
                </a:solidFill>
                <a:latin typeface="inherit"/>
              </a:rPr>
              <a:t>.</a:t>
            </a:r>
            <a:r>
              <a:rPr lang="en-US">
                <a:solidFill>
                  <a:srgbClr val="004ED0"/>
                </a:solidFill>
                <a:latin typeface="inherit"/>
              </a:rPr>
              <a:t>exec_</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printPreview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printer</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print_</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552775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D2378C-7CE2-475A-A745-1C83A2D078F0}"/>
              </a:ext>
            </a:extLst>
          </p:cNvPr>
          <p:cNvSpPr>
            <a:spLocks noGrp="1"/>
          </p:cNvSpPr>
          <p:nvPr>
            <p:ph idx="1"/>
          </p:nvPr>
        </p:nvSpPr>
        <p:spPr>
          <a:xfrm>
            <a:off x="9624" y="690113"/>
            <a:ext cx="9134375" cy="6148637"/>
          </a:xfrm>
        </p:spPr>
        <p:txBody>
          <a:bodyPr>
            <a:normAutofit/>
          </a:bodyPr>
          <a:lstStyle/>
          <a:p>
            <a:pPr marL="0" indent="0">
              <a:buNone/>
            </a:pPr>
            <a:r>
              <a:rPr lang="en-US" sz="2400"/>
              <a:t>Kế tiếp </a:t>
            </a:r>
            <a:r>
              <a:rPr lang="vi-VN" sz="2400"/>
              <a:t>tạo một phương thức cho printPDF() và tạo đăng nhập PrintPDF trong phương thức đó</a:t>
            </a:r>
            <a:endParaRPr lang="en-US" sz="2400"/>
          </a:p>
        </p:txBody>
      </p:sp>
      <p:sp>
        <p:nvSpPr>
          <p:cNvPr id="4" name="Title 1">
            <a:extLst>
              <a:ext uri="{FF2B5EF4-FFF2-40B4-BE49-F238E27FC236}">
                <a16:creationId xmlns:a16="http://schemas.microsoft.com/office/drawing/2014/main" id="{3138B66A-DD2B-48BB-B016-ED68107189D9}"/>
              </a:ext>
            </a:extLst>
          </p:cNvPr>
          <p:cNvSpPr>
            <a:spLocks noGrp="1"/>
          </p:cNvSpPr>
          <p:nvPr>
            <p:ph type="title"/>
          </p:nvPr>
        </p:nvSpPr>
        <p:spPr>
          <a:xfrm>
            <a:off x="9525" y="19050"/>
            <a:ext cx="9134475" cy="671063"/>
          </a:xfrm>
        </p:spPr>
        <p:txBody>
          <a:bodyPr>
            <a:noAutofit/>
          </a:bodyPr>
          <a:lstStyle/>
          <a:p>
            <a:r>
              <a:rPr lang="vi-VN" sz="3600"/>
              <a:t>Cách xuất tệp dưới dạng PDF trong PyQt5</a:t>
            </a:r>
            <a:r>
              <a:rPr lang="en-US" sz="3600"/>
              <a:t> (t.t)</a:t>
            </a:r>
          </a:p>
        </p:txBody>
      </p:sp>
      <p:sp>
        <p:nvSpPr>
          <p:cNvPr id="5" name="Rectangle 4">
            <a:extLst>
              <a:ext uri="{FF2B5EF4-FFF2-40B4-BE49-F238E27FC236}">
                <a16:creationId xmlns:a16="http://schemas.microsoft.com/office/drawing/2014/main" id="{0D07F0B7-CE02-497A-8594-CE87106DACAF}"/>
              </a:ext>
            </a:extLst>
          </p:cNvPr>
          <p:cNvSpPr/>
          <p:nvPr/>
        </p:nvSpPr>
        <p:spPr>
          <a:xfrm>
            <a:off x="9525" y="1361176"/>
            <a:ext cx="9194860" cy="2862322"/>
          </a:xfrm>
          <a:prstGeom prst="rect">
            <a:avLst/>
          </a:prstGeom>
        </p:spPr>
        <p:txBody>
          <a:bodyPr wrap="square">
            <a:spAutoFit/>
          </a:bodyPr>
          <a:lstStyle/>
          <a:p>
            <a:r>
              <a:rPr lang="en-US" sz="2000">
                <a:solidFill>
                  <a:srgbClr val="004ED0"/>
                </a:solidFill>
                <a:latin typeface="inherit"/>
              </a:rPr>
              <a:t>def printPDF</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fn</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_</a:t>
            </a:r>
            <a:r>
              <a:rPr lang="en-US" sz="2000">
                <a:solidFill>
                  <a:srgbClr val="006FE0"/>
                </a:solidFill>
                <a:latin typeface="inherit"/>
              </a:rPr>
              <a:t> = </a:t>
            </a:r>
            <a:r>
              <a:rPr lang="en-US" sz="2000">
                <a:solidFill>
                  <a:srgbClr val="002D7A"/>
                </a:solidFill>
                <a:latin typeface="inherit"/>
              </a:rPr>
              <a:t>QFileDialog</a:t>
            </a:r>
            <a:r>
              <a:rPr lang="en-US" sz="2000">
                <a:solidFill>
                  <a:srgbClr val="333333"/>
                </a:solidFill>
                <a:latin typeface="inherit"/>
              </a:rPr>
              <a:t>.</a:t>
            </a:r>
            <a:r>
              <a:rPr lang="en-US" sz="2000">
                <a:solidFill>
                  <a:srgbClr val="004ED0"/>
                </a:solidFill>
                <a:latin typeface="inherit"/>
              </a:rPr>
              <a:t>getSaveFileName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'Export PDF'</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None</a:t>
            </a:r>
            <a:r>
              <a:rPr lang="en-US" sz="2000">
                <a:solidFill>
                  <a:srgbClr val="333333"/>
                </a:solidFill>
                <a:latin typeface="inherit"/>
              </a:rPr>
              <a:t>,</a:t>
            </a:r>
            <a:r>
              <a:rPr lang="en-US" sz="2000">
                <a:solidFill>
                  <a:srgbClr val="006FE0"/>
                </a:solidFill>
                <a:latin typeface="inherit"/>
              </a:rPr>
              <a:t> </a:t>
            </a:r>
          </a:p>
          <a:p>
            <a:pPr algn="r"/>
            <a:r>
              <a:rPr lang="en-US" sz="2000">
                <a:solidFill>
                  <a:srgbClr val="008000"/>
                </a:solidFill>
                <a:latin typeface="inherit"/>
              </a:rPr>
              <a:t>'PDF files (.pdf);;All Files()'</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002D7A"/>
                </a:solidFill>
                <a:latin typeface="inherit"/>
              </a:rPr>
              <a:t>fn</a:t>
            </a:r>
            <a:r>
              <a:rPr lang="en-US" sz="2000">
                <a:solidFill>
                  <a:srgbClr val="006FE0"/>
                </a:solidFill>
                <a:latin typeface="inherit"/>
              </a:rPr>
              <a:t> != </a:t>
            </a:r>
            <a:r>
              <a:rPr lang="en-US" sz="2000">
                <a:solidFill>
                  <a:srgbClr val="008000"/>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004ED0"/>
                </a:solidFill>
                <a:latin typeface="inherit"/>
              </a:rPr>
              <a:t>QFileInfo</a:t>
            </a:r>
            <a:r>
              <a:rPr lang="en-US" sz="2000">
                <a:solidFill>
                  <a:srgbClr val="333333"/>
                </a:solidFill>
                <a:latin typeface="inherit"/>
              </a:rPr>
              <a:t>(</a:t>
            </a:r>
            <a:r>
              <a:rPr lang="en-US" sz="2000">
                <a:solidFill>
                  <a:srgbClr val="002D7A"/>
                </a:solidFill>
                <a:latin typeface="inherit"/>
              </a:rPr>
              <a:t>fn</a:t>
            </a:r>
            <a:r>
              <a:rPr lang="en-US" sz="2000">
                <a:solidFill>
                  <a:srgbClr val="333333"/>
                </a:solidFill>
                <a:latin typeface="inherit"/>
              </a:rPr>
              <a:t>).</a:t>
            </a:r>
            <a:r>
              <a:rPr lang="en-US" sz="2000">
                <a:solidFill>
                  <a:srgbClr val="004ED0"/>
                </a:solidFill>
                <a:latin typeface="inherit"/>
              </a:rPr>
              <a:t>suffix</a:t>
            </a:r>
            <a:r>
              <a:rPr lang="en-US" sz="2000">
                <a:solidFill>
                  <a:srgbClr val="333333"/>
                </a:solidFill>
                <a:latin typeface="inherit"/>
              </a:rPr>
              <a:t>()</a:t>
            </a:r>
            <a:r>
              <a:rPr lang="en-US" sz="2000">
                <a:solidFill>
                  <a:srgbClr val="006FE0"/>
                </a:solidFill>
                <a:latin typeface="inherit"/>
              </a:rPr>
              <a:t> == </a:t>
            </a:r>
            <a:r>
              <a:rPr lang="en-US" sz="2000">
                <a:solidFill>
                  <a:srgbClr val="008000"/>
                </a:solidFill>
                <a:latin typeface="inherit"/>
              </a:rPr>
              <a:t>""</a:t>
            </a:r>
            <a:r>
              <a:rPr lang="en-US" sz="2000">
                <a:solidFill>
                  <a:srgbClr val="006FE0"/>
                </a:solidFill>
                <a:latin typeface="inherit"/>
              </a:rPr>
              <a:t> : </a:t>
            </a:r>
            <a:r>
              <a:rPr lang="en-US" sz="2000">
                <a:solidFill>
                  <a:srgbClr val="002D7A"/>
                </a:solidFill>
                <a:latin typeface="inherit"/>
              </a:rPr>
              <a:t>fn</a:t>
            </a:r>
            <a:r>
              <a:rPr lang="en-US" sz="2000">
                <a:solidFill>
                  <a:srgbClr val="006FE0"/>
                </a:solidFill>
                <a:latin typeface="inherit"/>
              </a:rPr>
              <a:t> += </a:t>
            </a:r>
            <a:r>
              <a:rPr lang="en-US" sz="2000">
                <a:solidFill>
                  <a:srgbClr val="008000"/>
                </a:solidFill>
                <a:latin typeface="inherit"/>
              </a:rPr>
              <a:t>'.pdf'</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printer</a:t>
            </a:r>
            <a:r>
              <a:rPr lang="en-US" sz="2000">
                <a:solidFill>
                  <a:srgbClr val="006FE0"/>
                </a:solidFill>
                <a:latin typeface="inherit"/>
              </a:rPr>
              <a:t> = </a:t>
            </a:r>
            <a:r>
              <a:rPr lang="en-US" sz="2000">
                <a:solidFill>
                  <a:srgbClr val="004ED0"/>
                </a:solidFill>
                <a:latin typeface="inherit"/>
              </a:rPr>
              <a:t>QPrinter</a:t>
            </a:r>
            <a:r>
              <a:rPr lang="en-US" sz="2000">
                <a:solidFill>
                  <a:srgbClr val="333333"/>
                </a:solidFill>
                <a:latin typeface="inherit"/>
              </a:rPr>
              <a:t>(</a:t>
            </a:r>
            <a:r>
              <a:rPr lang="en-US" sz="2000">
                <a:solidFill>
                  <a:srgbClr val="002D7A"/>
                </a:solidFill>
                <a:latin typeface="inherit"/>
              </a:rPr>
              <a:t>QPrinter</a:t>
            </a:r>
            <a:r>
              <a:rPr lang="en-US" sz="2000">
                <a:solidFill>
                  <a:srgbClr val="333333"/>
                </a:solidFill>
                <a:latin typeface="inherit"/>
              </a:rPr>
              <a:t>.</a:t>
            </a:r>
            <a:r>
              <a:rPr lang="en-US" sz="2000">
                <a:solidFill>
                  <a:srgbClr val="002D7A"/>
                </a:solidFill>
                <a:latin typeface="inherit"/>
              </a:rPr>
              <a:t>HighResolution</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printer</a:t>
            </a:r>
            <a:r>
              <a:rPr lang="en-US" sz="2000">
                <a:solidFill>
                  <a:srgbClr val="333333"/>
                </a:solidFill>
                <a:latin typeface="inherit"/>
              </a:rPr>
              <a:t>.</a:t>
            </a:r>
            <a:r>
              <a:rPr lang="en-US" sz="2000">
                <a:solidFill>
                  <a:srgbClr val="004ED0"/>
                </a:solidFill>
                <a:latin typeface="inherit"/>
              </a:rPr>
              <a:t>setOutputFormat</a:t>
            </a:r>
            <a:r>
              <a:rPr lang="en-US" sz="2000">
                <a:solidFill>
                  <a:srgbClr val="333333"/>
                </a:solidFill>
                <a:latin typeface="inherit"/>
              </a:rPr>
              <a:t>(</a:t>
            </a:r>
            <a:r>
              <a:rPr lang="en-US" sz="2000">
                <a:solidFill>
                  <a:srgbClr val="002D7A"/>
                </a:solidFill>
                <a:latin typeface="inherit"/>
              </a:rPr>
              <a:t>QPrinter</a:t>
            </a:r>
            <a:r>
              <a:rPr lang="en-US" sz="2000">
                <a:solidFill>
                  <a:srgbClr val="333333"/>
                </a:solidFill>
                <a:latin typeface="inherit"/>
              </a:rPr>
              <a:t>.</a:t>
            </a:r>
            <a:r>
              <a:rPr lang="en-US" sz="2000">
                <a:solidFill>
                  <a:srgbClr val="002D7A"/>
                </a:solidFill>
                <a:latin typeface="inherit"/>
              </a:rPr>
              <a:t>PdfFormat</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2D7A"/>
                </a:solidFill>
                <a:latin typeface="inherit"/>
              </a:rPr>
              <a:t>printer</a:t>
            </a:r>
            <a:r>
              <a:rPr lang="en-US" sz="2000">
                <a:solidFill>
                  <a:srgbClr val="333333"/>
                </a:solidFill>
                <a:latin typeface="inherit"/>
              </a:rPr>
              <a:t>.</a:t>
            </a:r>
            <a:r>
              <a:rPr lang="en-US" sz="2000">
                <a:solidFill>
                  <a:srgbClr val="004ED0"/>
                </a:solidFill>
                <a:latin typeface="inherit"/>
              </a:rPr>
              <a:t>setOutputFileName</a:t>
            </a:r>
            <a:r>
              <a:rPr lang="en-US" sz="2000">
                <a:solidFill>
                  <a:srgbClr val="333333"/>
                </a:solidFill>
                <a:latin typeface="inherit"/>
              </a:rPr>
              <a:t>(</a:t>
            </a:r>
            <a:r>
              <a:rPr lang="en-US" sz="2000">
                <a:solidFill>
                  <a:srgbClr val="002D7A"/>
                </a:solidFill>
                <a:latin typeface="inherit"/>
              </a:rPr>
              <a:t>fn</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textEdit</a:t>
            </a:r>
            <a:r>
              <a:rPr lang="en-US" sz="2000">
                <a:solidFill>
                  <a:srgbClr val="333333"/>
                </a:solidFill>
                <a:latin typeface="inherit"/>
              </a:rPr>
              <a:t>.</a:t>
            </a:r>
            <a:r>
              <a:rPr lang="en-US" sz="2000">
                <a:solidFill>
                  <a:srgbClr val="004ED0"/>
                </a:solidFill>
                <a:latin typeface="inherit"/>
              </a:rPr>
              <a:t>document</a:t>
            </a:r>
            <a:r>
              <a:rPr lang="en-US" sz="2000">
                <a:solidFill>
                  <a:srgbClr val="333333"/>
                </a:solidFill>
                <a:latin typeface="inherit"/>
              </a:rPr>
              <a:t>().</a:t>
            </a:r>
            <a:r>
              <a:rPr lang="en-US" sz="2000">
                <a:solidFill>
                  <a:srgbClr val="004ED0"/>
                </a:solidFill>
                <a:latin typeface="inherit"/>
              </a:rPr>
              <a:t>print_</a:t>
            </a:r>
            <a:r>
              <a:rPr lang="en-US" sz="2000">
                <a:solidFill>
                  <a:srgbClr val="333333"/>
                </a:solidFill>
                <a:latin typeface="inherit"/>
              </a:rPr>
              <a:t>(</a:t>
            </a:r>
            <a:r>
              <a:rPr lang="en-US" sz="2000">
                <a:solidFill>
                  <a:srgbClr val="002D7A"/>
                </a:solidFill>
                <a:latin typeface="inherit"/>
              </a:rPr>
              <a:t>printer</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5A786D8D-E3B1-4822-B03E-60A3DEF20BB4}"/>
              </a:ext>
            </a:extLst>
          </p:cNvPr>
          <p:cNvSpPr/>
          <p:nvPr/>
        </p:nvSpPr>
        <p:spPr>
          <a:xfrm>
            <a:off x="85717" y="5035159"/>
            <a:ext cx="2923905" cy="923330"/>
          </a:xfrm>
          <a:prstGeom prst="rect">
            <a:avLst/>
          </a:prstGeom>
        </p:spPr>
        <p:txBody>
          <a:bodyPr wrap="square">
            <a:spAutoFit/>
          </a:bodyPr>
          <a:lstStyle/>
          <a:p>
            <a:r>
              <a:rPr lang="en-US">
                <a:solidFill>
                  <a:srgbClr val="002D7A"/>
                </a:solidFill>
                <a:latin typeface="inherit"/>
              </a:rPr>
              <a:t>App</a:t>
            </a:r>
            <a:r>
              <a:rPr lang="en-US">
                <a:solidFill>
                  <a:srgbClr val="006FE0"/>
                </a:solidFill>
                <a:latin typeface="inherit"/>
              </a:rPr>
              <a:t> = </a:t>
            </a:r>
            <a:r>
              <a:rPr lang="en-US">
                <a:solidFill>
                  <a:srgbClr val="004ED0"/>
                </a:solidFill>
                <a:latin typeface="inherit"/>
              </a:rPr>
              <a:t>QApplication</a:t>
            </a:r>
            <a:r>
              <a:rPr lang="en-US">
                <a:solidFill>
                  <a:srgbClr val="333333"/>
                </a:solidFill>
                <a:latin typeface="inherit"/>
              </a:rPr>
              <a:t>(</a:t>
            </a:r>
            <a:r>
              <a:rPr lang="en-US">
                <a:solidFill>
                  <a:srgbClr val="002D7A"/>
                </a:solidFill>
                <a:latin typeface="inherit"/>
              </a:rPr>
              <a:t>sys</a:t>
            </a:r>
            <a:r>
              <a:rPr lang="en-US">
                <a:solidFill>
                  <a:srgbClr val="333333"/>
                </a:solidFill>
                <a:latin typeface="inherit"/>
              </a:rPr>
              <a:t>.</a:t>
            </a:r>
            <a:r>
              <a:rPr lang="en-US">
                <a:solidFill>
                  <a:srgbClr val="002D7A"/>
                </a:solidFill>
                <a:latin typeface="inherit"/>
              </a:rPr>
              <a:t>argv</a:t>
            </a:r>
            <a:r>
              <a:rPr lang="en-US">
                <a:solidFill>
                  <a:srgbClr val="333333"/>
                </a:solidFill>
                <a:latin typeface="inherit"/>
              </a:rPr>
              <a:t>)</a:t>
            </a:r>
            <a:endParaRPr lang="en-US">
              <a:solidFill>
                <a:srgbClr val="000000"/>
              </a:solidFill>
              <a:latin typeface="Monaco"/>
            </a:endParaRPr>
          </a:p>
          <a:p>
            <a:r>
              <a:rPr lang="en-US">
                <a:solidFill>
                  <a:srgbClr val="002D7A"/>
                </a:solidFill>
                <a:latin typeface="inherit"/>
              </a:rPr>
              <a:t>window</a:t>
            </a:r>
            <a:r>
              <a:rPr lang="en-US">
                <a:solidFill>
                  <a:srgbClr val="006FE0"/>
                </a:solidFill>
                <a:latin typeface="inherit"/>
              </a:rPr>
              <a:t> = </a:t>
            </a:r>
            <a:r>
              <a:rPr lang="en-US">
                <a:solidFill>
                  <a:srgbClr val="004ED0"/>
                </a:solidFill>
                <a:latin typeface="inherit"/>
              </a:rPr>
              <a:t>Window</a:t>
            </a:r>
            <a:r>
              <a:rPr lang="en-US">
                <a:solidFill>
                  <a:srgbClr val="333333"/>
                </a:solidFill>
                <a:latin typeface="inherit"/>
              </a:rPr>
              <a:t>()</a:t>
            </a:r>
            <a:endParaRPr lang="en-US">
              <a:solidFill>
                <a:srgbClr val="000000"/>
              </a:solidFill>
              <a:latin typeface="Monaco"/>
            </a:endParaRPr>
          </a:p>
          <a:p>
            <a:r>
              <a:rPr lang="en-US">
                <a:solidFill>
                  <a:srgbClr val="002D7A"/>
                </a:solidFill>
                <a:latin typeface="inherit"/>
              </a:rPr>
              <a:t>sys</a:t>
            </a:r>
            <a:r>
              <a:rPr lang="en-US">
                <a:solidFill>
                  <a:srgbClr val="333333"/>
                </a:solidFill>
                <a:latin typeface="inherit"/>
              </a:rPr>
              <a:t>.</a:t>
            </a:r>
            <a:r>
              <a:rPr lang="en-US">
                <a:solidFill>
                  <a:srgbClr val="004ED0"/>
                </a:solidFill>
                <a:latin typeface="inherit"/>
              </a:rPr>
              <a:t>exit</a:t>
            </a:r>
            <a:r>
              <a:rPr lang="en-US">
                <a:solidFill>
                  <a:srgbClr val="333333"/>
                </a:solidFill>
                <a:latin typeface="inherit"/>
              </a:rPr>
              <a:t>(</a:t>
            </a:r>
            <a:r>
              <a:rPr lang="en-US">
                <a:solidFill>
                  <a:srgbClr val="002D7A"/>
                </a:solidFill>
                <a:latin typeface="inherit"/>
              </a:rPr>
              <a:t>App</a:t>
            </a:r>
            <a:r>
              <a:rPr lang="en-US">
                <a:solidFill>
                  <a:srgbClr val="333333"/>
                </a:solidFill>
                <a:latin typeface="inherit"/>
              </a:rPr>
              <a:t>.</a:t>
            </a:r>
            <a:r>
              <a:rPr lang="en-US">
                <a:solidFill>
                  <a:srgbClr val="004ED0"/>
                </a:solidFill>
                <a:latin typeface="inherit"/>
              </a:rPr>
              <a:t>exec</a:t>
            </a:r>
            <a:r>
              <a:rPr lang="en-US">
                <a:solidFill>
                  <a:srgbClr val="333333"/>
                </a:solidFill>
                <a:latin typeface="inherit"/>
              </a:rPr>
              <a:t>())</a:t>
            </a:r>
            <a:endParaRPr lang="en-US" b="0" i="0">
              <a:solidFill>
                <a:srgbClr val="000000"/>
              </a:solidFill>
              <a:effectLst/>
              <a:latin typeface="Monaco"/>
            </a:endParaRPr>
          </a:p>
        </p:txBody>
      </p:sp>
      <p:sp>
        <p:nvSpPr>
          <p:cNvPr id="7" name="Rectangle 6">
            <a:extLst>
              <a:ext uri="{FF2B5EF4-FFF2-40B4-BE49-F238E27FC236}">
                <a16:creationId xmlns:a16="http://schemas.microsoft.com/office/drawing/2014/main" id="{75F49E3A-D735-4E7F-94A6-3BCFC6ADE166}"/>
              </a:ext>
            </a:extLst>
          </p:cNvPr>
          <p:cNvSpPr/>
          <p:nvPr/>
        </p:nvSpPr>
        <p:spPr>
          <a:xfrm>
            <a:off x="0" y="4364096"/>
            <a:ext cx="4572000" cy="646331"/>
          </a:xfrm>
          <a:prstGeom prst="rect">
            <a:avLst/>
          </a:prstGeom>
        </p:spPr>
        <p:txBody>
          <a:bodyPr>
            <a:spAutoFit/>
          </a:bodyPr>
          <a:lstStyle/>
          <a:p>
            <a:r>
              <a:rPr lang="vi-VN">
                <a:solidFill>
                  <a:srgbClr val="3A3A3A"/>
                </a:solidFill>
              </a:rPr>
              <a:t>Cuối cùng, chúng ta tạo đối tượng QApplication và Window</a:t>
            </a:r>
            <a:endParaRPr lang="en-US"/>
          </a:p>
        </p:txBody>
      </p:sp>
      <p:pic>
        <p:nvPicPr>
          <p:cNvPr id="6146" name="Picture 2">
            <a:extLst>
              <a:ext uri="{FF2B5EF4-FFF2-40B4-BE49-F238E27FC236}">
                <a16:creationId xmlns:a16="http://schemas.microsoft.com/office/drawing/2014/main" id="{8BD5F0FE-FA07-49DB-8B7B-5F2973F3D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5464" y="3849684"/>
            <a:ext cx="4018912" cy="2989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7146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FEC5-B1A4-4E51-B722-088A49D398E7}"/>
              </a:ext>
            </a:extLst>
          </p:cNvPr>
          <p:cNvSpPr>
            <a:spLocks noGrp="1"/>
          </p:cNvSpPr>
          <p:nvPr>
            <p:ph type="title"/>
          </p:nvPr>
        </p:nvSpPr>
        <p:spPr>
          <a:xfrm>
            <a:off x="9624" y="19251"/>
            <a:ext cx="9134375" cy="722622"/>
          </a:xfrm>
        </p:spPr>
        <p:txBody>
          <a:bodyPr>
            <a:normAutofit/>
          </a:bodyPr>
          <a:lstStyle/>
          <a:p>
            <a:r>
              <a:rPr lang="en-US"/>
              <a:t>Ví dụ QMessageBox của PyQt5</a:t>
            </a:r>
          </a:p>
        </p:txBody>
      </p:sp>
      <p:sp>
        <p:nvSpPr>
          <p:cNvPr id="3" name="Content Placeholder 2">
            <a:extLst>
              <a:ext uri="{FF2B5EF4-FFF2-40B4-BE49-F238E27FC236}">
                <a16:creationId xmlns:a16="http://schemas.microsoft.com/office/drawing/2014/main" id="{FCB7C83E-5669-43E8-814E-E03D046C7CAF}"/>
              </a:ext>
            </a:extLst>
          </p:cNvPr>
          <p:cNvSpPr>
            <a:spLocks noGrp="1"/>
          </p:cNvSpPr>
          <p:nvPr>
            <p:ph idx="1"/>
          </p:nvPr>
        </p:nvSpPr>
        <p:spPr>
          <a:xfrm>
            <a:off x="9624" y="741873"/>
            <a:ext cx="9134375" cy="6096877"/>
          </a:xfrm>
        </p:spPr>
        <p:txBody>
          <a:bodyPr>
            <a:normAutofit/>
          </a:bodyPr>
          <a:lstStyle/>
          <a:p>
            <a:pPr marL="0" indent="0">
              <a:buNone/>
            </a:pPr>
            <a:r>
              <a:rPr lang="vi-VN" sz="3200"/>
              <a:t>Trong </a:t>
            </a:r>
            <a:r>
              <a:rPr lang="en-US" sz="3200"/>
              <a:t>phần này chúng ta tìm hiểu cách t</a:t>
            </a:r>
            <a:r>
              <a:rPr lang="vi-VN" sz="3200"/>
              <a:t>ạo</a:t>
            </a:r>
            <a:r>
              <a:rPr lang="en-US" sz="3200"/>
              <a:t> </a:t>
            </a:r>
            <a:r>
              <a:rPr lang="vi-VN" sz="3200"/>
              <a:t>QMessageBox</a:t>
            </a:r>
            <a:r>
              <a:rPr lang="en-US" sz="3200"/>
              <a:t> t</a:t>
            </a:r>
            <a:r>
              <a:rPr lang="vi-VN" sz="3200"/>
              <a:t>rong PyQt5 với ví dụ thực tế.</a:t>
            </a:r>
          </a:p>
        </p:txBody>
      </p:sp>
      <p:graphicFrame>
        <p:nvGraphicFramePr>
          <p:cNvPr id="4" name="Table 3">
            <a:extLst>
              <a:ext uri="{FF2B5EF4-FFF2-40B4-BE49-F238E27FC236}">
                <a16:creationId xmlns:a16="http://schemas.microsoft.com/office/drawing/2014/main" id="{149D26E3-404E-4341-945D-95744E284827}"/>
              </a:ext>
            </a:extLst>
          </p:cNvPr>
          <p:cNvGraphicFramePr>
            <a:graphicFrameLocks noGrp="1"/>
          </p:cNvGraphicFramePr>
          <p:nvPr>
            <p:extLst>
              <p:ext uri="{D42A27DB-BD31-4B8C-83A1-F6EECF244321}">
                <p14:modId xmlns:p14="http://schemas.microsoft.com/office/powerpoint/2010/main" val="3067903369"/>
              </p:ext>
            </p:extLst>
          </p:nvPr>
        </p:nvGraphicFramePr>
        <p:xfrm>
          <a:off x="0" y="2581059"/>
          <a:ext cx="9134374" cy="3383280"/>
        </p:xfrm>
        <a:graphic>
          <a:graphicData uri="http://schemas.openxmlformats.org/drawingml/2006/table">
            <a:tbl>
              <a:tblPr/>
              <a:tblGrid>
                <a:gridCol w="468453">
                  <a:extLst>
                    <a:ext uri="{9D8B030D-6E8A-4147-A177-3AD203B41FA5}">
                      <a16:colId xmlns:a16="http://schemas.microsoft.com/office/drawing/2014/main" val="1797891393"/>
                    </a:ext>
                  </a:extLst>
                </a:gridCol>
                <a:gridCol w="8665921">
                  <a:extLst>
                    <a:ext uri="{9D8B030D-6E8A-4147-A177-3AD203B41FA5}">
                      <a16:colId xmlns:a16="http://schemas.microsoft.com/office/drawing/2014/main" val="1124740524"/>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p>
                      <a:pPr algn="ctr" fontAlgn="t"/>
                      <a:r>
                        <a:rPr lang="en-US" sz="2400" b="0">
                          <a:solidFill>
                            <a:srgbClr val="5499DE"/>
                          </a:solidFill>
                          <a:effectLst/>
                          <a:latin typeface="inherit"/>
                        </a:rPr>
                        <a:t>5</a:t>
                      </a:r>
                    </a:p>
                    <a:p>
                      <a:pPr algn="ctr" fontAlgn="t"/>
                      <a:endParaRPr lang="en-US" sz="2400" b="0">
                        <a:solidFill>
                          <a:srgbClr val="5499DE"/>
                        </a:solidFill>
                        <a:effectLst/>
                        <a:latin typeface="inherit"/>
                      </a:endParaRPr>
                    </a:p>
                    <a:p>
                      <a:pPr algn="ctr" fontAlgn="t"/>
                      <a:r>
                        <a:rPr lang="en-US" sz="2400" b="0">
                          <a:solidFill>
                            <a:srgbClr val="317CC5"/>
                          </a:solidFill>
                          <a:effectLst/>
                          <a:latin typeface="inherit"/>
                        </a:rPr>
                        <a:t>6</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QMainWindow</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QAction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QTextEdit</a:t>
                      </a:r>
                      <a:r>
                        <a:rPr lang="en-US" sz="2400" b="0">
                          <a:solidFill>
                            <a:srgbClr val="333333"/>
                          </a:solidFill>
                          <a:effectLst/>
                          <a:latin typeface="inherit"/>
                        </a:rPr>
                        <a:t>, </a:t>
                      </a:r>
                      <a:r>
                        <a:rPr lang="en-US" sz="2400" b="0">
                          <a:solidFill>
                            <a:srgbClr val="002D7A"/>
                          </a:solidFill>
                          <a:effectLst/>
                          <a:latin typeface="inherit"/>
                        </a:rPr>
                        <a:t>QFontDialog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QColorDialog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QFileDialog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QMessageBox</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QIcon</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QtPrintSupport import </a:t>
                      </a:r>
                      <a:r>
                        <a:rPr lang="en-US" sz="2400" b="0">
                          <a:solidFill>
                            <a:srgbClr val="002D7A"/>
                          </a:solidFill>
                          <a:effectLst/>
                          <a:latin typeface="inherit"/>
                        </a:rPr>
                        <a:t>QPrintDialog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QPrinter</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4ED0"/>
                          </a:solidFill>
                          <a:effectLst/>
                          <a:latin typeface="inherit"/>
                        </a:rPr>
                        <a:t>QPrintPreviewDialog</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 import </a:t>
                      </a:r>
                      <a:r>
                        <a:rPr lang="en-US" sz="2400" b="0">
                          <a:solidFill>
                            <a:srgbClr val="002D7A"/>
                          </a:solidFill>
                          <a:effectLst/>
                          <a:latin typeface="inherit"/>
                        </a:rPr>
                        <a:t>QFileInfo</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169025802"/>
                  </a:ext>
                </a:extLst>
              </a:tr>
            </a:tbl>
          </a:graphicData>
        </a:graphic>
      </p:graphicFrame>
    </p:spTree>
    <p:extLst>
      <p:ext uri="{BB962C8B-B14F-4D97-AF65-F5344CB8AC3E}">
        <p14:creationId xmlns:p14="http://schemas.microsoft.com/office/powerpoint/2010/main" val="476778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4537C-2B42-4DFB-8534-D38ABDCA258A}"/>
              </a:ext>
            </a:extLst>
          </p:cNvPr>
          <p:cNvSpPr>
            <a:spLocks noGrp="1"/>
          </p:cNvSpPr>
          <p:nvPr>
            <p:ph idx="1"/>
          </p:nvPr>
        </p:nvSpPr>
        <p:spPr>
          <a:xfrm>
            <a:off x="9625" y="741873"/>
            <a:ext cx="4405104" cy="2687127"/>
          </a:xfrm>
        </p:spPr>
        <p:txBody>
          <a:bodyPr>
            <a:normAutofit/>
          </a:bodyPr>
          <a:lstStyle/>
          <a:p>
            <a:pPr marL="0" indent="0">
              <a:buNone/>
            </a:pPr>
            <a:r>
              <a:rPr lang="en-US" sz="2000"/>
              <a:t>C</a:t>
            </a:r>
            <a:r>
              <a:rPr lang="vi-VN" sz="2000"/>
              <a:t>húng t</a:t>
            </a:r>
            <a:r>
              <a:rPr lang="en-US" sz="2000"/>
              <a:t>a</a:t>
            </a:r>
            <a:r>
              <a:rPr lang="vi-VN" sz="2000"/>
              <a:t> lớp Window chính kế thừa từ QMainWindow và trong lớp đó, thêm các yêu cầu cơ bản của cửa sổ và có thêm một số mã từ các bài viết trước và cũng có các loại QMessageBox khác trong PyQt5, chúng tôi chỉ cần tìm hiểu QMessageBox.about và QMessageBox.question</a:t>
            </a:r>
            <a:endParaRPr lang="en-US" sz="2000"/>
          </a:p>
        </p:txBody>
      </p:sp>
      <p:sp>
        <p:nvSpPr>
          <p:cNvPr id="4" name="Title 1">
            <a:extLst>
              <a:ext uri="{FF2B5EF4-FFF2-40B4-BE49-F238E27FC236}">
                <a16:creationId xmlns:a16="http://schemas.microsoft.com/office/drawing/2014/main" id="{71844AD8-8821-406C-B7F6-4BC9B03AD073}"/>
              </a:ext>
            </a:extLst>
          </p:cNvPr>
          <p:cNvSpPr>
            <a:spLocks noGrp="1"/>
          </p:cNvSpPr>
          <p:nvPr>
            <p:ph type="title"/>
          </p:nvPr>
        </p:nvSpPr>
        <p:spPr>
          <a:xfrm>
            <a:off x="9624" y="19251"/>
            <a:ext cx="9134375" cy="722622"/>
          </a:xfrm>
        </p:spPr>
        <p:txBody>
          <a:bodyPr>
            <a:normAutofit/>
          </a:bodyPr>
          <a:lstStyle/>
          <a:p>
            <a:r>
              <a:rPr lang="en-US"/>
              <a:t>Ví dụ QMessageBox của PyQt5 (t.t)</a:t>
            </a:r>
          </a:p>
        </p:txBody>
      </p:sp>
      <p:sp>
        <p:nvSpPr>
          <p:cNvPr id="2" name="Rectangle 1">
            <a:extLst>
              <a:ext uri="{FF2B5EF4-FFF2-40B4-BE49-F238E27FC236}">
                <a16:creationId xmlns:a16="http://schemas.microsoft.com/office/drawing/2014/main" id="{BA72D541-C2DA-4BE3-9809-F6169B56C74C}"/>
              </a:ext>
            </a:extLst>
          </p:cNvPr>
          <p:cNvSpPr/>
          <p:nvPr/>
        </p:nvSpPr>
        <p:spPr>
          <a:xfrm>
            <a:off x="4424353" y="678304"/>
            <a:ext cx="4710022" cy="4247317"/>
          </a:xfrm>
          <a:prstGeom prst="rect">
            <a:avLst/>
          </a:prstGeom>
        </p:spPr>
        <p:txBody>
          <a:bodyPr wrap="square">
            <a:spAutoFit/>
          </a:bodyPr>
          <a:lstStyle/>
          <a:p>
            <a:pPr>
              <a:lnSpc>
                <a:spcPct val="90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QMainWindow</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QToolbar"</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createEditor</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CreateMenu</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004ED0"/>
                </a:solidFill>
                <a:latin typeface="inherit"/>
              </a:rPr>
              <a:t>def CreateMenu</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mainMenu</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menuBar</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fileMenu</a:t>
            </a:r>
            <a:r>
              <a:rPr lang="en-US" sz="2000">
                <a:solidFill>
                  <a:srgbClr val="006FE0"/>
                </a:solidFill>
                <a:latin typeface="inherit"/>
              </a:rPr>
              <a:t> = </a:t>
            </a:r>
            <a:r>
              <a:rPr lang="en-US" sz="2000">
                <a:solidFill>
                  <a:srgbClr val="002D7A"/>
                </a:solidFill>
                <a:latin typeface="inherit"/>
              </a:rPr>
              <a:t>mainMenu</a:t>
            </a:r>
            <a:r>
              <a:rPr lang="en-US" sz="2000">
                <a:solidFill>
                  <a:srgbClr val="333333"/>
                </a:solidFill>
                <a:latin typeface="inherit"/>
              </a:rPr>
              <a:t>.</a:t>
            </a:r>
            <a:r>
              <a:rPr lang="en-US" sz="2000">
                <a:solidFill>
                  <a:srgbClr val="004ED0"/>
                </a:solidFill>
                <a:latin typeface="inherit"/>
              </a:rPr>
              <a:t>addMenu</a:t>
            </a:r>
            <a:r>
              <a:rPr lang="en-US" sz="2000">
                <a:solidFill>
                  <a:srgbClr val="333333"/>
                </a:solidFill>
                <a:latin typeface="inherit"/>
              </a:rPr>
              <a:t>(</a:t>
            </a:r>
            <a:r>
              <a:rPr lang="en-US" sz="2000">
                <a:solidFill>
                  <a:srgbClr val="008000"/>
                </a:solidFill>
                <a:latin typeface="inherit"/>
              </a:rPr>
              <a:t>'File'</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toolbar</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addToolBar</a:t>
            </a:r>
            <a:r>
              <a:rPr lang="en-US" sz="2000">
                <a:solidFill>
                  <a:srgbClr val="333333"/>
                </a:solidFill>
                <a:latin typeface="inherit"/>
              </a:rPr>
              <a:t>(</a:t>
            </a:r>
            <a:r>
              <a:rPr lang="en-US" sz="2000">
                <a:solidFill>
                  <a:srgbClr val="008000"/>
                </a:solidFill>
                <a:latin typeface="inherit"/>
              </a:rPr>
              <a:t>'Toolbar'</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a:t>
            </a:r>
            <a:endParaRPr lang="en-US" sz="2000">
              <a:solidFill>
                <a:srgbClr val="000000"/>
              </a:solidFill>
              <a:latin typeface="Monaco"/>
            </a:endParaRPr>
          </a:p>
        </p:txBody>
      </p:sp>
    </p:spTree>
    <p:extLst>
      <p:ext uri="{BB962C8B-B14F-4D97-AF65-F5344CB8AC3E}">
        <p14:creationId xmlns:p14="http://schemas.microsoft.com/office/powerpoint/2010/main" val="15228463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844AD8-8821-406C-B7F6-4BC9B03AD073}"/>
              </a:ext>
            </a:extLst>
          </p:cNvPr>
          <p:cNvSpPr>
            <a:spLocks noGrp="1"/>
          </p:cNvSpPr>
          <p:nvPr>
            <p:ph type="title"/>
          </p:nvPr>
        </p:nvSpPr>
        <p:spPr>
          <a:xfrm>
            <a:off x="9624" y="19251"/>
            <a:ext cx="9134375" cy="722622"/>
          </a:xfrm>
        </p:spPr>
        <p:txBody>
          <a:bodyPr>
            <a:normAutofit/>
          </a:bodyPr>
          <a:lstStyle/>
          <a:p>
            <a:r>
              <a:rPr lang="en-US"/>
              <a:t>Ví dụ QMessageBox của PyQt5 (t.t)</a:t>
            </a:r>
          </a:p>
        </p:txBody>
      </p:sp>
      <p:sp>
        <p:nvSpPr>
          <p:cNvPr id="6" name="Rectangle 5">
            <a:extLst>
              <a:ext uri="{FF2B5EF4-FFF2-40B4-BE49-F238E27FC236}">
                <a16:creationId xmlns:a16="http://schemas.microsoft.com/office/drawing/2014/main" id="{CED3FB5F-2D29-4B01-B3E5-7527B025F7E6}"/>
              </a:ext>
            </a:extLst>
          </p:cNvPr>
          <p:cNvSpPr/>
          <p:nvPr/>
        </p:nvSpPr>
        <p:spPr>
          <a:xfrm>
            <a:off x="0" y="1799934"/>
            <a:ext cx="4648640" cy="5038815"/>
          </a:xfrm>
          <a:prstGeom prst="rect">
            <a:avLst/>
          </a:prstGeom>
          <a:solidFill>
            <a:schemeClr val="accent4">
              <a:lumMod val="20000"/>
              <a:lumOff val="80000"/>
            </a:schemeClr>
          </a:solidFill>
        </p:spPr>
        <p:txBody>
          <a:bodyPr wrap="square">
            <a:spAutoFit/>
          </a:bodyPr>
          <a:lstStyle/>
          <a:p>
            <a:pPr>
              <a:lnSpc>
                <a:spcPct val="85000"/>
              </a:lnSpc>
            </a:pPr>
            <a:r>
              <a:rPr lang="en-US">
                <a:solidFill>
                  <a:srgbClr val="004ED0"/>
                </a:solidFill>
                <a:latin typeface="inherit"/>
              </a:rPr>
              <a:t>    def exitWindow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close</a:t>
            </a:r>
            <a:r>
              <a:rPr lang="en-US">
                <a:solidFill>
                  <a:srgbClr val="333333"/>
                </a:solidFill>
                <a:latin typeface="inherit"/>
              </a:rPr>
              <a:t>()</a:t>
            </a:r>
            <a:r>
              <a:rPr lang="en-US">
                <a:solidFill>
                  <a:srgbClr val="000000"/>
                </a:solidFill>
                <a:latin typeface="Monaco"/>
              </a:rPr>
              <a:t> </a:t>
            </a:r>
          </a:p>
          <a:p>
            <a:pPr>
              <a:lnSpc>
                <a:spcPct val="85000"/>
              </a:lnSpc>
            </a:pP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createEditor</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006FE0"/>
                </a:solidFill>
                <a:latin typeface="inherit"/>
              </a:rPr>
              <a:t> = </a:t>
            </a:r>
            <a:r>
              <a:rPr lang="en-US">
                <a:solidFill>
                  <a:srgbClr val="004ED0"/>
                </a:solidFill>
                <a:latin typeface="inherit"/>
              </a:rPr>
              <a:t>QTextEdit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setCentralWidget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p>
          <a:p>
            <a:pPr>
              <a:lnSpc>
                <a:spcPct val="85000"/>
              </a:lnSpc>
            </a:pP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fontDialog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font</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ok</a:t>
            </a:r>
            <a:r>
              <a:rPr lang="en-US">
                <a:solidFill>
                  <a:srgbClr val="006FE0"/>
                </a:solidFill>
                <a:latin typeface="inherit"/>
              </a:rPr>
              <a:t> = </a:t>
            </a:r>
            <a:r>
              <a:rPr lang="en-US">
                <a:solidFill>
                  <a:srgbClr val="002D7A"/>
                </a:solidFill>
                <a:latin typeface="inherit"/>
              </a:rPr>
              <a:t>QFontDialog</a:t>
            </a:r>
            <a:r>
              <a:rPr lang="en-US">
                <a:solidFill>
                  <a:srgbClr val="333333"/>
                </a:solidFill>
                <a:latin typeface="inherit"/>
              </a:rPr>
              <a:t>.</a:t>
            </a:r>
            <a:r>
              <a:rPr lang="en-US">
                <a:solidFill>
                  <a:srgbClr val="004ED0"/>
                </a:solidFill>
                <a:latin typeface="inherit"/>
              </a:rPr>
              <a:t>getFont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2D7A"/>
                </a:solidFill>
                <a:latin typeface="inherit"/>
              </a:rPr>
              <a:t>ok</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setFont</a:t>
            </a:r>
            <a:r>
              <a:rPr lang="en-US">
                <a:solidFill>
                  <a:srgbClr val="333333"/>
                </a:solidFill>
                <a:latin typeface="inherit"/>
              </a:rPr>
              <a:t>(</a:t>
            </a:r>
            <a:r>
              <a:rPr lang="en-US">
                <a:solidFill>
                  <a:srgbClr val="002D7A"/>
                </a:solidFill>
                <a:latin typeface="inherit"/>
              </a:rPr>
              <a:t>font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colorDialog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color</a:t>
            </a:r>
            <a:r>
              <a:rPr lang="en-US">
                <a:solidFill>
                  <a:srgbClr val="006FE0"/>
                </a:solidFill>
                <a:latin typeface="inherit"/>
              </a:rPr>
              <a:t> = </a:t>
            </a:r>
            <a:r>
              <a:rPr lang="en-US">
                <a:solidFill>
                  <a:srgbClr val="002D7A"/>
                </a:solidFill>
                <a:latin typeface="inherit"/>
              </a:rPr>
              <a:t>QColorDialog</a:t>
            </a:r>
            <a:r>
              <a:rPr lang="en-US">
                <a:solidFill>
                  <a:srgbClr val="333333"/>
                </a:solidFill>
                <a:latin typeface="inherit"/>
              </a:rPr>
              <a:t>.</a:t>
            </a:r>
            <a:r>
              <a:rPr lang="en-US">
                <a:solidFill>
                  <a:srgbClr val="004ED0"/>
                </a:solidFill>
                <a:latin typeface="inherit"/>
              </a:rPr>
              <a:t>getColor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setTextColor</a:t>
            </a:r>
            <a:r>
              <a:rPr lang="en-US">
                <a:solidFill>
                  <a:srgbClr val="333333"/>
                </a:solidFill>
                <a:latin typeface="inherit"/>
              </a:rPr>
              <a:t>(</a:t>
            </a:r>
            <a:r>
              <a:rPr lang="en-US">
                <a:solidFill>
                  <a:srgbClr val="002D7A"/>
                </a:solidFill>
                <a:latin typeface="inherit"/>
              </a:rPr>
              <a:t>color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printDialog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006FE0"/>
                </a:solidFill>
                <a:latin typeface="inherit"/>
              </a:rPr>
              <a:t> = </a:t>
            </a:r>
            <a:r>
              <a:rPr lang="en-US">
                <a:solidFill>
                  <a:srgbClr val="004ED0"/>
                </a:solidFill>
                <a:latin typeface="inherit"/>
              </a:rPr>
              <a:t>QPrinter</a:t>
            </a:r>
            <a:r>
              <a:rPr lang="en-US">
                <a:solidFill>
                  <a:srgbClr val="333333"/>
                </a:solidFill>
                <a:latin typeface="inherit"/>
              </a:rPr>
              <a:t>(</a:t>
            </a:r>
            <a:r>
              <a:rPr lang="en-US">
                <a:solidFill>
                  <a:srgbClr val="002D7A"/>
                </a:solidFill>
                <a:latin typeface="inherit"/>
              </a:rPr>
              <a:t>QPrinter</a:t>
            </a:r>
            <a:r>
              <a:rPr lang="en-US">
                <a:solidFill>
                  <a:srgbClr val="333333"/>
                </a:solidFill>
                <a:latin typeface="inherit"/>
              </a:rPr>
              <a:t>.</a:t>
            </a:r>
            <a:r>
              <a:rPr lang="en-US">
                <a:solidFill>
                  <a:srgbClr val="002D7A"/>
                </a:solidFill>
                <a:latin typeface="inherit"/>
              </a:rPr>
              <a:t>HighResolution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dialog</a:t>
            </a:r>
            <a:r>
              <a:rPr lang="en-US">
                <a:solidFill>
                  <a:srgbClr val="006FE0"/>
                </a:solidFill>
                <a:latin typeface="inherit"/>
              </a:rPr>
              <a:t> = </a:t>
            </a:r>
            <a:r>
              <a:rPr lang="en-US">
                <a:solidFill>
                  <a:srgbClr val="004ED0"/>
                </a:solidFill>
                <a:latin typeface="inherit"/>
              </a:rPr>
              <a:t>QPrintDialog</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2D7A"/>
                </a:solidFill>
                <a:latin typeface="inherit"/>
              </a:rPr>
              <a:t>dialog</a:t>
            </a:r>
            <a:r>
              <a:rPr lang="en-US">
                <a:solidFill>
                  <a:srgbClr val="333333"/>
                </a:solidFill>
                <a:latin typeface="inherit"/>
              </a:rPr>
              <a:t>.</a:t>
            </a:r>
            <a:r>
              <a:rPr lang="en-US">
                <a:solidFill>
                  <a:srgbClr val="004ED0"/>
                </a:solidFill>
                <a:latin typeface="inherit"/>
              </a:rPr>
              <a:t>exec_</a:t>
            </a:r>
            <a:r>
              <a:rPr lang="en-US">
                <a:solidFill>
                  <a:srgbClr val="333333"/>
                </a:solidFill>
                <a:latin typeface="inherit"/>
              </a:rPr>
              <a:t>()</a:t>
            </a:r>
            <a:r>
              <a:rPr lang="en-US">
                <a:solidFill>
                  <a:srgbClr val="006FE0"/>
                </a:solidFill>
                <a:latin typeface="inherit"/>
              </a:rPr>
              <a:t> == </a:t>
            </a:r>
            <a:r>
              <a:rPr lang="en-US">
                <a:solidFill>
                  <a:srgbClr val="002D7A"/>
                </a:solidFill>
                <a:latin typeface="inherit"/>
              </a:rPr>
              <a:t>QPrintDialog</a:t>
            </a:r>
            <a:r>
              <a:rPr lang="en-US">
                <a:solidFill>
                  <a:srgbClr val="333333"/>
                </a:solidFill>
                <a:latin typeface="inherit"/>
              </a:rPr>
              <a:t>.</a:t>
            </a:r>
            <a:r>
              <a:rPr lang="en-US">
                <a:solidFill>
                  <a:srgbClr val="002D7A"/>
                </a:solidFill>
                <a:latin typeface="inherit"/>
              </a:rPr>
              <a:t>Accepted</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print_</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endParaRPr lang="en-US">
              <a:solidFill>
                <a:srgbClr val="000000"/>
              </a:solidFill>
              <a:latin typeface="Monaco"/>
            </a:endParaRPr>
          </a:p>
        </p:txBody>
      </p:sp>
      <p:sp>
        <p:nvSpPr>
          <p:cNvPr id="9" name="Rectangle 8">
            <a:extLst>
              <a:ext uri="{FF2B5EF4-FFF2-40B4-BE49-F238E27FC236}">
                <a16:creationId xmlns:a16="http://schemas.microsoft.com/office/drawing/2014/main" id="{9B5CD77B-CEEB-4478-B5BC-67E567098F4A}"/>
              </a:ext>
            </a:extLst>
          </p:cNvPr>
          <p:cNvSpPr/>
          <p:nvPr/>
        </p:nvSpPr>
        <p:spPr>
          <a:xfrm>
            <a:off x="3838738" y="741873"/>
            <a:ext cx="5295638" cy="4567917"/>
          </a:xfrm>
          <a:prstGeom prst="rect">
            <a:avLst/>
          </a:prstGeom>
          <a:solidFill>
            <a:schemeClr val="accent5">
              <a:lumMod val="20000"/>
              <a:lumOff val="80000"/>
            </a:schemeClr>
          </a:solidFill>
        </p:spPr>
        <p:txBody>
          <a:bodyPr wrap="square">
            <a:spAutoFit/>
          </a:bodyPr>
          <a:lstStyle/>
          <a:p>
            <a:pPr>
              <a:lnSpc>
                <a:spcPct val="85000"/>
              </a:lnSpc>
            </a:pPr>
            <a:r>
              <a:rPr lang="en-US">
                <a:solidFill>
                  <a:srgbClr val="006FE0"/>
                </a:solidFill>
                <a:latin typeface="inherit"/>
              </a:rPr>
              <a:t>    </a:t>
            </a:r>
            <a:r>
              <a:rPr lang="en-US">
                <a:solidFill>
                  <a:srgbClr val="004ED0"/>
                </a:solidFill>
                <a:latin typeface="inherit"/>
              </a:rPr>
              <a:t>def printpreviewDialog</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006FE0"/>
                </a:solidFill>
                <a:latin typeface="inherit"/>
              </a:rPr>
              <a:t> = </a:t>
            </a:r>
            <a:r>
              <a:rPr lang="en-US">
                <a:solidFill>
                  <a:srgbClr val="004ED0"/>
                </a:solidFill>
                <a:latin typeface="inherit"/>
              </a:rPr>
              <a:t>QPrinter</a:t>
            </a:r>
            <a:r>
              <a:rPr lang="en-US">
                <a:solidFill>
                  <a:srgbClr val="333333"/>
                </a:solidFill>
                <a:latin typeface="inherit"/>
              </a:rPr>
              <a:t>(</a:t>
            </a:r>
            <a:r>
              <a:rPr lang="en-US">
                <a:solidFill>
                  <a:srgbClr val="002D7A"/>
                </a:solidFill>
                <a:latin typeface="inherit"/>
              </a:rPr>
              <a:t>QPrinter</a:t>
            </a:r>
            <a:r>
              <a:rPr lang="en-US">
                <a:solidFill>
                  <a:srgbClr val="333333"/>
                </a:solidFill>
                <a:latin typeface="inherit"/>
              </a:rPr>
              <a:t>.</a:t>
            </a:r>
            <a:r>
              <a:rPr lang="en-US">
                <a:solidFill>
                  <a:srgbClr val="002D7A"/>
                </a:solidFill>
                <a:latin typeface="inherit"/>
              </a:rPr>
              <a:t>HighResolution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previewDialog</a:t>
            </a:r>
            <a:r>
              <a:rPr lang="en-US">
                <a:solidFill>
                  <a:srgbClr val="006FE0"/>
                </a:solidFill>
                <a:latin typeface="inherit"/>
              </a:rPr>
              <a:t> = </a:t>
            </a:r>
            <a:r>
              <a:rPr lang="en-US">
                <a:solidFill>
                  <a:srgbClr val="004ED0"/>
                </a:solidFill>
                <a:latin typeface="inherit"/>
              </a:rPr>
              <a:t>QPrintPreviewDialog</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previewDialog</a:t>
            </a:r>
            <a:r>
              <a:rPr lang="en-US">
                <a:solidFill>
                  <a:srgbClr val="333333"/>
                </a:solidFill>
                <a:latin typeface="inherit"/>
              </a:rPr>
              <a:t>.</a:t>
            </a:r>
            <a:r>
              <a:rPr lang="en-US">
                <a:solidFill>
                  <a:srgbClr val="002D7A"/>
                </a:solidFill>
                <a:latin typeface="inherit"/>
              </a:rPr>
              <a:t>paintRequested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p>
          <a:p>
            <a:pPr algn="r">
              <a:lnSpc>
                <a:spcPct val="85000"/>
              </a:lnSpc>
            </a:pP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printPreview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previewDialog</a:t>
            </a:r>
            <a:r>
              <a:rPr lang="en-US">
                <a:solidFill>
                  <a:srgbClr val="333333"/>
                </a:solidFill>
                <a:latin typeface="inherit"/>
              </a:rPr>
              <a:t>.</a:t>
            </a:r>
            <a:r>
              <a:rPr lang="en-US">
                <a:solidFill>
                  <a:srgbClr val="004ED0"/>
                </a:solidFill>
                <a:latin typeface="inherit"/>
              </a:rPr>
              <a:t>exec_</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printPreview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printer</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print_</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printPDF</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fn</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_</a:t>
            </a:r>
            <a:r>
              <a:rPr lang="en-US">
                <a:solidFill>
                  <a:srgbClr val="006FE0"/>
                </a:solidFill>
                <a:latin typeface="inherit"/>
              </a:rPr>
              <a:t> = </a:t>
            </a:r>
            <a:r>
              <a:rPr lang="en-US">
                <a:solidFill>
                  <a:srgbClr val="002D7A"/>
                </a:solidFill>
                <a:latin typeface="inherit"/>
              </a:rPr>
              <a:t>QFileDialog</a:t>
            </a:r>
            <a:r>
              <a:rPr lang="en-US">
                <a:solidFill>
                  <a:srgbClr val="333333"/>
                </a:solidFill>
                <a:latin typeface="inherit"/>
              </a:rPr>
              <a:t>.</a:t>
            </a:r>
            <a:r>
              <a:rPr lang="en-US">
                <a:solidFill>
                  <a:srgbClr val="004ED0"/>
                </a:solidFill>
                <a:latin typeface="inherit"/>
              </a:rPr>
              <a:t>getSaveFileName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p>
          <a:p>
            <a:pPr algn="r">
              <a:lnSpc>
                <a:spcPct val="85000"/>
              </a:lnSpc>
            </a:pPr>
            <a:r>
              <a:rPr lang="en-US">
                <a:solidFill>
                  <a:srgbClr val="008000"/>
                </a:solidFill>
                <a:latin typeface="inherit"/>
              </a:rPr>
              <a:t>'Export PDF'</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None</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'PDF files (.pdf);;All Files()'</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2D7A"/>
                </a:solidFill>
                <a:latin typeface="inherit"/>
              </a:rPr>
              <a:t>fn</a:t>
            </a:r>
            <a:r>
              <a:rPr lang="en-US">
                <a:solidFill>
                  <a:srgbClr val="006FE0"/>
                </a:solidFill>
                <a:latin typeface="inherit"/>
              </a:rPr>
              <a:t> != </a:t>
            </a:r>
            <a:r>
              <a:rPr lang="en-US">
                <a:solidFill>
                  <a:srgbClr val="008000"/>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QFileInfo</a:t>
            </a:r>
            <a:r>
              <a:rPr lang="en-US">
                <a:solidFill>
                  <a:srgbClr val="333333"/>
                </a:solidFill>
                <a:latin typeface="inherit"/>
              </a:rPr>
              <a:t>(</a:t>
            </a:r>
            <a:r>
              <a:rPr lang="en-US">
                <a:solidFill>
                  <a:srgbClr val="002D7A"/>
                </a:solidFill>
                <a:latin typeface="inherit"/>
              </a:rPr>
              <a:t>fn</a:t>
            </a:r>
            <a:r>
              <a:rPr lang="en-US">
                <a:solidFill>
                  <a:srgbClr val="333333"/>
                </a:solidFill>
                <a:latin typeface="inherit"/>
              </a:rPr>
              <a:t>).</a:t>
            </a:r>
            <a:r>
              <a:rPr lang="en-US">
                <a:solidFill>
                  <a:srgbClr val="004ED0"/>
                </a:solidFill>
                <a:latin typeface="inherit"/>
              </a:rPr>
              <a:t>suffix</a:t>
            </a:r>
            <a:r>
              <a:rPr lang="en-US">
                <a:solidFill>
                  <a:srgbClr val="333333"/>
                </a:solidFill>
                <a:latin typeface="inherit"/>
              </a:rPr>
              <a:t>()</a:t>
            </a:r>
            <a:r>
              <a:rPr lang="en-US">
                <a:solidFill>
                  <a:srgbClr val="006FE0"/>
                </a:solidFill>
                <a:latin typeface="inherit"/>
              </a:rPr>
              <a:t> == </a:t>
            </a:r>
            <a:r>
              <a:rPr lang="en-US">
                <a:solidFill>
                  <a:srgbClr val="008000"/>
                </a:solidFill>
                <a:latin typeface="inherit"/>
              </a:rPr>
              <a:t>""</a:t>
            </a:r>
            <a:r>
              <a:rPr lang="en-US">
                <a:solidFill>
                  <a:srgbClr val="006FE0"/>
                </a:solidFill>
                <a:latin typeface="inherit"/>
              </a:rPr>
              <a:t>: </a:t>
            </a:r>
            <a:r>
              <a:rPr lang="en-US">
                <a:solidFill>
                  <a:srgbClr val="002D7A"/>
                </a:solidFill>
                <a:latin typeface="inherit"/>
              </a:rPr>
              <a:t>fn</a:t>
            </a:r>
            <a:r>
              <a:rPr lang="en-US">
                <a:solidFill>
                  <a:srgbClr val="006FE0"/>
                </a:solidFill>
                <a:latin typeface="inherit"/>
              </a:rPr>
              <a:t> += </a:t>
            </a:r>
            <a:r>
              <a:rPr lang="en-US">
                <a:solidFill>
                  <a:srgbClr val="008000"/>
                </a:solidFill>
                <a:latin typeface="inherit"/>
              </a:rPr>
              <a:t>'.pdf'</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006FE0"/>
                </a:solidFill>
                <a:latin typeface="inherit"/>
              </a:rPr>
              <a:t> = </a:t>
            </a:r>
            <a:r>
              <a:rPr lang="en-US">
                <a:solidFill>
                  <a:srgbClr val="004ED0"/>
                </a:solidFill>
                <a:latin typeface="inherit"/>
              </a:rPr>
              <a:t>QPrinter</a:t>
            </a:r>
            <a:r>
              <a:rPr lang="en-US">
                <a:solidFill>
                  <a:srgbClr val="333333"/>
                </a:solidFill>
                <a:latin typeface="inherit"/>
              </a:rPr>
              <a:t>(</a:t>
            </a:r>
            <a:r>
              <a:rPr lang="en-US">
                <a:solidFill>
                  <a:srgbClr val="002D7A"/>
                </a:solidFill>
                <a:latin typeface="inherit"/>
              </a:rPr>
              <a:t>QPrinter</a:t>
            </a:r>
            <a:r>
              <a:rPr lang="en-US">
                <a:solidFill>
                  <a:srgbClr val="333333"/>
                </a:solidFill>
                <a:latin typeface="inherit"/>
              </a:rPr>
              <a:t>.</a:t>
            </a:r>
            <a:r>
              <a:rPr lang="en-US">
                <a:solidFill>
                  <a:srgbClr val="002D7A"/>
                </a:solidFill>
                <a:latin typeface="inherit"/>
              </a:rPr>
              <a:t>HighResolution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333333"/>
                </a:solidFill>
                <a:latin typeface="inherit"/>
              </a:rPr>
              <a:t>.</a:t>
            </a:r>
            <a:r>
              <a:rPr lang="en-US">
                <a:solidFill>
                  <a:srgbClr val="004ED0"/>
                </a:solidFill>
                <a:latin typeface="inherit"/>
              </a:rPr>
              <a:t>setOutputFormat</a:t>
            </a:r>
            <a:r>
              <a:rPr lang="en-US">
                <a:solidFill>
                  <a:srgbClr val="333333"/>
                </a:solidFill>
                <a:latin typeface="inherit"/>
              </a:rPr>
              <a:t>(</a:t>
            </a:r>
            <a:r>
              <a:rPr lang="en-US">
                <a:solidFill>
                  <a:srgbClr val="002D7A"/>
                </a:solidFill>
                <a:latin typeface="inherit"/>
              </a:rPr>
              <a:t>QPrinter</a:t>
            </a:r>
            <a:r>
              <a:rPr lang="en-US">
                <a:solidFill>
                  <a:srgbClr val="333333"/>
                </a:solidFill>
                <a:latin typeface="inherit"/>
              </a:rPr>
              <a:t>.</a:t>
            </a:r>
            <a:r>
              <a:rPr lang="en-US">
                <a:solidFill>
                  <a:srgbClr val="002D7A"/>
                </a:solidFill>
                <a:latin typeface="inherit"/>
              </a:rPr>
              <a:t>PdfFormat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printer</a:t>
            </a:r>
            <a:r>
              <a:rPr lang="en-US">
                <a:solidFill>
                  <a:srgbClr val="333333"/>
                </a:solidFill>
                <a:latin typeface="inherit"/>
              </a:rPr>
              <a:t>.</a:t>
            </a:r>
            <a:r>
              <a:rPr lang="en-US">
                <a:solidFill>
                  <a:srgbClr val="004ED0"/>
                </a:solidFill>
                <a:latin typeface="inherit"/>
              </a:rPr>
              <a:t>setOutputFileName</a:t>
            </a:r>
            <a:r>
              <a:rPr lang="en-US">
                <a:solidFill>
                  <a:srgbClr val="333333"/>
                </a:solidFill>
                <a:latin typeface="inherit"/>
              </a:rPr>
              <a:t>(</a:t>
            </a:r>
            <a:r>
              <a:rPr lang="en-US">
                <a:solidFill>
                  <a:srgbClr val="002D7A"/>
                </a:solidFill>
                <a:latin typeface="inherit"/>
              </a:rPr>
              <a:t>fn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textEdit</a:t>
            </a:r>
            <a:r>
              <a:rPr lang="en-US">
                <a:solidFill>
                  <a:srgbClr val="333333"/>
                </a:solidFill>
                <a:latin typeface="inherit"/>
              </a:rPr>
              <a:t>.</a:t>
            </a:r>
            <a:r>
              <a:rPr lang="en-US">
                <a:solidFill>
                  <a:srgbClr val="004ED0"/>
                </a:solidFill>
                <a:latin typeface="inherit"/>
              </a:rPr>
              <a:t>document</a:t>
            </a:r>
            <a:r>
              <a:rPr lang="en-US">
                <a:solidFill>
                  <a:srgbClr val="333333"/>
                </a:solidFill>
                <a:latin typeface="inherit"/>
              </a:rPr>
              <a:t>().</a:t>
            </a:r>
            <a:r>
              <a:rPr lang="en-US">
                <a:solidFill>
                  <a:srgbClr val="004ED0"/>
                </a:solidFill>
                <a:latin typeface="inherit"/>
              </a:rPr>
              <a:t>print_</a:t>
            </a:r>
            <a:r>
              <a:rPr lang="en-US">
                <a:solidFill>
                  <a:srgbClr val="333333"/>
                </a:solidFill>
                <a:latin typeface="inherit"/>
              </a:rPr>
              <a:t>(</a:t>
            </a:r>
            <a:r>
              <a:rPr lang="en-US">
                <a:solidFill>
                  <a:srgbClr val="002D7A"/>
                </a:solidFill>
                <a:latin typeface="inherit"/>
              </a:rPr>
              <a:t>printer</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19468075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44BE28-FB63-481C-9B14-2C4364BB261F}"/>
              </a:ext>
            </a:extLst>
          </p:cNvPr>
          <p:cNvSpPr/>
          <p:nvPr/>
        </p:nvSpPr>
        <p:spPr>
          <a:xfrm>
            <a:off x="0" y="741873"/>
            <a:ext cx="6538823" cy="461665"/>
          </a:xfrm>
          <a:prstGeom prst="rect">
            <a:avLst/>
          </a:prstGeom>
        </p:spPr>
        <p:txBody>
          <a:bodyPr wrap="square">
            <a:spAutoFit/>
          </a:bodyPr>
          <a:lstStyle/>
          <a:p>
            <a:r>
              <a:rPr lang="vi-VN" sz="2400" i="1">
                <a:solidFill>
                  <a:srgbClr val="3A3A3A"/>
                </a:solidFill>
              </a:rPr>
              <a:t>Đây là hai phương thức cho hộp thông báo</a:t>
            </a:r>
            <a:endParaRPr lang="en-US" sz="2400" i="1"/>
          </a:p>
        </p:txBody>
      </p:sp>
      <p:sp>
        <p:nvSpPr>
          <p:cNvPr id="5" name="Rectangle 4">
            <a:extLst>
              <a:ext uri="{FF2B5EF4-FFF2-40B4-BE49-F238E27FC236}">
                <a16:creationId xmlns:a16="http://schemas.microsoft.com/office/drawing/2014/main" id="{AF015BDB-25C2-4957-A01C-97C534B1B8E0}"/>
              </a:ext>
            </a:extLst>
          </p:cNvPr>
          <p:cNvSpPr/>
          <p:nvPr/>
        </p:nvSpPr>
        <p:spPr>
          <a:xfrm>
            <a:off x="9624" y="1203538"/>
            <a:ext cx="9124752" cy="2723823"/>
          </a:xfrm>
          <a:prstGeom prst="rect">
            <a:avLst/>
          </a:prstGeom>
          <a:solidFill>
            <a:schemeClr val="accent2">
              <a:lumMod val="20000"/>
              <a:lumOff val="80000"/>
            </a:schemeClr>
          </a:solidFill>
        </p:spPr>
        <p:txBody>
          <a:bodyPr wrap="square">
            <a:spAutoFit/>
          </a:bodyPr>
          <a:lstStyle/>
          <a:p>
            <a:pPr>
              <a:lnSpc>
                <a:spcPct val="90000"/>
              </a:lnSpc>
            </a:pPr>
            <a:r>
              <a:rPr lang="en-US" sz="1900">
                <a:solidFill>
                  <a:srgbClr val="004ED0"/>
                </a:solidFill>
                <a:latin typeface="inherit"/>
              </a:rPr>
              <a:t>def AboutmessageBox</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QMessageBox</a:t>
            </a:r>
            <a:r>
              <a:rPr lang="en-US" sz="1900">
                <a:solidFill>
                  <a:srgbClr val="333333"/>
                </a:solidFill>
                <a:latin typeface="inherit"/>
              </a:rPr>
              <a:t>.</a:t>
            </a:r>
            <a:r>
              <a:rPr lang="en-US" sz="1900">
                <a:solidFill>
                  <a:srgbClr val="004ED0"/>
                </a:solidFill>
                <a:latin typeface="inherit"/>
              </a:rPr>
              <a:t>about</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 </a:t>
            </a:r>
            <a:r>
              <a:rPr lang="en-US" sz="1900">
                <a:solidFill>
                  <a:srgbClr val="008000"/>
                </a:solidFill>
                <a:latin typeface="inherit"/>
              </a:rPr>
              <a:t>"About Application"</a:t>
            </a:r>
            <a:r>
              <a:rPr lang="en-US" sz="1900">
                <a:solidFill>
                  <a:srgbClr val="333333"/>
                </a:solidFill>
                <a:latin typeface="inherit"/>
              </a:rPr>
              <a:t>,</a:t>
            </a:r>
            <a:r>
              <a:rPr lang="en-US" sz="1900">
                <a:solidFill>
                  <a:srgbClr val="006FE0"/>
                </a:solidFill>
                <a:latin typeface="inherit"/>
              </a:rPr>
              <a:t> </a:t>
            </a:r>
            <a:r>
              <a:rPr lang="en-US" sz="1900">
                <a:solidFill>
                  <a:srgbClr val="008000"/>
                </a:solidFill>
                <a:latin typeface="inherit"/>
              </a:rPr>
              <a:t>"This is a simple texteditor application"</a:t>
            </a:r>
            <a:r>
              <a:rPr lang="en-US" sz="1900">
                <a:solidFill>
                  <a:srgbClr val="333333"/>
                </a:solidFill>
                <a:latin typeface="inherit"/>
              </a:rPr>
              <a:t>)</a:t>
            </a:r>
            <a:endParaRPr lang="en-US" sz="1900">
              <a:solidFill>
                <a:srgbClr val="000000"/>
              </a:solidFill>
              <a:latin typeface="Monaco"/>
            </a:endParaRPr>
          </a:p>
          <a:p>
            <a:pPr>
              <a:lnSpc>
                <a:spcPct val="90000"/>
              </a:lnSpc>
            </a:pPr>
            <a:endParaRPr lang="en-US" sz="1900">
              <a:solidFill>
                <a:srgbClr val="004ED0"/>
              </a:solidFill>
              <a:latin typeface="inherit"/>
            </a:endParaRPr>
          </a:p>
          <a:p>
            <a:pPr>
              <a:lnSpc>
                <a:spcPct val="90000"/>
              </a:lnSpc>
            </a:pPr>
            <a:r>
              <a:rPr lang="en-US" sz="1900">
                <a:solidFill>
                  <a:srgbClr val="004ED0"/>
                </a:solidFill>
                <a:latin typeface="inherit"/>
              </a:rPr>
              <a:t>def choiceMessageBox</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message</a:t>
            </a:r>
            <a:r>
              <a:rPr lang="en-US" sz="1900">
                <a:solidFill>
                  <a:srgbClr val="006FE0"/>
                </a:solidFill>
                <a:latin typeface="inherit"/>
              </a:rPr>
              <a:t> = </a:t>
            </a:r>
            <a:r>
              <a:rPr lang="en-US" sz="1900">
                <a:solidFill>
                  <a:srgbClr val="002D7A"/>
                </a:solidFill>
                <a:latin typeface="inherit"/>
              </a:rPr>
              <a:t>QMessageBox</a:t>
            </a:r>
            <a:r>
              <a:rPr lang="en-US" sz="1900">
                <a:solidFill>
                  <a:srgbClr val="333333"/>
                </a:solidFill>
                <a:latin typeface="inherit"/>
              </a:rPr>
              <a:t>.</a:t>
            </a:r>
            <a:r>
              <a:rPr lang="en-US" sz="1900">
                <a:solidFill>
                  <a:srgbClr val="004ED0"/>
                </a:solidFill>
                <a:latin typeface="inherit"/>
              </a:rPr>
              <a:t>question</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 </a:t>
            </a:r>
            <a:r>
              <a:rPr lang="en-US" sz="1900">
                <a:solidFill>
                  <a:srgbClr val="008000"/>
                </a:solidFill>
                <a:latin typeface="inherit"/>
              </a:rPr>
              <a:t>"Choice Message"</a:t>
            </a:r>
            <a:r>
              <a:rPr lang="en-US" sz="1900">
                <a:solidFill>
                  <a:srgbClr val="333333"/>
                </a:solidFill>
                <a:latin typeface="inherit"/>
              </a:rPr>
              <a:t>,</a:t>
            </a:r>
            <a:r>
              <a:rPr lang="en-US" sz="1900">
                <a:solidFill>
                  <a:srgbClr val="006FE0"/>
                </a:solidFill>
                <a:latin typeface="inherit"/>
              </a:rPr>
              <a:t> </a:t>
            </a:r>
            <a:r>
              <a:rPr lang="en-US" sz="1900">
                <a:solidFill>
                  <a:srgbClr val="008000"/>
                </a:solidFill>
                <a:latin typeface="inherit"/>
              </a:rPr>
              <a:t>"Do You Like PyQt5 ?"</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2D7A"/>
                </a:solidFill>
                <a:latin typeface="inherit"/>
              </a:rPr>
              <a:t>QMessageBox</a:t>
            </a:r>
            <a:r>
              <a:rPr lang="en-US" sz="1900">
                <a:solidFill>
                  <a:srgbClr val="333333"/>
                </a:solidFill>
                <a:latin typeface="inherit"/>
              </a:rPr>
              <a:t>.</a:t>
            </a:r>
            <a:r>
              <a:rPr lang="en-US" sz="1900">
                <a:solidFill>
                  <a:srgbClr val="002D7A"/>
                </a:solidFill>
                <a:latin typeface="inherit"/>
              </a:rPr>
              <a:t>Yes</a:t>
            </a:r>
            <a:r>
              <a:rPr lang="en-US" sz="1900">
                <a:solidFill>
                  <a:srgbClr val="006FE0"/>
                </a:solidFill>
                <a:latin typeface="inherit"/>
              </a:rPr>
              <a:t> | </a:t>
            </a:r>
            <a:r>
              <a:rPr lang="en-US" sz="1900">
                <a:solidFill>
                  <a:srgbClr val="002D7A"/>
                </a:solidFill>
                <a:latin typeface="inherit"/>
              </a:rPr>
              <a:t>QMessageBox</a:t>
            </a:r>
            <a:r>
              <a:rPr lang="en-US" sz="1900">
                <a:solidFill>
                  <a:srgbClr val="333333"/>
                </a:solidFill>
                <a:latin typeface="inherit"/>
              </a:rPr>
              <a:t>.</a:t>
            </a:r>
            <a:r>
              <a:rPr lang="en-US" sz="1900">
                <a:solidFill>
                  <a:srgbClr val="002D7A"/>
                </a:solidFill>
                <a:latin typeface="inherit"/>
              </a:rPr>
              <a:t>No</a:t>
            </a:r>
            <a:r>
              <a:rPr lang="en-US" sz="1900">
                <a:solidFill>
                  <a:srgbClr val="333333"/>
                </a:solidFill>
                <a:latin typeface="inherit"/>
              </a:rPr>
              <a:t>,</a:t>
            </a:r>
            <a:r>
              <a:rPr lang="en-US" sz="1900">
                <a:solidFill>
                  <a:srgbClr val="006FE0"/>
                </a:solidFill>
                <a:latin typeface="inherit"/>
              </a:rPr>
              <a:t> </a:t>
            </a:r>
            <a:r>
              <a:rPr lang="en-US" sz="1900">
                <a:solidFill>
                  <a:srgbClr val="002D7A"/>
                </a:solidFill>
                <a:latin typeface="inherit"/>
              </a:rPr>
              <a:t>QMessageBox</a:t>
            </a:r>
            <a:r>
              <a:rPr lang="en-US" sz="1900">
                <a:solidFill>
                  <a:srgbClr val="333333"/>
                </a:solidFill>
                <a:latin typeface="inherit"/>
              </a:rPr>
              <a:t>.</a:t>
            </a:r>
            <a:r>
              <a:rPr lang="en-US" sz="1900">
                <a:solidFill>
                  <a:srgbClr val="002D7A"/>
                </a:solidFill>
                <a:latin typeface="inherit"/>
              </a:rPr>
              <a:t>No</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if</a:t>
            </a:r>
            <a:r>
              <a:rPr lang="en-US" sz="1900">
                <a:solidFill>
                  <a:srgbClr val="006FE0"/>
                </a:solidFill>
                <a:latin typeface="inherit"/>
              </a:rPr>
              <a:t> </a:t>
            </a:r>
            <a:r>
              <a:rPr lang="en-US" sz="1900">
                <a:solidFill>
                  <a:srgbClr val="002D7A"/>
                </a:solidFill>
                <a:latin typeface="inherit"/>
              </a:rPr>
              <a:t>message</a:t>
            </a:r>
            <a:r>
              <a:rPr lang="en-US" sz="1900">
                <a:solidFill>
                  <a:srgbClr val="006FE0"/>
                </a:solidFill>
                <a:latin typeface="inherit"/>
              </a:rPr>
              <a:t> == </a:t>
            </a:r>
            <a:r>
              <a:rPr lang="en-US" sz="1900">
                <a:solidFill>
                  <a:srgbClr val="002D7A"/>
                </a:solidFill>
                <a:latin typeface="inherit"/>
              </a:rPr>
              <a:t>QMessageBox</a:t>
            </a:r>
            <a:r>
              <a:rPr lang="en-US" sz="1900">
                <a:solidFill>
                  <a:srgbClr val="333333"/>
                </a:solidFill>
                <a:latin typeface="inherit"/>
              </a:rPr>
              <a:t>.</a:t>
            </a:r>
            <a:r>
              <a:rPr lang="en-US" sz="1900">
                <a:solidFill>
                  <a:srgbClr val="002D7A"/>
                </a:solidFill>
                <a:latin typeface="inherit"/>
              </a:rPr>
              <a:t>Yes</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4ED0"/>
                </a:solidFill>
                <a:latin typeface="inherit"/>
              </a:rPr>
              <a:t>print</a:t>
            </a:r>
            <a:r>
              <a:rPr lang="en-US" sz="1900">
                <a:solidFill>
                  <a:srgbClr val="333333"/>
                </a:solidFill>
                <a:latin typeface="inherit"/>
              </a:rPr>
              <a:t>(</a:t>
            </a:r>
            <a:r>
              <a:rPr lang="en-US" sz="1900">
                <a:solidFill>
                  <a:srgbClr val="008000"/>
                </a:solidFill>
                <a:latin typeface="inherit"/>
              </a:rPr>
              <a:t>"Yes I Like PyQt5"</a:t>
            </a:r>
            <a:r>
              <a:rPr lang="en-US" sz="1900">
                <a:solidFill>
                  <a:srgbClr val="333333"/>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800080"/>
                </a:solidFill>
                <a:latin typeface="inherit"/>
              </a:rPr>
              <a:t>else</a:t>
            </a:r>
            <a:r>
              <a:rPr lang="en-US" sz="1900">
                <a:solidFill>
                  <a:srgbClr val="006FE0"/>
                </a:solidFill>
                <a:latin typeface="inherit"/>
              </a:rPr>
              <a:t>:</a:t>
            </a:r>
            <a:endParaRPr lang="en-US" sz="1900">
              <a:solidFill>
                <a:srgbClr val="000000"/>
              </a:solidFill>
              <a:latin typeface="Monaco"/>
            </a:endParaRPr>
          </a:p>
          <a:p>
            <a:pPr>
              <a:lnSpc>
                <a:spcPct val="90000"/>
              </a:lnSpc>
            </a:pPr>
            <a:r>
              <a:rPr lang="en-US" sz="1900">
                <a:solidFill>
                  <a:srgbClr val="006FE0"/>
                </a:solidFill>
                <a:latin typeface="inherit"/>
              </a:rPr>
              <a:t>            </a:t>
            </a:r>
            <a:r>
              <a:rPr lang="en-US" sz="1900">
                <a:solidFill>
                  <a:srgbClr val="004ED0"/>
                </a:solidFill>
                <a:latin typeface="inherit"/>
              </a:rPr>
              <a:t>print</a:t>
            </a:r>
            <a:r>
              <a:rPr lang="en-US" sz="1900">
                <a:solidFill>
                  <a:srgbClr val="333333"/>
                </a:solidFill>
                <a:latin typeface="inherit"/>
              </a:rPr>
              <a:t>(</a:t>
            </a:r>
            <a:r>
              <a:rPr lang="en-US" sz="1900">
                <a:solidFill>
                  <a:srgbClr val="008000"/>
                </a:solidFill>
                <a:latin typeface="inherit"/>
              </a:rPr>
              <a:t>"No I Dot Like PyQt5"</a:t>
            </a:r>
            <a:r>
              <a:rPr lang="en-US" sz="1900">
                <a:solidFill>
                  <a:srgbClr val="333333"/>
                </a:solidFill>
                <a:latin typeface="inherit"/>
              </a:rPr>
              <a:t>)</a:t>
            </a:r>
            <a:endParaRPr lang="en-US" sz="1900" b="0" i="0">
              <a:solidFill>
                <a:srgbClr val="000000"/>
              </a:solidFill>
              <a:effectLst/>
              <a:latin typeface="Monaco"/>
            </a:endParaRPr>
          </a:p>
        </p:txBody>
      </p:sp>
      <p:sp>
        <p:nvSpPr>
          <p:cNvPr id="6" name="Title 1">
            <a:extLst>
              <a:ext uri="{FF2B5EF4-FFF2-40B4-BE49-F238E27FC236}">
                <a16:creationId xmlns:a16="http://schemas.microsoft.com/office/drawing/2014/main" id="{4D325D90-879A-4260-8E52-5BA99CCEC4C7}"/>
              </a:ext>
            </a:extLst>
          </p:cNvPr>
          <p:cNvSpPr>
            <a:spLocks noGrp="1"/>
          </p:cNvSpPr>
          <p:nvPr>
            <p:ph type="title"/>
          </p:nvPr>
        </p:nvSpPr>
        <p:spPr>
          <a:xfrm>
            <a:off x="9624" y="19251"/>
            <a:ext cx="9134375" cy="722622"/>
          </a:xfrm>
        </p:spPr>
        <p:txBody>
          <a:bodyPr>
            <a:normAutofit/>
          </a:bodyPr>
          <a:lstStyle/>
          <a:p>
            <a:r>
              <a:rPr lang="en-US"/>
              <a:t>Ví dụ QMessageBox của PyQt5 (t.t)</a:t>
            </a:r>
          </a:p>
        </p:txBody>
      </p:sp>
      <p:pic>
        <p:nvPicPr>
          <p:cNvPr id="1026" name="Picture 2">
            <a:extLst>
              <a:ext uri="{FF2B5EF4-FFF2-40B4-BE49-F238E27FC236}">
                <a16:creationId xmlns:a16="http://schemas.microsoft.com/office/drawing/2014/main" id="{EF15B42B-674C-4998-BFA7-C3EDB1220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1517" y="3303918"/>
            <a:ext cx="4782859" cy="3534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2366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C0CAE-DED9-4C64-997F-A4F492DE5703}"/>
              </a:ext>
            </a:extLst>
          </p:cNvPr>
          <p:cNvSpPr>
            <a:spLocks noGrp="1"/>
          </p:cNvSpPr>
          <p:nvPr>
            <p:ph type="title"/>
          </p:nvPr>
        </p:nvSpPr>
        <p:spPr/>
        <p:txBody>
          <a:bodyPr>
            <a:normAutofit/>
          </a:bodyPr>
          <a:lstStyle/>
          <a:p>
            <a:r>
              <a:rPr lang="en-US"/>
              <a:t>Cách tạo Menu ngữ cảnh trong PyQt5</a:t>
            </a:r>
          </a:p>
        </p:txBody>
      </p:sp>
      <p:sp>
        <p:nvSpPr>
          <p:cNvPr id="3" name="Content Placeholder 2">
            <a:extLst>
              <a:ext uri="{FF2B5EF4-FFF2-40B4-BE49-F238E27FC236}">
                <a16:creationId xmlns:a16="http://schemas.microsoft.com/office/drawing/2014/main" id="{2BBE8E7B-5F73-4D3F-A99B-0F9AFDC0B951}"/>
              </a:ext>
            </a:extLst>
          </p:cNvPr>
          <p:cNvSpPr>
            <a:spLocks noGrp="1"/>
          </p:cNvSpPr>
          <p:nvPr>
            <p:ph idx="1"/>
          </p:nvPr>
        </p:nvSpPr>
        <p:spPr/>
        <p:txBody>
          <a:bodyPr/>
          <a:lstStyle/>
          <a:p>
            <a:r>
              <a:rPr lang="en-US"/>
              <a:t>Chúng ta tìm hiểu c</a:t>
            </a:r>
            <a:r>
              <a:rPr lang="vi-VN"/>
              <a:t>ách tạo Menu ngữ cảnh </a:t>
            </a:r>
            <a:r>
              <a:rPr lang="en-US"/>
              <a:t>(Context Menu) </a:t>
            </a:r>
            <a:r>
              <a:rPr lang="vi-VN"/>
              <a:t>trong </a:t>
            </a:r>
            <a:r>
              <a:rPr lang="vi-VN">
                <a:hlinkClick r:id="rId3"/>
              </a:rPr>
              <a:t>PyQt5</a:t>
            </a:r>
            <a:endParaRPr lang="vi-VN"/>
          </a:p>
        </p:txBody>
      </p:sp>
      <p:graphicFrame>
        <p:nvGraphicFramePr>
          <p:cNvPr id="4" name="Table 3">
            <a:extLst>
              <a:ext uri="{FF2B5EF4-FFF2-40B4-BE49-F238E27FC236}">
                <a16:creationId xmlns:a16="http://schemas.microsoft.com/office/drawing/2014/main" id="{BA101580-5888-4854-B2FA-C3AD4204EE50}"/>
              </a:ext>
            </a:extLst>
          </p:cNvPr>
          <p:cNvGraphicFramePr>
            <a:graphicFrameLocks noGrp="1"/>
          </p:cNvGraphicFramePr>
          <p:nvPr>
            <p:extLst>
              <p:ext uri="{D42A27DB-BD31-4B8C-83A1-F6EECF244321}">
                <p14:modId xmlns:p14="http://schemas.microsoft.com/office/powerpoint/2010/main" val="726222597"/>
              </p:ext>
            </p:extLst>
          </p:nvPr>
        </p:nvGraphicFramePr>
        <p:xfrm>
          <a:off x="0" y="3042573"/>
          <a:ext cx="9124752" cy="1554480"/>
        </p:xfrm>
        <a:graphic>
          <a:graphicData uri="http://schemas.openxmlformats.org/drawingml/2006/table">
            <a:tbl>
              <a:tblPr/>
              <a:tblGrid>
                <a:gridCol w="696600">
                  <a:extLst>
                    <a:ext uri="{9D8B030D-6E8A-4147-A177-3AD203B41FA5}">
                      <a16:colId xmlns:a16="http://schemas.microsoft.com/office/drawing/2014/main" val="2033648251"/>
                    </a:ext>
                  </a:extLst>
                </a:gridCol>
                <a:gridCol w="8428152">
                  <a:extLst>
                    <a:ext uri="{9D8B030D-6E8A-4147-A177-3AD203B41FA5}">
                      <a16:colId xmlns:a16="http://schemas.microsoft.com/office/drawing/2014/main" val="2404171520"/>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QMainWindow</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QMenu</a:t>
                      </a:r>
                      <a:endParaRPr lang="en-US" sz="2400" b="0">
                        <a:solidFill>
                          <a:srgbClr val="000000"/>
                        </a:solidFill>
                        <a:effectLst/>
                        <a:latin typeface="inherit"/>
                      </a:endParaRPr>
                    </a:p>
                    <a:p>
                      <a:pPr algn="l" fontAlgn="t"/>
                      <a:r>
                        <a:rPr lang="en-US" sz="2400" b="0">
                          <a:solidFill>
                            <a:srgbClr val="004ED0"/>
                          </a:solidFill>
                          <a:effectLst/>
                          <a:latin typeface="inherit"/>
                        </a:rPr>
                        <a:t>import </a:t>
                      </a:r>
                      <a:r>
                        <a:rPr lang="en-US" sz="2400" b="0">
                          <a:solidFill>
                            <a:srgbClr val="002D7A"/>
                          </a:solidFill>
                          <a:effectLst/>
                          <a:latin typeface="inherit"/>
                        </a:rPr>
                        <a:t>sys</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362330713"/>
                  </a:ext>
                </a:extLst>
              </a:tr>
            </a:tbl>
          </a:graphicData>
        </a:graphic>
      </p:graphicFrame>
    </p:spTree>
    <p:extLst>
      <p:ext uri="{BB962C8B-B14F-4D97-AF65-F5344CB8AC3E}">
        <p14:creationId xmlns:p14="http://schemas.microsoft.com/office/powerpoint/2010/main" val="31635802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3AF148-98BE-4E30-B389-86ADFF501255}"/>
              </a:ext>
            </a:extLst>
          </p:cNvPr>
          <p:cNvSpPr>
            <a:spLocks noGrp="1"/>
          </p:cNvSpPr>
          <p:nvPr>
            <p:ph idx="1"/>
          </p:nvPr>
        </p:nvSpPr>
        <p:spPr>
          <a:xfrm>
            <a:off x="9624" y="875268"/>
            <a:ext cx="9134375" cy="5885848"/>
          </a:xfrm>
        </p:spPr>
        <p:txBody>
          <a:bodyPr>
            <a:normAutofit/>
          </a:bodyPr>
          <a:lstStyle/>
          <a:p>
            <a:pPr marL="0" indent="0">
              <a:buNone/>
            </a:pPr>
            <a:r>
              <a:rPr lang="vi-VN" sz="2400"/>
              <a:t>Sau đó, tạo lớp Window kế thừa từ QMainWindow và trong lớp đó, chúng ta thêm một số yêu cầu cho cửa sổ, sau khi chúng ta tạo một phương thức trong lớp đó trong phương thức đó, chúng ta đặt biểu tượng và hình dạng tiêu đề</a:t>
            </a:r>
            <a:endParaRPr lang="en-US" sz="2400"/>
          </a:p>
        </p:txBody>
      </p:sp>
      <p:sp>
        <p:nvSpPr>
          <p:cNvPr id="4" name="Title 1">
            <a:extLst>
              <a:ext uri="{FF2B5EF4-FFF2-40B4-BE49-F238E27FC236}">
                <a16:creationId xmlns:a16="http://schemas.microsoft.com/office/drawing/2014/main" id="{43129776-2A27-4FB8-8465-078B239A2148}"/>
              </a:ext>
            </a:extLst>
          </p:cNvPr>
          <p:cNvSpPr>
            <a:spLocks noGrp="1"/>
          </p:cNvSpPr>
          <p:nvPr>
            <p:ph type="title"/>
          </p:nvPr>
        </p:nvSpPr>
        <p:spPr>
          <a:xfrm>
            <a:off x="9624" y="19250"/>
            <a:ext cx="9134375" cy="933651"/>
          </a:xfrm>
        </p:spPr>
        <p:txBody>
          <a:bodyPr>
            <a:normAutofit fontScale="90000"/>
          </a:bodyPr>
          <a:lstStyle/>
          <a:p>
            <a:r>
              <a:rPr lang="en-US"/>
              <a:t>Cách tạo Menu ngữ cảnh trong PyQt5 (t.t)</a:t>
            </a:r>
          </a:p>
        </p:txBody>
      </p:sp>
      <p:sp>
        <p:nvSpPr>
          <p:cNvPr id="5" name="Rectangle 4">
            <a:extLst>
              <a:ext uri="{FF2B5EF4-FFF2-40B4-BE49-F238E27FC236}">
                <a16:creationId xmlns:a16="http://schemas.microsoft.com/office/drawing/2014/main" id="{AE900836-8AFB-4BF2-A41A-B4E8C1A50A33}"/>
              </a:ext>
            </a:extLst>
          </p:cNvPr>
          <p:cNvSpPr/>
          <p:nvPr/>
        </p:nvSpPr>
        <p:spPr>
          <a:xfrm>
            <a:off x="448573" y="2348184"/>
            <a:ext cx="7513607" cy="4455066"/>
          </a:xfrm>
          <a:prstGeom prst="rect">
            <a:avLst/>
          </a:prstGeom>
        </p:spPr>
        <p:txBody>
          <a:bodyPr wrap="square">
            <a:spAutoFit/>
          </a:bodyPr>
          <a:lstStyle/>
          <a:p>
            <a:pPr>
              <a:lnSpc>
                <a:spcPct val="90000"/>
              </a:lnSpc>
            </a:pPr>
            <a:r>
              <a:rPr lang="en-US" sz="2100">
                <a:solidFill>
                  <a:srgbClr val="800080"/>
                </a:solidFill>
                <a:latin typeface="inherit"/>
              </a:rPr>
              <a:t>class</a:t>
            </a:r>
            <a:r>
              <a:rPr lang="en-US" sz="2100">
                <a:solidFill>
                  <a:srgbClr val="006FE0"/>
                </a:solidFill>
                <a:latin typeface="inherit"/>
              </a:rPr>
              <a:t> </a:t>
            </a:r>
            <a:r>
              <a:rPr lang="en-US" sz="2100">
                <a:solidFill>
                  <a:srgbClr val="004ED0"/>
                </a:solidFill>
                <a:latin typeface="inherit"/>
              </a:rPr>
              <a:t>Window</a:t>
            </a:r>
            <a:r>
              <a:rPr lang="en-US" sz="2100">
                <a:solidFill>
                  <a:srgbClr val="333333"/>
                </a:solidFill>
                <a:latin typeface="inherit"/>
              </a:rPr>
              <a:t>(</a:t>
            </a:r>
            <a:r>
              <a:rPr lang="en-US" sz="2100">
                <a:solidFill>
                  <a:srgbClr val="002D7A"/>
                </a:solidFill>
                <a:latin typeface="inherit"/>
              </a:rPr>
              <a:t>QMainWindow</a:t>
            </a:r>
            <a:r>
              <a:rPr lang="en-US" sz="2100">
                <a:solidFill>
                  <a:srgbClr val="333333"/>
                </a:solidFill>
                <a:latin typeface="inherit"/>
              </a:rPr>
              <a:t>)</a:t>
            </a:r>
            <a:r>
              <a:rPr lang="en-US" sz="2100">
                <a:solidFill>
                  <a:srgbClr val="006FE0"/>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004ED0"/>
                </a:solidFill>
                <a:latin typeface="inherit"/>
              </a:rPr>
              <a:t>def __init__</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6FE0"/>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super</a:t>
            </a:r>
            <a:r>
              <a:rPr lang="en-US" sz="2100">
                <a:solidFill>
                  <a:srgbClr val="333333"/>
                </a:solidFill>
                <a:latin typeface="inherit"/>
              </a:rPr>
              <a:t>().</a:t>
            </a:r>
            <a:r>
              <a:rPr lang="en-US" sz="2100">
                <a:solidFill>
                  <a:srgbClr val="004ED0"/>
                </a:solidFill>
                <a:latin typeface="inherit"/>
              </a:rPr>
              <a:t>__init__</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title</a:t>
            </a:r>
            <a:r>
              <a:rPr lang="en-US" sz="2100">
                <a:solidFill>
                  <a:srgbClr val="006FE0"/>
                </a:solidFill>
                <a:latin typeface="inherit"/>
              </a:rPr>
              <a:t> = </a:t>
            </a:r>
            <a:r>
              <a:rPr lang="en-US" sz="2100">
                <a:solidFill>
                  <a:srgbClr val="008000"/>
                </a:solidFill>
                <a:latin typeface="inherit"/>
              </a:rPr>
              <a:t>"PyQt5 Context Menu"</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top</a:t>
            </a:r>
            <a:r>
              <a:rPr lang="en-US" sz="2100">
                <a:solidFill>
                  <a:srgbClr val="006FE0"/>
                </a:solidFill>
                <a:latin typeface="inherit"/>
              </a:rPr>
              <a:t> = </a:t>
            </a:r>
            <a:r>
              <a:rPr lang="en-US" sz="2100">
                <a:solidFill>
                  <a:srgbClr val="CE0000"/>
                </a:solidFill>
                <a:latin typeface="inherit"/>
              </a:rPr>
              <a:t>200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left</a:t>
            </a:r>
            <a:r>
              <a:rPr lang="en-US" sz="2100">
                <a:solidFill>
                  <a:srgbClr val="006FE0"/>
                </a:solidFill>
                <a:latin typeface="inherit"/>
              </a:rPr>
              <a:t> = </a:t>
            </a:r>
            <a:r>
              <a:rPr lang="en-US" sz="2100">
                <a:solidFill>
                  <a:srgbClr val="CE0000"/>
                </a:solidFill>
                <a:latin typeface="inherit"/>
              </a:rPr>
              <a:t>500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width</a:t>
            </a:r>
            <a:r>
              <a:rPr lang="en-US" sz="2100">
                <a:solidFill>
                  <a:srgbClr val="006FE0"/>
                </a:solidFill>
                <a:latin typeface="inherit"/>
              </a:rPr>
              <a:t> = </a:t>
            </a:r>
            <a:r>
              <a:rPr lang="en-US" sz="2100">
                <a:solidFill>
                  <a:srgbClr val="CE0000"/>
                </a:solidFill>
                <a:latin typeface="inherit"/>
              </a:rPr>
              <a:t>400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height</a:t>
            </a:r>
            <a:r>
              <a:rPr lang="en-US" sz="2100">
                <a:solidFill>
                  <a:srgbClr val="006FE0"/>
                </a:solidFill>
                <a:latin typeface="inherit"/>
              </a:rPr>
              <a:t> = </a:t>
            </a:r>
            <a:r>
              <a:rPr lang="en-US" sz="2100">
                <a:solidFill>
                  <a:srgbClr val="CE0000"/>
                </a:solidFill>
                <a:latin typeface="inherit"/>
              </a:rPr>
              <a:t>300</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InitWindow</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0000"/>
                </a:solidFill>
                <a:latin typeface="Monaco"/>
              </a:rPr>
              <a:t> </a:t>
            </a:r>
          </a:p>
          <a:p>
            <a:pPr>
              <a:lnSpc>
                <a:spcPct val="90000"/>
              </a:lnSpc>
            </a:pPr>
            <a:r>
              <a:rPr lang="en-US" sz="2100">
                <a:solidFill>
                  <a:srgbClr val="006FE0"/>
                </a:solidFill>
                <a:latin typeface="inherit"/>
              </a:rPr>
              <a:t>    </a:t>
            </a:r>
            <a:r>
              <a:rPr lang="en-US" sz="2100">
                <a:solidFill>
                  <a:srgbClr val="004ED0"/>
                </a:solidFill>
                <a:latin typeface="inherit"/>
              </a:rPr>
              <a:t>def InitWindow</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6FE0"/>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setWindowIcon</a:t>
            </a:r>
            <a:r>
              <a:rPr lang="en-US" sz="2100">
                <a:solidFill>
                  <a:srgbClr val="333333"/>
                </a:solidFill>
                <a:latin typeface="inherit"/>
              </a:rPr>
              <a:t>(</a:t>
            </a:r>
            <a:r>
              <a:rPr lang="en-US" sz="2100">
                <a:solidFill>
                  <a:srgbClr val="002D7A"/>
                </a:solidFill>
                <a:latin typeface="inherit"/>
              </a:rPr>
              <a:t>QtGui</a:t>
            </a:r>
            <a:r>
              <a:rPr lang="en-US" sz="2100">
                <a:solidFill>
                  <a:srgbClr val="333333"/>
                </a:solidFill>
                <a:latin typeface="inherit"/>
              </a:rPr>
              <a:t>.</a:t>
            </a:r>
            <a:r>
              <a:rPr lang="en-US" sz="2100">
                <a:solidFill>
                  <a:srgbClr val="004ED0"/>
                </a:solidFill>
                <a:latin typeface="inherit"/>
              </a:rPr>
              <a:t>QIcon</a:t>
            </a:r>
            <a:r>
              <a:rPr lang="en-US" sz="2100">
                <a:solidFill>
                  <a:srgbClr val="333333"/>
                </a:solidFill>
                <a:latin typeface="inherit"/>
              </a:rPr>
              <a:t>(</a:t>
            </a:r>
            <a:r>
              <a:rPr lang="en-US" sz="2100">
                <a:solidFill>
                  <a:srgbClr val="008000"/>
                </a:solidFill>
                <a:latin typeface="inherit"/>
              </a:rPr>
              <a:t>"icon.png"</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setWindowTitle</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title</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setGeometry</a:t>
            </a:r>
            <a:r>
              <a:rPr lang="en-US" sz="2100">
                <a:solidFill>
                  <a:srgbClr val="333333"/>
                </a:solidFill>
                <a:latin typeface="inherit"/>
              </a:rPr>
              <a:t>(</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left</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top</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width</a:t>
            </a:r>
            <a:r>
              <a:rPr lang="en-US" sz="2100">
                <a:solidFill>
                  <a:srgbClr val="333333"/>
                </a:solidFill>
                <a:latin typeface="inherit"/>
              </a:rPr>
              <a:t>,</a:t>
            </a: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2D7A"/>
                </a:solidFill>
                <a:latin typeface="inherit"/>
              </a:rPr>
              <a:t>height</a:t>
            </a:r>
            <a:r>
              <a:rPr lang="en-US" sz="2100">
                <a:solidFill>
                  <a:srgbClr val="333333"/>
                </a:solidFill>
                <a:latin typeface="inherit"/>
              </a:rPr>
              <a:t>)</a:t>
            </a:r>
            <a:endParaRPr lang="en-US" sz="2100">
              <a:solidFill>
                <a:srgbClr val="000000"/>
              </a:solidFill>
              <a:latin typeface="Monaco"/>
            </a:endParaRPr>
          </a:p>
          <a:p>
            <a:pPr>
              <a:lnSpc>
                <a:spcPct val="90000"/>
              </a:lnSpc>
            </a:pPr>
            <a:r>
              <a:rPr lang="en-US" sz="2100">
                <a:solidFill>
                  <a:srgbClr val="006FE0"/>
                </a:solidFill>
                <a:latin typeface="inherit"/>
              </a:rPr>
              <a:t>        </a:t>
            </a:r>
            <a:r>
              <a:rPr lang="en-US" sz="2100">
                <a:solidFill>
                  <a:srgbClr val="800080"/>
                </a:solidFill>
                <a:latin typeface="inherit"/>
              </a:rPr>
              <a:t>self</a:t>
            </a:r>
            <a:r>
              <a:rPr lang="en-US" sz="2100">
                <a:solidFill>
                  <a:srgbClr val="333333"/>
                </a:solidFill>
                <a:latin typeface="inherit"/>
              </a:rPr>
              <a:t>.</a:t>
            </a:r>
            <a:r>
              <a:rPr lang="en-US" sz="2100">
                <a:solidFill>
                  <a:srgbClr val="004ED0"/>
                </a:solidFill>
                <a:latin typeface="inherit"/>
              </a:rPr>
              <a:t>show</a:t>
            </a:r>
            <a:r>
              <a:rPr lang="en-US" sz="2100">
                <a:solidFill>
                  <a:srgbClr val="333333"/>
                </a:solidFill>
                <a:latin typeface="inherit"/>
              </a:rPr>
              <a:t>()</a:t>
            </a:r>
            <a:endParaRPr lang="en-US" sz="2100" b="0" i="0">
              <a:solidFill>
                <a:srgbClr val="000000"/>
              </a:solidFill>
              <a:effectLst/>
              <a:latin typeface="Monaco"/>
            </a:endParaRPr>
          </a:p>
        </p:txBody>
      </p:sp>
    </p:spTree>
    <p:extLst>
      <p:ext uri="{BB962C8B-B14F-4D97-AF65-F5344CB8AC3E}">
        <p14:creationId xmlns:p14="http://schemas.microsoft.com/office/powerpoint/2010/main" val="1688930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A9AEF-C0AE-4992-BB1A-27E12F24DAC6}"/>
              </a:ext>
            </a:extLst>
          </p:cNvPr>
          <p:cNvSpPr>
            <a:spLocks noGrp="1"/>
          </p:cNvSpPr>
          <p:nvPr>
            <p:ph idx="1"/>
          </p:nvPr>
        </p:nvSpPr>
        <p:spPr>
          <a:xfrm>
            <a:off x="9624" y="819509"/>
            <a:ext cx="9134375" cy="6019241"/>
          </a:xfrm>
        </p:spPr>
        <p:txBody>
          <a:bodyPr/>
          <a:lstStyle/>
          <a:p>
            <a:pPr marL="0" indent="0">
              <a:buNone/>
            </a:pPr>
            <a:r>
              <a:rPr lang="vi-VN"/>
              <a:t>Bây giờ chúng tôi tạo bối cảnh của chúng tôi, đó là một phương thức được xây dựng trong PyQt5</a:t>
            </a:r>
            <a:endParaRPr lang="en-US"/>
          </a:p>
        </p:txBody>
      </p:sp>
      <p:sp>
        <p:nvSpPr>
          <p:cNvPr id="4" name="Title 1">
            <a:extLst>
              <a:ext uri="{FF2B5EF4-FFF2-40B4-BE49-F238E27FC236}">
                <a16:creationId xmlns:a16="http://schemas.microsoft.com/office/drawing/2014/main" id="{3A501CE0-D041-4E3F-BF4A-5A1467FD1FCC}"/>
              </a:ext>
            </a:extLst>
          </p:cNvPr>
          <p:cNvSpPr>
            <a:spLocks noGrp="1"/>
          </p:cNvSpPr>
          <p:nvPr>
            <p:ph type="title"/>
          </p:nvPr>
        </p:nvSpPr>
        <p:spPr>
          <a:xfrm>
            <a:off x="9624" y="19250"/>
            <a:ext cx="9134375" cy="800259"/>
          </a:xfrm>
        </p:spPr>
        <p:txBody>
          <a:bodyPr>
            <a:normAutofit fontScale="90000"/>
          </a:bodyPr>
          <a:lstStyle/>
          <a:p>
            <a:r>
              <a:rPr lang="en-US"/>
              <a:t>Cách tạo Menu ngữ cảnh trong PyQt5 (t.t)</a:t>
            </a:r>
          </a:p>
        </p:txBody>
      </p:sp>
      <p:sp>
        <p:nvSpPr>
          <p:cNvPr id="5" name="Rectangle 4">
            <a:extLst>
              <a:ext uri="{FF2B5EF4-FFF2-40B4-BE49-F238E27FC236}">
                <a16:creationId xmlns:a16="http://schemas.microsoft.com/office/drawing/2014/main" id="{0957CF61-FC82-4DBB-926A-C3FFAAEA3A57}"/>
              </a:ext>
            </a:extLst>
          </p:cNvPr>
          <p:cNvSpPr/>
          <p:nvPr/>
        </p:nvSpPr>
        <p:spPr>
          <a:xfrm>
            <a:off x="483080" y="1653632"/>
            <a:ext cx="6823494" cy="2308324"/>
          </a:xfrm>
          <a:prstGeom prst="rect">
            <a:avLst/>
          </a:prstGeom>
          <a:solidFill>
            <a:schemeClr val="accent2">
              <a:lumMod val="20000"/>
              <a:lumOff val="80000"/>
            </a:schemeClr>
          </a:solidFill>
        </p:spPr>
        <p:txBody>
          <a:bodyPr wrap="square">
            <a:spAutoFit/>
          </a:bodyPr>
          <a:lstStyle/>
          <a:p>
            <a:pPr>
              <a:lnSpc>
                <a:spcPct val="90000"/>
              </a:lnSpc>
            </a:pPr>
            <a:r>
              <a:rPr lang="en-US" sz="2000">
                <a:solidFill>
                  <a:srgbClr val="004ED0"/>
                </a:solidFill>
                <a:latin typeface="inherit"/>
              </a:rPr>
              <a:t>def contextMenuEvent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event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contextMenu</a:t>
            </a:r>
            <a:r>
              <a:rPr lang="en-US" sz="2000">
                <a:solidFill>
                  <a:srgbClr val="006FE0"/>
                </a:solidFill>
                <a:latin typeface="inherit"/>
              </a:rPr>
              <a:t> = </a:t>
            </a:r>
            <a:r>
              <a:rPr lang="en-US" sz="2000">
                <a:solidFill>
                  <a:srgbClr val="004ED0"/>
                </a:solidFill>
                <a:latin typeface="inherit"/>
              </a:rPr>
              <a:t>QMenu</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newAct</a:t>
            </a:r>
            <a:r>
              <a:rPr lang="en-US" sz="2000">
                <a:solidFill>
                  <a:srgbClr val="006FE0"/>
                </a:solidFill>
                <a:latin typeface="inherit"/>
              </a:rPr>
              <a:t> = </a:t>
            </a:r>
            <a:r>
              <a:rPr lang="en-US" sz="2000">
                <a:solidFill>
                  <a:srgbClr val="002D7A"/>
                </a:solidFill>
                <a:latin typeface="inherit"/>
              </a:rPr>
              <a:t>contextMenu</a:t>
            </a:r>
            <a:r>
              <a:rPr lang="en-US" sz="2000">
                <a:solidFill>
                  <a:srgbClr val="333333"/>
                </a:solidFill>
                <a:latin typeface="inherit"/>
              </a:rPr>
              <a:t>.</a:t>
            </a:r>
            <a:r>
              <a:rPr lang="en-US" sz="2000">
                <a:solidFill>
                  <a:srgbClr val="004ED0"/>
                </a:solidFill>
                <a:latin typeface="inherit"/>
              </a:rPr>
              <a:t>addAction</a:t>
            </a:r>
            <a:r>
              <a:rPr lang="en-US" sz="2000">
                <a:solidFill>
                  <a:srgbClr val="333333"/>
                </a:solidFill>
                <a:latin typeface="inherit"/>
              </a:rPr>
              <a:t>(</a:t>
            </a:r>
            <a:r>
              <a:rPr lang="en-US" sz="2000">
                <a:solidFill>
                  <a:srgbClr val="008000"/>
                </a:solidFill>
                <a:latin typeface="inherit"/>
              </a:rPr>
              <a:t>"New"</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openAct</a:t>
            </a:r>
            <a:r>
              <a:rPr lang="en-US" sz="2000">
                <a:solidFill>
                  <a:srgbClr val="006FE0"/>
                </a:solidFill>
                <a:latin typeface="inherit"/>
              </a:rPr>
              <a:t> = </a:t>
            </a:r>
            <a:r>
              <a:rPr lang="en-US" sz="2000">
                <a:solidFill>
                  <a:srgbClr val="002D7A"/>
                </a:solidFill>
                <a:latin typeface="inherit"/>
              </a:rPr>
              <a:t>contextMenu</a:t>
            </a:r>
            <a:r>
              <a:rPr lang="en-US" sz="2000">
                <a:solidFill>
                  <a:srgbClr val="333333"/>
                </a:solidFill>
                <a:latin typeface="inherit"/>
              </a:rPr>
              <a:t>.</a:t>
            </a:r>
            <a:r>
              <a:rPr lang="en-US" sz="2000">
                <a:solidFill>
                  <a:srgbClr val="004ED0"/>
                </a:solidFill>
                <a:latin typeface="inherit"/>
              </a:rPr>
              <a:t>addAction</a:t>
            </a:r>
            <a:r>
              <a:rPr lang="en-US" sz="2000">
                <a:solidFill>
                  <a:srgbClr val="333333"/>
                </a:solidFill>
                <a:latin typeface="inherit"/>
              </a:rPr>
              <a:t>(</a:t>
            </a:r>
            <a:r>
              <a:rPr lang="en-US" sz="2000">
                <a:solidFill>
                  <a:srgbClr val="008000"/>
                </a:solidFill>
                <a:latin typeface="inherit"/>
              </a:rPr>
              <a:t>"Open"</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quitAct</a:t>
            </a:r>
            <a:r>
              <a:rPr lang="en-US" sz="2000">
                <a:solidFill>
                  <a:srgbClr val="006FE0"/>
                </a:solidFill>
                <a:latin typeface="inherit"/>
              </a:rPr>
              <a:t> = </a:t>
            </a:r>
            <a:r>
              <a:rPr lang="en-US" sz="2000">
                <a:solidFill>
                  <a:srgbClr val="002D7A"/>
                </a:solidFill>
                <a:latin typeface="inherit"/>
              </a:rPr>
              <a:t>contextMenu</a:t>
            </a:r>
            <a:r>
              <a:rPr lang="en-US" sz="2000">
                <a:solidFill>
                  <a:srgbClr val="333333"/>
                </a:solidFill>
                <a:latin typeface="inherit"/>
              </a:rPr>
              <a:t>.</a:t>
            </a:r>
            <a:r>
              <a:rPr lang="en-US" sz="2000">
                <a:solidFill>
                  <a:srgbClr val="004ED0"/>
                </a:solidFill>
                <a:latin typeface="inherit"/>
              </a:rPr>
              <a:t>addAction</a:t>
            </a:r>
            <a:r>
              <a:rPr lang="en-US" sz="2000">
                <a:solidFill>
                  <a:srgbClr val="333333"/>
                </a:solidFill>
                <a:latin typeface="inherit"/>
              </a:rPr>
              <a:t>(</a:t>
            </a:r>
            <a:r>
              <a:rPr lang="en-US" sz="2000">
                <a:solidFill>
                  <a:srgbClr val="008000"/>
                </a:solidFill>
                <a:latin typeface="inherit"/>
              </a:rPr>
              <a:t>"Quit"</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action</a:t>
            </a:r>
            <a:r>
              <a:rPr lang="en-US" sz="2000">
                <a:solidFill>
                  <a:srgbClr val="006FE0"/>
                </a:solidFill>
                <a:latin typeface="inherit"/>
              </a:rPr>
              <a:t> = </a:t>
            </a:r>
            <a:r>
              <a:rPr lang="en-US" sz="2000">
                <a:solidFill>
                  <a:srgbClr val="002D7A"/>
                </a:solidFill>
                <a:latin typeface="inherit"/>
              </a:rPr>
              <a:t>contextMenu</a:t>
            </a:r>
            <a:r>
              <a:rPr lang="en-US" sz="2000">
                <a:solidFill>
                  <a:srgbClr val="333333"/>
                </a:solidFill>
                <a:latin typeface="inherit"/>
              </a:rPr>
              <a:t>.</a:t>
            </a:r>
            <a:r>
              <a:rPr lang="en-US" sz="2000">
                <a:solidFill>
                  <a:srgbClr val="004ED0"/>
                </a:solidFill>
                <a:latin typeface="inherit"/>
              </a:rPr>
              <a:t>exec_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mapToGlobal</a:t>
            </a:r>
            <a:r>
              <a:rPr lang="en-US" sz="2000">
                <a:solidFill>
                  <a:srgbClr val="333333"/>
                </a:solidFill>
                <a:latin typeface="inherit"/>
              </a:rPr>
              <a:t>(</a:t>
            </a:r>
            <a:r>
              <a:rPr lang="en-US" sz="2000">
                <a:solidFill>
                  <a:srgbClr val="002D7A"/>
                </a:solidFill>
                <a:latin typeface="inherit"/>
              </a:rPr>
              <a:t>event</a:t>
            </a:r>
            <a:r>
              <a:rPr lang="en-US" sz="2000">
                <a:solidFill>
                  <a:srgbClr val="333333"/>
                </a:solidFill>
                <a:latin typeface="inherit"/>
              </a:rPr>
              <a:t>.</a:t>
            </a:r>
            <a:r>
              <a:rPr lang="en-US" sz="2000">
                <a:solidFill>
                  <a:srgbClr val="004ED0"/>
                </a:solidFill>
                <a:latin typeface="inherit"/>
              </a:rPr>
              <a:t>pos</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if</a:t>
            </a:r>
            <a:r>
              <a:rPr lang="en-US" sz="2000">
                <a:solidFill>
                  <a:srgbClr val="006FE0"/>
                </a:solidFill>
                <a:latin typeface="inherit"/>
              </a:rPr>
              <a:t> </a:t>
            </a:r>
            <a:r>
              <a:rPr lang="en-US" sz="2000">
                <a:solidFill>
                  <a:srgbClr val="002D7A"/>
                </a:solidFill>
                <a:latin typeface="inherit"/>
              </a:rPr>
              <a:t>action</a:t>
            </a:r>
            <a:r>
              <a:rPr lang="en-US" sz="2000">
                <a:solidFill>
                  <a:srgbClr val="006FE0"/>
                </a:solidFill>
                <a:latin typeface="inherit"/>
              </a:rPr>
              <a:t> == </a:t>
            </a:r>
            <a:r>
              <a:rPr lang="en-US" sz="2000">
                <a:solidFill>
                  <a:srgbClr val="002D7A"/>
                </a:solidFill>
                <a:latin typeface="inherit"/>
              </a:rPr>
              <a:t>quitAct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close</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388EC425-5F81-4817-AE84-61CDD5AF8911}"/>
              </a:ext>
            </a:extLst>
          </p:cNvPr>
          <p:cNvSpPr/>
          <p:nvPr/>
        </p:nvSpPr>
        <p:spPr>
          <a:xfrm>
            <a:off x="9624" y="4022021"/>
            <a:ext cx="4572000" cy="830997"/>
          </a:xfrm>
          <a:prstGeom prst="rect">
            <a:avLst/>
          </a:prstGeom>
        </p:spPr>
        <p:txBody>
          <a:bodyPr>
            <a:spAutoFit/>
          </a:bodyPr>
          <a:lstStyle/>
          <a:p>
            <a:r>
              <a:rPr lang="vi-VN" sz="2400">
                <a:solidFill>
                  <a:srgbClr val="3A3A3A"/>
                </a:solidFill>
              </a:rPr>
              <a:t>Cuối cùng, chúng ta tạo đối tượng QApplication và Window</a:t>
            </a:r>
            <a:endParaRPr lang="en-US" sz="2400"/>
          </a:p>
        </p:txBody>
      </p:sp>
      <p:sp>
        <p:nvSpPr>
          <p:cNvPr id="7" name="Rectangle 6">
            <a:extLst>
              <a:ext uri="{FF2B5EF4-FFF2-40B4-BE49-F238E27FC236}">
                <a16:creationId xmlns:a16="http://schemas.microsoft.com/office/drawing/2014/main" id="{AF6A9F40-3F5F-45BB-B087-F610F6817EF7}"/>
              </a:ext>
            </a:extLst>
          </p:cNvPr>
          <p:cNvSpPr/>
          <p:nvPr/>
        </p:nvSpPr>
        <p:spPr>
          <a:xfrm>
            <a:off x="99205" y="4948962"/>
            <a:ext cx="3795622" cy="1089529"/>
          </a:xfrm>
          <a:prstGeom prst="rect">
            <a:avLst/>
          </a:prstGeom>
          <a:solidFill>
            <a:schemeClr val="accent4">
              <a:lumMod val="20000"/>
              <a:lumOff val="80000"/>
            </a:schemeClr>
          </a:solidFill>
        </p:spPr>
        <p:txBody>
          <a:bodyPr wrap="square">
            <a:spAutoFit/>
          </a:bodyPr>
          <a:lstStyle/>
          <a:p>
            <a:pPr>
              <a:lnSpc>
                <a:spcPct val="90000"/>
              </a:lnSpc>
            </a:pPr>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pPr>
              <a:lnSpc>
                <a:spcPct val="90000"/>
              </a:lnSpc>
            </a:pPr>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pPr>
              <a:lnSpc>
                <a:spcPct val="90000"/>
              </a:lnSpc>
            </a:pPr>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3074" name="Picture 2">
            <a:extLst>
              <a:ext uri="{FF2B5EF4-FFF2-40B4-BE49-F238E27FC236}">
                <a16:creationId xmlns:a16="http://schemas.microsoft.com/office/drawing/2014/main" id="{68BC1555-D695-46A2-B703-3B7665E62F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7697" y="3555239"/>
            <a:ext cx="4023223" cy="3270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567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0143-7AC0-4B88-971B-D33C2A4C72E0}"/>
              </a:ext>
            </a:extLst>
          </p:cNvPr>
          <p:cNvSpPr>
            <a:spLocks noGrp="1"/>
          </p:cNvSpPr>
          <p:nvPr>
            <p:ph type="title"/>
          </p:nvPr>
        </p:nvSpPr>
        <p:spPr/>
        <p:txBody>
          <a:bodyPr>
            <a:normAutofit/>
          </a:bodyPr>
          <a:lstStyle/>
          <a:p>
            <a:r>
              <a:rPr lang="en-US"/>
              <a:t>Cách tạo QTabWidget trong PyQt5</a:t>
            </a:r>
          </a:p>
        </p:txBody>
      </p:sp>
      <p:sp>
        <p:nvSpPr>
          <p:cNvPr id="3" name="Content Placeholder 2">
            <a:extLst>
              <a:ext uri="{FF2B5EF4-FFF2-40B4-BE49-F238E27FC236}">
                <a16:creationId xmlns:a16="http://schemas.microsoft.com/office/drawing/2014/main" id="{A58D1CC4-8C87-4375-B5F7-24E1009FF245}"/>
              </a:ext>
            </a:extLst>
          </p:cNvPr>
          <p:cNvSpPr>
            <a:spLocks noGrp="1"/>
          </p:cNvSpPr>
          <p:nvPr>
            <p:ph idx="1"/>
          </p:nvPr>
        </p:nvSpPr>
        <p:spPr/>
        <p:txBody>
          <a:bodyPr>
            <a:normAutofit/>
          </a:bodyPr>
          <a:lstStyle/>
          <a:p>
            <a:pPr marL="0" indent="0">
              <a:buNone/>
            </a:pPr>
            <a:r>
              <a:rPr lang="en-US" sz="3200"/>
              <a:t>Chúng ta cần sử dụng lớp QTabWidget cho việc này.</a:t>
            </a:r>
          </a:p>
          <a:p>
            <a:pPr marL="0" indent="0">
              <a:buNone/>
            </a:pPr>
            <a:endParaRPr lang="en-US" sz="3200"/>
          </a:p>
        </p:txBody>
      </p:sp>
      <p:graphicFrame>
        <p:nvGraphicFramePr>
          <p:cNvPr id="4" name="Table 3">
            <a:extLst>
              <a:ext uri="{FF2B5EF4-FFF2-40B4-BE49-F238E27FC236}">
                <a16:creationId xmlns:a16="http://schemas.microsoft.com/office/drawing/2014/main" id="{B939DC2F-AF1B-48E9-A7AD-4FDFC7DC3F56}"/>
              </a:ext>
            </a:extLst>
          </p:cNvPr>
          <p:cNvGraphicFramePr>
            <a:graphicFrameLocks noGrp="1"/>
          </p:cNvGraphicFramePr>
          <p:nvPr>
            <p:extLst>
              <p:ext uri="{D42A27DB-BD31-4B8C-83A1-F6EECF244321}">
                <p14:modId xmlns:p14="http://schemas.microsoft.com/office/powerpoint/2010/main" val="1153223479"/>
              </p:ext>
            </p:extLst>
          </p:nvPr>
        </p:nvGraphicFramePr>
        <p:xfrm>
          <a:off x="9624" y="2158466"/>
          <a:ext cx="9124752" cy="3078480"/>
        </p:xfrm>
        <a:graphic>
          <a:graphicData uri="http://schemas.openxmlformats.org/drawingml/2006/table">
            <a:tbl>
              <a:tblPr/>
              <a:tblGrid>
                <a:gridCol w="329860">
                  <a:extLst>
                    <a:ext uri="{9D8B030D-6E8A-4147-A177-3AD203B41FA5}">
                      <a16:colId xmlns:a16="http://schemas.microsoft.com/office/drawing/2014/main" val="4256231202"/>
                    </a:ext>
                  </a:extLst>
                </a:gridCol>
                <a:gridCol w="8794892">
                  <a:extLst>
                    <a:ext uri="{9D8B030D-6E8A-4147-A177-3AD203B41FA5}">
                      <a16:colId xmlns:a16="http://schemas.microsoft.com/office/drawing/2014/main" val="2221968467"/>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endParaRPr lang="en-US" sz="2800" b="0">
                        <a:solidFill>
                          <a:srgbClr val="317CC5"/>
                        </a:solidFill>
                        <a:effectLst/>
                        <a:latin typeface="inherit"/>
                      </a:endParaRPr>
                    </a:p>
                    <a:p>
                      <a:pPr algn="ctr" fontAlgn="t"/>
                      <a:endParaRPr lang="en-US" sz="2800" b="0">
                        <a:solidFill>
                          <a:srgbClr val="317CC5"/>
                        </a:solidFill>
                        <a:effectLst/>
                        <a:latin typeface="inherit"/>
                      </a:endParaRPr>
                    </a:p>
                    <a:p>
                      <a:pPr algn="ctr" fontAlgn="t"/>
                      <a:endParaRPr lang="en-US" sz="2800" b="0">
                        <a:solidFill>
                          <a:srgbClr val="317CC5"/>
                        </a:solidFill>
                        <a:effectLst/>
                        <a:latin typeface="inherit"/>
                      </a:endParaRPr>
                    </a:p>
                    <a:p>
                      <a:pPr algn="ctr" fontAlgn="t"/>
                      <a:r>
                        <a:rPr lang="en-US" sz="2800" b="0">
                          <a:solidFill>
                            <a:srgbClr val="5499DE"/>
                          </a:solidFill>
                          <a:effectLst/>
                          <a:latin typeface="inherit"/>
                        </a:rPr>
                        <a:t>3</a:t>
                      </a:r>
                    </a:p>
                    <a:p>
                      <a:pPr algn="ctr" fontAlgn="t"/>
                      <a:r>
                        <a:rPr lang="en-US" sz="28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QDialog</a:t>
                      </a:r>
                      <a:r>
                        <a:rPr lang="en-US" sz="2800" b="0">
                          <a:solidFill>
                            <a:srgbClr val="333333"/>
                          </a:solidFill>
                          <a:effectLst/>
                          <a:latin typeface="inherit"/>
                        </a:rPr>
                        <a:t>, </a:t>
                      </a:r>
                    </a:p>
                    <a:p>
                      <a:pPr algn="r" fontAlgn="t"/>
                      <a:r>
                        <a:rPr lang="en-US" sz="2800" b="0">
                          <a:solidFill>
                            <a:srgbClr val="002D7A"/>
                          </a:solidFill>
                          <a:effectLst/>
                          <a:latin typeface="inherit"/>
                        </a:rPr>
                        <a:t>QTabWidget</a:t>
                      </a:r>
                      <a:r>
                        <a:rPr lang="en-US" sz="2800" b="0">
                          <a:solidFill>
                            <a:srgbClr val="333333"/>
                          </a:solidFill>
                          <a:effectLst/>
                          <a:latin typeface="inherit"/>
                        </a:rPr>
                        <a:t>, </a:t>
                      </a:r>
                      <a:r>
                        <a:rPr lang="en-US" sz="2800" b="0">
                          <a:solidFill>
                            <a:srgbClr val="002D7A"/>
                          </a:solidFill>
                          <a:effectLst/>
                          <a:latin typeface="inherit"/>
                        </a:rPr>
                        <a:t>QComboBox</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0000"/>
                          </a:solidFill>
                          <a:effectLst/>
                          <a:latin typeface="inherit"/>
                        </a:rPr>
                        <a:t>QCheckBox</a:t>
                      </a:r>
                      <a:r>
                        <a:rPr lang="en-US" sz="2800" b="0">
                          <a:solidFill>
                            <a:srgbClr val="006FE0"/>
                          </a:solidFill>
                          <a:effectLst/>
                          <a:latin typeface="inherit"/>
                        </a:rPr>
                        <a:t> </a:t>
                      </a:r>
                      <a:r>
                        <a:rPr lang="en-US" sz="2800" b="0">
                          <a:solidFill>
                            <a:srgbClr val="333333"/>
                          </a:solidFill>
                          <a:effectLst/>
                          <a:latin typeface="inherit"/>
                        </a:rPr>
                        <a:t>,</a:t>
                      </a:r>
                      <a:r>
                        <a:rPr lang="en-US" sz="2800" b="0">
                          <a:solidFill>
                            <a:srgbClr val="000000"/>
                          </a:solidFill>
                          <a:effectLst/>
                          <a:latin typeface="inherit"/>
                        </a:rPr>
                        <a:t>QGroupBox</a:t>
                      </a:r>
                      <a:r>
                        <a:rPr lang="en-US" sz="2800" b="0">
                          <a:solidFill>
                            <a:srgbClr val="006FE0"/>
                          </a:solidFill>
                          <a:effectLst/>
                          <a:latin typeface="inherit"/>
                        </a:rPr>
                        <a:t> </a:t>
                      </a:r>
                      <a:r>
                        <a:rPr lang="en-US" sz="2800" b="0">
                          <a:solidFill>
                            <a:srgbClr val="333333"/>
                          </a:solidFill>
                          <a:effectLst/>
                          <a:latin typeface="inherit"/>
                        </a:rPr>
                        <a:t>,</a:t>
                      </a:r>
                      <a:r>
                        <a:rPr lang="en-US" sz="2800" b="0">
                          <a:solidFill>
                            <a:srgbClr val="002D7A"/>
                          </a:solidFill>
                          <a:effectLst/>
                          <a:latin typeface="inherit"/>
                        </a:rPr>
                        <a:t>QVBoxLayout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QWidget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QLabel</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QLineEdit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QDialogButtonBox</a:t>
                      </a:r>
                      <a:endParaRPr lang="en-US" sz="2800" b="0">
                        <a:solidFill>
                          <a:srgbClr val="000000"/>
                        </a:solidFill>
                        <a:effectLst/>
                        <a:latin typeface="inherit"/>
                      </a:endParaRPr>
                    </a:p>
                    <a:p>
                      <a:pPr algn="l" fontAlgn="t"/>
                      <a:r>
                        <a:rPr lang="en-US" sz="2800" b="0">
                          <a:solidFill>
                            <a:srgbClr val="004ED0"/>
                          </a:solidFill>
                          <a:effectLst/>
                          <a:latin typeface="inherit"/>
                        </a:rPr>
                        <a:t>import sys</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QtGui import </a:t>
                      </a:r>
                      <a:r>
                        <a:rPr lang="en-US" sz="2800" b="0">
                          <a:solidFill>
                            <a:srgbClr val="002D7A"/>
                          </a:solidFill>
                          <a:effectLst/>
                          <a:latin typeface="inherit"/>
                        </a:rPr>
                        <a:t>QIcon</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1385287725"/>
                  </a:ext>
                </a:extLst>
              </a:tr>
            </a:tbl>
          </a:graphicData>
        </a:graphic>
      </p:graphicFrame>
    </p:spTree>
    <p:extLst>
      <p:ext uri="{BB962C8B-B14F-4D97-AF65-F5344CB8AC3E}">
        <p14:creationId xmlns:p14="http://schemas.microsoft.com/office/powerpoint/2010/main" val="28679332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BB4A3-20FE-4765-9414-C0D23429BA8D}"/>
              </a:ext>
            </a:extLst>
          </p:cNvPr>
          <p:cNvSpPr>
            <a:spLocks noGrp="1"/>
          </p:cNvSpPr>
          <p:nvPr>
            <p:ph idx="1"/>
          </p:nvPr>
        </p:nvSpPr>
        <p:spPr>
          <a:xfrm>
            <a:off x="9624" y="828136"/>
            <a:ext cx="9134375" cy="6010613"/>
          </a:xfrm>
        </p:spPr>
        <p:txBody>
          <a:bodyPr/>
          <a:lstStyle/>
          <a:p>
            <a:pPr marL="0" indent="0">
              <a:buNone/>
            </a:pPr>
            <a:r>
              <a:rPr lang="en-US"/>
              <a:t>Chúng ta tạo ra một lớp </a:t>
            </a:r>
            <a:r>
              <a:rPr lang="en-US" b="1"/>
              <a:t>Tab</a:t>
            </a:r>
            <a:r>
              <a:rPr lang="en-US"/>
              <a:t> kế thừa từ QDialog trong lớp đó, tạo ra một QVboxLayout với một QDialogButtonBox và cũng tạo ra QTabWidget và trong đó có hai lớp trong tab</a:t>
            </a:r>
          </a:p>
        </p:txBody>
      </p:sp>
      <p:sp>
        <p:nvSpPr>
          <p:cNvPr id="4" name="Title 1">
            <a:extLst>
              <a:ext uri="{FF2B5EF4-FFF2-40B4-BE49-F238E27FC236}">
                <a16:creationId xmlns:a16="http://schemas.microsoft.com/office/drawing/2014/main" id="{4F874DA6-5B92-43C4-9FC8-31D872DD3447}"/>
              </a:ext>
            </a:extLst>
          </p:cNvPr>
          <p:cNvSpPr>
            <a:spLocks noGrp="1"/>
          </p:cNvSpPr>
          <p:nvPr>
            <p:ph type="title"/>
          </p:nvPr>
        </p:nvSpPr>
        <p:spPr>
          <a:xfrm>
            <a:off x="9624" y="19251"/>
            <a:ext cx="9134375" cy="808886"/>
          </a:xfrm>
        </p:spPr>
        <p:txBody>
          <a:bodyPr>
            <a:normAutofit/>
          </a:bodyPr>
          <a:lstStyle/>
          <a:p>
            <a:r>
              <a:rPr lang="en-US"/>
              <a:t>Cách tạo QTabWidget trong PyQt5 (t.t)</a:t>
            </a:r>
          </a:p>
        </p:txBody>
      </p:sp>
      <p:sp>
        <p:nvSpPr>
          <p:cNvPr id="5" name="Rectangle 4">
            <a:extLst>
              <a:ext uri="{FF2B5EF4-FFF2-40B4-BE49-F238E27FC236}">
                <a16:creationId xmlns:a16="http://schemas.microsoft.com/office/drawing/2014/main" id="{6FB5F328-2B77-4907-A9A8-A71CC563BCF5}"/>
              </a:ext>
            </a:extLst>
          </p:cNvPr>
          <p:cNvSpPr/>
          <p:nvPr/>
        </p:nvSpPr>
        <p:spPr>
          <a:xfrm>
            <a:off x="9624" y="2154112"/>
            <a:ext cx="9124751" cy="4542013"/>
          </a:xfrm>
          <a:prstGeom prst="rect">
            <a:avLst/>
          </a:prstGeom>
        </p:spPr>
        <p:txBody>
          <a:bodyPr wrap="square">
            <a:spAutoFit/>
          </a:bodyPr>
          <a:lstStyle/>
          <a:p>
            <a:pPr>
              <a:lnSpc>
                <a:spcPct val="85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Tab</a:t>
            </a:r>
            <a:r>
              <a:rPr lang="en-US" sz="2000">
                <a:solidFill>
                  <a:srgbClr val="333333"/>
                </a:solidFill>
                <a:latin typeface="inherit"/>
              </a:rPr>
              <a:t>(</a:t>
            </a:r>
            <a:r>
              <a:rPr lang="en-US" sz="2000">
                <a:solidFill>
                  <a:srgbClr val="002D7A"/>
                </a:solidFill>
                <a:latin typeface="inherit"/>
              </a:rPr>
              <a:t>QDialog</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setWindowTitle</a:t>
            </a:r>
            <a:r>
              <a:rPr lang="en-US" sz="2000">
                <a:solidFill>
                  <a:srgbClr val="333333"/>
                </a:solidFill>
                <a:latin typeface="inherit"/>
              </a:rPr>
              <a:t>(</a:t>
            </a:r>
            <a:r>
              <a:rPr lang="en-US" sz="2000">
                <a:solidFill>
                  <a:srgbClr val="008000"/>
                </a:solidFill>
                <a:latin typeface="inherit"/>
              </a:rPr>
              <a:t>"PyQt5 TabWidget Example"</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setWindowIcon</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B85C00"/>
                </a:solidFill>
                <a:latin typeface="inherit"/>
              </a:rPr>
              <a:t>#self.setStyleSheet('background-color:grey')</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 </a:t>
            </a:r>
            <a:r>
              <a:rPr lang="en-US" sz="2000">
                <a:solidFill>
                  <a:srgbClr val="004ED0"/>
                </a:solidFill>
                <a:latin typeface="inherit"/>
              </a:rPr>
              <a:t>QVBoxLayout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tabWidget</a:t>
            </a:r>
            <a:r>
              <a:rPr lang="en-US" sz="2000">
                <a:solidFill>
                  <a:srgbClr val="006FE0"/>
                </a:solidFill>
                <a:latin typeface="inherit"/>
              </a:rPr>
              <a:t> = </a:t>
            </a:r>
            <a:r>
              <a:rPr lang="en-US" sz="2000">
                <a:solidFill>
                  <a:srgbClr val="004ED0"/>
                </a:solidFill>
                <a:latin typeface="inherit"/>
              </a:rPr>
              <a:t>QTabWidget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buttonbox</a:t>
            </a:r>
            <a:r>
              <a:rPr lang="en-US" sz="2000">
                <a:solidFill>
                  <a:srgbClr val="006FE0"/>
                </a:solidFill>
                <a:latin typeface="inherit"/>
              </a:rPr>
              <a:t> = </a:t>
            </a:r>
            <a:r>
              <a:rPr lang="en-US" sz="2000">
                <a:solidFill>
                  <a:srgbClr val="004ED0"/>
                </a:solidFill>
                <a:latin typeface="inherit"/>
              </a:rPr>
              <a:t>QDialogButtonBox</a:t>
            </a:r>
            <a:r>
              <a:rPr lang="en-US" sz="2000">
                <a:solidFill>
                  <a:srgbClr val="333333"/>
                </a:solidFill>
                <a:latin typeface="inherit"/>
              </a:rPr>
              <a:t>(</a:t>
            </a:r>
            <a:r>
              <a:rPr lang="en-US" sz="2000">
                <a:solidFill>
                  <a:srgbClr val="002D7A"/>
                </a:solidFill>
                <a:latin typeface="inherit"/>
              </a:rPr>
              <a:t>QDialogButtonBox</a:t>
            </a:r>
            <a:r>
              <a:rPr lang="en-US" sz="2000">
                <a:solidFill>
                  <a:srgbClr val="333333"/>
                </a:solidFill>
                <a:latin typeface="inherit"/>
              </a:rPr>
              <a:t>.</a:t>
            </a:r>
            <a:r>
              <a:rPr lang="en-US" sz="2000">
                <a:solidFill>
                  <a:srgbClr val="002D7A"/>
                </a:solidFill>
                <a:latin typeface="inherit"/>
              </a:rPr>
              <a:t>Ok</a:t>
            </a:r>
            <a:r>
              <a:rPr lang="en-US" sz="2000">
                <a:solidFill>
                  <a:srgbClr val="006FE0"/>
                </a:solidFill>
                <a:latin typeface="inherit"/>
              </a:rPr>
              <a:t> | </a:t>
            </a:r>
            <a:r>
              <a:rPr lang="en-US" sz="2000">
                <a:solidFill>
                  <a:srgbClr val="002D7A"/>
                </a:solidFill>
                <a:latin typeface="inherit"/>
              </a:rPr>
              <a:t>QDialogButtonBox</a:t>
            </a:r>
            <a:r>
              <a:rPr lang="en-US" sz="2000">
                <a:solidFill>
                  <a:srgbClr val="333333"/>
                </a:solidFill>
                <a:latin typeface="inherit"/>
              </a:rPr>
              <a:t>.</a:t>
            </a:r>
            <a:r>
              <a:rPr lang="en-US" sz="2000">
                <a:solidFill>
                  <a:srgbClr val="002D7A"/>
                </a:solidFill>
                <a:latin typeface="inherit"/>
              </a:rPr>
              <a:t>Cancel</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buttonbox</a:t>
            </a:r>
            <a:r>
              <a:rPr lang="en-US" sz="2000">
                <a:solidFill>
                  <a:srgbClr val="333333"/>
                </a:solidFill>
                <a:latin typeface="inherit"/>
              </a:rPr>
              <a:t>.</a:t>
            </a:r>
            <a:r>
              <a:rPr lang="en-US" sz="2000">
                <a:solidFill>
                  <a:srgbClr val="002D7A"/>
                </a:solidFill>
                <a:latin typeface="inherit"/>
              </a:rPr>
              <a:t>accepted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accept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buttonbox</a:t>
            </a:r>
            <a:r>
              <a:rPr lang="en-US" sz="2000">
                <a:solidFill>
                  <a:srgbClr val="333333"/>
                </a:solidFill>
                <a:latin typeface="inherit"/>
              </a:rPr>
              <a:t>.</a:t>
            </a:r>
            <a:r>
              <a:rPr lang="en-US" sz="2000">
                <a:solidFill>
                  <a:srgbClr val="002D7A"/>
                </a:solidFill>
                <a:latin typeface="inherit"/>
              </a:rPr>
              <a:t>rejected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reject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tabWidget</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12</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tabWidget</a:t>
            </a:r>
            <a:r>
              <a:rPr lang="en-US" sz="2000">
                <a:solidFill>
                  <a:srgbClr val="333333"/>
                </a:solidFill>
                <a:latin typeface="inherit"/>
              </a:rPr>
              <a:t>.</a:t>
            </a:r>
            <a:r>
              <a:rPr lang="en-US" sz="2000">
                <a:solidFill>
                  <a:srgbClr val="004ED0"/>
                </a:solidFill>
                <a:latin typeface="inherit"/>
              </a:rPr>
              <a:t>addTab</a:t>
            </a:r>
            <a:r>
              <a:rPr lang="en-US" sz="2000">
                <a:solidFill>
                  <a:srgbClr val="333333"/>
                </a:solidFill>
                <a:latin typeface="inherit"/>
              </a:rPr>
              <a:t>(</a:t>
            </a:r>
            <a:r>
              <a:rPr lang="en-US" sz="2000">
                <a:solidFill>
                  <a:srgbClr val="004ED0"/>
                </a:solidFill>
                <a:latin typeface="inherit"/>
              </a:rPr>
              <a:t>TabContact</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"Contact Details"</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tabWidget</a:t>
            </a:r>
            <a:r>
              <a:rPr lang="en-US" sz="2000">
                <a:solidFill>
                  <a:srgbClr val="333333"/>
                </a:solidFill>
                <a:latin typeface="inherit"/>
              </a:rPr>
              <a:t>.</a:t>
            </a:r>
            <a:r>
              <a:rPr lang="en-US" sz="2000">
                <a:solidFill>
                  <a:srgbClr val="004ED0"/>
                </a:solidFill>
                <a:latin typeface="inherit"/>
              </a:rPr>
              <a:t>addTab</a:t>
            </a:r>
            <a:r>
              <a:rPr lang="en-US" sz="2000">
                <a:solidFill>
                  <a:srgbClr val="333333"/>
                </a:solidFill>
                <a:latin typeface="inherit"/>
              </a:rPr>
              <a:t>(</a:t>
            </a:r>
            <a:r>
              <a:rPr lang="en-US" sz="2000">
                <a:solidFill>
                  <a:srgbClr val="004ED0"/>
                </a:solidFill>
                <a:latin typeface="inherit"/>
              </a:rPr>
              <a:t>TabPeronsalDetails</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"Personal Details"</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tabWidget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buttonbox</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8317882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4C28079-4D0E-44CB-844D-7A235BDB3C4D}"/>
              </a:ext>
            </a:extLst>
          </p:cNvPr>
          <p:cNvSpPr>
            <a:spLocks noGrp="1"/>
          </p:cNvSpPr>
          <p:nvPr>
            <p:ph type="title"/>
          </p:nvPr>
        </p:nvSpPr>
        <p:spPr>
          <a:xfrm>
            <a:off x="9624" y="19251"/>
            <a:ext cx="9134375" cy="808886"/>
          </a:xfrm>
        </p:spPr>
        <p:txBody>
          <a:bodyPr>
            <a:normAutofit/>
          </a:bodyPr>
          <a:lstStyle/>
          <a:p>
            <a:r>
              <a:rPr lang="en-US"/>
              <a:t>Cách tạo QTabWidget trong PyQt5 (t.t)</a:t>
            </a:r>
          </a:p>
        </p:txBody>
      </p:sp>
      <p:sp>
        <p:nvSpPr>
          <p:cNvPr id="5" name="Rectangle 4">
            <a:extLst>
              <a:ext uri="{FF2B5EF4-FFF2-40B4-BE49-F238E27FC236}">
                <a16:creationId xmlns:a16="http://schemas.microsoft.com/office/drawing/2014/main" id="{0105EE3C-AA9B-475A-8F15-094A89B9A771}"/>
              </a:ext>
            </a:extLst>
          </p:cNvPr>
          <p:cNvSpPr/>
          <p:nvPr/>
        </p:nvSpPr>
        <p:spPr>
          <a:xfrm>
            <a:off x="9625" y="828137"/>
            <a:ext cx="3320172" cy="4764061"/>
          </a:xfrm>
          <a:prstGeom prst="rect">
            <a:avLst/>
          </a:prstGeom>
          <a:solidFill>
            <a:schemeClr val="accent4">
              <a:lumMod val="20000"/>
              <a:lumOff val="80000"/>
            </a:schemeClr>
          </a:solidFill>
        </p:spPr>
        <p:txBody>
          <a:bodyPr wrap="square">
            <a:spAutoFit/>
          </a:bodyPr>
          <a:lstStyle/>
          <a:p>
            <a:pPr>
              <a:lnSpc>
                <a:spcPct val="85000"/>
              </a:lnSpc>
            </a:pPr>
            <a:r>
              <a:rPr lang="en-US" sz="1700">
                <a:solidFill>
                  <a:srgbClr val="800080"/>
                </a:solidFill>
                <a:latin typeface="inherit"/>
              </a:rPr>
              <a:t>class</a:t>
            </a:r>
            <a:r>
              <a:rPr lang="en-US" sz="1700">
                <a:solidFill>
                  <a:srgbClr val="006FE0"/>
                </a:solidFill>
                <a:latin typeface="inherit"/>
              </a:rPr>
              <a:t> </a:t>
            </a:r>
            <a:r>
              <a:rPr lang="en-US" sz="1700">
                <a:solidFill>
                  <a:srgbClr val="004ED0"/>
                </a:solidFill>
                <a:latin typeface="inherit"/>
              </a:rPr>
              <a:t>TabContact</a:t>
            </a:r>
            <a:r>
              <a:rPr lang="en-US" sz="1700">
                <a:solidFill>
                  <a:srgbClr val="333333"/>
                </a:solidFill>
                <a:latin typeface="inherit"/>
              </a:rPr>
              <a:t>(</a:t>
            </a:r>
            <a:r>
              <a:rPr lang="en-US" sz="1700">
                <a:solidFill>
                  <a:srgbClr val="002D7A"/>
                </a:solidFill>
                <a:latin typeface="inherit"/>
              </a:rPr>
              <a:t>QWidget</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4ED0"/>
                </a:solidFill>
                <a:latin typeface="inherit"/>
              </a:rPr>
              <a:t>def __init__</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super</a:t>
            </a:r>
            <a:r>
              <a:rPr lang="en-US" sz="1700">
                <a:solidFill>
                  <a:srgbClr val="333333"/>
                </a:solidFill>
                <a:latin typeface="inherit"/>
              </a:rPr>
              <a:t>().</a:t>
            </a:r>
            <a:r>
              <a:rPr lang="en-US" sz="1700">
                <a:solidFill>
                  <a:srgbClr val="004ED0"/>
                </a:solidFill>
                <a:latin typeface="inherit"/>
              </a:rPr>
              <a:t>__init__</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nameLabel</a:t>
            </a:r>
            <a:r>
              <a:rPr lang="en-US" sz="1700">
                <a:solidFill>
                  <a:srgbClr val="006FE0"/>
                </a:solidFill>
                <a:latin typeface="inherit"/>
              </a:rPr>
              <a:t> = </a:t>
            </a:r>
            <a:r>
              <a:rPr lang="en-US" sz="1700">
                <a:solidFill>
                  <a:srgbClr val="004ED0"/>
                </a:solidFill>
                <a:latin typeface="inherit"/>
              </a:rPr>
              <a:t>QLabel</a:t>
            </a:r>
            <a:r>
              <a:rPr lang="en-US" sz="1700">
                <a:solidFill>
                  <a:srgbClr val="333333"/>
                </a:solidFill>
                <a:latin typeface="inherit"/>
              </a:rPr>
              <a:t>(</a:t>
            </a:r>
            <a:r>
              <a:rPr lang="en-US" sz="1700">
                <a:solidFill>
                  <a:srgbClr val="008000"/>
                </a:solidFill>
                <a:latin typeface="inherit"/>
              </a:rPr>
              <a:t>"Name: "</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nameEdit</a:t>
            </a:r>
            <a:r>
              <a:rPr lang="en-US" sz="1700">
                <a:solidFill>
                  <a:srgbClr val="006FE0"/>
                </a:solidFill>
                <a:latin typeface="inherit"/>
              </a:rPr>
              <a:t> = </a:t>
            </a:r>
            <a:r>
              <a:rPr lang="en-US" sz="1700">
                <a:solidFill>
                  <a:srgbClr val="004ED0"/>
                </a:solidFill>
                <a:latin typeface="inherit"/>
              </a:rPr>
              <a:t>QLineEdit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phone</a:t>
            </a:r>
            <a:r>
              <a:rPr lang="en-US" sz="1700">
                <a:solidFill>
                  <a:srgbClr val="006FE0"/>
                </a:solidFill>
                <a:latin typeface="inherit"/>
              </a:rPr>
              <a:t> = </a:t>
            </a:r>
            <a:r>
              <a:rPr lang="en-US" sz="1700">
                <a:solidFill>
                  <a:srgbClr val="004ED0"/>
                </a:solidFill>
                <a:latin typeface="inherit"/>
              </a:rPr>
              <a:t>QLabel</a:t>
            </a:r>
            <a:r>
              <a:rPr lang="en-US" sz="1700">
                <a:solidFill>
                  <a:srgbClr val="333333"/>
                </a:solidFill>
                <a:latin typeface="inherit"/>
              </a:rPr>
              <a:t>(</a:t>
            </a:r>
            <a:r>
              <a:rPr lang="en-US" sz="1700">
                <a:solidFill>
                  <a:srgbClr val="008000"/>
                </a:solidFill>
                <a:latin typeface="inherit"/>
              </a:rPr>
              <a:t>"Phone:"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phoneedit</a:t>
            </a:r>
            <a:r>
              <a:rPr lang="en-US" sz="1700">
                <a:solidFill>
                  <a:srgbClr val="006FE0"/>
                </a:solidFill>
                <a:latin typeface="inherit"/>
              </a:rPr>
              <a:t> = </a:t>
            </a:r>
            <a:r>
              <a:rPr lang="en-US" sz="1700">
                <a:solidFill>
                  <a:srgbClr val="004ED0"/>
                </a:solidFill>
                <a:latin typeface="inherit"/>
              </a:rPr>
              <a:t>QLineEdit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addr</a:t>
            </a:r>
            <a:r>
              <a:rPr lang="en-US" sz="1700">
                <a:solidFill>
                  <a:srgbClr val="006FE0"/>
                </a:solidFill>
                <a:latin typeface="inherit"/>
              </a:rPr>
              <a:t> = </a:t>
            </a:r>
            <a:r>
              <a:rPr lang="en-US" sz="1700">
                <a:solidFill>
                  <a:srgbClr val="004ED0"/>
                </a:solidFill>
                <a:latin typeface="inherit"/>
              </a:rPr>
              <a:t>QLabel</a:t>
            </a:r>
            <a:r>
              <a:rPr lang="en-US" sz="1700">
                <a:solidFill>
                  <a:srgbClr val="333333"/>
                </a:solidFill>
                <a:latin typeface="inherit"/>
              </a:rPr>
              <a:t>(</a:t>
            </a:r>
            <a:r>
              <a:rPr lang="en-US" sz="1700">
                <a:solidFill>
                  <a:srgbClr val="008000"/>
                </a:solidFill>
                <a:latin typeface="inherit"/>
              </a:rPr>
              <a:t>"Address:"</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addredit</a:t>
            </a:r>
            <a:r>
              <a:rPr lang="en-US" sz="1700">
                <a:solidFill>
                  <a:srgbClr val="006FE0"/>
                </a:solidFill>
                <a:latin typeface="inherit"/>
              </a:rPr>
              <a:t> = </a:t>
            </a:r>
            <a:r>
              <a:rPr lang="en-US" sz="1700">
                <a:solidFill>
                  <a:srgbClr val="004ED0"/>
                </a:solidFill>
                <a:latin typeface="inherit"/>
              </a:rPr>
              <a:t>QLineEdit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email</a:t>
            </a:r>
            <a:r>
              <a:rPr lang="en-US" sz="1700">
                <a:solidFill>
                  <a:srgbClr val="006FE0"/>
                </a:solidFill>
                <a:latin typeface="inherit"/>
              </a:rPr>
              <a:t> = </a:t>
            </a:r>
            <a:r>
              <a:rPr lang="en-US" sz="1700">
                <a:solidFill>
                  <a:srgbClr val="004ED0"/>
                </a:solidFill>
                <a:latin typeface="inherit"/>
              </a:rPr>
              <a:t>QLabel</a:t>
            </a:r>
            <a:r>
              <a:rPr lang="en-US" sz="1700">
                <a:solidFill>
                  <a:srgbClr val="333333"/>
                </a:solidFill>
                <a:latin typeface="inherit"/>
              </a:rPr>
              <a:t>(</a:t>
            </a:r>
            <a:r>
              <a:rPr lang="en-US" sz="1700">
                <a:solidFill>
                  <a:srgbClr val="008000"/>
                </a:solidFill>
                <a:latin typeface="inherit"/>
              </a:rPr>
              <a:t>"Email:"</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emailedit</a:t>
            </a:r>
            <a:r>
              <a:rPr lang="en-US" sz="1700">
                <a:solidFill>
                  <a:srgbClr val="006FE0"/>
                </a:solidFill>
                <a:latin typeface="inherit"/>
              </a:rPr>
              <a:t> = </a:t>
            </a:r>
            <a:r>
              <a:rPr lang="en-US" sz="1700">
                <a:solidFill>
                  <a:srgbClr val="004ED0"/>
                </a:solidFill>
                <a:latin typeface="inherit"/>
              </a:rPr>
              <a:t>QLineEdit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006FE0"/>
                </a:solidFill>
                <a:latin typeface="inherit"/>
              </a:rPr>
              <a:t> = </a:t>
            </a:r>
            <a:r>
              <a:rPr lang="en-US" sz="1700">
                <a:solidFill>
                  <a:srgbClr val="004ED0"/>
                </a:solidFill>
                <a:latin typeface="inherit"/>
              </a:rPr>
              <a:t>QVBoxLayout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nameLabel</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nameEdit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phone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phoneedit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addr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addredit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email</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emailedit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setLayout</a:t>
            </a:r>
            <a:r>
              <a:rPr lang="en-US" sz="1700">
                <a:solidFill>
                  <a:srgbClr val="333333"/>
                </a:solidFill>
                <a:latin typeface="inherit"/>
              </a:rPr>
              <a:t>(</a:t>
            </a:r>
            <a:r>
              <a:rPr lang="en-US" sz="1700">
                <a:solidFill>
                  <a:srgbClr val="002D7A"/>
                </a:solidFill>
                <a:latin typeface="inherit"/>
              </a:rPr>
              <a:t>vbox</a:t>
            </a:r>
            <a:r>
              <a:rPr lang="en-US" sz="1700">
                <a:solidFill>
                  <a:srgbClr val="333333"/>
                </a:solidFill>
                <a:latin typeface="inherit"/>
              </a:rPr>
              <a:t>)</a:t>
            </a:r>
            <a:endParaRPr lang="en-US" sz="1700" b="0" i="0">
              <a:solidFill>
                <a:srgbClr val="000000"/>
              </a:solidFill>
              <a:effectLst/>
              <a:latin typeface="Monaco"/>
            </a:endParaRPr>
          </a:p>
        </p:txBody>
      </p:sp>
      <p:sp>
        <p:nvSpPr>
          <p:cNvPr id="6" name="Rectangle 5">
            <a:extLst>
              <a:ext uri="{FF2B5EF4-FFF2-40B4-BE49-F238E27FC236}">
                <a16:creationId xmlns:a16="http://schemas.microsoft.com/office/drawing/2014/main" id="{AE49FA0C-FD61-4D91-95FF-24A38E33D7B1}"/>
              </a:ext>
            </a:extLst>
          </p:cNvPr>
          <p:cNvSpPr/>
          <p:nvPr/>
        </p:nvSpPr>
        <p:spPr>
          <a:xfrm>
            <a:off x="3519579" y="945593"/>
            <a:ext cx="5588918" cy="5875904"/>
          </a:xfrm>
          <a:prstGeom prst="rect">
            <a:avLst/>
          </a:prstGeom>
          <a:solidFill>
            <a:schemeClr val="accent6">
              <a:lumMod val="20000"/>
              <a:lumOff val="80000"/>
            </a:schemeClr>
          </a:solidFill>
        </p:spPr>
        <p:txBody>
          <a:bodyPr wrap="square">
            <a:spAutoFit/>
          </a:bodyPr>
          <a:lstStyle/>
          <a:p>
            <a:pPr>
              <a:lnSpc>
                <a:spcPct val="85000"/>
              </a:lnSpc>
            </a:pPr>
            <a:r>
              <a:rPr lang="en-US" sz="1700">
                <a:solidFill>
                  <a:srgbClr val="800080"/>
                </a:solidFill>
                <a:latin typeface="inherit"/>
              </a:rPr>
              <a:t>class</a:t>
            </a:r>
            <a:r>
              <a:rPr lang="en-US" sz="1700">
                <a:solidFill>
                  <a:srgbClr val="006FE0"/>
                </a:solidFill>
                <a:latin typeface="inherit"/>
              </a:rPr>
              <a:t> </a:t>
            </a:r>
            <a:r>
              <a:rPr lang="en-US" sz="1700">
                <a:solidFill>
                  <a:srgbClr val="004ED0"/>
                </a:solidFill>
                <a:latin typeface="inherit"/>
              </a:rPr>
              <a:t>TabPeronsalDetails</a:t>
            </a:r>
            <a:r>
              <a:rPr lang="en-US" sz="1700">
                <a:solidFill>
                  <a:srgbClr val="333333"/>
                </a:solidFill>
                <a:latin typeface="inherit"/>
              </a:rPr>
              <a:t>(</a:t>
            </a:r>
            <a:r>
              <a:rPr lang="en-US" sz="1700">
                <a:solidFill>
                  <a:srgbClr val="002D7A"/>
                </a:solidFill>
                <a:latin typeface="inherit"/>
              </a:rPr>
              <a:t>QWidget</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4ED0"/>
                </a:solidFill>
                <a:latin typeface="inherit"/>
              </a:rPr>
              <a:t>def __init__</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super</a:t>
            </a:r>
            <a:r>
              <a:rPr lang="en-US" sz="1700">
                <a:solidFill>
                  <a:srgbClr val="333333"/>
                </a:solidFill>
                <a:latin typeface="inherit"/>
              </a:rPr>
              <a:t>().</a:t>
            </a:r>
            <a:r>
              <a:rPr lang="en-US" sz="1700">
                <a:solidFill>
                  <a:srgbClr val="004ED0"/>
                </a:solidFill>
                <a:latin typeface="inherit"/>
              </a:rPr>
              <a:t>__init__</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groupBox</a:t>
            </a:r>
            <a:r>
              <a:rPr lang="en-US" sz="1700">
                <a:solidFill>
                  <a:srgbClr val="006FE0"/>
                </a:solidFill>
                <a:latin typeface="inherit"/>
              </a:rPr>
              <a:t> = </a:t>
            </a:r>
            <a:r>
              <a:rPr lang="en-US" sz="1700">
                <a:solidFill>
                  <a:srgbClr val="004ED0"/>
                </a:solidFill>
                <a:latin typeface="inherit"/>
              </a:rPr>
              <a:t>QGroupBox</a:t>
            </a:r>
            <a:r>
              <a:rPr lang="en-US" sz="1700">
                <a:solidFill>
                  <a:srgbClr val="333333"/>
                </a:solidFill>
                <a:latin typeface="inherit"/>
              </a:rPr>
              <a:t>(</a:t>
            </a:r>
            <a:r>
              <a:rPr lang="en-US" sz="1700">
                <a:solidFill>
                  <a:srgbClr val="008000"/>
                </a:solidFill>
                <a:latin typeface="inherit"/>
              </a:rPr>
              <a:t>"Select Your Gender"</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list</a:t>
            </a:r>
            <a:r>
              <a:rPr lang="en-US" sz="1700">
                <a:solidFill>
                  <a:srgbClr val="006FE0"/>
                </a:solidFill>
                <a:latin typeface="inherit"/>
              </a:rPr>
              <a:t> = </a:t>
            </a:r>
            <a:r>
              <a:rPr lang="en-US" sz="1700">
                <a:solidFill>
                  <a:srgbClr val="333333"/>
                </a:solidFill>
                <a:latin typeface="inherit"/>
              </a:rPr>
              <a:t>[</a:t>
            </a:r>
            <a:r>
              <a:rPr lang="en-US" sz="1700">
                <a:solidFill>
                  <a:srgbClr val="008000"/>
                </a:solidFill>
                <a:latin typeface="inherit"/>
              </a:rPr>
              <a:t>"Male"</a:t>
            </a:r>
            <a:r>
              <a:rPr lang="en-US" sz="1700">
                <a:solidFill>
                  <a:srgbClr val="333333"/>
                </a:solidFill>
                <a:latin typeface="inherit"/>
              </a:rPr>
              <a:t>,</a:t>
            </a:r>
            <a:r>
              <a:rPr lang="en-US" sz="1700">
                <a:solidFill>
                  <a:srgbClr val="006FE0"/>
                </a:solidFill>
                <a:latin typeface="inherit"/>
              </a:rPr>
              <a:t> </a:t>
            </a:r>
            <a:r>
              <a:rPr lang="en-US" sz="1700">
                <a:solidFill>
                  <a:srgbClr val="008000"/>
                </a:solidFill>
                <a:latin typeface="inherit"/>
              </a:rPr>
              <a:t>"Female"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combo</a:t>
            </a:r>
            <a:r>
              <a:rPr lang="en-US" sz="1700">
                <a:solidFill>
                  <a:srgbClr val="006FE0"/>
                </a:solidFill>
                <a:latin typeface="inherit"/>
              </a:rPr>
              <a:t> = </a:t>
            </a:r>
            <a:r>
              <a:rPr lang="en-US" sz="1700">
                <a:solidFill>
                  <a:srgbClr val="004ED0"/>
                </a:solidFill>
                <a:latin typeface="inherit"/>
              </a:rPr>
              <a:t>QComboBox</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combo</a:t>
            </a:r>
            <a:r>
              <a:rPr lang="en-US" sz="1700">
                <a:solidFill>
                  <a:srgbClr val="333333"/>
                </a:solidFill>
                <a:latin typeface="inherit"/>
              </a:rPr>
              <a:t>.</a:t>
            </a:r>
            <a:r>
              <a:rPr lang="en-US" sz="1700">
                <a:solidFill>
                  <a:srgbClr val="004ED0"/>
                </a:solidFill>
                <a:latin typeface="inherit"/>
              </a:rPr>
              <a:t>addItems</a:t>
            </a:r>
            <a:r>
              <a:rPr lang="en-US" sz="1700">
                <a:solidFill>
                  <a:srgbClr val="333333"/>
                </a:solidFill>
                <a:latin typeface="inherit"/>
              </a:rPr>
              <a:t>(</a:t>
            </a:r>
            <a:r>
              <a:rPr lang="en-US" sz="1700">
                <a:solidFill>
                  <a:srgbClr val="002D7A"/>
                </a:solidFill>
                <a:latin typeface="inherit"/>
              </a:rPr>
              <a:t>list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006FE0"/>
                </a:solidFill>
                <a:latin typeface="inherit"/>
              </a:rPr>
              <a:t> = </a:t>
            </a:r>
            <a:r>
              <a:rPr lang="en-US" sz="1700">
                <a:solidFill>
                  <a:srgbClr val="004ED0"/>
                </a:solidFill>
                <a:latin typeface="inherit"/>
              </a:rPr>
              <a:t>QVBoxLayout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combo</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groupBox</a:t>
            </a:r>
            <a:r>
              <a:rPr lang="en-US" sz="1700">
                <a:solidFill>
                  <a:srgbClr val="333333"/>
                </a:solidFill>
                <a:latin typeface="inherit"/>
              </a:rPr>
              <a:t>.</a:t>
            </a:r>
            <a:r>
              <a:rPr lang="en-US" sz="1700">
                <a:solidFill>
                  <a:srgbClr val="004ED0"/>
                </a:solidFill>
                <a:latin typeface="inherit"/>
              </a:rPr>
              <a:t>setLayout</a:t>
            </a:r>
            <a:r>
              <a:rPr lang="en-US" sz="1700">
                <a:solidFill>
                  <a:srgbClr val="333333"/>
                </a:solidFill>
                <a:latin typeface="inherit"/>
              </a:rPr>
              <a:t>(</a:t>
            </a:r>
            <a:r>
              <a:rPr lang="en-US" sz="1700">
                <a:solidFill>
                  <a:srgbClr val="002D7A"/>
                </a:solidFill>
                <a:latin typeface="inherit"/>
              </a:rPr>
              <a:t>vbox</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groupBox2</a:t>
            </a:r>
            <a:r>
              <a:rPr lang="en-US" sz="1700">
                <a:solidFill>
                  <a:srgbClr val="006FE0"/>
                </a:solidFill>
                <a:latin typeface="inherit"/>
              </a:rPr>
              <a:t> = </a:t>
            </a:r>
            <a:r>
              <a:rPr lang="en-US" sz="1700">
                <a:solidFill>
                  <a:srgbClr val="004ED0"/>
                </a:solidFill>
                <a:latin typeface="inherit"/>
              </a:rPr>
              <a:t>QGroupBox</a:t>
            </a:r>
            <a:r>
              <a:rPr lang="en-US" sz="1700">
                <a:solidFill>
                  <a:srgbClr val="333333"/>
                </a:solidFill>
                <a:latin typeface="inherit"/>
              </a:rPr>
              <a:t>(</a:t>
            </a:r>
          </a:p>
          <a:p>
            <a:pPr algn="r">
              <a:lnSpc>
                <a:spcPct val="85000"/>
              </a:lnSpc>
            </a:pPr>
            <a:r>
              <a:rPr lang="en-US" sz="1700">
                <a:solidFill>
                  <a:srgbClr val="008000"/>
                </a:solidFill>
                <a:latin typeface="inherit"/>
              </a:rPr>
              <a:t>"Select Your Favorite Programming Language"</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python</a:t>
            </a:r>
            <a:r>
              <a:rPr lang="en-US" sz="1700">
                <a:solidFill>
                  <a:srgbClr val="006FE0"/>
                </a:solidFill>
                <a:latin typeface="inherit"/>
              </a:rPr>
              <a:t>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"Python"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cpp</a:t>
            </a:r>
            <a:r>
              <a:rPr lang="en-US" sz="1700">
                <a:solidFill>
                  <a:srgbClr val="006FE0"/>
                </a:solidFill>
                <a:latin typeface="inherit"/>
              </a:rPr>
              <a:t> =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"C++"</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java</a:t>
            </a:r>
            <a:r>
              <a:rPr lang="en-US" sz="1700">
                <a:solidFill>
                  <a:srgbClr val="006FE0"/>
                </a:solidFill>
                <a:latin typeface="inherit"/>
              </a:rPr>
              <a:t> =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"Java"</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csharp</a:t>
            </a:r>
            <a:r>
              <a:rPr lang="en-US" sz="1700">
                <a:solidFill>
                  <a:srgbClr val="006FE0"/>
                </a:solidFill>
                <a:latin typeface="inherit"/>
              </a:rPr>
              <a:t> = </a:t>
            </a:r>
            <a:r>
              <a:rPr lang="en-US" sz="1700">
                <a:solidFill>
                  <a:srgbClr val="004ED0"/>
                </a:solidFill>
                <a:latin typeface="inherit"/>
              </a:rPr>
              <a:t>QCheckBox</a:t>
            </a:r>
            <a:r>
              <a:rPr lang="en-US" sz="1700">
                <a:solidFill>
                  <a:srgbClr val="333333"/>
                </a:solidFill>
                <a:latin typeface="inherit"/>
              </a:rPr>
              <a:t>(</a:t>
            </a:r>
            <a:r>
              <a:rPr lang="en-US" sz="1700">
                <a:solidFill>
                  <a:srgbClr val="008000"/>
                </a:solidFill>
                <a:latin typeface="inherit"/>
              </a:rPr>
              <a:t>"C#"</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vboxp</a:t>
            </a:r>
            <a:r>
              <a:rPr lang="en-US" sz="1700">
                <a:solidFill>
                  <a:srgbClr val="006FE0"/>
                </a:solidFill>
                <a:latin typeface="inherit"/>
              </a:rPr>
              <a:t> = </a:t>
            </a:r>
            <a:r>
              <a:rPr lang="en-US" sz="1700">
                <a:solidFill>
                  <a:srgbClr val="004ED0"/>
                </a:solidFill>
                <a:latin typeface="inherit"/>
              </a:rPr>
              <a:t>QVBoxLayout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vboxp</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python</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vboxp</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cpp</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vboxp</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java</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vboxp</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csharp</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groupBox2</a:t>
            </a:r>
            <a:r>
              <a:rPr lang="en-US" sz="1700">
                <a:solidFill>
                  <a:srgbClr val="333333"/>
                </a:solidFill>
                <a:latin typeface="inherit"/>
              </a:rPr>
              <a:t>.</a:t>
            </a:r>
            <a:r>
              <a:rPr lang="en-US" sz="1700">
                <a:solidFill>
                  <a:srgbClr val="004ED0"/>
                </a:solidFill>
                <a:latin typeface="inherit"/>
              </a:rPr>
              <a:t>setLayout</a:t>
            </a:r>
            <a:r>
              <a:rPr lang="en-US" sz="1700">
                <a:solidFill>
                  <a:srgbClr val="333333"/>
                </a:solidFill>
                <a:latin typeface="inherit"/>
              </a:rPr>
              <a:t>(</a:t>
            </a:r>
            <a:r>
              <a:rPr lang="en-US" sz="1700">
                <a:solidFill>
                  <a:srgbClr val="002D7A"/>
                </a:solidFill>
                <a:latin typeface="inherit"/>
              </a:rPr>
              <a:t>vboxp</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mainLayout</a:t>
            </a:r>
            <a:r>
              <a:rPr lang="en-US" sz="1700">
                <a:solidFill>
                  <a:srgbClr val="006FE0"/>
                </a:solidFill>
                <a:latin typeface="inherit"/>
              </a:rPr>
              <a:t> = </a:t>
            </a:r>
            <a:r>
              <a:rPr lang="en-US" sz="1700">
                <a:solidFill>
                  <a:srgbClr val="004ED0"/>
                </a:solidFill>
                <a:latin typeface="inherit"/>
              </a:rPr>
              <a:t>QVBoxLayout</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mainLayout</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groupBox</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002D7A"/>
                </a:solidFill>
                <a:latin typeface="inherit"/>
              </a:rPr>
              <a:t>mainLayout</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groupBox2</a:t>
            </a:r>
            <a:r>
              <a:rPr lang="en-US" sz="1700">
                <a:solidFill>
                  <a:srgbClr val="333333"/>
                </a:solidFill>
                <a:latin typeface="inherit"/>
              </a:rPr>
              <a:t>)</a:t>
            </a:r>
            <a:endParaRPr lang="en-US" sz="1700">
              <a:solidFill>
                <a:srgbClr val="000000"/>
              </a:solidFill>
              <a:latin typeface="Monaco"/>
            </a:endParaRPr>
          </a:p>
          <a:p>
            <a:pPr>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setLayout</a:t>
            </a:r>
            <a:r>
              <a:rPr lang="en-US" sz="1700">
                <a:solidFill>
                  <a:srgbClr val="333333"/>
                </a:solidFill>
                <a:latin typeface="inherit"/>
              </a:rPr>
              <a:t>(</a:t>
            </a:r>
            <a:r>
              <a:rPr lang="en-US" sz="1700">
                <a:solidFill>
                  <a:srgbClr val="002D7A"/>
                </a:solidFill>
                <a:latin typeface="inherit"/>
              </a:rPr>
              <a:t>mainLayout</a:t>
            </a:r>
            <a:r>
              <a:rPr lang="en-US" sz="1700">
                <a:solidFill>
                  <a:srgbClr val="333333"/>
                </a:solidFill>
                <a:latin typeface="inherit"/>
              </a:rPr>
              <a:t>)</a:t>
            </a:r>
            <a:endParaRPr lang="en-US" sz="1700" b="0" i="0">
              <a:solidFill>
                <a:srgbClr val="000000"/>
              </a:solidFill>
              <a:effectLst/>
              <a:latin typeface="Monaco"/>
            </a:endParaRPr>
          </a:p>
        </p:txBody>
      </p:sp>
    </p:spTree>
    <p:extLst>
      <p:ext uri="{BB962C8B-B14F-4D97-AF65-F5344CB8AC3E}">
        <p14:creationId xmlns:p14="http://schemas.microsoft.com/office/powerpoint/2010/main" val="6978814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833849-CEE0-4EB4-9C53-06412C8212D3}"/>
              </a:ext>
            </a:extLst>
          </p:cNvPr>
          <p:cNvSpPr>
            <a:spLocks noGrp="1"/>
          </p:cNvSpPr>
          <p:nvPr>
            <p:ph idx="1"/>
          </p:nvPr>
        </p:nvSpPr>
        <p:spPr/>
        <p:txBody>
          <a:bodyPr>
            <a:normAutofit/>
          </a:bodyPr>
          <a:lstStyle/>
          <a:p>
            <a:pPr marL="0" indent="0">
              <a:buNone/>
            </a:pPr>
            <a:r>
              <a:rPr lang="vi-VN" sz="2400"/>
              <a:t>Sau đó, chúng ta tạo QApplication và các đối tượng cửa sổ</a:t>
            </a:r>
            <a:endParaRPr lang="en-US" sz="2400"/>
          </a:p>
        </p:txBody>
      </p:sp>
      <p:sp>
        <p:nvSpPr>
          <p:cNvPr id="4" name="Rectangle 3">
            <a:extLst>
              <a:ext uri="{FF2B5EF4-FFF2-40B4-BE49-F238E27FC236}">
                <a16:creationId xmlns:a16="http://schemas.microsoft.com/office/drawing/2014/main" id="{9F44FDA1-6523-4545-B3B2-0ECF225479BC}"/>
              </a:ext>
            </a:extLst>
          </p:cNvPr>
          <p:cNvSpPr/>
          <p:nvPr/>
        </p:nvSpPr>
        <p:spPr>
          <a:xfrm>
            <a:off x="44134" y="1408207"/>
            <a:ext cx="4036328" cy="1938992"/>
          </a:xfrm>
          <a:prstGeom prst="rect">
            <a:avLst/>
          </a:prstGeom>
          <a:solidFill>
            <a:schemeClr val="accent4">
              <a:lumMod val="20000"/>
              <a:lumOff val="80000"/>
            </a:schemeClr>
          </a:solidFill>
        </p:spPr>
        <p:txBody>
          <a:bodyPr wrap="square">
            <a:spAutoFit/>
          </a:bodyPr>
          <a:lstStyle/>
          <a:p>
            <a:r>
              <a:rPr lang="en-US" sz="2400">
                <a:solidFill>
                  <a:srgbClr val="800080"/>
                </a:solidFill>
                <a:latin typeface="inherit"/>
              </a:rPr>
              <a:t>if</a:t>
            </a:r>
            <a:r>
              <a:rPr lang="en-US" sz="2400">
                <a:solidFill>
                  <a:srgbClr val="006FE0"/>
                </a:solidFill>
                <a:latin typeface="inherit"/>
              </a:rPr>
              <a:t> </a:t>
            </a:r>
            <a:r>
              <a:rPr lang="en-US" sz="2400">
                <a:solidFill>
                  <a:srgbClr val="002D7A"/>
                </a:solidFill>
                <a:latin typeface="inherit"/>
              </a:rPr>
              <a:t>__name__</a:t>
            </a:r>
            <a:r>
              <a:rPr lang="en-US" sz="2400">
                <a:solidFill>
                  <a:srgbClr val="006FE0"/>
                </a:solidFill>
                <a:latin typeface="inherit"/>
              </a:rPr>
              <a:t> == </a:t>
            </a:r>
            <a:r>
              <a:rPr lang="en-US" sz="2400">
                <a:solidFill>
                  <a:srgbClr val="008000"/>
                </a:solidFill>
                <a:latin typeface="inherit"/>
              </a:rPr>
              <a:t>"__main__"</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tabdialog</a:t>
            </a:r>
            <a:r>
              <a:rPr lang="en-US" sz="2400">
                <a:solidFill>
                  <a:srgbClr val="006FE0"/>
                </a:solidFill>
                <a:latin typeface="inherit"/>
              </a:rPr>
              <a:t> = </a:t>
            </a:r>
            <a:r>
              <a:rPr lang="en-US" sz="2400">
                <a:solidFill>
                  <a:srgbClr val="004ED0"/>
                </a:solidFill>
                <a:latin typeface="inherit"/>
              </a:rPr>
              <a:t>Tab</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tabdialog</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sp>
        <p:nvSpPr>
          <p:cNvPr id="5" name="Title 1">
            <a:extLst>
              <a:ext uri="{FF2B5EF4-FFF2-40B4-BE49-F238E27FC236}">
                <a16:creationId xmlns:a16="http://schemas.microsoft.com/office/drawing/2014/main" id="{D5826E92-610E-4799-A881-FA1A436E78D0}"/>
              </a:ext>
            </a:extLst>
          </p:cNvPr>
          <p:cNvSpPr>
            <a:spLocks noGrp="1"/>
          </p:cNvSpPr>
          <p:nvPr>
            <p:ph type="title"/>
          </p:nvPr>
        </p:nvSpPr>
        <p:spPr>
          <a:xfrm>
            <a:off x="9624" y="19251"/>
            <a:ext cx="9134375" cy="808886"/>
          </a:xfrm>
        </p:spPr>
        <p:txBody>
          <a:bodyPr>
            <a:normAutofit/>
          </a:bodyPr>
          <a:lstStyle/>
          <a:p>
            <a:r>
              <a:rPr lang="en-US"/>
              <a:t>Cách tạo QTabWidget trong PyQt5 (t.t)</a:t>
            </a:r>
          </a:p>
        </p:txBody>
      </p:sp>
      <p:pic>
        <p:nvPicPr>
          <p:cNvPr id="6146" name="Picture 2" descr="CÃ¡ch táº¡o QTabWidget trong PyQt5">
            <a:extLst>
              <a:ext uri="{FF2B5EF4-FFF2-40B4-BE49-F238E27FC236}">
                <a16:creationId xmlns:a16="http://schemas.microsoft.com/office/drawing/2014/main" id="{F0A825C1-ECD0-49F9-A7B7-38934E7EF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052" y="1450094"/>
            <a:ext cx="4960357" cy="4691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7022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C518-C77A-4556-A97E-A4B84957EB25}"/>
              </a:ext>
            </a:extLst>
          </p:cNvPr>
          <p:cNvSpPr>
            <a:spLocks noGrp="1"/>
          </p:cNvSpPr>
          <p:nvPr>
            <p:ph type="title"/>
          </p:nvPr>
        </p:nvSpPr>
        <p:spPr/>
        <p:txBody>
          <a:bodyPr>
            <a:normAutofit/>
          </a:bodyPr>
          <a:lstStyle/>
          <a:p>
            <a:r>
              <a:rPr lang="en-US"/>
              <a:t>Cách tạo QStackedWidget trong PyQt5</a:t>
            </a:r>
          </a:p>
        </p:txBody>
      </p:sp>
      <p:graphicFrame>
        <p:nvGraphicFramePr>
          <p:cNvPr id="4" name="Content Placeholder 3">
            <a:extLst>
              <a:ext uri="{FF2B5EF4-FFF2-40B4-BE49-F238E27FC236}">
                <a16:creationId xmlns:a16="http://schemas.microsoft.com/office/drawing/2014/main" id="{E09E4CF3-649A-4F2C-8A7F-A091981657F6}"/>
              </a:ext>
            </a:extLst>
          </p:cNvPr>
          <p:cNvGraphicFramePr>
            <a:graphicFrameLocks noGrp="1"/>
          </p:cNvGraphicFramePr>
          <p:nvPr>
            <p:ph idx="1"/>
            <p:extLst>
              <p:ext uri="{D42A27DB-BD31-4B8C-83A1-F6EECF244321}">
                <p14:modId xmlns:p14="http://schemas.microsoft.com/office/powerpoint/2010/main" val="3339366345"/>
              </p:ext>
            </p:extLst>
          </p:nvPr>
        </p:nvGraphicFramePr>
        <p:xfrm>
          <a:off x="9624" y="2405943"/>
          <a:ext cx="9134375" cy="3505200"/>
        </p:xfrm>
        <a:graphic>
          <a:graphicData uri="http://schemas.openxmlformats.org/drawingml/2006/table">
            <a:tbl>
              <a:tblPr/>
              <a:tblGrid>
                <a:gridCol w="697335">
                  <a:extLst>
                    <a:ext uri="{9D8B030D-6E8A-4147-A177-3AD203B41FA5}">
                      <a16:colId xmlns:a16="http://schemas.microsoft.com/office/drawing/2014/main" val="4133344113"/>
                    </a:ext>
                  </a:extLst>
                </a:gridCol>
                <a:gridCol w="8437040">
                  <a:extLst>
                    <a:ext uri="{9D8B030D-6E8A-4147-A177-3AD203B41FA5}">
                      <a16:colId xmlns:a16="http://schemas.microsoft.com/office/drawing/2014/main" val="1504252697"/>
                    </a:ext>
                  </a:extLst>
                </a:gridCol>
              </a:tblGrid>
              <a:tr h="0">
                <a:tc>
                  <a:txBody>
                    <a:bodyPr/>
                    <a:lstStyle/>
                    <a:p>
                      <a:pPr algn="ctr" fontAlgn="t"/>
                      <a:r>
                        <a:rPr lang="en-US" sz="2800" b="0">
                          <a:solidFill>
                            <a:srgbClr val="5499DE"/>
                          </a:solidFill>
                          <a:effectLst/>
                          <a:latin typeface="inherit"/>
                        </a:rPr>
                        <a:t>1</a:t>
                      </a:r>
                    </a:p>
                    <a:p>
                      <a:pPr algn="ctr" fontAlgn="t"/>
                      <a:endParaRPr lang="en-US" sz="2800" b="0">
                        <a:solidFill>
                          <a:srgbClr val="5499DE"/>
                        </a:solidFill>
                        <a:effectLst/>
                        <a:latin typeface="inherit"/>
                      </a:endParaRPr>
                    </a:p>
                    <a:p>
                      <a:pPr algn="ctr" fontAlgn="t"/>
                      <a:endParaRPr lang="en-US" sz="2800" b="0">
                        <a:solidFill>
                          <a:srgbClr val="5499DE"/>
                        </a:solidFill>
                        <a:effectLst/>
                        <a:latin typeface="inherit"/>
                      </a:endParaRPr>
                    </a:p>
                    <a:p>
                      <a:pPr algn="ctr" fontAlgn="t"/>
                      <a:r>
                        <a:rPr lang="en-US" sz="2800" b="0">
                          <a:solidFill>
                            <a:srgbClr val="317CC5"/>
                          </a:solidFill>
                          <a:effectLst/>
                          <a:latin typeface="inherit"/>
                        </a:rPr>
                        <a:t>2</a:t>
                      </a:r>
                    </a:p>
                    <a:p>
                      <a:pPr algn="ctr" fontAlgn="t"/>
                      <a:endParaRPr lang="en-US" sz="2800" b="0">
                        <a:solidFill>
                          <a:srgbClr val="317CC5"/>
                        </a:solidFill>
                        <a:effectLst/>
                        <a:latin typeface="inherit"/>
                      </a:endParaRPr>
                    </a:p>
                    <a:p>
                      <a:pPr algn="ctr" fontAlgn="t"/>
                      <a:r>
                        <a:rPr lang="en-US" sz="2800" b="0">
                          <a:solidFill>
                            <a:srgbClr val="5499DE"/>
                          </a:solidFill>
                          <a:effectLst/>
                          <a:latin typeface="inherit"/>
                        </a:rPr>
                        <a:t>3</a:t>
                      </a:r>
                    </a:p>
                    <a:p>
                      <a:pPr algn="ctr" fontAlgn="t"/>
                      <a:endParaRPr lang="en-US" sz="2800" b="0">
                        <a:solidFill>
                          <a:srgbClr val="5499DE"/>
                        </a:solidFill>
                        <a:effectLst/>
                        <a:latin typeface="inherit"/>
                      </a:endParaRPr>
                    </a:p>
                    <a:p>
                      <a:pPr algn="ctr" fontAlgn="t"/>
                      <a:r>
                        <a:rPr lang="en-US" sz="28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QWidget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QVBoxLayout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QStackedWidget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QLabel</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QPushButton</a:t>
                      </a:r>
                    </a:p>
                    <a:p>
                      <a:pPr algn="r" fontAlgn="t"/>
                      <a:endParaRPr lang="en-US" sz="2800" b="0">
                        <a:solidFill>
                          <a:srgbClr val="000000"/>
                        </a:solidFill>
                        <a:effectLst/>
                        <a:latin typeface="inherit"/>
                      </a:endParaRPr>
                    </a:p>
                    <a:p>
                      <a:pPr algn="l" fontAlgn="t"/>
                      <a:r>
                        <a:rPr lang="en-US" sz="2800" b="0">
                          <a:solidFill>
                            <a:srgbClr val="004ED0"/>
                          </a:solidFill>
                          <a:effectLst/>
                          <a:latin typeface="inherit"/>
                        </a:rPr>
                        <a:t>import sys</a:t>
                      </a:r>
                    </a:p>
                    <a:p>
                      <a:pPr algn="l" fontAlgn="t"/>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QtGui import QIcon</a:t>
                      </a:r>
                    </a:p>
                    <a:p>
                      <a:pPr algn="l" fontAlgn="t"/>
                      <a:endParaRPr lang="en-US" sz="2800" b="0">
                        <a:solidFill>
                          <a:srgbClr val="000000"/>
                        </a:solidFill>
                        <a:effectLst/>
                        <a:latin typeface="inherit"/>
                      </a:endParaRPr>
                    </a:p>
                    <a:p>
                      <a:pPr algn="l" fontAlgn="t"/>
                      <a:r>
                        <a:rPr lang="en-US" sz="2800" b="0">
                          <a:solidFill>
                            <a:srgbClr val="004ED0"/>
                          </a:solidFill>
                          <a:effectLst/>
                          <a:latin typeface="inherit"/>
                        </a:rPr>
                        <a:t>from PyQt5 import </a:t>
                      </a:r>
                      <a:r>
                        <a:rPr lang="en-US" sz="2800" b="0">
                          <a:solidFill>
                            <a:srgbClr val="002D7A"/>
                          </a:solidFill>
                          <a:effectLst/>
                          <a:latin typeface="inherit"/>
                        </a:rPr>
                        <a:t>QtGui</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3068440851"/>
                  </a:ext>
                </a:extLst>
              </a:tr>
            </a:tbl>
          </a:graphicData>
        </a:graphic>
      </p:graphicFrame>
      <p:sp>
        <p:nvSpPr>
          <p:cNvPr id="5" name="TextBox 4">
            <a:extLst>
              <a:ext uri="{FF2B5EF4-FFF2-40B4-BE49-F238E27FC236}">
                <a16:creationId xmlns:a16="http://schemas.microsoft.com/office/drawing/2014/main" id="{482761CB-2F3E-4658-8292-A395B52A9A66}"/>
              </a:ext>
            </a:extLst>
          </p:cNvPr>
          <p:cNvSpPr txBox="1"/>
          <p:nvPr/>
        </p:nvSpPr>
        <p:spPr>
          <a:xfrm>
            <a:off x="86264" y="1311215"/>
            <a:ext cx="6438622" cy="584775"/>
          </a:xfrm>
          <a:prstGeom prst="rect">
            <a:avLst/>
          </a:prstGeom>
          <a:noFill/>
        </p:spPr>
        <p:txBody>
          <a:bodyPr wrap="none" rtlCol="0">
            <a:spAutoFit/>
          </a:bodyPr>
          <a:lstStyle/>
          <a:p>
            <a:r>
              <a:rPr lang="en-US" sz="3200" i="1"/>
              <a:t>B</a:t>
            </a:r>
            <a:r>
              <a:rPr lang="vi-VN" sz="3200" i="1"/>
              <a:t>ư</a:t>
            </a:r>
            <a:r>
              <a:rPr lang="en-US" sz="3200" i="1"/>
              <a:t>ớc 1: import các th</a:t>
            </a:r>
            <a:r>
              <a:rPr lang="vi-VN" sz="3200" i="1"/>
              <a:t>ư</a:t>
            </a:r>
            <a:r>
              <a:rPr lang="en-US" sz="3200" i="1"/>
              <a:t> viện cần thiết</a:t>
            </a:r>
          </a:p>
        </p:txBody>
      </p:sp>
    </p:spTree>
    <p:extLst>
      <p:ext uri="{BB962C8B-B14F-4D97-AF65-F5344CB8AC3E}">
        <p14:creationId xmlns:p14="http://schemas.microsoft.com/office/powerpoint/2010/main" val="30765634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5F020-2F5E-4BB2-8202-0533D7065883}"/>
              </a:ext>
            </a:extLst>
          </p:cNvPr>
          <p:cNvSpPr>
            <a:spLocks noGrp="1"/>
          </p:cNvSpPr>
          <p:nvPr>
            <p:ph idx="1"/>
          </p:nvPr>
        </p:nvSpPr>
        <p:spPr>
          <a:xfrm>
            <a:off x="9624" y="638355"/>
            <a:ext cx="9134375" cy="6200395"/>
          </a:xfrm>
        </p:spPr>
        <p:txBody>
          <a:bodyPr>
            <a:normAutofit/>
          </a:bodyPr>
          <a:lstStyle/>
          <a:p>
            <a:pPr marL="0" indent="0" algn="just">
              <a:buNone/>
            </a:pPr>
            <a:r>
              <a:rPr lang="en-US" sz="2400"/>
              <a:t>B</a:t>
            </a:r>
            <a:r>
              <a:rPr lang="vi-VN" sz="2400"/>
              <a:t>ư</a:t>
            </a:r>
            <a:r>
              <a:rPr lang="en-US" sz="2400"/>
              <a:t>ớc 2: </a:t>
            </a:r>
            <a:r>
              <a:rPr lang="vi-VN" sz="2400"/>
              <a:t>tạo lớp Window và trong đó tạo một phương thức stackedWidget() và tạo một QVBoxLayout và trong đó tạo đối tượng QStackedWidget</a:t>
            </a:r>
            <a:endParaRPr lang="en-US" sz="2400"/>
          </a:p>
        </p:txBody>
      </p:sp>
      <p:sp>
        <p:nvSpPr>
          <p:cNvPr id="4" name="Title 1">
            <a:extLst>
              <a:ext uri="{FF2B5EF4-FFF2-40B4-BE49-F238E27FC236}">
                <a16:creationId xmlns:a16="http://schemas.microsoft.com/office/drawing/2014/main" id="{8662F477-0B2F-4621-AF8C-6E0CC7ABAAD1}"/>
              </a:ext>
            </a:extLst>
          </p:cNvPr>
          <p:cNvSpPr>
            <a:spLocks noGrp="1"/>
          </p:cNvSpPr>
          <p:nvPr>
            <p:ph type="title"/>
          </p:nvPr>
        </p:nvSpPr>
        <p:spPr>
          <a:xfrm>
            <a:off x="9624" y="19250"/>
            <a:ext cx="9134375" cy="619105"/>
          </a:xfrm>
        </p:spPr>
        <p:txBody>
          <a:bodyPr>
            <a:normAutofit fontScale="90000"/>
          </a:bodyPr>
          <a:lstStyle/>
          <a:p>
            <a:r>
              <a:rPr lang="en-US"/>
              <a:t>Cách tạo QStackdWidget trong PyQt5 (t.t)</a:t>
            </a:r>
          </a:p>
        </p:txBody>
      </p:sp>
      <p:sp>
        <p:nvSpPr>
          <p:cNvPr id="5" name="Rectangle 4">
            <a:extLst>
              <a:ext uri="{FF2B5EF4-FFF2-40B4-BE49-F238E27FC236}">
                <a16:creationId xmlns:a16="http://schemas.microsoft.com/office/drawing/2014/main" id="{57F89D23-E2C6-497A-AF79-78C629EA2B40}"/>
              </a:ext>
            </a:extLst>
          </p:cNvPr>
          <p:cNvSpPr/>
          <p:nvPr/>
        </p:nvSpPr>
        <p:spPr>
          <a:xfrm>
            <a:off x="9624" y="1649964"/>
            <a:ext cx="9124752" cy="5274264"/>
          </a:xfrm>
          <a:prstGeom prst="rect">
            <a:avLst/>
          </a:prstGeom>
        </p:spPr>
        <p:txBody>
          <a:bodyPr wrap="square">
            <a:spAutoFit/>
          </a:bodyPr>
          <a:lstStyle/>
          <a:p>
            <a:pPr>
              <a:lnSpc>
                <a:spcPct val="85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StackedWidget</a:t>
            </a:r>
            <a:r>
              <a:rPr lang="en-US">
                <a:solidFill>
                  <a:srgbClr val="333333"/>
                </a:solidFill>
                <a:latin typeface="inherit"/>
              </a:rPr>
              <a:t>(</a:t>
            </a:r>
            <a:r>
              <a:rPr lang="en-US">
                <a:solidFill>
                  <a:srgbClr val="002D7A"/>
                </a:solidFill>
                <a:latin typeface="inherit"/>
              </a:rPr>
              <a:t>QWidget</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highlight>
                  <a:srgbClr val="FFFF00"/>
                </a:highlight>
                <a:latin typeface="inherit"/>
              </a:rPr>
              <a:t>def __init__</a:t>
            </a:r>
            <a:r>
              <a:rPr lang="en-US">
                <a:solidFill>
                  <a:srgbClr val="333333"/>
                </a:solidFill>
                <a:highlight>
                  <a:srgbClr val="FFFF00"/>
                </a:highlight>
                <a:latin typeface="inherit"/>
              </a:rPr>
              <a:t>(</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6FE0"/>
                </a:solidFill>
                <a:highlight>
                  <a:srgbClr val="FFFF00"/>
                </a:highlight>
                <a:latin typeface="inherit"/>
              </a:rPr>
              <a:t>:</a:t>
            </a:r>
            <a:endParaRPr lang="en-US">
              <a:solidFill>
                <a:srgbClr val="000000"/>
              </a:solidFill>
              <a:highlight>
                <a:srgbClr val="FFFF00"/>
              </a:highlight>
              <a:latin typeface="Monaco"/>
            </a:endParaRPr>
          </a:p>
          <a:p>
            <a:pPr>
              <a:lnSpc>
                <a:spcPct val="8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super</a:t>
            </a:r>
            <a:r>
              <a:rPr lang="en-US">
                <a:solidFill>
                  <a:srgbClr val="333333"/>
                </a:solidFill>
                <a:highlight>
                  <a:srgbClr val="FFFF00"/>
                </a:highlight>
                <a:latin typeface="inherit"/>
              </a:rPr>
              <a:t>().</a:t>
            </a:r>
            <a:r>
              <a:rPr lang="en-US">
                <a:solidFill>
                  <a:srgbClr val="004ED0"/>
                </a:solidFill>
                <a:highlight>
                  <a:srgbClr val="FFFF00"/>
                </a:highlight>
                <a:latin typeface="inherit"/>
              </a:rPr>
              <a:t>__init__</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8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title</a:t>
            </a:r>
            <a:r>
              <a:rPr lang="en-US">
                <a:solidFill>
                  <a:srgbClr val="006FE0"/>
                </a:solidFill>
                <a:highlight>
                  <a:srgbClr val="FFFF00"/>
                </a:highlight>
                <a:latin typeface="inherit"/>
              </a:rPr>
              <a:t> = </a:t>
            </a:r>
            <a:r>
              <a:rPr lang="en-US">
                <a:solidFill>
                  <a:srgbClr val="008000"/>
                </a:solidFill>
                <a:highlight>
                  <a:srgbClr val="FFFF00"/>
                </a:highlight>
                <a:latin typeface="inherit"/>
              </a:rPr>
              <a:t>"PyQt5 StackedWidget"</a:t>
            </a:r>
            <a:endParaRPr lang="en-US">
              <a:solidFill>
                <a:srgbClr val="000000"/>
              </a:solidFill>
              <a:highlight>
                <a:srgbClr val="FFFF00"/>
              </a:highlight>
              <a:latin typeface="Monaco"/>
            </a:endParaRPr>
          </a:p>
          <a:p>
            <a:pPr>
              <a:lnSpc>
                <a:spcPct val="8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a:t>
            </a:r>
            <a:endParaRPr lang="en-US">
              <a:solidFill>
                <a:srgbClr val="000000"/>
              </a:solidFill>
              <a:highlight>
                <a:srgbClr val="FFFF00"/>
              </a:highlight>
              <a:latin typeface="Monaco"/>
            </a:endParaRPr>
          </a:p>
          <a:p>
            <a:pPr>
              <a:lnSpc>
                <a:spcPct val="8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4ED0"/>
                </a:solidFill>
                <a:highlight>
                  <a:srgbClr val="FFFF00"/>
                </a:highlight>
                <a:latin typeface="inherit"/>
              </a:rPr>
              <a:t>stackedWidget</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8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4ED0"/>
                </a:solidFill>
                <a:highlight>
                  <a:srgbClr val="FFFF00"/>
                </a:highlight>
                <a:latin typeface="inherit"/>
              </a:rPr>
              <a:t>show</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85000"/>
              </a:lnSpc>
            </a:pPr>
            <a:r>
              <a:rPr lang="en-US">
                <a:solidFill>
                  <a:srgbClr val="006FE0"/>
                </a:solidFill>
                <a:latin typeface="inherit"/>
              </a:rPr>
              <a:t>    </a:t>
            </a:r>
            <a:r>
              <a:rPr lang="en-US">
                <a:solidFill>
                  <a:srgbClr val="004ED0"/>
                </a:solidFill>
                <a:latin typeface="inherit"/>
              </a:rPr>
              <a:t>def stackedWidget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vbox</a:t>
            </a:r>
            <a:r>
              <a:rPr lang="en-US">
                <a:solidFill>
                  <a:srgbClr val="006FE0"/>
                </a:solidFill>
                <a:latin typeface="inherit"/>
              </a:rPr>
              <a:t> = </a:t>
            </a:r>
            <a:r>
              <a:rPr lang="en-US">
                <a:solidFill>
                  <a:srgbClr val="004ED0"/>
                </a:solidFill>
                <a:latin typeface="inherit"/>
              </a:rPr>
              <a:t>QVBoxLayout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stackedWidget</a:t>
            </a:r>
            <a:r>
              <a:rPr lang="en-US">
                <a:solidFill>
                  <a:srgbClr val="006FE0"/>
                </a:solidFill>
                <a:latin typeface="inherit"/>
              </a:rPr>
              <a:t> = </a:t>
            </a:r>
            <a:r>
              <a:rPr lang="en-US">
                <a:solidFill>
                  <a:srgbClr val="004ED0"/>
                </a:solidFill>
                <a:latin typeface="inherit"/>
              </a:rPr>
              <a:t>QStackedWidget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stackedWidget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for</a:t>
            </a:r>
            <a:r>
              <a:rPr lang="en-US">
                <a:solidFill>
                  <a:srgbClr val="006FE0"/>
                </a:solidFill>
                <a:latin typeface="inherit"/>
              </a:rPr>
              <a:t> </a:t>
            </a:r>
            <a:r>
              <a:rPr lang="en-US">
                <a:solidFill>
                  <a:srgbClr val="000000"/>
                </a:solidFill>
                <a:latin typeface="inherit"/>
              </a:rPr>
              <a:t>x</a:t>
            </a:r>
            <a:r>
              <a:rPr lang="en-US">
                <a:solidFill>
                  <a:srgbClr val="006FE0"/>
                </a:solidFill>
                <a:latin typeface="inherit"/>
              </a:rPr>
              <a:t> </a:t>
            </a:r>
            <a:r>
              <a:rPr lang="en-US">
                <a:solidFill>
                  <a:srgbClr val="800080"/>
                </a:solidFill>
                <a:latin typeface="inherit"/>
              </a:rPr>
              <a:t>in</a:t>
            </a:r>
            <a:r>
              <a:rPr lang="en-US">
                <a:solidFill>
                  <a:srgbClr val="006FE0"/>
                </a:solidFill>
                <a:latin typeface="inherit"/>
              </a:rPr>
              <a:t> </a:t>
            </a:r>
            <a:r>
              <a:rPr lang="en-US">
                <a:solidFill>
                  <a:srgbClr val="004ED0"/>
                </a:solidFill>
                <a:latin typeface="inherit"/>
              </a:rPr>
              <a:t>range</a:t>
            </a:r>
            <a:r>
              <a:rPr lang="en-US">
                <a:solidFill>
                  <a:srgbClr val="333333"/>
                </a:solidFill>
                <a:latin typeface="inherit"/>
              </a:rPr>
              <a:t>(</a:t>
            </a:r>
            <a:r>
              <a:rPr lang="en-US">
                <a:solidFill>
                  <a:srgbClr val="CE0000"/>
                </a:solidFill>
                <a:latin typeface="inherit"/>
              </a:rPr>
              <a:t>0</a:t>
            </a:r>
            <a:r>
              <a:rPr lang="en-US">
                <a:solidFill>
                  <a:srgbClr val="333333"/>
                </a:solidFill>
                <a:latin typeface="inherit"/>
              </a:rPr>
              <a:t>,</a:t>
            </a:r>
            <a:r>
              <a:rPr lang="en-US">
                <a:solidFill>
                  <a:srgbClr val="CE0000"/>
                </a:solidFill>
                <a:latin typeface="inherit"/>
              </a:rPr>
              <a:t>8</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label</a:t>
            </a:r>
            <a:r>
              <a:rPr lang="en-US">
                <a:solidFill>
                  <a:srgbClr val="006FE0"/>
                </a:solidFill>
                <a:latin typeface="inherit"/>
              </a:rPr>
              <a:t> = </a:t>
            </a:r>
            <a:r>
              <a:rPr lang="en-US">
                <a:solidFill>
                  <a:srgbClr val="004ED0"/>
                </a:solidFill>
                <a:latin typeface="inherit"/>
              </a:rPr>
              <a:t>QLabel</a:t>
            </a:r>
            <a:r>
              <a:rPr lang="en-US">
                <a:solidFill>
                  <a:srgbClr val="333333"/>
                </a:solidFill>
                <a:latin typeface="inherit"/>
              </a:rPr>
              <a:t>(</a:t>
            </a:r>
            <a:r>
              <a:rPr lang="en-US">
                <a:solidFill>
                  <a:srgbClr val="008000"/>
                </a:solidFill>
                <a:latin typeface="inherit"/>
              </a:rPr>
              <a:t>"Stacked Child: "</a:t>
            </a:r>
            <a:r>
              <a:rPr lang="en-US">
                <a:solidFill>
                  <a:srgbClr val="006FE0"/>
                </a:solidFill>
                <a:latin typeface="inherit"/>
              </a:rPr>
              <a:t> + </a:t>
            </a:r>
            <a:r>
              <a:rPr lang="en-US">
                <a:solidFill>
                  <a:srgbClr val="004ED0"/>
                </a:solidFill>
                <a:latin typeface="inherit"/>
              </a:rPr>
              <a:t>str</a:t>
            </a:r>
            <a:r>
              <a:rPr lang="en-US">
                <a:solidFill>
                  <a:srgbClr val="333333"/>
                </a:solidFill>
                <a:latin typeface="inherit"/>
              </a:rPr>
              <a:t>(</a:t>
            </a:r>
            <a:r>
              <a:rPr lang="en-US">
                <a:solidFill>
                  <a:srgbClr val="002D7A"/>
                </a:solidFill>
                <a:latin typeface="inherit"/>
              </a:rPr>
              <a:t>x</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setFont</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QFont</a:t>
            </a:r>
            <a:r>
              <a:rPr lang="en-US">
                <a:solidFill>
                  <a:srgbClr val="333333"/>
                </a:solidFill>
                <a:latin typeface="inherit"/>
              </a:rPr>
              <a:t>(</a:t>
            </a:r>
            <a:r>
              <a:rPr lang="en-US">
                <a:solidFill>
                  <a:srgbClr val="008000"/>
                </a:solidFill>
                <a:latin typeface="inherit"/>
              </a:rPr>
              <a:t>"sanserif"</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15</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setStyleSheet</a:t>
            </a:r>
            <a:r>
              <a:rPr lang="en-US">
                <a:solidFill>
                  <a:srgbClr val="333333"/>
                </a:solidFill>
                <a:latin typeface="inherit"/>
              </a:rPr>
              <a:t>(</a:t>
            </a:r>
            <a:r>
              <a:rPr lang="en-US">
                <a:solidFill>
                  <a:srgbClr val="008000"/>
                </a:solidFill>
                <a:latin typeface="inherit"/>
              </a:rPr>
              <a:t>'color:red'</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stackedWidget</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006FE0"/>
                </a:solidFill>
                <a:latin typeface="inherit"/>
              </a:rPr>
              <a:t> = </a:t>
            </a:r>
            <a:r>
              <a:rPr lang="en-US">
                <a:solidFill>
                  <a:srgbClr val="004ED0"/>
                </a:solidFill>
                <a:latin typeface="inherit"/>
              </a:rPr>
              <a:t>QPushButton</a:t>
            </a:r>
            <a:r>
              <a:rPr lang="en-US">
                <a:solidFill>
                  <a:srgbClr val="333333"/>
                </a:solidFill>
                <a:latin typeface="inherit"/>
              </a:rPr>
              <a:t>(</a:t>
            </a:r>
            <a:r>
              <a:rPr lang="en-US">
                <a:solidFill>
                  <a:srgbClr val="008000"/>
                </a:solidFill>
                <a:latin typeface="inherit"/>
              </a:rPr>
              <a:t>"Stack"</a:t>
            </a:r>
            <a:r>
              <a:rPr lang="en-US">
                <a:solidFill>
                  <a:srgbClr val="006FE0"/>
                </a:solidFill>
                <a:latin typeface="inherit"/>
              </a:rPr>
              <a:t> + </a:t>
            </a:r>
            <a:r>
              <a:rPr lang="en-US">
                <a:solidFill>
                  <a:srgbClr val="004ED0"/>
                </a:solidFill>
                <a:latin typeface="inherit"/>
              </a:rPr>
              <a:t>str</a:t>
            </a:r>
            <a:r>
              <a:rPr lang="en-US">
                <a:solidFill>
                  <a:srgbClr val="333333"/>
                </a:solidFill>
                <a:latin typeface="inherit"/>
              </a:rPr>
              <a:t>(</a:t>
            </a:r>
            <a:r>
              <a:rPr lang="en-US">
                <a:solidFill>
                  <a:srgbClr val="002D7A"/>
                </a:solidFill>
                <a:latin typeface="inherit"/>
              </a:rPr>
              <a:t>x</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4ED0"/>
                </a:solidFill>
                <a:latin typeface="inherit"/>
              </a:rPr>
              <a:t>setStyleSheet</a:t>
            </a:r>
            <a:r>
              <a:rPr lang="en-US">
                <a:solidFill>
                  <a:srgbClr val="333333"/>
                </a:solidFill>
                <a:latin typeface="inherit"/>
              </a:rPr>
              <a:t>(</a:t>
            </a:r>
            <a:r>
              <a:rPr lang="en-US">
                <a:solidFill>
                  <a:srgbClr val="008000"/>
                </a:solidFill>
                <a:latin typeface="inherit"/>
              </a:rPr>
              <a:t>'background-color:green'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2D7A"/>
                </a:solidFill>
                <a:latin typeface="inherit"/>
              </a:rPr>
              <a:t>page</a:t>
            </a:r>
            <a:r>
              <a:rPr lang="en-US">
                <a:solidFill>
                  <a:srgbClr val="006FE0"/>
                </a:solidFill>
                <a:latin typeface="inherit"/>
              </a:rPr>
              <a:t> = </a:t>
            </a:r>
            <a:r>
              <a:rPr lang="en-US">
                <a:solidFill>
                  <a:srgbClr val="000000"/>
                </a:solidFill>
                <a:latin typeface="inherit"/>
              </a:rPr>
              <a:t>x</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2D7A"/>
                </a:solidFill>
                <a:latin typeface="inherit"/>
              </a:rPr>
              <a:t>clicked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btn_clicked</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vbox</a:t>
            </a:r>
            <a:r>
              <a:rPr lang="en-US">
                <a:solidFill>
                  <a:srgbClr val="333333"/>
                </a:solidFill>
                <a:latin typeface="inherit"/>
              </a:rPr>
              <a:t>)</a:t>
            </a:r>
            <a:endParaRPr lang="en-US" b="0" i="0">
              <a:solidFill>
                <a:srgbClr val="000000"/>
              </a:solidFill>
              <a:effectLst/>
              <a:latin typeface="Monaco"/>
            </a:endParaRPr>
          </a:p>
        </p:txBody>
      </p:sp>
      <p:sp>
        <p:nvSpPr>
          <p:cNvPr id="6" name="Rectangle 5">
            <a:extLst>
              <a:ext uri="{FF2B5EF4-FFF2-40B4-BE49-F238E27FC236}">
                <a16:creationId xmlns:a16="http://schemas.microsoft.com/office/drawing/2014/main" id="{FA583AF5-67A9-4138-8DF1-DCE73A280A27}"/>
              </a:ext>
            </a:extLst>
          </p:cNvPr>
          <p:cNvSpPr/>
          <p:nvPr/>
        </p:nvSpPr>
        <p:spPr>
          <a:xfrm>
            <a:off x="4148307" y="2370810"/>
            <a:ext cx="4986069" cy="707886"/>
          </a:xfrm>
          <a:prstGeom prst="rect">
            <a:avLst/>
          </a:prstGeom>
        </p:spPr>
        <p:txBody>
          <a:bodyPr wrap="square">
            <a:spAutoFit/>
          </a:bodyPr>
          <a:lstStyle/>
          <a:p>
            <a:r>
              <a:rPr lang="en-US" sz="2000">
                <a:solidFill>
                  <a:srgbClr val="3A3A3A"/>
                </a:solidFill>
                <a:latin typeface="Arial" panose="020B0604020202020204" pitchFamily="34" charset="0"/>
              </a:rPr>
              <a:t>Sau đó, chúng ta tạo slot </a:t>
            </a:r>
            <a:r>
              <a:rPr lang="en-US" sz="2000"/>
              <a:t>btn_clicked</a:t>
            </a:r>
            <a:r>
              <a:rPr lang="en-US" sz="2000">
                <a:solidFill>
                  <a:srgbClr val="3A3A3A"/>
                </a:solidFill>
                <a:latin typeface="Arial" panose="020B0604020202020204" pitchFamily="34" charset="0"/>
              </a:rPr>
              <a:t>() vì cần kết nối nút đó với tín hiệu nút đã nhấp</a:t>
            </a:r>
            <a:endParaRPr lang="en-US" sz="2000"/>
          </a:p>
        </p:txBody>
      </p:sp>
      <p:sp>
        <p:nvSpPr>
          <p:cNvPr id="7" name="Rectangle 6">
            <a:extLst>
              <a:ext uri="{FF2B5EF4-FFF2-40B4-BE49-F238E27FC236}">
                <a16:creationId xmlns:a16="http://schemas.microsoft.com/office/drawing/2014/main" id="{58EAE67A-F63D-4241-92E3-D3BC0E9048AA}"/>
              </a:ext>
            </a:extLst>
          </p:cNvPr>
          <p:cNvSpPr/>
          <p:nvPr/>
        </p:nvSpPr>
        <p:spPr>
          <a:xfrm>
            <a:off x="4796287" y="3097636"/>
            <a:ext cx="4347713" cy="1200329"/>
          </a:xfrm>
          <a:prstGeom prst="rect">
            <a:avLst/>
          </a:prstGeom>
          <a:solidFill>
            <a:schemeClr val="accent4">
              <a:lumMod val="20000"/>
              <a:lumOff val="80000"/>
            </a:schemeClr>
          </a:solidFill>
        </p:spPr>
        <p:txBody>
          <a:bodyPr wrap="square">
            <a:spAutoFit/>
          </a:bodyPr>
          <a:lstStyle/>
          <a:p>
            <a:r>
              <a:rPr lang="en-US">
                <a:solidFill>
                  <a:srgbClr val="004ED0"/>
                </a:solidFill>
                <a:latin typeface="inherit"/>
              </a:rPr>
              <a:t>def btn_clicked</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sender</a:t>
            </a:r>
            <a:r>
              <a:rPr lang="en-US">
                <a:solidFill>
                  <a:srgbClr val="333333"/>
                </a:solidFill>
                <a:latin typeface="inherit"/>
              </a:rPr>
              <a:t>()</a:t>
            </a:r>
            <a:endParaRPr lang="en-US">
              <a:solidFill>
                <a:srgbClr val="000000"/>
              </a:solidFill>
              <a:latin typeface="Monaco"/>
            </a:endParaRPr>
          </a:p>
          <a:p>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stackedWidget</a:t>
            </a:r>
            <a:r>
              <a:rPr lang="en-US">
                <a:solidFill>
                  <a:srgbClr val="333333"/>
                </a:solidFill>
                <a:latin typeface="inherit"/>
              </a:rPr>
              <a:t>.</a:t>
            </a:r>
            <a:r>
              <a:rPr lang="en-US">
                <a:solidFill>
                  <a:srgbClr val="004ED0"/>
                </a:solidFill>
                <a:latin typeface="inherit"/>
              </a:rPr>
              <a:t>setCurrentIndex</a:t>
            </a:r>
            <a:r>
              <a:rPr lang="en-US">
                <a:solidFill>
                  <a:srgbClr val="333333"/>
                </a:solidFill>
                <a:latin typeface="inherit"/>
              </a:rPr>
              <a:t>(</a:t>
            </a:r>
          </a:p>
          <a:p>
            <a:pPr algn="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r>
              <a:rPr lang="en-US">
                <a:solidFill>
                  <a:srgbClr val="002D7A"/>
                </a:solidFill>
                <a:latin typeface="inherit"/>
              </a:rPr>
              <a:t>page</a:t>
            </a:r>
            <a:r>
              <a:rPr lang="en-US">
                <a:solidFill>
                  <a:srgbClr val="006FE0"/>
                </a:solidFill>
                <a:latin typeface="inherit"/>
              </a:rPr>
              <a:t> - </a:t>
            </a:r>
            <a:r>
              <a:rPr lang="en-US">
                <a:solidFill>
                  <a:srgbClr val="CE0000"/>
                </a:solidFill>
                <a:latin typeface="inherit"/>
              </a:rPr>
              <a:t>1</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38218428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06327-2883-49AF-8317-BAAB7171861A}"/>
              </a:ext>
            </a:extLst>
          </p:cNvPr>
          <p:cNvSpPr>
            <a:spLocks noGrp="1"/>
          </p:cNvSpPr>
          <p:nvPr>
            <p:ph idx="1"/>
          </p:nvPr>
        </p:nvSpPr>
        <p:spPr>
          <a:xfrm>
            <a:off x="9624" y="672859"/>
            <a:ext cx="9134375" cy="6200395"/>
          </a:xfrm>
        </p:spPr>
        <p:txBody>
          <a:bodyPr/>
          <a:lstStyle/>
          <a:p>
            <a:r>
              <a:rPr lang="vi-VN"/>
              <a:t>Cuối cùng, chúng ta tạo đối tượng QApplication</a:t>
            </a:r>
            <a:endParaRPr lang="en-US"/>
          </a:p>
        </p:txBody>
      </p:sp>
      <p:sp>
        <p:nvSpPr>
          <p:cNvPr id="4" name="Title 1">
            <a:extLst>
              <a:ext uri="{FF2B5EF4-FFF2-40B4-BE49-F238E27FC236}">
                <a16:creationId xmlns:a16="http://schemas.microsoft.com/office/drawing/2014/main" id="{6EBC3F93-9B8D-4D0A-982E-D995A4418687}"/>
              </a:ext>
            </a:extLst>
          </p:cNvPr>
          <p:cNvSpPr>
            <a:spLocks noGrp="1"/>
          </p:cNvSpPr>
          <p:nvPr>
            <p:ph type="title"/>
          </p:nvPr>
        </p:nvSpPr>
        <p:spPr>
          <a:xfrm>
            <a:off x="9624" y="19250"/>
            <a:ext cx="9134375" cy="619105"/>
          </a:xfrm>
        </p:spPr>
        <p:txBody>
          <a:bodyPr>
            <a:normAutofit fontScale="90000"/>
          </a:bodyPr>
          <a:lstStyle/>
          <a:p>
            <a:r>
              <a:rPr lang="en-US"/>
              <a:t>Cách tạo QStackdWidget trong PyQt5 (t.t)</a:t>
            </a:r>
          </a:p>
        </p:txBody>
      </p:sp>
      <p:sp>
        <p:nvSpPr>
          <p:cNvPr id="5" name="Rectangle 4">
            <a:extLst>
              <a:ext uri="{FF2B5EF4-FFF2-40B4-BE49-F238E27FC236}">
                <a16:creationId xmlns:a16="http://schemas.microsoft.com/office/drawing/2014/main" id="{2C3C8FBC-BD01-436C-86E3-070659378E53}"/>
              </a:ext>
            </a:extLst>
          </p:cNvPr>
          <p:cNvSpPr/>
          <p:nvPr/>
        </p:nvSpPr>
        <p:spPr>
          <a:xfrm>
            <a:off x="9624" y="1257459"/>
            <a:ext cx="3786996" cy="1200329"/>
          </a:xfrm>
          <a:prstGeom prst="rect">
            <a:avLst/>
          </a:prstGeom>
          <a:solidFill>
            <a:schemeClr val="accent4">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StackedWidget</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0242" name="Picture 2">
            <a:extLst>
              <a:ext uri="{FF2B5EF4-FFF2-40B4-BE49-F238E27FC236}">
                <a16:creationId xmlns:a16="http://schemas.microsoft.com/office/drawing/2014/main" id="{C1DE23A5-F1A0-40C8-A425-BC973F5F2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6164" y="1257459"/>
            <a:ext cx="4977692" cy="4962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6841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C0880-F0BF-49B6-B4E4-3B0DE0653F6E}"/>
              </a:ext>
            </a:extLst>
          </p:cNvPr>
          <p:cNvSpPr>
            <a:spLocks noGrp="1"/>
          </p:cNvSpPr>
          <p:nvPr>
            <p:ph type="title"/>
          </p:nvPr>
        </p:nvSpPr>
        <p:spPr>
          <a:xfrm>
            <a:off x="9624" y="19251"/>
            <a:ext cx="9134375" cy="765754"/>
          </a:xfrm>
        </p:spPr>
        <p:txBody>
          <a:bodyPr>
            <a:normAutofit/>
          </a:bodyPr>
          <a:lstStyle/>
          <a:p>
            <a:r>
              <a:rPr lang="en-US"/>
              <a:t>Cách tạo Widget DockAble trong PyQt5</a:t>
            </a:r>
          </a:p>
        </p:txBody>
      </p:sp>
      <p:sp>
        <p:nvSpPr>
          <p:cNvPr id="3" name="Content Placeholder 2">
            <a:extLst>
              <a:ext uri="{FF2B5EF4-FFF2-40B4-BE49-F238E27FC236}">
                <a16:creationId xmlns:a16="http://schemas.microsoft.com/office/drawing/2014/main" id="{80BEC20A-8007-443F-9369-2FD632EE1814}"/>
              </a:ext>
            </a:extLst>
          </p:cNvPr>
          <p:cNvSpPr>
            <a:spLocks noGrp="1"/>
          </p:cNvSpPr>
          <p:nvPr>
            <p:ph idx="1"/>
          </p:nvPr>
        </p:nvSpPr>
        <p:spPr>
          <a:xfrm>
            <a:off x="9624" y="854013"/>
            <a:ext cx="9134375" cy="6053745"/>
          </a:xfrm>
        </p:spPr>
        <p:txBody>
          <a:bodyPr/>
          <a:lstStyle/>
          <a:p>
            <a:pPr marL="0" indent="0">
              <a:buNone/>
            </a:pPr>
            <a:r>
              <a:rPr lang="vi-VN"/>
              <a:t>DockWidget cung cấp một widget có thể được neo bên trong cửa sổ chính hoặc được đặt trong</a:t>
            </a:r>
            <a:r>
              <a:rPr lang="en-US"/>
              <a:t> </a:t>
            </a:r>
            <a:r>
              <a:rPr lang="vi-VN"/>
              <a:t>cửa</a:t>
            </a:r>
            <a:r>
              <a:rPr lang="en-US"/>
              <a:t> </a:t>
            </a:r>
            <a:r>
              <a:rPr lang="vi-VN"/>
              <a:t>sổ</a:t>
            </a:r>
            <a:r>
              <a:rPr lang="en-US"/>
              <a:t> </a:t>
            </a:r>
            <a:r>
              <a:rPr lang="vi-VN"/>
              <a:t>riêng của nó. </a:t>
            </a:r>
            <a:r>
              <a:rPr lang="en-US"/>
              <a:t>W</a:t>
            </a:r>
            <a:r>
              <a:rPr lang="vi-VN"/>
              <a:t>idget </a:t>
            </a:r>
            <a:r>
              <a:rPr lang="en-US"/>
              <a:t>này </a:t>
            </a:r>
            <a:r>
              <a:rPr lang="vi-VN"/>
              <a:t>rất hữu ích để </a:t>
            </a:r>
            <a:r>
              <a:rPr lang="en-US"/>
              <a:t>giữ </a:t>
            </a:r>
            <a:r>
              <a:rPr lang="vi-VN"/>
              <a:t>các widget tách chúng khỏi giao diện chính. </a:t>
            </a:r>
            <a:endParaRPr lang="en-US"/>
          </a:p>
        </p:txBody>
      </p:sp>
      <p:graphicFrame>
        <p:nvGraphicFramePr>
          <p:cNvPr id="4" name="Table 3">
            <a:extLst>
              <a:ext uri="{FF2B5EF4-FFF2-40B4-BE49-F238E27FC236}">
                <a16:creationId xmlns:a16="http://schemas.microsoft.com/office/drawing/2014/main" id="{CBD70872-6B87-4526-94C6-8E52E1FB4A54}"/>
              </a:ext>
            </a:extLst>
          </p:cNvPr>
          <p:cNvGraphicFramePr>
            <a:graphicFrameLocks noGrp="1"/>
          </p:cNvGraphicFramePr>
          <p:nvPr>
            <p:extLst>
              <p:ext uri="{D42A27DB-BD31-4B8C-83A1-F6EECF244321}">
                <p14:modId xmlns:p14="http://schemas.microsoft.com/office/powerpoint/2010/main" val="4244652413"/>
              </p:ext>
            </p:extLst>
          </p:nvPr>
        </p:nvGraphicFramePr>
        <p:xfrm>
          <a:off x="9624" y="2889885"/>
          <a:ext cx="9134375" cy="2286000"/>
        </p:xfrm>
        <a:graphic>
          <a:graphicData uri="http://schemas.openxmlformats.org/drawingml/2006/table">
            <a:tbl>
              <a:tblPr/>
              <a:tblGrid>
                <a:gridCol w="697335">
                  <a:extLst>
                    <a:ext uri="{9D8B030D-6E8A-4147-A177-3AD203B41FA5}">
                      <a16:colId xmlns:a16="http://schemas.microsoft.com/office/drawing/2014/main" val="2162547296"/>
                    </a:ext>
                  </a:extLst>
                </a:gridCol>
                <a:gridCol w="8437040">
                  <a:extLst>
                    <a:ext uri="{9D8B030D-6E8A-4147-A177-3AD203B41FA5}">
                      <a16:colId xmlns:a16="http://schemas.microsoft.com/office/drawing/2014/main" val="2058818877"/>
                    </a:ext>
                  </a:extLst>
                </a:gridCol>
              </a:tblGrid>
              <a:tr h="0">
                <a:tc>
                  <a:txBody>
                    <a:bodyPr/>
                    <a:lstStyle/>
                    <a:p>
                      <a:pPr algn="ctr" fontAlgn="t"/>
                      <a:r>
                        <a:rPr lang="en-US" sz="2400" b="0">
                          <a:solidFill>
                            <a:srgbClr val="5499DE"/>
                          </a:solidFill>
                          <a:effectLst/>
                          <a:latin typeface="inherit"/>
                        </a:rPr>
                        <a:t>1</a:t>
                      </a:r>
                    </a:p>
                    <a:p>
                      <a:pPr algn="ctr" fontAlgn="t"/>
                      <a:endParaRPr lang="en-US" sz="2400" b="0">
                        <a:solidFill>
                          <a:srgbClr val="5499DE"/>
                        </a:solidFill>
                        <a:effectLst/>
                        <a:latin typeface="inherit"/>
                      </a:endParaRPr>
                    </a:p>
                    <a:p>
                      <a:pPr algn="ctr" fontAlgn="t"/>
                      <a:r>
                        <a:rPr lang="en-US" sz="2400" b="0">
                          <a:solidFill>
                            <a:srgbClr val="317CC5"/>
                          </a:solidFill>
                          <a:effectLst/>
                          <a:latin typeface="inherit"/>
                        </a:rPr>
                        <a:t>2</a:t>
                      </a: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p>
                      <a:pPr algn="ctr" fontAlgn="t"/>
                      <a:r>
                        <a:rPr lang="en-US" sz="2400" b="0">
                          <a:solidFill>
                            <a:srgbClr val="5499DE"/>
                          </a:solidFill>
                          <a:effectLst/>
                          <a:latin typeface="inherit"/>
                        </a:rPr>
                        <a:t>5</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QMainWindow</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QDockWidget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QListWidget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QTextEdit</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QIcon</a:t>
                      </a:r>
                      <a:endParaRPr lang="en-US" sz="2400" b="0">
                        <a:solidFill>
                          <a:srgbClr val="000000"/>
                        </a:solidFill>
                        <a:effectLst/>
                        <a:latin typeface="inherit"/>
                      </a:endParaRPr>
                    </a:p>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QtCore import </a:t>
                      </a:r>
                      <a:r>
                        <a:rPr lang="en-US" sz="2400" b="0">
                          <a:solidFill>
                            <a:srgbClr val="002D7A"/>
                          </a:solidFill>
                          <a:effectLst/>
                          <a:latin typeface="inherit"/>
                        </a:rPr>
                        <a:t>Qt</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321275279"/>
                  </a:ext>
                </a:extLst>
              </a:tr>
            </a:tbl>
          </a:graphicData>
        </a:graphic>
      </p:graphicFrame>
    </p:spTree>
    <p:extLst>
      <p:ext uri="{BB962C8B-B14F-4D97-AF65-F5344CB8AC3E}">
        <p14:creationId xmlns:p14="http://schemas.microsoft.com/office/powerpoint/2010/main" val="36069581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7D0C32-CB64-4849-8CE9-3414579BDD0A}"/>
              </a:ext>
            </a:extLst>
          </p:cNvPr>
          <p:cNvSpPr>
            <a:spLocks noGrp="1"/>
          </p:cNvSpPr>
          <p:nvPr>
            <p:ph idx="1"/>
          </p:nvPr>
        </p:nvSpPr>
        <p:spPr>
          <a:xfrm>
            <a:off x="9623" y="785005"/>
            <a:ext cx="3000995" cy="6053745"/>
          </a:xfrm>
        </p:spPr>
        <p:txBody>
          <a:bodyPr>
            <a:normAutofit/>
          </a:bodyPr>
          <a:lstStyle/>
          <a:p>
            <a:pPr marL="0" indent="0">
              <a:buNone/>
            </a:pPr>
            <a:r>
              <a:rPr lang="vi-VN" sz="2400"/>
              <a:t>Sau đó, ta sẽ tạo lớp cửa sổ chính và trong lớp đó ta cũng sẽ tạo</a:t>
            </a:r>
            <a:r>
              <a:rPr lang="en-US" sz="2400"/>
              <a:t> </a:t>
            </a:r>
            <a:r>
              <a:rPr lang="vi-VN" sz="2400"/>
              <a:t>phương thức createDockWidget()</a:t>
            </a:r>
          </a:p>
        </p:txBody>
      </p:sp>
      <p:sp>
        <p:nvSpPr>
          <p:cNvPr id="4" name="Title 1">
            <a:extLst>
              <a:ext uri="{FF2B5EF4-FFF2-40B4-BE49-F238E27FC236}">
                <a16:creationId xmlns:a16="http://schemas.microsoft.com/office/drawing/2014/main" id="{96CB7340-DBAD-4EE2-8FA7-1243ED43A235}"/>
              </a:ext>
            </a:extLst>
          </p:cNvPr>
          <p:cNvSpPr>
            <a:spLocks noGrp="1"/>
          </p:cNvSpPr>
          <p:nvPr>
            <p:ph type="title"/>
          </p:nvPr>
        </p:nvSpPr>
        <p:spPr>
          <a:xfrm>
            <a:off x="9624" y="19251"/>
            <a:ext cx="9134375" cy="765754"/>
          </a:xfrm>
        </p:spPr>
        <p:txBody>
          <a:bodyPr>
            <a:normAutofit/>
          </a:bodyPr>
          <a:lstStyle/>
          <a:p>
            <a:r>
              <a:rPr lang="en-US"/>
              <a:t>Cách tạo Widget DockAble trong PyQt5</a:t>
            </a:r>
          </a:p>
        </p:txBody>
      </p:sp>
      <p:sp>
        <p:nvSpPr>
          <p:cNvPr id="5" name="Rectangle 4">
            <a:extLst>
              <a:ext uri="{FF2B5EF4-FFF2-40B4-BE49-F238E27FC236}">
                <a16:creationId xmlns:a16="http://schemas.microsoft.com/office/drawing/2014/main" id="{5237B9FA-0F9A-43EA-80D9-0AA0CDBD9332}"/>
              </a:ext>
            </a:extLst>
          </p:cNvPr>
          <p:cNvSpPr/>
          <p:nvPr/>
        </p:nvSpPr>
        <p:spPr>
          <a:xfrm>
            <a:off x="2872596" y="785005"/>
            <a:ext cx="6271404" cy="5850063"/>
          </a:xfrm>
          <a:prstGeom prst="rect">
            <a:avLst/>
          </a:prstGeom>
          <a:solidFill>
            <a:schemeClr val="accent5">
              <a:lumMod val="20000"/>
              <a:lumOff val="80000"/>
            </a:schemeClr>
          </a:solidFill>
        </p:spPr>
        <p:txBody>
          <a:bodyPr wrap="square">
            <a:spAutoFit/>
          </a:bodyPr>
          <a:lstStyle/>
          <a:p>
            <a:pPr>
              <a:lnSpc>
                <a:spcPct val="85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DockDialog</a:t>
            </a:r>
            <a:r>
              <a:rPr lang="en-US" sz="2000">
                <a:solidFill>
                  <a:srgbClr val="333333"/>
                </a:solidFill>
                <a:latin typeface="inherit"/>
              </a:rPr>
              <a:t>(</a:t>
            </a:r>
            <a:r>
              <a:rPr lang="en-US" sz="2000">
                <a:solidFill>
                  <a:srgbClr val="002D7A"/>
                </a:solidFill>
                <a:latin typeface="inherit"/>
              </a:rPr>
              <a:t>QMainWindow</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StackedWidget"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createDockWidget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latin typeface="inherit"/>
              </a:rPr>
              <a:t>def createDockWidget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menubar</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menuBar</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file</a:t>
            </a:r>
            <a:r>
              <a:rPr lang="en-US" sz="2000">
                <a:solidFill>
                  <a:srgbClr val="006FE0"/>
                </a:solidFill>
                <a:latin typeface="inherit"/>
              </a:rPr>
              <a:t> = </a:t>
            </a:r>
            <a:r>
              <a:rPr lang="en-US" sz="2000">
                <a:solidFill>
                  <a:srgbClr val="002D7A"/>
                </a:solidFill>
                <a:latin typeface="inherit"/>
              </a:rPr>
              <a:t>menubar</a:t>
            </a:r>
            <a:r>
              <a:rPr lang="en-US" sz="2000">
                <a:solidFill>
                  <a:srgbClr val="333333"/>
                </a:solidFill>
                <a:latin typeface="inherit"/>
              </a:rPr>
              <a:t>.</a:t>
            </a:r>
            <a:r>
              <a:rPr lang="en-US" sz="2000">
                <a:solidFill>
                  <a:srgbClr val="004ED0"/>
                </a:solidFill>
                <a:latin typeface="inherit"/>
              </a:rPr>
              <a:t>addMenu</a:t>
            </a:r>
            <a:r>
              <a:rPr lang="en-US" sz="2000">
                <a:solidFill>
                  <a:srgbClr val="333333"/>
                </a:solidFill>
                <a:latin typeface="inherit"/>
              </a:rPr>
              <a:t>(</a:t>
            </a:r>
            <a:r>
              <a:rPr lang="en-US" sz="2000">
                <a:solidFill>
                  <a:srgbClr val="008000"/>
                </a:solidFill>
                <a:latin typeface="inherit"/>
              </a:rPr>
              <a:t>"File"</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file</a:t>
            </a:r>
            <a:r>
              <a:rPr lang="en-US" sz="2000">
                <a:solidFill>
                  <a:srgbClr val="333333"/>
                </a:solidFill>
                <a:latin typeface="inherit"/>
              </a:rPr>
              <a:t>.</a:t>
            </a:r>
            <a:r>
              <a:rPr lang="en-US" sz="2000">
                <a:solidFill>
                  <a:srgbClr val="004ED0"/>
                </a:solidFill>
                <a:latin typeface="inherit"/>
              </a:rPr>
              <a:t>addAction</a:t>
            </a:r>
            <a:r>
              <a:rPr lang="en-US" sz="2000">
                <a:solidFill>
                  <a:srgbClr val="333333"/>
                </a:solidFill>
                <a:latin typeface="inherit"/>
              </a:rPr>
              <a:t>(</a:t>
            </a:r>
            <a:r>
              <a:rPr lang="en-US" sz="2000">
                <a:solidFill>
                  <a:srgbClr val="008000"/>
                </a:solidFill>
                <a:latin typeface="inherit"/>
              </a:rPr>
              <a:t>"New"</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file</a:t>
            </a:r>
            <a:r>
              <a:rPr lang="en-US" sz="2000">
                <a:solidFill>
                  <a:srgbClr val="333333"/>
                </a:solidFill>
                <a:latin typeface="inherit"/>
              </a:rPr>
              <a:t>.</a:t>
            </a:r>
            <a:r>
              <a:rPr lang="en-US" sz="2000">
                <a:solidFill>
                  <a:srgbClr val="004ED0"/>
                </a:solidFill>
                <a:latin typeface="inherit"/>
              </a:rPr>
              <a:t>addAction</a:t>
            </a:r>
            <a:r>
              <a:rPr lang="en-US" sz="2000">
                <a:solidFill>
                  <a:srgbClr val="333333"/>
                </a:solidFill>
                <a:latin typeface="inherit"/>
              </a:rPr>
              <a:t>(</a:t>
            </a:r>
            <a:r>
              <a:rPr lang="en-US" sz="2000">
                <a:solidFill>
                  <a:srgbClr val="008000"/>
                </a:solidFill>
                <a:latin typeface="inherit"/>
              </a:rPr>
              <a:t>"Save"</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file</a:t>
            </a:r>
            <a:r>
              <a:rPr lang="en-US" sz="2000">
                <a:solidFill>
                  <a:srgbClr val="333333"/>
                </a:solidFill>
                <a:latin typeface="inherit"/>
              </a:rPr>
              <a:t>.</a:t>
            </a:r>
            <a:r>
              <a:rPr lang="en-US" sz="2000">
                <a:solidFill>
                  <a:srgbClr val="004ED0"/>
                </a:solidFill>
                <a:latin typeface="inherit"/>
              </a:rPr>
              <a:t>addAction</a:t>
            </a:r>
            <a:r>
              <a:rPr lang="en-US" sz="2000">
                <a:solidFill>
                  <a:srgbClr val="333333"/>
                </a:solidFill>
                <a:latin typeface="inherit"/>
              </a:rPr>
              <a:t>(</a:t>
            </a:r>
            <a:r>
              <a:rPr lang="en-US" sz="2000">
                <a:solidFill>
                  <a:srgbClr val="008000"/>
                </a:solidFill>
                <a:latin typeface="inherit"/>
              </a:rPr>
              <a:t>"Close"</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dock</a:t>
            </a:r>
            <a:r>
              <a:rPr lang="en-US" sz="2000">
                <a:solidFill>
                  <a:srgbClr val="006FE0"/>
                </a:solidFill>
                <a:latin typeface="inherit"/>
              </a:rPr>
              <a:t> = </a:t>
            </a:r>
            <a:r>
              <a:rPr lang="en-US" sz="2000">
                <a:solidFill>
                  <a:srgbClr val="004ED0"/>
                </a:solidFill>
                <a:latin typeface="inherit"/>
              </a:rPr>
              <a:t>QDockWidget</a:t>
            </a:r>
            <a:r>
              <a:rPr lang="en-US" sz="2000">
                <a:solidFill>
                  <a:srgbClr val="333333"/>
                </a:solidFill>
                <a:latin typeface="inherit"/>
              </a:rPr>
              <a:t>(</a:t>
            </a:r>
            <a:r>
              <a:rPr lang="en-US" sz="2000">
                <a:solidFill>
                  <a:srgbClr val="008000"/>
                </a:solidFill>
                <a:latin typeface="inherit"/>
              </a:rPr>
              <a:t>"Dockable"</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listWiget</a:t>
            </a:r>
            <a:r>
              <a:rPr lang="en-US" sz="2000">
                <a:solidFill>
                  <a:srgbClr val="006FE0"/>
                </a:solidFill>
                <a:latin typeface="inherit"/>
              </a:rPr>
              <a:t> = </a:t>
            </a:r>
            <a:r>
              <a:rPr lang="en-US" sz="2000">
                <a:solidFill>
                  <a:srgbClr val="004ED0"/>
                </a:solidFill>
                <a:latin typeface="inherit"/>
              </a:rPr>
              <a:t>QListWidget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list</a:t>
            </a:r>
            <a:r>
              <a:rPr lang="en-US" sz="2000">
                <a:solidFill>
                  <a:srgbClr val="006FE0"/>
                </a:solidFill>
                <a:latin typeface="inherit"/>
              </a:rPr>
              <a:t> = </a:t>
            </a:r>
            <a:r>
              <a:rPr lang="en-US" sz="2000">
                <a:solidFill>
                  <a:srgbClr val="333333"/>
                </a:solidFill>
                <a:latin typeface="inherit"/>
              </a:rPr>
              <a:t>[</a:t>
            </a:r>
            <a:r>
              <a:rPr lang="en-US" sz="2000">
                <a:solidFill>
                  <a:srgbClr val="008000"/>
                </a:solidFill>
                <a:latin typeface="inherit"/>
              </a:rPr>
              <a:t>"Python"</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"C++"</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"Java"</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"C#"</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listWiget</a:t>
            </a:r>
            <a:r>
              <a:rPr lang="en-US" sz="2000">
                <a:solidFill>
                  <a:srgbClr val="333333"/>
                </a:solidFill>
                <a:latin typeface="inherit"/>
              </a:rPr>
              <a:t>.</a:t>
            </a:r>
            <a:r>
              <a:rPr lang="en-US" sz="2000">
                <a:solidFill>
                  <a:srgbClr val="004ED0"/>
                </a:solidFill>
                <a:latin typeface="inherit"/>
              </a:rPr>
              <a:t>addItems</a:t>
            </a:r>
            <a:r>
              <a:rPr lang="en-US" sz="2000">
                <a:solidFill>
                  <a:srgbClr val="333333"/>
                </a:solidFill>
                <a:latin typeface="inherit"/>
              </a:rPr>
              <a:t>(</a:t>
            </a:r>
            <a:r>
              <a:rPr lang="en-US" sz="2000">
                <a:solidFill>
                  <a:srgbClr val="002D7A"/>
                </a:solidFill>
                <a:latin typeface="inherit"/>
              </a:rPr>
              <a:t>list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dock</a:t>
            </a:r>
            <a:r>
              <a:rPr lang="en-US" sz="2000">
                <a:solidFill>
                  <a:srgbClr val="333333"/>
                </a:solidFill>
                <a:latin typeface="inherit"/>
              </a:rPr>
              <a:t>.</a:t>
            </a:r>
            <a:r>
              <a:rPr lang="en-US" sz="2000">
                <a:solidFill>
                  <a:srgbClr val="004ED0"/>
                </a:solidFill>
                <a:latin typeface="inherit"/>
              </a:rPr>
              <a:t>setWidget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listWiget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B85C00"/>
                </a:solidFill>
                <a:latin typeface="inherit"/>
              </a:rPr>
              <a:t>#self.dock.setFloating(False)</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setCentralWidget</a:t>
            </a:r>
            <a:r>
              <a:rPr lang="en-US" sz="2000">
                <a:solidFill>
                  <a:srgbClr val="333333"/>
                </a:solidFill>
                <a:latin typeface="inherit"/>
              </a:rPr>
              <a:t>(</a:t>
            </a:r>
            <a:r>
              <a:rPr lang="en-US" sz="2000">
                <a:solidFill>
                  <a:srgbClr val="004ED0"/>
                </a:solidFill>
                <a:latin typeface="inherit"/>
              </a:rPr>
              <a:t>QTextEdit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addDockWidget</a:t>
            </a:r>
            <a:r>
              <a:rPr lang="en-US" sz="2000">
                <a:solidFill>
                  <a:srgbClr val="333333"/>
                </a:solidFill>
                <a:latin typeface="inherit"/>
              </a:rPr>
              <a:t>(</a:t>
            </a:r>
            <a:r>
              <a:rPr lang="en-US" sz="2000">
                <a:solidFill>
                  <a:srgbClr val="002D7A"/>
                </a:solidFill>
                <a:latin typeface="inherit"/>
              </a:rPr>
              <a:t>Qt</a:t>
            </a:r>
            <a:r>
              <a:rPr lang="en-US" sz="2000">
                <a:solidFill>
                  <a:srgbClr val="333333"/>
                </a:solidFill>
                <a:latin typeface="inherit"/>
              </a:rPr>
              <a:t>.</a:t>
            </a:r>
            <a:r>
              <a:rPr lang="en-US" sz="2000">
                <a:solidFill>
                  <a:srgbClr val="002D7A"/>
                </a:solidFill>
                <a:latin typeface="inherit"/>
              </a:rPr>
              <a:t>RightDockWidgetArea</a:t>
            </a:r>
            <a:r>
              <a:rPr lang="en-US" sz="2000">
                <a:solidFill>
                  <a:srgbClr val="333333"/>
                </a:solidFill>
                <a:latin typeface="inherit"/>
              </a:rPr>
              <a:t>,</a:t>
            </a:r>
          </a:p>
          <a:p>
            <a:pPr algn="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dock</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4C7C2AB2-4890-452A-B740-A7BFA243BFEC}"/>
              </a:ext>
            </a:extLst>
          </p:cNvPr>
          <p:cNvSpPr/>
          <p:nvPr/>
        </p:nvSpPr>
        <p:spPr>
          <a:xfrm>
            <a:off x="0" y="2782669"/>
            <a:ext cx="2812211" cy="923330"/>
          </a:xfrm>
          <a:prstGeom prst="rect">
            <a:avLst/>
          </a:prstGeom>
        </p:spPr>
        <p:txBody>
          <a:bodyPr wrap="square">
            <a:spAutoFit/>
          </a:bodyPr>
          <a:lstStyle/>
          <a:p>
            <a:r>
              <a:rPr lang="vi-VN">
                <a:solidFill>
                  <a:srgbClr val="3A3A3A"/>
                </a:solidFill>
              </a:rPr>
              <a:t>Cuối cùng, chúng ta tạo đối tượng QApplication và DockDialog</a:t>
            </a:r>
            <a:endParaRPr lang="en-US"/>
          </a:p>
        </p:txBody>
      </p:sp>
      <p:sp>
        <p:nvSpPr>
          <p:cNvPr id="7" name="Rectangle 6">
            <a:extLst>
              <a:ext uri="{FF2B5EF4-FFF2-40B4-BE49-F238E27FC236}">
                <a16:creationId xmlns:a16="http://schemas.microsoft.com/office/drawing/2014/main" id="{5C00638A-26B7-42B8-8A30-D42F4DC4DC89}"/>
              </a:ext>
            </a:extLst>
          </p:cNvPr>
          <p:cNvSpPr/>
          <p:nvPr/>
        </p:nvSpPr>
        <p:spPr>
          <a:xfrm>
            <a:off x="9622" y="3705999"/>
            <a:ext cx="3164899" cy="1015663"/>
          </a:xfrm>
          <a:prstGeom prst="rect">
            <a:avLst/>
          </a:prstGeom>
          <a:solidFill>
            <a:schemeClr val="accent4">
              <a:lumMod val="20000"/>
              <a:lumOff val="80000"/>
            </a:schemeClr>
          </a:solidFill>
        </p:spPr>
        <p:txBody>
          <a:bodyPr wrap="square">
            <a:spAutoFit/>
          </a:bodyPr>
          <a:lstStyle/>
          <a:p>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002D7A"/>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DockDialog</a:t>
            </a:r>
            <a:r>
              <a:rPr lang="en-US" sz="2000">
                <a:solidFill>
                  <a:srgbClr val="333333"/>
                </a:solidFill>
                <a:latin typeface="inherit"/>
              </a:rPr>
              <a:t>()</a:t>
            </a:r>
            <a:endParaRPr lang="en-US" sz="2000">
              <a:solidFill>
                <a:srgbClr val="000000"/>
              </a:solidFill>
              <a:latin typeface="Monaco"/>
            </a:endParaRPr>
          </a:p>
          <a:p>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004ED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21562322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4A6968C7-B6E4-4480-9FEB-9F83E60E91C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71743" y="785005"/>
            <a:ext cx="8556597" cy="585817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279E9E94-0DC9-4219-8FD6-DD46D5F05009}"/>
              </a:ext>
            </a:extLst>
          </p:cNvPr>
          <p:cNvSpPr>
            <a:spLocks noGrp="1"/>
          </p:cNvSpPr>
          <p:nvPr>
            <p:ph type="title"/>
          </p:nvPr>
        </p:nvSpPr>
        <p:spPr>
          <a:xfrm>
            <a:off x="9624" y="19251"/>
            <a:ext cx="9134375" cy="765754"/>
          </a:xfrm>
        </p:spPr>
        <p:txBody>
          <a:bodyPr>
            <a:normAutofit fontScale="90000"/>
          </a:bodyPr>
          <a:lstStyle/>
          <a:p>
            <a:r>
              <a:rPr lang="en-US"/>
              <a:t>Cách tạo Widget DockAble trong PyQt5 (t.t)</a:t>
            </a:r>
          </a:p>
        </p:txBody>
      </p:sp>
    </p:spTree>
    <p:extLst>
      <p:ext uri="{BB962C8B-B14F-4D97-AF65-F5344CB8AC3E}">
        <p14:creationId xmlns:p14="http://schemas.microsoft.com/office/powerpoint/2010/main" val="39089312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4EF48-E36C-4840-B9BA-63B6E8D4ED7D}"/>
              </a:ext>
            </a:extLst>
          </p:cNvPr>
          <p:cNvSpPr>
            <a:spLocks noGrp="1"/>
          </p:cNvSpPr>
          <p:nvPr>
            <p:ph type="title"/>
          </p:nvPr>
        </p:nvSpPr>
        <p:spPr>
          <a:xfrm>
            <a:off x="9624" y="19251"/>
            <a:ext cx="9134375" cy="722622"/>
          </a:xfrm>
        </p:spPr>
        <p:txBody>
          <a:bodyPr>
            <a:normAutofit/>
          </a:bodyPr>
          <a:lstStyle/>
          <a:p>
            <a:r>
              <a:rPr lang="en-US"/>
              <a:t>Cách tạo QComboBox trong PyQt5</a:t>
            </a:r>
          </a:p>
        </p:txBody>
      </p:sp>
      <p:sp>
        <p:nvSpPr>
          <p:cNvPr id="3" name="Content Placeholder 2">
            <a:extLst>
              <a:ext uri="{FF2B5EF4-FFF2-40B4-BE49-F238E27FC236}">
                <a16:creationId xmlns:a16="http://schemas.microsoft.com/office/drawing/2014/main" id="{4169CE63-EC56-4AE8-AB07-60D94D0E855A}"/>
              </a:ext>
            </a:extLst>
          </p:cNvPr>
          <p:cNvSpPr>
            <a:spLocks noGrp="1"/>
          </p:cNvSpPr>
          <p:nvPr>
            <p:ph idx="1"/>
          </p:nvPr>
        </p:nvSpPr>
        <p:spPr>
          <a:xfrm>
            <a:off x="9624" y="836759"/>
            <a:ext cx="9134375" cy="6096877"/>
          </a:xfrm>
        </p:spPr>
        <p:txBody>
          <a:bodyPr>
            <a:normAutofit/>
          </a:bodyPr>
          <a:lstStyle/>
          <a:p>
            <a:pPr marL="0" indent="0" algn="just">
              <a:buNone/>
            </a:pPr>
            <a:r>
              <a:rPr lang="en-US"/>
              <a:t>Phần này chúng ta tìm hiểu c</a:t>
            </a:r>
            <a:r>
              <a:rPr lang="vi-VN"/>
              <a:t>ách tạo QComboBox trong PyQt5</a:t>
            </a:r>
            <a:r>
              <a:rPr lang="en-US"/>
              <a:t>. </a:t>
            </a:r>
            <a:r>
              <a:rPr lang="vi-VN"/>
              <a:t>ComboBox cung cấp menu thả xuống được đính kèm với một nút, cung cấp danh sách các tùy chọn mà người dùng có thể chọn.</a:t>
            </a:r>
          </a:p>
        </p:txBody>
      </p:sp>
      <p:graphicFrame>
        <p:nvGraphicFramePr>
          <p:cNvPr id="4" name="Table 3">
            <a:extLst>
              <a:ext uri="{FF2B5EF4-FFF2-40B4-BE49-F238E27FC236}">
                <a16:creationId xmlns:a16="http://schemas.microsoft.com/office/drawing/2014/main" id="{9F8C3A10-0A1F-4E3D-BA9B-44E059B38043}"/>
              </a:ext>
            </a:extLst>
          </p:cNvPr>
          <p:cNvGraphicFramePr>
            <a:graphicFrameLocks noGrp="1"/>
          </p:cNvGraphicFramePr>
          <p:nvPr>
            <p:extLst>
              <p:ext uri="{D42A27DB-BD31-4B8C-83A1-F6EECF244321}">
                <p14:modId xmlns:p14="http://schemas.microsoft.com/office/powerpoint/2010/main" val="3429373864"/>
              </p:ext>
            </p:extLst>
          </p:nvPr>
        </p:nvGraphicFramePr>
        <p:xfrm>
          <a:off x="9624" y="3301365"/>
          <a:ext cx="9124751" cy="1798320"/>
        </p:xfrm>
        <a:graphic>
          <a:graphicData uri="http://schemas.openxmlformats.org/drawingml/2006/table">
            <a:tbl>
              <a:tblPr/>
              <a:tblGrid>
                <a:gridCol w="696601">
                  <a:extLst>
                    <a:ext uri="{9D8B030D-6E8A-4147-A177-3AD203B41FA5}">
                      <a16:colId xmlns:a16="http://schemas.microsoft.com/office/drawing/2014/main" val="4136494228"/>
                    </a:ext>
                  </a:extLst>
                </a:gridCol>
                <a:gridCol w="8428150">
                  <a:extLst>
                    <a:ext uri="{9D8B030D-6E8A-4147-A177-3AD203B41FA5}">
                      <a16:colId xmlns:a16="http://schemas.microsoft.com/office/drawing/2014/main" val="2573292311"/>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r>
                        <a:rPr lang="en-US" sz="28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QDialog</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QComboBox</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QVBoxLayout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QLabel</a:t>
                      </a:r>
                      <a:endParaRPr lang="en-US" sz="2800" b="0">
                        <a:solidFill>
                          <a:srgbClr val="000000"/>
                        </a:solidFill>
                        <a:effectLst/>
                        <a:latin typeface="inherit"/>
                      </a:endParaRPr>
                    </a:p>
                    <a:p>
                      <a:pPr algn="l" fontAlgn="t"/>
                      <a:r>
                        <a:rPr lang="en-US" sz="2800" b="0">
                          <a:solidFill>
                            <a:srgbClr val="004ED0"/>
                          </a:solidFill>
                          <a:effectLst/>
                          <a:latin typeface="inherit"/>
                        </a:rPr>
                        <a:t>import </a:t>
                      </a:r>
                      <a:r>
                        <a:rPr lang="en-US" sz="2800" b="0">
                          <a:solidFill>
                            <a:srgbClr val="002D7A"/>
                          </a:solidFill>
                          <a:effectLst/>
                          <a:latin typeface="inherit"/>
                        </a:rPr>
                        <a:t>sys</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1059915338"/>
                  </a:ext>
                </a:extLst>
              </a:tr>
            </a:tbl>
          </a:graphicData>
        </a:graphic>
      </p:graphicFrame>
    </p:spTree>
    <p:extLst>
      <p:ext uri="{BB962C8B-B14F-4D97-AF65-F5344CB8AC3E}">
        <p14:creationId xmlns:p14="http://schemas.microsoft.com/office/powerpoint/2010/main" val="1720763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D0BCC6-7B0D-4032-973C-12B6D69103FF}"/>
              </a:ext>
            </a:extLst>
          </p:cNvPr>
          <p:cNvSpPr>
            <a:spLocks noGrp="1"/>
          </p:cNvSpPr>
          <p:nvPr>
            <p:ph idx="1"/>
          </p:nvPr>
        </p:nvSpPr>
        <p:spPr>
          <a:xfrm>
            <a:off x="9625" y="741873"/>
            <a:ext cx="2724948" cy="6096877"/>
          </a:xfrm>
        </p:spPr>
        <p:txBody>
          <a:bodyPr>
            <a:normAutofit/>
          </a:bodyPr>
          <a:lstStyle/>
          <a:p>
            <a:pPr marL="0" indent="0">
              <a:buNone/>
            </a:pPr>
            <a:r>
              <a:rPr lang="vi-VN" sz="2000"/>
              <a:t>Sau đó, tạo lớp </a:t>
            </a:r>
            <a:r>
              <a:rPr lang="en-US" sz="2000"/>
              <a:t>Window </a:t>
            </a:r>
            <a:r>
              <a:rPr lang="vi-VN" sz="2000"/>
              <a:t>kế thừa từ Q</a:t>
            </a:r>
            <a:r>
              <a:rPr lang="en-US" sz="2000"/>
              <a:t>D</a:t>
            </a:r>
            <a:r>
              <a:rPr lang="vi-VN" sz="2000"/>
              <a:t>ialog và thêm các yêu cầu vào hàm tạo của lớp đó, </a:t>
            </a:r>
            <a:r>
              <a:rPr lang="en-US" sz="2000"/>
              <a:t>và </a:t>
            </a:r>
            <a:r>
              <a:rPr lang="vi-VN" sz="2000"/>
              <a:t>tạo phương thức initWindow(), </a:t>
            </a:r>
            <a:r>
              <a:rPr lang="en-US" sz="2000"/>
              <a:t>và tạo </a:t>
            </a:r>
            <a:r>
              <a:rPr lang="vi-VN" sz="2000"/>
              <a:t>QVBoxLayout bằng</a:t>
            </a:r>
            <a:r>
              <a:rPr lang="en-US" sz="2000"/>
              <a:t> </a:t>
            </a:r>
            <a:r>
              <a:rPr lang="vi-VN" sz="2000"/>
              <a:t>QComboBox.</a:t>
            </a:r>
            <a:r>
              <a:rPr lang="en-US" sz="2000"/>
              <a:t> N</a:t>
            </a:r>
            <a:r>
              <a:rPr lang="vi-VN" sz="2000"/>
              <a:t>goài ra, tạo một </a:t>
            </a:r>
            <a:r>
              <a:rPr lang="en-US" sz="2000"/>
              <a:t>slot </a:t>
            </a:r>
            <a:r>
              <a:rPr lang="vi-VN" sz="2000"/>
              <a:t>comboChanged() vì </a:t>
            </a:r>
            <a:r>
              <a:rPr lang="en-US" sz="2000"/>
              <a:t>cần </a:t>
            </a:r>
            <a:r>
              <a:rPr lang="vi-VN" sz="2000"/>
              <a:t>kết nối nó với </a:t>
            </a:r>
            <a:r>
              <a:rPr lang="en-US" sz="2000"/>
              <a:t>signal currentTextChanged của </a:t>
            </a:r>
            <a:r>
              <a:rPr lang="vi-VN" sz="2000"/>
              <a:t>QComboBox</a:t>
            </a:r>
            <a:endParaRPr lang="en-US" sz="2000"/>
          </a:p>
        </p:txBody>
      </p:sp>
      <p:sp>
        <p:nvSpPr>
          <p:cNvPr id="4" name="Title 1">
            <a:extLst>
              <a:ext uri="{FF2B5EF4-FFF2-40B4-BE49-F238E27FC236}">
                <a16:creationId xmlns:a16="http://schemas.microsoft.com/office/drawing/2014/main" id="{D2FE4D5E-C686-403A-8E61-D07F21EFA1EF}"/>
              </a:ext>
            </a:extLst>
          </p:cNvPr>
          <p:cNvSpPr>
            <a:spLocks noGrp="1"/>
          </p:cNvSpPr>
          <p:nvPr>
            <p:ph type="title"/>
          </p:nvPr>
        </p:nvSpPr>
        <p:spPr>
          <a:xfrm>
            <a:off x="9624" y="19251"/>
            <a:ext cx="9134375" cy="722622"/>
          </a:xfrm>
        </p:spPr>
        <p:txBody>
          <a:bodyPr>
            <a:normAutofit/>
          </a:bodyPr>
          <a:lstStyle/>
          <a:p>
            <a:r>
              <a:rPr lang="en-US"/>
              <a:t>Cách tạo QComboBox trong PyQt5 (t.t)</a:t>
            </a:r>
          </a:p>
        </p:txBody>
      </p:sp>
      <p:sp>
        <p:nvSpPr>
          <p:cNvPr id="5" name="Rectangle 4">
            <a:extLst>
              <a:ext uri="{FF2B5EF4-FFF2-40B4-BE49-F238E27FC236}">
                <a16:creationId xmlns:a16="http://schemas.microsoft.com/office/drawing/2014/main" id="{D3B1C423-306B-4BE2-B53C-22FFE6D1AE00}"/>
              </a:ext>
            </a:extLst>
          </p:cNvPr>
          <p:cNvSpPr/>
          <p:nvPr/>
        </p:nvSpPr>
        <p:spPr>
          <a:xfrm>
            <a:off x="2734573" y="741873"/>
            <a:ext cx="6409427" cy="5826210"/>
          </a:xfrm>
          <a:prstGeom prst="rect">
            <a:avLst/>
          </a:prstGeom>
        </p:spPr>
        <p:txBody>
          <a:bodyPr wrap="square">
            <a:spAutoFit/>
          </a:bodyPr>
          <a:lstStyle/>
          <a:p>
            <a:pPr>
              <a:lnSpc>
                <a:spcPct val="90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QDialog</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Combo Box"</a:t>
            </a:r>
            <a:endParaRPr lang="en-US">
              <a:solidFill>
                <a:srgbClr val="000000"/>
              </a:solidFill>
              <a:latin typeface="Monaco"/>
            </a:endParaRPr>
          </a:p>
          <a:p>
            <a:pPr lvl="1">
              <a:lnSpc>
                <a:spcPct val="90000"/>
              </a:lnSpc>
            </a:pP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InitWindow</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4ED0"/>
                </a:solidFill>
                <a:latin typeface="inherit"/>
              </a:rPr>
              <a:t>def InitWindow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vbox</a:t>
            </a:r>
            <a:r>
              <a:rPr lang="en-US">
                <a:solidFill>
                  <a:srgbClr val="006FE0"/>
                </a:solidFill>
                <a:latin typeface="inherit"/>
              </a:rPr>
              <a:t> = </a:t>
            </a:r>
            <a:r>
              <a:rPr lang="en-US">
                <a:solidFill>
                  <a:srgbClr val="004ED0"/>
                </a:solidFill>
                <a:latin typeface="inherit"/>
              </a:rPr>
              <a:t>QVBoxLayout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combo</a:t>
            </a:r>
            <a:r>
              <a:rPr lang="en-US">
                <a:solidFill>
                  <a:srgbClr val="006FE0"/>
                </a:solidFill>
                <a:latin typeface="inherit"/>
              </a:rPr>
              <a:t> = </a:t>
            </a:r>
            <a:r>
              <a:rPr lang="en-US">
                <a:solidFill>
                  <a:srgbClr val="004ED0"/>
                </a:solidFill>
                <a:latin typeface="inherit"/>
              </a:rPr>
              <a:t>QComboBox</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combo</a:t>
            </a:r>
            <a:r>
              <a:rPr lang="en-US">
                <a:solidFill>
                  <a:srgbClr val="333333"/>
                </a:solidFill>
                <a:latin typeface="inherit"/>
              </a:rPr>
              <a:t>.</a:t>
            </a:r>
            <a:r>
              <a:rPr lang="en-US">
                <a:solidFill>
                  <a:srgbClr val="004ED0"/>
                </a:solidFill>
                <a:latin typeface="inherit"/>
              </a:rPr>
              <a:t>addItem</a:t>
            </a:r>
            <a:r>
              <a:rPr lang="en-US">
                <a:solidFill>
                  <a:srgbClr val="333333"/>
                </a:solidFill>
                <a:latin typeface="inherit"/>
              </a:rPr>
              <a:t>(</a:t>
            </a:r>
            <a:r>
              <a:rPr lang="en-US">
                <a:solidFill>
                  <a:srgbClr val="008000"/>
                </a:solidFill>
                <a:latin typeface="inherit"/>
              </a:rPr>
              <a:t>"Python"</a:t>
            </a:r>
            <a:r>
              <a:rPr lang="en-US">
                <a:solidFill>
                  <a:srgbClr val="333333"/>
                </a:solidFill>
                <a:latin typeface="inherit"/>
              </a:rPr>
              <a:t>)</a:t>
            </a:r>
            <a:endParaRPr lang="en-US">
              <a:solidFill>
                <a:srgbClr val="000000"/>
              </a:solidFill>
              <a:latin typeface="Monaco"/>
            </a:endParaRPr>
          </a:p>
          <a:p>
            <a:pPr lvl="1">
              <a:lnSpc>
                <a:spcPct val="90000"/>
              </a:lnSpc>
            </a:pP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combo</a:t>
            </a:r>
            <a:r>
              <a:rPr lang="en-US">
                <a:solidFill>
                  <a:srgbClr val="333333"/>
                </a:solidFill>
                <a:latin typeface="inherit"/>
              </a:rPr>
              <a:t>.</a:t>
            </a:r>
            <a:r>
              <a:rPr lang="en-US">
                <a:solidFill>
                  <a:srgbClr val="002D7A"/>
                </a:solidFill>
                <a:latin typeface="inherit"/>
              </a:rPr>
              <a:t>currentTextChanged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comboChanged</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006FE0"/>
                </a:solidFill>
                <a:latin typeface="inherit"/>
              </a:rPr>
              <a:t> = </a:t>
            </a:r>
            <a:r>
              <a:rPr lang="en-US">
                <a:solidFill>
                  <a:srgbClr val="004ED0"/>
                </a:solidFill>
                <a:latin typeface="inherit"/>
              </a:rPr>
              <a:t>QLabel</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setFont</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QFont</a:t>
            </a:r>
            <a:r>
              <a:rPr lang="en-US">
                <a:solidFill>
                  <a:srgbClr val="333333"/>
                </a:solidFill>
                <a:latin typeface="inherit"/>
              </a:rPr>
              <a:t>(</a:t>
            </a:r>
            <a:r>
              <a:rPr lang="en-US">
                <a:solidFill>
                  <a:srgbClr val="008000"/>
                </a:solidFill>
                <a:latin typeface="inherit"/>
              </a:rPr>
              <a:t>"Sanserif"</a:t>
            </a:r>
            <a:r>
              <a:rPr lang="en-US">
                <a:solidFill>
                  <a:srgbClr val="333333"/>
                </a:solidFill>
                <a:latin typeface="inherit"/>
              </a:rPr>
              <a:t>,</a:t>
            </a:r>
            <a:r>
              <a:rPr lang="en-US">
                <a:solidFill>
                  <a:srgbClr val="006FE0"/>
                </a:solidFill>
                <a:latin typeface="inherit"/>
              </a:rPr>
              <a:t> </a:t>
            </a:r>
            <a:r>
              <a:rPr lang="en-US">
                <a:solidFill>
                  <a:srgbClr val="CE0000"/>
                </a:solidFill>
                <a:latin typeface="inherit"/>
              </a:rPr>
              <a:t>15</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setStyleSheet</a:t>
            </a:r>
            <a:r>
              <a:rPr lang="en-US">
                <a:solidFill>
                  <a:srgbClr val="333333"/>
                </a:solidFill>
                <a:latin typeface="inherit"/>
              </a:rPr>
              <a:t>(</a:t>
            </a:r>
            <a:r>
              <a:rPr lang="en-US">
                <a:solidFill>
                  <a:srgbClr val="008000"/>
                </a:solidFill>
                <a:latin typeface="inherit"/>
              </a:rPr>
              <a:t>'color:red'</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combo</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vbox</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4ED0"/>
                </a:solidFill>
                <a:latin typeface="inherit"/>
              </a:rPr>
              <a:t>def comboChanged</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text</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combo</a:t>
            </a:r>
            <a:r>
              <a:rPr lang="en-US">
                <a:solidFill>
                  <a:srgbClr val="333333"/>
                </a:solidFill>
                <a:latin typeface="inherit"/>
              </a:rPr>
              <a:t>.</a:t>
            </a:r>
            <a:r>
              <a:rPr lang="en-US">
                <a:solidFill>
                  <a:srgbClr val="004ED0"/>
                </a:solidFill>
                <a:latin typeface="inherit"/>
              </a:rPr>
              <a:t>currentText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label</a:t>
            </a:r>
            <a:r>
              <a:rPr lang="en-US">
                <a:solidFill>
                  <a:srgbClr val="333333"/>
                </a:solidFill>
                <a:latin typeface="inherit"/>
              </a:rPr>
              <a:t>.</a:t>
            </a:r>
            <a:r>
              <a:rPr lang="en-US">
                <a:solidFill>
                  <a:srgbClr val="004ED0"/>
                </a:solidFill>
                <a:latin typeface="inherit"/>
              </a:rPr>
              <a:t>setText</a:t>
            </a:r>
            <a:r>
              <a:rPr lang="en-US">
                <a:solidFill>
                  <a:srgbClr val="333333"/>
                </a:solidFill>
                <a:latin typeface="inherit"/>
              </a:rPr>
              <a:t>(</a:t>
            </a:r>
            <a:r>
              <a:rPr lang="en-US">
                <a:solidFill>
                  <a:srgbClr val="008000"/>
                </a:solidFill>
                <a:latin typeface="inherit"/>
              </a:rPr>
              <a:t>"You Have Selected : "</a:t>
            </a:r>
            <a:r>
              <a:rPr lang="en-US">
                <a:solidFill>
                  <a:srgbClr val="006FE0"/>
                </a:solidFill>
                <a:latin typeface="inherit"/>
              </a:rPr>
              <a:t> + </a:t>
            </a:r>
            <a:r>
              <a:rPr lang="en-US">
                <a:solidFill>
                  <a:srgbClr val="002D7A"/>
                </a:solidFill>
                <a:latin typeface="inherit"/>
              </a:rPr>
              <a:t>text</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16112597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F8C66-2CAD-4469-8502-1F82D02984F7}"/>
              </a:ext>
            </a:extLst>
          </p:cNvPr>
          <p:cNvSpPr>
            <a:spLocks noGrp="1"/>
          </p:cNvSpPr>
          <p:nvPr>
            <p:ph idx="1"/>
          </p:nvPr>
        </p:nvSpPr>
        <p:spPr>
          <a:xfrm>
            <a:off x="9624" y="741873"/>
            <a:ext cx="9134375" cy="6096877"/>
          </a:xfrm>
        </p:spPr>
        <p:txBody>
          <a:bodyPr>
            <a:normAutofit/>
          </a:bodyPr>
          <a:lstStyle/>
          <a:p>
            <a:pPr marL="0" indent="0">
              <a:buNone/>
            </a:pPr>
            <a:r>
              <a:rPr lang="vi-VN" sz="2400"/>
              <a:t>Cuối cùng, chúng ta tạo đối tượng của Window và QApplication</a:t>
            </a:r>
            <a:endParaRPr lang="en-US" sz="2400"/>
          </a:p>
        </p:txBody>
      </p:sp>
      <p:sp>
        <p:nvSpPr>
          <p:cNvPr id="4" name="Title 1">
            <a:extLst>
              <a:ext uri="{FF2B5EF4-FFF2-40B4-BE49-F238E27FC236}">
                <a16:creationId xmlns:a16="http://schemas.microsoft.com/office/drawing/2014/main" id="{62F6C7F1-65D8-4D07-8047-94DDFAE1550D}"/>
              </a:ext>
            </a:extLst>
          </p:cNvPr>
          <p:cNvSpPr>
            <a:spLocks noGrp="1"/>
          </p:cNvSpPr>
          <p:nvPr>
            <p:ph type="title"/>
          </p:nvPr>
        </p:nvSpPr>
        <p:spPr>
          <a:xfrm>
            <a:off x="9624" y="19251"/>
            <a:ext cx="9134375" cy="722622"/>
          </a:xfrm>
        </p:spPr>
        <p:txBody>
          <a:bodyPr>
            <a:normAutofit/>
          </a:bodyPr>
          <a:lstStyle/>
          <a:p>
            <a:r>
              <a:rPr lang="en-US"/>
              <a:t>Cách tạo QComboBox trong PyQt5 (t.t)</a:t>
            </a:r>
          </a:p>
        </p:txBody>
      </p:sp>
      <p:sp>
        <p:nvSpPr>
          <p:cNvPr id="6" name="Rectangle 5">
            <a:extLst>
              <a:ext uri="{FF2B5EF4-FFF2-40B4-BE49-F238E27FC236}">
                <a16:creationId xmlns:a16="http://schemas.microsoft.com/office/drawing/2014/main" id="{14C53B6D-A634-47CE-9DC3-DEFF3D84A95D}"/>
              </a:ext>
            </a:extLst>
          </p:cNvPr>
          <p:cNvSpPr/>
          <p:nvPr/>
        </p:nvSpPr>
        <p:spPr>
          <a:xfrm>
            <a:off x="189781" y="1155788"/>
            <a:ext cx="3812876" cy="1200329"/>
          </a:xfrm>
          <a:prstGeom prst="rect">
            <a:avLst/>
          </a:prstGeom>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6386" name="Picture 2">
            <a:extLst>
              <a:ext uri="{FF2B5EF4-FFF2-40B4-BE49-F238E27FC236}">
                <a16:creationId xmlns:a16="http://schemas.microsoft.com/office/drawing/2014/main" id="{C64D0614-95D0-4680-8983-BC20A2286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044" y="1755952"/>
            <a:ext cx="5637183" cy="2695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39643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02993-25B0-4EA1-8DA3-C9E3FC66E907}"/>
              </a:ext>
            </a:extLst>
          </p:cNvPr>
          <p:cNvSpPr>
            <a:spLocks noGrp="1"/>
          </p:cNvSpPr>
          <p:nvPr>
            <p:ph type="title"/>
          </p:nvPr>
        </p:nvSpPr>
        <p:spPr/>
        <p:txBody>
          <a:bodyPr>
            <a:normAutofit/>
          </a:bodyPr>
          <a:lstStyle/>
          <a:p>
            <a:r>
              <a:rPr lang="en-US"/>
              <a:t>Ví dụ về cách tạo QCompleter</a:t>
            </a:r>
          </a:p>
        </p:txBody>
      </p:sp>
      <p:sp>
        <p:nvSpPr>
          <p:cNvPr id="3" name="Content Placeholder 2">
            <a:extLst>
              <a:ext uri="{FF2B5EF4-FFF2-40B4-BE49-F238E27FC236}">
                <a16:creationId xmlns:a16="http://schemas.microsoft.com/office/drawing/2014/main" id="{2BB789D2-6441-417F-AE4E-593BE75541FD}"/>
              </a:ext>
            </a:extLst>
          </p:cNvPr>
          <p:cNvSpPr>
            <a:spLocks noGrp="1"/>
          </p:cNvSpPr>
          <p:nvPr>
            <p:ph idx="1"/>
          </p:nvPr>
        </p:nvSpPr>
        <p:spPr/>
        <p:txBody>
          <a:bodyPr/>
          <a:lstStyle/>
          <a:p>
            <a:r>
              <a:rPr lang="en-US"/>
              <a:t>Phần này chúng ta tìm hiểu cách </a:t>
            </a:r>
            <a:r>
              <a:rPr lang="vi-VN"/>
              <a:t>hiển thị QCompleter trong PyQt5</a:t>
            </a:r>
          </a:p>
          <a:p>
            <a:r>
              <a:rPr lang="vi-VN"/>
              <a:t>Các đối tượng được sử dụng để cung cấp tính năng tự động hoàn tất </a:t>
            </a:r>
            <a:r>
              <a:rPr lang="en-US"/>
              <a:t>(auto-completions) </a:t>
            </a:r>
            <a:r>
              <a:rPr lang="vi-VN"/>
              <a:t>khi văn bản được nhập vào một số </a:t>
            </a:r>
            <a:r>
              <a:rPr lang="en-US"/>
              <a:t>widget </a:t>
            </a:r>
            <a:r>
              <a:rPr lang="vi-VN"/>
              <a:t>như LineEdit</a:t>
            </a:r>
            <a:r>
              <a:rPr lang="en-US"/>
              <a:t> </a:t>
            </a:r>
            <a:r>
              <a:rPr lang="vi-VN"/>
              <a:t>hoặc</a:t>
            </a:r>
            <a:r>
              <a:rPr lang="en-US"/>
              <a:t> </a:t>
            </a:r>
            <a:r>
              <a:rPr lang="vi-VN"/>
              <a:t>ComboBox.</a:t>
            </a:r>
            <a:r>
              <a:rPr lang="en-US"/>
              <a:t> </a:t>
            </a:r>
            <a:r>
              <a:rPr lang="vi-VN"/>
              <a:t>Khi người dùng bắt đầu nhập, nội dung mô hình được </a:t>
            </a:r>
            <a:r>
              <a:rPr lang="en-US"/>
              <a:t>so </a:t>
            </a:r>
            <a:r>
              <a:rPr lang="vi-VN"/>
              <a:t>khớp và đề xuất được cung cấp.</a:t>
            </a:r>
          </a:p>
        </p:txBody>
      </p:sp>
      <p:graphicFrame>
        <p:nvGraphicFramePr>
          <p:cNvPr id="4" name="Table 3">
            <a:extLst>
              <a:ext uri="{FF2B5EF4-FFF2-40B4-BE49-F238E27FC236}">
                <a16:creationId xmlns:a16="http://schemas.microsoft.com/office/drawing/2014/main" id="{2B7767E3-9A2F-4B37-8F76-8F6276C4E2D5}"/>
              </a:ext>
            </a:extLst>
          </p:cNvPr>
          <p:cNvGraphicFramePr>
            <a:graphicFrameLocks noGrp="1"/>
          </p:cNvGraphicFramePr>
          <p:nvPr>
            <p:extLst>
              <p:ext uri="{D42A27DB-BD31-4B8C-83A1-F6EECF244321}">
                <p14:modId xmlns:p14="http://schemas.microsoft.com/office/powerpoint/2010/main" val="976063778"/>
              </p:ext>
            </p:extLst>
          </p:nvPr>
        </p:nvGraphicFramePr>
        <p:xfrm>
          <a:off x="0" y="4350618"/>
          <a:ext cx="9134376" cy="1798320"/>
        </p:xfrm>
        <a:graphic>
          <a:graphicData uri="http://schemas.openxmlformats.org/drawingml/2006/table">
            <a:tbl>
              <a:tblPr/>
              <a:tblGrid>
                <a:gridCol w="697335">
                  <a:extLst>
                    <a:ext uri="{9D8B030D-6E8A-4147-A177-3AD203B41FA5}">
                      <a16:colId xmlns:a16="http://schemas.microsoft.com/office/drawing/2014/main" val="4152816016"/>
                    </a:ext>
                  </a:extLst>
                </a:gridCol>
                <a:gridCol w="8437041">
                  <a:extLst>
                    <a:ext uri="{9D8B030D-6E8A-4147-A177-3AD203B41FA5}">
                      <a16:colId xmlns:a16="http://schemas.microsoft.com/office/drawing/2014/main" val="1963477312"/>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r>
                        <a:rPr lang="en-US" sz="28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QDialog</a:t>
                      </a:r>
                      <a:r>
                        <a:rPr lang="en-US" sz="2800" b="0">
                          <a:solidFill>
                            <a:srgbClr val="333333"/>
                          </a:solidFill>
                          <a:effectLst/>
                          <a:latin typeface="inherit"/>
                        </a:rPr>
                        <a:t>,</a:t>
                      </a:r>
                      <a:r>
                        <a:rPr lang="en-US" sz="2800" b="0">
                          <a:solidFill>
                            <a:srgbClr val="006FE0"/>
                          </a:solidFill>
                          <a:effectLst/>
                          <a:latin typeface="inherit"/>
                        </a:rPr>
                        <a:t> </a:t>
                      </a:r>
                    </a:p>
                    <a:p>
                      <a:pPr algn="r" fontAlgn="t"/>
                      <a:r>
                        <a:rPr lang="en-US" sz="2800" b="0">
                          <a:solidFill>
                            <a:srgbClr val="002D7A"/>
                          </a:solidFill>
                          <a:effectLst/>
                          <a:latin typeface="inherit"/>
                        </a:rPr>
                        <a:t>QVBoxLayout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QCompleter</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QLineEdit</a:t>
                      </a:r>
                      <a:endParaRPr lang="en-US" sz="2800" b="0">
                        <a:solidFill>
                          <a:srgbClr val="000000"/>
                        </a:solidFill>
                        <a:effectLst/>
                        <a:latin typeface="inherit"/>
                      </a:endParaRPr>
                    </a:p>
                    <a:p>
                      <a:pPr algn="l" fontAlgn="t"/>
                      <a:r>
                        <a:rPr lang="en-US" sz="2800" b="0">
                          <a:solidFill>
                            <a:srgbClr val="004ED0"/>
                          </a:solidFill>
                          <a:effectLst/>
                          <a:latin typeface="inherit"/>
                        </a:rPr>
                        <a:t>import </a:t>
                      </a:r>
                      <a:r>
                        <a:rPr lang="en-US" sz="2800" b="0">
                          <a:solidFill>
                            <a:srgbClr val="002D7A"/>
                          </a:solidFill>
                          <a:effectLst/>
                          <a:latin typeface="inherit"/>
                        </a:rPr>
                        <a:t>sys</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1559100198"/>
                  </a:ext>
                </a:extLst>
              </a:tr>
            </a:tbl>
          </a:graphicData>
        </a:graphic>
      </p:graphicFrame>
    </p:spTree>
    <p:extLst>
      <p:ext uri="{BB962C8B-B14F-4D97-AF65-F5344CB8AC3E}">
        <p14:creationId xmlns:p14="http://schemas.microsoft.com/office/powerpoint/2010/main" val="7419986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80A6A-83D3-4575-9C4A-1A1379584933}"/>
              </a:ext>
            </a:extLst>
          </p:cNvPr>
          <p:cNvSpPr>
            <a:spLocks noGrp="1"/>
          </p:cNvSpPr>
          <p:nvPr>
            <p:ph idx="1"/>
          </p:nvPr>
        </p:nvSpPr>
        <p:spPr>
          <a:xfrm>
            <a:off x="9624" y="759125"/>
            <a:ext cx="2888851" cy="6079625"/>
          </a:xfrm>
        </p:spPr>
        <p:txBody>
          <a:bodyPr>
            <a:normAutofit/>
          </a:bodyPr>
          <a:lstStyle/>
          <a:p>
            <a:pPr marL="0" indent="0">
              <a:buNone/>
            </a:pPr>
            <a:r>
              <a:rPr lang="en-US" sz="2400"/>
              <a:t>Kế tiếp</a:t>
            </a:r>
            <a:r>
              <a:rPr lang="vi-VN" sz="2400"/>
              <a:t>, ta sẽ hoàn </a:t>
            </a:r>
            <a:r>
              <a:rPr lang="en-US" sz="2400"/>
              <a:t>tất </a:t>
            </a:r>
            <a:r>
              <a:rPr lang="vi-VN" sz="2400"/>
              <a:t>lớp Window kế thừa từ Q</a:t>
            </a:r>
            <a:r>
              <a:rPr lang="en-US" sz="2400"/>
              <a:t>D</a:t>
            </a:r>
            <a:r>
              <a:rPr lang="vi-VN" sz="2400"/>
              <a:t>ialog. và trong hàm tạo của lớp đó, thêm </a:t>
            </a:r>
            <a:r>
              <a:rPr lang="en-US" sz="2400"/>
              <a:t>vào </a:t>
            </a:r>
            <a:r>
              <a:rPr lang="vi-VN" sz="2400"/>
              <a:t>một số yêu cầu từ cửa sổ và tạo hai phương thức trong lớp đó, phương thức thứ nhất là initWindow () để khởi tạo cửa sổ và phương thức thứ hai là phương thức Completeer() mà ta </a:t>
            </a:r>
            <a:r>
              <a:rPr lang="en-US" sz="2400"/>
              <a:t>cần </a:t>
            </a:r>
            <a:r>
              <a:rPr lang="vi-VN" sz="2400"/>
              <a:t>tạo QCompleter </a:t>
            </a:r>
            <a:r>
              <a:rPr lang="en-US" sz="2400"/>
              <a:t>trong </a:t>
            </a:r>
            <a:r>
              <a:rPr lang="vi-VN" sz="2400"/>
              <a:t>đó</a:t>
            </a:r>
            <a:endParaRPr lang="en-US" sz="2400"/>
          </a:p>
        </p:txBody>
      </p:sp>
      <p:sp>
        <p:nvSpPr>
          <p:cNvPr id="4" name="Title 1">
            <a:extLst>
              <a:ext uri="{FF2B5EF4-FFF2-40B4-BE49-F238E27FC236}">
                <a16:creationId xmlns:a16="http://schemas.microsoft.com/office/drawing/2014/main" id="{31558FD6-3B0E-4312-A4B1-19D2EF51DD98}"/>
              </a:ext>
            </a:extLst>
          </p:cNvPr>
          <p:cNvSpPr>
            <a:spLocks noGrp="1"/>
          </p:cNvSpPr>
          <p:nvPr>
            <p:ph type="title"/>
          </p:nvPr>
        </p:nvSpPr>
        <p:spPr>
          <a:xfrm>
            <a:off x="9624" y="19250"/>
            <a:ext cx="9134375" cy="739875"/>
          </a:xfrm>
        </p:spPr>
        <p:txBody>
          <a:bodyPr>
            <a:normAutofit/>
          </a:bodyPr>
          <a:lstStyle/>
          <a:p>
            <a:r>
              <a:rPr lang="en-US"/>
              <a:t>Ví dụ về cách tạo QCompleter (t.t)</a:t>
            </a:r>
          </a:p>
        </p:txBody>
      </p:sp>
      <p:sp>
        <p:nvSpPr>
          <p:cNvPr id="5" name="Rectangle 4">
            <a:extLst>
              <a:ext uri="{FF2B5EF4-FFF2-40B4-BE49-F238E27FC236}">
                <a16:creationId xmlns:a16="http://schemas.microsoft.com/office/drawing/2014/main" id="{6F39EF9A-1526-4575-919F-268810DDA672}"/>
              </a:ext>
            </a:extLst>
          </p:cNvPr>
          <p:cNvSpPr/>
          <p:nvPr/>
        </p:nvSpPr>
        <p:spPr>
          <a:xfrm>
            <a:off x="2937293" y="759125"/>
            <a:ext cx="6167887" cy="6075509"/>
          </a:xfrm>
          <a:prstGeom prst="rect">
            <a:avLst/>
          </a:prstGeom>
          <a:solidFill>
            <a:schemeClr val="accent4">
              <a:lumMod val="20000"/>
              <a:lumOff val="80000"/>
            </a:schemeClr>
          </a:solidFill>
        </p:spPr>
        <p:txBody>
          <a:bodyPr wrap="square">
            <a:spAutoFit/>
          </a:bodyPr>
          <a:lstStyle/>
          <a:p>
            <a:pPr>
              <a:lnSpc>
                <a:spcPct val="90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Window</a:t>
            </a:r>
            <a:r>
              <a:rPr lang="en-US">
                <a:solidFill>
                  <a:srgbClr val="333333"/>
                </a:solidFill>
                <a:latin typeface="inherit"/>
              </a:rPr>
              <a:t>(</a:t>
            </a:r>
            <a:r>
              <a:rPr lang="en-US">
                <a:solidFill>
                  <a:srgbClr val="002D7A"/>
                </a:solidFill>
                <a:latin typeface="inherit"/>
              </a:rPr>
              <a:t>QDialog</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"PyQt5 QCompleter"</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006FE0"/>
                </a:solidFill>
                <a:latin typeface="inherit"/>
              </a:rPr>
              <a:t> = </a:t>
            </a:r>
            <a:r>
              <a:rPr lang="en-US">
                <a:solidFill>
                  <a:srgbClr val="CE0000"/>
                </a:solidFill>
                <a:latin typeface="inherit"/>
              </a:rPr>
              <a:t>200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006FE0"/>
                </a:solidFill>
                <a:latin typeface="inherit"/>
              </a:rPr>
              <a:t> = </a:t>
            </a:r>
            <a:r>
              <a:rPr lang="en-US">
                <a:solidFill>
                  <a:srgbClr val="CE0000"/>
                </a:solidFill>
                <a:latin typeface="inherit"/>
              </a:rPr>
              <a:t>500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006FE0"/>
                </a:solidFill>
                <a:latin typeface="inherit"/>
              </a:rPr>
              <a:t> = </a:t>
            </a:r>
            <a:r>
              <a:rPr lang="en-US">
                <a:solidFill>
                  <a:srgbClr val="CE0000"/>
                </a:solidFill>
                <a:latin typeface="inherit"/>
              </a:rPr>
              <a:t>300</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006FE0"/>
                </a:solidFill>
                <a:latin typeface="inherit"/>
              </a:rPr>
              <a:t> = </a:t>
            </a:r>
            <a:r>
              <a:rPr lang="en-US">
                <a:solidFill>
                  <a:srgbClr val="CE0000"/>
                </a:solidFill>
                <a:latin typeface="inherit"/>
              </a:rPr>
              <a:t>200</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InitWindow</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004ED0"/>
                </a:solidFill>
                <a:latin typeface="inherit"/>
              </a:rPr>
              <a:t>def InitWindow</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"icon.png"</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setWindowTitle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setGeometry</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left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top</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width</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height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Completer</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show</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004ED0"/>
                </a:solidFill>
                <a:latin typeface="inherit"/>
              </a:rPr>
              <a:t>def Completer</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vbox</a:t>
            </a:r>
            <a:r>
              <a:rPr lang="en-US">
                <a:solidFill>
                  <a:srgbClr val="006FE0"/>
                </a:solidFill>
                <a:latin typeface="inherit"/>
              </a:rPr>
              <a:t> = </a:t>
            </a:r>
            <a:r>
              <a:rPr lang="en-US">
                <a:solidFill>
                  <a:srgbClr val="004ED0"/>
                </a:solidFill>
                <a:latin typeface="inherit"/>
              </a:rPr>
              <a:t>QVBoxLayout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002D7A"/>
                </a:solidFill>
                <a:latin typeface="inherit"/>
              </a:rPr>
              <a:t>names</a:t>
            </a:r>
            <a:r>
              <a:rPr lang="en-US">
                <a:solidFill>
                  <a:srgbClr val="006FE0"/>
                </a:solidFill>
                <a:latin typeface="inherit"/>
              </a:rPr>
              <a:t> = </a:t>
            </a:r>
            <a:r>
              <a:rPr lang="en-US">
                <a:solidFill>
                  <a:srgbClr val="333333"/>
                </a:solidFill>
                <a:latin typeface="inherit"/>
              </a:rPr>
              <a:t>[</a:t>
            </a:r>
            <a:r>
              <a:rPr lang="en-US">
                <a:solidFill>
                  <a:srgbClr val="008000"/>
                </a:solidFill>
                <a:latin typeface="inherit"/>
              </a:rPr>
              <a:t>"Afghanistan"</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"India"</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"Pakistan"</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"Japan"</a:t>
            </a:r>
            <a:r>
              <a:rPr lang="en-US">
                <a:solidFill>
                  <a:srgbClr val="333333"/>
                </a:solidFill>
                <a:latin typeface="inherit"/>
              </a:rPr>
              <a:t>,</a:t>
            </a:r>
          </a:p>
          <a:p>
            <a:pPr algn="r">
              <a:lnSpc>
                <a:spcPct val="90000"/>
              </a:lnSpc>
            </a:pPr>
            <a:r>
              <a:rPr lang="en-US">
                <a:solidFill>
                  <a:srgbClr val="006FE0"/>
                </a:solidFill>
                <a:latin typeface="inherit"/>
              </a:rPr>
              <a:t> </a:t>
            </a:r>
            <a:r>
              <a:rPr lang="en-US">
                <a:solidFill>
                  <a:srgbClr val="008000"/>
                </a:solidFill>
                <a:latin typeface="inherit"/>
              </a:rPr>
              <a:t>"Indonesia"</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"China"</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"UAE"</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"America"</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002D7A"/>
                </a:solidFill>
                <a:latin typeface="inherit"/>
              </a:rPr>
              <a:t>completer</a:t>
            </a:r>
            <a:r>
              <a:rPr lang="en-US">
                <a:solidFill>
                  <a:srgbClr val="006FE0"/>
                </a:solidFill>
                <a:latin typeface="inherit"/>
              </a:rPr>
              <a:t> = </a:t>
            </a:r>
            <a:r>
              <a:rPr lang="en-US">
                <a:solidFill>
                  <a:srgbClr val="004ED0"/>
                </a:solidFill>
                <a:latin typeface="inherit"/>
              </a:rPr>
              <a:t>QCompleter</a:t>
            </a:r>
            <a:r>
              <a:rPr lang="en-US">
                <a:solidFill>
                  <a:srgbClr val="333333"/>
                </a:solidFill>
                <a:latin typeface="inherit"/>
              </a:rPr>
              <a:t>(</a:t>
            </a:r>
            <a:r>
              <a:rPr lang="en-US">
                <a:solidFill>
                  <a:srgbClr val="002D7A"/>
                </a:solidFill>
                <a:latin typeface="inherit"/>
              </a:rPr>
              <a:t>names</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lineedit</a:t>
            </a:r>
            <a:r>
              <a:rPr lang="en-US">
                <a:solidFill>
                  <a:srgbClr val="006FE0"/>
                </a:solidFill>
                <a:latin typeface="inherit"/>
              </a:rPr>
              <a:t> = </a:t>
            </a:r>
            <a:r>
              <a:rPr lang="en-US">
                <a:solidFill>
                  <a:srgbClr val="004ED0"/>
                </a:solidFill>
                <a:latin typeface="inherit"/>
              </a:rPr>
              <a:t>QLineEdit</a:t>
            </a:r>
            <a:r>
              <a:rPr lang="en-US">
                <a:solidFill>
                  <a:srgbClr val="333333"/>
                </a:solidFill>
                <a:latin typeface="inherit"/>
              </a:rPr>
              <a:t>()</a:t>
            </a:r>
            <a:endParaRPr lang="en-US">
              <a:solidFill>
                <a:srgbClr val="000000"/>
              </a:solidFill>
              <a:latin typeface="Monaco"/>
            </a:endParaRP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lineedit</a:t>
            </a:r>
            <a:r>
              <a:rPr lang="en-US">
                <a:solidFill>
                  <a:srgbClr val="333333"/>
                </a:solidFill>
                <a:latin typeface="inherit"/>
              </a:rPr>
              <a:t>.</a:t>
            </a:r>
            <a:r>
              <a:rPr lang="en-US">
                <a:solidFill>
                  <a:srgbClr val="004ED0"/>
                </a:solidFill>
                <a:latin typeface="inherit"/>
              </a:rPr>
              <a:t>setCompleter</a:t>
            </a:r>
            <a:r>
              <a:rPr lang="en-US">
                <a:solidFill>
                  <a:srgbClr val="333333"/>
                </a:solidFill>
                <a:latin typeface="inherit"/>
              </a:rPr>
              <a:t>(</a:t>
            </a:r>
            <a:r>
              <a:rPr lang="en-US">
                <a:solidFill>
                  <a:srgbClr val="002D7A"/>
                </a:solidFill>
                <a:latin typeface="inherit"/>
              </a:rPr>
              <a:t>completer</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lineedit</a:t>
            </a:r>
            <a:r>
              <a:rPr lang="en-US">
                <a:solidFill>
                  <a:srgbClr val="333333"/>
                </a:solidFill>
                <a:latin typeface="inherit"/>
              </a:rPr>
              <a:t>)</a:t>
            </a:r>
            <a:r>
              <a:rPr lang="en-US">
                <a:solidFill>
                  <a:srgbClr val="000000"/>
                </a:solidFill>
                <a:latin typeface="Monaco"/>
              </a:rPr>
              <a:t> </a:t>
            </a:r>
          </a:p>
          <a:p>
            <a:pPr>
              <a:lnSpc>
                <a:spcPct val="90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vbox</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24458780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6F511D-377D-4038-B829-E4806198E3AA}"/>
              </a:ext>
            </a:extLst>
          </p:cNvPr>
          <p:cNvSpPr>
            <a:spLocks noGrp="1"/>
          </p:cNvSpPr>
          <p:nvPr>
            <p:ph idx="1"/>
          </p:nvPr>
        </p:nvSpPr>
        <p:spPr>
          <a:xfrm>
            <a:off x="9624" y="759125"/>
            <a:ext cx="9134375" cy="6079625"/>
          </a:xfrm>
        </p:spPr>
        <p:txBody>
          <a:bodyPr>
            <a:normAutofit/>
          </a:bodyPr>
          <a:lstStyle/>
          <a:p>
            <a:pPr marL="0" indent="0">
              <a:buNone/>
            </a:pPr>
            <a:r>
              <a:rPr lang="vi-VN" sz="2400"/>
              <a:t>Cuối cùng, chúng ta tạo đối tượng Window và Qpplication</a:t>
            </a:r>
            <a:endParaRPr lang="en-US" sz="2400"/>
          </a:p>
        </p:txBody>
      </p:sp>
      <p:sp>
        <p:nvSpPr>
          <p:cNvPr id="4" name="Title 1">
            <a:extLst>
              <a:ext uri="{FF2B5EF4-FFF2-40B4-BE49-F238E27FC236}">
                <a16:creationId xmlns:a16="http://schemas.microsoft.com/office/drawing/2014/main" id="{33571673-7CE7-4EE5-967E-DE62643FC29B}"/>
              </a:ext>
            </a:extLst>
          </p:cNvPr>
          <p:cNvSpPr>
            <a:spLocks noGrp="1"/>
          </p:cNvSpPr>
          <p:nvPr>
            <p:ph type="title"/>
          </p:nvPr>
        </p:nvSpPr>
        <p:spPr>
          <a:xfrm>
            <a:off x="9624" y="19250"/>
            <a:ext cx="9134375" cy="739875"/>
          </a:xfrm>
        </p:spPr>
        <p:txBody>
          <a:bodyPr>
            <a:normAutofit/>
          </a:bodyPr>
          <a:lstStyle/>
          <a:p>
            <a:r>
              <a:rPr lang="en-US"/>
              <a:t>Ví dụ về cách tạo QCompleter (t.t)</a:t>
            </a:r>
          </a:p>
        </p:txBody>
      </p:sp>
      <p:sp>
        <p:nvSpPr>
          <p:cNvPr id="5" name="Rectangle 4">
            <a:extLst>
              <a:ext uri="{FF2B5EF4-FFF2-40B4-BE49-F238E27FC236}">
                <a16:creationId xmlns:a16="http://schemas.microsoft.com/office/drawing/2014/main" id="{04C3208A-408B-4056-A80B-897694B2025E}"/>
              </a:ext>
            </a:extLst>
          </p:cNvPr>
          <p:cNvSpPr/>
          <p:nvPr/>
        </p:nvSpPr>
        <p:spPr>
          <a:xfrm>
            <a:off x="94890" y="1224800"/>
            <a:ext cx="3804250" cy="1200329"/>
          </a:xfrm>
          <a:prstGeom prst="rect">
            <a:avLst/>
          </a:prstGeom>
          <a:solidFill>
            <a:schemeClr val="accent2">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9458" name="Picture 2">
            <a:extLst>
              <a:ext uri="{FF2B5EF4-FFF2-40B4-BE49-F238E27FC236}">
                <a16:creationId xmlns:a16="http://schemas.microsoft.com/office/drawing/2014/main" id="{D5F49EC0-E2F4-4D7F-B3FB-50DADD5F7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8653" y="2425129"/>
            <a:ext cx="5615951" cy="4293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5112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F2E7-11D0-40AE-BC2E-8F67BC310930}"/>
              </a:ext>
            </a:extLst>
          </p:cNvPr>
          <p:cNvSpPr>
            <a:spLocks noGrp="1"/>
          </p:cNvSpPr>
          <p:nvPr>
            <p:ph type="title"/>
          </p:nvPr>
        </p:nvSpPr>
        <p:spPr>
          <a:xfrm>
            <a:off x="9624" y="19250"/>
            <a:ext cx="9134375" cy="1222954"/>
          </a:xfrm>
        </p:spPr>
        <p:txBody>
          <a:bodyPr>
            <a:normAutofit fontScale="90000"/>
          </a:bodyPr>
          <a:lstStyle/>
          <a:p>
            <a:r>
              <a:rPr lang="en-US"/>
              <a:t>Mở hộp thoại thứ hai bằng cách nhấp vào nút nhấn</a:t>
            </a:r>
          </a:p>
        </p:txBody>
      </p:sp>
      <p:pic>
        <p:nvPicPr>
          <p:cNvPr id="1026" name="Picture 2">
            <a:extLst>
              <a:ext uri="{FF2B5EF4-FFF2-40B4-BE49-F238E27FC236}">
                <a16:creationId xmlns:a16="http://schemas.microsoft.com/office/drawing/2014/main" id="{FCC763F8-C93F-4A07-AB93-CBC79A156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51" y="1248764"/>
            <a:ext cx="8512923" cy="5591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00420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B8A109-F6AC-4CB8-9DE6-FF72C5D244A0}"/>
              </a:ext>
            </a:extLst>
          </p:cNvPr>
          <p:cNvSpPr/>
          <p:nvPr/>
        </p:nvSpPr>
        <p:spPr>
          <a:xfrm>
            <a:off x="0" y="0"/>
            <a:ext cx="9143999" cy="6896503"/>
          </a:xfrm>
          <a:prstGeom prst="rect">
            <a:avLst/>
          </a:prstGeom>
        </p:spPr>
        <p:txBody>
          <a:bodyPr wrap="square">
            <a:spAutoFit/>
          </a:bodyPr>
          <a:lstStyle/>
          <a:p>
            <a:pPr>
              <a:lnSpc>
                <a:spcPct val="85000"/>
              </a:lnSpc>
            </a:pPr>
            <a:r>
              <a:rPr lang="en-US" sz="2000">
                <a:solidFill>
                  <a:srgbClr val="004ED0"/>
                </a:solidFill>
                <a:latin typeface="inherit"/>
              </a:rPr>
              <a:t>from PyQt5 import QtGui</a:t>
            </a:r>
            <a:endParaRPr lang="en-US" sz="2000">
              <a:solidFill>
                <a:srgbClr val="000000"/>
              </a:solidFill>
              <a:latin typeface="Monaco"/>
            </a:endParaRPr>
          </a:p>
          <a:p>
            <a:pPr>
              <a:lnSpc>
                <a:spcPct val="85000"/>
              </a:lnSpc>
            </a:pPr>
            <a:r>
              <a:rPr lang="en-US" sz="2000">
                <a:solidFill>
                  <a:srgbClr val="004ED0"/>
                </a:solidFill>
                <a:latin typeface="inherit"/>
              </a:rPr>
              <a:t>from </a:t>
            </a:r>
            <a:r>
              <a:rPr lang="en-US" sz="2000">
                <a:solidFill>
                  <a:srgbClr val="002D7A"/>
                </a:solidFill>
                <a:latin typeface="inherit"/>
              </a:rPr>
              <a:t>PyQt5</a:t>
            </a:r>
            <a:r>
              <a:rPr lang="en-US" sz="2000">
                <a:solidFill>
                  <a:srgbClr val="333333"/>
                </a:solidFill>
                <a:latin typeface="inherit"/>
              </a:rPr>
              <a:t>.</a:t>
            </a:r>
            <a:r>
              <a:rPr lang="en-US" sz="2000">
                <a:solidFill>
                  <a:srgbClr val="004ED0"/>
                </a:solidFill>
                <a:latin typeface="inherit"/>
              </a:rPr>
              <a:t>QtWidgets import </a:t>
            </a:r>
            <a:r>
              <a:rPr lang="en-US" sz="2000">
                <a:solidFill>
                  <a:srgbClr val="002D7A"/>
                </a:solidFill>
                <a:latin typeface="inherit"/>
              </a:rPr>
              <a:t>QApplication</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QPushButton</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QDialog</a:t>
            </a:r>
            <a:r>
              <a:rPr lang="en-US" sz="2000">
                <a:solidFill>
                  <a:srgbClr val="333333"/>
                </a:solidFill>
                <a:latin typeface="inherit"/>
              </a:rPr>
              <a:t>,</a:t>
            </a:r>
            <a:r>
              <a:rPr lang="en-US" sz="2000">
                <a:solidFill>
                  <a:srgbClr val="006FE0"/>
                </a:solidFill>
                <a:latin typeface="inherit"/>
              </a:rPr>
              <a:t> </a:t>
            </a:r>
            <a:r>
              <a:rPr lang="en-US" sz="2000">
                <a:solidFill>
                  <a:srgbClr val="004ED0"/>
                </a:solidFill>
                <a:latin typeface="inherit"/>
              </a:rPr>
              <a:t>QVBoxLayout</a:t>
            </a:r>
            <a:endParaRPr lang="en-US" sz="2000">
              <a:solidFill>
                <a:srgbClr val="000000"/>
              </a:solidFill>
              <a:latin typeface="Monaco"/>
            </a:endParaRPr>
          </a:p>
          <a:p>
            <a:pPr>
              <a:lnSpc>
                <a:spcPct val="85000"/>
              </a:lnSpc>
            </a:pPr>
            <a:r>
              <a:rPr lang="en-US" sz="2000">
                <a:solidFill>
                  <a:srgbClr val="004ED0"/>
                </a:solidFill>
                <a:latin typeface="inherit"/>
              </a:rPr>
              <a:t>import sys</a:t>
            </a:r>
            <a:r>
              <a:rPr lang="en-US" sz="2000">
                <a:solidFill>
                  <a:srgbClr val="000000"/>
                </a:solidFill>
                <a:latin typeface="Monaco"/>
              </a:rPr>
              <a:t> </a:t>
            </a:r>
          </a:p>
          <a:p>
            <a:pPr>
              <a:lnSpc>
                <a:spcPct val="85000"/>
              </a:lnSpc>
            </a:pPr>
            <a:r>
              <a:rPr lang="en-US" sz="2000">
                <a:solidFill>
                  <a:srgbClr val="000000"/>
                </a:solidFill>
                <a:latin typeface="Monaco"/>
              </a:rPr>
              <a:t> </a:t>
            </a:r>
          </a:p>
          <a:p>
            <a:pPr>
              <a:lnSpc>
                <a:spcPct val="85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highlight>
                  <a:srgbClr val="00FF00"/>
                </a:highlight>
                <a:latin typeface="inherit"/>
              </a:rPr>
              <a:t>def __init__</a:t>
            </a:r>
            <a:r>
              <a:rPr lang="en-US" sz="2000">
                <a:solidFill>
                  <a:srgbClr val="333333"/>
                </a:solidFill>
                <a:highlight>
                  <a:srgbClr val="00FF00"/>
                </a:highlight>
                <a:latin typeface="inherit"/>
              </a:rPr>
              <a:t>(</a:t>
            </a:r>
            <a:r>
              <a:rPr lang="en-US" sz="2000">
                <a:solidFill>
                  <a:srgbClr val="800080"/>
                </a:solidFill>
                <a:highlight>
                  <a:srgbClr val="00FF00"/>
                </a:highlight>
                <a:latin typeface="inherit"/>
              </a:rPr>
              <a:t>self</a:t>
            </a:r>
            <a:r>
              <a:rPr lang="en-US" sz="2000">
                <a:solidFill>
                  <a:srgbClr val="333333"/>
                </a:solidFill>
                <a:highlight>
                  <a:srgbClr val="00FF00"/>
                </a:highlight>
                <a:latin typeface="inherit"/>
              </a:rPr>
              <a:t>)</a:t>
            </a:r>
            <a:r>
              <a:rPr lang="en-US" sz="2000">
                <a:solidFill>
                  <a:srgbClr val="006FE0"/>
                </a:solidFill>
                <a:highlight>
                  <a:srgbClr val="00FF00"/>
                </a:highlight>
                <a:latin typeface="inherit"/>
              </a:rPr>
              <a:t>:</a:t>
            </a:r>
            <a:endParaRPr lang="en-US" sz="2000">
              <a:solidFill>
                <a:srgbClr val="000000"/>
              </a:solidFill>
              <a:highlight>
                <a:srgbClr val="00FF00"/>
              </a:highlight>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Window"</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006FE0"/>
                </a:solidFill>
                <a:latin typeface="inherit"/>
              </a:rPr>
              <a:t> = </a:t>
            </a:r>
            <a:r>
              <a:rPr lang="en-US" sz="2000">
                <a:solidFill>
                  <a:srgbClr val="CE0000"/>
                </a:solidFill>
                <a:latin typeface="inherit"/>
              </a:rPr>
              <a:t>200</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006FE0"/>
                </a:solidFill>
                <a:latin typeface="inherit"/>
              </a:rPr>
              <a:t> = </a:t>
            </a:r>
            <a:r>
              <a:rPr lang="en-US" sz="2000">
                <a:solidFill>
                  <a:srgbClr val="CE0000"/>
                </a:solidFill>
                <a:latin typeface="inherit"/>
              </a:rPr>
              <a:t>500</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006FE0"/>
                </a:solidFill>
                <a:latin typeface="inherit"/>
              </a:rPr>
              <a:t> = </a:t>
            </a:r>
            <a:r>
              <a:rPr lang="en-US" sz="2000">
                <a:solidFill>
                  <a:srgbClr val="CE0000"/>
                </a:solidFill>
                <a:latin typeface="inherit"/>
              </a:rPr>
              <a:t>400</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006FE0"/>
                </a:solidFill>
                <a:latin typeface="inherit"/>
              </a:rPr>
              <a:t> = </a:t>
            </a:r>
            <a:r>
              <a:rPr lang="en-US" sz="2000">
                <a:solidFill>
                  <a:srgbClr val="CE0000"/>
                </a:solidFill>
                <a:latin typeface="inherit"/>
              </a:rPr>
              <a:t>300</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InitWindow</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004ED0"/>
                </a:solidFill>
                <a:highlight>
                  <a:srgbClr val="FFFF00"/>
                </a:highlight>
                <a:latin typeface="inherit"/>
              </a:rPr>
              <a:t>def InitWindow</a:t>
            </a:r>
            <a:r>
              <a:rPr lang="en-US" sz="2000">
                <a:solidFill>
                  <a:srgbClr val="333333"/>
                </a:solidFill>
                <a:highlight>
                  <a:srgbClr val="FFFF00"/>
                </a:highlight>
                <a:latin typeface="inherit"/>
              </a:rPr>
              <a:t>(</a:t>
            </a:r>
            <a:r>
              <a:rPr lang="en-US" sz="2000">
                <a:solidFill>
                  <a:srgbClr val="800080"/>
                </a:solidFill>
                <a:highlight>
                  <a:srgbClr val="FFFF00"/>
                </a:highlight>
                <a:latin typeface="inherit"/>
              </a:rPr>
              <a:t>self</a:t>
            </a:r>
            <a:r>
              <a:rPr lang="en-US" sz="2000">
                <a:solidFill>
                  <a:srgbClr val="333333"/>
                </a:solidFill>
                <a:highlight>
                  <a:srgbClr val="FFFF00"/>
                </a:highlight>
                <a:latin typeface="inherit"/>
              </a:rPr>
              <a:t>)</a:t>
            </a:r>
            <a:r>
              <a:rPr lang="en-US" sz="2000">
                <a:solidFill>
                  <a:srgbClr val="006FE0"/>
                </a:solidFill>
                <a:highlight>
                  <a:srgbClr val="FFFF00"/>
                </a:highlight>
                <a:latin typeface="inherit"/>
              </a:rPr>
              <a:t>:</a:t>
            </a:r>
            <a:endParaRPr lang="en-US" sz="2000">
              <a:solidFill>
                <a:srgbClr val="000000"/>
              </a:solidFill>
              <a:highlight>
                <a:srgbClr val="FFFF00"/>
              </a:highlight>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setWindowTitle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 </a:t>
            </a:r>
            <a:r>
              <a:rPr lang="en-US" sz="2000">
                <a:solidFill>
                  <a:srgbClr val="004ED0"/>
                </a:solidFill>
                <a:latin typeface="inherit"/>
              </a:rPr>
              <a:t>QVBoxLayout</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"Open Second Dialog"</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15</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a:t>
            </a:r>
            <a:r>
              <a:rPr lang="en-US" sz="2000">
                <a:solidFill>
                  <a:srgbClr val="333333"/>
                </a:solidFill>
                <a:latin typeface="inherit"/>
              </a:rPr>
              <a:t>.</a:t>
            </a:r>
            <a:r>
              <a:rPr lang="en-US" sz="2000">
                <a:solidFill>
                  <a:srgbClr val="002D7A"/>
                </a:solidFill>
                <a:latin typeface="inherit"/>
              </a:rPr>
              <a:t>clicked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openSecondDialog</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b="0" i="0">
              <a:solidFill>
                <a:srgbClr val="000000"/>
              </a:solidFill>
              <a:effectLst/>
              <a:latin typeface="Monaco"/>
            </a:endParaRPr>
          </a:p>
        </p:txBody>
      </p:sp>
      <p:sp>
        <p:nvSpPr>
          <p:cNvPr id="7" name="Rectangle 6">
            <a:extLst>
              <a:ext uri="{FF2B5EF4-FFF2-40B4-BE49-F238E27FC236}">
                <a16:creationId xmlns:a16="http://schemas.microsoft.com/office/drawing/2014/main" id="{01C832B2-83CE-4821-AB20-E57D5EB6E674}"/>
              </a:ext>
            </a:extLst>
          </p:cNvPr>
          <p:cNvSpPr/>
          <p:nvPr/>
        </p:nvSpPr>
        <p:spPr>
          <a:xfrm>
            <a:off x="4308132" y="972830"/>
            <a:ext cx="3412509" cy="2449132"/>
          </a:xfrm>
          <a:prstGeom prst="rect">
            <a:avLst/>
          </a:prstGeom>
        </p:spPr>
        <p:txBody>
          <a:bodyPr wrap="square">
            <a:spAutoFit/>
          </a:bodyPr>
          <a:lstStyle/>
          <a:p>
            <a:pPr>
              <a:lnSpc>
                <a:spcPct val="85000"/>
              </a:lnSpc>
            </a:pPr>
            <a:r>
              <a:rPr lang="en-US" sz="2000">
                <a:solidFill>
                  <a:srgbClr val="006FE0"/>
                </a:solidFill>
                <a:latin typeface="inherit"/>
              </a:rPr>
              <a:t>    </a:t>
            </a:r>
            <a:r>
              <a:rPr lang="en-US" sz="2000">
                <a:solidFill>
                  <a:srgbClr val="004ED0"/>
                </a:solidFill>
                <a:highlight>
                  <a:srgbClr val="00FFFF"/>
                </a:highlight>
                <a:latin typeface="inherit"/>
              </a:rPr>
              <a:t>def openSecondDialog</a:t>
            </a:r>
            <a:r>
              <a:rPr lang="en-US" sz="2000">
                <a:solidFill>
                  <a:srgbClr val="333333"/>
                </a:solidFill>
                <a:highlight>
                  <a:srgbClr val="00FFFF"/>
                </a:highlight>
                <a:latin typeface="inherit"/>
              </a:rPr>
              <a:t>(</a:t>
            </a:r>
            <a:r>
              <a:rPr lang="en-US" sz="2000">
                <a:solidFill>
                  <a:srgbClr val="800080"/>
                </a:solidFill>
                <a:highlight>
                  <a:srgbClr val="00FFFF"/>
                </a:highlight>
                <a:latin typeface="inherit"/>
              </a:rPr>
              <a:t>self</a:t>
            </a:r>
            <a:r>
              <a:rPr lang="en-US" sz="2000">
                <a:solidFill>
                  <a:srgbClr val="333333"/>
                </a:solidFill>
                <a:highlight>
                  <a:srgbClr val="00FFFF"/>
                </a:highlight>
                <a:latin typeface="inherit"/>
              </a:rPr>
              <a:t>)</a:t>
            </a:r>
            <a:r>
              <a:rPr lang="en-US" sz="2000">
                <a:solidFill>
                  <a:srgbClr val="006FE0"/>
                </a:solidFill>
                <a:highlight>
                  <a:srgbClr val="00FFFF"/>
                </a:highlight>
                <a:latin typeface="inherit"/>
              </a:rPr>
              <a:t>:</a:t>
            </a:r>
            <a:endParaRPr lang="en-US" sz="2000">
              <a:solidFill>
                <a:srgbClr val="000000"/>
              </a:solidFill>
              <a:highlight>
                <a:srgbClr val="00FFFF"/>
              </a:highlight>
              <a:latin typeface="Monaco"/>
            </a:endParaRPr>
          </a:p>
          <a:p>
            <a:pPr>
              <a:lnSpc>
                <a:spcPct val="85000"/>
              </a:lnSpc>
            </a:pPr>
            <a:r>
              <a:rPr lang="en-US" sz="2000">
                <a:solidFill>
                  <a:srgbClr val="006FE0"/>
                </a:solidFill>
                <a:latin typeface="inherit"/>
              </a:rPr>
              <a:t>        </a:t>
            </a:r>
            <a:r>
              <a:rPr lang="en-US" sz="2000">
                <a:solidFill>
                  <a:srgbClr val="002D7A"/>
                </a:solidFill>
                <a:latin typeface="inherit"/>
              </a:rPr>
              <a:t>mydialog</a:t>
            </a:r>
            <a:r>
              <a:rPr lang="en-US" sz="2000">
                <a:solidFill>
                  <a:srgbClr val="006FE0"/>
                </a:solidFill>
                <a:latin typeface="inherit"/>
              </a:rPr>
              <a:t> = </a:t>
            </a:r>
            <a:r>
              <a:rPr lang="en-US" sz="2000">
                <a:solidFill>
                  <a:srgbClr val="004ED0"/>
                </a:solidFill>
                <a:latin typeface="inherit"/>
              </a:rPr>
              <a:t>QDialog</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B85C00"/>
                </a:solidFill>
                <a:latin typeface="inherit"/>
              </a:rPr>
              <a:t>#mydialog.setModal(True)</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B85C00"/>
                </a:solidFill>
                <a:latin typeface="inherit"/>
              </a:rPr>
              <a:t>#mydialog.exec()</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002D7A"/>
                </a:solidFill>
                <a:latin typeface="inherit"/>
              </a:rPr>
              <a:t>mydialog</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0000"/>
                </a:solidFill>
                <a:latin typeface="Monaco"/>
              </a:rPr>
              <a:t> </a:t>
            </a:r>
          </a:p>
          <a:p>
            <a:pPr>
              <a:lnSpc>
                <a:spcPct val="85000"/>
              </a:lnSpc>
            </a:pPr>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002D7A"/>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Window</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004ED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sp>
        <p:nvSpPr>
          <p:cNvPr id="5" name="Rectangle 4">
            <a:extLst>
              <a:ext uri="{FF2B5EF4-FFF2-40B4-BE49-F238E27FC236}">
                <a16:creationId xmlns:a16="http://schemas.microsoft.com/office/drawing/2014/main" id="{4AC1A685-85E3-4786-9385-96CFB5084FBD}"/>
              </a:ext>
            </a:extLst>
          </p:cNvPr>
          <p:cNvSpPr/>
          <p:nvPr/>
        </p:nvSpPr>
        <p:spPr>
          <a:xfrm>
            <a:off x="6435305" y="3436039"/>
            <a:ext cx="2708695" cy="3323987"/>
          </a:xfrm>
          <a:prstGeom prst="rect">
            <a:avLst/>
          </a:prstGeom>
        </p:spPr>
        <p:txBody>
          <a:bodyPr wrap="square">
            <a:spAutoFit/>
          </a:bodyPr>
          <a:lstStyle/>
          <a:p>
            <a:r>
              <a:rPr lang="en-US" sz="1400">
                <a:solidFill>
                  <a:srgbClr val="3A3A3A"/>
                </a:solidFill>
              </a:rPr>
              <a:t>T</a:t>
            </a:r>
            <a:r>
              <a:rPr lang="vi-VN" sz="1400">
                <a:solidFill>
                  <a:srgbClr val="3A3A3A"/>
                </a:solidFill>
              </a:rPr>
              <a:t>ạo lớp Window và tạo phương thức initWindow() để khởi tạo cửa sổ, trong phương thức đó, </a:t>
            </a:r>
            <a:r>
              <a:rPr lang="en-US" sz="1400">
                <a:solidFill>
                  <a:srgbClr val="3A3A3A"/>
                </a:solidFill>
              </a:rPr>
              <a:t>ta </a:t>
            </a:r>
            <a:r>
              <a:rPr lang="vi-VN" sz="1400">
                <a:solidFill>
                  <a:srgbClr val="3A3A3A"/>
                </a:solidFill>
              </a:rPr>
              <a:t>tạo ra một QVBoxLayout với QPushButton, điểm quan trọng là phương thức</a:t>
            </a:r>
            <a:r>
              <a:rPr lang="en-US" sz="1400">
                <a:solidFill>
                  <a:srgbClr val="3A3A3A"/>
                </a:solidFill>
              </a:rPr>
              <a:t> </a:t>
            </a:r>
            <a:r>
              <a:rPr lang="vi-VN" sz="1400">
                <a:solidFill>
                  <a:srgbClr val="3A3A3A"/>
                </a:solidFill>
              </a:rPr>
              <a:t>openSecondDialog().</a:t>
            </a:r>
            <a:r>
              <a:rPr lang="en-US" sz="1400">
                <a:solidFill>
                  <a:srgbClr val="3A3A3A"/>
                </a:solidFill>
              </a:rPr>
              <a:t> </a:t>
            </a:r>
            <a:r>
              <a:rPr lang="vi-VN" sz="1400">
                <a:solidFill>
                  <a:srgbClr val="3A3A3A"/>
                </a:solidFill>
              </a:rPr>
              <a:t>Có hai cách bạn có thể làm điều này. Cách </a:t>
            </a:r>
            <a:r>
              <a:rPr lang="en-US" sz="1400">
                <a:solidFill>
                  <a:srgbClr val="3A3A3A"/>
                </a:solidFill>
              </a:rPr>
              <a:t>1: phần chú thích </a:t>
            </a:r>
            <a:r>
              <a:rPr lang="vi-VN" sz="1400">
                <a:solidFill>
                  <a:srgbClr val="3A3A3A"/>
                </a:solidFill>
              </a:rPr>
              <a:t>chỉ có một cửa sổ được mở và bạn không thể tương tác với cửa sổ chính của mình. </a:t>
            </a:r>
            <a:endParaRPr lang="en-US" sz="1400">
              <a:solidFill>
                <a:srgbClr val="3A3A3A"/>
              </a:solidFill>
            </a:endParaRPr>
          </a:p>
          <a:p>
            <a:r>
              <a:rPr lang="en-US" sz="1400">
                <a:solidFill>
                  <a:srgbClr val="3A3A3A"/>
                </a:solidFill>
              </a:rPr>
              <a:t>C</a:t>
            </a:r>
            <a:r>
              <a:rPr lang="vi-VN" sz="1400">
                <a:solidFill>
                  <a:srgbClr val="3A3A3A"/>
                </a:solidFill>
              </a:rPr>
              <a:t>ách </a:t>
            </a:r>
            <a:r>
              <a:rPr lang="en-US" sz="1400">
                <a:solidFill>
                  <a:srgbClr val="3A3A3A"/>
                </a:solidFill>
              </a:rPr>
              <a:t>2: </a:t>
            </a:r>
            <a:r>
              <a:rPr lang="vi-VN" sz="1400">
                <a:solidFill>
                  <a:srgbClr val="3A3A3A"/>
                </a:solidFill>
              </a:rPr>
              <a:t>là cách tốt nhất và bạn có thể mở bao nhiêu </a:t>
            </a:r>
            <a:r>
              <a:rPr lang="en-US" sz="1400">
                <a:solidFill>
                  <a:srgbClr val="3A3A3A"/>
                </a:solidFill>
              </a:rPr>
              <a:t>Dialog </a:t>
            </a:r>
            <a:r>
              <a:rPr lang="vi-VN" sz="1400">
                <a:solidFill>
                  <a:srgbClr val="3A3A3A"/>
                </a:solidFill>
              </a:rPr>
              <a:t>mới với phương thức đó</a:t>
            </a:r>
            <a:endParaRPr lang="en-US" sz="1400"/>
          </a:p>
        </p:txBody>
      </p:sp>
    </p:spTree>
    <p:extLst>
      <p:ext uri="{BB962C8B-B14F-4D97-AF65-F5344CB8AC3E}">
        <p14:creationId xmlns:p14="http://schemas.microsoft.com/office/powerpoint/2010/main" val="38442177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C7C1-7759-4576-BA63-B1FB3304B105}"/>
              </a:ext>
            </a:extLst>
          </p:cNvPr>
          <p:cNvSpPr>
            <a:spLocks noGrp="1"/>
          </p:cNvSpPr>
          <p:nvPr>
            <p:ph type="title"/>
          </p:nvPr>
        </p:nvSpPr>
        <p:spPr>
          <a:xfrm>
            <a:off x="9624" y="19250"/>
            <a:ext cx="9134375" cy="783007"/>
          </a:xfrm>
        </p:spPr>
        <p:txBody>
          <a:bodyPr>
            <a:normAutofit/>
          </a:bodyPr>
          <a:lstStyle/>
          <a:p>
            <a:r>
              <a:rPr lang="en-US"/>
              <a:t>Cách tạo QTimeEdit trong PyQt5</a:t>
            </a:r>
          </a:p>
        </p:txBody>
      </p:sp>
      <p:sp>
        <p:nvSpPr>
          <p:cNvPr id="3" name="Content Placeholder 2">
            <a:extLst>
              <a:ext uri="{FF2B5EF4-FFF2-40B4-BE49-F238E27FC236}">
                <a16:creationId xmlns:a16="http://schemas.microsoft.com/office/drawing/2014/main" id="{F97E8B69-76FF-4A0B-9CC0-786D2CAFC222}"/>
              </a:ext>
            </a:extLst>
          </p:cNvPr>
          <p:cNvSpPr>
            <a:spLocks noGrp="1"/>
          </p:cNvSpPr>
          <p:nvPr>
            <p:ph idx="1"/>
          </p:nvPr>
        </p:nvSpPr>
        <p:spPr>
          <a:xfrm>
            <a:off x="9624" y="802257"/>
            <a:ext cx="9134375" cy="783007"/>
          </a:xfrm>
        </p:spPr>
        <p:txBody>
          <a:bodyPr>
            <a:normAutofit/>
          </a:bodyPr>
          <a:lstStyle/>
          <a:p>
            <a:pPr marL="0" indent="0">
              <a:buNone/>
            </a:pPr>
            <a:r>
              <a:rPr lang="vi-VN" sz="2400"/>
              <a:t>Trong PyQt5, </a:t>
            </a:r>
            <a:r>
              <a:rPr lang="en-US" sz="2400"/>
              <a:t>widget </a:t>
            </a:r>
            <a:r>
              <a:rPr lang="vi-VN" sz="2400"/>
              <a:t>TimeEdit cung cấp một hộp có thể chỉnh sửa từ đó giá trị thời gian có thể được hiển thị và chỉnh sửa.</a:t>
            </a:r>
            <a:endParaRPr lang="en-US" sz="2400"/>
          </a:p>
        </p:txBody>
      </p:sp>
      <p:pic>
        <p:nvPicPr>
          <p:cNvPr id="2050" name="Picture 2">
            <a:extLst>
              <a:ext uri="{FF2B5EF4-FFF2-40B4-BE49-F238E27FC236}">
                <a16:creationId xmlns:a16="http://schemas.microsoft.com/office/drawing/2014/main" id="{CB807E83-443B-43F7-8F21-C0F11CA6C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59" y="1585264"/>
            <a:ext cx="5768227" cy="454659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BF4AD4A-ACF6-4928-8B67-E42639C3B29F}"/>
              </a:ext>
            </a:extLst>
          </p:cNvPr>
          <p:cNvSpPr/>
          <p:nvPr/>
        </p:nvSpPr>
        <p:spPr>
          <a:xfrm>
            <a:off x="6054786" y="1559859"/>
            <a:ext cx="3079590" cy="4708981"/>
          </a:xfrm>
          <a:prstGeom prst="rect">
            <a:avLst/>
          </a:prstGeom>
        </p:spPr>
        <p:txBody>
          <a:bodyPr wrap="square">
            <a:spAutoFit/>
          </a:bodyPr>
          <a:lstStyle/>
          <a:p>
            <a:pPr algn="just"/>
            <a:r>
              <a:rPr lang="vi-VN" sz="2000" i="1">
                <a:solidFill>
                  <a:srgbClr val="3A3A3A"/>
                </a:solidFill>
              </a:rPr>
              <a:t>Vì vậy, trong ví dụ này, đầu tiên, chúng ta </a:t>
            </a:r>
            <a:r>
              <a:rPr lang="en-US" sz="2000" i="1">
                <a:solidFill>
                  <a:srgbClr val="3A3A3A"/>
                </a:solidFill>
              </a:rPr>
              <a:t>import </a:t>
            </a:r>
            <a:r>
              <a:rPr lang="vi-VN" sz="2000" i="1">
                <a:solidFill>
                  <a:srgbClr val="3A3A3A"/>
                </a:solidFill>
              </a:rPr>
              <a:t>các lớp bắt buộc cho ứng dụng QTimeEdit, sau đó tạo một lớp Window trong hàm tạo của lớp, chúng ta đã thêm các biến cho cửa sổ của mình và tạo hai phương thức đầu tiên là initWindow () là khởi tạo cho cửa sổ và phương thức thứ hai là phương thức mà </a:t>
            </a:r>
            <a:r>
              <a:rPr lang="en-US" sz="2000" i="1">
                <a:solidFill>
                  <a:srgbClr val="3A3A3A"/>
                </a:solidFill>
              </a:rPr>
              <a:t>để </a:t>
            </a:r>
            <a:r>
              <a:rPr lang="vi-VN" sz="2000" i="1">
                <a:solidFill>
                  <a:srgbClr val="3A3A3A"/>
                </a:solidFill>
              </a:rPr>
              <a:t>tạo QTime và QTimeEdit với QVBoxLayout.</a:t>
            </a:r>
            <a:endParaRPr lang="en-US" sz="2000" i="1"/>
          </a:p>
        </p:txBody>
      </p:sp>
    </p:spTree>
    <p:extLst>
      <p:ext uri="{BB962C8B-B14F-4D97-AF65-F5344CB8AC3E}">
        <p14:creationId xmlns:p14="http://schemas.microsoft.com/office/powerpoint/2010/main" val="19560524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E482A1-A26A-4C3C-BDC5-49C47F650492}"/>
              </a:ext>
            </a:extLst>
          </p:cNvPr>
          <p:cNvSpPr/>
          <p:nvPr/>
        </p:nvSpPr>
        <p:spPr>
          <a:xfrm>
            <a:off x="0" y="0"/>
            <a:ext cx="9144001" cy="6555641"/>
          </a:xfrm>
          <a:prstGeom prst="rect">
            <a:avLst/>
          </a:prstGeom>
          <a:solidFill>
            <a:schemeClr val="accent5">
              <a:lumMod val="20000"/>
              <a:lumOff val="80000"/>
            </a:schemeClr>
          </a:solidFill>
        </p:spPr>
        <p:txBody>
          <a:bodyPr wrap="square">
            <a:spAutoFit/>
          </a:bodyPr>
          <a:lstStyle/>
          <a:p>
            <a:r>
              <a:rPr lang="en-US" sz="2000">
                <a:solidFill>
                  <a:srgbClr val="004ED0"/>
                </a:solidFill>
                <a:latin typeface="inherit"/>
              </a:rPr>
              <a:t>from PyQt5 import QtGui</a:t>
            </a:r>
            <a:endParaRPr lang="en-US" sz="2000">
              <a:solidFill>
                <a:srgbClr val="000000"/>
              </a:solidFill>
              <a:latin typeface="Monaco"/>
            </a:endParaRPr>
          </a:p>
          <a:p>
            <a:r>
              <a:rPr lang="en-US" sz="2000">
                <a:solidFill>
                  <a:srgbClr val="004ED0"/>
                </a:solidFill>
                <a:latin typeface="inherit"/>
              </a:rPr>
              <a:t>from </a:t>
            </a:r>
            <a:r>
              <a:rPr lang="en-US" sz="2000">
                <a:solidFill>
                  <a:srgbClr val="002D7A"/>
                </a:solidFill>
                <a:latin typeface="inherit"/>
              </a:rPr>
              <a:t>PyQt5</a:t>
            </a:r>
            <a:r>
              <a:rPr lang="en-US" sz="2000">
                <a:solidFill>
                  <a:srgbClr val="333333"/>
                </a:solidFill>
                <a:latin typeface="inherit"/>
              </a:rPr>
              <a:t>.</a:t>
            </a:r>
            <a:r>
              <a:rPr lang="en-US" sz="2000">
                <a:solidFill>
                  <a:srgbClr val="004ED0"/>
                </a:solidFill>
                <a:latin typeface="inherit"/>
              </a:rPr>
              <a:t>QtWidgets import </a:t>
            </a:r>
            <a:r>
              <a:rPr lang="en-US" sz="2000">
                <a:solidFill>
                  <a:srgbClr val="002D7A"/>
                </a:solidFill>
                <a:latin typeface="inherit"/>
              </a:rPr>
              <a:t>QApplication</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QVBoxLayout</a:t>
            </a:r>
            <a:r>
              <a:rPr lang="en-US" sz="2000">
                <a:solidFill>
                  <a:srgbClr val="333333"/>
                </a:solidFill>
                <a:latin typeface="inherit"/>
              </a:rPr>
              <a:t>,</a:t>
            </a:r>
            <a:r>
              <a:rPr lang="en-US" sz="2000">
                <a:solidFill>
                  <a:srgbClr val="006FE0"/>
                </a:solidFill>
                <a:latin typeface="inherit"/>
              </a:rPr>
              <a:t> </a:t>
            </a:r>
            <a:r>
              <a:rPr lang="en-US" sz="2000">
                <a:solidFill>
                  <a:srgbClr val="004ED0"/>
                </a:solidFill>
                <a:latin typeface="inherit"/>
              </a:rPr>
              <a:t>QTimeEdit</a:t>
            </a:r>
            <a:endParaRPr lang="en-US" sz="2000">
              <a:solidFill>
                <a:srgbClr val="000000"/>
              </a:solidFill>
              <a:latin typeface="Monaco"/>
            </a:endParaRPr>
          </a:p>
          <a:p>
            <a:r>
              <a:rPr lang="en-US" sz="2000">
                <a:solidFill>
                  <a:srgbClr val="004ED0"/>
                </a:solidFill>
                <a:latin typeface="inherit"/>
              </a:rPr>
              <a:t>from </a:t>
            </a:r>
            <a:r>
              <a:rPr lang="en-US" sz="2000">
                <a:solidFill>
                  <a:srgbClr val="002D7A"/>
                </a:solidFill>
                <a:latin typeface="inherit"/>
              </a:rPr>
              <a:t>PyQt5</a:t>
            </a:r>
            <a:r>
              <a:rPr lang="en-US" sz="2000">
                <a:solidFill>
                  <a:srgbClr val="333333"/>
                </a:solidFill>
                <a:latin typeface="inherit"/>
              </a:rPr>
              <a:t>.</a:t>
            </a:r>
            <a:r>
              <a:rPr lang="en-US" sz="2000">
                <a:solidFill>
                  <a:srgbClr val="004ED0"/>
                </a:solidFill>
                <a:latin typeface="inherit"/>
              </a:rPr>
              <a:t>QtCore import QTime</a:t>
            </a:r>
            <a:endParaRPr lang="en-US" sz="2000">
              <a:solidFill>
                <a:srgbClr val="000000"/>
              </a:solidFill>
              <a:latin typeface="Monaco"/>
            </a:endParaRPr>
          </a:p>
          <a:p>
            <a:r>
              <a:rPr lang="en-US" sz="2000">
                <a:solidFill>
                  <a:srgbClr val="004ED0"/>
                </a:solidFill>
                <a:latin typeface="inherit"/>
              </a:rPr>
              <a:t>import sys</a:t>
            </a:r>
            <a:endParaRPr lang="en-US" sz="2000">
              <a:solidFill>
                <a:srgbClr val="000000"/>
              </a:solidFill>
              <a:latin typeface="Monaco"/>
            </a:endParaRPr>
          </a:p>
          <a:p>
            <a:r>
              <a:rPr lang="en-US" sz="2000">
                <a:solidFill>
                  <a:srgbClr val="000000"/>
                </a:solidFill>
                <a:latin typeface="Monaco"/>
              </a:rPr>
              <a:t>  </a:t>
            </a:r>
          </a:p>
          <a:p>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r>
              <a:rPr lang="en-US" sz="2000">
                <a:solidFill>
                  <a:srgbClr val="000000"/>
                </a:solidFill>
                <a:latin typeface="Monaco"/>
              </a:rPr>
              <a:t>  </a:t>
            </a: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Window"</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006FE0"/>
                </a:solidFill>
                <a:latin typeface="inherit"/>
              </a:rPr>
              <a:t> = </a:t>
            </a:r>
            <a:r>
              <a:rPr lang="en-US" sz="2000">
                <a:solidFill>
                  <a:srgbClr val="CE0000"/>
                </a:solidFill>
                <a:latin typeface="inherit"/>
              </a:rPr>
              <a:t>200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006FE0"/>
                </a:solidFill>
                <a:latin typeface="inherit"/>
              </a:rPr>
              <a:t> = </a:t>
            </a:r>
            <a:r>
              <a:rPr lang="en-US" sz="2000">
                <a:solidFill>
                  <a:srgbClr val="CE0000"/>
                </a:solidFill>
                <a:latin typeface="inherit"/>
              </a:rPr>
              <a:t>500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006FE0"/>
                </a:solidFill>
                <a:latin typeface="inherit"/>
              </a:rPr>
              <a:t> = </a:t>
            </a:r>
            <a:r>
              <a:rPr lang="en-US" sz="2000">
                <a:solidFill>
                  <a:srgbClr val="CE0000"/>
                </a:solidFill>
                <a:latin typeface="inherit"/>
              </a:rPr>
              <a:t>400</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006FE0"/>
                </a:solidFill>
                <a:latin typeface="inherit"/>
              </a:rPr>
              <a:t> = </a:t>
            </a:r>
            <a:r>
              <a:rPr lang="en-US" sz="2000">
                <a:solidFill>
                  <a:srgbClr val="CE0000"/>
                </a:solidFill>
                <a:latin typeface="inherit"/>
              </a:rPr>
              <a:t>300</a:t>
            </a:r>
            <a:r>
              <a:rPr lang="en-US" sz="2000">
                <a:solidFill>
                  <a:srgbClr val="000000"/>
                </a:solidFill>
                <a:latin typeface="Monaco"/>
              </a:rPr>
              <a:t> </a:t>
            </a: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InitWindow</a:t>
            </a:r>
            <a:r>
              <a:rPr lang="en-US" sz="2000">
                <a:solidFill>
                  <a:srgbClr val="333333"/>
                </a:solidFill>
                <a:latin typeface="inherit"/>
              </a:rPr>
              <a:t>()</a:t>
            </a:r>
            <a:r>
              <a:rPr lang="en-US" sz="2000">
                <a:solidFill>
                  <a:srgbClr val="000000"/>
                </a:solidFill>
                <a:latin typeface="Monaco"/>
              </a:rPr>
              <a:t>  </a:t>
            </a:r>
          </a:p>
          <a:p>
            <a:r>
              <a:rPr lang="en-US" sz="2000">
                <a:solidFill>
                  <a:srgbClr val="000000"/>
                </a:solidFill>
                <a:latin typeface="Monaco"/>
              </a:rPr>
              <a:t> </a:t>
            </a:r>
          </a:p>
          <a:p>
            <a:r>
              <a:rPr lang="en-US" sz="2000">
                <a:solidFill>
                  <a:srgbClr val="006FE0"/>
                </a:solidFill>
                <a:latin typeface="inherit"/>
              </a:rPr>
              <a:t>    </a:t>
            </a:r>
            <a:r>
              <a:rPr lang="en-US" sz="2000">
                <a:solidFill>
                  <a:srgbClr val="004ED0"/>
                </a:solidFill>
                <a:latin typeface="inherit"/>
              </a:rPr>
              <a:t>def InitWindow</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setWindowTitle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333333"/>
                </a:solidFill>
                <a:latin typeface="inherit"/>
              </a:rPr>
              <a:t>)</a:t>
            </a:r>
            <a:endParaRPr lang="en-US" sz="2000">
              <a:solidFill>
                <a:srgbClr val="000000"/>
              </a:solidFill>
              <a:latin typeface="Monaco"/>
            </a:endParaRP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333333"/>
                </a:solidFill>
                <a:latin typeface="inherit"/>
              </a:rPr>
              <a:t>)</a:t>
            </a:r>
            <a:r>
              <a:rPr lang="en-US" sz="2000">
                <a:solidFill>
                  <a:srgbClr val="000000"/>
                </a:solidFill>
                <a:latin typeface="Monaco"/>
              </a:rPr>
              <a:t>  </a:t>
            </a: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MyTime</a:t>
            </a:r>
            <a:r>
              <a:rPr lang="en-US" sz="2000">
                <a:solidFill>
                  <a:srgbClr val="333333"/>
                </a:solidFill>
                <a:latin typeface="inherit"/>
              </a:rPr>
              <a:t>()</a:t>
            </a:r>
            <a:r>
              <a:rPr lang="en-US" sz="2000">
                <a:solidFill>
                  <a:srgbClr val="000000"/>
                </a:solidFill>
                <a:latin typeface="Monaco"/>
              </a:rPr>
              <a:t>  </a:t>
            </a:r>
          </a:p>
          <a:p>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r>
              <a:rPr lang="en-US" sz="2000">
                <a:solidFill>
                  <a:srgbClr val="000000"/>
                </a:solidFill>
                <a:latin typeface="Monaco"/>
              </a:rPr>
              <a:t>  </a:t>
            </a:r>
          </a:p>
        </p:txBody>
      </p:sp>
      <p:sp>
        <p:nvSpPr>
          <p:cNvPr id="5" name="Rectangle 4">
            <a:extLst>
              <a:ext uri="{FF2B5EF4-FFF2-40B4-BE49-F238E27FC236}">
                <a16:creationId xmlns:a16="http://schemas.microsoft.com/office/drawing/2014/main" id="{52FEE4BC-8FB2-472B-B919-E842FE198E32}"/>
              </a:ext>
            </a:extLst>
          </p:cNvPr>
          <p:cNvSpPr/>
          <p:nvPr/>
        </p:nvSpPr>
        <p:spPr>
          <a:xfrm>
            <a:off x="3585883" y="1021977"/>
            <a:ext cx="5558117" cy="3495572"/>
          </a:xfrm>
          <a:prstGeom prst="rect">
            <a:avLst/>
          </a:prstGeom>
          <a:solidFill>
            <a:schemeClr val="accent2">
              <a:lumMod val="20000"/>
              <a:lumOff val="80000"/>
            </a:schemeClr>
          </a:solidFill>
        </p:spPr>
        <p:txBody>
          <a:bodyPr wrap="square">
            <a:spAutoFit/>
          </a:bodyPr>
          <a:lstStyle/>
          <a:p>
            <a:pPr>
              <a:lnSpc>
                <a:spcPct val="85000"/>
              </a:lnSpc>
            </a:pPr>
            <a:r>
              <a:rPr lang="en-US" sz="2000">
                <a:solidFill>
                  <a:srgbClr val="006FE0"/>
                </a:solidFill>
                <a:latin typeface="inherit"/>
              </a:rPr>
              <a:t>    </a:t>
            </a:r>
            <a:r>
              <a:rPr lang="en-US" sz="2000">
                <a:solidFill>
                  <a:srgbClr val="004ED0"/>
                </a:solidFill>
                <a:latin typeface="inherit"/>
              </a:rPr>
              <a:t>def MyTime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 </a:t>
            </a:r>
            <a:r>
              <a:rPr lang="en-US" sz="2000">
                <a:solidFill>
                  <a:srgbClr val="004ED0"/>
                </a:solidFill>
                <a:latin typeface="inherit"/>
              </a:rPr>
              <a:t>QVBoxLayout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time</a:t>
            </a:r>
            <a:r>
              <a:rPr lang="en-US" sz="2000">
                <a:solidFill>
                  <a:srgbClr val="006FE0"/>
                </a:solidFill>
                <a:latin typeface="inherit"/>
              </a:rPr>
              <a:t> = </a:t>
            </a:r>
            <a:r>
              <a:rPr lang="en-US" sz="2000">
                <a:solidFill>
                  <a:srgbClr val="004ED0"/>
                </a:solidFill>
                <a:latin typeface="inherit"/>
              </a:rPr>
              <a:t>QTime</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time</a:t>
            </a:r>
            <a:r>
              <a:rPr lang="en-US" sz="2000">
                <a:solidFill>
                  <a:srgbClr val="333333"/>
                </a:solidFill>
                <a:latin typeface="inherit"/>
              </a:rPr>
              <a:t>.</a:t>
            </a:r>
            <a:r>
              <a:rPr lang="en-US" sz="2000">
                <a:solidFill>
                  <a:srgbClr val="004ED0"/>
                </a:solidFill>
                <a:latin typeface="inherit"/>
              </a:rPr>
              <a:t>setHMS</a:t>
            </a:r>
            <a:r>
              <a:rPr lang="en-US" sz="2000">
                <a:solidFill>
                  <a:srgbClr val="333333"/>
                </a:solidFill>
                <a:latin typeface="inherit"/>
              </a:rPr>
              <a:t>(</a:t>
            </a:r>
            <a:r>
              <a:rPr lang="en-US" sz="2000">
                <a:solidFill>
                  <a:srgbClr val="CE0000"/>
                </a:solidFill>
                <a:latin typeface="inherit"/>
              </a:rPr>
              <a:t>13</a:t>
            </a:r>
            <a:r>
              <a:rPr lang="en-US" sz="2000">
                <a:solidFill>
                  <a:srgbClr val="333333"/>
                </a:solidFill>
                <a:latin typeface="inherit"/>
              </a:rPr>
              <a:t>,</a:t>
            </a:r>
            <a:r>
              <a:rPr lang="en-US" sz="2000">
                <a:solidFill>
                  <a:srgbClr val="CE0000"/>
                </a:solidFill>
                <a:latin typeface="inherit"/>
              </a:rPr>
              <a:t>15</a:t>
            </a:r>
            <a:r>
              <a:rPr lang="en-US" sz="2000">
                <a:solidFill>
                  <a:srgbClr val="333333"/>
                </a:solidFill>
                <a:latin typeface="inherit"/>
              </a:rPr>
              <a:t>,</a:t>
            </a:r>
            <a:r>
              <a:rPr lang="en-US" sz="2000">
                <a:solidFill>
                  <a:srgbClr val="CE0000"/>
                </a:solidFill>
                <a:latin typeface="inherit"/>
              </a:rPr>
              <a:t>40</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002D7A"/>
                </a:solidFill>
                <a:latin typeface="inherit"/>
              </a:rPr>
              <a:t>timeedit</a:t>
            </a:r>
            <a:r>
              <a:rPr lang="en-US" sz="2000">
                <a:solidFill>
                  <a:srgbClr val="006FE0"/>
                </a:solidFill>
                <a:latin typeface="inherit"/>
              </a:rPr>
              <a:t> = </a:t>
            </a:r>
            <a:r>
              <a:rPr lang="en-US" sz="2000">
                <a:solidFill>
                  <a:srgbClr val="004ED0"/>
                </a:solidFill>
                <a:latin typeface="inherit"/>
              </a:rPr>
              <a:t>QTimeEdit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timeedit</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15</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timeedit</a:t>
            </a:r>
            <a:r>
              <a:rPr lang="en-US" sz="2000">
                <a:solidFill>
                  <a:srgbClr val="333333"/>
                </a:solidFill>
                <a:latin typeface="inherit"/>
              </a:rPr>
              <a:t>.</a:t>
            </a:r>
            <a:r>
              <a:rPr lang="en-US" sz="2000">
                <a:solidFill>
                  <a:srgbClr val="004ED0"/>
                </a:solidFill>
                <a:latin typeface="inherit"/>
              </a:rPr>
              <a:t>setTime</a:t>
            </a:r>
            <a:r>
              <a:rPr lang="en-US" sz="2000">
                <a:solidFill>
                  <a:srgbClr val="333333"/>
                </a:solidFill>
                <a:latin typeface="inherit"/>
              </a:rPr>
              <a:t>(</a:t>
            </a:r>
            <a:r>
              <a:rPr lang="en-US" sz="2000">
                <a:solidFill>
                  <a:srgbClr val="002D7A"/>
                </a:solidFill>
                <a:latin typeface="inherit"/>
              </a:rPr>
              <a:t>time</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002D7A"/>
                </a:solidFill>
                <a:latin typeface="inherit"/>
              </a:rPr>
              <a:t>timeedit</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r>
              <a:rPr lang="en-US" sz="2000">
                <a:solidFill>
                  <a:srgbClr val="000000"/>
                </a:solidFill>
                <a:latin typeface="Monaco"/>
              </a:rPr>
              <a:t>  </a:t>
            </a:r>
          </a:p>
          <a:p>
            <a:pPr>
              <a:lnSpc>
                <a:spcPct val="85000"/>
              </a:lnSpc>
            </a:pPr>
            <a:r>
              <a:rPr lang="en-US" sz="2000">
                <a:solidFill>
                  <a:srgbClr val="000000"/>
                </a:solidFill>
                <a:latin typeface="Monaco"/>
              </a:rPr>
              <a:t> </a:t>
            </a:r>
          </a:p>
          <a:p>
            <a:pPr>
              <a:lnSpc>
                <a:spcPct val="85000"/>
              </a:lnSpc>
            </a:pPr>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002D7A"/>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Window</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2D7A"/>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004ED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41774210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12FC-5B06-4519-8C17-C733822E94E9}"/>
              </a:ext>
            </a:extLst>
          </p:cNvPr>
          <p:cNvSpPr>
            <a:spLocks noGrp="1"/>
          </p:cNvSpPr>
          <p:nvPr>
            <p:ph type="title"/>
          </p:nvPr>
        </p:nvSpPr>
        <p:spPr>
          <a:xfrm>
            <a:off x="9624" y="19251"/>
            <a:ext cx="9134375" cy="765754"/>
          </a:xfrm>
        </p:spPr>
        <p:txBody>
          <a:bodyPr>
            <a:normAutofit/>
          </a:bodyPr>
          <a:lstStyle/>
          <a:p>
            <a:r>
              <a:rPr lang="en-US"/>
              <a:t>Ví dụ thực tế về QListWidget </a:t>
            </a:r>
          </a:p>
        </p:txBody>
      </p:sp>
      <p:sp>
        <p:nvSpPr>
          <p:cNvPr id="3" name="Content Placeholder 2">
            <a:extLst>
              <a:ext uri="{FF2B5EF4-FFF2-40B4-BE49-F238E27FC236}">
                <a16:creationId xmlns:a16="http://schemas.microsoft.com/office/drawing/2014/main" id="{E23459B3-E5AE-4073-B4F5-F594DC18A38D}"/>
              </a:ext>
            </a:extLst>
          </p:cNvPr>
          <p:cNvSpPr>
            <a:spLocks noGrp="1"/>
          </p:cNvSpPr>
          <p:nvPr>
            <p:ph idx="1"/>
          </p:nvPr>
        </p:nvSpPr>
        <p:spPr>
          <a:xfrm>
            <a:off x="9624" y="957532"/>
            <a:ext cx="9134375" cy="5881218"/>
          </a:xfrm>
        </p:spPr>
        <p:txBody>
          <a:bodyPr/>
          <a:lstStyle/>
          <a:p>
            <a:pPr marL="0" indent="0">
              <a:buNone/>
            </a:pPr>
            <a:r>
              <a:rPr lang="vi-VN"/>
              <a:t>ListWidget là một tiện ích danh sách đơn giản cung cấp một cách dễ dàng để hiển thị một số mục, trong đó có thể chọn một hoặc nhiều mục .</a:t>
            </a:r>
          </a:p>
          <a:p>
            <a:pPr marL="0" indent="0">
              <a:buNone/>
            </a:pPr>
            <a:endParaRPr lang="en-US"/>
          </a:p>
        </p:txBody>
      </p:sp>
      <p:graphicFrame>
        <p:nvGraphicFramePr>
          <p:cNvPr id="4" name="Table 3">
            <a:extLst>
              <a:ext uri="{FF2B5EF4-FFF2-40B4-BE49-F238E27FC236}">
                <a16:creationId xmlns:a16="http://schemas.microsoft.com/office/drawing/2014/main" id="{576883E3-2ACC-4162-A967-37C29BE90B4F}"/>
              </a:ext>
            </a:extLst>
          </p:cNvPr>
          <p:cNvGraphicFramePr>
            <a:graphicFrameLocks noGrp="1"/>
          </p:cNvGraphicFramePr>
          <p:nvPr>
            <p:extLst>
              <p:ext uri="{D42A27DB-BD31-4B8C-83A1-F6EECF244321}">
                <p14:modId xmlns:p14="http://schemas.microsoft.com/office/powerpoint/2010/main" val="2201801708"/>
              </p:ext>
            </p:extLst>
          </p:nvPr>
        </p:nvGraphicFramePr>
        <p:xfrm>
          <a:off x="1" y="3301365"/>
          <a:ext cx="9134374" cy="1798320"/>
        </p:xfrm>
        <a:graphic>
          <a:graphicData uri="http://schemas.openxmlformats.org/drawingml/2006/table">
            <a:tbl>
              <a:tblPr/>
              <a:tblGrid>
                <a:gridCol w="697336">
                  <a:extLst>
                    <a:ext uri="{9D8B030D-6E8A-4147-A177-3AD203B41FA5}">
                      <a16:colId xmlns:a16="http://schemas.microsoft.com/office/drawing/2014/main" val="1254987432"/>
                    </a:ext>
                  </a:extLst>
                </a:gridCol>
                <a:gridCol w="8437038">
                  <a:extLst>
                    <a:ext uri="{9D8B030D-6E8A-4147-A177-3AD203B41FA5}">
                      <a16:colId xmlns:a16="http://schemas.microsoft.com/office/drawing/2014/main" val="4131764043"/>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r>
                        <a:rPr lang="en-US" sz="28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800" b="0">
                          <a:solidFill>
                            <a:srgbClr val="004ED0"/>
                          </a:solidFill>
                          <a:effectLst/>
                          <a:latin typeface="inherit"/>
                        </a:rPr>
                        <a:t>from PyQt5 import QtGui</a:t>
                      </a:r>
                      <a:endParaRPr lang="en-US" sz="2800" b="0">
                        <a:solidFill>
                          <a:srgbClr val="000000"/>
                        </a:solidFill>
                        <a:effectLst/>
                        <a:latin typeface="inherit"/>
                      </a:endParaRPr>
                    </a:p>
                    <a:p>
                      <a:pPr algn="l" fontAlgn="t"/>
                      <a:r>
                        <a:rPr lang="en-US" sz="2800" b="0">
                          <a:solidFill>
                            <a:srgbClr val="004ED0"/>
                          </a:solidFill>
                          <a:effectLst/>
                          <a:latin typeface="inherit"/>
                        </a:rPr>
                        <a:t>from </a:t>
                      </a:r>
                      <a:r>
                        <a:rPr lang="en-US" sz="2800" b="0">
                          <a:solidFill>
                            <a:srgbClr val="002D7A"/>
                          </a:solidFill>
                          <a:effectLst/>
                          <a:latin typeface="inherit"/>
                        </a:rPr>
                        <a:t>PyQt5</a:t>
                      </a:r>
                      <a:r>
                        <a:rPr lang="en-US" sz="2800" b="0">
                          <a:solidFill>
                            <a:srgbClr val="333333"/>
                          </a:solidFill>
                          <a:effectLst/>
                          <a:latin typeface="inherit"/>
                        </a:rPr>
                        <a:t>.</a:t>
                      </a:r>
                      <a:r>
                        <a:rPr lang="en-US" sz="2800" b="0">
                          <a:solidFill>
                            <a:srgbClr val="004ED0"/>
                          </a:solidFill>
                          <a:effectLst/>
                          <a:latin typeface="inherit"/>
                        </a:rPr>
                        <a:t>QtWidgets import </a:t>
                      </a:r>
                      <a:r>
                        <a:rPr lang="en-US" sz="2800" b="0">
                          <a:solidFill>
                            <a:srgbClr val="002D7A"/>
                          </a:solidFill>
                          <a:effectLst/>
                          <a:latin typeface="inherit"/>
                        </a:rPr>
                        <a:t>QApplication</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QWidget</a:t>
                      </a:r>
                      <a:r>
                        <a:rPr lang="en-US" sz="2800" b="0">
                          <a:solidFill>
                            <a:srgbClr val="333333"/>
                          </a:solidFill>
                          <a:effectLst/>
                          <a:latin typeface="inherit"/>
                        </a:rPr>
                        <a:t>,</a:t>
                      </a:r>
                    </a:p>
                    <a:p>
                      <a:pPr algn="r" fontAlgn="t"/>
                      <a:r>
                        <a:rPr lang="en-US" sz="2800" b="0">
                          <a:solidFill>
                            <a:srgbClr val="006FE0"/>
                          </a:solidFill>
                          <a:effectLst/>
                          <a:latin typeface="inherit"/>
                        </a:rPr>
                        <a:t> </a:t>
                      </a:r>
                      <a:r>
                        <a:rPr lang="en-US" sz="2800" b="0">
                          <a:solidFill>
                            <a:srgbClr val="002D7A"/>
                          </a:solidFill>
                          <a:effectLst/>
                          <a:latin typeface="inherit"/>
                        </a:rPr>
                        <a:t>QListWidget</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2D7A"/>
                          </a:solidFill>
                          <a:effectLst/>
                          <a:latin typeface="inherit"/>
                        </a:rPr>
                        <a:t>QLabel</a:t>
                      </a:r>
                      <a:r>
                        <a:rPr lang="en-US" sz="2800" b="0">
                          <a:solidFill>
                            <a:srgbClr val="333333"/>
                          </a:solidFill>
                          <a:effectLst/>
                          <a:latin typeface="inherit"/>
                        </a:rPr>
                        <a:t>,</a:t>
                      </a:r>
                      <a:r>
                        <a:rPr lang="en-US" sz="2800" b="0">
                          <a:solidFill>
                            <a:srgbClr val="006FE0"/>
                          </a:solidFill>
                          <a:effectLst/>
                          <a:latin typeface="inherit"/>
                        </a:rPr>
                        <a:t> </a:t>
                      </a:r>
                      <a:r>
                        <a:rPr lang="en-US" sz="2800" b="0">
                          <a:solidFill>
                            <a:srgbClr val="004ED0"/>
                          </a:solidFill>
                          <a:effectLst/>
                          <a:latin typeface="inherit"/>
                        </a:rPr>
                        <a:t>QVBoxLayout</a:t>
                      </a:r>
                      <a:endParaRPr lang="en-US" sz="2800" b="0">
                        <a:solidFill>
                          <a:srgbClr val="000000"/>
                        </a:solidFill>
                        <a:effectLst/>
                        <a:latin typeface="inherit"/>
                      </a:endParaRPr>
                    </a:p>
                    <a:p>
                      <a:pPr algn="l" fontAlgn="t"/>
                      <a:r>
                        <a:rPr lang="en-US" sz="2800" b="0">
                          <a:solidFill>
                            <a:srgbClr val="004ED0"/>
                          </a:solidFill>
                          <a:effectLst/>
                          <a:latin typeface="inherit"/>
                        </a:rPr>
                        <a:t>import </a:t>
                      </a:r>
                      <a:r>
                        <a:rPr lang="en-US" sz="2800" b="0">
                          <a:solidFill>
                            <a:srgbClr val="002D7A"/>
                          </a:solidFill>
                          <a:effectLst/>
                          <a:latin typeface="inherit"/>
                        </a:rPr>
                        <a:t>sys</a:t>
                      </a:r>
                      <a:endParaRPr lang="en-US"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449694879"/>
                  </a:ext>
                </a:extLst>
              </a:tr>
            </a:tbl>
          </a:graphicData>
        </a:graphic>
      </p:graphicFrame>
    </p:spTree>
    <p:extLst>
      <p:ext uri="{BB962C8B-B14F-4D97-AF65-F5344CB8AC3E}">
        <p14:creationId xmlns:p14="http://schemas.microsoft.com/office/powerpoint/2010/main" val="17505778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F8EEEC-75CD-4E69-AD08-4FF18F0C1EB1}"/>
              </a:ext>
            </a:extLst>
          </p:cNvPr>
          <p:cNvSpPr>
            <a:spLocks noGrp="1"/>
          </p:cNvSpPr>
          <p:nvPr>
            <p:ph idx="1"/>
          </p:nvPr>
        </p:nvSpPr>
        <p:spPr>
          <a:xfrm>
            <a:off x="9625" y="785005"/>
            <a:ext cx="2319508" cy="6053745"/>
          </a:xfrm>
        </p:spPr>
        <p:txBody>
          <a:bodyPr>
            <a:normAutofit/>
          </a:bodyPr>
          <a:lstStyle/>
          <a:p>
            <a:pPr marL="0" indent="0">
              <a:buNone/>
            </a:pPr>
            <a:r>
              <a:rPr lang="en-US" sz="2400"/>
              <a:t>C</a:t>
            </a:r>
            <a:r>
              <a:rPr lang="vi-VN" sz="2400"/>
              <a:t>húng t</a:t>
            </a:r>
            <a:r>
              <a:rPr lang="en-US" sz="2400"/>
              <a:t>a</a:t>
            </a:r>
            <a:r>
              <a:rPr lang="vi-VN" sz="2400"/>
              <a:t> tạo </a:t>
            </a:r>
            <a:r>
              <a:rPr lang="en-US" sz="2400"/>
              <a:t>Window </a:t>
            </a:r>
            <a:r>
              <a:rPr lang="vi-VN" sz="2400"/>
              <a:t>kế thừa từ QWidget và thêm các mục cần thiết cho cửa sổ như tiêu đề, </a:t>
            </a:r>
            <a:r>
              <a:rPr lang="en-US" sz="2400"/>
              <a:t>vị trí, </a:t>
            </a:r>
            <a:r>
              <a:rPr lang="vi-VN" sz="2400"/>
              <a:t>biểu tượng, v.v. và trong phương thức initWindow (), </a:t>
            </a:r>
            <a:r>
              <a:rPr lang="en-US" sz="2400"/>
              <a:t>thì </a:t>
            </a:r>
            <a:r>
              <a:rPr lang="vi-VN" sz="2400"/>
              <a:t>khởi tạo các thành phần của mình, </a:t>
            </a:r>
            <a:r>
              <a:rPr lang="en-US" sz="2400"/>
              <a:t>và </a:t>
            </a:r>
            <a:r>
              <a:rPr lang="vi-VN" sz="2400"/>
              <a:t>tạo ra QListWidget </a:t>
            </a:r>
            <a:endParaRPr lang="en-US" sz="2400"/>
          </a:p>
        </p:txBody>
      </p:sp>
      <p:sp>
        <p:nvSpPr>
          <p:cNvPr id="4" name="Title 1">
            <a:extLst>
              <a:ext uri="{FF2B5EF4-FFF2-40B4-BE49-F238E27FC236}">
                <a16:creationId xmlns:a16="http://schemas.microsoft.com/office/drawing/2014/main" id="{56943214-F430-4A3F-9DD1-B7C22BBA7C57}"/>
              </a:ext>
            </a:extLst>
          </p:cNvPr>
          <p:cNvSpPr>
            <a:spLocks noGrp="1"/>
          </p:cNvSpPr>
          <p:nvPr>
            <p:ph type="title"/>
          </p:nvPr>
        </p:nvSpPr>
        <p:spPr>
          <a:xfrm>
            <a:off x="9624" y="19251"/>
            <a:ext cx="9134375" cy="765754"/>
          </a:xfrm>
        </p:spPr>
        <p:txBody>
          <a:bodyPr>
            <a:normAutofit/>
          </a:bodyPr>
          <a:lstStyle/>
          <a:p>
            <a:r>
              <a:rPr lang="en-US"/>
              <a:t>Ví dụ thực tế về QListWidget (t.t)</a:t>
            </a:r>
          </a:p>
        </p:txBody>
      </p:sp>
      <p:sp>
        <p:nvSpPr>
          <p:cNvPr id="5" name="Rectangle 4">
            <a:extLst>
              <a:ext uri="{FF2B5EF4-FFF2-40B4-BE49-F238E27FC236}">
                <a16:creationId xmlns:a16="http://schemas.microsoft.com/office/drawing/2014/main" id="{A97D8182-C15F-4B38-9BC7-A39C241AD075}"/>
              </a:ext>
            </a:extLst>
          </p:cNvPr>
          <p:cNvSpPr/>
          <p:nvPr/>
        </p:nvSpPr>
        <p:spPr>
          <a:xfrm>
            <a:off x="2604179" y="727076"/>
            <a:ext cx="6530196" cy="6111673"/>
          </a:xfrm>
          <a:prstGeom prst="rect">
            <a:avLst/>
          </a:prstGeom>
        </p:spPr>
        <p:txBody>
          <a:bodyPr wrap="square">
            <a:spAutoFit/>
          </a:bodyPr>
          <a:lstStyle/>
          <a:p>
            <a:pPr>
              <a:lnSpc>
                <a:spcPct val="85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QListWidget"</a:t>
            </a:r>
            <a:endParaRPr lang="en-US" sz="2000">
              <a:solidFill>
                <a:srgbClr val="000000"/>
              </a:solidFill>
              <a:latin typeface="Monaco"/>
            </a:endParaRPr>
          </a:p>
          <a:p>
            <a:pPr lvl="1">
              <a:lnSpc>
                <a:spcPct val="85000"/>
              </a:lnSpc>
            </a:pP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InitWindow</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latin typeface="inherit"/>
              </a:rPr>
              <a:t>def InitWindow</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a:t>
            </a:r>
            <a:r>
              <a:rPr lang="en-US" sz="2000">
                <a:solidFill>
                  <a:srgbClr val="004ED0"/>
                </a:solidFill>
                <a:latin typeface="inherit"/>
              </a:rPr>
              <a:t>QVBoxLayout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a:t>
            </a:r>
            <a:r>
              <a:rPr lang="en-US" sz="2000">
                <a:solidFill>
                  <a:srgbClr val="006FE0"/>
                </a:solidFill>
                <a:latin typeface="inherit"/>
              </a:rPr>
              <a:t> = </a:t>
            </a:r>
            <a:r>
              <a:rPr lang="en-US" sz="2000">
                <a:solidFill>
                  <a:srgbClr val="004ED0"/>
                </a:solidFill>
                <a:latin typeface="inherit"/>
              </a:rPr>
              <a:t>QListWidget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a:t>
            </a:r>
            <a:r>
              <a:rPr lang="en-US" sz="2000">
                <a:solidFill>
                  <a:srgbClr val="333333"/>
                </a:solidFill>
                <a:latin typeface="inherit"/>
              </a:rPr>
              <a:t>.</a:t>
            </a:r>
            <a:r>
              <a:rPr lang="en-US" sz="2000">
                <a:solidFill>
                  <a:srgbClr val="004ED0"/>
                </a:solidFill>
                <a:latin typeface="inherit"/>
              </a:rPr>
              <a:t>insertItem</a:t>
            </a:r>
            <a:r>
              <a:rPr lang="en-US" sz="2000">
                <a:solidFill>
                  <a:srgbClr val="333333"/>
                </a:solidFill>
                <a:latin typeface="inherit"/>
              </a:rPr>
              <a:t>(</a:t>
            </a:r>
            <a:r>
              <a:rPr lang="en-US" sz="2000">
                <a:solidFill>
                  <a:srgbClr val="CE0000"/>
                </a:solidFill>
                <a:latin typeface="inherit"/>
              </a:rPr>
              <a:t>0</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"Python"</a:t>
            </a:r>
            <a:r>
              <a:rPr lang="en-US" sz="2000">
                <a:solidFill>
                  <a:srgbClr val="333333"/>
                </a:solidFill>
                <a:latin typeface="inherit"/>
              </a:rPr>
              <a:t>)</a:t>
            </a:r>
            <a:endParaRPr lang="en-US" sz="2000">
              <a:solidFill>
                <a:srgbClr val="000000"/>
              </a:solidFill>
              <a:latin typeface="Monaco"/>
            </a:endParaRPr>
          </a:p>
          <a:p>
            <a:pPr lvl="1">
              <a:lnSpc>
                <a:spcPct val="85000"/>
              </a:lnSpc>
            </a:pP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a:t>
            </a:r>
            <a:r>
              <a:rPr lang="en-US" sz="2000">
                <a:solidFill>
                  <a:srgbClr val="333333"/>
                </a:solidFill>
                <a:latin typeface="inherit"/>
              </a:rPr>
              <a:t>.</a:t>
            </a:r>
            <a:r>
              <a:rPr lang="en-US" sz="2000">
                <a:solidFill>
                  <a:srgbClr val="002D7A"/>
                </a:solidFill>
                <a:latin typeface="inherit"/>
              </a:rPr>
              <a:t>clicked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listview_clicked</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006FE0"/>
                </a:solidFill>
                <a:latin typeface="inherit"/>
              </a:rPr>
              <a:t> = </a:t>
            </a:r>
            <a:r>
              <a:rPr lang="en-US" sz="2000">
                <a:solidFill>
                  <a:srgbClr val="004ED0"/>
                </a:solidFill>
                <a:latin typeface="inherit"/>
              </a:rPr>
              <a:t>QLabel</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setFont</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QFont</a:t>
            </a:r>
            <a:r>
              <a:rPr lang="en-US" sz="2000">
                <a:solidFill>
                  <a:srgbClr val="333333"/>
                </a:solidFill>
                <a:latin typeface="inherit"/>
              </a:rPr>
              <a:t>(</a:t>
            </a:r>
            <a:r>
              <a:rPr lang="en-US" sz="2000">
                <a:solidFill>
                  <a:srgbClr val="008000"/>
                </a:solidFill>
                <a:latin typeface="inherit"/>
              </a:rPr>
              <a:t>"Sanserif"</a:t>
            </a:r>
            <a:r>
              <a:rPr lang="en-US" sz="2000">
                <a:solidFill>
                  <a:srgbClr val="333333"/>
                </a:solidFill>
                <a:latin typeface="inherit"/>
              </a:rPr>
              <a:t>,</a:t>
            </a:r>
            <a:r>
              <a:rPr lang="en-US" sz="2000">
                <a:solidFill>
                  <a:srgbClr val="006FE0"/>
                </a:solidFill>
                <a:latin typeface="inherit"/>
              </a:rPr>
              <a:t> </a:t>
            </a:r>
            <a:r>
              <a:rPr lang="en-US" sz="2000">
                <a:solidFill>
                  <a:srgbClr val="CE0000"/>
                </a:solidFill>
                <a:latin typeface="inherit"/>
              </a:rPr>
              <a:t>15</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4ED0"/>
                </a:solidFill>
                <a:latin typeface="inherit"/>
              </a:rPr>
              <a:t>def listview_clicked</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002D7A"/>
                </a:solidFill>
                <a:latin typeface="inherit"/>
              </a:rPr>
              <a:t>item</a:t>
            </a:r>
            <a:r>
              <a:rPr lang="en-US" sz="2000">
                <a:solidFill>
                  <a:srgbClr val="006FE0"/>
                </a:solidFill>
                <a:latin typeface="inherit"/>
              </a:rPr>
              <a:t> =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list</a:t>
            </a:r>
            <a:r>
              <a:rPr lang="en-US" sz="2000">
                <a:solidFill>
                  <a:srgbClr val="333333"/>
                </a:solidFill>
                <a:latin typeface="inherit"/>
              </a:rPr>
              <a:t>.</a:t>
            </a:r>
            <a:r>
              <a:rPr lang="en-US" sz="2000">
                <a:solidFill>
                  <a:srgbClr val="004ED0"/>
                </a:solidFill>
                <a:latin typeface="inherit"/>
              </a:rPr>
              <a:t>currentItem</a:t>
            </a:r>
            <a:r>
              <a:rPr lang="en-US" sz="2000">
                <a:solidFill>
                  <a:srgbClr val="333333"/>
                </a:solidFill>
                <a:latin typeface="inherit"/>
              </a:rPr>
              <a:t>()</a:t>
            </a:r>
            <a:endParaRPr lang="en-US" sz="2000">
              <a:solidFill>
                <a:srgbClr val="000000"/>
              </a:solidFill>
              <a:latin typeface="Monaco"/>
            </a:endParaRPr>
          </a:p>
          <a:p>
            <a:pPr>
              <a:lnSpc>
                <a:spcPct val="85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setText</a:t>
            </a:r>
            <a:r>
              <a:rPr lang="en-US" sz="2000">
                <a:solidFill>
                  <a:srgbClr val="333333"/>
                </a:solidFill>
                <a:latin typeface="inherit"/>
              </a:rPr>
              <a:t>(</a:t>
            </a:r>
            <a:r>
              <a:rPr lang="en-US" sz="2000">
                <a:solidFill>
                  <a:srgbClr val="004ED0"/>
                </a:solidFill>
                <a:latin typeface="inherit"/>
              </a:rPr>
              <a:t>str</a:t>
            </a:r>
            <a:r>
              <a:rPr lang="en-US" sz="2000">
                <a:solidFill>
                  <a:srgbClr val="333333"/>
                </a:solidFill>
                <a:latin typeface="inherit"/>
              </a:rPr>
              <a:t>(</a:t>
            </a:r>
            <a:r>
              <a:rPr lang="en-US" sz="2000">
                <a:solidFill>
                  <a:srgbClr val="002D7A"/>
                </a:solidFill>
                <a:latin typeface="inherit"/>
              </a:rPr>
              <a:t>item</a:t>
            </a:r>
            <a:r>
              <a:rPr lang="en-US" sz="2000">
                <a:solidFill>
                  <a:srgbClr val="333333"/>
                </a:solidFill>
                <a:latin typeface="inherit"/>
              </a:rPr>
              <a:t>.</a:t>
            </a:r>
            <a:r>
              <a:rPr lang="en-US" sz="2000">
                <a:solidFill>
                  <a:srgbClr val="004ED0"/>
                </a:solidFill>
                <a:latin typeface="inherit"/>
              </a:rPr>
              <a:t>text</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12785112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2527D6A-F12D-48DA-8BAF-CF1AA7BAEF7C}"/>
              </a:ext>
            </a:extLst>
          </p:cNvPr>
          <p:cNvSpPr>
            <a:spLocks noGrp="1"/>
          </p:cNvSpPr>
          <p:nvPr>
            <p:ph type="title"/>
          </p:nvPr>
        </p:nvSpPr>
        <p:spPr>
          <a:xfrm>
            <a:off x="9624" y="19251"/>
            <a:ext cx="9134375" cy="765754"/>
          </a:xfrm>
        </p:spPr>
        <p:txBody>
          <a:bodyPr>
            <a:normAutofit/>
          </a:bodyPr>
          <a:lstStyle/>
          <a:p>
            <a:r>
              <a:rPr lang="en-US"/>
              <a:t>Ví dụ thực tế về QListWidget (t.t)</a:t>
            </a:r>
          </a:p>
        </p:txBody>
      </p:sp>
      <p:pic>
        <p:nvPicPr>
          <p:cNvPr id="4098" name="Picture 2">
            <a:extLst>
              <a:ext uri="{FF2B5EF4-FFF2-40B4-BE49-F238E27FC236}">
                <a16:creationId xmlns:a16="http://schemas.microsoft.com/office/drawing/2014/main" id="{996ADC93-62C6-4AA7-B3A7-2118477EC73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6174" y="1693486"/>
            <a:ext cx="6227776" cy="50694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483D70C-0869-4F91-97D0-067DBAEEFF96}"/>
              </a:ext>
            </a:extLst>
          </p:cNvPr>
          <p:cNvSpPr/>
          <p:nvPr/>
        </p:nvSpPr>
        <p:spPr>
          <a:xfrm>
            <a:off x="9624" y="785005"/>
            <a:ext cx="4572000" cy="830997"/>
          </a:xfrm>
          <a:prstGeom prst="rect">
            <a:avLst/>
          </a:prstGeom>
        </p:spPr>
        <p:txBody>
          <a:bodyPr>
            <a:spAutoFit/>
          </a:bodyPr>
          <a:lstStyle/>
          <a:p>
            <a:r>
              <a:rPr lang="vi-VN" sz="2400">
                <a:solidFill>
                  <a:srgbClr val="3A3A3A"/>
                </a:solidFill>
              </a:rPr>
              <a:t>Cuối cùng, chúng ta tạo đối tượng QApplication và Window</a:t>
            </a:r>
            <a:endParaRPr lang="en-US" sz="2400"/>
          </a:p>
        </p:txBody>
      </p:sp>
      <p:sp>
        <p:nvSpPr>
          <p:cNvPr id="6" name="Rectangle 5">
            <a:extLst>
              <a:ext uri="{FF2B5EF4-FFF2-40B4-BE49-F238E27FC236}">
                <a16:creationId xmlns:a16="http://schemas.microsoft.com/office/drawing/2014/main" id="{0AFD984F-F8FB-4856-89B0-78F51A5B31AA}"/>
              </a:ext>
            </a:extLst>
          </p:cNvPr>
          <p:cNvSpPr/>
          <p:nvPr/>
        </p:nvSpPr>
        <p:spPr>
          <a:xfrm>
            <a:off x="5185473" y="862489"/>
            <a:ext cx="3753488" cy="1200329"/>
          </a:xfrm>
          <a:prstGeom prst="rect">
            <a:avLst/>
          </a:prstGeom>
          <a:solidFill>
            <a:schemeClr val="accent4">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194811244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8B75E-7DE7-422E-B176-48A5253FDCA6}"/>
              </a:ext>
            </a:extLst>
          </p:cNvPr>
          <p:cNvSpPr>
            <a:spLocks noGrp="1"/>
          </p:cNvSpPr>
          <p:nvPr>
            <p:ph type="title"/>
          </p:nvPr>
        </p:nvSpPr>
        <p:spPr/>
        <p:txBody>
          <a:bodyPr>
            <a:normAutofit/>
          </a:bodyPr>
          <a:lstStyle/>
          <a:p>
            <a:r>
              <a:rPr lang="en-US"/>
              <a:t>Tạo d</a:t>
            </a:r>
            <a:r>
              <a:rPr lang="vi-VN"/>
              <a:t>ự án đơn giản với QListWidget</a:t>
            </a:r>
            <a:endParaRPr lang="en-US"/>
          </a:p>
        </p:txBody>
      </p:sp>
      <p:sp>
        <p:nvSpPr>
          <p:cNvPr id="3" name="Content Placeholder 2">
            <a:extLst>
              <a:ext uri="{FF2B5EF4-FFF2-40B4-BE49-F238E27FC236}">
                <a16:creationId xmlns:a16="http://schemas.microsoft.com/office/drawing/2014/main" id="{B219DF36-55CC-451E-8229-484E2F25236A}"/>
              </a:ext>
            </a:extLst>
          </p:cNvPr>
          <p:cNvSpPr>
            <a:spLocks noGrp="1"/>
          </p:cNvSpPr>
          <p:nvPr>
            <p:ph idx="1"/>
          </p:nvPr>
        </p:nvSpPr>
        <p:spPr/>
        <p:txBody>
          <a:bodyPr>
            <a:normAutofit/>
          </a:bodyPr>
          <a:lstStyle/>
          <a:p>
            <a:pPr marL="0" indent="0">
              <a:buNone/>
            </a:pPr>
            <a:r>
              <a:rPr lang="en-US" sz="3200"/>
              <a:t>D</a:t>
            </a:r>
            <a:r>
              <a:rPr lang="vi-VN" sz="3200"/>
              <a:t>ự án mà chúng t</a:t>
            </a:r>
            <a:r>
              <a:rPr lang="en-US" sz="3200"/>
              <a:t>a</a:t>
            </a:r>
            <a:r>
              <a:rPr lang="vi-VN" sz="3200"/>
              <a:t> sẽ thực hiện đơn giản bằng cách có thể thêm </a:t>
            </a:r>
            <a:r>
              <a:rPr lang="en-US" sz="3200"/>
              <a:t>phần tử </a:t>
            </a:r>
            <a:r>
              <a:rPr lang="vi-VN" sz="3200"/>
              <a:t>vào </a:t>
            </a:r>
            <a:r>
              <a:rPr lang="vi-VN" sz="3200">
                <a:hlinkClick r:id="rId3"/>
              </a:rPr>
              <a:t>QListWidget</a:t>
            </a:r>
            <a:r>
              <a:rPr lang="vi-VN" sz="3200"/>
              <a:t>, có thể cập nhật </a:t>
            </a:r>
            <a:r>
              <a:rPr lang="en-US" sz="3200"/>
              <a:t>phần tử</a:t>
            </a:r>
            <a:r>
              <a:rPr lang="vi-VN" sz="3200"/>
              <a:t>, xóa </a:t>
            </a:r>
            <a:r>
              <a:rPr lang="en-US" sz="3200"/>
              <a:t>phần tử </a:t>
            </a:r>
            <a:r>
              <a:rPr lang="vi-VN" sz="3200"/>
              <a:t>và sắp xếp các</a:t>
            </a:r>
            <a:r>
              <a:rPr lang="en-US" sz="3200"/>
              <a:t> phần tử</a:t>
            </a:r>
          </a:p>
        </p:txBody>
      </p:sp>
      <p:graphicFrame>
        <p:nvGraphicFramePr>
          <p:cNvPr id="5" name="Table 4">
            <a:extLst>
              <a:ext uri="{FF2B5EF4-FFF2-40B4-BE49-F238E27FC236}">
                <a16:creationId xmlns:a16="http://schemas.microsoft.com/office/drawing/2014/main" id="{CBD02EAA-A221-40D6-AF8F-C93834007A9D}"/>
              </a:ext>
            </a:extLst>
          </p:cNvPr>
          <p:cNvGraphicFramePr>
            <a:graphicFrameLocks noGrp="1"/>
          </p:cNvGraphicFramePr>
          <p:nvPr>
            <p:extLst>
              <p:ext uri="{D42A27DB-BD31-4B8C-83A1-F6EECF244321}">
                <p14:modId xmlns:p14="http://schemas.microsoft.com/office/powerpoint/2010/main" val="263180327"/>
              </p:ext>
            </p:extLst>
          </p:nvPr>
        </p:nvGraphicFramePr>
        <p:xfrm>
          <a:off x="9624" y="3699043"/>
          <a:ext cx="9134376" cy="1920240"/>
        </p:xfrm>
        <a:graphic>
          <a:graphicData uri="http://schemas.openxmlformats.org/drawingml/2006/table">
            <a:tbl>
              <a:tblPr/>
              <a:tblGrid>
                <a:gridCol w="390689">
                  <a:extLst>
                    <a:ext uri="{9D8B030D-6E8A-4147-A177-3AD203B41FA5}">
                      <a16:colId xmlns:a16="http://schemas.microsoft.com/office/drawing/2014/main" val="4068837072"/>
                    </a:ext>
                  </a:extLst>
                </a:gridCol>
                <a:gridCol w="8743687">
                  <a:extLst>
                    <a:ext uri="{9D8B030D-6E8A-4147-A177-3AD203B41FA5}">
                      <a16:colId xmlns:a16="http://schemas.microsoft.com/office/drawing/2014/main" val="3953837582"/>
                    </a:ext>
                  </a:extLst>
                </a:gridCol>
              </a:tblGrid>
              <a:tr h="0">
                <a:tc>
                  <a:txBody>
                    <a:bodyPr/>
                    <a:lstStyle/>
                    <a:p>
                      <a:pPr algn="ctr" fontAlgn="t"/>
                      <a:r>
                        <a:rPr lang="en-US" sz="2400" b="0">
                          <a:solidFill>
                            <a:srgbClr val="5499DE"/>
                          </a:solidFill>
                          <a:effectLst/>
                          <a:latin typeface="inherit"/>
                        </a:rPr>
                        <a:t>1</a:t>
                      </a:r>
                    </a:p>
                    <a:p>
                      <a:pPr algn="ctr" fontAlgn="t"/>
                      <a:endParaRPr lang="en-US" sz="2400" b="0">
                        <a:solidFill>
                          <a:srgbClr val="5499DE"/>
                        </a:solidFill>
                        <a:effectLst/>
                        <a:latin typeface="inherit"/>
                      </a:endParaRPr>
                    </a:p>
                    <a:p>
                      <a:pPr algn="ctr" fontAlgn="t"/>
                      <a:endParaRPr lang="en-US" sz="2400" b="0">
                        <a:solidFill>
                          <a:srgbClr val="5499DE"/>
                        </a:solidFill>
                        <a:effectLst/>
                        <a:latin typeface="inherit"/>
                      </a:endParaRPr>
                    </a:p>
                    <a:p>
                      <a:pPr algn="ctr" fontAlgn="t"/>
                      <a:r>
                        <a:rPr lang="en-US" sz="2400" b="0">
                          <a:solidFill>
                            <a:srgbClr val="317CC5"/>
                          </a:solidFill>
                          <a:effectLst/>
                          <a:latin typeface="inherit"/>
                        </a:rPr>
                        <a:t>2</a:t>
                      </a:r>
                    </a:p>
                    <a:p>
                      <a:pPr algn="ctr" fontAlgn="t"/>
                      <a:r>
                        <a:rPr lang="en-US" sz="24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QDialog</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QListWidget</a:t>
                      </a:r>
                      <a:r>
                        <a:rPr lang="en-US" sz="2400" b="0">
                          <a:solidFill>
                            <a:srgbClr val="333333"/>
                          </a:solidFill>
                          <a:effectLst/>
                          <a:latin typeface="inherit"/>
                        </a:rPr>
                        <a:t>,</a:t>
                      </a:r>
                      <a:r>
                        <a:rPr lang="en-US" sz="2400" b="0">
                          <a:solidFill>
                            <a:srgbClr val="000000"/>
                          </a:solidFill>
                          <a:effectLst/>
                          <a:latin typeface="inherit"/>
                        </a:rPr>
                        <a:t>QLineEdit</a:t>
                      </a:r>
                      <a:r>
                        <a:rPr lang="en-US" sz="2400" b="0">
                          <a:solidFill>
                            <a:srgbClr val="006FE0"/>
                          </a:solidFill>
                          <a:effectLst/>
                          <a:latin typeface="inherit"/>
                        </a:rPr>
                        <a:t> </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0000"/>
                          </a:solidFill>
                          <a:effectLst/>
                          <a:latin typeface="inherit"/>
                        </a:rPr>
                        <a:t>QMessageBox</a:t>
                      </a:r>
                      <a:r>
                        <a:rPr lang="en-US" sz="2400" b="0">
                          <a:solidFill>
                            <a:srgbClr val="006FE0"/>
                          </a:solidFill>
                          <a:effectLst/>
                          <a:latin typeface="inherit"/>
                        </a:rPr>
                        <a:t> </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QVBoxLayout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QInputDialog</a:t>
                      </a:r>
                      <a:r>
                        <a:rPr lang="en-US" sz="2400" b="0">
                          <a:solidFill>
                            <a:srgbClr val="333333"/>
                          </a:solidFill>
                          <a:effectLst/>
                          <a:latin typeface="inherit"/>
                        </a:rPr>
                        <a:t>,</a:t>
                      </a:r>
                      <a:r>
                        <a:rPr lang="en-US" sz="2400" b="0">
                          <a:solidFill>
                            <a:srgbClr val="002D7A"/>
                          </a:solidFill>
                          <a:effectLst/>
                          <a:latin typeface="inherit"/>
                        </a:rPr>
                        <a:t>QPushButton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QHBoxLayout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QApplication</a:t>
                      </a:r>
                      <a:endParaRPr lang="en-US" sz="2400" b="0">
                        <a:solidFill>
                          <a:srgbClr val="000000"/>
                        </a:solidFill>
                        <a:effectLst/>
                        <a:latin typeface="inherit"/>
                      </a:endParaRPr>
                    </a:p>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import </a:t>
                      </a:r>
                      <a:r>
                        <a:rPr lang="en-US" sz="2400" b="0">
                          <a:solidFill>
                            <a:srgbClr val="002D7A"/>
                          </a:solidFill>
                          <a:effectLst/>
                          <a:latin typeface="inherit"/>
                        </a:rPr>
                        <a:t>sys</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1949070646"/>
                  </a:ext>
                </a:extLst>
              </a:tr>
            </a:tbl>
          </a:graphicData>
        </a:graphic>
      </p:graphicFrame>
    </p:spTree>
    <p:extLst>
      <p:ext uri="{BB962C8B-B14F-4D97-AF65-F5344CB8AC3E}">
        <p14:creationId xmlns:p14="http://schemas.microsoft.com/office/powerpoint/2010/main" val="24882531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62F62-435B-40DD-B4D9-92978A34EBF4}"/>
              </a:ext>
            </a:extLst>
          </p:cNvPr>
          <p:cNvSpPr>
            <a:spLocks noGrp="1"/>
          </p:cNvSpPr>
          <p:nvPr>
            <p:ph idx="1"/>
          </p:nvPr>
        </p:nvSpPr>
        <p:spPr>
          <a:xfrm>
            <a:off x="9624" y="741873"/>
            <a:ext cx="9134375" cy="6096877"/>
          </a:xfrm>
        </p:spPr>
        <p:txBody>
          <a:bodyPr/>
          <a:lstStyle/>
          <a:p>
            <a:pPr marL="0" indent="0">
              <a:buNone/>
            </a:pPr>
            <a:r>
              <a:rPr lang="en-US"/>
              <a:t>Tạo lớp Programming Dialog kế thừa từ QDialog và trong hàm tạo, thêm các yêu cầu cho dự án</a:t>
            </a:r>
          </a:p>
        </p:txBody>
      </p:sp>
      <p:sp>
        <p:nvSpPr>
          <p:cNvPr id="4" name="Title 1">
            <a:extLst>
              <a:ext uri="{FF2B5EF4-FFF2-40B4-BE49-F238E27FC236}">
                <a16:creationId xmlns:a16="http://schemas.microsoft.com/office/drawing/2014/main" id="{A3908070-7F9D-4DD6-BA1A-9F47C5FC6C06}"/>
              </a:ext>
            </a:extLst>
          </p:cNvPr>
          <p:cNvSpPr>
            <a:spLocks noGrp="1"/>
          </p:cNvSpPr>
          <p:nvPr>
            <p:ph type="title"/>
          </p:nvPr>
        </p:nvSpPr>
        <p:spPr>
          <a:xfrm>
            <a:off x="9624" y="19251"/>
            <a:ext cx="9134375" cy="722622"/>
          </a:xfrm>
        </p:spPr>
        <p:txBody>
          <a:bodyPr>
            <a:normAutofit fontScale="90000"/>
          </a:bodyPr>
          <a:lstStyle/>
          <a:p>
            <a:r>
              <a:rPr lang="en-US"/>
              <a:t>Tạo d</a:t>
            </a:r>
            <a:r>
              <a:rPr lang="vi-VN"/>
              <a:t>ự án đơn giản với QListWidget</a:t>
            </a:r>
            <a:r>
              <a:rPr lang="en-US"/>
              <a:t> (t.t)</a:t>
            </a:r>
          </a:p>
        </p:txBody>
      </p:sp>
      <p:pic>
        <p:nvPicPr>
          <p:cNvPr id="7170" name="Picture 2">
            <a:extLst>
              <a:ext uri="{FF2B5EF4-FFF2-40B4-BE49-F238E27FC236}">
                <a16:creationId xmlns:a16="http://schemas.microsoft.com/office/drawing/2014/main" id="{17791C51-225E-4969-BDC6-3230F6AA9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877" y="1652588"/>
            <a:ext cx="8218187" cy="5115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3499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8941107-5FDE-427D-8100-2D2AEA2E5907}"/>
              </a:ext>
            </a:extLst>
          </p:cNvPr>
          <p:cNvSpPr>
            <a:spLocks noGrp="1"/>
          </p:cNvSpPr>
          <p:nvPr>
            <p:ph type="title"/>
          </p:nvPr>
        </p:nvSpPr>
        <p:spPr>
          <a:xfrm>
            <a:off x="9624" y="19251"/>
            <a:ext cx="9134375" cy="722622"/>
          </a:xfrm>
        </p:spPr>
        <p:txBody>
          <a:bodyPr>
            <a:normAutofit fontScale="90000"/>
          </a:bodyPr>
          <a:lstStyle/>
          <a:p>
            <a:r>
              <a:rPr lang="en-US"/>
              <a:t>Tạo d</a:t>
            </a:r>
            <a:r>
              <a:rPr lang="vi-VN"/>
              <a:t>ự án đơn giản với QListWidget</a:t>
            </a:r>
            <a:r>
              <a:rPr lang="en-US"/>
              <a:t> (t.t)</a:t>
            </a:r>
          </a:p>
        </p:txBody>
      </p:sp>
      <p:sp>
        <p:nvSpPr>
          <p:cNvPr id="5" name="Rectangle 4">
            <a:extLst>
              <a:ext uri="{FF2B5EF4-FFF2-40B4-BE49-F238E27FC236}">
                <a16:creationId xmlns:a16="http://schemas.microsoft.com/office/drawing/2014/main" id="{225D1D3F-5A47-49FE-B225-40A317CF306F}"/>
              </a:ext>
            </a:extLst>
          </p:cNvPr>
          <p:cNvSpPr/>
          <p:nvPr/>
        </p:nvSpPr>
        <p:spPr>
          <a:xfrm>
            <a:off x="9624" y="741873"/>
            <a:ext cx="9134376" cy="1141082"/>
          </a:xfrm>
          <a:prstGeom prst="rect">
            <a:avLst/>
          </a:prstGeom>
        </p:spPr>
        <p:txBody>
          <a:bodyPr wrap="square">
            <a:spAutoFit/>
          </a:bodyPr>
          <a:lstStyle/>
          <a:p>
            <a:pPr>
              <a:lnSpc>
                <a:spcPct val="85000"/>
              </a:lnSpc>
            </a:pPr>
            <a:r>
              <a:rPr lang="en-US" sz="2000">
                <a:solidFill>
                  <a:srgbClr val="004ED0"/>
                </a:solidFill>
                <a:latin typeface="inherit"/>
              </a:rPr>
              <a:t>from </a:t>
            </a:r>
            <a:r>
              <a:rPr lang="en-US" sz="2000">
                <a:solidFill>
                  <a:srgbClr val="002D7A"/>
                </a:solidFill>
                <a:latin typeface="inherit"/>
              </a:rPr>
              <a:t>PyQt5</a:t>
            </a:r>
            <a:r>
              <a:rPr lang="en-US" sz="2000">
                <a:solidFill>
                  <a:srgbClr val="333333"/>
                </a:solidFill>
                <a:latin typeface="inherit"/>
              </a:rPr>
              <a:t>.</a:t>
            </a:r>
            <a:r>
              <a:rPr lang="en-US" sz="2000">
                <a:solidFill>
                  <a:srgbClr val="004ED0"/>
                </a:solidFill>
                <a:latin typeface="inherit"/>
              </a:rPr>
              <a:t>QtWidgets import </a:t>
            </a:r>
            <a:r>
              <a:rPr lang="en-US" sz="2000">
                <a:solidFill>
                  <a:srgbClr val="002D7A"/>
                </a:solidFill>
                <a:latin typeface="inherit"/>
              </a:rPr>
              <a:t>QDialog</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QListWidget</a:t>
            </a:r>
            <a:r>
              <a:rPr lang="en-US" sz="2000">
                <a:solidFill>
                  <a:srgbClr val="333333"/>
                </a:solidFill>
                <a:latin typeface="inherit"/>
              </a:rPr>
              <a:t>,</a:t>
            </a:r>
            <a:r>
              <a:rPr lang="en-US" sz="2000">
                <a:solidFill>
                  <a:srgbClr val="000000"/>
                </a:solidFill>
                <a:latin typeface="inherit"/>
              </a:rPr>
              <a:t>QLineEdit</a:t>
            </a:r>
            <a:r>
              <a:rPr lang="en-US" sz="2000">
                <a:solidFill>
                  <a:srgbClr val="006FE0"/>
                </a:solidFill>
                <a:latin typeface="inherit"/>
              </a:rPr>
              <a:t> </a:t>
            </a:r>
            <a:r>
              <a:rPr lang="en-US" sz="2000">
                <a:solidFill>
                  <a:srgbClr val="333333"/>
                </a:solidFill>
                <a:latin typeface="inherit"/>
              </a:rPr>
              <a:t>,</a:t>
            </a:r>
            <a:r>
              <a:rPr lang="en-US" sz="2000">
                <a:solidFill>
                  <a:srgbClr val="006FE0"/>
                </a:solidFill>
                <a:latin typeface="inherit"/>
              </a:rPr>
              <a:t> </a:t>
            </a:r>
            <a:r>
              <a:rPr lang="en-US" sz="2000">
                <a:solidFill>
                  <a:srgbClr val="000000"/>
                </a:solidFill>
                <a:latin typeface="inherit"/>
              </a:rPr>
              <a:t>QMessageBox</a:t>
            </a:r>
            <a:r>
              <a:rPr lang="en-US" sz="2000">
                <a:solidFill>
                  <a:srgbClr val="006FE0"/>
                </a:solidFill>
                <a:latin typeface="inherit"/>
              </a:rPr>
              <a:t> </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QVBoxLayout</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QInputDialog</a:t>
            </a:r>
            <a:r>
              <a:rPr lang="en-US" sz="2000">
                <a:solidFill>
                  <a:srgbClr val="333333"/>
                </a:solidFill>
                <a:latin typeface="inherit"/>
              </a:rPr>
              <a:t>,</a:t>
            </a:r>
            <a:r>
              <a:rPr lang="en-US" sz="2000">
                <a:solidFill>
                  <a:srgbClr val="002D7A"/>
                </a:solidFill>
                <a:latin typeface="inherit"/>
              </a:rPr>
              <a:t>QPushButton</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QHBoxLayout</a:t>
            </a:r>
            <a:r>
              <a:rPr lang="en-US" sz="2000">
                <a:solidFill>
                  <a:srgbClr val="333333"/>
                </a:solidFill>
                <a:latin typeface="inherit"/>
              </a:rPr>
              <a:t>,</a:t>
            </a:r>
            <a:r>
              <a:rPr lang="en-US" sz="2000">
                <a:solidFill>
                  <a:srgbClr val="006FE0"/>
                </a:solidFill>
                <a:latin typeface="inherit"/>
              </a:rPr>
              <a:t> </a:t>
            </a:r>
            <a:r>
              <a:rPr lang="en-US" sz="2000">
                <a:solidFill>
                  <a:srgbClr val="004ED0"/>
                </a:solidFill>
                <a:latin typeface="inherit"/>
              </a:rPr>
              <a:t>QApplication</a:t>
            </a:r>
            <a:endParaRPr lang="en-US" sz="2000">
              <a:solidFill>
                <a:srgbClr val="000000"/>
              </a:solidFill>
              <a:latin typeface="Monaco"/>
            </a:endParaRPr>
          </a:p>
          <a:p>
            <a:pPr>
              <a:lnSpc>
                <a:spcPct val="85000"/>
              </a:lnSpc>
            </a:pPr>
            <a:r>
              <a:rPr lang="en-US" sz="2000">
                <a:solidFill>
                  <a:srgbClr val="004ED0"/>
                </a:solidFill>
                <a:latin typeface="inherit"/>
              </a:rPr>
              <a:t>from PyQt5 import QtGui</a:t>
            </a:r>
            <a:endParaRPr lang="en-US" sz="2000">
              <a:solidFill>
                <a:srgbClr val="000000"/>
              </a:solidFill>
              <a:latin typeface="Monaco"/>
            </a:endParaRPr>
          </a:p>
          <a:p>
            <a:pPr>
              <a:lnSpc>
                <a:spcPct val="85000"/>
              </a:lnSpc>
            </a:pPr>
            <a:r>
              <a:rPr lang="en-US" sz="2000">
                <a:solidFill>
                  <a:srgbClr val="004ED0"/>
                </a:solidFill>
                <a:latin typeface="inherit"/>
              </a:rPr>
              <a:t>import sys</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79929BB5-E496-42C5-85BE-7EC5B6862AA7}"/>
              </a:ext>
            </a:extLst>
          </p:cNvPr>
          <p:cNvSpPr/>
          <p:nvPr/>
        </p:nvSpPr>
        <p:spPr>
          <a:xfrm>
            <a:off x="9624" y="1882955"/>
            <a:ext cx="9144000" cy="5038815"/>
          </a:xfrm>
          <a:prstGeom prst="rect">
            <a:avLst/>
          </a:prstGeom>
        </p:spPr>
        <p:txBody>
          <a:bodyPr wrap="square">
            <a:spAutoFit/>
          </a:bodyPr>
          <a:lstStyle/>
          <a:p>
            <a:pPr>
              <a:lnSpc>
                <a:spcPct val="85000"/>
              </a:lnSpc>
            </a:pPr>
            <a:r>
              <a:rPr lang="en-US">
                <a:solidFill>
                  <a:srgbClr val="800080"/>
                </a:solidFill>
                <a:latin typeface="inherit"/>
              </a:rPr>
              <a:t>class</a:t>
            </a:r>
            <a:r>
              <a:rPr lang="en-US">
                <a:solidFill>
                  <a:srgbClr val="006FE0"/>
                </a:solidFill>
                <a:latin typeface="inherit"/>
              </a:rPr>
              <a:t> </a:t>
            </a:r>
            <a:r>
              <a:rPr lang="en-US">
                <a:solidFill>
                  <a:srgbClr val="004ED0"/>
                </a:solidFill>
                <a:latin typeface="inherit"/>
              </a:rPr>
              <a:t>ProgrammingDialog</a:t>
            </a:r>
            <a:r>
              <a:rPr lang="en-US">
                <a:solidFill>
                  <a:srgbClr val="333333"/>
                </a:solidFill>
                <a:latin typeface="inherit"/>
              </a:rPr>
              <a:t>(</a:t>
            </a:r>
            <a:r>
              <a:rPr lang="en-US">
                <a:solidFill>
                  <a:srgbClr val="002D7A"/>
                </a:solidFill>
                <a:latin typeface="inherit"/>
              </a:rPr>
              <a:t>QDialog</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__init__</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proList</a:t>
            </a:r>
            <a:r>
              <a:rPr lang="en-US">
                <a:solidFill>
                  <a:srgbClr val="006FE0"/>
                </a:solidFill>
                <a:latin typeface="inherit"/>
              </a:rPr>
              <a:t> = </a:t>
            </a:r>
            <a:r>
              <a:rPr lang="en-US">
                <a:solidFill>
                  <a:srgbClr val="002D7A"/>
                </a:solidFill>
                <a:latin typeface="inherit"/>
              </a:rPr>
              <a:t>None</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super</a:t>
            </a:r>
            <a:r>
              <a:rPr lang="en-US">
                <a:solidFill>
                  <a:srgbClr val="333333"/>
                </a:solidFill>
                <a:latin typeface="inherit"/>
              </a:rPr>
              <a:t>(</a:t>
            </a:r>
            <a:r>
              <a:rPr lang="en-US">
                <a:solidFill>
                  <a:srgbClr val="002D7A"/>
                </a:solidFill>
                <a:latin typeface="inherit"/>
              </a:rPr>
              <a:t>ProgrammingDialog</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__init__</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006FE0"/>
                </a:solidFill>
                <a:latin typeface="inherit"/>
              </a:rPr>
              <a:t> = </a:t>
            </a:r>
            <a:r>
              <a:rPr lang="en-US">
                <a:solidFill>
                  <a:srgbClr val="004ED0"/>
                </a:solidFill>
                <a:latin typeface="inherit"/>
              </a:rPr>
              <a:t>name</a:t>
            </a:r>
            <a:endParaRPr lang="en-US">
              <a:solidFill>
                <a:srgbClr val="000000"/>
              </a:solidFill>
              <a:latin typeface="Monaco"/>
            </a:endParaRPr>
          </a:p>
          <a:p>
            <a:pPr>
              <a:lnSpc>
                <a:spcPct val="85000"/>
              </a:lnSpc>
            </a:pPr>
            <a:r>
              <a:rPr lang="en-US">
                <a:solidFill>
                  <a:srgbClr val="004ED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006FE0"/>
                </a:solidFill>
                <a:latin typeface="inherit"/>
              </a:rPr>
              <a:t> = </a:t>
            </a:r>
            <a:r>
              <a:rPr lang="en-US">
                <a:solidFill>
                  <a:srgbClr val="004ED0"/>
                </a:solidFill>
                <a:latin typeface="inherit"/>
              </a:rPr>
              <a:t>QListWidget</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proList </a:t>
            </a:r>
            <a:r>
              <a:rPr lang="en-US">
                <a:solidFill>
                  <a:srgbClr val="800080"/>
                </a:solidFill>
                <a:latin typeface="inherit"/>
              </a:rPr>
              <a:t>is</a:t>
            </a:r>
            <a:r>
              <a:rPr lang="en-US">
                <a:solidFill>
                  <a:srgbClr val="006FE0"/>
                </a:solidFill>
                <a:latin typeface="inherit"/>
              </a:rPr>
              <a:t> </a:t>
            </a:r>
            <a:r>
              <a:rPr lang="en-US">
                <a:solidFill>
                  <a:srgbClr val="800080"/>
                </a:solidFill>
                <a:latin typeface="inherit"/>
              </a:rPr>
              <a:t>not</a:t>
            </a:r>
            <a:r>
              <a:rPr lang="en-US">
                <a:solidFill>
                  <a:srgbClr val="006FE0"/>
                </a:solidFill>
                <a:latin typeface="inherit"/>
              </a:rPr>
              <a:t> </a:t>
            </a:r>
            <a:r>
              <a:rPr lang="en-US">
                <a:solidFill>
                  <a:srgbClr val="002D7A"/>
                </a:solidFill>
                <a:latin typeface="inherit"/>
              </a:rPr>
              <a:t>None</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addItems</a:t>
            </a:r>
            <a:r>
              <a:rPr lang="en-US">
                <a:solidFill>
                  <a:srgbClr val="333333"/>
                </a:solidFill>
                <a:latin typeface="inherit"/>
              </a:rPr>
              <a:t>(</a:t>
            </a:r>
            <a:r>
              <a:rPr lang="en-US">
                <a:solidFill>
                  <a:srgbClr val="002D7A"/>
                </a:solidFill>
                <a:latin typeface="inherit"/>
              </a:rPr>
              <a:t>proList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setCurrentRow</a:t>
            </a:r>
            <a:r>
              <a:rPr lang="en-US">
                <a:solidFill>
                  <a:srgbClr val="333333"/>
                </a:solidFill>
                <a:latin typeface="inherit"/>
              </a:rPr>
              <a:t>(</a:t>
            </a:r>
            <a:r>
              <a:rPr lang="en-US">
                <a:solidFill>
                  <a:srgbClr val="CE0000"/>
                </a:solidFill>
                <a:latin typeface="inherit"/>
              </a:rPr>
              <a:t>0</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vbox</a:t>
            </a:r>
            <a:r>
              <a:rPr lang="en-US">
                <a:solidFill>
                  <a:srgbClr val="006FE0"/>
                </a:solidFill>
                <a:latin typeface="inherit"/>
              </a:rPr>
              <a:t> = </a:t>
            </a:r>
            <a:r>
              <a:rPr lang="en-US">
                <a:solidFill>
                  <a:srgbClr val="004ED0"/>
                </a:solidFill>
                <a:latin typeface="inherit"/>
              </a:rPr>
              <a:t>QVBoxLayout</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800080"/>
                </a:solidFill>
                <a:latin typeface="inherit"/>
              </a:rPr>
              <a:t>for</a:t>
            </a:r>
            <a:r>
              <a:rPr lang="en-US">
                <a:solidFill>
                  <a:srgbClr val="006FE0"/>
                </a:solidFill>
                <a:latin typeface="inherit"/>
              </a:rPr>
              <a:t> </a:t>
            </a:r>
            <a:r>
              <a:rPr lang="en-US">
                <a:solidFill>
                  <a:srgbClr val="002D7A"/>
                </a:solidFill>
                <a:latin typeface="inherit"/>
              </a:rPr>
              <a:t>text</a:t>
            </a:r>
            <a:r>
              <a:rPr lang="en-US">
                <a:solidFill>
                  <a:srgbClr val="333333"/>
                </a:solidFill>
                <a:latin typeface="inherit"/>
              </a:rPr>
              <a:t>,</a:t>
            </a:r>
            <a:r>
              <a:rPr lang="en-US">
                <a:solidFill>
                  <a:srgbClr val="006FE0"/>
                </a:solidFill>
                <a:latin typeface="inherit"/>
              </a:rPr>
              <a:t> </a:t>
            </a:r>
            <a:r>
              <a:rPr lang="en-US">
                <a:solidFill>
                  <a:srgbClr val="004ED0"/>
                </a:solidFill>
                <a:latin typeface="inherit"/>
              </a:rPr>
              <a:t>slot </a:t>
            </a:r>
            <a:r>
              <a:rPr lang="en-US">
                <a:solidFill>
                  <a:srgbClr val="800080"/>
                </a:solidFill>
                <a:latin typeface="inherit"/>
              </a:rPr>
              <a:t>in</a:t>
            </a:r>
            <a:r>
              <a:rPr lang="en-US">
                <a:solidFill>
                  <a:srgbClr val="006FE0"/>
                </a:solidFill>
                <a:latin typeface="inherit"/>
              </a:rPr>
              <a:t> </a:t>
            </a:r>
            <a:r>
              <a:rPr lang="en-US">
                <a:solidFill>
                  <a:srgbClr val="333333"/>
                </a:solidFill>
                <a:latin typeface="inherit"/>
              </a:rPr>
              <a:t>((</a:t>
            </a:r>
            <a:r>
              <a:rPr lang="en-US">
                <a:solidFill>
                  <a:srgbClr val="008000"/>
                </a:solidFill>
                <a:latin typeface="inherit"/>
              </a:rPr>
              <a:t>"Add"</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add</a:t>
            </a:r>
            <a:r>
              <a:rPr lang="en-US">
                <a:solidFill>
                  <a:srgbClr val="333333"/>
                </a:solidFill>
                <a:latin typeface="inherit"/>
              </a:rPr>
              <a:t>),</a:t>
            </a:r>
            <a:r>
              <a:rPr lang="en-US">
                <a:solidFill>
                  <a:srgbClr val="000000"/>
                </a:solidFill>
                <a:latin typeface="Monaco"/>
              </a:rPr>
              <a:t>  </a:t>
            </a:r>
            <a:r>
              <a:rPr lang="en-US">
                <a:solidFill>
                  <a:srgbClr val="333333"/>
                </a:solidFill>
                <a:latin typeface="inherit"/>
              </a:rPr>
              <a:t>(</a:t>
            </a:r>
            <a:r>
              <a:rPr lang="en-US">
                <a:solidFill>
                  <a:srgbClr val="008000"/>
                </a:solidFill>
                <a:latin typeface="inherit"/>
              </a:rPr>
              <a:t>"Edit"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edit</a:t>
            </a:r>
            <a:r>
              <a:rPr lang="en-US">
                <a:solidFill>
                  <a:srgbClr val="333333"/>
                </a:solidFill>
                <a:latin typeface="inherit"/>
              </a:rPr>
              <a:t>),</a:t>
            </a:r>
            <a:r>
              <a:rPr lang="en-US">
                <a:solidFill>
                  <a:srgbClr val="006FE0"/>
                </a:solidFill>
                <a:latin typeface="inherit"/>
              </a:rPr>
              <a:t>  </a:t>
            </a:r>
            <a:r>
              <a:rPr lang="en-US">
                <a:solidFill>
                  <a:srgbClr val="333333"/>
                </a:solidFill>
                <a:latin typeface="inherit"/>
              </a:rPr>
              <a:t>(</a:t>
            </a:r>
            <a:r>
              <a:rPr lang="en-US">
                <a:solidFill>
                  <a:srgbClr val="008000"/>
                </a:solidFill>
                <a:latin typeface="inherit"/>
              </a:rPr>
              <a:t>"Remove"</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remove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333333"/>
                </a:solidFill>
                <a:latin typeface="inherit"/>
              </a:rPr>
              <a:t>(</a:t>
            </a:r>
            <a:r>
              <a:rPr lang="en-US">
                <a:solidFill>
                  <a:srgbClr val="008000"/>
                </a:solidFill>
                <a:latin typeface="inherit"/>
              </a:rPr>
              <a:t>"Sort"</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sort</a:t>
            </a:r>
            <a:r>
              <a:rPr lang="en-US">
                <a:solidFill>
                  <a:srgbClr val="333333"/>
                </a:solidFill>
                <a:latin typeface="inherit"/>
              </a:rPr>
              <a:t>),</a:t>
            </a:r>
            <a:r>
              <a:rPr lang="en-US">
                <a:solidFill>
                  <a:srgbClr val="006FE0"/>
                </a:solidFill>
                <a:latin typeface="inherit"/>
              </a:rPr>
              <a:t> </a:t>
            </a:r>
            <a:r>
              <a:rPr lang="en-US">
                <a:solidFill>
                  <a:srgbClr val="333333"/>
                </a:solidFill>
                <a:latin typeface="inherit"/>
              </a:rPr>
              <a:t>(</a:t>
            </a:r>
            <a:r>
              <a:rPr lang="en-US">
                <a:solidFill>
                  <a:srgbClr val="008000"/>
                </a:solidFill>
                <a:latin typeface="inherit"/>
              </a:rPr>
              <a:t>"Close"</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close</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button</a:t>
            </a:r>
            <a:r>
              <a:rPr lang="en-US">
                <a:solidFill>
                  <a:srgbClr val="006FE0"/>
                </a:solidFill>
                <a:latin typeface="inherit"/>
              </a:rPr>
              <a:t>= </a:t>
            </a:r>
            <a:r>
              <a:rPr lang="en-US">
                <a:solidFill>
                  <a:srgbClr val="004ED0"/>
                </a:solidFill>
                <a:latin typeface="inherit"/>
              </a:rPr>
              <a:t>QPushButton</a:t>
            </a:r>
            <a:r>
              <a:rPr lang="en-US">
                <a:solidFill>
                  <a:srgbClr val="333333"/>
                </a:solidFill>
                <a:latin typeface="inherit"/>
              </a:rPr>
              <a:t>(</a:t>
            </a:r>
            <a:r>
              <a:rPr lang="en-US">
                <a:solidFill>
                  <a:srgbClr val="002D7A"/>
                </a:solidFill>
                <a:latin typeface="inherit"/>
              </a:rPr>
              <a:t>text</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vbox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002D7A"/>
                </a:solidFill>
                <a:latin typeface="inherit"/>
              </a:rPr>
              <a:t>button</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button</a:t>
            </a:r>
            <a:r>
              <a:rPr lang="en-US">
                <a:solidFill>
                  <a:srgbClr val="333333"/>
                </a:solidFill>
                <a:latin typeface="inherit"/>
              </a:rPr>
              <a:t>.</a:t>
            </a:r>
            <a:r>
              <a:rPr lang="en-US">
                <a:solidFill>
                  <a:srgbClr val="002D7A"/>
                </a:solidFill>
                <a:latin typeface="inherit"/>
              </a:rPr>
              <a:t>clicked</a:t>
            </a:r>
            <a:r>
              <a:rPr lang="en-US">
                <a:solidFill>
                  <a:srgbClr val="333333"/>
                </a:solidFill>
                <a:latin typeface="inherit"/>
              </a:rPr>
              <a:t>.</a:t>
            </a:r>
            <a:r>
              <a:rPr lang="en-US">
                <a:solidFill>
                  <a:srgbClr val="004ED0"/>
                </a:solidFill>
                <a:latin typeface="inherit"/>
              </a:rPr>
              <a:t>connect</a:t>
            </a:r>
            <a:r>
              <a:rPr lang="en-US">
                <a:solidFill>
                  <a:srgbClr val="333333"/>
                </a:solidFill>
                <a:latin typeface="inherit"/>
              </a:rPr>
              <a:t>(</a:t>
            </a:r>
            <a:r>
              <a:rPr lang="en-US">
                <a:solidFill>
                  <a:srgbClr val="002D7A"/>
                </a:solidFill>
                <a:latin typeface="inherit"/>
              </a:rPr>
              <a:t>slot</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2D7A"/>
                </a:solidFill>
                <a:latin typeface="inherit"/>
              </a:rPr>
              <a:t>hbox</a:t>
            </a:r>
            <a:r>
              <a:rPr lang="en-US">
                <a:solidFill>
                  <a:srgbClr val="006FE0"/>
                </a:solidFill>
                <a:latin typeface="inherit"/>
              </a:rPr>
              <a:t> = </a:t>
            </a:r>
            <a:r>
              <a:rPr lang="en-US">
                <a:solidFill>
                  <a:srgbClr val="004ED0"/>
                </a:solidFill>
                <a:latin typeface="inherit"/>
              </a:rPr>
              <a:t>QHBoxLayout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addWidget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hbox</a:t>
            </a:r>
            <a:r>
              <a:rPr lang="en-US">
                <a:solidFill>
                  <a:srgbClr val="333333"/>
                </a:solidFill>
                <a:latin typeface="inherit"/>
              </a:rPr>
              <a:t>.</a:t>
            </a:r>
            <a:r>
              <a:rPr lang="en-US">
                <a:solidFill>
                  <a:srgbClr val="004ED0"/>
                </a:solidFill>
                <a:latin typeface="inherit"/>
              </a:rPr>
              <a:t>addLayout</a:t>
            </a:r>
            <a:r>
              <a:rPr lang="en-US">
                <a:solidFill>
                  <a:srgbClr val="333333"/>
                </a:solidFill>
                <a:latin typeface="inherit"/>
              </a:rPr>
              <a:t>(</a:t>
            </a:r>
            <a:r>
              <a:rPr lang="en-US">
                <a:solidFill>
                  <a:srgbClr val="002D7A"/>
                </a:solidFill>
                <a:latin typeface="inherit"/>
              </a:rPr>
              <a:t>vbox</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setLayout</a:t>
            </a:r>
            <a:r>
              <a:rPr lang="en-US">
                <a:solidFill>
                  <a:srgbClr val="333333"/>
                </a:solidFill>
                <a:latin typeface="inherit"/>
              </a:rPr>
              <a:t>(</a:t>
            </a:r>
            <a:r>
              <a:rPr lang="en-US">
                <a:solidFill>
                  <a:srgbClr val="002D7A"/>
                </a:solidFill>
                <a:latin typeface="inherit"/>
              </a:rPr>
              <a:t>hbox</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setWindowTitle</a:t>
            </a:r>
            <a:r>
              <a:rPr lang="en-US">
                <a:solidFill>
                  <a:srgbClr val="333333"/>
                </a:solidFill>
                <a:latin typeface="inherit"/>
              </a:rPr>
              <a:t>(</a:t>
            </a:r>
            <a:r>
              <a:rPr lang="en-US">
                <a:solidFill>
                  <a:srgbClr val="008000"/>
                </a:solidFill>
                <a:latin typeface="inherit"/>
              </a:rPr>
              <a:t>"Edit {0} Programming List"</a:t>
            </a:r>
            <a:r>
              <a:rPr lang="en-US">
                <a:solidFill>
                  <a:srgbClr val="333333"/>
                </a:solidFill>
                <a:latin typeface="inherit"/>
              </a:rPr>
              <a:t>.</a:t>
            </a:r>
            <a:r>
              <a:rPr lang="en-US">
                <a:solidFill>
                  <a:srgbClr val="004ED0"/>
                </a:solidFill>
                <a:latin typeface="inherit"/>
              </a:rPr>
              <a:t>format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333333"/>
                </a:solidFill>
                <a:latin typeface="inherit"/>
              </a:rPr>
              <a:t>))</a:t>
            </a:r>
            <a:r>
              <a:rPr lang="en-US">
                <a:solidFill>
                  <a:srgbClr val="000000"/>
                </a:solidFill>
                <a:latin typeface="Monaco"/>
              </a:rPr>
              <a:t>  </a:t>
            </a: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setWindowIcon</a:t>
            </a:r>
            <a:r>
              <a:rPr lang="en-US">
                <a:solidFill>
                  <a:srgbClr val="333333"/>
                </a:solidFill>
                <a:latin typeface="inherit"/>
              </a:rPr>
              <a:t>(</a:t>
            </a:r>
            <a:r>
              <a:rPr lang="en-US">
                <a:solidFill>
                  <a:srgbClr val="002D7A"/>
                </a:solidFill>
                <a:latin typeface="inherit"/>
              </a:rPr>
              <a:t>QtGui</a:t>
            </a:r>
            <a:r>
              <a:rPr lang="en-US">
                <a:solidFill>
                  <a:srgbClr val="333333"/>
                </a:solidFill>
                <a:latin typeface="inherit"/>
              </a:rPr>
              <a:t>.</a:t>
            </a:r>
            <a:r>
              <a:rPr lang="en-US">
                <a:solidFill>
                  <a:srgbClr val="004ED0"/>
                </a:solidFill>
                <a:latin typeface="inherit"/>
              </a:rPr>
              <a:t>QIcon</a:t>
            </a:r>
            <a:r>
              <a:rPr lang="en-US">
                <a:solidFill>
                  <a:srgbClr val="333333"/>
                </a:solidFill>
                <a:latin typeface="inherit"/>
              </a:rPr>
              <a:t>(</a:t>
            </a:r>
            <a:r>
              <a:rPr lang="en-US">
                <a:solidFill>
                  <a:srgbClr val="008000"/>
                </a:solidFill>
                <a:latin typeface="inherit"/>
              </a:rPr>
              <a:t>"icon.png"</a:t>
            </a:r>
            <a:r>
              <a:rPr lang="en-US">
                <a:solidFill>
                  <a:srgbClr val="333333"/>
                </a:solidFill>
                <a:latin typeface="inherit"/>
              </a:rPr>
              <a:t>))</a:t>
            </a:r>
            <a:endParaRPr lang="en-US" b="0" i="0">
              <a:solidFill>
                <a:srgbClr val="000000"/>
              </a:solidFill>
              <a:effectLst/>
              <a:latin typeface="Monaco"/>
            </a:endParaRPr>
          </a:p>
        </p:txBody>
      </p:sp>
    </p:spTree>
    <p:extLst>
      <p:ext uri="{BB962C8B-B14F-4D97-AF65-F5344CB8AC3E}">
        <p14:creationId xmlns:p14="http://schemas.microsoft.com/office/powerpoint/2010/main" val="418805928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716A00-9BD0-41D3-A7E2-4F0DB09F7B88}"/>
              </a:ext>
            </a:extLst>
          </p:cNvPr>
          <p:cNvSpPr>
            <a:spLocks noGrp="1"/>
          </p:cNvSpPr>
          <p:nvPr>
            <p:ph type="title"/>
          </p:nvPr>
        </p:nvSpPr>
        <p:spPr>
          <a:xfrm>
            <a:off x="9624" y="19251"/>
            <a:ext cx="9134375" cy="722622"/>
          </a:xfrm>
        </p:spPr>
        <p:txBody>
          <a:bodyPr>
            <a:normAutofit fontScale="90000"/>
          </a:bodyPr>
          <a:lstStyle/>
          <a:p>
            <a:r>
              <a:rPr lang="en-US"/>
              <a:t>Tạo d</a:t>
            </a:r>
            <a:r>
              <a:rPr lang="vi-VN"/>
              <a:t>ự án đơn giản với QListWidget</a:t>
            </a:r>
            <a:r>
              <a:rPr lang="en-US"/>
              <a:t> (t.t)</a:t>
            </a:r>
          </a:p>
        </p:txBody>
      </p:sp>
      <p:sp>
        <p:nvSpPr>
          <p:cNvPr id="5" name="Rectangle 4">
            <a:extLst>
              <a:ext uri="{FF2B5EF4-FFF2-40B4-BE49-F238E27FC236}">
                <a16:creationId xmlns:a16="http://schemas.microsoft.com/office/drawing/2014/main" id="{882D2C4F-429A-4A15-B8C0-C56CE8EA8C3A}"/>
              </a:ext>
            </a:extLst>
          </p:cNvPr>
          <p:cNvSpPr/>
          <p:nvPr/>
        </p:nvSpPr>
        <p:spPr>
          <a:xfrm>
            <a:off x="9625" y="664239"/>
            <a:ext cx="5425018" cy="5038815"/>
          </a:xfrm>
          <a:prstGeom prst="rect">
            <a:avLst/>
          </a:prstGeom>
          <a:solidFill>
            <a:schemeClr val="accent4">
              <a:lumMod val="20000"/>
              <a:lumOff val="80000"/>
            </a:schemeClr>
          </a:solidFill>
        </p:spPr>
        <p:txBody>
          <a:bodyPr wrap="square">
            <a:spAutoFit/>
          </a:bodyPr>
          <a:lstStyle/>
          <a:p>
            <a:pPr>
              <a:lnSpc>
                <a:spcPct val="85000"/>
              </a:lnSpc>
            </a:pPr>
            <a:r>
              <a:rPr lang="en-US">
                <a:solidFill>
                  <a:srgbClr val="004ED0"/>
                </a:solidFill>
                <a:latin typeface="inherit"/>
              </a:rPr>
              <a:t>def add</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row</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currentRow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"Add {0}"</a:t>
            </a:r>
            <a:r>
              <a:rPr lang="en-US">
                <a:solidFill>
                  <a:srgbClr val="333333"/>
                </a:solidFill>
                <a:latin typeface="inherit"/>
              </a:rPr>
              <a:t>.</a:t>
            </a:r>
            <a:r>
              <a:rPr lang="en-US">
                <a:solidFill>
                  <a:srgbClr val="004ED0"/>
                </a:solidFill>
                <a:latin typeface="inherit"/>
              </a:rPr>
              <a:t>format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string</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ok</a:t>
            </a:r>
            <a:r>
              <a:rPr lang="en-US">
                <a:solidFill>
                  <a:srgbClr val="006FE0"/>
                </a:solidFill>
                <a:latin typeface="inherit"/>
              </a:rPr>
              <a:t> = </a:t>
            </a:r>
            <a:r>
              <a:rPr lang="en-US">
                <a:solidFill>
                  <a:srgbClr val="002D7A"/>
                </a:solidFill>
                <a:latin typeface="inherit"/>
              </a:rPr>
              <a:t>QInputDialog</a:t>
            </a:r>
            <a:r>
              <a:rPr lang="en-US">
                <a:solidFill>
                  <a:srgbClr val="333333"/>
                </a:solidFill>
                <a:latin typeface="inherit"/>
              </a:rPr>
              <a:t>.</a:t>
            </a:r>
            <a:r>
              <a:rPr lang="en-US">
                <a:solidFill>
                  <a:srgbClr val="004ED0"/>
                </a:solidFill>
                <a:latin typeface="inherit"/>
              </a:rPr>
              <a:t>getText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title</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ok </a:t>
            </a:r>
            <a:r>
              <a:rPr lang="en-US">
                <a:solidFill>
                  <a:srgbClr val="800080"/>
                </a:solidFill>
                <a:latin typeface="inherit"/>
              </a:rPr>
              <a:t>and</a:t>
            </a:r>
            <a:r>
              <a:rPr lang="en-US">
                <a:solidFill>
                  <a:srgbClr val="006FE0"/>
                </a:solidFill>
                <a:latin typeface="inherit"/>
              </a:rPr>
              <a:t> </a:t>
            </a:r>
            <a:r>
              <a:rPr lang="en-US">
                <a:solidFill>
                  <a:srgbClr val="800080"/>
                </a:solidFill>
                <a:latin typeface="inherit"/>
              </a:rPr>
              <a:t>string</a:t>
            </a:r>
            <a:r>
              <a:rPr lang="en-US">
                <a:solidFill>
                  <a:srgbClr val="006FE0"/>
                </a:solidFill>
                <a:latin typeface="inherit"/>
              </a:rPr>
              <a:t> </a:t>
            </a:r>
            <a:r>
              <a:rPr lang="en-US">
                <a:solidFill>
                  <a:srgbClr val="800080"/>
                </a:solidFill>
                <a:latin typeface="inherit"/>
              </a:rPr>
              <a:t>is</a:t>
            </a:r>
            <a:r>
              <a:rPr lang="en-US">
                <a:solidFill>
                  <a:srgbClr val="006FE0"/>
                </a:solidFill>
                <a:latin typeface="inherit"/>
              </a:rPr>
              <a:t> </a:t>
            </a:r>
            <a:r>
              <a:rPr lang="en-US">
                <a:solidFill>
                  <a:srgbClr val="800080"/>
                </a:solidFill>
                <a:latin typeface="inherit"/>
              </a:rPr>
              <a:t>not</a:t>
            </a:r>
            <a:r>
              <a:rPr lang="en-US">
                <a:solidFill>
                  <a:srgbClr val="006FE0"/>
                </a:solidFill>
                <a:latin typeface="inherit"/>
              </a:rPr>
              <a:t> </a:t>
            </a:r>
            <a:r>
              <a:rPr lang="en-US">
                <a:solidFill>
                  <a:srgbClr val="002D7A"/>
                </a:solidFill>
                <a:latin typeface="inherit"/>
              </a:rPr>
              <a:t>None</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insertItem</a:t>
            </a:r>
            <a:r>
              <a:rPr lang="en-US">
                <a:solidFill>
                  <a:srgbClr val="333333"/>
                </a:solidFill>
                <a:latin typeface="inherit"/>
              </a:rPr>
              <a:t>(</a:t>
            </a:r>
            <a:r>
              <a:rPr lang="en-US">
                <a:solidFill>
                  <a:srgbClr val="002D7A"/>
                </a:solidFill>
                <a:latin typeface="inherit"/>
              </a:rPr>
              <a:t>row</a:t>
            </a:r>
            <a:r>
              <a:rPr lang="en-US">
                <a:solidFill>
                  <a:srgbClr val="333333"/>
                </a:solidFill>
                <a:latin typeface="inherit"/>
              </a:rPr>
              <a:t>,</a:t>
            </a:r>
            <a:r>
              <a:rPr lang="en-US">
                <a:solidFill>
                  <a:srgbClr val="006FE0"/>
                </a:solidFill>
                <a:latin typeface="inherit"/>
              </a:rPr>
              <a:t> </a:t>
            </a:r>
            <a:r>
              <a:rPr lang="en-US">
                <a:solidFill>
                  <a:srgbClr val="800080"/>
                </a:solidFill>
                <a:latin typeface="inherit"/>
              </a:rPr>
              <a:t>string</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def edit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row</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currentRow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item</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item</a:t>
            </a:r>
            <a:r>
              <a:rPr lang="en-US">
                <a:solidFill>
                  <a:srgbClr val="333333"/>
                </a:solidFill>
                <a:latin typeface="inherit"/>
              </a:rPr>
              <a:t>(</a:t>
            </a:r>
            <a:r>
              <a:rPr lang="en-US">
                <a:solidFill>
                  <a:srgbClr val="002D7A"/>
                </a:solidFill>
                <a:latin typeface="inherit"/>
              </a:rPr>
              <a:t>row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item </a:t>
            </a:r>
            <a:r>
              <a:rPr lang="en-US">
                <a:solidFill>
                  <a:srgbClr val="800080"/>
                </a:solidFill>
                <a:latin typeface="inherit"/>
              </a:rPr>
              <a:t>is</a:t>
            </a:r>
            <a:r>
              <a:rPr lang="en-US">
                <a:solidFill>
                  <a:srgbClr val="006FE0"/>
                </a:solidFill>
                <a:latin typeface="inherit"/>
              </a:rPr>
              <a:t> </a:t>
            </a:r>
            <a:r>
              <a:rPr lang="en-US">
                <a:solidFill>
                  <a:srgbClr val="800080"/>
                </a:solidFill>
                <a:latin typeface="inherit"/>
              </a:rPr>
              <a:t>not</a:t>
            </a:r>
            <a:r>
              <a:rPr lang="en-US">
                <a:solidFill>
                  <a:srgbClr val="006FE0"/>
                </a:solidFill>
                <a:latin typeface="inherit"/>
              </a:rPr>
              <a:t> </a:t>
            </a:r>
            <a:r>
              <a:rPr lang="en-US">
                <a:solidFill>
                  <a:srgbClr val="002D7A"/>
                </a:solidFill>
                <a:latin typeface="inherit"/>
              </a:rPr>
              <a:t>None</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title</a:t>
            </a:r>
            <a:r>
              <a:rPr lang="en-US">
                <a:solidFill>
                  <a:srgbClr val="006FE0"/>
                </a:solidFill>
                <a:latin typeface="inherit"/>
              </a:rPr>
              <a:t> = </a:t>
            </a:r>
            <a:r>
              <a:rPr lang="en-US">
                <a:solidFill>
                  <a:srgbClr val="008000"/>
                </a:solidFill>
                <a:latin typeface="inherit"/>
              </a:rPr>
              <a:t>"Edit {0}"</a:t>
            </a:r>
            <a:r>
              <a:rPr lang="en-US">
                <a:solidFill>
                  <a:srgbClr val="333333"/>
                </a:solidFill>
                <a:latin typeface="inherit"/>
              </a:rPr>
              <a:t>.</a:t>
            </a:r>
            <a:r>
              <a:rPr lang="en-US">
                <a:solidFill>
                  <a:srgbClr val="004ED0"/>
                </a:solidFill>
                <a:latin typeface="inherit"/>
              </a:rPr>
              <a:t>format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string</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ok</a:t>
            </a:r>
            <a:r>
              <a:rPr lang="en-US">
                <a:solidFill>
                  <a:srgbClr val="006FE0"/>
                </a:solidFill>
                <a:latin typeface="inherit"/>
              </a:rPr>
              <a:t> = </a:t>
            </a:r>
            <a:r>
              <a:rPr lang="en-US">
                <a:solidFill>
                  <a:srgbClr val="002D7A"/>
                </a:solidFill>
                <a:latin typeface="inherit"/>
              </a:rPr>
              <a:t>QInputDialog</a:t>
            </a:r>
            <a:r>
              <a:rPr lang="en-US">
                <a:solidFill>
                  <a:srgbClr val="333333"/>
                </a:solidFill>
                <a:latin typeface="inherit"/>
              </a:rPr>
              <a:t>.</a:t>
            </a:r>
            <a:r>
              <a:rPr lang="en-US">
                <a:solidFill>
                  <a:srgbClr val="004ED0"/>
                </a:solidFill>
                <a:latin typeface="inherit"/>
              </a:rPr>
              <a:t>getText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title</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title</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QLineEdit</a:t>
            </a:r>
            <a:r>
              <a:rPr lang="en-US">
                <a:solidFill>
                  <a:srgbClr val="333333"/>
                </a:solidFill>
                <a:latin typeface="inherit"/>
              </a:rPr>
              <a:t>.</a:t>
            </a:r>
            <a:r>
              <a:rPr lang="en-US">
                <a:solidFill>
                  <a:srgbClr val="002D7A"/>
                </a:solidFill>
                <a:latin typeface="inherit"/>
              </a:rPr>
              <a:t>Normal</a:t>
            </a:r>
            <a:r>
              <a:rPr lang="en-US">
                <a:solidFill>
                  <a:srgbClr val="333333"/>
                </a:solidFill>
                <a:latin typeface="inherit"/>
              </a:rPr>
              <a:t>,</a:t>
            </a:r>
            <a:r>
              <a:rPr lang="en-US">
                <a:solidFill>
                  <a:srgbClr val="006FE0"/>
                </a:solidFill>
                <a:latin typeface="inherit"/>
              </a:rPr>
              <a:t> </a:t>
            </a:r>
            <a:r>
              <a:rPr lang="en-US">
                <a:solidFill>
                  <a:srgbClr val="002D7A"/>
                </a:solidFill>
                <a:latin typeface="inherit"/>
              </a:rPr>
              <a:t>item</a:t>
            </a:r>
            <a:r>
              <a:rPr lang="en-US">
                <a:solidFill>
                  <a:srgbClr val="333333"/>
                </a:solidFill>
                <a:latin typeface="inherit"/>
              </a:rPr>
              <a:t>.</a:t>
            </a:r>
            <a:r>
              <a:rPr lang="en-US">
                <a:solidFill>
                  <a:srgbClr val="004ED0"/>
                </a:solidFill>
                <a:latin typeface="inherit"/>
              </a:rPr>
              <a:t>text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ok </a:t>
            </a:r>
            <a:r>
              <a:rPr lang="en-US">
                <a:solidFill>
                  <a:srgbClr val="800080"/>
                </a:solidFill>
                <a:latin typeface="inherit"/>
              </a:rPr>
              <a:t>and</a:t>
            </a:r>
            <a:r>
              <a:rPr lang="en-US">
                <a:solidFill>
                  <a:srgbClr val="006FE0"/>
                </a:solidFill>
                <a:latin typeface="inherit"/>
              </a:rPr>
              <a:t> </a:t>
            </a:r>
            <a:r>
              <a:rPr lang="en-US">
                <a:solidFill>
                  <a:srgbClr val="800080"/>
                </a:solidFill>
                <a:latin typeface="inherit"/>
              </a:rPr>
              <a:t>string</a:t>
            </a:r>
            <a:r>
              <a:rPr lang="en-US">
                <a:solidFill>
                  <a:srgbClr val="006FE0"/>
                </a:solidFill>
                <a:latin typeface="inherit"/>
              </a:rPr>
              <a:t> </a:t>
            </a:r>
            <a:r>
              <a:rPr lang="en-US">
                <a:solidFill>
                  <a:srgbClr val="800080"/>
                </a:solidFill>
                <a:latin typeface="inherit"/>
              </a:rPr>
              <a:t>is</a:t>
            </a:r>
            <a:r>
              <a:rPr lang="en-US">
                <a:solidFill>
                  <a:srgbClr val="006FE0"/>
                </a:solidFill>
                <a:latin typeface="inherit"/>
              </a:rPr>
              <a:t> </a:t>
            </a:r>
            <a:r>
              <a:rPr lang="en-US">
                <a:solidFill>
                  <a:srgbClr val="800080"/>
                </a:solidFill>
                <a:latin typeface="inherit"/>
              </a:rPr>
              <a:t>not</a:t>
            </a:r>
            <a:r>
              <a:rPr lang="en-US">
                <a:solidFill>
                  <a:srgbClr val="006FE0"/>
                </a:solidFill>
                <a:latin typeface="inherit"/>
              </a:rPr>
              <a:t> </a:t>
            </a:r>
            <a:r>
              <a:rPr lang="en-US">
                <a:solidFill>
                  <a:srgbClr val="002D7A"/>
                </a:solidFill>
                <a:latin typeface="inherit"/>
              </a:rPr>
              <a:t>None</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item</a:t>
            </a:r>
            <a:r>
              <a:rPr lang="en-US">
                <a:solidFill>
                  <a:srgbClr val="333333"/>
                </a:solidFill>
                <a:latin typeface="inherit"/>
              </a:rPr>
              <a:t>.</a:t>
            </a:r>
            <a:r>
              <a:rPr lang="en-US">
                <a:solidFill>
                  <a:srgbClr val="004ED0"/>
                </a:solidFill>
                <a:latin typeface="inherit"/>
              </a:rPr>
              <a:t>setText</a:t>
            </a:r>
            <a:r>
              <a:rPr lang="en-US">
                <a:solidFill>
                  <a:srgbClr val="333333"/>
                </a:solidFill>
                <a:latin typeface="inherit"/>
              </a:rPr>
              <a:t>(</a:t>
            </a:r>
            <a:r>
              <a:rPr lang="en-US">
                <a:solidFill>
                  <a:srgbClr val="800080"/>
                </a:solidFill>
                <a:latin typeface="inherit"/>
              </a:rPr>
              <a:t>string</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4ED0"/>
                </a:solidFill>
                <a:latin typeface="inherit"/>
              </a:rPr>
              <a:t>    def sort</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sortItems</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0000"/>
                </a:solidFill>
                <a:latin typeface="Monaco"/>
              </a:rPr>
              <a:t> </a:t>
            </a:r>
          </a:p>
          <a:p>
            <a:pPr>
              <a:lnSpc>
                <a:spcPct val="85000"/>
              </a:lnSpc>
            </a:pPr>
            <a:r>
              <a:rPr lang="en-US">
                <a:solidFill>
                  <a:srgbClr val="006FE0"/>
                </a:solidFill>
                <a:latin typeface="inherit"/>
              </a:rPr>
              <a:t>    </a:t>
            </a:r>
            <a:r>
              <a:rPr lang="en-US">
                <a:solidFill>
                  <a:srgbClr val="004ED0"/>
                </a:solidFill>
                <a:latin typeface="inherit"/>
              </a:rPr>
              <a:t>def close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4ED0"/>
                </a:solidFill>
                <a:latin typeface="inherit"/>
              </a:rPr>
              <a:t>accept</a:t>
            </a:r>
            <a:r>
              <a:rPr lang="en-US">
                <a:solidFill>
                  <a:srgbClr val="333333"/>
                </a:solidFill>
                <a:latin typeface="inherit"/>
              </a:rPr>
              <a:t>()</a:t>
            </a:r>
            <a:endParaRPr lang="en-US" b="0" i="0">
              <a:solidFill>
                <a:srgbClr val="000000"/>
              </a:solidFill>
              <a:effectLst/>
              <a:latin typeface="Monaco"/>
            </a:endParaRPr>
          </a:p>
        </p:txBody>
      </p:sp>
      <p:sp>
        <p:nvSpPr>
          <p:cNvPr id="6" name="Rectangle 5">
            <a:extLst>
              <a:ext uri="{FF2B5EF4-FFF2-40B4-BE49-F238E27FC236}">
                <a16:creationId xmlns:a16="http://schemas.microsoft.com/office/drawing/2014/main" id="{31D4567A-629D-4D1E-A485-4809C50386B9}"/>
              </a:ext>
            </a:extLst>
          </p:cNvPr>
          <p:cNvSpPr/>
          <p:nvPr/>
        </p:nvSpPr>
        <p:spPr>
          <a:xfrm>
            <a:off x="3092164" y="3938226"/>
            <a:ext cx="6042212" cy="2919774"/>
          </a:xfrm>
          <a:prstGeom prst="rect">
            <a:avLst/>
          </a:prstGeom>
          <a:solidFill>
            <a:schemeClr val="accent5">
              <a:lumMod val="20000"/>
              <a:lumOff val="80000"/>
            </a:schemeClr>
          </a:solidFill>
        </p:spPr>
        <p:txBody>
          <a:bodyPr wrap="square">
            <a:spAutoFit/>
          </a:bodyPr>
          <a:lstStyle/>
          <a:p>
            <a:pPr>
              <a:lnSpc>
                <a:spcPct val="85000"/>
              </a:lnSpc>
            </a:pPr>
            <a:r>
              <a:rPr lang="en-US">
                <a:solidFill>
                  <a:srgbClr val="006FE0"/>
                </a:solidFill>
                <a:latin typeface="inherit"/>
              </a:rPr>
              <a:t>    </a:t>
            </a:r>
            <a:r>
              <a:rPr lang="en-US">
                <a:solidFill>
                  <a:srgbClr val="004ED0"/>
                </a:solidFill>
                <a:latin typeface="inherit"/>
              </a:rPr>
              <a:t>def remove</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row</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currentRow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item</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item</a:t>
            </a:r>
            <a:r>
              <a:rPr lang="en-US">
                <a:solidFill>
                  <a:srgbClr val="333333"/>
                </a:solidFill>
                <a:latin typeface="inherit"/>
              </a:rPr>
              <a:t>(</a:t>
            </a:r>
            <a:r>
              <a:rPr lang="en-US">
                <a:solidFill>
                  <a:srgbClr val="002D7A"/>
                </a:solidFill>
                <a:latin typeface="inherit"/>
              </a:rPr>
              <a:t>row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4ED0"/>
                </a:solidFill>
                <a:latin typeface="inherit"/>
              </a:rPr>
              <a:t>item </a:t>
            </a:r>
            <a:r>
              <a:rPr lang="en-US">
                <a:solidFill>
                  <a:srgbClr val="800080"/>
                </a:solidFill>
                <a:latin typeface="inherit"/>
              </a:rPr>
              <a:t>is</a:t>
            </a:r>
            <a:r>
              <a:rPr lang="en-US">
                <a:solidFill>
                  <a:srgbClr val="006FE0"/>
                </a:solidFill>
                <a:latin typeface="inherit"/>
              </a:rPr>
              <a:t> </a:t>
            </a:r>
            <a:r>
              <a:rPr lang="en-US">
                <a:solidFill>
                  <a:srgbClr val="002D7A"/>
                </a:solidFill>
                <a:latin typeface="inherit"/>
              </a:rPr>
              <a:t>None</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return</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reply</a:t>
            </a:r>
            <a:r>
              <a:rPr lang="en-US">
                <a:solidFill>
                  <a:srgbClr val="006FE0"/>
                </a:solidFill>
                <a:latin typeface="inherit"/>
              </a:rPr>
              <a:t> = </a:t>
            </a:r>
            <a:r>
              <a:rPr lang="en-US">
                <a:solidFill>
                  <a:srgbClr val="002D7A"/>
                </a:solidFill>
                <a:latin typeface="inherit"/>
              </a:rPr>
              <a:t>QMessageBox</a:t>
            </a:r>
            <a:r>
              <a:rPr lang="en-US">
                <a:solidFill>
                  <a:srgbClr val="333333"/>
                </a:solidFill>
                <a:latin typeface="inherit"/>
              </a:rPr>
              <a:t>.</a:t>
            </a:r>
            <a:r>
              <a:rPr lang="en-US">
                <a:solidFill>
                  <a:srgbClr val="004ED0"/>
                </a:solidFill>
                <a:latin typeface="inherit"/>
              </a:rPr>
              <a:t>question</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"Remove {0}"</a:t>
            </a:r>
            <a:r>
              <a:rPr lang="en-US">
                <a:solidFill>
                  <a:srgbClr val="333333"/>
                </a:solidFill>
                <a:latin typeface="inherit"/>
              </a:rPr>
              <a:t>.</a:t>
            </a:r>
            <a:r>
              <a:rPr lang="en-US">
                <a:solidFill>
                  <a:srgbClr val="004ED0"/>
                </a:solidFill>
                <a:latin typeface="inherit"/>
              </a:rPr>
              <a:t>format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333333"/>
                </a:solidFill>
                <a:latin typeface="inherit"/>
              </a:rPr>
              <a:t>),</a:t>
            </a:r>
            <a:r>
              <a:rPr lang="en-US">
                <a:solidFill>
                  <a:srgbClr val="006FE0"/>
                </a:solidFill>
                <a:latin typeface="inherit"/>
              </a:rPr>
              <a:t> </a:t>
            </a:r>
            <a:r>
              <a:rPr lang="en-US">
                <a:solidFill>
                  <a:srgbClr val="008000"/>
                </a:solidFill>
                <a:latin typeface="inherit"/>
              </a:rPr>
              <a:t>"Remove {0} `{1}'?"</a:t>
            </a:r>
            <a:r>
              <a:rPr lang="en-US">
                <a:solidFill>
                  <a:srgbClr val="333333"/>
                </a:solidFill>
                <a:latin typeface="inherit"/>
              </a:rPr>
              <a:t>.</a:t>
            </a:r>
            <a:r>
              <a:rPr lang="en-US">
                <a:solidFill>
                  <a:srgbClr val="004ED0"/>
                </a:solidFill>
                <a:latin typeface="inherit"/>
              </a:rPr>
              <a:t>format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name</a:t>
            </a:r>
            <a:r>
              <a:rPr lang="en-US">
                <a:solidFill>
                  <a:srgbClr val="333333"/>
                </a:solidFill>
                <a:latin typeface="inherit"/>
              </a:rPr>
              <a:t>,</a:t>
            </a:r>
            <a:r>
              <a:rPr lang="en-US">
                <a:solidFill>
                  <a:srgbClr val="006FE0"/>
                </a:solidFill>
                <a:latin typeface="inherit"/>
              </a:rPr>
              <a:t> </a:t>
            </a:r>
            <a:r>
              <a:rPr lang="en-US">
                <a:solidFill>
                  <a:srgbClr val="004ED0"/>
                </a:solidFill>
                <a:latin typeface="inherit"/>
              </a:rPr>
              <a:t>str</a:t>
            </a:r>
            <a:r>
              <a:rPr lang="en-US">
                <a:solidFill>
                  <a:srgbClr val="333333"/>
                </a:solidFill>
                <a:latin typeface="inherit"/>
              </a:rPr>
              <a:t>(</a:t>
            </a:r>
            <a:r>
              <a:rPr lang="en-US">
                <a:solidFill>
                  <a:srgbClr val="002D7A"/>
                </a:solidFill>
                <a:latin typeface="inherit"/>
              </a:rPr>
              <a:t>item</a:t>
            </a:r>
            <a:r>
              <a:rPr lang="en-US">
                <a:solidFill>
                  <a:srgbClr val="333333"/>
                </a:solidFill>
                <a:latin typeface="inherit"/>
              </a:rPr>
              <a:t>.</a:t>
            </a:r>
            <a:r>
              <a:rPr lang="en-US">
                <a:solidFill>
                  <a:srgbClr val="004ED0"/>
                </a:solidFill>
                <a:latin typeface="inherit"/>
              </a:rPr>
              <a:t>text</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QMessageBox</a:t>
            </a:r>
            <a:r>
              <a:rPr lang="en-US">
                <a:solidFill>
                  <a:srgbClr val="333333"/>
                </a:solidFill>
                <a:latin typeface="inherit"/>
              </a:rPr>
              <a:t>.</a:t>
            </a:r>
            <a:r>
              <a:rPr lang="en-US">
                <a:solidFill>
                  <a:srgbClr val="002D7A"/>
                </a:solidFill>
                <a:latin typeface="inherit"/>
              </a:rPr>
              <a:t>Yes</a:t>
            </a:r>
            <a:r>
              <a:rPr lang="en-US">
                <a:solidFill>
                  <a:srgbClr val="006FE0"/>
                </a:solidFill>
                <a:latin typeface="inherit"/>
              </a:rPr>
              <a:t>|</a:t>
            </a:r>
            <a:r>
              <a:rPr lang="en-US">
                <a:solidFill>
                  <a:srgbClr val="002D7A"/>
                </a:solidFill>
                <a:latin typeface="inherit"/>
              </a:rPr>
              <a:t>QMessageBox</a:t>
            </a:r>
            <a:r>
              <a:rPr lang="en-US">
                <a:solidFill>
                  <a:srgbClr val="333333"/>
                </a:solidFill>
                <a:latin typeface="inherit"/>
              </a:rPr>
              <a:t>.</a:t>
            </a:r>
            <a:r>
              <a:rPr lang="en-US">
                <a:solidFill>
                  <a:srgbClr val="002D7A"/>
                </a:solidFill>
                <a:latin typeface="inherit"/>
              </a:rPr>
              <a:t>No</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800080"/>
                </a:solidFill>
                <a:latin typeface="inherit"/>
              </a:rPr>
              <a:t>if</a:t>
            </a:r>
            <a:r>
              <a:rPr lang="en-US">
                <a:solidFill>
                  <a:srgbClr val="006FE0"/>
                </a:solidFill>
                <a:latin typeface="inherit"/>
              </a:rPr>
              <a:t> </a:t>
            </a:r>
            <a:r>
              <a:rPr lang="en-US">
                <a:solidFill>
                  <a:srgbClr val="002D7A"/>
                </a:solidFill>
                <a:latin typeface="inherit"/>
              </a:rPr>
              <a:t>reply</a:t>
            </a:r>
            <a:r>
              <a:rPr lang="en-US">
                <a:solidFill>
                  <a:srgbClr val="006FE0"/>
                </a:solidFill>
                <a:latin typeface="inherit"/>
              </a:rPr>
              <a:t> == </a:t>
            </a:r>
            <a:r>
              <a:rPr lang="en-US">
                <a:solidFill>
                  <a:srgbClr val="002D7A"/>
                </a:solidFill>
                <a:latin typeface="inherit"/>
              </a:rPr>
              <a:t>QMessageBox</a:t>
            </a:r>
            <a:r>
              <a:rPr lang="en-US">
                <a:solidFill>
                  <a:srgbClr val="333333"/>
                </a:solidFill>
                <a:latin typeface="inherit"/>
              </a:rPr>
              <a:t>.</a:t>
            </a:r>
            <a:r>
              <a:rPr lang="en-US">
                <a:solidFill>
                  <a:srgbClr val="002D7A"/>
                </a:solidFill>
                <a:latin typeface="inherit"/>
              </a:rPr>
              <a:t>Yes</a:t>
            </a:r>
            <a:r>
              <a:rPr lang="en-US">
                <a:solidFill>
                  <a:srgbClr val="006FE0"/>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2D7A"/>
                </a:solidFill>
                <a:latin typeface="inherit"/>
              </a:rPr>
              <a:t>item</a:t>
            </a:r>
            <a:r>
              <a:rPr lang="en-US">
                <a:solidFill>
                  <a:srgbClr val="006FE0"/>
                </a:solidFill>
                <a:latin typeface="inherit"/>
              </a:rPr>
              <a:t> = </a:t>
            </a:r>
            <a:r>
              <a:rPr lang="en-US">
                <a:solidFill>
                  <a:srgbClr val="800080"/>
                </a:solidFill>
                <a:latin typeface="inherit"/>
              </a:rPr>
              <a:t>self</a:t>
            </a:r>
            <a:r>
              <a:rPr lang="en-US">
                <a:solidFill>
                  <a:srgbClr val="333333"/>
                </a:solidFill>
                <a:latin typeface="inherit"/>
              </a:rPr>
              <a:t>.</a:t>
            </a:r>
            <a:r>
              <a:rPr lang="en-US">
                <a:solidFill>
                  <a:srgbClr val="002D7A"/>
                </a:solidFill>
                <a:latin typeface="inherit"/>
              </a:rPr>
              <a:t>list</a:t>
            </a:r>
            <a:r>
              <a:rPr lang="en-US">
                <a:solidFill>
                  <a:srgbClr val="333333"/>
                </a:solidFill>
                <a:latin typeface="inherit"/>
              </a:rPr>
              <a:t>.</a:t>
            </a:r>
            <a:r>
              <a:rPr lang="en-US">
                <a:solidFill>
                  <a:srgbClr val="004ED0"/>
                </a:solidFill>
                <a:latin typeface="inherit"/>
              </a:rPr>
              <a:t>takeItem</a:t>
            </a:r>
            <a:r>
              <a:rPr lang="en-US">
                <a:solidFill>
                  <a:srgbClr val="333333"/>
                </a:solidFill>
                <a:latin typeface="inherit"/>
              </a:rPr>
              <a:t>(</a:t>
            </a:r>
            <a:r>
              <a:rPr lang="en-US">
                <a:solidFill>
                  <a:srgbClr val="002D7A"/>
                </a:solidFill>
                <a:latin typeface="inherit"/>
              </a:rPr>
              <a:t>row</a:t>
            </a:r>
            <a:r>
              <a:rPr lang="en-US">
                <a:solidFill>
                  <a:srgbClr val="333333"/>
                </a:solidFill>
                <a:latin typeface="inherit"/>
              </a:rPr>
              <a:t>)</a:t>
            </a:r>
            <a:endParaRPr lang="en-US">
              <a:solidFill>
                <a:srgbClr val="000000"/>
              </a:solidFill>
              <a:latin typeface="Monaco"/>
            </a:endParaRPr>
          </a:p>
          <a:p>
            <a:pPr>
              <a:lnSpc>
                <a:spcPct val="85000"/>
              </a:lnSpc>
            </a:pPr>
            <a:r>
              <a:rPr lang="en-US">
                <a:solidFill>
                  <a:srgbClr val="006FE0"/>
                </a:solidFill>
                <a:latin typeface="inherit"/>
              </a:rPr>
              <a:t>            </a:t>
            </a:r>
            <a:r>
              <a:rPr lang="en-US">
                <a:solidFill>
                  <a:srgbClr val="004ED0"/>
                </a:solidFill>
                <a:latin typeface="inherit"/>
              </a:rPr>
              <a:t>del item</a:t>
            </a:r>
            <a:endParaRPr lang="en-US">
              <a:solidFill>
                <a:srgbClr val="000000"/>
              </a:solidFill>
              <a:latin typeface="Monaco"/>
            </a:endParaRPr>
          </a:p>
        </p:txBody>
      </p:sp>
    </p:spTree>
    <p:extLst>
      <p:ext uri="{BB962C8B-B14F-4D97-AF65-F5344CB8AC3E}">
        <p14:creationId xmlns:p14="http://schemas.microsoft.com/office/powerpoint/2010/main" val="282060868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6FFB92-5A88-4E3C-8D42-DD260A425BFD}"/>
              </a:ext>
            </a:extLst>
          </p:cNvPr>
          <p:cNvSpPr>
            <a:spLocks noGrp="1"/>
          </p:cNvSpPr>
          <p:nvPr>
            <p:ph type="title"/>
          </p:nvPr>
        </p:nvSpPr>
        <p:spPr>
          <a:xfrm>
            <a:off x="9624" y="19251"/>
            <a:ext cx="9134375" cy="722622"/>
          </a:xfrm>
        </p:spPr>
        <p:txBody>
          <a:bodyPr>
            <a:normAutofit fontScale="90000"/>
          </a:bodyPr>
          <a:lstStyle/>
          <a:p>
            <a:r>
              <a:rPr lang="en-US"/>
              <a:t>Tạo d</a:t>
            </a:r>
            <a:r>
              <a:rPr lang="vi-VN"/>
              <a:t>ự án đơn giản với QListWidget</a:t>
            </a:r>
            <a:r>
              <a:rPr lang="en-US"/>
              <a:t> (t.t)</a:t>
            </a:r>
          </a:p>
        </p:txBody>
      </p:sp>
      <p:sp>
        <p:nvSpPr>
          <p:cNvPr id="5" name="Rectangle 4">
            <a:extLst>
              <a:ext uri="{FF2B5EF4-FFF2-40B4-BE49-F238E27FC236}">
                <a16:creationId xmlns:a16="http://schemas.microsoft.com/office/drawing/2014/main" id="{2A95D3D3-3BDE-4E7C-886A-DAF8808AA7B1}"/>
              </a:ext>
            </a:extLst>
          </p:cNvPr>
          <p:cNvSpPr/>
          <p:nvPr/>
        </p:nvSpPr>
        <p:spPr>
          <a:xfrm>
            <a:off x="-1" y="741873"/>
            <a:ext cx="9134375" cy="1938992"/>
          </a:xfrm>
          <a:prstGeom prst="rect">
            <a:avLst/>
          </a:prstGeom>
        </p:spPr>
        <p:txBody>
          <a:bodyPr wrap="square">
            <a:spAutoFit/>
          </a:bodyPr>
          <a:lstStyle/>
          <a:p>
            <a:r>
              <a:rPr lang="en-US" sz="2400">
                <a:solidFill>
                  <a:srgbClr val="800080"/>
                </a:solidFill>
                <a:latin typeface="inherit"/>
              </a:rPr>
              <a:t>if</a:t>
            </a:r>
            <a:r>
              <a:rPr lang="en-US" sz="2400">
                <a:solidFill>
                  <a:srgbClr val="006FE0"/>
                </a:solidFill>
                <a:latin typeface="inherit"/>
              </a:rPr>
              <a:t> </a:t>
            </a:r>
            <a:r>
              <a:rPr lang="en-US" sz="2400">
                <a:solidFill>
                  <a:srgbClr val="002D7A"/>
                </a:solidFill>
                <a:latin typeface="inherit"/>
              </a:rPr>
              <a:t>__name__</a:t>
            </a:r>
            <a:r>
              <a:rPr lang="en-US" sz="2400">
                <a:solidFill>
                  <a:srgbClr val="006FE0"/>
                </a:solidFill>
                <a:latin typeface="inherit"/>
              </a:rPr>
              <a:t> == </a:t>
            </a:r>
            <a:r>
              <a:rPr lang="en-US" sz="2400">
                <a:solidFill>
                  <a:srgbClr val="008000"/>
                </a:solidFill>
                <a:latin typeface="inherit"/>
              </a:rPr>
              <a:t>"__main__"</a:t>
            </a:r>
            <a:r>
              <a:rPr lang="en-US" sz="2400">
                <a:solidFill>
                  <a:srgbClr val="006FE0"/>
                </a:solidFill>
                <a:latin typeface="inherit"/>
              </a:rPr>
              <a:t>:</a:t>
            </a:r>
            <a:r>
              <a:rPr lang="en-US" sz="2400">
                <a:solidFill>
                  <a:srgbClr val="000000"/>
                </a:solidFill>
                <a:latin typeface="Monaco"/>
              </a:rPr>
              <a:t> </a:t>
            </a:r>
          </a:p>
          <a:p>
            <a:r>
              <a:rPr lang="en-US" sz="2400">
                <a:solidFill>
                  <a:srgbClr val="006FE0"/>
                </a:solidFill>
                <a:latin typeface="inherit"/>
              </a:rPr>
              <a:t>    </a:t>
            </a:r>
            <a:r>
              <a:rPr lang="en-US" sz="2400">
                <a:solidFill>
                  <a:srgbClr val="002D7A"/>
                </a:solidFill>
                <a:latin typeface="inherit"/>
              </a:rPr>
              <a:t>programming</a:t>
            </a:r>
            <a:r>
              <a:rPr lang="en-US" sz="2400">
                <a:solidFill>
                  <a:srgbClr val="006FE0"/>
                </a:solidFill>
                <a:latin typeface="inherit"/>
              </a:rPr>
              <a:t> = </a:t>
            </a:r>
            <a:r>
              <a:rPr lang="en-US" sz="2400">
                <a:solidFill>
                  <a:srgbClr val="333333"/>
                </a:solidFill>
                <a:latin typeface="inherit"/>
              </a:rPr>
              <a:t>[</a:t>
            </a:r>
            <a:r>
              <a:rPr lang="en-US" sz="2400">
                <a:solidFill>
                  <a:srgbClr val="008000"/>
                </a:solidFill>
                <a:latin typeface="inherit"/>
              </a:rPr>
              <a:t>"Python"</a:t>
            </a:r>
            <a:r>
              <a:rPr lang="en-US" sz="2400">
                <a:solidFill>
                  <a:srgbClr val="333333"/>
                </a:solidFill>
                <a:latin typeface="inherit"/>
              </a:rPr>
              <a:t>,</a:t>
            </a:r>
            <a:r>
              <a:rPr lang="en-US" sz="2400">
                <a:solidFill>
                  <a:srgbClr val="006FE0"/>
                </a:solidFill>
                <a:latin typeface="inherit"/>
              </a:rPr>
              <a:t> </a:t>
            </a:r>
            <a:r>
              <a:rPr lang="en-US" sz="2400">
                <a:solidFill>
                  <a:srgbClr val="008000"/>
                </a:solidFill>
                <a:latin typeface="inherit"/>
              </a:rPr>
              <a:t>"Java"</a:t>
            </a:r>
            <a:r>
              <a:rPr lang="en-US" sz="2400">
                <a:solidFill>
                  <a:srgbClr val="333333"/>
                </a:solidFill>
                <a:latin typeface="inherit"/>
              </a:rPr>
              <a:t>,</a:t>
            </a:r>
            <a:r>
              <a:rPr lang="en-US" sz="2400">
                <a:solidFill>
                  <a:srgbClr val="006FE0"/>
                </a:solidFill>
                <a:latin typeface="inherit"/>
              </a:rPr>
              <a:t> </a:t>
            </a:r>
            <a:r>
              <a:rPr lang="en-US" sz="2400">
                <a:solidFill>
                  <a:srgbClr val="008000"/>
                </a:solidFill>
                <a:latin typeface="inherit"/>
              </a:rPr>
              <a:t>"C#"</a:t>
            </a:r>
            <a:r>
              <a:rPr lang="en-US" sz="2400">
                <a:solidFill>
                  <a:srgbClr val="333333"/>
                </a:solidFill>
                <a:latin typeface="inherit"/>
              </a:rPr>
              <a:t>,</a:t>
            </a:r>
            <a:r>
              <a:rPr lang="en-US" sz="2400">
                <a:solidFill>
                  <a:srgbClr val="006FE0"/>
                </a:solidFill>
                <a:latin typeface="inherit"/>
              </a:rPr>
              <a:t> </a:t>
            </a:r>
            <a:r>
              <a:rPr lang="en-US" sz="2400">
                <a:solidFill>
                  <a:srgbClr val="008000"/>
                </a:solidFill>
                <a:latin typeface="inherit"/>
              </a:rPr>
              <a:t>"C++"</a:t>
            </a:r>
            <a:r>
              <a:rPr lang="en-US" sz="2400">
                <a:solidFill>
                  <a:srgbClr val="333333"/>
                </a:solidFill>
                <a:latin typeface="inherit"/>
              </a:rPr>
              <a:t>,</a:t>
            </a:r>
            <a:r>
              <a:rPr lang="en-US" sz="2400">
                <a:solidFill>
                  <a:srgbClr val="006FE0"/>
                </a:solidFill>
                <a:latin typeface="inherit"/>
              </a:rPr>
              <a:t> </a:t>
            </a:r>
            <a:r>
              <a:rPr lang="en-US" sz="2400">
                <a:solidFill>
                  <a:srgbClr val="008000"/>
                </a:solidFill>
                <a:latin typeface="inherit"/>
              </a:rPr>
              <a:t>"Ruby"</a:t>
            </a:r>
            <a:r>
              <a:rPr lang="en-US" sz="2400">
                <a:solidFill>
                  <a:srgbClr val="333333"/>
                </a:solidFill>
                <a:latin typeface="inherit"/>
              </a:rPr>
              <a:t>,</a:t>
            </a:r>
            <a:r>
              <a:rPr lang="en-US" sz="2400">
                <a:solidFill>
                  <a:srgbClr val="006FE0"/>
                </a:solidFill>
                <a:latin typeface="inherit"/>
              </a:rPr>
              <a:t> </a:t>
            </a:r>
            <a:r>
              <a:rPr lang="en-US" sz="2400">
                <a:solidFill>
                  <a:srgbClr val="008000"/>
                </a:solidFill>
                <a:latin typeface="inherit"/>
              </a:rPr>
              <a:t>"Kotlin"</a:t>
            </a:r>
            <a:r>
              <a:rPr lang="en-US" sz="2400">
                <a:solidFill>
                  <a:srgbClr val="333333"/>
                </a:solidFill>
                <a:latin typeface="inherit"/>
              </a:rPr>
              <a:t>]</a:t>
            </a:r>
            <a:r>
              <a:rPr lang="en-US" sz="2400">
                <a:solidFill>
                  <a:srgbClr val="000000"/>
                </a:solidFill>
                <a:latin typeface="Monaco"/>
              </a:rPr>
              <a:t>  </a:t>
            </a:r>
          </a:p>
          <a:p>
            <a:r>
              <a:rPr lang="en-US" sz="2400">
                <a:solidFill>
                  <a:srgbClr val="006FE0"/>
                </a:solidFill>
                <a:latin typeface="inherit"/>
              </a:rPr>
              <a:t>    </a:t>
            </a:r>
            <a:r>
              <a:rPr lang="en-US" sz="2400">
                <a:solidFill>
                  <a:srgbClr val="002D7A"/>
                </a:solidFill>
                <a:latin typeface="inherit"/>
              </a:rPr>
              <a:t>app</a:t>
            </a:r>
            <a:r>
              <a:rPr lang="en-US" sz="2400">
                <a:solidFill>
                  <a:srgbClr val="006FE0"/>
                </a:solidFill>
                <a:latin typeface="inherit"/>
              </a:rPr>
              <a:t>=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dialog</a:t>
            </a:r>
            <a:r>
              <a:rPr lang="en-US" sz="2400">
                <a:solidFill>
                  <a:srgbClr val="006FE0"/>
                </a:solidFill>
                <a:latin typeface="inherit"/>
              </a:rPr>
              <a:t> = </a:t>
            </a:r>
            <a:r>
              <a:rPr lang="en-US" sz="2400">
                <a:solidFill>
                  <a:srgbClr val="004ED0"/>
                </a:solidFill>
                <a:latin typeface="inherit"/>
              </a:rPr>
              <a:t>ProgrammingDialog</a:t>
            </a:r>
            <a:r>
              <a:rPr lang="en-US" sz="2400">
                <a:solidFill>
                  <a:srgbClr val="333333"/>
                </a:solidFill>
                <a:latin typeface="inherit"/>
              </a:rPr>
              <a:t>(</a:t>
            </a:r>
            <a:r>
              <a:rPr lang="en-US" sz="2400">
                <a:solidFill>
                  <a:srgbClr val="008000"/>
                </a:solidFill>
                <a:latin typeface="inherit"/>
              </a:rPr>
              <a:t>"Languages"</a:t>
            </a:r>
            <a:r>
              <a:rPr lang="en-US" sz="2400">
                <a:solidFill>
                  <a:srgbClr val="333333"/>
                </a:solidFill>
                <a:latin typeface="inherit"/>
              </a:rPr>
              <a:t>,</a:t>
            </a:r>
            <a:r>
              <a:rPr lang="en-US" sz="2400">
                <a:solidFill>
                  <a:srgbClr val="006FE0"/>
                </a:solidFill>
                <a:latin typeface="inherit"/>
              </a:rPr>
              <a:t> </a:t>
            </a:r>
            <a:r>
              <a:rPr lang="en-US" sz="2400">
                <a:solidFill>
                  <a:srgbClr val="002D7A"/>
                </a:solidFill>
                <a:latin typeface="inherit"/>
              </a:rPr>
              <a:t>programming</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2D7A"/>
                </a:solidFill>
                <a:latin typeface="inherit"/>
              </a:rPr>
              <a:t>dialog</a:t>
            </a:r>
            <a:r>
              <a:rPr lang="en-US" sz="2400">
                <a:solidFill>
                  <a:srgbClr val="333333"/>
                </a:solidFill>
                <a:latin typeface="inherit"/>
              </a:rPr>
              <a:t>.</a:t>
            </a:r>
            <a:r>
              <a:rPr lang="en-US" sz="2400">
                <a:solidFill>
                  <a:srgbClr val="004ED0"/>
                </a:solidFill>
                <a:latin typeface="inherit"/>
              </a:rPr>
              <a:t>exec_</a:t>
            </a:r>
            <a:r>
              <a:rPr lang="en-US" sz="2400">
                <a:solidFill>
                  <a:srgbClr val="333333"/>
                </a:solidFill>
                <a:latin typeface="inherit"/>
              </a:rPr>
              <a:t>()</a:t>
            </a:r>
            <a:endParaRPr lang="en-US" sz="2400" b="0" i="0">
              <a:solidFill>
                <a:srgbClr val="000000"/>
              </a:solidFill>
              <a:effectLst/>
              <a:latin typeface="Monaco"/>
            </a:endParaRPr>
          </a:p>
        </p:txBody>
      </p:sp>
    </p:spTree>
    <p:extLst>
      <p:ext uri="{BB962C8B-B14F-4D97-AF65-F5344CB8AC3E}">
        <p14:creationId xmlns:p14="http://schemas.microsoft.com/office/powerpoint/2010/main" val="50781778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F5EA7-6A5A-4EA1-B6B8-72F9ED4C8FEC}"/>
              </a:ext>
            </a:extLst>
          </p:cNvPr>
          <p:cNvSpPr>
            <a:spLocks noGrp="1"/>
          </p:cNvSpPr>
          <p:nvPr>
            <p:ph type="title"/>
          </p:nvPr>
        </p:nvSpPr>
        <p:spPr>
          <a:xfrm>
            <a:off x="9624" y="19251"/>
            <a:ext cx="9134375" cy="765754"/>
          </a:xfrm>
        </p:spPr>
        <p:txBody>
          <a:bodyPr>
            <a:normAutofit/>
          </a:bodyPr>
          <a:lstStyle/>
          <a:p>
            <a:r>
              <a:rPr lang="en-US"/>
              <a:t>Tạo bảng với QTableWidget</a:t>
            </a:r>
          </a:p>
        </p:txBody>
      </p:sp>
      <p:sp>
        <p:nvSpPr>
          <p:cNvPr id="3" name="Content Placeholder 2">
            <a:extLst>
              <a:ext uri="{FF2B5EF4-FFF2-40B4-BE49-F238E27FC236}">
                <a16:creationId xmlns:a16="http://schemas.microsoft.com/office/drawing/2014/main" id="{387BB1E2-895C-4C22-90A7-6E0DE1A3B7E7}"/>
              </a:ext>
            </a:extLst>
          </p:cNvPr>
          <p:cNvSpPr>
            <a:spLocks noGrp="1"/>
          </p:cNvSpPr>
          <p:nvPr>
            <p:ph idx="1"/>
          </p:nvPr>
        </p:nvSpPr>
        <p:spPr>
          <a:xfrm>
            <a:off x="9624" y="966158"/>
            <a:ext cx="9134375" cy="5907096"/>
          </a:xfrm>
        </p:spPr>
        <p:txBody>
          <a:bodyPr>
            <a:normAutofit/>
          </a:bodyPr>
          <a:lstStyle/>
          <a:p>
            <a:pPr marL="0" indent="0">
              <a:buNone/>
            </a:pPr>
            <a:r>
              <a:rPr lang="vi-VN"/>
              <a:t>TableWidget là một </a:t>
            </a:r>
            <a:r>
              <a:rPr lang="en-US"/>
              <a:t>widget </a:t>
            </a:r>
            <a:r>
              <a:rPr lang="vi-VN"/>
              <a:t>phức tạp cung cấp các hàng và cột thông tin theo định dạng giống như lưới. Nó hỗ trợ nhiều tính năng như tiêu đề hàng và cột, nhiều lựa chọn và chức năng sắp xếp. </a:t>
            </a:r>
          </a:p>
        </p:txBody>
      </p:sp>
      <p:graphicFrame>
        <p:nvGraphicFramePr>
          <p:cNvPr id="4" name="Table 3">
            <a:extLst>
              <a:ext uri="{FF2B5EF4-FFF2-40B4-BE49-F238E27FC236}">
                <a16:creationId xmlns:a16="http://schemas.microsoft.com/office/drawing/2014/main" id="{7AAF52DC-1BD8-43D5-AE0C-0FA777D4C2FA}"/>
              </a:ext>
            </a:extLst>
          </p:cNvPr>
          <p:cNvGraphicFramePr>
            <a:graphicFrameLocks noGrp="1"/>
          </p:cNvGraphicFramePr>
          <p:nvPr>
            <p:extLst>
              <p:ext uri="{D42A27DB-BD31-4B8C-83A1-F6EECF244321}">
                <p14:modId xmlns:p14="http://schemas.microsoft.com/office/powerpoint/2010/main" val="922527907"/>
              </p:ext>
            </p:extLst>
          </p:nvPr>
        </p:nvGraphicFramePr>
        <p:xfrm>
          <a:off x="9624" y="3164205"/>
          <a:ext cx="9124751" cy="1798320"/>
        </p:xfrm>
        <a:graphic>
          <a:graphicData uri="http://schemas.openxmlformats.org/drawingml/2006/table">
            <a:tbl>
              <a:tblPr/>
              <a:tblGrid>
                <a:gridCol w="696601">
                  <a:extLst>
                    <a:ext uri="{9D8B030D-6E8A-4147-A177-3AD203B41FA5}">
                      <a16:colId xmlns:a16="http://schemas.microsoft.com/office/drawing/2014/main" val="2223017853"/>
                    </a:ext>
                  </a:extLst>
                </a:gridCol>
                <a:gridCol w="8428150">
                  <a:extLst>
                    <a:ext uri="{9D8B030D-6E8A-4147-A177-3AD203B41FA5}">
                      <a16:colId xmlns:a16="http://schemas.microsoft.com/office/drawing/2014/main" val="954042227"/>
                    </a:ext>
                  </a:extLst>
                </a:gridCol>
              </a:tblGrid>
              <a:tr h="0">
                <a:tc>
                  <a:txBody>
                    <a:bodyPr/>
                    <a:lstStyle/>
                    <a:p>
                      <a:pPr algn="ctr" fontAlgn="t"/>
                      <a:r>
                        <a:rPr lang="en-US" sz="2800" b="0">
                          <a:solidFill>
                            <a:srgbClr val="5499DE"/>
                          </a:solidFill>
                          <a:effectLst/>
                          <a:latin typeface="inherit"/>
                        </a:rPr>
                        <a:t>1</a:t>
                      </a:r>
                    </a:p>
                    <a:p>
                      <a:pPr algn="ctr" fontAlgn="t"/>
                      <a:r>
                        <a:rPr lang="en-US" sz="2800" b="0">
                          <a:solidFill>
                            <a:srgbClr val="317CC5"/>
                          </a:solidFill>
                          <a:effectLst/>
                          <a:latin typeface="inherit"/>
                        </a:rPr>
                        <a:t>2</a:t>
                      </a:r>
                    </a:p>
                    <a:p>
                      <a:pPr algn="ctr" fontAlgn="t"/>
                      <a:endParaRPr lang="en-US" sz="2800" b="0">
                        <a:solidFill>
                          <a:srgbClr val="317CC5"/>
                        </a:solidFill>
                        <a:effectLst/>
                        <a:latin typeface="inherit"/>
                      </a:endParaRPr>
                    </a:p>
                    <a:p>
                      <a:pPr algn="ctr" fontAlgn="t"/>
                      <a:r>
                        <a:rPr lang="en-US" sz="28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AU" sz="2800" b="0">
                          <a:solidFill>
                            <a:srgbClr val="004ED0"/>
                          </a:solidFill>
                          <a:effectLst/>
                          <a:latin typeface="inherit"/>
                        </a:rPr>
                        <a:t>from PyQt5 import QtGui</a:t>
                      </a:r>
                      <a:endParaRPr lang="en-AU" sz="2800" b="0">
                        <a:solidFill>
                          <a:srgbClr val="000000"/>
                        </a:solidFill>
                        <a:effectLst/>
                        <a:latin typeface="inherit"/>
                      </a:endParaRPr>
                    </a:p>
                    <a:p>
                      <a:pPr algn="l" fontAlgn="t"/>
                      <a:r>
                        <a:rPr lang="en-AU" sz="2800" b="0">
                          <a:solidFill>
                            <a:srgbClr val="004ED0"/>
                          </a:solidFill>
                          <a:effectLst/>
                          <a:latin typeface="inherit"/>
                        </a:rPr>
                        <a:t>from </a:t>
                      </a:r>
                      <a:r>
                        <a:rPr lang="en-AU" sz="2800" b="0">
                          <a:solidFill>
                            <a:srgbClr val="002D7A"/>
                          </a:solidFill>
                          <a:effectLst/>
                          <a:latin typeface="inherit"/>
                        </a:rPr>
                        <a:t>PyQt5</a:t>
                      </a:r>
                      <a:r>
                        <a:rPr lang="en-AU" sz="2800" b="0">
                          <a:solidFill>
                            <a:srgbClr val="333333"/>
                          </a:solidFill>
                          <a:effectLst/>
                          <a:latin typeface="inherit"/>
                        </a:rPr>
                        <a:t>.</a:t>
                      </a:r>
                      <a:r>
                        <a:rPr lang="en-AU" sz="2800" b="0">
                          <a:solidFill>
                            <a:srgbClr val="004ED0"/>
                          </a:solidFill>
                          <a:effectLst/>
                          <a:latin typeface="inherit"/>
                        </a:rPr>
                        <a:t>QtWidgets import </a:t>
                      </a:r>
                      <a:r>
                        <a:rPr lang="en-AU" sz="2800" b="0">
                          <a:solidFill>
                            <a:srgbClr val="002D7A"/>
                          </a:solidFill>
                          <a:effectLst/>
                          <a:latin typeface="inherit"/>
                        </a:rPr>
                        <a:t>QApplication</a:t>
                      </a:r>
                      <a:r>
                        <a:rPr lang="en-AU" sz="2800" b="0">
                          <a:solidFill>
                            <a:srgbClr val="333333"/>
                          </a:solidFill>
                          <a:effectLst/>
                          <a:latin typeface="inherit"/>
                        </a:rPr>
                        <a:t>,</a:t>
                      </a:r>
                      <a:r>
                        <a:rPr lang="en-AU" sz="2800" b="0">
                          <a:solidFill>
                            <a:srgbClr val="006FE0"/>
                          </a:solidFill>
                          <a:effectLst/>
                          <a:latin typeface="inherit"/>
                        </a:rPr>
                        <a:t>  </a:t>
                      </a:r>
                      <a:r>
                        <a:rPr lang="en-AU" sz="2800" b="0">
                          <a:solidFill>
                            <a:srgbClr val="002D7A"/>
                          </a:solidFill>
                          <a:effectLst/>
                          <a:latin typeface="inherit"/>
                        </a:rPr>
                        <a:t>QWidget</a:t>
                      </a:r>
                      <a:r>
                        <a:rPr lang="en-AU" sz="2800" b="0">
                          <a:solidFill>
                            <a:srgbClr val="333333"/>
                          </a:solidFill>
                          <a:effectLst/>
                          <a:latin typeface="inherit"/>
                        </a:rPr>
                        <a:t>,</a:t>
                      </a:r>
                      <a:r>
                        <a:rPr lang="en-AU" sz="2800" b="0">
                          <a:solidFill>
                            <a:srgbClr val="006FE0"/>
                          </a:solidFill>
                          <a:effectLst/>
                          <a:latin typeface="inherit"/>
                        </a:rPr>
                        <a:t> </a:t>
                      </a:r>
                    </a:p>
                    <a:p>
                      <a:pPr algn="r" fontAlgn="t"/>
                      <a:r>
                        <a:rPr lang="en-AU" sz="2800" b="0">
                          <a:solidFill>
                            <a:srgbClr val="002D7A"/>
                          </a:solidFill>
                          <a:effectLst/>
                          <a:latin typeface="inherit"/>
                        </a:rPr>
                        <a:t>QTableWidget</a:t>
                      </a:r>
                      <a:r>
                        <a:rPr lang="en-AU" sz="2800" b="0">
                          <a:solidFill>
                            <a:srgbClr val="333333"/>
                          </a:solidFill>
                          <a:effectLst/>
                          <a:latin typeface="inherit"/>
                        </a:rPr>
                        <a:t>,</a:t>
                      </a:r>
                      <a:r>
                        <a:rPr lang="en-AU" sz="2800" b="0">
                          <a:solidFill>
                            <a:srgbClr val="006FE0"/>
                          </a:solidFill>
                          <a:effectLst/>
                          <a:latin typeface="inherit"/>
                        </a:rPr>
                        <a:t> </a:t>
                      </a:r>
                      <a:r>
                        <a:rPr lang="en-AU" sz="2800" b="0">
                          <a:solidFill>
                            <a:srgbClr val="002D7A"/>
                          </a:solidFill>
                          <a:effectLst/>
                          <a:latin typeface="inherit"/>
                        </a:rPr>
                        <a:t>QTableWidgetItem</a:t>
                      </a:r>
                      <a:r>
                        <a:rPr lang="en-AU" sz="2800" b="0">
                          <a:solidFill>
                            <a:srgbClr val="333333"/>
                          </a:solidFill>
                          <a:effectLst/>
                          <a:latin typeface="inherit"/>
                        </a:rPr>
                        <a:t>,</a:t>
                      </a:r>
                      <a:r>
                        <a:rPr lang="en-AU" sz="2800" b="0">
                          <a:solidFill>
                            <a:srgbClr val="006FE0"/>
                          </a:solidFill>
                          <a:effectLst/>
                          <a:latin typeface="inherit"/>
                        </a:rPr>
                        <a:t> </a:t>
                      </a:r>
                      <a:r>
                        <a:rPr lang="en-AU" sz="2800" b="0">
                          <a:solidFill>
                            <a:srgbClr val="004ED0"/>
                          </a:solidFill>
                          <a:effectLst/>
                          <a:latin typeface="inherit"/>
                        </a:rPr>
                        <a:t>QVBoxLayout</a:t>
                      </a:r>
                      <a:endParaRPr lang="en-AU" sz="2800" b="0">
                        <a:solidFill>
                          <a:srgbClr val="000000"/>
                        </a:solidFill>
                        <a:effectLst/>
                        <a:latin typeface="inherit"/>
                      </a:endParaRPr>
                    </a:p>
                    <a:p>
                      <a:pPr algn="l" fontAlgn="t"/>
                      <a:r>
                        <a:rPr lang="en-AU" sz="2800" b="0">
                          <a:solidFill>
                            <a:srgbClr val="004ED0"/>
                          </a:solidFill>
                          <a:effectLst/>
                          <a:latin typeface="inherit"/>
                        </a:rPr>
                        <a:t>import </a:t>
                      </a:r>
                      <a:r>
                        <a:rPr lang="en-AU" sz="2800" b="0">
                          <a:solidFill>
                            <a:srgbClr val="002D7A"/>
                          </a:solidFill>
                          <a:effectLst/>
                          <a:latin typeface="inherit"/>
                        </a:rPr>
                        <a:t>sys</a:t>
                      </a:r>
                      <a:endParaRPr lang="en-AU" sz="28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3212626915"/>
                  </a:ext>
                </a:extLst>
              </a:tr>
            </a:tbl>
          </a:graphicData>
        </a:graphic>
      </p:graphicFrame>
    </p:spTree>
    <p:extLst>
      <p:ext uri="{BB962C8B-B14F-4D97-AF65-F5344CB8AC3E}">
        <p14:creationId xmlns:p14="http://schemas.microsoft.com/office/powerpoint/2010/main" val="20537133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6200FF-A434-4C25-9E00-1D5CB0073667}"/>
              </a:ext>
            </a:extLst>
          </p:cNvPr>
          <p:cNvSpPr>
            <a:spLocks noGrp="1"/>
          </p:cNvSpPr>
          <p:nvPr>
            <p:ph idx="1"/>
          </p:nvPr>
        </p:nvSpPr>
        <p:spPr>
          <a:xfrm>
            <a:off x="9624" y="785005"/>
            <a:ext cx="9134375" cy="6053745"/>
          </a:xfrm>
        </p:spPr>
        <p:txBody>
          <a:bodyPr/>
          <a:lstStyle/>
          <a:p>
            <a:pPr marL="0" indent="0">
              <a:buNone/>
            </a:pPr>
            <a:r>
              <a:rPr lang="en-US"/>
              <a:t>C</a:t>
            </a:r>
            <a:r>
              <a:rPr lang="vi-VN"/>
              <a:t>húng ta tạo một lớp chính cho </a:t>
            </a:r>
            <a:r>
              <a:rPr lang="en-US"/>
              <a:t>Window</a:t>
            </a:r>
            <a:r>
              <a:rPr lang="vi-VN"/>
              <a:t>, </a:t>
            </a:r>
            <a:r>
              <a:rPr lang="en-US"/>
              <a:t>và </a:t>
            </a:r>
            <a:r>
              <a:rPr lang="vi-VN"/>
              <a:t>thêm một số yêu cầu cửa sổ trong hàm tạo của lớp, sau đó chúng ta tạo hai phương thức đầu tiên là </a:t>
            </a:r>
            <a:r>
              <a:rPr lang="en-US"/>
              <a:t>I</a:t>
            </a:r>
            <a:r>
              <a:rPr lang="vi-VN"/>
              <a:t>nitWindow() trong phương thức </a:t>
            </a:r>
            <a:r>
              <a:rPr lang="en-US"/>
              <a:t>này </a:t>
            </a:r>
            <a:r>
              <a:rPr lang="vi-VN"/>
              <a:t>chúng ta thêm bộ công cụ cơ bản như tiêu đề cửa sổ , biểu tượng cửa sổ và </a:t>
            </a:r>
            <a:r>
              <a:rPr lang="en-US"/>
              <a:t>vị trí </a:t>
            </a:r>
            <a:r>
              <a:rPr lang="vi-VN"/>
              <a:t>cửa sổ. </a:t>
            </a:r>
            <a:r>
              <a:rPr lang="en-US"/>
              <a:t>P</a:t>
            </a:r>
            <a:r>
              <a:rPr lang="vi-VN"/>
              <a:t>hương thức thứ hai là phương thức mà chúng ta tạo ra QTableWidget, trong phương thức </a:t>
            </a:r>
            <a:r>
              <a:rPr lang="en-US"/>
              <a:t>đầu </a:t>
            </a:r>
            <a:r>
              <a:rPr lang="vi-VN"/>
              <a:t>tiên chúng ta cần tạo đối tượng QTableWidget và sau đó chúng ta </a:t>
            </a:r>
            <a:r>
              <a:rPr lang="en-US"/>
              <a:t>setRowCount </a:t>
            </a:r>
            <a:r>
              <a:rPr lang="vi-VN"/>
              <a:t> và </a:t>
            </a:r>
            <a:r>
              <a:rPr lang="en-US"/>
              <a:t>columnCount </a:t>
            </a:r>
            <a:r>
              <a:rPr lang="vi-VN"/>
              <a:t> cho </a:t>
            </a:r>
            <a:r>
              <a:rPr lang="en-US"/>
              <a:t>Table </a:t>
            </a:r>
            <a:r>
              <a:rPr lang="vi-VN"/>
              <a:t>của mình và sau khi chúng ta thêm các </a:t>
            </a:r>
            <a:r>
              <a:rPr lang="en-US"/>
              <a:t>phần tử </a:t>
            </a:r>
            <a:r>
              <a:rPr lang="vi-VN"/>
              <a:t>vào QTableWidget bằng cách sử dụng QTableWidgetItem</a:t>
            </a:r>
            <a:endParaRPr lang="en-US"/>
          </a:p>
        </p:txBody>
      </p:sp>
      <p:sp>
        <p:nvSpPr>
          <p:cNvPr id="4" name="Title 1">
            <a:extLst>
              <a:ext uri="{FF2B5EF4-FFF2-40B4-BE49-F238E27FC236}">
                <a16:creationId xmlns:a16="http://schemas.microsoft.com/office/drawing/2014/main" id="{5BC6591E-4182-488F-91FF-63466D06DD20}"/>
              </a:ext>
            </a:extLst>
          </p:cNvPr>
          <p:cNvSpPr>
            <a:spLocks noGrp="1"/>
          </p:cNvSpPr>
          <p:nvPr>
            <p:ph type="title"/>
          </p:nvPr>
        </p:nvSpPr>
        <p:spPr>
          <a:xfrm>
            <a:off x="9624" y="19251"/>
            <a:ext cx="9134375" cy="765754"/>
          </a:xfrm>
        </p:spPr>
        <p:txBody>
          <a:bodyPr>
            <a:normAutofit/>
          </a:bodyPr>
          <a:lstStyle/>
          <a:p>
            <a:r>
              <a:rPr lang="en-US"/>
              <a:t>Tạo bảng với QTableWidget (t.t)</a:t>
            </a:r>
          </a:p>
        </p:txBody>
      </p:sp>
    </p:spTree>
    <p:extLst>
      <p:ext uri="{BB962C8B-B14F-4D97-AF65-F5344CB8AC3E}">
        <p14:creationId xmlns:p14="http://schemas.microsoft.com/office/powerpoint/2010/main" val="304809954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53DD4E2-8619-45B2-9CAA-2F4174EA17D1}"/>
              </a:ext>
            </a:extLst>
          </p:cNvPr>
          <p:cNvSpPr>
            <a:spLocks noGrp="1"/>
          </p:cNvSpPr>
          <p:nvPr>
            <p:ph type="title"/>
          </p:nvPr>
        </p:nvSpPr>
        <p:spPr>
          <a:xfrm>
            <a:off x="9624" y="19251"/>
            <a:ext cx="9134375" cy="765754"/>
          </a:xfrm>
        </p:spPr>
        <p:txBody>
          <a:bodyPr>
            <a:normAutofit/>
          </a:bodyPr>
          <a:lstStyle/>
          <a:p>
            <a:r>
              <a:rPr lang="en-US"/>
              <a:t>Tạo bảng với QTableWidget (t.t)</a:t>
            </a:r>
          </a:p>
        </p:txBody>
      </p:sp>
      <p:sp>
        <p:nvSpPr>
          <p:cNvPr id="5" name="Rectangle 4">
            <a:extLst>
              <a:ext uri="{FF2B5EF4-FFF2-40B4-BE49-F238E27FC236}">
                <a16:creationId xmlns:a16="http://schemas.microsoft.com/office/drawing/2014/main" id="{B05563F2-71A1-4484-AEFF-D4F74900E5E1}"/>
              </a:ext>
            </a:extLst>
          </p:cNvPr>
          <p:cNvSpPr/>
          <p:nvPr/>
        </p:nvSpPr>
        <p:spPr>
          <a:xfrm>
            <a:off x="-998" y="798329"/>
            <a:ext cx="9124752" cy="6001643"/>
          </a:xfrm>
          <a:prstGeom prst="rect">
            <a:avLst/>
          </a:prstGeom>
        </p:spPr>
        <p:txBody>
          <a:bodyPr wrap="square">
            <a:spAutoFit/>
          </a:bodyPr>
          <a:lstStyle/>
          <a:p>
            <a:r>
              <a:rPr lang="en-US" sz="2400">
                <a:solidFill>
                  <a:srgbClr val="800080"/>
                </a:solidFill>
                <a:latin typeface="inherit"/>
              </a:rPr>
              <a:t>class</a:t>
            </a:r>
            <a:r>
              <a:rPr lang="en-US" sz="2400">
                <a:solidFill>
                  <a:srgbClr val="006FE0"/>
                </a:solidFill>
                <a:latin typeface="inherit"/>
              </a:rPr>
              <a:t> </a:t>
            </a:r>
            <a:r>
              <a:rPr lang="en-US" sz="2400">
                <a:solidFill>
                  <a:srgbClr val="004ED0"/>
                </a:solidFill>
                <a:latin typeface="inherit"/>
              </a:rPr>
              <a:t>Window</a:t>
            </a:r>
            <a:r>
              <a:rPr lang="en-US" sz="2400">
                <a:solidFill>
                  <a:srgbClr val="333333"/>
                </a:solidFill>
                <a:latin typeface="inherit"/>
              </a:rPr>
              <a:t>(</a:t>
            </a:r>
            <a:r>
              <a:rPr lang="en-US" sz="2400">
                <a:solidFill>
                  <a:srgbClr val="002D7A"/>
                </a:solidFill>
                <a:latin typeface="inherit"/>
              </a:rPr>
              <a:t>QWidget</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004ED0"/>
                </a:solidFill>
                <a:latin typeface="inherit"/>
              </a:rPr>
              <a:t>def __init__</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super</a:t>
            </a:r>
            <a:r>
              <a:rPr lang="en-US" sz="2400">
                <a:solidFill>
                  <a:srgbClr val="333333"/>
                </a:solidFill>
                <a:latin typeface="inherit"/>
              </a:rPr>
              <a:t>().</a:t>
            </a:r>
            <a:r>
              <a:rPr lang="en-US" sz="2400">
                <a:solidFill>
                  <a:srgbClr val="004ED0"/>
                </a:solidFill>
                <a:latin typeface="inherit"/>
              </a:rPr>
              <a:t>__init__</a:t>
            </a:r>
            <a:r>
              <a:rPr lang="en-US" sz="2400">
                <a:solidFill>
                  <a:srgbClr val="333333"/>
                </a:solidFill>
                <a:latin typeface="inherit"/>
              </a:rPr>
              <a:t>()</a:t>
            </a:r>
            <a:r>
              <a:rPr lang="en-US" sz="2400">
                <a:solidFill>
                  <a:srgbClr val="000000"/>
                </a:solidFill>
                <a:latin typeface="Monaco"/>
              </a:rPr>
              <a:t>  </a:t>
            </a: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006FE0"/>
                </a:solidFill>
                <a:latin typeface="inherit"/>
              </a:rPr>
              <a:t> = </a:t>
            </a:r>
            <a:r>
              <a:rPr lang="en-US" sz="2400">
                <a:solidFill>
                  <a:srgbClr val="008000"/>
                </a:solidFill>
                <a:latin typeface="inherit"/>
              </a:rPr>
              <a:t>"PyQt5 Tables"</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006FE0"/>
                </a:solidFill>
                <a:latin typeface="inherit"/>
              </a:rPr>
              <a:t> = </a:t>
            </a:r>
            <a:r>
              <a:rPr lang="en-US" sz="2400">
                <a:solidFill>
                  <a:srgbClr val="CE0000"/>
                </a:solidFill>
                <a:latin typeface="inherit"/>
              </a:rPr>
              <a:t>100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006FE0"/>
                </a:solidFill>
                <a:latin typeface="inherit"/>
              </a:rPr>
              <a:t> = </a:t>
            </a:r>
            <a:r>
              <a:rPr lang="en-US" sz="2400">
                <a:solidFill>
                  <a:srgbClr val="CE0000"/>
                </a:solidFill>
                <a:latin typeface="inherit"/>
              </a:rPr>
              <a:t>100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006FE0"/>
                </a:solidFill>
                <a:latin typeface="inherit"/>
              </a:rPr>
              <a:t> = </a:t>
            </a:r>
            <a:r>
              <a:rPr lang="en-US" sz="2400">
                <a:solidFill>
                  <a:srgbClr val="CE0000"/>
                </a:solidFill>
                <a:latin typeface="inherit"/>
              </a:rPr>
              <a:t>500</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006FE0"/>
                </a:solidFill>
                <a:latin typeface="inherit"/>
              </a:rPr>
              <a:t> = </a:t>
            </a:r>
            <a:r>
              <a:rPr lang="en-US" sz="2400">
                <a:solidFill>
                  <a:srgbClr val="CE0000"/>
                </a:solidFill>
                <a:latin typeface="inherit"/>
              </a:rPr>
              <a:t>400</a:t>
            </a:r>
            <a:r>
              <a:rPr lang="en-US" sz="2400">
                <a:solidFill>
                  <a:srgbClr val="000000"/>
                </a:solidFill>
                <a:latin typeface="Monaco"/>
              </a:rPr>
              <a:t> </a:t>
            </a: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InitWindow</a:t>
            </a:r>
            <a:r>
              <a:rPr lang="en-US" sz="2400">
                <a:solidFill>
                  <a:srgbClr val="333333"/>
                </a:solidFill>
                <a:latin typeface="inherit"/>
              </a:rPr>
              <a:t>()</a:t>
            </a:r>
            <a:r>
              <a:rPr lang="en-US" sz="2400">
                <a:solidFill>
                  <a:srgbClr val="000000"/>
                </a:solidFill>
                <a:latin typeface="Monaco"/>
              </a:rPr>
              <a:t>  </a:t>
            </a:r>
          </a:p>
          <a:p>
            <a:r>
              <a:rPr lang="en-US" sz="2400">
                <a:solidFill>
                  <a:srgbClr val="000000"/>
                </a:solidFill>
                <a:latin typeface="Monaco"/>
              </a:rPr>
              <a:t> </a:t>
            </a:r>
          </a:p>
          <a:p>
            <a:r>
              <a:rPr lang="en-US" sz="2400">
                <a:solidFill>
                  <a:srgbClr val="006FE0"/>
                </a:solidFill>
                <a:latin typeface="inherit"/>
              </a:rPr>
              <a:t>    </a:t>
            </a:r>
            <a:r>
              <a:rPr lang="en-US" sz="2400">
                <a:solidFill>
                  <a:srgbClr val="004ED0"/>
                </a:solidFill>
                <a:latin typeface="inherit"/>
              </a:rPr>
              <a:t>def InitWindow</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6FE0"/>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setWindowIcon</a:t>
            </a:r>
            <a:r>
              <a:rPr lang="en-US" sz="2400">
                <a:solidFill>
                  <a:srgbClr val="333333"/>
                </a:solidFill>
                <a:latin typeface="inherit"/>
              </a:rPr>
              <a:t>(</a:t>
            </a:r>
            <a:r>
              <a:rPr lang="en-US" sz="2400">
                <a:solidFill>
                  <a:srgbClr val="002D7A"/>
                </a:solidFill>
                <a:latin typeface="inherit"/>
              </a:rPr>
              <a:t>QtGui</a:t>
            </a:r>
            <a:r>
              <a:rPr lang="en-US" sz="2400">
                <a:solidFill>
                  <a:srgbClr val="333333"/>
                </a:solidFill>
                <a:latin typeface="inherit"/>
              </a:rPr>
              <a:t>.</a:t>
            </a:r>
            <a:r>
              <a:rPr lang="en-US" sz="2400">
                <a:solidFill>
                  <a:srgbClr val="004ED0"/>
                </a:solidFill>
                <a:latin typeface="inherit"/>
              </a:rPr>
              <a:t>QIcon</a:t>
            </a:r>
            <a:r>
              <a:rPr lang="en-US" sz="2400">
                <a:solidFill>
                  <a:srgbClr val="333333"/>
                </a:solidFill>
                <a:latin typeface="inherit"/>
              </a:rPr>
              <a:t>(</a:t>
            </a:r>
            <a:r>
              <a:rPr lang="en-US" sz="2400">
                <a:solidFill>
                  <a:srgbClr val="008000"/>
                </a:solidFill>
                <a:latin typeface="inherit"/>
              </a:rPr>
              <a:t>"icon.png"</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setWindowTitle</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title</a:t>
            </a:r>
            <a:r>
              <a:rPr lang="en-US" sz="2400">
                <a:solidFill>
                  <a:srgbClr val="333333"/>
                </a:solidFill>
                <a:latin typeface="inherit"/>
              </a:rPr>
              <a:t>)</a:t>
            </a:r>
            <a:endParaRPr lang="en-US" sz="2400">
              <a:solidFill>
                <a:srgbClr val="000000"/>
              </a:solidFill>
              <a:latin typeface="Monaco"/>
            </a:endParaRP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setGeometry</a:t>
            </a:r>
            <a:r>
              <a:rPr lang="en-US" sz="2400">
                <a:solidFill>
                  <a:srgbClr val="333333"/>
                </a:solidFill>
                <a:latin typeface="inherit"/>
              </a:rPr>
              <a:t>(</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top</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left</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width</a:t>
            </a:r>
            <a:r>
              <a:rPr lang="en-US" sz="2400">
                <a:solidFill>
                  <a:srgbClr val="333333"/>
                </a:solidFill>
                <a:latin typeface="inherit"/>
              </a:rPr>
              <a:t>,</a:t>
            </a:r>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2D7A"/>
                </a:solidFill>
                <a:latin typeface="inherit"/>
              </a:rPr>
              <a:t>height</a:t>
            </a:r>
            <a:r>
              <a:rPr lang="en-US" sz="2400">
                <a:solidFill>
                  <a:srgbClr val="333333"/>
                </a:solidFill>
                <a:latin typeface="inherit"/>
              </a:rPr>
              <a:t>)</a:t>
            </a:r>
            <a:r>
              <a:rPr lang="en-US" sz="2400">
                <a:solidFill>
                  <a:srgbClr val="000000"/>
                </a:solidFill>
                <a:latin typeface="Monaco"/>
              </a:rPr>
              <a:t>  </a:t>
            </a: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creatingTables</a:t>
            </a:r>
            <a:r>
              <a:rPr lang="en-US" sz="2400">
                <a:solidFill>
                  <a:srgbClr val="333333"/>
                </a:solidFill>
                <a:latin typeface="inherit"/>
              </a:rPr>
              <a:t>()</a:t>
            </a:r>
            <a:r>
              <a:rPr lang="en-US" sz="2400">
                <a:solidFill>
                  <a:srgbClr val="000000"/>
                </a:solidFill>
                <a:latin typeface="Monaco"/>
              </a:rPr>
              <a:t>  </a:t>
            </a:r>
          </a:p>
          <a:p>
            <a:r>
              <a:rPr lang="en-US" sz="2400">
                <a:solidFill>
                  <a:srgbClr val="006FE0"/>
                </a:solidFill>
                <a:latin typeface="inherit"/>
              </a:rPr>
              <a:t>        </a:t>
            </a:r>
            <a:r>
              <a:rPr lang="en-US" sz="2400">
                <a:solidFill>
                  <a:srgbClr val="800080"/>
                </a:solidFill>
                <a:latin typeface="inherit"/>
              </a:rPr>
              <a:t>self</a:t>
            </a:r>
            <a:r>
              <a:rPr lang="en-US" sz="2400">
                <a:solidFill>
                  <a:srgbClr val="333333"/>
                </a:solidFill>
                <a:latin typeface="inherit"/>
              </a:rPr>
              <a:t>.</a:t>
            </a:r>
            <a:r>
              <a:rPr lang="en-US" sz="2400">
                <a:solidFill>
                  <a:srgbClr val="004ED0"/>
                </a:solidFill>
                <a:latin typeface="inherit"/>
              </a:rPr>
              <a:t>show</a:t>
            </a:r>
            <a:r>
              <a:rPr lang="en-US" sz="2400">
                <a:solidFill>
                  <a:srgbClr val="333333"/>
                </a:solidFill>
                <a:latin typeface="inherit"/>
              </a:rPr>
              <a:t>()</a:t>
            </a:r>
            <a:endParaRPr lang="en-US" sz="2400" b="0" i="0">
              <a:solidFill>
                <a:srgbClr val="000000"/>
              </a:solidFill>
              <a:effectLst/>
              <a:latin typeface="Monaco"/>
            </a:endParaRPr>
          </a:p>
        </p:txBody>
      </p:sp>
      <p:sp>
        <p:nvSpPr>
          <p:cNvPr id="6" name="Rectangle 5">
            <a:extLst>
              <a:ext uri="{FF2B5EF4-FFF2-40B4-BE49-F238E27FC236}">
                <a16:creationId xmlns:a16="http://schemas.microsoft.com/office/drawing/2014/main" id="{508C521B-A6A6-4A80-B4AA-0683509A21FB}"/>
              </a:ext>
            </a:extLst>
          </p:cNvPr>
          <p:cNvSpPr/>
          <p:nvPr/>
        </p:nvSpPr>
        <p:spPr>
          <a:xfrm>
            <a:off x="4551754" y="2658070"/>
            <a:ext cx="4572000" cy="1384995"/>
          </a:xfrm>
          <a:prstGeom prst="rect">
            <a:avLst/>
          </a:prstGeom>
          <a:solidFill>
            <a:schemeClr val="accent5">
              <a:lumMod val="20000"/>
              <a:lumOff val="80000"/>
            </a:schemeClr>
          </a:solidFill>
        </p:spPr>
        <p:txBody>
          <a:bodyPr>
            <a:spAutoFit/>
          </a:bodyPr>
          <a:lstStyle/>
          <a:p>
            <a:r>
              <a:rPr lang="en-US" sz="2800">
                <a:solidFill>
                  <a:srgbClr val="002D7A"/>
                </a:solidFill>
                <a:latin typeface="inherit"/>
              </a:rPr>
              <a:t>App</a:t>
            </a:r>
            <a:r>
              <a:rPr lang="en-US" sz="2800">
                <a:solidFill>
                  <a:srgbClr val="006FE0"/>
                </a:solidFill>
                <a:latin typeface="inherit"/>
              </a:rPr>
              <a:t> = </a:t>
            </a:r>
            <a:r>
              <a:rPr lang="en-US" sz="2800">
                <a:solidFill>
                  <a:srgbClr val="004ED0"/>
                </a:solidFill>
                <a:latin typeface="inherit"/>
              </a:rPr>
              <a:t>QApplication</a:t>
            </a:r>
            <a:r>
              <a:rPr lang="en-US" sz="2800">
                <a:solidFill>
                  <a:srgbClr val="333333"/>
                </a:solidFill>
                <a:latin typeface="inherit"/>
              </a:rPr>
              <a:t>(</a:t>
            </a:r>
            <a:r>
              <a:rPr lang="en-US" sz="2800">
                <a:solidFill>
                  <a:srgbClr val="002D7A"/>
                </a:solidFill>
                <a:latin typeface="inherit"/>
              </a:rPr>
              <a:t>sys</a:t>
            </a:r>
            <a:r>
              <a:rPr lang="en-US" sz="2800">
                <a:solidFill>
                  <a:srgbClr val="333333"/>
                </a:solidFill>
                <a:latin typeface="inherit"/>
              </a:rPr>
              <a:t>.</a:t>
            </a:r>
            <a:r>
              <a:rPr lang="en-US" sz="2800">
                <a:solidFill>
                  <a:srgbClr val="002D7A"/>
                </a:solidFill>
                <a:latin typeface="inherit"/>
              </a:rPr>
              <a:t>argv</a:t>
            </a:r>
            <a:r>
              <a:rPr lang="en-US" sz="2800">
                <a:solidFill>
                  <a:srgbClr val="333333"/>
                </a:solidFill>
                <a:latin typeface="inherit"/>
              </a:rPr>
              <a:t>)</a:t>
            </a:r>
            <a:endParaRPr lang="en-US" sz="2800">
              <a:solidFill>
                <a:srgbClr val="000000"/>
              </a:solidFill>
              <a:latin typeface="Monaco"/>
            </a:endParaRPr>
          </a:p>
          <a:p>
            <a:r>
              <a:rPr lang="en-US" sz="2800">
                <a:solidFill>
                  <a:srgbClr val="002D7A"/>
                </a:solidFill>
                <a:latin typeface="inherit"/>
              </a:rPr>
              <a:t>window</a:t>
            </a:r>
            <a:r>
              <a:rPr lang="en-US" sz="2800">
                <a:solidFill>
                  <a:srgbClr val="006FE0"/>
                </a:solidFill>
                <a:latin typeface="inherit"/>
              </a:rPr>
              <a:t> = </a:t>
            </a:r>
            <a:r>
              <a:rPr lang="en-US" sz="2800">
                <a:solidFill>
                  <a:srgbClr val="004ED0"/>
                </a:solidFill>
                <a:latin typeface="inherit"/>
              </a:rPr>
              <a:t>Window</a:t>
            </a:r>
            <a:r>
              <a:rPr lang="en-US" sz="2800">
                <a:solidFill>
                  <a:srgbClr val="333333"/>
                </a:solidFill>
                <a:latin typeface="inherit"/>
              </a:rPr>
              <a:t>()</a:t>
            </a:r>
            <a:endParaRPr lang="en-US" sz="2800">
              <a:solidFill>
                <a:srgbClr val="000000"/>
              </a:solidFill>
              <a:latin typeface="Monaco"/>
            </a:endParaRPr>
          </a:p>
          <a:p>
            <a:r>
              <a:rPr lang="en-US" sz="2800">
                <a:solidFill>
                  <a:srgbClr val="002D7A"/>
                </a:solidFill>
                <a:latin typeface="inherit"/>
              </a:rPr>
              <a:t>sys</a:t>
            </a:r>
            <a:r>
              <a:rPr lang="en-US" sz="2800">
                <a:solidFill>
                  <a:srgbClr val="333333"/>
                </a:solidFill>
                <a:latin typeface="inherit"/>
              </a:rPr>
              <a:t>.</a:t>
            </a:r>
            <a:r>
              <a:rPr lang="en-US" sz="2800">
                <a:solidFill>
                  <a:srgbClr val="004ED0"/>
                </a:solidFill>
                <a:latin typeface="inherit"/>
              </a:rPr>
              <a:t>exit</a:t>
            </a:r>
            <a:r>
              <a:rPr lang="en-US" sz="2800">
                <a:solidFill>
                  <a:srgbClr val="333333"/>
                </a:solidFill>
                <a:latin typeface="inherit"/>
              </a:rPr>
              <a:t>(</a:t>
            </a:r>
            <a:r>
              <a:rPr lang="en-US" sz="2800">
                <a:solidFill>
                  <a:srgbClr val="002D7A"/>
                </a:solidFill>
                <a:latin typeface="inherit"/>
              </a:rPr>
              <a:t>App</a:t>
            </a:r>
            <a:r>
              <a:rPr lang="en-US" sz="2800">
                <a:solidFill>
                  <a:srgbClr val="333333"/>
                </a:solidFill>
                <a:latin typeface="inherit"/>
              </a:rPr>
              <a:t>.</a:t>
            </a:r>
            <a:r>
              <a:rPr lang="en-US" sz="2800">
                <a:solidFill>
                  <a:srgbClr val="004ED0"/>
                </a:solidFill>
                <a:latin typeface="inherit"/>
              </a:rPr>
              <a:t>exec</a:t>
            </a:r>
            <a:r>
              <a:rPr lang="en-US" sz="2800">
                <a:solidFill>
                  <a:srgbClr val="333333"/>
                </a:solidFill>
                <a:latin typeface="inherit"/>
              </a:rPr>
              <a:t>())</a:t>
            </a:r>
            <a:endParaRPr lang="en-US" sz="2800" b="0" i="0">
              <a:solidFill>
                <a:srgbClr val="000000"/>
              </a:solidFill>
              <a:effectLst/>
              <a:latin typeface="Monaco"/>
            </a:endParaRPr>
          </a:p>
        </p:txBody>
      </p:sp>
    </p:spTree>
    <p:extLst>
      <p:ext uri="{BB962C8B-B14F-4D97-AF65-F5344CB8AC3E}">
        <p14:creationId xmlns:p14="http://schemas.microsoft.com/office/powerpoint/2010/main" val="283173456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6F271D-5EB4-47D1-96B4-E474A77D1196}"/>
              </a:ext>
            </a:extLst>
          </p:cNvPr>
          <p:cNvSpPr>
            <a:spLocks noGrp="1"/>
          </p:cNvSpPr>
          <p:nvPr>
            <p:ph type="title"/>
          </p:nvPr>
        </p:nvSpPr>
        <p:spPr>
          <a:xfrm>
            <a:off x="9624" y="19251"/>
            <a:ext cx="9134375" cy="607282"/>
          </a:xfrm>
        </p:spPr>
        <p:txBody>
          <a:bodyPr>
            <a:normAutofit fontScale="90000"/>
          </a:bodyPr>
          <a:lstStyle/>
          <a:p>
            <a:r>
              <a:rPr lang="en-US"/>
              <a:t>Tạo bảng với QTableWidget (t.t)</a:t>
            </a:r>
          </a:p>
        </p:txBody>
      </p:sp>
      <p:sp>
        <p:nvSpPr>
          <p:cNvPr id="5" name="Rectangle 4">
            <a:extLst>
              <a:ext uri="{FF2B5EF4-FFF2-40B4-BE49-F238E27FC236}">
                <a16:creationId xmlns:a16="http://schemas.microsoft.com/office/drawing/2014/main" id="{069FAD8A-8E02-4BD8-90C2-3C86B2385CBC}"/>
              </a:ext>
            </a:extLst>
          </p:cNvPr>
          <p:cNvSpPr/>
          <p:nvPr/>
        </p:nvSpPr>
        <p:spPr>
          <a:xfrm>
            <a:off x="9624" y="677335"/>
            <a:ext cx="9144000" cy="6144759"/>
          </a:xfrm>
          <a:prstGeom prst="rect">
            <a:avLst/>
          </a:prstGeom>
        </p:spPr>
        <p:txBody>
          <a:bodyPr wrap="square">
            <a:spAutoFit/>
          </a:bodyPr>
          <a:lstStyle/>
          <a:p>
            <a:pPr>
              <a:lnSpc>
                <a:spcPct val="95000"/>
              </a:lnSpc>
            </a:pPr>
            <a:r>
              <a:rPr lang="en-US">
                <a:solidFill>
                  <a:srgbClr val="006FE0"/>
                </a:solidFill>
                <a:latin typeface="inherit"/>
              </a:rPr>
              <a:t> </a:t>
            </a:r>
            <a:r>
              <a:rPr lang="en-US">
                <a:solidFill>
                  <a:srgbClr val="004ED0"/>
                </a:solidFill>
                <a:latin typeface="inherit"/>
              </a:rPr>
              <a:t>def creatingTables</a:t>
            </a:r>
            <a:r>
              <a:rPr lang="en-US">
                <a:solidFill>
                  <a:srgbClr val="333333"/>
                </a:solidFill>
                <a:latin typeface="inherit"/>
              </a:rPr>
              <a:t>(</a:t>
            </a:r>
            <a:r>
              <a:rPr lang="en-US">
                <a:solidFill>
                  <a:srgbClr val="800080"/>
                </a:solidFill>
                <a:latin typeface="inherit"/>
              </a:rPr>
              <a:t>self</a:t>
            </a:r>
            <a:r>
              <a:rPr lang="en-US">
                <a:solidFill>
                  <a:srgbClr val="333333"/>
                </a:solidFill>
                <a:latin typeface="inherit"/>
              </a:rPr>
              <a:t>)</a:t>
            </a:r>
            <a:r>
              <a:rPr lang="en-US">
                <a:solidFill>
                  <a:srgbClr val="006FE0"/>
                </a:solidFill>
                <a:latin typeface="inherit"/>
              </a:rPr>
              <a:t>:</a:t>
            </a:r>
            <a:endParaRPr lang="en-US">
              <a:solidFill>
                <a:srgbClr val="000000"/>
              </a:solidFill>
              <a:latin typeface="Monaco"/>
            </a:endParaRPr>
          </a:p>
          <a:p>
            <a:pPr>
              <a:lnSpc>
                <a:spcPct val="95000"/>
              </a:lnSpc>
            </a:pPr>
            <a:r>
              <a:rPr lang="en-US">
                <a:solidFill>
                  <a:srgbClr val="006FE0"/>
                </a:solidFill>
                <a:latin typeface="inherit"/>
              </a:rPr>
              <a:t>      </a:t>
            </a: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006FE0"/>
                </a:solidFill>
                <a:highlight>
                  <a:srgbClr val="FFFF00"/>
                </a:highlight>
                <a:latin typeface="inherit"/>
              </a:rPr>
              <a:t> = </a:t>
            </a:r>
            <a:r>
              <a:rPr lang="en-US">
                <a:solidFill>
                  <a:srgbClr val="004ED0"/>
                </a:solidFill>
                <a:highlight>
                  <a:srgbClr val="FFFF00"/>
                </a:highlight>
                <a:latin typeface="inherit"/>
              </a:rPr>
              <a:t>QTableWidget</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333333"/>
                </a:solidFill>
                <a:highlight>
                  <a:srgbClr val="FFFF00"/>
                </a:highlight>
                <a:latin typeface="inherit"/>
              </a:rPr>
              <a:t>.</a:t>
            </a:r>
            <a:r>
              <a:rPr lang="en-US">
                <a:solidFill>
                  <a:srgbClr val="004ED0"/>
                </a:solidFill>
                <a:highlight>
                  <a:srgbClr val="FFFF00"/>
                </a:highlight>
                <a:latin typeface="inherit"/>
              </a:rPr>
              <a:t>setRowCount</a:t>
            </a:r>
            <a:r>
              <a:rPr lang="en-US">
                <a:solidFill>
                  <a:srgbClr val="333333"/>
                </a:solidFill>
                <a:highlight>
                  <a:srgbClr val="FFFF00"/>
                </a:highlight>
                <a:latin typeface="inherit"/>
              </a:rPr>
              <a:t>(</a:t>
            </a:r>
            <a:r>
              <a:rPr lang="en-US">
                <a:solidFill>
                  <a:srgbClr val="CE0000"/>
                </a:solidFill>
                <a:highlight>
                  <a:srgbClr val="FFFF00"/>
                </a:highlight>
                <a:latin typeface="inherit"/>
              </a:rPr>
              <a:t>5</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333333"/>
                </a:solidFill>
                <a:highlight>
                  <a:srgbClr val="FFFF00"/>
                </a:highlight>
                <a:latin typeface="inherit"/>
              </a:rPr>
              <a:t>.</a:t>
            </a:r>
            <a:r>
              <a:rPr lang="en-US">
                <a:solidFill>
                  <a:srgbClr val="004ED0"/>
                </a:solidFill>
                <a:highlight>
                  <a:srgbClr val="FFFF00"/>
                </a:highlight>
                <a:latin typeface="inherit"/>
              </a:rPr>
              <a:t>setColumnCount</a:t>
            </a:r>
            <a:r>
              <a:rPr lang="en-US">
                <a:solidFill>
                  <a:srgbClr val="333333"/>
                </a:solidFill>
                <a:highlight>
                  <a:srgbClr val="FFFF00"/>
                </a:highlight>
                <a:latin typeface="inherit"/>
              </a:rPr>
              <a:t>(</a:t>
            </a:r>
            <a:r>
              <a:rPr lang="en-US">
                <a:solidFill>
                  <a:srgbClr val="CE0000"/>
                </a:solidFill>
                <a:highlight>
                  <a:srgbClr val="FFFF00"/>
                </a:highlight>
                <a:latin typeface="inherit"/>
              </a:rPr>
              <a:t>3</a:t>
            </a:r>
            <a:r>
              <a:rPr lang="en-US">
                <a:solidFill>
                  <a:srgbClr val="333333"/>
                </a:solidFill>
                <a:highlight>
                  <a:srgbClr val="FFFF00"/>
                </a:highlight>
                <a:latin typeface="inherit"/>
              </a:rPr>
              <a:t>)</a:t>
            </a:r>
            <a:r>
              <a:rPr lang="en-US">
                <a:solidFill>
                  <a:srgbClr val="000000"/>
                </a:solidFill>
                <a:latin typeface="Monaco"/>
              </a:rPr>
              <a:t> </a:t>
            </a:r>
            <a:endParaRPr lang="en-US" sz="1050">
              <a:solidFill>
                <a:srgbClr val="000000"/>
              </a:solidFill>
              <a:latin typeface="Monaco"/>
            </a:endParaRPr>
          </a:p>
          <a:p>
            <a:pPr>
              <a:lnSpc>
                <a:spcPct val="95000"/>
              </a:lnSpc>
            </a:pPr>
            <a:r>
              <a:rPr lang="en-US">
                <a:solidFill>
                  <a:srgbClr val="006FE0"/>
                </a:solidFill>
                <a:latin typeface="inherit"/>
              </a:rPr>
              <a:t>       </a:t>
            </a:r>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tableWidget</a:t>
            </a:r>
            <a:r>
              <a:rPr lang="en-US">
                <a:solidFill>
                  <a:srgbClr val="333333"/>
                </a:solidFill>
                <a:highlight>
                  <a:srgbClr val="00FF00"/>
                </a:highlight>
                <a:latin typeface="inherit"/>
              </a:rPr>
              <a:t>.</a:t>
            </a:r>
            <a:r>
              <a:rPr lang="en-US">
                <a:solidFill>
                  <a:srgbClr val="004ED0"/>
                </a:solidFill>
                <a:highlight>
                  <a:srgbClr val="00FF00"/>
                </a:highlight>
                <a:latin typeface="inherit"/>
              </a:rPr>
              <a:t>setItem</a:t>
            </a:r>
            <a:r>
              <a:rPr lang="en-US">
                <a:solidFill>
                  <a:srgbClr val="333333"/>
                </a:solidFill>
                <a:highlight>
                  <a:srgbClr val="00FF00"/>
                </a:highlight>
                <a:latin typeface="inherit"/>
              </a:rPr>
              <a:t>(</a:t>
            </a:r>
            <a:r>
              <a:rPr lang="en-US">
                <a:solidFill>
                  <a:srgbClr val="CE0000"/>
                </a:solidFill>
                <a:highlight>
                  <a:srgbClr val="00FF00"/>
                </a:highlight>
                <a:latin typeface="inherit"/>
              </a:rPr>
              <a:t>0</a:t>
            </a:r>
            <a:r>
              <a:rPr lang="en-US">
                <a:solidFill>
                  <a:srgbClr val="333333"/>
                </a:solidFill>
                <a:highlight>
                  <a:srgbClr val="00FF00"/>
                </a:highlight>
                <a:latin typeface="inherit"/>
              </a:rPr>
              <a:t>,</a:t>
            </a:r>
            <a:r>
              <a:rPr lang="en-US">
                <a:solidFill>
                  <a:srgbClr val="CE0000"/>
                </a:solidFill>
                <a:highlight>
                  <a:srgbClr val="00FF00"/>
                </a:highlight>
                <a:latin typeface="inherit"/>
              </a:rPr>
              <a:t>0</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004ED0"/>
                </a:solidFill>
                <a:highlight>
                  <a:srgbClr val="00FF00"/>
                </a:highlight>
                <a:latin typeface="inherit"/>
              </a:rPr>
              <a:t>QTableWidgetItem</a:t>
            </a:r>
            <a:r>
              <a:rPr lang="en-US">
                <a:solidFill>
                  <a:srgbClr val="333333"/>
                </a:solidFill>
                <a:highlight>
                  <a:srgbClr val="00FF00"/>
                </a:highlight>
                <a:latin typeface="inherit"/>
              </a:rPr>
              <a:t>(</a:t>
            </a:r>
            <a:r>
              <a:rPr lang="en-US">
                <a:solidFill>
                  <a:srgbClr val="008000"/>
                </a:solidFill>
                <a:highlight>
                  <a:srgbClr val="00FF00"/>
                </a:highlight>
                <a:latin typeface="inherit"/>
              </a:rPr>
              <a:t>"Name"</a:t>
            </a:r>
            <a:r>
              <a:rPr lang="en-US">
                <a:solidFill>
                  <a:srgbClr val="333333"/>
                </a:solidFill>
                <a:highlight>
                  <a:srgbClr val="00FF00"/>
                </a:highlight>
                <a:latin typeface="inherit"/>
              </a:rPr>
              <a:t>))</a:t>
            </a:r>
            <a:endParaRPr lang="en-US">
              <a:solidFill>
                <a:srgbClr val="000000"/>
              </a:solidFill>
              <a:highlight>
                <a:srgbClr val="00FF00"/>
              </a:highlight>
              <a:latin typeface="Monaco"/>
            </a:endParaRPr>
          </a:p>
          <a:p>
            <a:pPr>
              <a:lnSpc>
                <a:spcPct val="95000"/>
              </a:lnSpc>
            </a:pPr>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tableWidget</a:t>
            </a:r>
            <a:r>
              <a:rPr lang="en-US">
                <a:solidFill>
                  <a:srgbClr val="333333"/>
                </a:solidFill>
                <a:highlight>
                  <a:srgbClr val="00FF00"/>
                </a:highlight>
                <a:latin typeface="inherit"/>
              </a:rPr>
              <a:t>.</a:t>
            </a:r>
            <a:r>
              <a:rPr lang="en-US">
                <a:solidFill>
                  <a:srgbClr val="004ED0"/>
                </a:solidFill>
                <a:highlight>
                  <a:srgbClr val="00FF00"/>
                </a:highlight>
                <a:latin typeface="inherit"/>
              </a:rPr>
              <a:t>setItem</a:t>
            </a:r>
            <a:r>
              <a:rPr lang="en-US">
                <a:solidFill>
                  <a:srgbClr val="333333"/>
                </a:solidFill>
                <a:highlight>
                  <a:srgbClr val="00FF00"/>
                </a:highlight>
                <a:latin typeface="inherit"/>
              </a:rPr>
              <a:t>(</a:t>
            </a:r>
            <a:r>
              <a:rPr lang="en-US">
                <a:solidFill>
                  <a:srgbClr val="CE0000"/>
                </a:solidFill>
                <a:highlight>
                  <a:srgbClr val="00FF00"/>
                </a:highlight>
                <a:latin typeface="inherit"/>
              </a:rPr>
              <a:t>0</a:t>
            </a:r>
            <a:r>
              <a:rPr lang="en-US">
                <a:solidFill>
                  <a:srgbClr val="333333"/>
                </a:solidFill>
                <a:highlight>
                  <a:srgbClr val="00FF00"/>
                </a:highlight>
                <a:latin typeface="inherit"/>
              </a:rPr>
              <a:t>,</a:t>
            </a:r>
            <a:r>
              <a:rPr lang="en-US">
                <a:solidFill>
                  <a:srgbClr val="CE0000"/>
                </a:solidFill>
                <a:highlight>
                  <a:srgbClr val="00FF00"/>
                </a:highlight>
                <a:latin typeface="inherit"/>
              </a:rPr>
              <a:t>1</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004ED0"/>
                </a:solidFill>
                <a:highlight>
                  <a:srgbClr val="00FF00"/>
                </a:highlight>
                <a:latin typeface="inherit"/>
              </a:rPr>
              <a:t>QTableWidgetItem</a:t>
            </a:r>
            <a:r>
              <a:rPr lang="en-US">
                <a:solidFill>
                  <a:srgbClr val="333333"/>
                </a:solidFill>
                <a:highlight>
                  <a:srgbClr val="00FF00"/>
                </a:highlight>
                <a:latin typeface="inherit"/>
              </a:rPr>
              <a:t>(</a:t>
            </a:r>
            <a:r>
              <a:rPr lang="en-US">
                <a:solidFill>
                  <a:srgbClr val="008000"/>
                </a:solidFill>
                <a:highlight>
                  <a:srgbClr val="00FF00"/>
                </a:highlight>
                <a:latin typeface="inherit"/>
              </a:rPr>
              <a:t>"Email"</a:t>
            </a:r>
            <a:r>
              <a:rPr lang="en-US">
                <a:solidFill>
                  <a:srgbClr val="333333"/>
                </a:solidFill>
                <a:highlight>
                  <a:srgbClr val="00FF00"/>
                </a:highlight>
                <a:latin typeface="inherit"/>
              </a:rPr>
              <a:t>))</a:t>
            </a:r>
            <a:endParaRPr lang="en-US">
              <a:solidFill>
                <a:srgbClr val="000000"/>
              </a:solidFill>
              <a:highlight>
                <a:srgbClr val="00FF00"/>
              </a:highlight>
              <a:latin typeface="Monaco"/>
            </a:endParaRPr>
          </a:p>
          <a:p>
            <a:pPr>
              <a:lnSpc>
                <a:spcPct val="95000"/>
              </a:lnSpc>
            </a:pPr>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tableWidget</a:t>
            </a:r>
            <a:r>
              <a:rPr lang="en-US">
                <a:solidFill>
                  <a:srgbClr val="333333"/>
                </a:solidFill>
                <a:highlight>
                  <a:srgbClr val="00FF00"/>
                </a:highlight>
                <a:latin typeface="inherit"/>
              </a:rPr>
              <a:t>.</a:t>
            </a:r>
            <a:r>
              <a:rPr lang="en-US">
                <a:solidFill>
                  <a:srgbClr val="004ED0"/>
                </a:solidFill>
                <a:highlight>
                  <a:srgbClr val="00FF00"/>
                </a:highlight>
                <a:latin typeface="inherit"/>
              </a:rPr>
              <a:t>setItem</a:t>
            </a:r>
            <a:r>
              <a:rPr lang="en-US">
                <a:solidFill>
                  <a:srgbClr val="333333"/>
                </a:solidFill>
                <a:highlight>
                  <a:srgbClr val="00FF00"/>
                </a:highlight>
                <a:latin typeface="inherit"/>
              </a:rPr>
              <a:t>(</a:t>
            </a:r>
            <a:r>
              <a:rPr lang="en-US">
                <a:solidFill>
                  <a:srgbClr val="CE0000"/>
                </a:solidFill>
                <a:highlight>
                  <a:srgbClr val="00FF00"/>
                </a:highlight>
                <a:latin typeface="inherit"/>
              </a:rPr>
              <a:t>0</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CE0000"/>
                </a:solidFill>
                <a:highlight>
                  <a:srgbClr val="00FF00"/>
                </a:highlight>
                <a:latin typeface="inherit"/>
              </a:rPr>
              <a:t>2</a:t>
            </a:r>
            <a:r>
              <a:rPr lang="en-US">
                <a:solidFill>
                  <a:srgbClr val="006FE0"/>
                </a:solidFill>
                <a:highlight>
                  <a:srgbClr val="00FF00"/>
                </a:highlight>
                <a:latin typeface="inherit"/>
              </a:rPr>
              <a:t> </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004ED0"/>
                </a:solidFill>
                <a:highlight>
                  <a:srgbClr val="00FF00"/>
                </a:highlight>
                <a:latin typeface="inherit"/>
              </a:rPr>
              <a:t>QTableWidgetItem</a:t>
            </a:r>
            <a:r>
              <a:rPr lang="en-US">
                <a:solidFill>
                  <a:srgbClr val="333333"/>
                </a:solidFill>
                <a:highlight>
                  <a:srgbClr val="00FF00"/>
                </a:highlight>
                <a:latin typeface="inherit"/>
              </a:rPr>
              <a:t>(</a:t>
            </a:r>
            <a:r>
              <a:rPr lang="en-US">
                <a:solidFill>
                  <a:srgbClr val="008000"/>
                </a:solidFill>
                <a:highlight>
                  <a:srgbClr val="00FF00"/>
                </a:highlight>
                <a:latin typeface="inherit"/>
              </a:rPr>
              <a:t>"Phone No"</a:t>
            </a:r>
            <a:r>
              <a:rPr lang="en-US">
                <a:solidFill>
                  <a:srgbClr val="333333"/>
                </a:solidFill>
                <a:highlight>
                  <a:srgbClr val="00FF00"/>
                </a:highlight>
                <a:latin typeface="inherit"/>
              </a:rPr>
              <a:t>))</a:t>
            </a:r>
            <a:r>
              <a:rPr lang="en-US">
                <a:solidFill>
                  <a:srgbClr val="000000"/>
                </a:solidFill>
                <a:latin typeface="Monaco"/>
              </a:rPr>
              <a:t> </a:t>
            </a:r>
          </a:p>
          <a:p>
            <a:pPr>
              <a:lnSpc>
                <a:spcPct val="95000"/>
              </a:lnSpc>
            </a:pPr>
            <a:r>
              <a:rPr lang="en-US">
                <a:solidFill>
                  <a:srgbClr val="006FE0"/>
                </a:solidFill>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setItem</a:t>
            </a:r>
            <a:r>
              <a:rPr lang="en-US">
                <a:solidFill>
                  <a:srgbClr val="333333"/>
                </a:solidFill>
                <a:highlight>
                  <a:srgbClr val="00FFFF"/>
                </a:highlight>
                <a:latin typeface="inherit"/>
              </a:rPr>
              <a:t>(</a:t>
            </a:r>
            <a:r>
              <a:rPr lang="en-US">
                <a:solidFill>
                  <a:srgbClr val="CE0000"/>
                </a:solidFill>
                <a:highlight>
                  <a:srgbClr val="00FFFF"/>
                </a:highlight>
                <a:latin typeface="inherit"/>
              </a:rPr>
              <a:t>1</a:t>
            </a:r>
            <a:r>
              <a:rPr lang="en-US">
                <a:solidFill>
                  <a:srgbClr val="333333"/>
                </a:solidFill>
                <a:highlight>
                  <a:srgbClr val="00FFFF"/>
                </a:highlight>
                <a:latin typeface="inherit"/>
              </a:rPr>
              <a:t>,</a:t>
            </a:r>
            <a:r>
              <a:rPr lang="en-US">
                <a:solidFill>
                  <a:srgbClr val="CE0000"/>
                </a:solidFill>
                <a:highlight>
                  <a:srgbClr val="00FFFF"/>
                </a:highlight>
                <a:latin typeface="inherit"/>
              </a:rPr>
              <a:t>0</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4ED0"/>
                </a:solidFill>
                <a:highlight>
                  <a:srgbClr val="00FFFF"/>
                </a:highlight>
                <a:latin typeface="inherit"/>
              </a:rPr>
              <a:t>QTableWidgetItem</a:t>
            </a:r>
            <a:r>
              <a:rPr lang="en-US">
                <a:solidFill>
                  <a:srgbClr val="333333"/>
                </a:solidFill>
                <a:highlight>
                  <a:srgbClr val="00FFFF"/>
                </a:highlight>
                <a:latin typeface="inherit"/>
              </a:rPr>
              <a:t>(</a:t>
            </a:r>
            <a:r>
              <a:rPr lang="en-US">
                <a:solidFill>
                  <a:srgbClr val="008000"/>
                </a:solidFill>
                <a:highlight>
                  <a:srgbClr val="00FFFF"/>
                </a:highlight>
                <a:latin typeface="inherit"/>
              </a:rPr>
              <a:t>"Parwiz"</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pPr>
              <a:lnSpc>
                <a:spcPct val="95000"/>
              </a:lnSpc>
            </a:pPr>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setItem</a:t>
            </a:r>
            <a:r>
              <a:rPr lang="en-US">
                <a:solidFill>
                  <a:srgbClr val="333333"/>
                </a:solidFill>
                <a:highlight>
                  <a:srgbClr val="00FFFF"/>
                </a:highlight>
                <a:latin typeface="inherit"/>
              </a:rPr>
              <a:t>(</a:t>
            </a:r>
            <a:r>
              <a:rPr lang="en-US">
                <a:solidFill>
                  <a:srgbClr val="CE0000"/>
                </a:solidFill>
                <a:highlight>
                  <a:srgbClr val="00FFFF"/>
                </a:highlight>
                <a:latin typeface="inherit"/>
              </a:rPr>
              <a:t>1</a:t>
            </a:r>
            <a:r>
              <a:rPr lang="en-US">
                <a:solidFill>
                  <a:srgbClr val="333333"/>
                </a:solidFill>
                <a:highlight>
                  <a:srgbClr val="00FFFF"/>
                </a:highlight>
                <a:latin typeface="inherit"/>
              </a:rPr>
              <a:t>,</a:t>
            </a:r>
            <a:r>
              <a:rPr lang="en-US">
                <a:solidFill>
                  <a:srgbClr val="CE0000"/>
                </a:solidFill>
                <a:highlight>
                  <a:srgbClr val="00FFFF"/>
                </a:highlight>
                <a:latin typeface="inherit"/>
              </a:rPr>
              <a:t>1</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4ED0"/>
                </a:solidFill>
                <a:highlight>
                  <a:srgbClr val="00FFFF"/>
                </a:highlight>
                <a:latin typeface="inherit"/>
              </a:rPr>
              <a:t>QTableWidgetItem</a:t>
            </a:r>
            <a:r>
              <a:rPr lang="en-US">
                <a:solidFill>
                  <a:srgbClr val="333333"/>
                </a:solidFill>
                <a:highlight>
                  <a:srgbClr val="00FFFF"/>
                </a:highlight>
                <a:latin typeface="inherit"/>
              </a:rPr>
              <a:t>(</a:t>
            </a:r>
            <a:r>
              <a:rPr lang="en-US">
                <a:solidFill>
                  <a:srgbClr val="008000"/>
                </a:solidFill>
                <a:highlight>
                  <a:srgbClr val="00FFFF"/>
                </a:highlight>
                <a:latin typeface="inherit"/>
              </a:rPr>
              <a:t>"parwiz@gmail.com"</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pPr>
              <a:lnSpc>
                <a:spcPct val="95000"/>
              </a:lnSpc>
            </a:pPr>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setItem</a:t>
            </a:r>
            <a:r>
              <a:rPr lang="en-US">
                <a:solidFill>
                  <a:srgbClr val="333333"/>
                </a:solidFill>
                <a:highlight>
                  <a:srgbClr val="00FFFF"/>
                </a:highlight>
                <a:latin typeface="inherit"/>
              </a:rPr>
              <a:t>(</a:t>
            </a:r>
            <a:r>
              <a:rPr lang="en-US">
                <a:solidFill>
                  <a:srgbClr val="CE0000"/>
                </a:solidFill>
                <a:highlight>
                  <a:srgbClr val="00FFFF"/>
                </a:highlight>
                <a:latin typeface="inherit"/>
              </a:rPr>
              <a:t>1</a:t>
            </a:r>
            <a:r>
              <a:rPr lang="en-US">
                <a:solidFill>
                  <a:srgbClr val="333333"/>
                </a:solidFill>
                <a:highlight>
                  <a:srgbClr val="00FFFF"/>
                </a:highlight>
                <a:latin typeface="inherit"/>
              </a:rPr>
              <a:t>,</a:t>
            </a:r>
            <a:r>
              <a:rPr lang="en-US">
                <a:solidFill>
                  <a:srgbClr val="CE0000"/>
                </a:solidFill>
                <a:highlight>
                  <a:srgbClr val="00FFFF"/>
                </a:highlight>
                <a:latin typeface="inherit"/>
              </a:rPr>
              <a:t>2</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4ED0"/>
                </a:solidFill>
                <a:highlight>
                  <a:srgbClr val="00FFFF"/>
                </a:highlight>
                <a:latin typeface="inherit"/>
              </a:rPr>
              <a:t>QTableWidgetItem</a:t>
            </a:r>
            <a:r>
              <a:rPr lang="en-US">
                <a:solidFill>
                  <a:srgbClr val="333333"/>
                </a:solidFill>
                <a:highlight>
                  <a:srgbClr val="00FFFF"/>
                </a:highlight>
                <a:latin typeface="inherit"/>
              </a:rPr>
              <a:t>(</a:t>
            </a:r>
            <a:r>
              <a:rPr lang="en-US">
                <a:solidFill>
                  <a:srgbClr val="008000"/>
                </a:solidFill>
                <a:highlight>
                  <a:srgbClr val="00FFFF"/>
                </a:highlight>
                <a:latin typeface="inherit"/>
              </a:rPr>
              <a:t>"845845845"</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pPr>
              <a:lnSpc>
                <a:spcPct val="95000"/>
              </a:lnSpc>
            </a:pPr>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setColumnWidth</a:t>
            </a:r>
            <a:r>
              <a:rPr lang="en-US">
                <a:solidFill>
                  <a:srgbClr val="333333"/>
                </a:solidFill>
                <a:highlight>
                  <a:srgbClr val="00FFFF"/>
                </a:highlight>
                <a:latin typeface="inherit"/>
              </a:rPr>
              <a:t>(</a:t>
            </a:r>
            <a:r>
              <a:rPr lang="en-US">
                <a:solidFill>
                  <a:srgbClr val="CE0000"/>
                </a:solidFill>
                <a:highlight>
                  <a:srgbClr val="00FFFF"/>
                </a:highlight>
                <a:latin typeface="inherit"/>
              </a:rPr>
              <a:t>1</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CE0000"/>
                </a:solidFill>
                <a:highlight>
                  <a:srgbClr val="00FFFF"/>
                </a:highlight>
                <a:latin typeface="inherit"/>
              </a:rPr>
              <a:t>200</a:t>
            </a:r>
            <a:r>
              <a:rPr lang="en-US">
                <a:solidFill>
                  <a:srgbClr val="333333"/>
                </a:solidFill>
                <a:highlight>
                  <a:srgbClr val="00FFFF"/>
                </a:highlight>
                <a:latin typeface="inherit"/>
              </a:rPr>
              <a:t>)</a:t>
            </a:r>
            <a:endParaRPr lang="en-US">
              <a:solidFill>
                <a:srgbClr val="000000"/>
              </a:solidFill>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333333"/>
                </a:solidFill>
                <a:highlight>
                  <a:srgbClr val="FFFF00"/>
                </a:highlight>
                <a:latin typeface="inherit"/>
              </a:rPr>
              <a:t>.</a:t>
            </a:r>
            <a:r>
              <a:rPr lang="en-US">
                <a:solidFill>
                  <a:srgbClr val="004ED0"/>
                </a:solidFill>
                <a:highlight>
                  <a:srgbClr val="FFFF00"/>
                </a:highlight>
                <a:latin typeface="inherit"/>
              </a:rPr>
              <a:t>setItem</a:t>
            </a:r>
            <a:r>
              <a:rPr lang="en-US">
                <a:solidFill>
                  <a:srgbClr val="333333"/>
                </a:solidFill>
                <a:highlight>
                  <a:srgbClr val="FFFF00"/>
                </a:highlight>
                <a:latin typeface="inherit"/>
              </a:rPr>
              <a:t>(</a:t>
            </a:r>
            <a:r>
              <a:rPr lang="en-US">
                <a:solidFill>
                  <a:srgbClr val="CE0000"/>
                </a:solidFill>
                <a:highlight>
                  <a:srgbClr val="FFFF00"/>
                </a:highlight>
                <a:latin typeface="inherit"/>
              </a:rPr>
              <a:t>2</a:t>
            </a:r>
            <a:r>
              <a:rPr lang="en-US">
                <a:solidFill>
                  <a:srgbClr val="333333"/>
                </a:solidFill>
                <a:highlight>
                  <a:srgbClr val="FFFF00"/>
                </a:highlight>
                <a:latin typeface="inherit"/>
              </a:rPr>
              <a:t>,</a:t>
            </a:r>
            <a:r>
              <a:rPr lang="en-US">
                <a:solidFill>
                  <a:srgbClr val="006FE0"/>
                </a:solidFill>
                <a:highlight>
                  <a:srgbClr val="FFFF00"/>
                </a:highlight>
                <a:latin typeface="inherit"/>
              </a:rPr>
              <a:t> </a:t>
            </a:r>
            <a:r>
              <a:rPr lang="en-US">
                <a:solidFill>
                  <a:srgbClr val="CE0000"/>
                </a:solidFill>
                <a:highlight>
                  <a:srgbClr val="FFFF00"/>
                </a:highlight>
                <a:latin typeface="inherit"/>
              </a:rPr>
              <a:t>0</a:t>
            </a:r>
            <a:r>
              <a:rPr lang="en-US">
                <a:solidFill>
                  <a:srgbClr val="333333"/>
                </a:solidFill>
                <a:highlight>
                  <a:srgbClr val="FFFF00"/>
                </a:highlight>
                <a:latin typeface="inherit"/>
              </a:rPr>
              <a:t>,</a:t>
            </a:r>
            <a:r>
              <a:rPr lang="en-US">
                <a:solidFill>
                  <a:srgbClr val="006FE0"/>
                </a:solidFill>
                <a:highlight>
                  <a:srgbClr val="FFFF00"/>
                </a:highlight>
                <a:latin typeface="inherit"/>
              </a:rPr>
              <a:t> </a:t>
            </a:r>
            <a:r>
              <a:rPr lang="en-US">
                <a:solidFill>
                  <a:srgbClr val="004ED0"/>
                </a:solidFill>
                <a:highlight>
                  <a:srgbClr val="FFFF00"/>
                </a:highlight>
                <a:latin typeface="inherit"/>
              </a:rPr>
              <a:t>QTableWidgetItem</a:t>
            </a:r>
            <a:r>
              <a:rPr lang="en-US">
                <a:solidFill>
                  <a:srgbClr val="333333"/>
                </a:solidFill>
                <a:highlight>
                  <a:srgbClr val="FFFF00"/>
                </a:highlight>
                <a:latin typeface="inherit"/>
              </a:rPr>
              <a:t>(</a:t>
            </a:r>
            <a:r>
              <a:rPr lang="en-US">
                <a:solidFill>
                  <a:srgbClr val="008000"/>
                </a:solidFill>
                <a:highlight>
                  <a:srgbClr val="FFFF00"/>
                </a:highlight>
                <a:latin typeface="inherit"/>
              </a:rPr>
              <a:t>"Ahmad"</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333333"/>
                </a:solidFill>
                <a:highlight>
                  <a:srgbClr val="FFFF00"/>
                </a:highlight>
                <a:latin typeface="inherit"/>
              </a:rPr>
              <a:t>.</a:t>
            </a:r>
            <a:r>
              <a:rPr lang="en-US">
                <a:solidFill>
                  <a:srgbClr val="004ED0"/>
                </a:solidFill>
                <a:highlight>
                  <a:srgbClr val="FFFF00"/>
                </a:highlight>
                <a:latin typeface="inherit"/>
              </a:rPr>
              <a:t>setItem</a:t>
            </a:r>
            <a:r>
              <a:rPr lang="en-US">
                <a:solidFill>
                  <a:srgbClr val="333333"/>
                </a:solidFill>
                <a:highlight>
                  <a:srgbClr val="FFFF00"/>
                </a:highlight>
                <a:latin typeface="inherit"/>
              </a:rPr>
              <a:t>(</a:t>
            </a:r>
            <a:r>
              <a:rPr lang="en-US">
                <a:solidFill>
                  <a:srgbClr val="CE0000"/>
                </a:solidFill>
                <a:highlight>
                  <a:srgbClr val="FFFF00"/>
                </a:highlight>
                <a:latin typeface="inherit"/>
              </a:rPr>
              <a:t>2</a:t>
            </a:r>
            <a:r>
              <a:rPr lang="en-US">
                <a:solidFill>
                  <a:srgbClr val="333333"/>
                </a:solidFill>
                <a:highlight>
                  <a:srgbClr val="FFFF00"/>
                </a:highlight>
                <a:latin typeface="inherit"/>
              </a:rPr>
              <a:t>,</a:t>
            </a:r>
            <a:r>
              <a:rPr lang="en-US">
                <a:solidFill>
                  <a:srgbClr val="006FE0"/>
                </a:solidFill>
                <a:highlight>
                  <a:srgbClr val="FFFF00"/>
                </a:highlight>
                <a:latin typeface="inherit"/>
              </a:rPr>
              <a:t> </a:t>
            </a:r>
            <a:r>
              <a:rPr lang="en-US">
                <a:solidFill>
                  <a:srgbClr val="CE0000"/>
                </a:solidFill>
                <a:highlight>
                  <a:srgbClr val="FFFF00"/>
                </a:highlight>
                <a:latin typeface="inherit"/>
              </a:rPr>
              <a:t>1</a:t>
            </a:r>
            <a:r>
              <a:rPr lang="en-US">
                <a:solidFill>
                  <a:srgbClr val="333333"/>
                </a:solidFill>
                <a:highlight>
                  <a:srgbClr val="FFFF00"/>
                </a:highlight>
                <a:latin typeface="inherit"/>
              </a:rPr>
              <a:t>,</a:t>
            </a:r>
            <a:r>
              <a:rPr lang="en-US">
                <a:solidFill>
                  <a:srgbClr val="006FE0"/>
                </a:solidFill>
                <a:highlight>
                  <a:srgbClr val="FFFF00"/>
                </a:highlight>
                <a:latin typeface="inherit"/>
              </a:rPr>
              <a:t> </a:t>
            </a:r>
            <a:r>
              <a:rPr lang="en-US">
                <a:solidFill>
                  <a:srgbClr val="004ED0"/>
                </a:solidFill>
                <a:highlight>
                  <a:srgbClr val="FFFF00"/>
                </a:highlight>
                <a:latin typeface="inherit"/>
              </a:rPr>
              <a:t>QTableWidgetItem</a:t>
            </a:r>
            <a:r>
              <a:rPr lang="en-US">
                <a:solidFill>
                  <a:srgbClr val="333333"/>
                </a:solidFill>
                <a:highlight>
                  <a:srgbClr val="FFFF00"/>
                </a:highlight>
                <a:latin typeface="inherit"/>
              </a:rPr>
              <a:t>(</a:t>
            </a:r>
            <a:r>
              <a:rPr lang="en-US">
                <a:solidFill>
                  <a:srgbClr val="008000"/>
                </a:solidFill>
                <a:highlight>
                  <a:srgbClr val="FFFF00"/>
                </a:highlight>
                <a:latin typeface="inherit"/>
              </a:rPr>
              <a:t>"ahmad@gmail.com"</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333333"/>
                </a:solidFill>
                <a:highlight>
                  <a:srgbClr val="FFFF00"/>
                </a:highlight>
                <a:latin typeface="inherit"/>
              </a:rPr>
              <a:t>.</a:t>
            </a:r>
            <a:r>
              <a:rPr lang="en-US">
                <a:solidFill>
                  <a:srgbClr val="004ED0"/>
                </a:solidFill>
                <a:highlight>
                  <a:srgbClr val="FFFF00"/>
                </a:highlight>
                <a:latin typeface="inherit"/>
              </a:rPr>
              <a:t>setItem</a:t>
            </a:r>
            <a:r>
              <a:rPr lang="en-US">
                <a:solidFill>
                  <a:srgbClr val="333333"/>
                </a:solidFill>
                <a:highlight>
                  <a:srgbClr val="FFFF00"/>
                </a:highlight>
                <a:latin typeface="inherit"/>
              </a:rPr>
              <a:t>(</a:t>
            </a:r>
            <a:r>
              <a:rPr lang="en-US">
                <a:solidFill>
                  <a:srgbClr val="CE0000"/>
                </a:solidFill>
                <a:highlight>
                  <a:srgbClr val="FFFF00"/>
                </a:highlight>
                <a:latin typeface="inherit"/>
              </a:rPr>
              <a:t>2</a:t>
            </a:r>
            <a:r>
              <a:rPr lang="en-US">
                <a:solidFill>
                  <a:srgbClr val="333333"/>
                </a:solidFill>
                <a:highlight>
                  <a:srgbClr val="FFFF00"/>
                </a:highlight>
                <a:latin typeface="inherit"/>
              </a:rPr>
              <a:t>,</a:t>
            </a:r>
            <a:r>
              <a:rPr lang="en-US">
                <a:solidFill>
                  <a:srgbClr val="006FE0"/>
                </a:solidFill>
                <a:highlight>
                  <a:srgbClr val="FFFF00"/>
                </a:highlight>
                <a:latin typeface="inherit"/>
              </a:rPr>
              <a:t> </a:t>
            </a:r>
            <a:r>
              <a:rPr lang="en-US">
                <a:solidFill>
                  <a:srgbClr val="CE0000"/>
                </a:solidFill>
                <a:highlight>
                  <a:srgbClr val="FFFF00"/>
                </a:highlight>
                <a:latin typeface="inherit"/>
              </a:rPr>
              <a:t>2</a:t>
            </a:r>
            <a:r>
              <a:rPr lang="en-US">
                <a:solidFill>
                  <a:srgbClr val="333333"/>
                </a:solidFill>
                <a:highlight>
                  <a:srgbClr val="FFFF00"/>
                </a:highlight>
                <a:latin typeface="inherit"/>
              </a:rPr>
              <a:t>,</a:t>
            </a:r>
            <a:r>
              <a:rPr lang="en-US">
                <a:solidFill>
                  <a:srgbClr val="006FE0"/>
                </a:solidFill>
                <a:highlight>
                  <a:srgbClr val="FFFF00"/>
                </a:highlight>
                <a:latin typeface="inherit"/>
              </a:rPr>
              <a:t> </a:t>
            </a:r>
            <a:r>
              <a:rPr lang="en-US">
                <a:solidFill>
                  <a:srgbClr val="004ED0"/>
                </a:solidFill>
                <a:highlight>
                  <a:srgbClr val="FFFF00"/>
                </a:highlight>
                <a:latin typeface="inherit"/>
              </a:rPr>
              <a:t>QTableWidgetItem</a:t>
            </a:r>
            <a:r>
              <a:rPr lang="en-US">
                <a:solidFill>
                  <a:srgbClr val="333333"/>
                </a:solidFill>
                <a:highlight>
                  <a:srgbClr val="FFFF00"/>
                </a:highlight>
                <a:latin typeface="inherit"/>
              </a:rPr>
              <a:t>(</a:t>
            </a:r>
            <a:r>
              <a:rPr lang="en-US">
                <a:solidFill>
                  <a:srgbClr val="008000"/>
                </a:solidFill>
                <a:highlight>
                  <a:srgbClr val="FFFF00"/>
                </a:highlight>
                <a:latin typeface="inherit"/>
              </a:rPr>
              <a:t>"2232324"</a:t>
            </a:r>
            <a:r>
              <a:rPr lang="en-US">
                <a:solidFill>
                  <a:srgbClr val="333333"/>
                </a:solidFill>
                <a:highlight>
                  <a:srgbClr val="FFFF00"/>
                </a:highlight>
                <a:latin typeface="inherit"/>
              </a:rPr>
              <a:t>))</a:t>
            </a:r>
            <a:endParaRPr lang="en-US">
              <a:solidFill>
                <a:srgbClr val="000000"/>
              </a:solidFill>
              <a:latin typeface="Monaco"/>
            </a:endParaRPr>
          </a:p>
          <a:p>
            <a:pPr>
              <a:lnSpc>
                <a:spcPct val="95000"/>
              </a:lnSpc>
            </a:pPr>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tableWidget</a:t>
            </a:r>
            <a:r>
              <a:rPr lang="en-US">
                <a:solidFill>
                  <a:srgbClr val="333333"/>
                </a:solidFill>
                <a:highlight>
                  <a:srgbClr val="00FF00"/>
                </a:highlight>
                <a:latin typeface="inherit"/>
              </a:rPr>
              <a:t>.</a:t>
            </a:r>
            <a:r>
              <a:rPr lang="en-US">
                <a:solidFill>
                  <a:srgbClr val="004ED0"/>
                </a:solidFill>
                <a:highlight>
                  <a:srgbClr val="00FF00"/>
                </a:highlight>
                <a:latin typeface="inherit"/>
              </a:rPr>
              <a:t>setItem</a:t>
            </a:r>
            <a:r>
              <a:rPr lang="en-US">
                <a:solidFill>
                  <a:srgbClr val="333333"/>
                </a:solidFill>
                <a:highlight>
                  <a:srgbClr val="00FF00"/>
                </a:highlight>
                <a:latin typeface="inherit"/>
              </a:rPr>
              <a:t>(</a:t>
            </a:r>
            <a:r>
              <a:rPr lang="en-US">
                <a:solidFill>
                  <a:srgbClr val="CE0000"/>
                </a:solidFill>
                <a:highlight>
                  <a:srgbClr val="00FF00"/>
                </a:highlight>
                <a:latin typeface="inherit"/>
              </a:rPr>
              <a:t>3</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CE0000"/>
                </a:solidFill>
                <a:highlight>
                  <a:srgbClr val="00FF00"/>
                </a:highlight>
                <a:latin typeface="inherit"/>
              </a:rPr>
              <a:t>0</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004ED0"/>
                </a:solidFill>
                <a:highlight>
                  <a:srgbClr val="00FF00"/>
                </a:highlight>
                <a:latin typeface="inherit"/>
              </a:rPr>
              <a:t>QTableWidgetItem</a:t>
            </a:r>
            <a:r>
              <a:rPr lang="en-US">
                <a:solidFill>
                  <a:srgbClr val="333333"/>
                </a:solidFill>
                <a:highlight>
                  <a:srgbClr val="00FF00"/>
                </a:highlight>
                <a:latin typeface="inherit"/>
              </a:rPr>
              <a:t>(</a:t>
            </a:r>
            <a:r>
              <a:rPr lang="en-US">
                <a:solidFill>
                  <a:srgbClr val="008000"/>
                </a:solidFill>
                <a:highlight>
                  <a:srgbClr val="00FF00"/>
                </a:highlight>
                <a:latin typeface="inherit"/>
              </a:rPr>
              <a:t>"John"</a:t>
            </a:r>
            <a:r>
              <a:rPr lang="en-US">
                <a:solidFill>
                  <a:srgbClr val="333333"/>
                </a:solidFill>
                <a:highlight>
                  <a:srgbClr val="00FF00"/>
                </a:highlight>
                <a:latin typeface="inherit"/>
              </a:rPr>
              <a:t>))</a:t>
            </a:r>
            <a:endParaRPr lang="en-US">
              <a:solidFill>
                <a:srgbClr val="000000"/>
              </a:solidFill>
              <a:highlight>
                <a:srgbClr val="00FF00"/>
              </a:highlight>
              <a:latin typeface="Monaco"/>
            </a:endParaRPr>
          </a:p>
          <a:p>
            <a:pPr>
              <a:lnSpc>
                <a:spcPct val="95000"/>
              </a:lnSpc>
            </a:pPr>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tableWidget</a:t>
            </a:r>
            <a:r>
              <a:rPr lang="en-US">
                <a:solidFill>
                  <a:srgbClr val="333333"/>
                </a:solidFill>
                <a:highlight>
                  <a:srgbClr val="00FF00"/>
                </a:highlight>
                <a:latin typeface="inherit"/>
              </a:rPr>
              <a:t>.</a:t>
            </a:r>
            <a:r>
              <a:rPr lang="en-US">
                <a:solidFill>
                  <a:srgbClr val="004ED0"/>
                </a:solidFill>
                <a:highlight>
                  <a:srgbClr val="00FF00"/>
                </a:highlight>
                <a:latin typeface="inherit"/>
              </a:rPr>
              <a:t>setItem</a:t>
            </a:r>
            <a:r>
              <a:rPr lang="en-US">
                <a:solidFill>
                  <a:srgbClr val="333333"/>
                </a:solidFill>
                <a:highlight>
                  <a:srgbClr val="00FF00"/>
                </a:highlight>
                <a:latin typeface="inherit"/>
              </a:rPr>
              <a:t>(</a:t>
            </a:r>
            <a:r>
              <a:rPr lang="en-US">
                <a:solidFill>
                  <a:srgbClr val="CE0000"/>
                </a:solidFill>
                <a:highlight>
                  <a:srgbClr val="00FF00"/>
                </a:highlight>
                <a:latin typeface="inherit"/>
              </a:rPr>
              <a:t>3</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CE0000"/>
                </a:solidFill>
                <a:highlight>
                  <a:srgbClr val="00FF00"/>
                </a:highlight>
                <a:latin typeface="inherit"/>
              </a:rPr>
              <a:t>1</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004ED0"/>
                </a:solidFill>
                <a:highlight>
                  <a:srgbClr val="00FF00"/>
                </a:highlight>
                <a:latin typeface="inherit"/>
              </a:rPr>
              <a:t>QTableWidgetItem</a:t>
            </a:r>
            <a:r>
              <a:rPr lang="en-US">
                <a:solidFill>
                  <a:srgbClr val="333333"/>
                </a:solidFill>
                <a:highlight>
                  <a:srgbClr val="00FF00"/>
                </a:highlight>
                <a:latin typeface="inherit"/>
              </a:rPr>
              <a:t>(</a:t>
            </a:r>
            <a:r>
              <a:rPr lang="en-US">
                <a:solidFill>
                  <a:srgbClr val="008000"/>
                </a:solidFill>
                <a:highlight>
                  <a:srgbClr val="00FF00"/>
                </a:highlight>
                <a:latin typeface="inherit"/>
              </a:rPr>
              <a:t>"john@gmail.com"</a:t>
            </a:r>
            <a:r>
              <a:rPr lang="en-US">
                <a:solidFill>
                  <a:srgbClr val="333333"/>
                </a:solidFill>
                <a:highlight>
                  <a:srgbClr val="00FF00"/>
                </a:highlight>
                <a:latin typeface="inherit"/>
              </a:rPr>
              <a:t>))</a:t>
            </a:r>
            <a:endParaRPr lang="en-US">
              <a:solidFill>
                <a:srgbClr val="000000"/>
              </a:solidFill>
              <a:highlight>
                <a:srgbClr val="00FF00"/>
              </a:highlight>
              <a:latin typeface="Monaco"/>
            </a:endParaRPr>
          </a:p>
          <a:p>
            <a:pPr>
              <a:lnSpc>
                <a:spcPct val="95000"/>
              </a:lnSpc>
            </a:pPr>
            <a:r>
              <a:rPr lang="en-US">
                <a:solidFill>
                  <a:srgbClr val="006FE0"/>
                </a:solidFill>
                <a:highlight>
                  <a:srgbClr val="00FF00"/>
                </a:highlight>
                <a:latin typeface="inherit"/>
              </a:rPr>
              <a:t>        </a:t>
            </a:r>
            <a:r>
              <a:rPr lang="en-US">
                <a:solidFill>
                  <a:srgbClr val="800080"/>
                </a:solidFill>
                <a:highlight>
                  <a:srgbClr val="00FF00"/>
                </a:highlight>
                <a:latin typeface="inherit"/>
              </a:rPr>
              <a:t>self</a:t>
            </a:r>
            <a:r>
              <a:rPr lang="en-US">
                <a:solidFill>
                  <a:srgbClr val="333333"/>
                </a:solidFill>
                <a:highlight>
                  <a:srgbClr val="00FF00"/>
                </a:highlight>
                <a:latin typeface="inherit"/>
              </a:rPr>
              <a:t>.</a:t>
            </a:r>
            <a:r>
              <a:rPr lang="en-US">
                <a:solidFill>
                  <a:srgbClr val="002D7A"/>
                </a:solidFill>
                <a:highlight>
                  <a:srgbClr val="00FF00"/>
                </a:highlight>
                <a:latin typeface="inherit"/>
              </a:rPr>
              <a:t>tableWidget</a:t>
            </a:r>
            <a:r>
              <a:rPr lang="en-US">
                <a:solidFill>
                  <a:srgbClr val="333333"/>
                </a:solidFill>
                <a:highlight>
                  <a:srgbClr val="00FF00"/>
                </a:highlight>
                <a:latin typeface="inherit"/>
              </a:rPr>
              <a:t>.</a:t>
            </a:r>
            <a:r>
              <a:rPr lang="en-US">
                <a:solidFill>
                  <a:srgbClr val="004ED0"/>
                </a:solidFill>
                <a:highlight>
                  <a:srgbClr val="00FF00"/>
                </a:highlight>
                <a:latin typeface="inherit"/>
              </a:rPr>
              <a:t>setItem</a:t>
            </a:r>
            <a:r>
              <a:rPr lang="en-US">
                <a:solidFill>
                  <a:srgbClr val="333333"/>
                </a:solidFill>
                <a:highlight>
                  <a:srgbClr val="00FF00"/>
                </a:highlight>
                <a:latin typeface="inherit"/>
              </a:rPr>
              <a:t>(</a:t>
            </a:r>
            <a:r>
              <a:rPr lang="en-US">
                <a:solidFill>
                  <a:srgbClr val="CE0000"/>
                </a:solidFill>
                <a:highlight>
                  <a:srgbClr val="00FF00"/>
                </a:highlight>
                <a:latin typeface="inherit"/>
              </a:rPr>
              <a:t>3</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CE0000"/>
                </a:solidFill>
                <a:highlight>
                  <a:srgbClr val="00FF00"/>
                </a:highlight>
                <a:latin typeface="inherit"/>
              </a:rPr>
              <a:t>2</a:t>
            </a:r>
            <a:r>
              <a:rPr lang="en-US">
                <a:solidFill>
                  <a:srgbClr val="333333"/>
                </a:solidFill>
                <a:highlight>
                  <a:srgbClr val="00FF00"/>
                </a:highlight>
                <a:latin typeface="inherit"/>
              </a:rPr>
              <a:t>,</a:t>
            </a:r>
            <a:r>
              <a:rPr lang="en-US">
                <a:solidFill>
                  <a:srgbClr val="006FE0"/>
                </a:solidFill>
                <a:highlight>
                  <a:srgbClr val="00FF00"/>
                </a:highlight>
                <a:latin typeface="inherit"/>
              </a:rPr>
              <a:t> </a:t>
            </a:r>
            <a:r>
              <a:rPr lang="en-US">
                <a:solidFill>
                  <a:srgbClr val="004ED0"/>
                </a:solidFill>
                <a:highlight>
                  <a:srgbClr val="00FF00"/>
                </a:highlight>
                <a:latin typeface="inherit"/>
              </a:rPr>
              <a:t>QTableWidgetItem</a:t>
            </a:r>
            <a:r>
              <a:rPr lang="en-US">
                <a:solidFill>
                  <a:srgbClr val="333333"/>
                </a:solidFill>
                <a:highlight>
                  <a:srgbClr val="00FF00"/>
                </a:highlight>
                <a:latin typeface="inherit"/>
              </a:rPr>
              <a:t>(</a:t>
            </a:r>
            <a:r>
              <a:rPr lang="en-US">
                <a:solidFill>
                  <a:srgbClr val="008000"/>
                </a:solidFill>
                <a:highlight>
                  <a:srgbClr val="00FF00"/>
                </a:highlight>
                <a:latin typeface="inherit"/>
              </a:rPr>
              <a:t>"2236786782324"</a:t>
            </a:r>
            <a:r>
              <a:rPr lang="en-US">
                <a:solidFill>
                  <a:srgbClr val="333333"/>
                </a:solidFill>
                <a:highlight>
                  <a:srgbClr val="00FF00"/>
                </a:highlight>
                <a:latin typeface="inherit"/>
              </a:rPr>
              <a:t>))</a:t>
            </a:r>
            <a:endParaRPr lang="en-US">
              <a:solidFill>
                <a:srgbClr val="000000"/>
              </a:solidFill>
              <a:latin typeface="Monaco"/>
            </a:endParaRPr>
          </a:p>
          <a:p>
            <a:pPr>
              <a:lnSpc>
                <a:spcPct val="95000"/>
              </a:lnSpc>
            </a:pPr>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setItem</a:t>
            </a:r>
            <a:r>
              <a:rPr lang="en-US">
                <a:solidFill>
                  <a:srgbClr val="333333"/>
                </a:solidFill>
                <a:highlight>
                  <a:srgbClr val="00FFFF"/>
                </a:highlight>
                <a:latin typeface="inherit"/>
              </a:rPr>
              <a:t>(</a:t>
            </a:r>
            <a:r>
              <a:rPr lang="en-US">
                <a:solidFill>
                  <a:srgbClr val="CE0000"/>
                </a:solidFill>
                <a:highlight>
                  <a:srgbClr val="00FFFF"/>
                </a:highlight>
                <a:latin typeface="inherit"/>
              </a:rPr>
              <a:t>4</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CE0000"/>
                </a:solidFill>
                <a:highlight>
                  <a:srgbClr val="00FFFF"/>
                </a:highlight>
                <a:latin typeface="inherit"/>
              </a:rPr>
              <a:t>0</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4ED0"/>
                </a:solidFill>
                <a:highlight>
                  <a:srgbClr val="00FFFF"/>
                </a:highlight>
                <a:latin typeface="inherit"/>
              </a:rPr>
              <a:t>QTableWidgetItem</a:t>
            </a:r>
            <a:r>
              <a:rPr lang="en-US">
                <a:solidFill>
                  <a:srgbClr val="333333"/>
                </a:solidFill>
                <a:highlight>
                  <a:srgbClr val="00FFFF"/>
                </a:highlight>
                <a:latin typeface="inherit"/>
              </a:rPr>
              <a:t>(</a:t>
            </a:r>
            <a:r>
              <a:rPr lang="en-US">
                <a:solidFill>
                  <a:srgbClr val="008000"/>
                </a:solidFill>
                <a:highlight>
                  <a:srgbClr val="00FFFF"/>
                </a:highlight>
                <a:latin typeface="inherit"/>
              </a:rPr>
              <a:t>"Doe"</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pPr>
              <a:lnSpc>
                <a:spcPct val="95000"/>
              </a:lnSpc>
            </a:pPr>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setItem</a:t>
            </a:r>
            <a:r>
              <a:rPr lang="en-US">
                <a:solidFill>
                  <a:srgbClr val="333333"/>
                </a:solidFill>
                <a:highlight>
                  <a:srgbClr val="00FFFF"/>
                </a:highlight>
                <a:latin typeface="inherit"/>
              </a:rPr>
              <a:t>(</a:t>
            </a:r>
            <a:r>
              <a:rPr lang="en-US">
                <a:solidFill>
                  <a:srgbClr val="CE0000"/>
                </a:solidFill>
                <a:highlight>
                  <a:srgbClr val="00FFFF"/>
                </a:highlight>
                <a:latin typeface="inherit"/>
              </a:rPr>
              <a:t>4</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CE0000"/>
                </a:solidFill>
                <a:highlight>
                  <a:srgbClr val="00FFFF"/>
                </a:highlight>
                <a:latin typeface="inherit"/>
              </a:rPr>
              <a:t>1</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4ED0"/>
                </a:solidFill>
                <a:highlight>
                  <a:srgbClr val="00FFFF"/>
                </a:highlight>
                <a:latin typeface="inherit"/>
              </a:rPr>
              <a:t>QTableWidgetItem</a:t>
            </a:r>
            <a:r>
              <a:rPr lang="en-US">
                <a:solidFill>
                  <a:srgbClr val="333333"/>
                </a:solidFill>
                <a:highlight>
                  <a:srgbClr val="00FFFF"/>
                </a:highlight>
                <a:latin typeface="inherit"/>
              </a:rPr>
              <a:t>(</a:t>
            </a:r>
            <a:r>
              <a:rPr lang="en-US">
                <a:solidFill>
                  <a:srgbClr val="008000"/>
                </a:solidFill>
                <a:highlight>
                  <a:srgbClr val="00FFFF"/>
                </a:highlight>
                <a:latin typeface="inherit"/>
              </a:rPr>
              <a:t>"Doe@gmail.com"</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pPr>
              <a:lnSpc>
                <a:spcPct val="95000"/>
              </a:lnSpc>
            </a:pPr>
            <a:r>
              <a:rPr lang="en-US">
                <a:solidFill>
                  <a:srgbClr val="006FE0"/>
                </a:solidFill>
                <a:highlight>
                  <a:srgbClr val="00FFFF"/>
                </a:highlight>
                <a:latin typeface="inherit"/>
              </a:rPr>
              <a:t>        </a:t>
            </a:r>
            <a:r>
              <a:rPr lang="en-US">
                <a:solidFill>
                  <a:srgbClr val="800080"/>
                </a:solidFill>
                <a:highlight>
                  <a:srgbClr val="00FFFF"/>
                </a:highlight>
                <a:latin typeface="inherit"/>
              </a:rPr>
              <a:t>self</a:t>
            </a:r>
            <a:r>
              <a:rPr lang="en-US">
                <a:solidFill>
                  <a:srgbClr val="333333"/>
                </a:solidFill>
                <a:highlight>
                  <a:srgbClr val="00FFFF"/>
                </a:highlight>
                <a:latin typeface="inherit"/>
              </a:rPr>
              <a:t>.</a:t>
            </a:r>
            <a:r>
              <a:rPr lang="en-US">
                <a:solidFill>
                  <a:srgbClr val="002D7A"/>
                </a:solidFill>
                <a:highlight>
                  <a:srgbClr val="00FFFF"/>
                </a:highlight>
                <a:latin typeface="inherit"/>
              </a:rPr>
              <a:t>tableWidget</a:t>
            </a:r>
            <a:r>
              <a:rPr lang="en-US">
                <a:solidFill>
                  <a:srgbClr val="333333"/>
                </a:solidFill>
                <a:highlight>
                  <a:srgbClr val="00FFFF"/>
                </a:highlight>
                <a:latin typeface="inherit"/>
              </a:rPr>
              <a:t>.</a:t>
            </a:r>
            <a:r>
              <a:rPr lang="en-US">
                <a:solidFill>
                  <a:srgbClr val="004ED0"/>
                </a:solidFill>
                <a:highlight>
                  <a:srgbClr val="00FFFF"/>
                </a:highlight>
                <a:latin typeface="inherit"/>
              </a:rPr>
              <a:t>setItem</a:t>
            </a:r>
            <a:r>
              <a:rPr lang="en-US">
                <a:solidFill>
                  <a:srgbClr val="333333"/>
                </a:solidFill>
                <a:highlight>
                  <a:srgbClr val="00FFFF"/>
                </a:highlight>
                <a:latin typeface="inherit"/>
              </a:rPr>
              <a:t>(</a:t>
            </a:r>
            <a:r>
              <a:rPr lang="en-US">
                <a:solidFill>
                  <a:srgbClr val="CE0000"/>
                </a:solidFill>
                <a:highlight>
                  <a:srgbClr val="00FFFF"/>
                </a:highlight>
                <a:latin typeface="inherit"/>
              </a:rPr>
              <a:t>4</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CE0000"/>
                </a:solidFill>
                <a:highlight>
                  <a:srgbClr val="00FFFF"/>
                </a:highlight>
                <a:latin typeface="inherit"/>
              </a:rPr>
              <a:t>2</a:t>
            </a:r>
            <a:r>
              <a:rPr lang="en-US">
                <a:solidFill>
                  <a:srgbClr val="333333"/>
                </a:solidFill>
                <a:highlight>
                  <a:srgbClr val="00FFFF"/>
                </a:highlight>
                <a:latin typeface="inherit"/>
              </a:rPr>
              <a:t>,</a:t>
            </a:r>
            <a:r>
              <a:rPr lang="en-US">
                <a:solidFill>
                  <a:srgbClr val="006FE0"/>
                </a:solidFill>
                <a:highlight>
                  <a:srgbClr val="00FFFF"/>
                </a:highlight>
                <a:latin typeface="inherit"/>
              </a:rPr>
              <a:t> </a:t>
            </a:r>
            <a:r>
              <a:rPr lang="en-US">
                <a:solidFill>
                  <a:srgbClr val="004ED0"/>
                </a:solidFill>
                <a:highlight>
                  <a:srgbClr val="00FFFF"/>
                </a:highlight>
                <a:latin typeface="inherit"/>
              </a:rPr>
              <a:t>QTableWidgetItem</a:t>
            </a:r>
            <a:r>
              <a:rPr lang="en-US">
                <a:solidFill>
                  <a:srgbClr val="333333"/>
                </a:solidFill>
                <a:highlight>
                  <a:srgbClr val="00FFFF"/>
                </a:highlight>
                <a:latin typeface="inherit"/>
              </a:rPr>
              <a:t>(</a:t>
            </a:r>
            <a:r>
              <a:rPr lang="en-US">
                <a:solidFill>
                  <a:srgbClr val="008000"/>
                </a:solidFill>
                <a:highlight>
                  <a:srgbClr val="00FFFF"/>
                </a:highlight>
                <a:latin typeface="inherit"/>
              </a:rPr>
              <a:t>"12343445"</a:t>
            </a:r>
            <a:r>
              <a:rPr lang="en-US">
                <a:solidFill>
                  <a:srgbClr val="333333"/>
                </a:solidFill>
                <a:highlight>
                  <a:srgbClr val="00FFFF"/>
                </a:highlight>
                <a:latin typeface="inherit"/>
              </a:rPr>
              <a:t>))</a:t>
            </a:r>
            <a:endParaRPr lang="en-US">
              <a:solidFill>
                <a:srgbClr val="000000"/>
              </a:solidFill>
              <a:highlight>
                <a:srgbClr val="00FFFF"/>
              </a:highlight>
              <a:latin typeface="Monaco"/>
            </a:endParaRPr>
          </a:p>
          <a:p>
            <a:pPr>
              <a:lnSpc>
                <a:spcPct val="95000"/>
              </a:lnSpc>
            </a:pPr>
            <a:r>
              <a:rPr lang="en-US">
                <a:solidFill>
                  <a:srgbClr val="000000"/>
                </a:solidFill>
                <a:highlight>
                  <a:srgbClr val="FFFF00"/>
                </a:highlight>
                <a:latin typeface="Monaco"/>
              </a:rPr>
              <a:t> </a:t>
            </a: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vBoxLayout</a:t>
            </a:r>
            <a:r>
              <a:rPr lang="en-US">
                <a:solidFill>
                  <a:srgbClr val="006FE0"/>
                </a:solidFill>
                <a:highlight>
                  <a:srgbClr val="FFFF00"/>
                </a:highlight>
                <a:latin typeface="inherit"/>
              </a:rPr>
              <a:t> = </a:t>
            </a:r>
            <a:r>
              <a:rPr lang="en-US">
                <a:solidFill>
                  <a:srgbClr val="004ED0"/>
                </a:solidFill>
                <a:highlight>
                  <a:srgbClr val="FFFF00"/>
                </a:highlight>
                <a:latin typeface="inherit"/>
              </a:rPr>
              <a:t>QVBoxLayout</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vBoxLayout</a:t>
            </a:r>
            <a:r>
              <a:rPr lang="en-US">
                <a:solidFill>
                  <a:srgbClr val="333333"/>
                </a:solidFill>
                <a:highlight>
                  <a:srgbClr val="FFFF00"/>
                </a:highlight>
                <a:latin typeface="inherit"/>
              </a:rPr>
              <a:t>.</a:t>
            </a:r>
            <a:r>
              <a:rPr lang="en-US">
                <a:solidFill>
                  <a:srgbClr val="004ED0"/>
                </a:solidFill>
                <a:highlight>
                  <a:srgbClr val="FFFF00"/>
                </a:highlight>
                <a:latin typeface="inherit"/>
              </a:rPr>
              <a:t>addWidget</a:t>
            </a:r>
            <a:r>
              <a:rPr lang="en-US">
                <a:solidFill>
                  <a:srgbClr val="333333"/>
                </a:solidFill>
                <a:highlight>
                  <a:srgbClr val="FFFF00"/>
                </a:highlight>
                <a:latin typeface="inherit"/>
              </a:rPr>
              <a:t>(</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tableWidget</a:t>
            </a:r>
            <a:r>
              <a:rPr lang="en-US">
                <a:solidFill>
                  <a:srgbClr val="333333"/>
                </a:solidFill>
                <a:highlight>
                  <a:srgbClr val="FFFF00"/>
                </a:highlight>
                <a:latin typeface="inherit"/>
              </a:rPr>
              <a:t>)</a:t>
            </a:r>
            <a:endParaRPr lang="en-US">
              <a:solidFill>
                <a:srgbClr val="000000"/>
              </a:solidFill>
              <a:highlight>
                <a:srgbClr val="FFFF00"/>
              </a:highlight>
              <a:latin typeface="Monaco"/>
            </a:endParaRPr>
          </a:p>
          <a:p>
            <a:pPr>
              <a:lnSpc>
                <a:spcPct val="95000"/>
              </a:lnSpc>
            </a:pPr>
            <a:r>
              <a:rPr lang="en-US">
                <a:solidFill>
                  <a:srgbClr val="006FE0"/>
                </a:solidFill>
                <a:highlight>
                  <a:srgbClr val="FFFF00"/>
                </a:highlight>
                <a:latin typeface="inherit"/>
              </a:rPr>
              <a:t>        </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4ED0"/>
                </a:solidFill>
                <a:highlight>
                  <a:srgbClr val="FFFF00"/>
                </a:highlight>
                <a:latin typeface="inherit"/>
              </a:rPr>
              <a:t>setLayout</a:t>
            </a:r>
            <a:r>
              <a:rPr lang="en-US">
                <a:solidFill>
                  <a:srgbClr val="333333"/>
                </a:solidFill>
                <a:highlight>
                  <a:srgbClr val="FFFF00"/>
                </a:highlight>
                <a:latin typeface="inherit"/>
              </a:rPr>
              <a:t>(</a:t>
            </a:r>
            <a:r>
              <a:rPr lang="en-US">
                <a:solidFill>
                  <a:srgbClr val="800080"/>
                </a:solidFill>
                <a:highlight>
                  <a:srgbClr val="FFFF00"/>
                </a:highlight>
                <a:latin typeface="inherit"/>
              </a:rPr>
              <a:t>self</a:t>
            </a:r>
            <a:r>
              <a:rPr lang="en-US">
                <a:solidFill>
                  <a:srgbClr val="333333"/>
                </a:solidFill>
                <a:highlight>
                  <a:srgbClr val="FFFF00"/>
                </a:highlight>
                <a:latin typeface="inherit"/>
              </a:rPr>
              <a:t>.</a:t>
            </a:r>
            <a:r>
              <a:rPr lang="en-US">
                <a:solidFill>
                  <a:srgbClr val="002D7A"/>
                </a:solidFill>
                <a:highlight>
                  <a:srgbClr val="FFFF00"/>
                </a:highlight>
                <a:latin typeface="inherit"/>
              </a:rPr>
              <a:t>vBoxLayout</a:t>
            </a:r>
            <a:r>
              <a:rPr lang="en-US">
                <a:solidFill>
                  <a:srgbClr val="333333"/>
                </a:solidFill>
                <a:highlight>
                  <a:srgbClr val="FFFF00"/>
                </a:highlight>
                <a:latin typeface="inherit"/>
              </a:rPr>
              <a:t>)</a:t>
            </a:r>
            <a:endParaRPr lang="en-US" b="0" i="0">
              <a:solidFill>
                <a:srgbClr val="000000"/>
              </a:solidFill>
              <a:effectLst/>
              <a:highlight>
                <a:srgbClr val="FFFF00"/>
              </a:highlight>
              <a:latin typeface="Monaco"/>
            </a:endParaRPr>
          </a:p>
        </p:txBody>
      </p:sp>
    </p:spTree>
    <p:extLst>
      <p:ext uri="{BB962C8B-B14F-4D97-AF65-F5344CB8AC3E}">
        <p14:creationId xmlns:p14="http://schemas.microsoft.com/office/powerpoint/2010/main" val="21289442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92C7BF3-2550-4145-9628-FB48C36E0032}"/>
              </a:ext>
            </a:extLst>
          </p:cNvPr>
          <p:cNvSpPr>
            <a:spLocks noGrp="1"/>
          </p:cNvSpPr>
          <p:nvPr>
            <p:ph type="title"/>
          </p:nvPr>
        </p:nvSpPr>
        <p:spPr>
          <a:xfrm>
            <a:off x="9624" y="19251"/>
            <a:ext cx="9134375" cy="607282"/>
          </a:xfrm>
        </p:spPr>
        <p:txBody>
          <a:bodyPr>
            <a:normAutofit fontScale="90000"/>
          </a:bodyPr>
          <a:lstStyle/>
          <a:p>
            <a:r>
              <a:rPr lang="en-US"/>
              <a:t>Tạo bảng với QTableWidget (t.t)</a:t>
            </a:r>
          </a:p>
        </p:txBody>
      </p:sp>
      <p:pic>
        <p:nvPicPr>
          <p:cNvPr id="2050" name="Picture 2">
            <a:extLst>
              <a:ext uri="{FF2B5EF4-FFF2-40B4-BE49-F238E27FC236}">
                <a16:creationId xmlns:a16="http://schemas.microsoft.com/office/drawing/2014/main" id="{3FBA1ACB-6138-4610-85AD-F5850B220E0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37772" y="668031"/>
            <a:ext cx="6751562" cy="5745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09760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F3117-1579-46B5-904F-F578517A8E27}"/>
              </a:ext>
            </a:extLst>
          </p:cNvPr>
          <p:cNvSpPr>
            <a:spLocks noGrp="1"/>
          </p:cNvSpPr>
          <p:nvPr>
            <p:ph type="title"/>
          </p:nvPr>
        </p:nvSpPr>
        <p:spPr>
          <a:xfrm>
            <a:off x="9624" y="19250"/>
            <a:ext cx="9134375" cy="751217"/>
          </a:xfrm>
        </p:spPr>
        <p:txBody>
          <a:bodyPr>
            <a:normAutofit/>
          </a:bodyPr>
          <a:lstStyle/>
          <a:p>
            <a:r>
              <a:rPr lang="en-US"/>
              <a:t>Ví dụ QPlainTextEdit trong PyQt5</a:t>
            </a:r>
          </a:p>
        </p:txBody>
      </p:sp>
      <p:sp>
        <p:nvSpPr>
          <p:cNvPr id="3" name="Content Placeholder 2">
            <a:extLst>
              <a:ext uri="{FF2B5EF4-FFF2-40B4-BE49-F238E27FC236}">
                <a16:creationId xmlns:a16="http://schemas.microsoft.com/office/drawing/2014/main" id="{94C4D31E-967E-4A3A-BA7C-C7D0173F1597}"/>
              </a:ext>
            </a:extLst>
          </p:cNvPr>
          <p:cNvSpPr>
            <a:spLocks noGrp="1"/>
          </p:cNvSpPr>
          <p:nvPr>
            <p:ph idx="1"/>
          </p:nvPr>
        </p:nvSpPr>
        <p:spPr>
          <a:xfrm>
            <a:off x="9624" y="770467"/>
            <a:ext cx="9134375" cy="6068283"/>
          </a:xfrm>
        </p:spPr>
        <p:txBody>
          <a:bodyPr/>
          <a:lstStyle/>
          <a:p>
            <a:pPr marL="0" indent="0">
              <a:buNone/>
            </a:pPr>
            <a:r>
              <a:rPr lang="en-US"/>
              <a:t>T</a:t>
            </a:r>
            <a:r>
              <a:rPr lang="vi-VN"/>
              <a:t>iện ích PlainTextEdit được tối ưu hóa để hiển thị nội dung văn bản thuần túy. Nếu ứng dụng hiển thị văn bản có định dạng, nên sử dụng tiện ích TextEdit.</a:t>
            </a:r>
            <a:endParaRPr lang="en-US"/>
          </a:p>
          <a:p>
            <a:pPr marL="0" indent="0">
              <a:buNone/>
            </a:pPr>
            <a:endParaRPr lang="en-US"/>
          </a:p>
          <a:p>
            <a:pPr marL="0" indent="0">
              <a:buNone/>
            </a:pPr>
            <a:r>
              <a:rPr lang="en-US"/>
              <a:t>Đầu tiên </a:t>
            </a:r>
            <a:r>
              <a:rPr lang="vi-VN"/>
              <a:t>chúng t</a:t>
            </a:r>
            <a:r>
              <a:rPr lang="en-US"/>
              <a:t>a</a:t>
            </a:r>
            <a:r>
              <a:rPr lang="vi-VN"/>
              <a:t> </a:t>
            </a:r>
            <a:r>
              <a:rPr lang="en-US"/>
              <a:t>import </a:t>
            </a:r>
            <a:r>
              <a:rPr lang="vi-VN"/>
              <a:t>một số lớp quan trọng mà chúng tôi đang sử dụng để tạo QPlainTextEdit, sau đó tạo lớp Window kế thừa từ QWidget</a:t>
            </a:r>
            <a:r>
              <a:rPr lang="en-US"/>
              <a:t>,</a:t>
            </a:r>
            <a:r>
              <a:rPr lang="vi-VN"/>
              <a:t> tạo phương thức </a:t>
            </a:r>
            <a:r>
              <a:rPr lang="en-US"/>
              <a:t>I</a:t>
            </a:r>
            <a:r>
              <a:rPr lang="vi-VN"/>
              <a:t>nitWindow() trong phương thức đó, chúng t</a:t>
            </a:r>
            <a:r>
              <a:rPr lang="en-US"/>
              <a:t>a </a:t>
            </a:r>
            <a:r>
              <a:rPr lang="vi-VN"/>
              <a:t>tạo ra một QVBoxLayout</a:t>
            </a:r>
            <a:r>
              <a:rPr lang="en-US"/>
              <a:t>,</a:t>
            </a:r>
            <a:r>
              <a:rPr lang="vi-VN"/>
              <a:t> và thêm một QPlainTextEdit trong cửa sổ.</a:t>
            </a:r>
          </a:p>
          <a:p>
            <a:pPr marL="0" indent="0">
              <a:buNone/>
            </a:pPr>
            <a:endParaRPr lang="en-US"/>
          </a:p>
        </p:txBody>
      </p:sp>
    </p:spTree>
    <p:extLst>
      <p:ext uri="{BB962C8B-B14F-4D97-AF65-F5344CB8AC3E}">
        <p14:creationId xmlns:p14="http://schemas.microsoft.com/office/powerpoint/2010/main" val="400797816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5340F3-A96B-46F5-93C2-8C1419B44645}"/>
              </a:ext>
            </a:extLst>
          </p:cNvPr>
          <p:cNvSpPr/>
          <p:nvPr/>
        </p:nvSpPr>
        <p:spPr>
          <a:xfrm>
            <a:off x="0" y="0"/>
            <a:ext cx="7789333" cy="2762744"/>
          </a:xfrm>
          <a:prstGeom prst="rect">
            <a:avLst/>
          </a:prstGeom>
          <a:solidFill>
            <a:schemeClr val="accent4">
              <a:lumMod val="20000"/>
              <a:lumOff val="80000"/>
            </a:schemeClr>
          </a:solidFill>
        </p:spPr>
        <p:txBody>
          <a:bodyPr wrap="square">
            <a:spAutoFit/>
          </a:bodyPr>
          <a:lstStyle/>
          <a:p>
            <a:pPr latinLnBrk="1">
              <a:lnSpc>
                <a:spcPct val="85000"/>
              </a:lnSpc>
            </a:pPr>
            <a:r>
              <a:rPr lang="en-US" sz="1700">
                <a:solidFill>
                  <a:srgbClr val="004ED0"/>
                </a:solidFill>
                <a:latin typeface="inherit"/>
              </a:rPr>
              <a:t>from PyQt5 import QtGui</a:t>
            </a:r>
            <a:endParaRPr lang="en-US" sz="1700">
              <a:solidFill>
                <a:srgbClr val="000000"/>
              </a:solidFill>
              <a:latin typeface="Monaco"/>
            </a:endParaRPr>
          </a:p>
          <a:p>
            <a:pPr latinLnBrk="1">
              <a:lnSpc>
                <a:spcPct val="85000"/>
              </a:lnSpc>
            </a:pPr>
            <a:r>
              <a:rPr lang="en-US" sz="1700">
                <a:solidFill>
                  <a:srgbClr val="004ED0"/>
                </a:solidFill>
                <a:latin typeface="inherit"/>
              </a:rPr>
              <a:t>from </a:t>
            </a:r>
            <a:r>
              <a:rPr lang="en-US" sz="1700">
                <a:solidFill>
                  <a:srgbClr val="002D7A"/>
                </a:solidFill>
                <a:latin typeface="inherit"/>
              </a:rPr>
              <a:t>PyQt5</a:t>
            </a:r>
            <a:r>
              <a:rPr lang="en-US" sz="1700">
                <a:solidFill>
                  <a:srgbClr val="333333"/>
                </a:solidFill>
                <a:latin typeface="inherit"/>
              </a:rPr>
              <a:t>.</a:t>
            </a:r>
            <a:r>
              <a:rPr lang="en-US" sz="1700">
                <a:solidFill>
                  <a:srgbClr val="004ED0"/>
                </a:solidFill>
                <a:latin typeface="inherit"/>
              </a:rPr>
              <a:t>QtWidgets import </a:t>
            </a:r>
            <a:r>
              <a:rPr lang="en-US" sz="1700">
                <a:solidFill>
                  <a:srgbClr val="002D7A"/>
                </a:solidFill>
                <a:latin typeface="inherit"/>
              </a:rPr>
              <a:t>QApplication</a:t>
            </a:r>
            <a:r>
              <a:rPr lang="en-US" sz="1700">
                <a:solidFill>
                  <a:srgbClr val="333333"/>
                </a:solidFill>
                <a:latin typeface="inherit"/>
              </a:rPr>
              <a:t>,</a:t>
            </a:r>
            <a:r>
              <a:rPr lang="en-US" sz="1700">
                <a:solidFill>
                  <a:srgbClr val="006FE0"/>
                </a:solidFill>
                <a:latin typeface="inherit"/>
              </a:rPr>
              <a:t> </a:t>
            </a:r>
            <a:r>
              <a:rPr lang="en-US" sz="1700">
                <a:solidFill>
                  <a:srgbClr val="002D7A"/>
                </a:solidFill>
                <a:latin typeface="inherit"/>
              </a:rPr>
              <a:t>QWidget</a:t>
            </a:r>
            <a:r>
              <a:rPr lang="en-US" sz="1700">
                <a:solidFill>
                  <a:srgbClr val="333333"/>
                </a:solidFill>
                <a:latin typeface="inherit"/>
              </a:rPr>
              <a:t>,</a:t>
            </a:r>
            <a:r>
              <a:rPr lang="en-US" sz="1700">
                <a:solidFill>
                  <a:srgbClr val="006FE0"/>
                </a:solidFill>
                <a:latin typeface="inherit"/>
              </a:rPr>
              <a:t> </a:t>
            </a:r>
            <a:r>
              <a:rPr lang="en-US" sz="1700">
                <a:solidFill>
                  <a:srgbClr val="002D7A"/>
                </a:solidFill>
                <a:latin typeface="inherit"/>
              </a:rPr>
              <a:t>QPlainTextEdit</a:t>
            </a:r>
            <a:r>
              <a:rPr lang="en-US" sz="1700">
                <a:solidFill>
                  <a:srgbClr val="333333"/>
                </a:solidFill>
                <a:latin typeface="inherit"/>
              </a:rPr>
              <a:t>,</a:t>
            </a:r>
            <a:r>
              <a:rPr lang="en-US" sz="1700">
                <a:solidFill>
                  <a:srgbClr val="006FE0"/>
                </a:solidFill>
                <a:latin typeface="inherit"/>
              </a:rPr>
              <a:t> </a:t>
            </a:r>
            <a:r>
              <a:rPr lang="en-US" sz="1700">
                <a:solidFill>
                  <a:srgbClr val="004ED0"/>
                </a:solidFill>
                <a:latin typeface="inherit"/>
              </a:rPr>
              <a:t>QVBoxLayout</a:t>
            </a:r>
            <a:endParaRPr lang="en-US" sz="1700">
              <a:solidFill>
                <a:srgbClr val="000000"/>
              </a:solidFill>
              <a:latin typeface="Monaco"/>
            </a:endParaRPr>
          </a:p>
          <a:p>
            <a:pPr latinLnBrk="1">
              <a:lnSpc>
                <a:spcPct val="85000"/>
              </a:lnSpc>
            </a:pPr>
            <a:r>
              <a:rPr lang="en-US" sz="1700">
                <a:solidFill>
                  <a:srgbClr val="004ED0"/>
                </a:solidFill>
                <a:latin typeface="inherit"/>
              </a:rPr>
              <a:t>import sys</a:t>
            </a:r>
            <a:r>
              <a:rPr lang="en-US" sz="1700">
                <a:solidFill>
                  <a:srgbClr val="000000"/>
                </a:solidFill>
                <a:latin typeface="Monaco"/>
              </a:rPr>
              <a:t> </a:t>
            </a:r>
          </a:p>
          <a:p>
            <a:pPr latinLnBrk="1">
              <a:lnSpc>
                <a:spcPct val="85000"/>
              </a:lnSpc>
            </a:pPr>
            <a:r>
              <a:rPr lang="en-US" sz="1700">
                <a:solidFill>
                  <a:srgbClr val="800080"/>
                </a:solidFill>
                <a:latin typeface="inherit"/>
              </a:rPr>
              <a:t>class</a:t>
            </a:r>
            <a:r>
              <a:rPr lang="en-US" sz="1700">
                <a:solidFill>
                  <a:srgbClr val="006FE0"/>
                </a:solidFill>
                <a:latin typeface="inherit"/>
              </a:rPr>
              <a:t> </a:t>
            </a:r>
            <a:r>
              <a:rPr lang="en-US" sz="1700">
                <a:solidFill>
                  <a:srgbClr val="004ED0"/>
                </a:solidFill>
                <a:latin typeface="inherit"/>
              </a:rPr>
              <a:t>Window</a:t>
            </a:r>
            <a:r>
              <a:rPr lang="en-US" sz="1700">
                <a:solidFill>
                  <a:srgbClr val="333333"/>
                </a:solidFill>
                <a:latin typeface="inherit"/>
              </a:rPr>
              <a:t>(</a:t>
            </a:r>
            <a:r>
              <a:rPr lang="en-US" sz="1700">
                <a:solidFill>
                  <a:srgbClr val="002D7A"/>
                </a:solidFill>
                <a:latin typeface="inherit"/>
              </a:rPr>
              <a:t>QWidget</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004ED0"/>
                </a:solidFill>
                <a:latin typeface="inherit"/>
              </a:rPr>
              <a:t>def __init__</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super</a:t>
            </a:r>
            <a:r>
              <a:rPr lang="en-US" sz="1700">
                <a:solidFill>
                  <a:srgbClr val="333333"/>
                </a:solidFill>
                <a:latin typeface="inherit"/>
              </a:rPr>
              <a:t>().</a:t>
            </a:r>
            <a:r>
              <a:rPr lang="en-US" sz="1700">
                <a:solidFill>
                  <a:srgbClr val="004ED0"/>
                </a:solidFill>
                <a:latin typeface="inherit"/>
              </a:rPr>
              <a:t>__init__</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title</a:t>
            </a:r>
            <a:r>
              <a:rPr lang="en-US" sz="1700">
                <a:solidFill>
                  <a:srgbClr val="006FE0"/>
                </a:solidFill>
                <a:latin typeface="inherit"/>
              </a:rPr>
              <a:t> = </a:t>
            </a:r>
            <a:r>
              <a:rPr lang="en-US" sz="1700">
                <a:solidFill>
                  <a:srgbClr val="008000"/>
                </a:solidFill>
                <a:latin typeface="inherit"/>
              </a:rPr>
              <a:t>"PyQt5 Plain TextEdit"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top</a:t>
            </a:r>
            <a:r>
              <a:rPr lang="en-US" sz="1700">
                <a:solidFill>
                  <a:srgbClr val="006FE0"/>
                </a:solidFill>
                <a:latin typeface="inherit"/>
              </a:rPr>
              <a:t> = </a:t>
            </a:r>
            <a:r>
              <a:rPr lang="en-US" sz="1700">
                <a:solidFill>
                  <a:srgbClr val="CE0000"/>
                </a:solidFill>
                <a:latin typeface="inherit"/>
              </a:rPr>
              <a:t>200</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left</a:t>
            </a:r>
            <a:r>
              <a:rPr lang="en-US" sz="1700">
                <a:solidFill>
                  <a:srgbClr val="006FE0"/>
                </a:solidFill>
                <a:latin typeface="inherit"/>
              </a:rPr>
              <a:t> = </a:t>
            </a:r>
            <a:r>
              <a:rPr lang="en-US" sz="1700">
                <a:solidFill>
                  <a:srgbClr val="CE0000"/>
                </a:solidFill>
                <a:latin typeface="inherit"/>
              </a:rPr>
              <a:t>500</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width</a:t>
            </a:r>
            <a:r>
              <a:rPr lang="en-US" sz="1700">
                <a:solidFill>
                  <a:srgbClr val="006FE0"/>
                </a:solidFill>
                <a:latin typeface="inherit"/>
              </a:rPr>
              <a:t> = </a:t>
            </a:r>
            <a:r>
              <a:rPr lang="en-US" sz="1700">
                <a:solidFill>
                  <a:srgbClr val="CE0000"/>
                </a:solidFill>
                <a:latin typeface="inherit"/>
              </a:rPr>
              <a:t>400</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height</a:t>
            </a:r>
            <a:r>
              <a:rPr lang="en-US" sz="1700">
                <a:solidFill>
                  <a:srgbClr val="006FE0"/>
                </a:solidFill>
                <a:latin typeface="inherit"/>
              </a:rPr>
              <a:t> = </a:t>
            </a:r>
            <a:r>
              <a:rPr lang="en-US" sz="1700">
                <a:solidFill>
                  <a:srgbClr val="CE0000"/>
                </a:solidFill>
                <a:latin typeface="inherit"/>
              </a:rPr>
              <a:t>300</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InitWindow</a:t>
            </a:r>
            <a:r>
              <a:rPr lang="en-US" sz="1700">
                <a:solidFill>
                  <a:srgbClr val="333333"/>
                </a:solidFill>
                <a:latin typeface="inherit"/>
              </a:rPr>
              <a:t>()</a:t>
            </a:r>
            <a:endParaRPr lang="en-US" sz="1700" b="0" i="0">
              <a:solidFill>
                <a:srgbClr val="000000"/>
              </a:solidFill>
              <a:effectLst/>
              <a:latin typeface="Monaco"/>
            </a:endParaRPr>
          </a:p>
        </p:txBody>
      </p:sp>
      <p:sp>
        <p:nvSpPr>
          <p:cNvPr id="5" name="Rectangle 4">
            <a:extLst>
              <a:ext uri="{FF2B5EF4-FFF2-40B4-BE49-F238E27FC236}">
                <a16:creationId xmlns:a16="http://schemas.microsoft.com/office/drawing/2014/main" id="{883A9134-2188-42B2-8C54-C9260E06C3C7}"/>
              </a:ext>
            </a:extLst>
          </p:cNvPr>
          <p:cNvSpPr/>
          <p:nvPr/>
        </p:nvSpPr>
        <p:spPr>
          <a:xfrm>
            <a:off x="2396067" y="2761045"/>
            <a:ext cx="6747933" cy="4096955"/>
          </a:xfrm>
          <a:prstGeom prst="rect">
            <a:avLst/>
          </a:prstGeom>
          <a:solidFill>
            <a:schemeClr val="accent6">
              <a:lumMod val="20000"/>
              <a:lumOff val="80000"/>
            </a:schemeClr>
          </a:solidFill>
        </p:spPr>
        <p:txBody>
          <a:bodyPr wrap="square">
            <a:spAutoFit/>
          </a:bodyPr>
          <a:lstStyle/>
          <a:p>
            <a:pPr latinLnBrk="1">
              <a:lnSpc>
                <a:spcPct val="85000"/>
              </a:lnSpc>
            </a:pPr>
            <a:r>
              <a:rPr lang="en-US" sz="1700">
                <a:solidFill>
                  <a:srgbClr val="006FE0"/>
                </a:solidFill>
                <a:latin typeface="inherit"/>
              </a:rPr>
              <a:t>    </a:t>
            </a:r>
            <a:r>
              <a:rPr lang="en-US" sz="1700">
                <a:solidFill>
                  <a:srgbClr val="004ED0"/>
                </a:solidFill>
                <a:latin typeface="inherit"/>
              </a:rPr>
              <a:t>def InitWindow</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6FE0"/>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setWindowIcon</a:t>
            </a:r>
            <a:r>
              <a:rPr lang="en-US" sz="1700">
                <a:solidFill>
                  <a:srgbClr val="333333"/>
                </a:solidFill>
                <a:latin typeface="inherit"/>
              </a:rPr>
              <a:t>(</a:t>
            </a:r>
            <a:r>
              <a:rPr lang="en-US" sz="1700">
                <a:solidFill>
                  <a:srgbClr val="002D7A"/>
                </a:solidFill>
                <a:latin typeface="inherit"/>
              </a:rPr>
              <a:t>QtGui</a:t>
            </a:r>
            <a:r>
              <a:rPr lang="en-US" sz="1700">
                <a:solidFill>
                  <a:srgbClr val="333333"/>
                </a:solidFill>
                <a:latin typeface="inherit"/>
              </a:rPr>
              <a:t>.</a:t>
            </a:r>
            <a:r>
              <a:rPr lang="en-US" sz="1700">
                <a:solidFill>
                  <a:srgbClr val="004ED0"/>
                </a:solidFill>
                <a:latin typeface="inherit"/>
              </a:rPr>
              <a:t>QIcon</a:t>
            </a:r>
            <a:r>
              <a:rPr lang="en-US" sz="1700">
                <a:solidFill>
                  <a:srgbClr val="333333"/>
                </a:solidFill>
                <a:latin typeface="inherit"/>
              </a:rPr>
              <a:t>(</a:t>
            </a:r>
            <a:r>
              <a:rPr lang="en-US" sz="1700">
                <a:solidFill>
                  <a:srgbClr val="008000"/>
                </a:solidFill>
                <a:latin typeface="inherit"/>
              </a:rPr>
              <a:t>"icon.png"</a:t>
            </a:r>
            <a:r>
              <a:rPr lang="en-US" sz="1700">
                <a:solidFill>
                  <a:srgbClr val="333333"/>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setWindowTitle</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title</a:t>
            </a:r>
            <a:r>
              <a:rPr lang="en-US" sz="1700">
                <a:solidFill>
                  <a:srgbClr val="333333"/>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setGeometry</a:t>
            </a:r>
            <a:r>
              <a:rPr lang="en-US" sz="1700">
                <a:solidFill>
                  <a:srgbClr val="333333"/>
                </a:solidFill>
                <a:latin typeface="inherit"/>
              </a:rPr>
              <a:t>(</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left</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top</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width</a:t>
            </a:r>
            <a:r>
              <a:rPr lang="en-US" sz="1700">
                <a:solidFill>
                  <a:srgbClr val="333333"/>
                </a:solidFill>
                <a:latin typeface="inherit"/>
              </a:rPr>
              <a:t>,</a:t>
            </a: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2D7A"/>
                </a:solidFill>
                <a:latin typeface="inherit"/>
              </a:rPr>
              <a:t>height</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006FE0"/>
                </a:solidFill>
                <a:latin typeface="inherit"/>
              </a:rPr>
              <a:t> = </a:t>
            </a:r>
            <a:r>
              <a:rPr lang="en-US" sz="1700">
                <a:solidFill>
                  <a:srgbClr val="004ED0"/>
                </a:solidFill>
                <a:latin typeface="inherit"/>
              </a:rPr>
              <a:t>QVBoxLayout</a:t>
            </a:r>
            <a:r>
              <a:rPr lang="en-US" sz="1700">
                <a:solidFill>
                  <a:srgbClr val="333333"/>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002D7A"/>
                </a:solidFill>
                <a:latin typeface="inherit"/>
              </a:rPr>
              <a:t>plainText</a:t>
            </a:r>
            <a:r>
              <a:rPr lang="en-US" sz="1700">
                <a:solidFill>
                  <a:srgbClr val="006FE0"/>
                </a:solidFill>
                <a:latin typeface="inherit"/>
              </a:rPr>
              <a:t> = </a:t>
            </a:r>
            <a:r>
              <a:rPr lang="en-US" sz="1700">
                <a:solidFill>
                  <a:srgbClr val="004ED0"/>
                </a:solidFill>
                <a:latin typeface="inherit"/>
              </a:rPr>
              <a:t>QPlainTextEdit</a:t>
            </a:r>
            <a:r>
              <a:rPr lang="en-US" sz="1700">
                <a:solidFill>
                  <a:srgbClr val="333333"/>
                </a:solidFill>
                <a:latin typeface="inherit"/>
              </a:rPr>
              <a:t>()</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002D7A"/>
                </a:solidFill>
                <a:latin typeface="inherit"/>
              </a:rPr>
              <a:t>plainText</a:t>
            </a:r>
            <a:r>
              <a:rPr lang="en-US" sz="1700">
                <a:solidFill>
                  <a:srgbClr val="333333"/>
                </a:solidFill>
                <a:latin typeface="inherit"/>
              </a:rPr>
              <a:t>.</a:t>
            </a:r>
            <a:r>
              <a:rPr lang="en-US" sz="1700">
                <a:solidFill>
                  <a:srgbClr val="004ED0"/>
                </a:solidFill>
                <a:latin typeface="inherit"/>
              </a:rPr>
              <a:t>setPlaceholderText</a:t>
            </a:r>
            <a:r>
              <a:rPr lang="en-US" sz="1700">
                <a:solidFill>
                  <a:srgbClr val="333333"/>
                </a:solidFill>
                <a:latin typeface="inherit"/>
              </a:rPr>
              <a:t>(</a:t>
            </a:r>
            <a:r>
              <a:rPr lang="en-US" sz="1700">
                <a:solidFill>
                  <a:srgbClr val="008000"/>
                </a:solidFill>
                <a:latin typeface="inherit"/>
              </a:rPr>
              <a:t>"This is some text for our plaintextedit"</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B85C00"/>
                </a:solidFill>
                <a:latin typeface="inherit"/>
              </a:rPr>
              <a:t>#plainText.setReadOnly(True)</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002D7A"/>
                </a:solidFill>
                <a:latin typeface="inherit"/>
              </a:rPr>
              <a:t>text</a:t>
            </a:r>
            <a:r>
              <a:rPr lang="en-US" sz="1700">
                <a:solidFill>
                  <a:srgbClr val="006FE0"/>
                </a:solidFill>
                <a:latin typeface="inherit"/>
              </a:rPr>
              <a:t> = </a:t>
            </a:r>
            <a:r>
              <a:rPr lang="en-US" sz="1700">
                <a:solidFill>
                  <a:srgbClr val="008000"/>
                </a:solidFill>
                <a:latin typeface="inherit"/>
              </a:rPr>
              <a:t>"Please subscribe the channel and like the videos"</a:t>
            </a:r>
            <a:endParaRPr lang="en-US" sz="1700">
              <a:solidFill>
                <a:srgbClr val="000000"/>
              </a:solidFill>
              <a:latin typeface="Monaco"/>
            </a:endParaRPr>
          </a:p>
          <a:p>
            <a:pPr latinLnBrk="1">
              <a:lnSpc>
                <a:spcPct val="85000"/>
              </a:lnSpc>
            </a:pPr>
            <a:r>
              <a:rPr lang="en-US" sz="1700">
                <a:solidFill>
                  <a:srgbClr val="006FE0"/>
                </a:solidFill>
                <a:latin typeface="inherit"/>
              </a:rPr>
              <a:t>        </a:t>
            </a:r>
            <a:r>
              <a:rPr lang="en-US" sz="1700">
                <a:solidFill>
                  <a:srgbClr val="002D7A"/>
                </a:solidFill>
                <a:latin typeface="inherit"/>
              </a:rPr>
              <a:t>plainText</a:t>
            </a:r>
            <a:r>
              <a:rPr lang="en-US" sz="1700">
                <a:solidFill>
                  <a:srgbClr val="333333"/>
                </a:solidFill>
                <a:latin typeface="inherit"/>
              </a:rPr>
              <a:t>.</a:t>
            </a:r>
            <a:r>
              <a:rPr lang="en-US" sz="1700">
                <a:solidFill>
                  <a:srgbClr val="004ED0"/>
                </a:solidFill>
                <a:latin typeface="inherit"/>
              </a:rPr>
              <a:t>appendPlainText</a:t>
            </a:r>
            <a:r>
              <a:rPr lang="en-US" sz="1700">
                <a:solidFill>
                  <a:srgbClr val="333333"/>
                </a:solidFill>
                <a:latin typeface="inherit"/>
              </a:rPr>
              <a:t>(</a:t>
            </a:r>
            <a:r>
              <a:rPr lang="en-US" sz="1700">
                <a:solidFill>
                  <a:srgbClr val="002D7A"/>
                </a:solidFill>
                <a:latin typeface="inherit"/>
              </a:rPr>
              <a:t>text</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002D7A"/>
                </a:solidFill>
                <a:latin typeface="inherit"/>
              </a:rPr>
              <a:t>plainText</a:t>
            </a:r>
            <a:r>
              <a:rPr lang="en-US" sz="1700">
                <a:solidFill>
                  <a:srgbClr val="333333"/>
                </a:solidFill>
                <a:latin typeface="inherit"/>
              </a:rPr>
              <a:t>.</a:t>
            </a:r>
            <a:r>
              <a:rPr lang="en-US" sz="1700">
                <a:solidFill>
                  <a:srgbClr val="004ED0"/>
                </a:solidFill>
                <a:latin typeface="inherit"/>
              </a:rPr>
              <a:t>setUndoRedoEnabled</a:t>
            </a:r>
            <a:r>
              <a:rPr lang="en-US" sz="1700">
                <a:solidFill>
                  <a:srgbClr val="333333"/>
                </a:solidFill>
                <a:latin typeface="inherit"/>
              </a:rPr>
              <a:t>(</a:t>
            </a:r>
            <a:r>
              <a:rPr lang="en-US" sz="1700">
                <a:solidFill>
                  <a:srgbClr val="800080"/>
                </a:solidFill>
                <a:latin typeface="inherit"/>
              </a:rPr>
              <a:t>False</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002D7A"/>
                </a:solidFill>
                <a:latin typeface="inherit"/>
              </a:rPr>
              <a:t>vbox</a:t>
            </a:r>
            <a:r>
              <a:rPr lang="en-US" sz="1700">
                <a:solidFill>
                  <a:srgbClr val="333333"/>
                </a:solidFill>
                <a:latin typeface="inherit"/>
              </a:rPr>
              <a:t>.</a:t>
            </a:r>
            <a:r>
              <a:rPr lang="en-US" sz="1700">
                <a:solidFill>
                  <a:srgbClr val="004ED0"/>
                </a:solidFill>
                <a:latin typeface="inherit"/>
              </a:rPr>
              <a:t>addWidget</a:t>
            </a:r>
            <a:r>
              <a:rPr lang="en-US" sz="1700">
                <a:solidFill>
                  <a:srgbClr val="333333"/>
                </a:solidFill>
                <a:latin typeface="inherit"/>
              </a:rPr>
              <a:t>(</a:t>
            </a:r>
            <a:r>
              <a:rPr lang="en-US" sz="1700">
                <a:solidFill>
                  <a:srgbClr val="002D7A"/>
                </a:solidFill>
                <a:latin typeface="inherit"/>
              </a:rPr>
              <a:t>plainText</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setLayout</a:t>
            </a:r>
            <a:r>
              <a:rPr lang="en-US" sz="1700">
                <a:solidFill>
                  <a:srgbClr val="333333"/>
                </a:solidFill>
                <a:latin typeface="inherit"/>
              </a:rPr>
              <a:t>(</a:t>
            </a:r>
            <a:r>
              <a:rPr lang="en-US" sz="1700">
                <a:solidFill>
                  <a:srgbClr val="002D7A"/>
                </a:solidFill>
                <a:latin typeface="inherit"/>
              </a:rPr>
              <a:t>vbox</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6FE0"/>
                </a:solidFill>
                <a:latin typeface="inherit"/>
              </a:rPr>
              <a:t>        </a:t>
            </a:r>
            <a:r>
              <a:rPr lang="en-US" sz="1700">
                <a:solidFill>
                  <a:srgbClr val="800080"/>
                </a:solidFill>
                <a:latin typeface="inherit"/>
              </a:rPr>
              <a:t>self</a:t>
            </a:r>
            <a:r>
              <a:rPr lang="en-US" sz="1700">
                <a:solidFill>
                  <a:srgbClr val="333333"/>
                </a:solidFill>
                <a:latin typeface="inherit"/>
              </a:rPr>
              <a:t>.</a:t>
            </a:r>
            <a:r>
              <a:rPr lang="en-US" sz="1700">
                <a:solidFill>
                  <a:srgbClr val="004ED0"/>
                </a:solidFill>
                <a:latin typeface="inherit"/>
              </a:rPr>
              <a:t>show</a:t>
            </a:r>
            <a:r>
              <a:rPr lang="en-US" sz="1700">
                <a:solidFill>
                  <a:srgbClr val="333333"/>
                </a:solidFill>
                <a:latin typeface="inherit"/>
              </a:rPr>
              <a:t>()</a:t>
            </a:r>
            <a:r>
              <a:rPr lang="en-US" sz="1700">
                <a:solidFill>
                  <a:srgbClr val="000000"/>
                </a:solidFill>
                <a:latin typeface="Monaco"/>
              </a:rPr>
              <a:t>  </a:t>
            </a:r>
          </a:p>
          <a:p>
            <a:pPr latinLnBrk="1">
              <a:lnSpc>
                <a:spcPct val="85000"/>
              </a:lnSpc>
            </a:pPr>
            <a:r>
              <a:rPr lang="en-US" sz="1700">
                <a:solidFill>
                  <a:srgbClr val="000000"/>
                </a:solidFill>
                <a:latin typeface="Monaco"/>
              </a:rPr>
              <a:t> </a:t>
            </a:r>
          </a:p>
          <a:p>
            <a:pPr latinLnBrk="1">
              <a:lnSpc>
                <a:spcPct val="85000"/>
              </a:lnSpc>
            </a:pPr>
            <a:r>
              <a:rPr lang="en-US" sz="1700">
                <a:solidFill>
                  <a:srgbClr val="002D7A"/>
                </a:solidFill>
                <a:latin typeface="inherit"/>
              </a:rPr>
              <a:t>App</a:t>
            </a:r>
            <a:r>
              <a:rPr lang="en-US" sz="1700">
                <a:solidFill>
                  <a:srgbClr val="006FE0"/>
                </a:solidFill>
                <a:latin typeface="inherit"/>
              </a:rPr>
              <a:t> = </a:t>
            </a:r>
            <a:r>
              <a:rPr lang="en-US" sz="1700">
                <a:solidFill>
                  <a:srgbClr val="004ED0"/>
                </a:solidFill>
                <a:latin typeface="inherit"/>
              </a:rPr>
              <a:t>QApplication</a:t>
            </a:r>
            <a:r>
              <a:rPr lang="en-US" sz="1700">
                <a:solidFill>
                  <a:srgbClr val="333333"/>
                </a:solidFill>
                <a:latin typeface="inherit"/>
              </a:rPr>
              <a:t>(</a:t>
            </a:r>
            <a:r>
              <a:rPr lang="en-US" sz="1700">
                <a:solidFill>
                  <a:srgbClr val="002D7A"/>
                </a:solidFill>
                <a:latin typeface="inherit"/>
              </a:rPr>
              <a:t>sys</a:t>
            </a:r>
            <a:r>
              <a:rPr lang="en-US" sz="1700">
                <a:solidFill>
                  <a:srgbClr val="333333"/>
                </a:solidFill>
                <a:latin typeface="inherit"/>
              </a:rPr>
              <a:t>.</a:t>
            </a:r>
            <a:r>
              <a:rPr lang="en-US" sz="1700">
                <a:solidFill>
                  <a:srgbClr val="002D7A"/>
                </a:solidFill>
                <a:latin typeface="inherit"/>
              </a:rPr>
              <a:t>argv</a:t>
            </a:r>
            <a:r>
              <a:rPr lang="en-US" sz="1700">
                <a:solidFill>
                  <a:srgbClr val="333333"/>
                </a:solidFill>
                <a:latin typeface="inherit"/>
              </a:rPr>
              <a:t>)</a:t>
            </a:r>
            <a:endParaRPr lang="en-US" sz="1700">
              <a:solidFill>
                <a:srgbClr val="000000"/>
              </a:solidFill>
              <a:latin typeface="Monaco"/>
            </a:endParaRPr>
          </a:p>
          <a:p>
            <a:pPr latinLnBrk="1">
              <a:lnSpc>
                <a:spcPct val="85000"/>
              </a:lnSpc>
            </a:pPr>
            <a:r>
              <a:rPr lang="en-US" sz="1700">
                <a:solidFill>
                  <a:srgbClr val="002D7A"/>
                </a:solidFill>
                <a:latin typeface="inherit"/>
              </a:rPr>
              <a:t>window</a:t>
            </a:r>
            <a:r>
              <a:rPr lang="en-US" sz="1700">
                <a:solidFill>
                  <a:srgbClr val="006FE0"/>
                </a:solidFill>
                <a:latin typeface="inherit"/>
              </a:rPr>
              <a:t> = </a:t>
            </a:r>
            <a:r>
              <a:rPr lang="en-US" sz="1700">
                <a:solidFill>
                  <a:srgbClr val="004ED0"/>
                </a:solidFill>
                <a:latin typeface="inherit"/>
              </a:rPr>
              <a:t>Window</a:t>
            </a:r>
            <a:r>
              <a:rPr lang="en-US" sz="1700">
                <a:solidFill>
                  <a:srgbClr val="333333"/>
                </a:solidFill>
                <a:latin typeface="inherit"/>
              </a:rPr>
              <a:t>()</a:t>
            </a:r>
            <a:endParaRPr lang="en-US" sz="1700">
              <a:solidFill>
                <a:srgbClr val="000000"/>
              </a:solidFill>
              <a:latin typeface="Monaco"/>
            </a:endParaRPr>
          </a:p>
          <a:p>
            <a:pPr latinLnBrk="1">
              <a:lnSpc>
                <a:spcPct val="85000"/>
              </a:lnSpc>
            </a:pPr>
            <a:r>
              <a:rPr lang="en-US" sz="1700">
                <a:solidFill>
                  <a:srgbClr val="002D7A"/>
                </a:solidFill>
                <a:latin typeface="inherit"/>
              </a:rPr>
              <a:t>sys</a:t>
            </a:r>
            <a:r>
              <a:rPr lang="en-US" sz="1700">
                <a:solidFill>
                  <a:srgbClr val="333333"/>
                </a:solidFill>
                <a:latin typeface="inherit"/>
              </a:rPr>
              <a:t>.</a:t>
            </a:r>
            <a:r>
              <a:rPr lang="en-US" sz="1700">
                <a:solidFill>
                  <a:srgbClr val="004ED0"/>
                </a:solidFill>
                <a:latin typeface="inherit"/>
              </a:rPr>
              <a:t>exit</a:t>
            </a:r>
            <a:r>
              <a:rPr lang="en-US" sz="1700">
                <a:solidFill>
                  <a:srgbClr val="333333"/>
                </a:solidFill>
                <a:latin typeface="inherit"/>
              </a:rPr>
              <a:t>(</a:t>
            </a:r>
            <a:r>
              <a:rPr lang="en-US" sz="1700">
                <a:solidFill>
                  <a:srgbClr val="002D7A"/>
                </a:solidFill>
                <a:latin typeface="inherit"/>
              </a:rPr>
              <a:t>App</a:t>
            </a:r>
            <a:r>
              <a:rPr lang="en-US" sz="1700">
                <a:solidFill>
                  <a:srgbClr val="333333"/>
                </a:solidFill>
                <a:latin typeface="inherit"/>
              </a:rPr>
              <a:t>.</a:t>
            </a:r>
            <a:r>
              <a:rPr lang="en-US" sz="1700">
                <a:solidFill>
                  <a:srgbClr val="004ED0"/>
                </a:solidFill>
                <a:latin typeface="inherit"/>
              </a:rPr>
              <a:t>exec</a:t>
            </a:r>
            <a:r>
              <a:rPr lang="en-US" sz="1700">
                <a:solidFill>
                  <a:srgbClr val="333333"/>
                </a:solidFill>
                <a:latin typeface="inherit"/>
              </a:rPr>
              <a:t>())</a:t>
            </a:r>
            <a:endParaRPr lang="en-US" sz="1700" b="0" i="0">
              <a:solidFill>
                <a:srgbClr val="000000"/>
              </a:solidFill>
              <a:effectLst/>
              <a:latin typeface="Monaco"/>
            </a:endParaRPr>
          </a:p>
        </p:txBody>
      </p:sp>
    </p:spTree>
    <p:extLst>
      <p:ext uri="{BB962C8B-B14F-4D97-AF65-F5344CB8AC3E}">
        <p14:creationId xmlns:p14="http://schemas.microsoft.com/office/powerpoint/2010/main" val="336791494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A3F949-BAF3-451F-BEDB-7ED3A68C45E4}"/>
              </a:ext>
            </a:extLst>
          </p:cNvPr>
          <p:cNvSpPr>
            <a:spLocks noGrp="1"/>
          </p:cNvSpPr>
          <p:nvPr>
            <p:ph idx="1"/>
          </p:nvPr>
        </p:nvSpPr>
        <p:spPr>
          <a:xfrm>
            <a:off x="9624" y="999069"/>
            <a:ext cx="9134375" cy="923330"/>
          </a:xfrm>
        </p:spPr>
        <p:txBody>
          <a:bodyPr>
            <a:normAutofit/>
          </a:bodyPr>
          <a:lstStyle/>
          <a:p>
            <a:r>
              <a:rPr lang="vi-VN" sz="2400" b="1"/>
              <a:t>Constructor:</a:t>
            </a:r>
            <a:r>
              <a:rPr lang="en-US" sz="2400" b="1"/>
              <a:t> </a:t>
            </a:r>
            <a:r>
              <a:rPr lang="vi-VN" sz="2400"/>
              <a:t>Tiện ích PlainTextEdit được xây dựng bằng cách sử dụng:</a:t>
            </a:r>
          </a:p>
          <a:p>
            <a:endParaRPr lang="en-US" sz="2400"/>
          </a:p>
        </p:txBody>
      </p:sp>
      <p:sp>
        <p:nvSpPr>
          <p:cNvPr id="4" name="Title 1">
            <a:extLst>
              <a:ext uri="{FF2B5EF4-FFF2-40B4-BE49-F238E27FC236}">
                <a16:creationId xmlns:a16="http://schemas.microsoft.com/office/drawing/2014/main" id="{275FA2DA-6CCC-49C6-83C8-6474C52EBFE1}"/>
              </a:ext>
            </a:extLst>
          </p:cNvPr>
          <p:cNvSpPr>
            <a:spLocks noGrp="1"/>
          </p:cNvSpPr>
          <p:nvPr>
            <p:ph type="title"/>
          </p:nvPr>
        </p:nvSpPr>
        <p:spPr>
          <a:xfrm>
            <a:off x="9624" y="19250"/>
            <a:ext cx="9134375" cy="751217"/>
          </a:xfrm>
        </p:spPr>
        <p:txBody>
          <a:bodyPr>
            <a:normAutofit/>
          </a:bodyPr>
          <a:lstStyle/>
          <a:p>
            <a:r>
              <a:rPr lang="en-US"/>
              <a:t>Ví dụ QPlainTextEdit trong PyQt5 (t.t)</a:t>
            </a:r>
          </a:p>
        </p:txBody>
      </p:sp>
      <p:sp>
        <p:nvSpPr>
          <p:cNvPr id="5" name="Rectangle 4">
            <a:extLst>
              <a:ext uri="{FF2B5EF4-FFF2-40B4-BE49-F238E27FC236}">
                <a16:creationId xmlns:a16="http://schemas.microsoft.com/office/drawing/2014/main" id="{56C780A9-01A3-4E36-B6C4-C777F26B2015}"/>
              </a:ext>
            </a:extLst>
          </p:cNvPr>
          <p:cNvSpPr/>
          <p:nvPr/>
        </p:nvSpPr>
        <p:spPr>
          <a:xfrm>
            <a:off x="1767256" y="1460734"/>
            <a:ext cx="4691349" cy="523220"/>
          </a:xfrm>
          <a:prstGeom prst="rect">
            <a:avLst/>
          </a:prstGeom>
          <a:solidFill>
            <a:schemeClr val="accent2">
              <a:lumMod val="20000"/>
              <a:lumOff val="80000"/>
            </a:schemeClr>
          </a:solidFill>
        </p:spPr>
        <p:txBody>
          <a:bodyPr wrap="none">
            <a:spAutoFit/>
          </a:bodyPr>
          <a:lstStyle/>
          <a:p>
            <a:r>
              <a:rPr lang="en-US" sz="2800">
                <a:solidFill>
                  <a:srgbClr val="002D7A"/>
                </a:solidFill>
                <a:latin typeface="Monaco"/>
              </a:rPr>
              <a:t>plaintextedit</a:t>
            </a:r>
            <a:r>
              <a:rPr lang="en-US" sz="2800">
                <a:solidFill>
                  <a:srgbClr val="006FE0"/>
                </a:solidFill>
                <a:latin typeface="Monaco"/>
              </a:rPr>
              <a:t> = </a:t>
            </a:r>
            <a:r>
              <a:rPr lang="en-US" sz="2800">
                <a:solidFill>
                  <a:srgbClr val="004ED0"/>
                </a:solidFill>
                <a:latin typeface="Monaco"/>
              </a:rPr>
              <a:t>QPlainTextEdit</a:t>
            </a:r>
            <a:r>
              <a:rPr lang="en-US" sz="2800">
                <a:solidFill>
                  <a:srgbClr val="333333"/>
                </a:solidFill>
                <a:latin typeface="Monaco"/>
              </a:rPr>
              <a:t>()</a:t>
            </a:r>
            <a:endParaRPr lang="en-US" sz="2800"/>
          </a:p>
        </p:txBody>
      </p:sp>
      <p:sp>
        <p:nvSpPr>
          <p:cNvPr id="6" name="Rectangle 5">
            <a:extLst>
              <a:ext uri="{FF2B5EF4-FFF2-40B4-BE49-F238E27FC236}">
                <a16:creationId xmlns:a16="http://schemas.microsoft.com/office/drawing/2014/main" id="{29726C65-0E2A-48D7-B8F4-1E5AC869E7B8}"/>
              </a:ext>
            </a:extLst>
          </p:cNvPr>
          <p:cNvSpPr/>
          <p:nvPr/>
        </p:nvSpPr>
        <p:spPr>
          <a:xfrm>
            <a:off x="9625" y="2141801"/>
            <a:ext cx="9134374" cy="830997"/>
          </a:xfrm>
          <a:prstGeom prst="rect">
            <a:avLst/>
          </a:prstGeom>
        </p:spPr>
        <p:txBody>
          <a:bodyPr wrap="square">
            <a:spAutoFit/>
          </a:bodyPr>
          <a:lstStyle/>
          <a:p>
            <a:pPr marL="228600" indent="-228600">
              <a:buFont typeface="Arial" panose="020B0604020202020204" pitchFamily="34" charset="0"/>
              <a:buChar char="•"/>
            </a:pPr>
            <a:r>
              <a:rPr lang="vi-VN" sz="2400" b="1">
                <a:solidFill>
                  <a:srgbClr val="3A3A3A"/>
                </a:solidFill>
              </a:rPr>
              <a:t>Phương </a:t>
            </a:r>
            <a:r>
              <a:rPr lang="en-US" sz="2400" b="1">
                <a:solidFill>
                  <a:srgbClr val="3A3A3A"/>
                </a:solidFill>
              </a:rPr>
              <a:t>thức</a:t>
            </a:r>
            <a:r>
              <a:rPr lang="vi-VN" sz="2400" b="1">
                <a:solidFill>
                  <a:srgbClr val="3A3A3A"/>
                </a:solidFill>
              </a:rPr>
              <a:t>:</a:t>
            </a:r>
            <a:r>
              <a:rPr lang="en-US" sz="2400" b="1">
                <a:solidFill>
                  <a:srgbClr val="3A3A3A"/>
                </a:solidFill>
              </a:rPr>
              <a:t> </a:t>
            </a:r>
            <a:r>
              <a:rPr lang="vi-VN" sz="2400">
                <a:solidFill>
                  <a:srgbClr val="3A3A3A"/>
                </a:solidFill>
              </a:rPr>
              <a:t>Văn bản được chèn vào PlainTextEdit bằng một trong các phương </a:t>
            </a:r>
            <a:r>
              <a:rPr lang="en-US" sz="2400">
                <a:solidFill>
                  <a:srgbClr val="3A3A3A"/>
                </a:solidFill>
              </a:rPr>
              <a:t>thức </a:t>
            </a:r>
            <a:r>
              <a:rPr lang="vi-VN" sz="2400">
                <a:solidFill>
                  <a:srgbClr val="3A3A3A"/>
                </a:solidFill>
              </a:rPr>
              <a:t>sau:</a:t>
            </a:r>
          </a:p>
        </p:txBody>
      </p:sp>
      <p:sp>
        <p:nvSpPr>
          <p:cNvPr id="7" name="Rectangle 6">
            <a:extLst>
              <a:ext uri="{FF2B5EF4-FFF2-40B4-BE49-F238E27FC236}">
                <a16:creationId xmlns:a16="http://schemas.microsoft.com/office/drawing/2014/main" id="{054AFD33-D369-4F30-B438-B26A0C67762D}"/>
              </a:ext>
            </a:extLst>
          </p:cNvPr>
          <p:cNvSpPr/>
          <p:nvPr/>
        </p:nvSpPr>
        <p:spPr>
          <a:xfrm>
            <a:off x="4223405" y="2641966"/>
            <a:ext cx="4572000" cy="830997"/>
          </a:xfrm>
          <a:prstGeom prst="rect">
            <a:avLst/>
          </a:prstGeom>
          <a:solidFill>
            <a:schemeClr val="accent4">
              <a:lumMod val="20000"/>
              <a:lumOff val="80000"/>
            </a:schemeClr>
          </a:solidFill>
        </p:spPr>
        <p:txBody>
          <a:bodyPr>
            <a:spAutoFit/>
          </a:bodyPr>
          <a:lstStyle/>
          <a:p>
            <a:r>
              <a:rPr lang="en-US" sz="2400">
                <a:solidFill>
                  <a:srgbClr val="002D7A"/>
                </a:solidFill>
                <a:latin typeface="inherit"/>
              </a:rPr>
              <a:t>plaintextedit</a:t>
            </a:r>
            <a:r>
              <a:rPr lang="en-US" sz="2400">
                <a:solidFill>
                  <a:srgbClr val="333333"/>
                </a:solidFill>
                <a:latin typeface="inherit"/>
              </a:rPr>
              <a:t>.</a:t>
            </a:r>
            <a:r>
              <a:rPr lang="en-US" sz="2400">
                <a:solidFill>
                  <a:srgbClr val="004ED0"/>
                </a:solidFill>
                <a:latin typeface="inherit"/>
              </a:rPr>
              <a:t>appendPlainText</a:t>
            </a:r>
            <a:r>
              <a:rPr lang="en-US" sz="2400">
                <a:solidFill>
                  <a:srgbClr val="333333"/>
                </a:solidFill>
                <a:latin typeface="inherit"/>
              </a:rPr>
              <a:t>(</a:t>
            </a:r>
            <a:r>
              <a:rPr lang="en-US" sz="2400">
                <a:solidFill>
                  <a:srgbClr val="002D7A"/>
                </a:solidFill>
                <a:latin typeface="inherit"/>
              </a:rPr>
              <a:t>text</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plaintextedit</a:t>
            </a:r>
            <a:r>
              <a:rPr lang="en-US" sz="2400">
                <a:solidFill>
                  <a:srgbClr val="333333"/>
                </a:solidFill>
                <a:latin typeface="inherit"/>
              </a:rPr>
              <a:t>.</a:t>
            </a:r>
            <a:r>
              <a:rPr lang="en-US" sz="2400">
                <a:solidFill>
                  <a:srgbClr val="004ED0"/>
                </a:solidFill>
                <a:latin typeface="inherit"/>
              </a:rPr>
              <a:t>insertPlainText</a:t>
            </a:r>
            <a:r>
              <a:rPr lang="en-US" sz="2400">
                <a:solidFill>
                  <a:srgbClr val="333333"/>
                </a:solidFill>
                <a:latin typeface="inherit"/>
              </a:rPr>
              <a:t>(</a:t>
            </a:r>
            <a:r>
              <a:rPr lang="en-US" sz="2400">
                <a:solidFill>
                  <a:srgbClr val="002D7A"/>
                </a:solidFill>
                <a:latin typeface="inherit"/>
              </a:rPr>
              <a:t>text</a:t>
            </a:r>
            <a:r>
              <a:rPr lang="en-US" sz="2400">
                <a:solidFill>
                  <a:srgbClr val="333333"/>
                </a:solidFill>
                <a:latin typeface="inherit"/>
              </a:rPr>
              <a:t>)</a:t>
            </a:r>
            <a:endParaRPr lang="en-US" sz="2400" b="0" i="0">
              <a:solidFill>
                <a:srgbClr val="000000"/>
              </a:solidFill>
              <a:effectLst/>
              <a:latin typeface="Monaco"/>
            </a:endParaRPr>
          </a:p>
        </p:txBody>
      </p:sp>
      <p:sp>
        <p:nvSpPr>
          <p:cNvPr id="8" name="Rectangle 7">
            <a:extLst>
              <a:ext uri="{FF2B5EF4-FFF2-40B4-BE49-F238E27FC236}">
                <a16:creationId xmlns:a16="http://schemas.microsoft.com/office/drawing/2014/main" id="{1D67B68D-9B31-443A-ADEC-E2A94A959A20}"/>
              </a:ext>
            </a:extLst>
          </p:cNvPr>
          <p:cNvSpPr/>
          <p:nvPr/>
        </p:nvSpPr>
        <p:spPr>
          <a:xfrm>
            <a:off x="1" y="3657601"/>
            <a:ext cx="9143998" cy="1938992"/>
          </a:xfrm>
          <a:prstGeom prst="rect">
            <a:avLst/>
          </a:prstGeom>
        </p:spPr>
        <p:txBody>
          <a:bodyPr wrap="square">
            <a:spAutoFit/>
          </a:bodyPr>
          <a:lstStyle/>
          <a:p>
            <a:pPr algn="just"/>
            <a:r>
              <a:rPr lang="vi-VN" sz="2400">
                <a:solidFill>
                  <a:srgbClr val="3A3A3A"/>
                </a:solidFill>
              </a:rPr>
              <a:t>Phương thức </a:t>
            </a:r>
            <a:r>
              <a:rPr lang="vi-VN" sz="2400" b="1">
                <a:solidFill>
                  <a:srgbClr val="3A3A3A"/>
                </a:solidFill>
              </a:rPr>
              <a:t>.appendPlainText()</a:t>
            </a:r>
            <a:r>
              <a:rPr lang="vi-VN" sz="2400">
                <a:solidFill>
                  <a:srgbClr val="3A3A3A"/>
                </a:solidFill>
              </a:rPr>
              <a:t> thêm văn bản mới vào cuối khối văn bản hiện tại trong khi phương thức </a:t>
            </a:r>
            <a:r>
              <a:rPr lang="vi-VN" sz="2400" b="1">
                <a:solidFill>
                  <a:srgbClr val="3A3A3A"/>
                </a:solidFill>
              </a:rPr>
              <a:t>.insertPlainText()</a:t>
            </a:r>
            <a:r>
              <a:rPr lang="vi-VN" sz="2400">
                <a:solidFill>
                  <a:srgbClr val="3A3A3A"/>
                </a:solidFill>
              </a:rPr>
              <a:t> thêm văn bản vào vị trí con trỏ. Theo mặc định, văn bản trong PlainTextEdit có thể được người dùng sửa đổi. Tuy nhiên, nó có thể được sử dụng như một </a:t>
            </a:r>
            <a:r>
              <a:rPr lang="en-US" sz="2400">
                <a:solidFill>
                  <a:srgbClr val="3A3A3A"/>
                </a:solidFill>
              </a:rPr>
              <a:t>widget </a:t>
            </a:r>
            <a:r>
              <a:rPr lang="vi-VN" sz="2400">
                <a:solidFill>
                  <a:srgbClr val="3A3A3A"/>
                </a:solidFill>
              </a:rPr>
              <a:t>chỉ đọc</a:t>
            </a:r>
            <a:r>
              <a:rPr lang="en-US" sz="2400">
                <a:solidFill>
                  <a:srgbClr val="3A3A3A"/>
                </a:solidFill>
              </a:rPr>
              <a:t> </a:t>
            </a:r>
            <a:r>
              <a:rPr lang="vi-VN" sz="2400">
                <a:solidFill>
                  <a:srgbClr val="3A3A3A"/>
                </a:solidFill>
              </a:rPr>
              <a:t>với</a:t>
            </a:r>
            <a:r>
              <a:rPr lang="en-US" sz="2400">
                <a:solidFill>
                  <a:srgbClr val="3A3A3A"/>
                </a:solidFill>
              </a:rPr>
              <a:t> mã lệnh</a:t>
            </a:r>
            <a:r>
              <a:rPr lang="vi-VN" sz="2400">
                <a:solidFill>
                  <a:srgbClr val="3A3A3A"/>
                </a:solidFill>
              </a:rPr>
              <a:t>:</a:t>
            </a:r>
          </a:p>
        </p:txBody>
      </p:sp>
      <p:sp>
        <p:nvSpPr>
          <p:cNvPr id="9" name="Rectangle 8">
            <a:extLst>
              <a:ext uri="{FF2B5EF4-FFF2-40B4-BE49-F238E27FC236}">
                <a16:creationId xmlns:a16="http://schemas.microsoft.com/office/drawing/2014/main" id="{E98C816A-41A6-46A4-85DE-90AE611EC972}"/>
              </a:ext>
            </a:extLst>
          </p:cNvPr>
          <p:cNvSpPr/>
          <p:nvPr/>
        </p:nvSpPr>
        <p:spPr>
          <a:xfrm>
            <a:off x="2394577" y="5623635"/>
            <a:ext cx="5630516" cy="523220"/>
          </a:xfrm>
          <a:prstGeom prst="rect">
            <a:avLst/>
          </a:prstGeom>
          <a:solidFill>
            <a:schemeClr val="accent5">
              <a:lumMod val="20000"/>
              <a:lumOff val="80000"/>
            </a:schemeClr>
          </a:solidFill>
        </p:spPr>
        <p:txBody>
          <a:bodyPr wrap="none">
            <a:spAutoFit/>
          </a:bodyPr>
          <a:lstStyle/>
          <a:p>
            <a:r>
              <a:rPr lang="en-US" sz="2800">
                <a:solidFill>
                  <a:srgbClr val="002D7A"/>
                </a:solidFill>
                <a:latin typeface="Monaco"/>
              </a:rPr>
              <a:t>plaintextedit</a:t>
            </a:r>
            <a:r>
              <a:rPr lang="en-US" sz="2800">
                <a:solidFill>
                  <a:srgbClr val="333333"/>
                </a:solidFill>
                <a:latin typeface="Monaco"/>
              </a:rPr>
              <a:t>.</a:t>
            </a:r>
            <a:r>
              <a:rPr lang="en-US" sz="2800">
                <a:solidFill>
                  <a:srgbClr val="004ED0"/>
                </a:solidFill>
                <a:latin typeface="Monaco"/>
              </a:rPr>
              <a:t>setReadOnly</a:t>
            </a:r>
            <a:r>
              <a:rPr lang="en-US" sz="2800">
                <a:solidFill>
                  <a:srgbClr val="333333"/>
                </a:solidFill>
                <a:latin typeface="Monaco"/>
              </a:rPr>
              <a:t>(</a:t>
            </a:r>
            <a:r>
              <a:rPr lang="en-US" sz="2800">
                <a:solidFill>
                  <a:srgbClr val="002D7A"/>
                </a:solidFill>
                <a:latin typeface="Monaco"/>
              </a:rPr>
              <a:t>read_only</a:t>
            </a:r>
            <a:r>
              <a:rPr lang="en-US" sz="2800">
                <a:solidFill>
                  <a:srgbClr val="333333"/>
                </a:solidFill>
                <a:latin typeface="Monaco"/>
              </a:rPr>
              <a:t>)</a:t>
            </a:r>
            <a:endParaRPr lang="en-US" sz="2800"/>
          </a:p>
        </p:txBody>
      </p:sp>
    </p:spTree>
    <p:extLst>
      <p:ext uri="{BB962C8B-B14F-4D97-AF65-F5344CB8AC3E}">
        <p14:creationId xmlns:p14="http://schemas.microsoft.com/office/powerpoint/2010/main" val="13514636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01E9AE-88AF-4AA4-BCE6-D20147555B2B}"/>
              </a:ext>
            </a:extLst>
          </p:cNvPr>
          <p:cNvSpPr>
            <a:spLocks noGrp="1"/>
          </p:cNvSpPr>
          <p:nvPr>
            <p:ph idx="1"/>
          </p:nvPr>
        </p:nvSpPr>
        <p:spPr>
          <a:xfrm>
            <a:off x="9624" y="770467"/>
            <a:ext cx="9134375" cy="6068283"/>
          </a:xfrm>
        </p:spPr>
        <p:txBody>
          <a:bodyPr/>
          <a:lstStyle/>
          <a:p>
            <a:pPr marL="0" indent="0">
              <a:buNone/>
            </a:pPr>
            <a:r>
              <a:rPr lang="vi-VN"/>
              <a:t>Khi read_only được đặt thành True, người dùng sẽ chỉ có thể điều hướng qua văn bản. </a:t>
            </a:r>
            <a:br>
              <a:rPr lang="vi-VN"/>
            </a:br>
            <a:r>
              <a:rPr lang="vi-VN"/>
              <a:t>Trạng thái chỉ đọc của widget cũng có thể được lấy ra bằng cách sử dụng:</a:t>
            </a:r>
            <a:endParaRPr lang="en-US"/>
          </a:p>
        </p:txBody>
      </p:sp>
      <p:sp>
        <p:nvSpPr>
          <p:cNvPr id="4" name="Title 1">
            <a:extLst>
              <a:ext uri="{FF2B5EF4-FFF2-40B4-BE49-F238E27FC236}">
                <a16:creationId xmlns:a16="http://schemas.microsoft.com/office/drawing/2014/main" id="{30FF7FD8-C268-496E-9422-3F08519B93AE}"/>
              </a:ext>
            </a:extLst>
          </p:cNvPr>
          <p:cNvSpPr>
            <a:spLocks noGrp="1"/>
          </p:cNvSpPr>
          <p:nvPr>
            <p:ph type="title"/>
          </p:nvPr>
        </p:nvSpPr>
        <p:spPr>
          <a:xfrm>
            <a:off x="9624" y="19250"/>
            <a:ext cx="9134375" cy="751217"/>
          </a:xfrm>
        </p:spPr>
        <p:txBody>
          <a:bodyPr>
            <a:normAutofit/>
          </a:bodyPr>
          <a:lstStyle/>
          <a:p>
            <a:r>
              <a:rPr lang="en-US"/>
              <a:t>Ví dụ QPlainTextEdit trong PyQt5 (t.t)</a:t>
            </a:r>
          </a:p>
        </p:txBody>
      </p:sp>
      <p:sp>
        <p:nvSpPr>
          <p:cNvPr id="5" name="Rectangle 4">
            <a:extLst>
              <a:ext uri="{FF2B5EF4-FFF2-40B4-BE49-F238E27FC236}">
                <a16:creationId xmlns:a16="http://schemas.microsoft.com/office/drawing/2014/main" id="{626D681C-67F9-46EB-A33E-B9D3A1B1121B}"/>
              </a:ext>
            </a:extLst>
          </p:cNvPr>
          <p:cNvSpPr/>
          <p:nvPr/>
        </p:nvSpPr>
        <p:spPr>
          <a:xfrm>
            <a:off x="3469137" y="2092867"/>
            <a:ext cx="3955635" cy="523220"/>
          </a:xfrm>
          <a:prstGeom prst="rect">
            <a:avLst/>
          </a:prstGeom>
          <a:solidFill>
            <a:schemeClr val="accent6">
              <a:lumMod val="20000"/>
              <a:lumOff val="80000"/>
            </a:schemeClr>
          </a:solidFill>
        </p:spPr>
        <p:txBody>
          <a:bodyPr wrap="none">
            <a:spAutoFit/>
          </a:bodyPr>
          <a:lstStyle/>
          <a:p>
            <a:r>
              <a:rPr lang="en-US" sz="2800">
                <a:solidFill>
                  <a:srgbClr val="002D7A"/>
                </a:solidFill>
                <a:latin typeface="Monaco"/>
              </a:rPr>
              <a:t>plaintextedit</a:t>
            </a:r>
            <a:r>
              <a:rPr lang="en-US" sz="2800">
                <a:solidFill>
                  <a:srgbClr val="333333"/>
                </a:solidFill>
                <a:latin typeface="Monaco"/>
              </a:rPr>
              <a:t>.</a:t>
            </a:r>
            <a:r>
              <a:rPr lang="en-US" sz="2800">
                <a:solidFill>
                  <a:srgbClr val="004ED0"/>
                </a:solidFill>
                <a:latin typeface="Monaco"/>
              </a:rPr>
              <a:t>isReadOnly</a:t>
            </a:r>
            <a:r>
              <a:rPr lang="en-US" sz="2800">
                <a:solidFill>
                  <a:srgbClr val="333333"/>
                </a:solidFill>
                <a:latin typeface="Monaco"/>
              </a:rPr>
              <a:t>()</a:t>
            </a:r>
            <a:endParaRPr lang="en-US" sz="2800"/>
          </a:p>
        </p:txBody>
      </p:sp>
      <p:sp>
        <p:nvSpPr>
          <p:cNvPr id="6" name="Rectangle 5">
            <a:extLst>
              <a:ext uri="{FF2B5EF4-FFF2-40B4-BE49-F238E27FC236}">
                <a16:creationId xmlns:a16="http://schemas.microsoft.com/office/drawing/2014/main" id="{13FDD701-62EA-48F9-84B3-2902E1B70D4B}"/>
              </a:ext>
            </a:extLst>
          </p:cNvPr>
          <p:cNvSpPr/>
          <p:nvPr/>
        </p:nvSpPr>
        <p:spPr>
          <a:xfrm>
            <a:off x="-1" y="3105835"/>
            <a:ext cx="9134375" cy="523220"/>
          </a:xfrm>
          <a:prstGeom prst="rect">
            <a:avLst/>
          </a:prstGeom>
        </p:spPr>
        <p:txBody>
          <a:bodyPr wrap="square">
            <a:spAutoFit/>
          </a:bodyPr>
          <a:lstStyle/>
          <a:p>
            <a:r>
              <a:rPr lang="vi-VN" sz="2800">
                <a:solidFill>
                  <a:srgbClr val="3A3A3A"/>
                </a:solidFill>
              </a:rPr>
              <a:t>Văn bản giữ chỗ có thể được đặt vào PlainTextEdit với:</a:t>
            </a:r>
            <a:endParaRPr lang="en-US" sz="2800"/>
          </a:p>
        </p:txBody>
      </p:sp>
      <p:sp>
        <p:nvSpPr>
          <p:cNvPr id="7" name="Rectangle 6">
            <a:extLst>
              <a:ext uri="{FF2B5EF4-FFF2-40B4-BE49-F238E27FC236}">
                <a16:creationId xmlns:a16="http://schemas.microsoft.com/office/drawing/2014/main" id="{515F5C0E-E6FA-4922-9C64-5DB24BEDEB4A}"/>
              </a:ext>
            </a:extLst>
          </p:cNvPr>
          <p:cNvSpPr/>
          <p:nvPr/>
        </p:nvSpPr>
        <p:spPr>
          <a:xfrm>
            <a:off x="2559280" y="3595583"/>
            <a:ext cx="5651419" cy="523220"/>
          </a:xfrm>
          <a:prstGeom prst="rect">
            <a:avLst/>
          </a:prstGeom>
          <a:solidFill>
            <a:schemeClr val="tx2">
              <a:lumMod val="20000"/>
              <a:lumOff val="80000"/>
            </a:schemeClr>
          </a:solidFill>
        </p:spPr>
        <p:txBody>
          <a:bodyPr wrap="none">
            <a:spAutoFit/>
          </a:bodyPr>
          <a:lstStyle/>
          <a:p>
            <a:r>
              <a:rPr lang="en-US" sz="2800">
                <a:solidFill>
                  <a:srgbClr val="002D7A"/>
                </a:solidFill>
                <a:latin typeface="Monaco"/>
              </a:rPr>
              <a:t>plaintextedit</a:t>
            </a:r>
            <a:r>
              <a:rPr lang="en-US" sz="2800">
                <a:solidFill>
                  <a:srgbClr val="333333"/>
                </a:solidFill>
                <a:latin typeface="Monaco"/>
              </a:rPr>
              <a:t>.</a:t>
            </a:r>
            <a:r>
              <a:rPr lang="en-US" sz="2800">
                <a:solidFill>
                  <a:srgbClr val="004ED0"/>
                </a:solidFill>
                <a:latin typeface="Monaco"/>
              </a:rPr>
              <a:t>setPlaceholderText</a:t>
            </a:r>
            <a:r>
              <a:rPr lang="en-US" sz="2800">
                <a:solidFill>
                  <a:srgbClr val="333333"/>
                </a:solidFill>
                <a:latin typeface="Monaco"/>
              </a:rPr>
              <a:t>(</a:t>
            </a:r>
            <a:r>
              <a:rPr lang="en-US" sz="2800">
                <a:solidFill>
                  <a:srgbClr val="002D7A"/>
                </a:solidFill>
                <a:latin typeface="Monaco"/>
              </a:rPr>
              <a:t>text</a:t>
            </a:r>
            <a:r>
              <a:rPr lang="en-US" sz="2800">
                <a:solidFill>
                  <a:srgbClr val="333333"/>
                </a:solidFill>
                <a:latin typeface="Monaco"/>
              </a:rPr>
              <a:t>)</a:t>
            </a:r>
            <a:endParaRPr lang="en-US" sz="2800"/>
          </a:p>
        </p:txBody>
      </p:sp>
      <p:sp>
        <p:nvSpPr>
          <p:cNvPr id="8" name="Rectangle 7">
            <a:extLst>
              <a:ext uri="{FF2B5EF4-FFF2-40B4-BE49-F238E27FC236}">
                <a16:creationId xmlns:a16="http://schemas.microsoft.com/office/drawing/2014/main" id="{E036FE13-D1A6-4A65-AC68-528AE3E84EA2}"/>
              </a:ext>
            </a:extLst>
          </p:cNvPr>
          <p:cNvSpPr/>
          <p:nvPr/>
        </p:nvSpPr>
        <p:spPr>
          <a:xfrm>
            <a:off x="-1" y="4600883"/>
            <a:ext cx="9134375" cy="830997"/>
          </a:xfrm>
          <a:prstGeom prst="rect">
            <a:avLst/>
          </a:prstGeom>
        </p:spPr>
        <p:txBody>
          <a:bodyPr wrap="square">
            <a:spAutoFit/>
          </a:bodyPr>
          <a:lstStyle/>
          <a:p>
            <a:r>
              <a:rPr lang="en-US" sz="2400">
                <a:solidFill>
                  <a:srgbClr val="3A3A3A"/>
                </a:solidFill>
              </a:rPr>
              <a:t>V</a:t>
            </a:r>
            <a:r>
              <a:rPr lang="vi-VN" sz="2400">
                <a:solidFill>
                  <a:srgbClr val="3A3A3A"/>
                </a:solidFill>
              </a:rPr>
              <a:t>ăn bản </a:t>
            </a:r>
            <a:r>
              <a:rPr lang="en-US" sz="2400">
                <a:solidFill>
                  <a:srgbClr val="3A3A3A"/>
                </a:solidFill>
              </a:rPr>
              <a:t>cụ thể </a:t>
            </a:r>
            <a:r>
              <a:rPr lang="vi-VN" sz="2400">
                <a:solidFill>
                  <a:srgbClr val="3A3A3A"/>
                </a:solidFill>
              </a:rPr>
              <a:t>sẽ được hiển thị trong </a:t>
            </a:r>
            <a:r>
              <a:rPr lang="en-US" sz="2400">
                <a:solidFill>
                  <a:srgbClr val="3A3A3A"/>
                </a:solidFill>
              </a:rPr>
              <a:t>widget </a:t>
            </a:r>
            <a:r>
              <a:rPr lang="vi-VN" sz="2400">
                <a:solidFill>
                  <a:srgbClr val="3A3A3A"/>
                </a:solidFill>
              </a:rPr>
              <a:t>khi không có văn bản nào được tải. Tiêu đề của tài liệu có thể </a:t>
            </a:r>
            <a:r>
              <a:rPr lang="en-US" sz="2400">
                <a:solidFill>
                  <a:srgbClr val="3A3A3A"/>
                </a:solidFill>
              </a:rPr>
              <a:t>thiết lập nh</a:t>
            </a:r>
            <a:r>
              <a:rPr lang="vi-VN" sz="2400">
                <a:solidFill>
                  <a:srgbClr val="3A3A3A"/>
                </a:solidFill>
              </a:rPr>
              <a:t>ư</a:t>
            </a:r>
            <a:r>
              <a:rPr lang="en-US" sz="2400">
                <a:solidFill>
                  <a:srgbClr val="3A3A3A"/>
                </a:solidFill>
              </a:rPr>
              <a:t> sau</a:t>
            </a:r>
            <a:r>
              <a:rPr lang="vi-VN" sz="2400">
                <a:solidFill>
                  <a:srgbClr val="3A3A3A"/>
                </a:solidFill>
              </a:rPr>
              <a:t>:</a:t>
            </a:r>
            <a:r>
              <a:rPr lang="en-US" sz="2400">
                <a:solidFill>
                  <a:srgbClr val="3A3A3A"/>
                </a:solidFill>
              </a:rPr>
              <a:t> </a:t>
            </a:r>
            <a:endParaRPr lang="en-US" sz="2400"/>
          </a:p>
        </p:txBody>
      </p:sp>
      <p:sp>
        <p:nvSpPr>
          <p:cNvPr id="9" name="Rectangle 8">
            <a:extLst>
              <a:ext uri="{FF2B5EF4-FFF2-40B4-BE49-F238E27FC236}">
                <a16:creationId xmlns:a16="http://schemas.microsoft.com/office/drawing/2014/main" id="{01FDAA89-1E88-4A15-99AC-5AC1A81545A0}"/>
              </a:ext>
            </a:extLst>
          </p:cNvPr>
          <p:cNvSpPr/>
          <p:nvPr/>
        </p:nvSpPr>
        <p:spPr>
          <a:xfrm>
            <a:off x="1820224" y="5564313"/>
            <a:ext cx="5513176" cy="523220"/>
          </a:xfrm>
          <a:prstGeom prst="rect">
            <a:avLst/>
          </a:prstGeom>
          <a:solidFill>
            <a:schemeClr val="accent3">
              <a:lumMod val="20000"/>
              <a:lumOff val="80000"/>
            </a:schemeClr>
          </a:solidFill>
        </p:spPr>
        <p:txBody>
          <a:bodyPr wrap="none">
            <a:spAutoFit/>
          </a:bodyPr>
          <a:lstStyle/>
          <a:p>
            <a:r>
              <a:rPr lang="en-US" sz="2800">
                <a:solidFill>
                  <a:srgbClr val="002D7A"/>
                </a:solidFill>
                <a:latin typeface="Monaco"/>
              </a:rPr>
              <a:t>plaintextedit</a:t>
            </a:r>
            <a:r>
              <a:rPr lang="en-US" sz="2800">
                <a:solidFill>
                  <a:srgbClr val="333333"/>
                </a:solidFill>
                <a:latin typeface="Monaco"/>
              </a:rPr>
              <a:t>.</a:t>
            </a:r>
            <a:r>
              <a:rPr lang="en-US" sz="2800">
                <a:solidFill>
                  <a:srgbClr val="004ED0"/>
                </a:solidFill>
                <a:latin typeface="Monaco"/>
              </a:rPr>
              <a:t>setDocumentTitle</a:t>
            </a:r>
            <a:r>
              <a:rPr lang="en-US" sz="2800">
                <a:solidFill>
                  <a:srgbClr val="333333"/>
                </a:solidFill>
                <a:latin typeface="Monaco"/>
              </a:rPr>
              <a:t>(</a:t>
            </a:r>
            <a:r>
              <a:rPr lang="en-US" sz="2800">
                <a:solidFill>
                  <a:srgbClr val="002D7A"/>
                </a:solidFill>
                <a:latin typeface="Monaco"/>
              </a:rPr>
              <a:t>title</a:t>
            </a:r>
            <a:r>
              <a:rPr lang="en-US" sz="2800">
                <a:solidFill>
                  <a:srgbClr val="333333"/>
                </a:solidFill>
                <a:latin typeface="Monaco"/>
              </a:rPr>
              <a:t>)</a:t>
            </a:r>
            <a:endParaRPr lang="en-US" sz="2800"/>
          </a:p>
        </p:txBody>
      </p:sp>
    </p:spTree>
    <p:extLst>
      <p:ext uri="{BB962C8B-B14F-4D97-AF65-F5344CB8AC3E}">
        <p14:creationId xmlns:p14="http://schemas.microsoft.com/office/powerpoint/2010/main" val="36821252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194FFA-FB7D-49EF-A4A2-5C4594CBF12B}"/>
              </a:ext>
            </a:extLst>
          </p:cNvPr>
          <p:cNvSpPr>
            <a:spLocks noGrp="1"/>
          </p:cNvSpPr>
          <p:nvPr>
            <p:ph type="title"/>
          </p:nvPr>
        </p:nvSpPr>
        <p:spPr>
          <a:xfrm>
            <a:off x="9624" y="19250"/>
            <a:ext cx="9134375" cy="751217"/>
          </a:xfrm>
        </p:spPr>
        <p:txBody>
          <a:bodyPr>
            <a:normAutofit/>
          </a:bodyPr>
          <a:lstStyle/>
          <a:p>
            <a:r>
              <a:rPr lang="en-US"/>
              <a:t>Ví dụ QPlainTextEdit trong PyQt5 (t.t)</a:t>
            </a:r>
          </a:p>
        </p:txBody>
      </p:sp>
      <p:pic>
        <p:nvPicPr>
          <p:cNvPr id="6146" name="Picture 2" descr="QPlainText Chá»nh sá»­a">
            <a:extLst>
              <a:ext uri="{FF2B5EF4-FFF2-40B4-BE49-F238E27FC236}">
                <a16:creationId xmlns:a16="http://schemas.microsoft.com/office/drawing/2014/main" id="{AEC3C6F3-1BE9-4E69-8102-A3895C96524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3360" y="808446"/>
            <a:ext cx="8657439" cy="5888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46245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1A9B0-DB7C-4009-A46A-1CA73ECC215F}"/>
              </a:ext>
            </a:extLst>
          </p:cNvPr>
          <p:cNvSpPr>
            <a:spLocks noGrp="1"/>
          </p:cNvSpPr>
          <p:nvPr>
            <p:ph type="title"/>
          </p:nvPr>
        </p:nvSpPr>
        <p:spPr>
          <a:xfrm>
            <a:off x="9624" y="19250"/>
            <a:ext cx="9134375" cy="852817"/>
          </a:xfrm>
        </p:spPr>
        <p:txBody>
          <a:bodyPr>
            <a:normAutofit/>
          </a:bodyPr>
          <a:lstStyle/>
          <a:p>
            <a:r>
              <a:rPr lang="vi-VN"/>
              <a:t>T</a:t>
            </a:r>
            <a:r>
              <a:rPr lang="en-US"/>
              <a:t>ạo Wizard Page </a:t>
            </a:r>
            <a:r>
              <a:rPr lang="vi-VN"/>
              <a:t>với QWizard</a:t>
            </a:r>
            <a:endParaRPr lang="en-US"/>
          </a:p>
        </p:txBody>
      </p:sp>
      <p:sp>
        <p:nvSpPr>
          <p:cNvPr id="3" name="Content Placeholder 2">
            <a:extLst>
              <a:ext uri="{FF2B5EF4-FFF2-40B4-BE49-F238E27FC236}">
                <a16:creationId xmlns:a16="http://schemas.microsoft.com/office/drawing/2014/main" id="{5FEFB932-015D-4F2B-B6EC-F6F93A5E13D3}"/>
              </a:ext>
            </a:extLst>
          </p:cNvPr>
          <p:cNvSpPr>
            <a:spLocks noGrp="1"/>
          </p:cNvSpPr>
          <p:nvPr>
            <p:ph idx="1"/>
          </p:nvPr>
        </p:nvSpPr>
        <p:spPr>
          <a:xfrm>
            <a:off x="9624" y="872068"/>
            <a:ext cx="9134375" cy="5966682"/>
          </a:xfrm>
        </p:spPr>
        <p:txBody>
          <a:bodyPr/>
          <a:lstStyle/>
          <a:p>
            <a:pPr marL="0" indent="0">
              <a:buNone/>
            </a:pPr>
            <a:r>
              <a:rPr lang="en-US"/>
              <a:t>T</a:t>
            </a:r>
            <a:r>
              <a:rPr lang="vi-VN"/>
              <a:t>rong GUI PyQt5, QWizard là một tiện ích trợ giúp cho phép hiển thị thông tin được phân trang mà người dùng có thể tiến hành. Chúng thường được sử dụng để thiết lập các chương trình mới. hoặc xây dựng thông tin trước khi hành động.</a:t>
            </a:r>
          </a:p>
          <a:p>
            <a:endParaRPr lang="en-US"/>
          </a:p>
        </p:txBody>
      </p:sp>
      <p:graphicFrame>
        <p:nvGraphicFramePr>
          <p:cNvPr id="4" name="Table 3">
            <a:extLst>
              <a:ext uri="{FF2B5EF4-FFF2-40B4-BE49-F238E27FC236}">
                <a16:creationId xmlns:a16="http://schemas.microsoft.com/office/drawing/2014/main" id="{3C1C9A8C-CB49-4687-BE38-EC26C1DCCA79}"/>
              </a:ext>
            </a:extLst>
          </p:cNvPr>
          <p:cNvGraphicFramePr>
            <a:graphicFrameLocks noGrp="1"/>
          </p:cNvGraphicFramePr>
          <p:nvPr>
            <p:extLst>
              <p:ext uri="{D42A27DB-BD31-4B8C-83A1-F6EECF244321}">
                <p14:modId xmlns:p14="http://schemas.microsoft.com/office/powerpoint/2010/main" val="3308545463"/>
              </p:ext>
            </p:extLst>
          </p:nvPr>
        </p:nvGraphicFramePr>
        <p:xfrm>
          <a:off x="0" y="4149111"/>
          <a:ext cx="9124752" cy="1554480"/>
        </p:xfrm>
        <a:graphic>
          <a:graphicData uri="http://schemas.openxmlformats.org/drawingml/2006/table">
            <a:tbl>
              <a:tblPr/>
              <a:tblGrid>
                <a:gridCol w="696600">
                  <a:extLst>
                    <a:ext uri="{9D8B030D-6E8A-4147-A177-3AD203B41FA5}">
                      <a16:colId xmlns:a16="http://schemas.microsoft.com/office/drawing/2014/main" val="3272970575"/>
                    </a:ext>
                  </a:extLst>
                </a:gridCol>
                <a:gridCol w="8428152">
                  <a:extLst>
                    <a:ext uri="{9D8B030D-6E8A-4147-A177-3AD203B41FA5}">
                      <a16:colId xmlns:a16="http://schemas.microsoft.com/office/drawing/2014/main" val="519466022"/>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QWidget</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QWizard</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QVBoxLayout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QPushButton</a:t>
                      </a:r>
                      <a:endParaRPr lang="en-US" sz="2400" b="0">
                        <a:solidFill>
                          <a:srgbClr val="000000"/>
                        </a:solidFill>
                        <a:effectLst/>
                        <a:latin typeface="inherit"/>
                      </a:endParaRPr>
                    </a:p>
                    <a:p>
                      <a:pPr algn="l" fontAlgn="t"/>
                      <a:r>
                        <a:rPr lang="en-US" sz="2400" b="0">
                          <a:solidFill>
                            <a:srgbClr val="004ED0"/>
                          </a:solidFill>
                          <a:effectLst/>
                          <a:latin typeface="inherit"/>
                        </a:rPr>
                        <a:t>import </a:t>
                      </a:r>
                      <a:r>
                        <a:rPr lang="en-US" sz="2400" b="0">
                          <a:solidFill>
                            <a:srgbClr val="002D7A"/>
                          </a:solidFill>
                          <a:effectLst/>
                          <a:latin typeface="inherit"/>
                        </a:rPr>
                        <a:t>sys</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826188919"/>
                  </a:ext>
                </a:extLst>
              </a:tr>
            </a:tbl>
          </a:graphicData>
        </a:graphic>
      </p:graphicFrame>
    </p:spTree>
    <p:extLst>
      <p:ext uri="{BB962C8B-B14F-4D97-AF65-F5344CB8AC3E}">
        <p14:creationId xmlns:p14="http://schemas.microsoft.com/office/powerpoint/2010/main" val="33042997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93A78E-B1B8-45FA-A77A-32FE2F77593E}"/>
              </a:ext>
            </a:extLst>
          </p:cNvPr>
          <p:cNvSpPr>
            <a:spLocks noGrp="1"/>
          </p:cNvSpPr>
          <p:nvPr>
            <p:ph idx="1"/>
          </p:nvPr>
        </p:nvSpPr>
        <p:spPr>
          <a:xfrm>
            <a:off x="9624" y="872067"/>
            <a:ext cx="9134375" cy="5966683"/>
          </a:xfrm>
        </p:spPr>
        <p:txBody>
          <a:bodyPr>
            <a:normAutofit/>
          </a:bodyPr>
          <a:lstStyle/>
          <a:p>
            <a:pPr marL="0" indent="0">
              <a:buNone/>
            </a:pPr>
            <a:r>
              <a:rPr lang="vi-VN" sz="3200"/>
              <a:t>Sau đó, chúng ta sẽ tạo lớp Window và trong hàm tạo của lớp đó, chúng ta cần thêm một số yêu cầu cho Window, như tiêu đề, </a:t>
            </a:r>
            <a:r>
              <a:rPr lang="en-US" sz="3200"/>
              <a:t>vị trí </a:t>
            </a:r>
            <a:r>
              <a:rPr lang="vi-VN" sz="3200"/>
              <a:t>và biểu tượng, chúng ta cũng tạo phương thức initWindow () để thiết lập WindowIcon và WindowTitle, chúng ta cũng tạo</a:t>
            </a:r>
            <a:r>
              <a:rPr lang="en-US" sz="3200"/>
              <a:t> </a:t>
            </a:r>
            <a:r>
              <a:rPr lang="vi-VN" sz="3200"/>
              <a:t>QVBoxLayout</a:t>
            </a:r>
            <a:r>
              <a:rPr lang="en-US" sz="3200"/>
              <a:t> </a:t>
            </a:r>
            <a:r>
              <a:rPr lang="vi-VN" sz="3200"/>
              <a:t>với</a:t>
            </a:r>
            <a:r>
              <a:rPr lang="en-US" sz="3200"/>
              <a:t> </a:t>
            </a:r>
            <a:r>
              <a:rPr lang="vi-VN" sz="3200"/>
              <a:t>QPushButton,</a:t>
            </a:r>
            <a:r>
              <a:rPr lang="en-US" sz="3200"/>
              <a:t> </a:t>
            </a:r>
            <a:r>
              <a:rPr lang="vi-VN" sz="3200"/>
              <a:t>sau khi tạo QPushButton, chúng ta sẽ tạo đối tượng QWizard và trong phương thức </a:t>
            </a:r>
            <a:r>
              <a:rPr lang="en-US" sz="3200"/>
              <a:t>btn_clicked</a:t>
            </a:r>
            <a:r>
              <a:rPr lang="vi-VN" sz="3200"/>
              <a:t>() hoặc </a:t>
            </a:r>
            <a:r>
              <a:rPr lang="en-US" sz="3200"/>
              <a:t>slot </a:t>
            </a:r>
            <a:r>
              <a:rPr lang="vi-VN" sz="3200"/>
              <a:t>chúng ta mở QWizard.</a:t>
            </a:r>
            <a:endParaRPr lang="en-US" sz="3200"/>
          </a:p>
        </p:txBody>
      </p:sp>
      <p:sp>
        <p:nvSpPr>
          <p:cNvPr id="4" name="Title 1">
            <a:extLst>
              <a:ext uri="{FF2B5EF4-FFF2-40B4-BE49-F238E27FC236}">
                <a16:creationId xmlns:a16="http://schemas.microsoft.com/office/drawing/2014/main" id="{1A8D373A-C005-4552-84D4-607D6B521B20}"/>
              </a:ext>
            </a:extLst>
          </p:cNvPr>
          <p:cNvSpPr>
            <a:spLocks noGrp="1"/>
          </p:cNvSpPr>
          <p:nvPr>
            <p:ph type="title"/>
          </p:nvPr>
        </p:nvSpPr>
        <p:spPr>
          <a:xfrm>
            <a:off x="9624" y="19250"/>
            <a:ext cx="9134375" cy="852817"/>
          </a:xfrm>
        </p:spPr>
        <p:txBody>
          <a:bodyPr>
            <a:normAutofit/>
          </a:bodyPr>
          <a:lstStyle/>
          <a:p>
            <a:r>
              <a:rPr lang="vi-VN"/>
              <a:t>T</a:t>
            </a:r>
            <a:r>
              <a:rPr lang="en-US"/>
              <a:t>ạo Wizard Page </a:t>
            </a:r>
            <a:r>
              <a:rPr lang="vi-VN"/>
              <a:t>với QWizard</a:t>
            </a:r>
            <a:r>
              <a:rPr lang="en-US"/>
              <a:t> (t.t)</a:t>
            </a:r>
          </a:p>
        </p:txBody>
      </p:sp>
    </p:spTree>
    <p:extLst>
      <p:ext uri="{BB962C8B-B14F-4D97-AF65-F5344CB8AC3E}">
        <p14:creationId xmlns:p14="http://schemas.microsoft.com/office/powerpoint/2010/main" val="53142152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9A80D70-B2E9-4B88-8C43-BE7D18FD624E}"/>
              </a:ext>
            </a:extLst>
          </p:cNvPr>
          <p:cNvSpPr>
            <a:spLocks noGrp="1"/>
          </p:cNvSpPr>
          <p:nvPr>
            <p:ph type="title"/>
          </p:nvPr>
        </p:nvSpPr>
        <p:spPr>
          <a:xfrm>
            <a:off x="9624" y="19250"/>
            <a:ext cx="9134375" cy="716173"/>
          </a:xfrm>
        </p:spPr>
        <p:txBody>
          <a:bodyPr>
            <a:normAutofit/>
          </a:bodyPr>
          <a:lstStyle/>
          <a:p>
            <a:r>
              <a:rPr lang="vi-VN"/>
              <a:t>T</a:t>
            </a:r>
            <a:r>
              <a:rPr lang="en-US"/>
              <a:t>ạo Wizard Page </a:t>
            </a:r>
            <a:r>
              <a:rPr lang="vi-VN"/>
              <a:t>với QWizard</a:t>
            </a:r>
            <a:r>
              <a:rPr lang="en-US"/>
              <a:t> (t.t)</a:t>
            </a:r>
          </a:p>
        </p:txBody>
      </p:sp>
      <p:sp>
        <p:nvSpPr>
          <p:cNvPr id="5" name="Rectangle 4">
            <a:extLst>
              <a:ext uri="{FF2B5EF4-FFF2-40B4-BE49-F238E27FC236}">
                <a16:creationId xmlns:a16="http://schemas.microsoft.com/office/drawing/2014/main" id="{2D30E0C7-EB3F-4308-BDB5-35E339B4BD0D}"/>
              </a:ext>
            </a:extLst>
          </p:cNvPr>
          <p:cNvSpPr/>
          <p:nvPr/>
        </p:nvSpPr>
        <p:spPr>
          <a:xfrm>
            <a:off x="19248" y="701555"/>
            <a:ext cx="9124752" cy="6307817"/>
          </a:xfrm>
          <a:prstGeom prst="rect">
            <a:avLst/>
          </a:prstGeom>
        </p:spPr>
        <p:txBody>
          <a:bodyPr wrap="square">
            <a:spAutoFit/>
          </a:bodyPr>
          <a:lstStyle/>
          <a:p>
            <a:pPr>
              <a:lnSpc>
                <a:spcPct val="85000"/>
              </a:lnSpc>
            </a:pPr>
            <a:r>
              <a:rPr lang="en-US" sz="1900">
                <a:solidFill>
                  <a:srgbClr val="800080"/>
                </a:solidFill>
                <a:latin typeface="inherit"/>
              </a:rPr>
              <a:t>class</a:t>
            </a:r>
            <a:r>
              <a:rPr lang="en-US" sz="1900">
                <a:solidFill>
                  <a:srgbClr val="006FE0"/>
                </a:solidFill>
                <a:latin typeface="inherit"/>
              </a:rPr>
              <a:t> </a:t>
            </a:r>
            <a:r>
              <a:rPr lang="en-US" sz="1900">
                <a:solidFill>
                  <a:srgbClr val="004ED0"/>
                </a:solidFill>
                <a:latin typeface="inherit"/>
              </a:rPr>
              <a:t>Window</a:t>
            </a:r>
            <a:r>
              <a:rPr lang="en-US" sz="1900">
                <a:solidFill>
                  <a:srgbClr val="333333"/>
                </a:solidFill>
                <a:latin typeface="inherit"/>
              </a:rPr>
              <a:t>(</a:t>
            </a:r>
            <a:r>
              <a:rPr lang="en-US" sz="1900">
                <a:solidFill>
                  <a:srgbClr val="002D7A"/>
                </a:solidFill>
                <a:latin typeface="inherit"/>
              </a:rPr>
              <a:t>QWidget</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004ED0"/>
                </a:solidFill>
                <a:latin typeface="inherit"/>
              </a:rPr>
              <a:t>def __init__</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super</a:t>
            </a:r>
            <a:r>
              <a:rPr lang="en-US" sz="1900">
                <a:solidFill>
                  <a:srgbClr val="333333"/>
                </a:solidFill>
                <a:latin typeface="inherit"/>
              </a:rPr>
              <a:t>().</a:t>
            </a:r>
            <a:r>
              <a:rPr lang="en-US" sz="1900">
                <a:solidFill>
                  <a:srgbClr val="004ED0"/>
                </a:solidFill>
                <a:latin typeface="inherit"/>
              </a:rPr>
              <a:t>__init__</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title</a:t>
            </a:r>
            <a:r>
              <a:rPr lang="en-US" sz="1900">
                <a:solidFill>
                  <a:srgbClr val="006FE0"/>
                </a:solidFill>
                <a:latin typeface="inherit"/>
              </a:rPr>
              <a:t> = </a:t>
            </a:r>
            <a:r>
              <a:rPr lang="en-US" sz="1900">
                <a:solidFill>
                  <a:srgbClr val="008000"/>
                </a:solidFill>
                <a:latin typeface="inherit"/>
              </a:rPr>
              <a:t>"PyQt5 Wizard"</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top</a:t>
            </a:r>
            <a:r>
              <a:rPr lang="en-US" sz="1900">
                <a:solidFill>
                  <a:srgbClr val="006FE0"/>
                </a:solidFill>
                <a:latin typeface="inherit"/>
              </a:rPr>
              <a:t> = </a:t>
            </a:r>
            <a:r>
              <a:rPr lang="en-US" sz="1900">
                <a:solidFill>
                  <a:srgbClr val="CE0000"/>
                </a:solidFill>
                <a:latin typeface="inherit"/>
              </a:rPr>
              <a:t>200</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left</a:t>
            </a:r>
            <a:r>
              <a:rPr lang="en-US" sz="1900">
                <a:solidFill>
                  <a:srgbClr val="006FE0"/>
                </a:solidFill>
                <a:latin typeface="inherit"/>
              </a:rPr>
              <a:t> = </a:t>
            </a:r>
            <a:r>
              <a:rPr lang="en-US" sz="1900">
                <a:solidFill>
                  <a:srgbClr val="CE0000"/>
                </a:solidFill>
                <a:latin typeface="inherit"/>
              </a:rPr>
              <a:t>500</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width</a:t>
            </a:r>
            <a:r>
              <a:rPr lang="en-US" sz="1900">
                <a:solidFill>
                  <a:srgbClr val="006FE0"/>
                </a:solidFill>
                <a:latin typeface="inherit"/>
              </a:rPr>
              <a:t> = </a:t>
            </a:r>
            <a:r>
              <a:rPr lang="en-US" sz="1900">
                <a:solidFill>
                  <a:srgbClr val="CE0000"/>
                </a:solidFill>
                <a:latin typeface="inherit"/>
              </a:rPr>
              <a:t>400</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height</a:t>
            </a:r>
            <a:r>
              <a:rPr lang="en-US" sz="1900">
                <a:solidFill>
                  <a:srgbClr val="006FE0"/>
                </a:solidFill>
                <a:latin typeface="inherit"/>
              </a:rPr>
              <a:t> = </a:t>
            </a:r>
            <a:r>
              <a:rPr lang="en-US" sz="1900">
                <a:solidFill>
                  <a:srgbClr val="CE0000"/>
                </a:solidFill>
                <a:latin typeface="inherit"/>
              </a:rPr>
              <a:t>300</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InitWindow</a:t>
            </a:r>
            <a:r>
              <a:rPr lang="en-US" sz="1900">
                <a:solidFill>
                  <a:srgbClr val="333333"/>
                </a:solidFill>
                <a:latin typeface="inherit"/>
              </a:rPr>
              <a:t>()</a:t>
            </a:r>
            <a:endParaRPr lang="en-US" sz="1900">
              <a:solidFill>
                <a:srgbClr val="000000"/>
              </a:solidFill>
              <a:latin typeface="Monaco"/>
            </a:endParaRPr>
          </a:p>
          <a:p>
            <a:pPr>
              <a:lnSpc>
                <a:spcPct val="85000"/>
              </a:lnSpc>
            </a:pPr>
            <a:endParaRPr lang="en-US" sz="1200">
              <a:solidFill>
                <a:srgbClr val="000000"/>
              </a:solidFill>
              <a:latin typeface="Monaco"/>
            </a:endParaRPr>
          </a:p>
          <a:p>
            <a:pPr>
              <a:lnSpc>
                <a:spcPct val="85000"/>
              </a:lnSpc>
            </a:pPr>
            <a:r>
              <a:rPr lang="en-US" sz="1900">
                <a:solidFill>
                  <a:srgbClr val="006FE0"/>
                </a:solidFill>
                <a:latin typeface="inherit"/>
              </a:rPr>
              <a:t>    </a:t>
            </a:r>
            <a:r>
              <a:rPr lang="en-US" sz="1900">
                <a:solidFill>
                  <a:srgbClr val="004ED0"/>
                </a:solidFill>
                <a:latin typeface="inherit"/>
              </a:rPr>
              <a:t>def InitWindow</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setWindowIcon</a:t>
            </a:r>
            <a:r>
              <a:rPr lang="en-US" sz="1900">
                <a:solidFill>
                  <a:srgbClr val="333333"/>
                </a:solidFill>
                <a:latin typeface="inherit"/>
              </a:rPr>
              <a:t>(</a:t>
            </a:r>
            <a:r>
              <a:rPr lang="en-US" sz="1900">
                <a:solidFill>
                  <a:srgbClr val="002D7A"/>
                </a:solidFill>
                <a:latin typeface="inherit"/>
              </a:rPr>
              <a:t>QtGui</a:t>
            </a:r>
            <a:r>
              <a:rPr lang="en-US" sz="1900">
                <a:solidFill>
                  <a:srgbClr val="333333"/>
                </a:solidFill>
                <a:latin typeface="inherit"/>
              </a:rPr>
              <a:t>.</a:t>
            </a:r>
            <a:r>
              <a:rPr lang="en-US" sz="1900">
                <a:solidFill>
                  <a:srgbClr val="004ED0"/>
                </a:solidFill>
                <a:latin typeface="inherit"/>
              </a:rPr>
              <a:t>QIcon</a:t>
            </a:r>
            <a:r>
              <a:rPr lang="en-US" sz="1900">
                <a:solidFill>
                  <a:srgbClr val="333333"/>
                </a:solidFill>
                <a:latin typeface="inherit"/>
              </a:rPr>
              <a:t>(</a:t>
            </a:r>
            <a:r>
              <a:rPr lang="en-US" sz="1900">
                <a:solidFill>
                  <a:srgbClr val="008000"/>
                </a:solidFill>
                <a:latin typeface="inherit"/>
              </a:rPr>
              <a:t>"icon.png"</a:t>
            </a:r>
            <a:r>
              <a:rPr lang="en-US" sz="1900">
                <a:solidFill>
                  <a:srgbClr val="333333"/>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setWindowTitle</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title</a:t>
            </a:r>
            <a:r>
              <a:rPr lang="en-US" sz="1900">
                <a:solidFill>
                  <a:srgbClr val="333333"/>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setGeometry</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left</a:t>
            </a:r>
            <a:r>
              <a:rPr lang="en-US" sz="1900">
                <a:solidFill>
                  <a:srgbClr val="333333"/>
                </a:solidFill>
                <a:latin typeface="inherit"/>
              </a:rPr>
              <a:t>,</a:t>
            </a: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top</a:t>
            </a:r>
            <a:r>
              <a:rPr lang="en-US" sz="1900">
                <a:solidFill>
                  <a:srgbClr val="333333"/>
                </a:solidFill>
                <a:latin typeface="inherit"/>
              </a:rPr>
              <a:t>,</a:t>
            </a: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width</a:t>
            </a:r>
            <a:r>
              <a:rPr lang="en-US" sz="1900">
                <a:solidFill>
                  <a:srgbClr val="333333"/>
                </a:solidFill>
                <a:latin typeface="inherit"/>
              </a:rPr>
              <a:t>,</a:t>
            </a: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height</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002D7A"/>
                </a:solidFill>
                <a:latin typeface="inherit"/>
              </a:rPr>
              <a:t>vbox</a:t>
            </a:r>
            <a:r>
              <a:rPr lang="en-US" sz="1900">
                <a:solidFill>
                  <a:srgbClr val="006FE0"/>
                </a:solidFill>
                <a:latin typeface="inherit"/>
              </a:rPr>
              <a:t>= </a:t>
            </a:r>
            <a:r>
              <a:rPr lang="en-US" sz="1900">
                <a:solidFill>
                  <a:srgbClr val="004ED0"/>
                </a:solidFill>
                <a:latin typeface="inherit"/>
              </a:rPr>
              <a:t>QVBoxLayout</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002D7A"/>
                </a:solidFill>
                <a:latin typeface="inherit"/>
              </a:rPr>
              <a:t>button</a:t>
            </a:r>
            <a:r>
              <a:rPr lang="en-US" sz="1900">
                <a:solidFill>
                  <a:srgbClr val="006FE0"/>
                </a:solidFill>
                <a:latin typeface="inherit"/>
              </a:rPr>
              <a:t> = </a:t>
            </a:r>
            <a:r>
              <a:rPr lang="en-US" sz="1900">
                <a:solidFill>
                  <a:srgbClr val="004ED0"/>
                </a:solidFill>
                <a:latin typeface="inherit"/>
              </a:rPr>
              <a:t>QPushButton</a:t>
            </a:r>
            <a:r>
              <a:rPr lang="en-US" sz="1900">
                <a:solidFill>
                  <a:srgbClr val="333333"/>
                </a:solidFill>
                <a:latin typeface="inherit"/>
              </a:rPr>
              <a:t>(</a:t>
            </a:r>
            <a:r>
              <a:rPr lang="en-US" sz="1900">
                <a:solidFill>
                  <a:srgbClr val="008000"/>
                </a:solidFill>
                <a:latin typeface="inherit"/>
              </a:rPr>
              <a:t>"Launch"</a:t>
            </a:r>
            <a:r>
              <a:rPr lang="en-US" sz="1900">
                <a:solidFill>
                  <a:srgbClr val="333333"/>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002D7A"/>
                </a:solidFill>
                <a:latin typeface="inherit"/>
              </a:rPr>
              <a:t>button</a:t>
            </a:r>
            <a:r>
              <a:rPr lang="en-US" sz="1900">
                <a:solidFill>
                  <a:srgbClr val="333333"/>
                </a:solidFill>
                <a:latin typeface="inherit"/>
              </a:rPr>
              <a:t>.</a:t>
            </a:r>
            <a:r>
              <a:rPr lang="en-US" sz="1900">
                <a:solidFill>
                  <a:srgbClr val="002D7A"/>
                </a:solidFill>
                <a:latin typeface="inherit"/>
              </a:rPr>
              <a:t>clicked</a:t>
            </a:r>
            <a:r>
              <a:rPr lang="en-US" sz="1900">
                <a:solidFill>
                  <a:srgbClr val="333333"/>
                </a:solidFill>
                <a:latin typeface="inherit"/>
              </a:rPr>
              <a:t>.</a:t>
            </a:r>
            <a:r>
              <a:rPr lang="en-US" sz="1900">
                <a:solidFill>
                  <a:srgbClr val="004ED0"/>
                </a:solidFill>
                <a:latin typeface="inherit"/>
              </a:rPr>
              <a:t>connect</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btn_clicked</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002D7A"/>
                </a:solidFill>
                <a:latin typeface="inherit"/>
              </a:rPr>
              <a:t>vbox</a:t>
            </a:r>
            <a:r>
              <a:rPr lang="en-US" sz="1900">
                <a:solidFill>
                  <a:srgbClr val="333333"/>
                </a:solidFill>
                <a:latin typeface="inherit"/>
              </a:rPr>
              <a:t>.</a:t>
            </a:r>
            <a:r>
              <a:rPr lang="en-US" sz="1900">
                <a:solidFill>
                  <a:srgbClr val="004ED0"/>
                </a:solidFill>
                <a:latin typeface="inherit"/>
              </a:rPr>
              <a:t>addWidget</a:t>
            </a:r>
            <a:r>
              <a:rPr lang="en-US" sz="1900">
                <a:solidFill>
                  <a:srgbClr val="333333"/>
                </a:solidFill>
                <a:latin typeface="inherit"/>
              </a:rPr>
              <a:t>(</a:t>
            </a:r>
            <a:r>
              <a:rPr lang="en-US" sz="1900">
                <a:solidFill>
                  <a:srgbClr val="002D7A"/>
                </a:solidFill>
                <a:latin typeface="inherit"/>
              </a:rPr>
              <a:t>button</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setLayout</a:t>
            </a:r>
            <a:r>
              <a:rPr lang="en-US" sz="1900">
                <a:solidFill>
                  <a:srgbClr val="333333"/>
                </a:solidFill>
                <a:latin typeface="inherit"/>
              </a:rPr>
              <a:t>(</a:t>
            </a:r>
            <a:r>
              <a:rPr lang="en-US" sz="1900">
                <a:solidFill>
                  <a:srgbClr val="002D7A"/>
                </a:solidFill>
                <a:latin typeface="inherit"/>
              </a:rPr>
              <a:t>vbox</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wizard</a:t>
            </a:r>
            <a:r>
              <a:rPr lang="en-US" sz="1900">
                <a:solidFill>
                  <a:srgbClr val="006FE0"/>
                </a:solidFill>
                <a:latin typeface="inherit"/>
              </a:rPr>
              <a:t> = </a:t>
            </a:r>
            <a:r>
              <a:rPr lang="en-US" sz="1900">
                <a:solidFill>
                  <a:srgbClr val="004ED0"/>
                </a:solidFill>
                <a:latin typeface="inherit"/>
              </a:rPr>
              <a:t>QWizard</a:t>
            </a:r>
            <a:r>
              <a:rPr lang="en-US" sz="1900">
                <a:solidFill>
                  <a:srgbClr val="333333"/>
                </a:solidFill>
                <a:latin typeface="inherit"/>
              </a:rPr>
              <a:t>()</a:t>
            </a:r>
            <a:endParaRPr lang="en-US" sz="1900">
              <a:solidFill>
                <a:srgbClr val="000000"/>
              </a:solidFill>
              <a:latin typeface="Monaco"/>
            </a:endParaRP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wizard</a:t>
            </a:r>
            <a:r>
              <a:rPr lang="en-US" sz="1900">
                <a:solidFill>
                  <a:srgbClr val="333333"/>
                </a:solidFill>
                <a:latin typeface="inherit"/>
              </a:rPr>
              <a:t>.</a:t>
            </a:r>
            <a:r>
              <a:rPr lang="en-US" sz="1900">
                <a:solidFill>
                  <a:srgbClr val="004ED0"/>
                </a:solidFill>
                <a:latin typeface="inherit"/>
              </a:rPr>
              <a:t>setWindowTitle</a:t>
            </a:r>
            <a:r>
              <a:rPr lang="en-US" sz="1900">
                <a:solidFill>
                  <a:srgbClr val="333333"/>
                </a:solidFill>
                <a:latin typeface="inherit"/>
              </a:rPr>
              <a:t>(</a:t>
            </a:r>
            <a:r>
              <a:rPr lang="en-US" sz="1900">
                <a:solidFill>
                  <a:srgbClr val="008000"/>
                </a:solidFill>
                <a:latin typeface="inherit"/>
              </a:rPr>
              <a:t>"Launcher Page"</a:t>
            </a:r>
            <a:r>
              <a:rPr lang="en-US" sz="1900">
                <a:solidFill>
                  <a:srgbClr val="333333"/>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4ED0"/>
                </a:solidFill>
                <a:latin typeface="inherit"/>
              </a:rPr>
              <a:t>show</a:t>
            </a:r>
            <a:r>
              <a:rPr lang="en-US" sz="1900">
                <a:solidFill>
                  <a:srgbClr val="333333"/>
                </a:solidFill>
                <a:latin typeface="inherit"/>
              </a:rPr>
              <a:t>()</a:t>
            </a:r>
            <a:r>
              <a:rPr lang="en-US" sz="1900">
                <a:solidFill>
                  <a:srgbClr val="000000"/>
                </a:solidFill>
                <a:latin typeface="Monaco"/>
              </a:rPr>
              <a:t>  </a:t>
            </a:r>
          </a:p>
          <a:p>
            <a:pPr>
              <a:lnSpc>
                <a:spcPct val="85000"/>
              </a:lnSpc>
            </a:pPr>
            <a:r>
              <a:rPr lang="en-US" sz="1600">
                <a:solidFill>
                  <a:srgbClr val="000000"/>
                </a:solidFill>
                <a:latin typeface="Monaco"/>
              </a:rPr>
              <a:t> </a:t>
            </a:r>
          </a:p>
          <a:p>
            <a:pPr>
              <a:lnSpc>
                <a:spcPct val="85000"/>
              </a:lnSpc>
            </a:pPr>
            <a:r>
              <a:rPr lang="en-US" sz="1900">
                <a:solidFill>
                  <a:srgbClr val="006FE0"/>
                </a:solidFill>
                <a:latin typeface="inherit"/>
              </a:rPr>
              <a:t>    </a:t>
            </a:r>
            <a:r>
              <a:rPr lang="en-US" sz="1900">
                <a:solidFill>
                  <a:srgbClr val="004ED0"/>
                </a:solidFill>
                <a:latin typeface="inherit"/>
              </a:rPr>
              <a:t>def btn_clicked</a:t>
            </a:r>
            <a:r>
              <a:rPr lang="en-US" sz="1900">
                <a:solidFill>
                  <a:srgbClr val="333333"/>
                </a:solidFill>
                <a:latin typeface="inherit"/>
              </a:rPr>
              <a:t>(</a:t>
            </a:r>
            <a:r>
              <a:rPr lang="en-US" sz="1900">
                <a:solidFill>
                  <a:srgbClr val="800080"/>
                </a:solidFill>
                <a:latin typeface="inherit"/>
              </a:rPr>
              <a:t>self</a:t>
            </a:r>
            <a:r>
              <a:rPr lang="en-US" sz="1900">
                <a:solidFill>
                  <a:srgbClr val="333333"/>
                </a:solidFill>
                <a:latin typeface="inherit"/>
              </a:rPr>
              <a:t>)</a:t>
            </a:r>
            <a:r>
              <a:rPr lang="en-US" sz="1900">
                <a:solidFill>
                  <a:srgbClr val="006FE0"/>
                </a:solidFill>
                <a:latin typeface="inherit"/>
              </a:rPr>
              <a:t>:</a:t>
            </a:r>
            <a:r>
              <a:rPr lang="en-US" sz="1900">
                <a:solidFill>
                  <a:srgbClr val="000000"/>
                </a:solidFill>
                <a:latin typeface="Monaco"/>
              </a:rPr>
              <a:t> </a:t>
            </a:r>
          </a:p>
          <a:p>
            <a:pPr>
              <a:lnSpc>
                <a:spcPct val="85000"/>
              </a:lnSpc>
            </a:pPr>
            <a:r>
              <a:rPr lang="en-US" sz="1900">
                <a:solidFill>
                  <a:srgbClr val="006FE0"/>
                </a:solidFill>
                <a:latin typeface="inherit"/>
              </a:rPr>
              <a:t>        </a:t>
            </a:r>
            <a:r>
              <a:rPr lang="en-US" sz="1900">
                <a:solidFill>
                  <a:srgbClr val="800080"/>
                </a:solidFill>
                <a:latin typeface="inherit"/>
              </a:rPr>
              <a:t>self</a:t>
            </a:r>
            <a:r>
              <a:rPr lang="en-US" sz="1900">
                <a:solidFill>
                  <a:srgbClr val="333333"/>
                </a:solidFill>
                <a:latin typeface="inherit"/>
              </a:rPr>
              <a:t>.</a:t>
            </a:r>
            <a:r>
              <a:rPr lang="en-US" sz="1900">
                <a:solidFill>
                  <a:srgbClr val="002D7A"/>
                </a:solidFill>
                <a:latin typeface="inherit"/>
              </a:rPr>
              <a:t>wizard</a:t>
            </a:r>
            <a:r>
              <a:rPr lang="en-US" sz="1900">
                <a:solidFill>
                  <a:srgbClr val="333333"/>
                </a:solidFill>
                <a:latin typeface="inherit"/>
              </a:rPr>
              <a:t>.</a:t>
            </a:r>
            <a:r>
              <a:rPr lang="en-US" sz="1900">
                <a:solidFill>
                  <a:srgbClr val="004ED0"/>
                </a:solidFill>
                <a:latin typeface="inherit"/>
              </a:rPr>
              <a:t>open</a:t>
            </a:r>
            <a:r>
              <a:rPr lang="en-US" sz="1900">
                <a:solidFill>
                  <a:srgbClr val="333333"/>
                </a:solidFill>
                <a:latin typeface="inherit"/>
              </a:rPr>
              <a:t>()</a:t>
            </a:r>
            <a:endParaRPr lang="en-US" sz="1900" b="0" i="0">
              <a:solidFill>
                <a:srgbClr val="000000"/>
              </a:solidFill>
              <a:effectLst/>
              <a:latin typeface="Monaco"/>
            </a:endParaRPr>
          </a:p>
        </p:txBody>
      </p:sp>
      <p:sp>
        <p:nvSpPr>
          <p:cNvPr id="6" name="Rectangle 5">
            <a:extLst>
              <a:ext uri="{FF2B5EF4-FFF2-40B4-BE49-F238E27FC236}">
                <a16:creationId xmlns:a16="http://schemas.microsoft.com/office/drawing/2014/main" id="{9DE32A1B-7706-4D21-BF31-D32A21D48337}"/>
              </a:ext>
            </a:extLst>
          </p:cNvPr>
          <p:cNvSpPr/>
          <p:nvPr/>
        </p:nvSpPr>
        <p:spPr>
          <a:xfrm>
            <a:off x="4411134" y="887568"/>
            <a:ext cx="4572000" cy="369332"/>
          </a:xfrm>
          <a:prstGeom prst="rect">
            <a:avLst/>
          </a:prstGeom>
        </p:spPr>
        <p:txBody>
          <a:bodyPr>
            <a:spAutoFit/>
          </a:bodyPr>
          <a:lstStyle/>
          <a:p>
            <a:r>
              <a:rPr lang="en-US">
                <a:solidFill>
                  <a:srgbClr val="3A3A3A"/>
                </a:solidFill>
                <a:latin typeface="Arial" panose="020B0604020202020204" pitchFamily="34" charset="0"/>
              </a:rPr>
              <a:t>Và đây là vòng lặp sự kiện cho cửa sổ gui</a:t>
            </a:r>
            <a:endParaRPr lang="en-US"/>
          </a:p>
        </p:txBody>
      </p:sp>
      <p:sp>
        <p:nvSpPr>
          <p:cNvPr id="7" name="Rectangle 6">
            <a:extLst>
              <a:ext uri="{FF2B5EF4-FFF2-40B4-BE49-F238E27FC236}">
                <a16:creationId xmlns:a16="http://schemas.microsoft.com/office/drawing/2014/main" id="{2BF426CB-18A3-44DF-9BD1-C8F3905CA40A}"/>
              </a:ext>
            </a:extLst>
          </p:cNvPr>
          <p:cNvSpPr/>
          <p:nvPr/>
        </p:nvSpPr>
        <p:spPr>
          <a:xfrm>
            <a:off x="5516033" y="1256900"/>
            <a:ext cx="3255433" cy="1015663"/>
          </a:xfrm>
          <a:prstGeom prst="rect">
            <a:avLst/>
          </a:prstGeom>
          <a:solidFill>
            <a:schemeClr val="accent4">
              <a:lumMod val="20000"/>
              <a:lumOff val="80000"/>
            </a:schemeClr>
          </a:solidFill>
        </p:spPr>
        <p:txBody>
          <a:bodyPr wrap="square">
            <a:spAutoFit/>
          </a:bodyPr>
          <a:lstStyle/>
          <a:p>
            <a:r>
              <a:rPr lang="en-US" sz="2000">
                <a:solidFill>
                  <a:srgbClr val="002D7A"/>
                </a:solidFill>
                <a:latin typeface="inherit"/>
              </a:rPr>
              <a:t>App</a:t>
            </a:r>
            <a:r>
              <a:rPr lang="en-US" sz="2000">
                <a:solidFill>
                  <a:srgbClr val="006FE0"/>
                </a:solidFill>
                <a:latin typeface="inherit"/>
              </a:rPr>
              <a:t> = </a:t>
            </a:r>
            <a:r>
              <a:rPr lang="en-US" sz="2000">
                <a:solidFill>
                  <a:srgbClr val="004ED0"/>
                </a:solidFill>
                <a:latin typeface="inherit"/>
              </a:rPr>
              <a:t>QApplication</a:t>
            </a:r>
            <a:r>
              <a:rPr lang="en-US" sz="2000">
                <a:solidFill>
                  <a:srgbClr val="333333"/>
                </a:solidFill>
                <a:latin typeface="inherit"/>
              </a:rPr>
              <a:t>(</a:t>
            </a:r>
            <a:r>
              <a:rPr lang="en-US" sz="2000">
                <a:solidFill>
                  <a:srgbClr val="800080"/>
                </a:solidFill>
                <a:latin typeface="inherit"/>
              </a:rPr>
              <a:t>sys</a:t>
            </a:r>
            <a:r>
              <a:rPr lang="en-US" sz="2000">
                <a:solidFill>
                  <a:srgbClr val="333333"/>
                </a:solidFill>
                <a:latin typeface="inherit"/>
              </a:rPr>
              <a:t>.</a:t>
            </a:r>
            <a:r>
              <a:rPr lang="en-US" sz="2000">
                <a:solidFill>
                  <a:srgbClr val="002D7A"/>
                </a:solidFill>
                <a:latin typeface="inherit"/>
              </a:rPr>
              <a:t>argv</a:t>
            </a:r>
            <a:r>
              <a:rPr lang="en-US" sz="2000">
                <a:solidFill>
                  <a:srgbClr val="333333"/>
                </a:solidFill>
                <a:latin typeface="inherit"/>
              </a:rPr>
              <a:t>)</a:t>
            </a:r>
            <a:endParaRPr lang="en-US" sz="2000">
              <a:solidFill>
                <a:srgbClr val="000000"/>
              </a:solidFill>
              <a:latin typeface="Monaco"/>
            </a:endParaRPr>
          </a:p>
          <a:p>
            <a:r>
              <a:rPr lang="en-US" sz="2000">
                <a:solidFill>
                  <a:srgbClr val="002D7A"/>
                </a:solidFill>
                <a:latin typeface="inherit"/>
              </a:rPr>
              <a:t>window</a:t>
            </a:r>
            <a:r>
              <a:rPr lang="en-US" sz="2000">
                <a:solidFill>
                  <a:srgbClr val="006FE0"/>
                </a:solidFill>
                <a:latin typeface="inherit"/>
              </a:rPr>
              <a:t> = </a:t>
            </a:r>
            <a:r>
              <a:rPr lang="en-US" sz="2000">
                <a:solidFill>
                  <a:srgbClr val="004ED0"/>
                </a:solidFill>
                <a:latin typeface="inherit"/>
              </a:rPr>
              <a:t>Window</a:t>
            </a:r>
            <a:r>
              <a:rPr lang="en-US" sz="2000">
                <a:solidFill>
                  <a:srgbClr val="333333"/>
                </a:solidFill>
                <a:latin typeface="inherit"/>
              </a:rPr>
              <a:t>()</a:t>
            </a:r>
            <a:endParaRPr lang="en-US" sz="2000">
              <a:solidFill>
                <a:srgbClr val="000000"/>
              </a:solidFill>
              <a:latin typeface="Monaco"/>
            </a:endParaRPr>
          </a:p>
          <a:p>
            <a:r>
              <a:rPr lang="en-US" sz="2000">
                <a:solidFill>
                  <a:srgbClr val="800080"/>
                </a:solidFill>
                <a:latin typeface="inherit"/>
              </a:rPr>
              <a:t>sys</a:t>
            </a:r>
            <a:r>
              <a:rPr lang="en-US" sz="2000">
                <a:solidFill>
                  <a:srgbClr val="333333"/>
                </a:solidFill>
                <a:latin typeface="inherit"/>
              </a:rPr>
              <a:t>.</a:t>
            </a:r>
            <a:r>
              <a:rPr lang="en-US" sz="2000">
                <a:solidFill>
                  <a:srgbClr val="004ED0"/>
                </a:solidFill>
                <a:latin typeface="inherit"/>
              </a:rPr>
              <a:t>exit</a:t>
            </a:r>
            <a:r>
              <a:rPr lang="en-US" sz="2000">
                <a:solidFill>
                  <a:srgbClr val="333333"/>
                </a:solidFill>
                <a:latin typeface="inherit"/>
              </a:rPr>
              <a:t>(</a:t>
            </a:r>
            <a:r>
              <a:rPr lang="en-US" sz="2000">
                <a:solidFill>
                  <a:srgbClr val="002D7A"/>
                </a:solidFill>
                <a:latin typeface="inherit"/>
              </a:rPr>
              <a:t>App</a:t>
            </a:r>
            <a:r>
              <a:rPr lang="en-US" sz="2000">
                <a:solidFill>
                  <a:srgbClr val="333333"/>
                </a:solidFill>
                <a:latin typeface="inherit"/>
              </a:rPr>
              <a:t>.</a:t>
            </a:r>
            <a:r>
              <a:rPr lang="en-US" sz="2000">
                <a:solidFill>
                  <a:srgbClr val="800080"/>
                </a:solidFill>
                <a:latin typeface="inherit"/>
              </a:rPr>
              <a:t>exec</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30360195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BBF3A1-7531-4078-921F-2E1F343F2283}"/>
              </a:ext>
            </a:extLst>
          </p:cNvPr>
          <p:cNvSpPr>
            <a:spLocks noGrp="1"/>
          </p:cNvSpPr>
          <p:nvPr>
            <p:ph type="title"/>
          </p:nvPr>
        </p:nvSpPr>
        <p:spPr>
          <a:xfrm>
            <a:off x="9624" y="19250"/>
            <a:ext cx="9134375" cy="716173"/>
          </a:xfrm>
        </p:spPr>
        <p:txBody>
          <a:bodyPr>
            <a:normAutofit/>
          </a:bodyPr>
          <a:lstStyle/>
          <a:p>
            <a:r>
              <a:rPr lang="vi-VN"/>
              <a:t>T</a:t>
            </a:r>
            <a:r>
              <a:rPr lang="en-US"/>
              <a:t>ạo Wizard Page </a:t>
            </a:r>
            <a:r>
              <a:rPr lang="vi-VN"/>
              <a:t>với QWizard</a:t>
            </a:r>
            <a:r>
              <a:rPr lang="en-US"/>
              <a:t> (t.t)</a:t>
            </a:r>
          </a:p>
        </p:txBody>
      </p:sp>
      <p:pic>
        <p:nvPicPr>
          <p:cNvPr id="8194" name="Picture 2" descr="PyQt5 QWizard Example">
            <a:extLst>
              <a:ext uri="{FF2B5EF4-FFF2-40B4-BE49-F238E27FC236}">
                <a16:creationId xmlns:a16="http://schemas.microsoft.com/office/drawing/2014/main" id="{929EB640-AC51-4837-AB35-1B0B65F2E32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8887" y="732230"/>
            <a:ext cx="7294645" cy="5951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2955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35CF4-3233-43A7-AC75-D90A82769B6F}"/>
              </a:ext>
            </a:extLst>
          </p:cNvPr>
          <p:cNvSpPr>
            <a:spLocks noGrp="1"/>
          </p:cNvSpPr>
          <p:nvPr>
            <p:ph type="title"/>
          </p:nvPr>
        </p:nvSpPr>
        <p:spPr/>
        <p:txBody>
          <a:bodyPr>
            <a:normAutofit/>
          </a:bodyPr>
          <a:lstStyle/>
          <a:p>
            <a:r>
              <a:rPr lang="en-US"/>
              <a:t>Dùng QFileDialog duyệt tìm hình ảnh</a:t>
            </a:r>
          </a:p>
        </p:txBody>
      </p:sp>
      <p:sp>
        <p:nvSpPr>
          <p:cNvPr id="3" name="Content Placeholder 2">
            <a:extLst>
              <a:ext uri="{FF2B5EF4-FFF2-40B4-BE49-F238E27FC236}">
                <a16:creationId xmlns:a16="http://schemas.microsoft.com/office/drawing/2014/main" id="{7C02CBA9-D336-429C-90D1-86475132F8C9}"/>
              </a:ext>
            </a:extLst>
          </p:cNvPr>
          <p:cNvSpPr>
            <a:spLocks noGrp="1"/>
          </p:cNvSpPr>
          <p:nvPr>
            <p:ph idx="1"/>
          </p:nvPr>
        </p:nvSpPr>
        <p:spPr>
          <a:xfrm>
            <a:off x="9624" y="952903"/>
            <a:ext cx="9134375" cy="1536298"/>
          </a:xfrm>
        </p:spPr>
        <p:txBody>
          <a:bodyPr>
            <a:normAutofit/>
          </a:bodyPr>
          <a:lstStyle/>
          <a:p>
            <a:pPr marL="0" indent="0">
              <a:buNone/>
            </a:pPr>
            <a:r>
              <a:rPr lang="en-US" sz="2400"/>
              <a:t>C</a:t>
            </a:r>
            <a:r>
              <a:rPr lang="vi-VN" sz="2400"/>
              <a:t>húng ta sẽ thực hiện </a:t>
            </a:r>
            <a:r>
              <a:rPr lang="en-US" sz="2400"/>
              <a:t>d</a:t>
            </a:r>
            <a:r>
              <a:rPr lang="vi-VN" sz="2400"/>
              <a:t>uyệt </a:t>
            </a:r>
            <a:r>
              <a:rPr lang="en-US" sz="2400"/>
              <a:t>tìm </a:t>
            </a:r>
            <a:r>
              <a:rPr lang="vi-VN" sz="2400"/>
              <a:t>hình ảnh với</a:t>
            </a:r>
            <a:r>
              <a:rPr lang="en-US" sz="2400"/>
              <a:t> </a:t>
            </a:r>
            <a:r>
              <a:rPr lang="vi-VN" sz="2400"/>
              <a:t>QFileDialog</a:t>
            </a:r>
            <a:r>
              <a:rPr lang="en-US" sz="2400"/>
              <a:t> </a:t>
            </a:r>
            <a:r>
              <a:rPr lang="vi-VN" sz="2400"/>
              <a:t>trong PyQt5</a:t>
            </a:r>
            <a:r>
              <a:rPr lang="en-US" sz="2400"/>
              <a:t>,</a:t>
            </a:r>
            <a:r>
              <a:rPr lang="vi-VN" sz="2400"/>
              <a:t> tất cả </a:t>
            </a:r>
            <a:r>
              <a:rPr lang="en-US" sz="2400"/>
              <a:t>widget </a:t>
            </a:r>
            <a:r>
              <a:rPr lang="vi-VN" sz="2400"/>
              <a:t>FileDialog cung cấp một hộp thoại hữu ích để chọn </a:t>
            </a:r>
            <a:r>
              <a:rPr lang="en-US" sz="2400"/>
              <a:t>tập tin</a:t>
            </a:r>
            <a:r>
              <a:rPr lang="vi-VN" sz="2400"/>
              <a:t>. Chúng thường được sử dụng khi người dùng muốn </a:t>
            </a:r>
            <a:br>
              <a:rPr lang="vi-VN" sz="2400"/>
            </a:br>
            <a:r>
              <a:rPr lang="vi-VN" sz="2400"/>
              <a:t>mở hoặc lưu một </a:t>
            </a:r>
            <a:r>
              <a:rPr lang="en-US" sz="2400"/>
              <a:t>tập tin </a:t>
            </a:r>
            <a:r>
              <a:rPr lang="vi-VN" sz="2400"/>
              <a:t>trong ứng dụng.</a:t>
            </a:r>
          </a:p>
        </p:txBody>
      </p:sp>
      <p:graphicFrame>
        <p:nvGraphicFramePr>
          <p:cNvPr id="4" name="Table 3">
            <a:extLst>
              <a:ext uri="{FF2B5EF4-FFF2-40B4-BE49-F238E27FC236}">
                <a16:creationId xmlns:a16="http://schemas.microsoft.com/office/drawing/2014/main" id="{FA1C824B-8AD8-42F1-9CD9-1D0FFE8F5458}"/>
              </a:ext>
            </a:extLst>
          </p:cNvPr>
          <p:cNvGraphicFramePr>
            <a:graphicFrameLocks noGrp="1"/>
          </p:cNvGraphicFramePr>
          <p:nvPr>
            <p:extLst>
              <p:ext uri="{D42A27DB-BD31-4B8C-83A1-F6EECF244321}">
                <p14:modId xmlns:p14="http://schemas.microsoft.com/office/powerpoint/2010/main" val="185011283"/>
              </p:ext>
            </p:extLst>
          </p:nvPr>
        </p:nvGraphicFramePr>
        <p:xfrm>
          <a:off x="9624" y="2489201"/>
          <a:ext cx="9124752" cy="1920240"/>
        </p:xfrm>
        <a:graphic>
          <a:graphicData uri="http://schemas.openxmlformats.org/drawingml/2006/table">
            <a:tbl>
              <a:tblPr/>
              <a:tblGrid>
                <a:gridCol w="630084">
                  <a:extLst>
                    <a:ext uri="{9D8B030D-6E8A-4147-A177-3AD203B41FA5}">
                      <a16:colId xmlns:a16="http://schemas.microsoft.com/office/drawing/2014/main" val="3763137000"/>
                    </a:ext>
                  </a:extLst>
                </a:gridCol>
                <a:gridCol w="8494668">
                  <a:extLst>
                    <a:ext uri="{9D8B030D-6E8A-4147-A177-3AD203B41FA5}">
                      <a16:colId xmlns:a16="http://schemas.microsoft.com/office/drawing/2014/main" val="2996953156"/>
                    </a:ext>
                  </a:extLst>
                </a:gridCol>
              </a:tblGrid>
              <a:tr h="0">
                <a:tc>
                  <a:txBody>
                    <a:bodyPr/>
                    <a:lstStyle/>
                    <a:p>
                      <a:pPr algn="ctr" fontAlgn="t"/>
                      <a:r>
                        <a:rPr lang="en-US" sz="2400" b="0">
                          <a:solidFill>
                            <a:srgbClr val="5499DE"/>
                          </a:solidFill>
                          <a:effectLst/>
                          <a:latin typeface="inherit"/>
                        </a:rPr>
                        <a:t>1</a:t>
                      </a:r>
                    </a:p>
                    <a:p>
                      <a:pPr algn="ctr" fontAlgn="t"/>
                      <a:r>
                        <a:rPr lang="en-US" sz="2400" b="0">
                          <a:solidFill>
                            <a:srgbClr val="317CC5"/>
                          </a:solidFill>
                          <a:effectLst/>
                          <a:latin typeface="inherit"/>
                        </a:rPr>
                        <a:t>2</a:t>
                      </a:r>
                    </a:p>
                    <a:p>
                      <a:pPr algn="ctr" fontAlgn="t"/>
                      <a:endParaRPr lang="en-US" sz="2400" b="0">
                        <a:solidFill>
                          <a:srgbClr val="317CC5"/>
                        </a:solidFill>
                        <a:effectLst/>
                        <a:latin typeface="inherit"/>
                      </a:endParaRPr>
                    </a:p>
                    <a:p>
                      <a:pPr algn="ctr" fontAlgn="t"/>
                      <a:r>
                        <a:rPr lang="en-US" sz="2400" b="0">
                          <a:solidFill>
                            <a:srgbClr val="5499DE"/>
                          </a:solidFill>
                          <a:effectLst/>
                          <a:latin typeface="inherit"/>
                        </a:rPr>
                        <a:t>3</a:t>
                      </a:r>
                    </a:p>
                    <a:p>
                      <a:pPr algn="ctr" fontAlgn="t"/>
                      <a:r>
                        <a:rPr lang="en-US" sz="2400" b="0">
                          <a:solidFill>
                            <a:srgbClr val="317CC5"/>
                          </a:solidFill>
                          <a:effectLst/>
                          <a:latin typeface="inherit"/>
                        </a:rPr>
                        <a:t>4</a:t>
                      </a:r>
                    </a:p>
                  </a:txBody>
                  <a:tcPr>
                    <a:lnL>
                      <a:noFill/>
                    </a:lnL>
                    <a:lnR>
                      <a:noFill/>
                    </a:lnR>
                    <a:lnT>
                      <a:noFill/>
                    </a:lnT>
                    <a:lnB>
                      <a:noFill/>
                    </a:lnB>
                    <a:solidFill>
                      <a:srgbClr val="DFEFFF"/>
                    </a:solidFill>
                  </a:tcPr>
                </a:tc>
                <a:tc>
                  <a:txBody>
                    <a:bodyPr/>
                    <a:lstStyle/>
                    <a:p>
                      <a:pPr algn="l" fontAlgn="t"/>
                      <a:r>
                        <a:rPr lang="en-US" sz="2400" b="0">
                          <a:solidFill>
                            <a:srgbClr val="004ED0"/>
                          </a:solidFill>
                          <a:effectLst/>
                          <a:latin typeface="inherit"/>
                        </a:rPr>
                        <a:t>from PyQt5 import QtGui</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QtWidgets import </a:t>
                      </a:r>
                      <a:r>
                        <a:rPr lang="en-US" sz="2400" b="0">
                          <a:solidFill>
                            <a:srgbClr val="002D7A"/>
                          </a:solidFill>
                          <a:effectLst/>
                          <a:latin typeface="inherit"/>
                        </a:rPr>
                        <a:t>QApplication</a:t>
                      </a:r>
                      <a:r>
                        <a:rPr lang="en-US" sz="2400" b="0">
                          <a:solidFill>
                            <a:srgbClr val="333333"/>
                          </a:solidFill>
                          <a:effectLst/>
                          <a:latin typeface="inherit"/>
                        </a:rPr>
                        <a:t>,</a:t>
                      </a:r>
                      <a:r>
                        <a:rPr lang="en-US" sz="2400" b="0">
                          <a:solidFill>
                            <a:srgbClr val="002D7A"/>
                          </a:solidFill>
                          <a:effectLst/>
                          <a:latin typeface="inherit"/>
                        </a:rPr>
                        <a:t>QWidget</a:t>
                      </a:r>
                      <a:r>
                        <a:rPr lang="en-US" sz="2400" b="0">
                          <a:solidFill>
                            <a:srgbClr val="333333"/>
                          </a:solidFill>
                          <a:effectLst/>
                          <a:latin typeface="inherit"/>
                        </a:rPr>
                        <a:t>,</a:t>
                      </a:r>
                      <a:r>
                        <a:rPr lang="en-US" sz="2400" b="0">
                          <a:solidFill>
                            <a:srgbClr val="006FE0"/>
                          </a:solidFill>
                          <a:effectLst/>
                          <a:latin typeface="inherit"/>
                        </a:rPr>
                        <a:t> </a:t>
                      </a:r>
                    </a:p>
                    <a:p>
                      <a:pPr algn="r" fontAlgn="t"/>
                      <a:r>
                        <a:rPr lang="en-US" sz="2400" b="0">
                          <a:solidFill>
                            <a:srgbClr val="002D7A"/>
                          </a:solidFill>
                          <a:effectLst/>
                          <a:latin typeface="inherit"/>
                        </a:rPr>
                        <a:t>QVBoxLayout</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QPushButton</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0000"/>
                          </a:solidFill>
                          <a:effectLst/>
                          <a:latin typeface="inherit"/>
                        </a:rPr>
                        <a:t>QFileDialog</a:t>
                      </a:r>
                      <a:r>
                        <a:rPr lang="en-US" sz="2400" b="0">
                          <a:solidFill>
                            <a:srgbClr val="006FE0"/>
                          </a:solidFill>
                          <a:effectLst/>
                          <a:latin typeface="inherit"/>
                        </a:rPr>
                        <a:t> </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2D7A"/>
                          </a:solidFill>
                          <a:effectLst/>
                          <a:latin typeface="inherit"/>
                        </a:rPr>
                        <a:t>QLabel</a:t>
                      </a:r>
                      <a:r>
                        <a:rPr lang="en-US" sz="2400" b="0">
                          <a:solidFill>
                            <a:srgbClr val="333333"/>
                          </a:solidFill>
                          <a:effectLst/>
                          <a:latin typeface="inherit"/>
                        </a:rPr>
                        <a:t>,</a:t>
                      </a:r>
                      <a:r>
                        <a:rPr lang="en-US" sz="2400" b="0">
                          <a:solidFill>
                            <a:srgbClr val="006FE0"/>
                          </a:solidFill>
                          <a:effectLst/>
                          <a:latin typeface="inherit"/>
                        </a:rPr>
                        <a:t> </a:t>
                      </a:r>
                      <a:r>
                        <a:rPr lang="en-US" sz="2400" b="0">
                          <a:solidFill>
                            <a:srgbClr val="004ED0"/>
                          </a:solidFill>
                          <a:effectLst/>
                          <a:latin typeface="inherit"/>
                        </a:rPr>
                        <a:t>QTextEdit</a:t>
                      </a:r>
                      <a:endParaRPr lang="en-US" sz="2400" b="0">
                        <a:solidFill>
                          <a:srgbClr val="000000"/>
                        </a:solidFill>
                        <a:effectLst/>
                        <a:latin typeface="inherit"/>
                      </a:endParaRPr>
                    </a:p>
                    <a:p>
                      <a:pPr algn="l" fontAlgn="t"/>
                      <a:r>
                        <a:rPr lang="en-US" sz="2400" b="0">
                          <a:solidFill>
                            <a:srgbClr val="004ED0"/>
                          </a:solidFill>
                          <a:effectLst/>
                          <a:latin typeface="inherit"/>
                        </a:rPr>
                        <a:t>import sys</a:t>
                      </a:r>
                      <a:endParaRPr lang="en-US" sz="2400" b="0">
                        <a:solidFill>
                          <a:srgbClr val="000000"/>
                        </a:solidFill>
                        <a:effectLst/>
                        <a:latin typeface="inherit"/>
                      </a:endParaRPr>
                    </a:p>
                    <a:p>
                      <a:pPr algn="l" fontAlgn="t"/>
                      <a:r>
                        <a:rPr lang="en-US" sz="2400" b="0">
                          <a:solidFill>
                            <a:srgbClr val="004ED0"/>
                          </a:solidFill>
                          <a:effectLst/>
                          <a:latin typeface="inherit"/>
                        </a:rPr>
                        <a:t>from </a:t>
                      </a:r>
                      <a:r>
                        <a:rPr lang="en-US" sz="2400" b="0">
                          <a:solidFill>
                            <a:srgbClr val="002D7A"/>
                          </a:solidFill>
                          <a:effectLst/>
                          <a:latin typeface="inherit"/>
                        </a:rPr>
                        <a:t>PyQt5</a:t>
                      </a:r>
                      <a:r>
                        <a:rPr lang="en-US" sz="2400" b="0">
                          <a:solidFill>
                            <a:srgbClr val="333333"/>
                          </a:solidFill>
                          <a:effectLst/>
                          <a:latin typeface="inherit"/>
                        </a:rPr>
                        <a:t>.</a:t>
                      </a:r>
                      <a:r>
                        <a:rPr lang="en-US" sz="2400" b="0">
                          <a:solidFill>
                            <a:srgbClr val="004ED0"/>
                          </a:solidFill>
                          <a:effectLst/>
                          <a:latin typeface="inherit"/>
                        </a:rPr>
                        <a:t>QtGui import </a:t>
                      </a:r>
                      <a:r>
                        <a:rPr lang="en-US" sz="2400" b="0">
                          <a:solidFill>
                            <a:srgbClr val="002D7A"/>
                          </a:solidFill>
                          <a:effectLst/>
                          <a:latin typeface="inherit"/>
                        </a:rPr>
                        <a:t>QPixmap</a:t>
                      </a:r>
                      <a:endParaRPr lang="en-US" sz="2400" b="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2998425915"/>
                  </a:ext>
                </a:extLst>
              </a:tr>
            </a:tbl>
          </a:graphicData>
        </a:graphic>
      </p:graphicFrame>
      <p:sp>
        <p:nvSpPr>
          <p:cNvPr id="5" name="Rectangle 4">
            <a:extLst>
              <a:ext uri="{FF2B5EF4-FFF2-40B4-BE49-F238E27FC236}">
                <a16:creationId xmlns:a16="http://schemas.microsoft.com/office/drawing/2014/main" id="{308662E5-36A6-4543-911B-19FBD3E75FF3}"/>
              </a:ext>
            </a:extLst>
          </p:cNvPr>
          <p:cNvSpPr/>
          <p:nvPr/>
        </p:nvSpPr>
        <p:spPr>
          <a:xfrm>
            <a:off x="-1" y="4409441"/>
            <a:ext cx="9124751" cy="1938992"/>
          </a:xfrm>
          <a:prstGeom prst="rect">
            <a:avLst/>
          </a:prstGeom>
        </p:spPr>
        <p:txBody>
          <a:bodyPr wrap="square">
            <a:spAutoFit/>
          </a:bodyPr>
          <a:lstStyle/>
          <a:p>
            <a:r>
              <a:rPr lang="vi-VN" sz="2400">
                <a:solidFill>
                  <a:srgbClr val="3A3A3A"/>
                </a:solidFill>
              </a:rPr>
              <a:t>Sau đó, chúng t</a:t>
            </a:r>
            <a:r>
              <a:rPr lang="en-US" sz="2400">
                <a:solidFill>
                  <a:srgbClr val="3A3A3A"/>
                </a:solidFill>
              </a:rPr>
              <a:t>a</a:t>
            </a:r>
            <a:r>
              <a:rPr lang="vi-VN" sz="2400">
                <a:solidFill>
                  <a:srgbClr val="3A3A3A"/>
                </a:solidFill>
              </a:rPr>
              <a:t> tạo lớp Window kế thừa từ QWidget </a:t>
            </a:r>
            <a:r>
              <a:rPr lang="en-US" sz="2400">
                <a:solidFill>
                  <a:srgbClr val="3A3A3A"/>
                </a:solidFill>
              </a:rPr>
              <a:t>, rồi </a:t>
            </a:r>
            <a:r>
              <a:rPr lang="vi-VN" sz="2400">
                <a:solidFill>
                  <a:srgbClr val="3A3A3A"/>
                </a:solidFill>
              </a:rPr>
              <a:t>tạo hai phương thức trong lớp này </a:t>
            </a:r>
            <a:r>
              <a:rPr lang="en-US" sz="2400">
                <a:solidFill>
                  <a:srgbClr val="3A3A3A"/>
                </a:solidFill>
              </a:rPr>
              <a:t>với </a:t>
            </a:r>
            <a:r>
              <a:rPr lang="vi-VN" sz="2400">
                <a:solidFill>
                  <a:srgbClr val="3A3A3A"/>
                </a:solidFill>
              </a:rPr>
              <a:t>phương thức đầu tiên để đặt các yêu cầu Cửa sổ và chúng t</a:t>
            </a:r>
            <a:r>
              <a:rPr lang="en-US" sz="2400">
                <a:solidFill>
                  <a:srgbClr val="3A3A3A"/>
                </a:solidFill>
              </a:rPr>
              <a:t>a</a:t>
            </a:r>
            <a:r>
              <a:rPr lang="vi-VN" sz="2400">
                <a:solidFill>
                  <a:srgbClr val="3A3A3A"/>
                </a:solidFill>
              </a:rPr>
              <a:t> cũng sẽ tạo một </a:t>
            </a:r>
            <a:r>
              <a:rPr lang="en-US" sz="2400">
                <a:solidFill>
                  <a:srgbClr val="3A3A3A"/>
                </a:solidFill>
              </a:rPr>
              <a:t>widget </a:t>
            </a:r>
            <a:r>
              <a:rPr lang="vi-VN" sz="2400">
                <a:solidFill>
                  <a:srgbClr val="1E73BE"/>
                </a:solidFill>
              </a:rPr>
              <a:t>QPushButton</a:t>
            </a:r>
            <a:r>
              <a:rPr lang="en-US" sz="2400">
                <a:solidFill>
                  <a:srgbClr val="1E73BE"/>
                </a:solidFill>
              </a:rPr>
              <a:t> </a:t>
            </a:r>
            <a:r>
              <a:rPr lang="vi-VN" sz="2400">
                <a:solidFill>
                  <a:srgbClr val="3A3A3A"/>
                </a:solidFill>
              </a:rPr>
              <a:t>với</a:t>
            </a:r>
            <a:r>
              <a:rPr lang="en-US" sz="2400">
                <a:solidFill>
                  <a:srgbClr val="3A3A3A"/>
                </a:solidFill>
              </a:rPr>
              <a:t> </a:t>
            </a:r>
            <a:r>
              <a:rPr lang="vi-VN" sz="2400">
                <a:solidFill>
                  <a:srgbClr val="1E73BE"/>
                </a:solidFill>
              </a:rPr>
              <a:t>QVBoxLayout</a:t>
            </a:r>
            <a:r>
              <a:rPr lang="en-US" sz="2400">
                <a:solidFill>
                  <a:srgbClr val="1E73BE"/>
                </a:solidFill>
              </a:rPr>
              <a:t> </a:t>
            </a:r>
            <a:r>
              <a:rPr lang="vi-VN" sz="2400">
                <a:solidFill>
                  <a:srgbClr val="3A3A3A"/>
                </a:solidFill>
              </a:rPr>
              <a:t>trong phương thức đó. trong phương thức thứ hai, chúng ta tạo QFileDialog.</a:t>
            </a:r>
            <a:endParaRPr lang="en-US" sz="2400"/>
          </a:p>
        </p:txBody>
      </p:sp>
    </p:spTree>
    <p:extLst>
      <p:ext uri="{BB962C8B-B14F-4D97-AF65-F5344CB8AC3E}">
        <p14:creationId xmlns:p14="http://schemas.microsoft.com/office/powerpoint/2010/main" val="322331149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475A3-7093-4B15-9BB4-737882F84E23}"/>
              </a:ext>
            </a:extLst>
          </p:cNvPr>
          <p:cNvSpPr>
            <a:spLocks noGrp="1"/>
          </p:cNvSpPr>
          <p:nvPr>
            <p:ph idx="1"/>
          </p:nvPr>
        </p:nvSpPr>
        <p:spPr>
          <a:xfrm>
            <a:off x="9624" y="702733"/>
            <a:ext cx="9134375" cy="6136017"/>
          </a:xfrm>
        </p:spPr>
        <p:txBody>
          <a:bodyPr>
            <a:normAutofit/>
          </a:bodyPr>
          <a:lstStyle/>
          <a:p>
            <a:pPr marL="0" indent="0">
              <a:lnSpc>
                <a:spcPct val="105000"/>
              </a:lnSpc>
              <a:spcBef>
                <a:spcPts val="0"/>
              </a:spcBef>
              <a:buNone/>
            </a:pPr>
            <a:r>
              <a:rPr lang="vi-VN" b="1"/>
              <a:t>Constructor</a:t>
            </a:r>
            <a:r>
              <a:rPr lang="en-US"/>
              <a:t>: hàm tạo </a:t>
            </a:r>
            <a:r>
              <a:rPr lang="vi-VN"/>
              <a:t>widget FileDialog được thực hiện bằng cách sử dụng:</a:t>
            </a:r>
            <a:r>
              <a:rPr lang="en-US"/>
              <a:t> </a:t>
            </a:r>
            <a:r>
              <a:rPr lang="en-US" b="1" i="1"/>
              <a:t>filedialog = QFileDialog()</a:t>
            </a:r>
            <a:endParaRPr lang="vi-VN"/>
          </a:p>
          <a:p>
            <a:pPr marL="0" indent="0">
              <a:lnSpc>
                <a:spcPct val="105000"/>
              </a:lnSpc>
              <a:spcBef>
                <a:spcPts val="0"/>
              </a:spcBef>
              <a:buNone/>
            </a:pPr>
            <a:r>
              <a:rPr lang="vi-VN"/>
              <a:t>Để xác định xem hộp thoại sẽ được sử dụng để mở hoặc lưu</a:t>
            </a:r>
            <a:r>
              <a:rPr lang="en-US"/>
              <a:t> ta ghi</a:t>
            </a:r>
            <a:r>
              <a:rPr lang="vi-VN"/>
              <a:t>:</a:t>
            </a:r>
            <a:r>
              <a:rPr lang="en-US"/>
              <a:t> </a:t>
            </a:r>
            <a:r>
              <a:rPr lang="en-US" b="1" i="1"/>
              <a:t>filedialog.setAcceptMode(mode)</a:t>
            </a:r>
            <a:endParaRPr lang="vi-VN"/>
          </a:p>
          <a:p>
            <a:pPr marL="0" indent="0">
              <a:lnSpc>
                <a:spcPct val="105000"/>
              </a:lnSpc>
              <a:spcBef>
                <a:spcPts val="0"/>
              </a:spcBef>
              <a:buNone/>
            </a:pPr>
            <a:r>
              <a:rPr lang="vi-VN"/>
              <a:t>Giá trị chế độ nên được đặt thành một trong</a:t>
            </a:r>
            <a:r>
              <a:rPr lang="en-US"/>
              <a:t> các loại sau</a:t>
            </a:r>
            <a:r>
              <a:rPr lang="vi-VN"/>
              <a:t>:</a:t>
            </a:r>
          </a:p>
          <a:p>
            <a:pPr marL="0" indent="0">
              <a:lnSpc>
                <a:spcPct val="105000"/>
              </a:lnSpc>
              <a:spcBef>
                <a:spcPts val="0"/>
              </a:spcBef>
              <a:buNone/>
            </a:pPr>
            <a:r>
              <a:rPr lang="vi-VN" b="1" i="1"/>
              <a:t>• QFileDialog.AcceptOpen </a:t>
            </a:r>
            <a:br>
              <a:rPr lang="vi-VN"/>
            </a:br>
            <a:r>
              <a:rPr lang="vi-VN" b="1" i="1"/>
              <a:t>• QFileDialog.AcceptSave</a:t>
            </a:r>
            <a:endParaRPr lang="vi-VN"/>
          </a:p>
          <a:p>
            <a:pPr marL="0" indent="0">
              <a:lnSpc>
                <a:spcPct val="105000"/>
              </a:lnSpc>
              <a:spcBef>
                <a:spcPts val="0"/>
              </a:spcBef>
              <a:buNone/>
            </a:pPr>
            <a:r>
              <a:rPr lang="vi-VN"/>
              <a:t>Văn bản có thể được hiển thị trong FileDialog cho biết mục đích với:</a:t>
            </a:r>
            <a:r>
              <a:rPr lang="en-US"/>
              <a:t> </a:t>
            </a:r>
            <a:r>
              <a:rPr lang="en-US" b="1" i="1"/>
              <a:t>filedialog.setLabelText(text)</a:t>
            </a:r>
            <a:endParaRPr lang="vi-VN"/>
          </a:p>
          <a:p>
            <a:pPr marL="0" indent="0">
              <a:lnSpc>
                <a:spcPct val="105000"/>
              </a:lnSpc>
              <a:spcBef>
                <a:spcPts val="0"/>
              </a:spcBef>
              <a:buNone/>
            </a:pPr>
            <a:r>
              <a:rPr lang="vi-VN"/>
              <a:t>Một </a:t>
            </a:r>
            <a:r>
              <a:rPr lang="en-US"/>
              <a:t>hậu tố </a:t>
            </a:r>
            <a:r>
              <a:rPr lang="vi-VN"/>
              <a:t>mặc định có thể được thêm vào để hiển thị nếu không có </a:t>
            </a:r>
            <a:r>
              <a:rPr lang="en-US"/>
              <a:t>hậu tố</a:t>
            </a:r>
            <a:r>
              <a:rPr lang="vi-VN"/>
              <a:t> nào khác hiện đang được sử dụng:</a:t>
            </a:r>
            <a:r>
              <a:rPr lang="en-US"/>
              <a:t> </a:t>
            </a:r>
            <a:r>
              <a:rPr lang="en-US" b="1" i="1"/>
              <a:t>filedialog.setDefaultSuffix(suffix)</a:t>
            </a:r>
            <a:endParaRPr lang="vi-VN"/>
          </a:p>
        </p:txBody>
      </p:sp>
      <p:sp>
        <p:nvSpPr>
          <p:cNvPr id="4" name="Title 1">
            <a:extLst>
              <a:ext uri="{FF2B5EF4-FFF2-40B4-BE49-F238E27FC236}">
                <a16:creationId xmlns:a16="http://schemas.microsoft.com/office/drawing/2014/main" id="{C04F76E2-1979-46C0-BE09-0124185697F5}"/>
              </a:ext>
            </a:extLst>
          </p:cNvPr>
          <p:cNvSpPr>
            <a:spLocks noGrp="1"/>
          </p:cNvSpPr>
          <p:nvPr>
            <p:ph type="title"/>
          </p:nvPr>
        </p:nvSpPr>
        <p:spPr>
          <a:xfrm>
            <a:off x="9624" y="19250"/>
            <a:ext cx="9134375" cy="683483"/>
          </a:xfrm>
        </p:spPr>
        <p:txBody>
          <a:bodyPr>
            <a:normAutofit fontScale="90000"/>
          </a:bodyPr>
          <a:lstStyle/>
          <a:p>
            <a:r>
              <a:rPr lang="en-US"/>
              <a:t>Dùng QFileDialog duyệt tìm hình ảnh (t.t)</a:t>
            </a:r>
          </a:p>
        </p:txBody>
      </p:sp>
    </p:spTree>
    <p:extLst>
      <p:ext uri="{BB962C8B-B14F-4D97-AF65-F5344CB8AC3E}">
        <p14:creationId xmlns:p14="http://schemas.microsoft.com/office/powerpoint/2010/main" val="40845532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475A3-7093-4B15-9BB4-737882F84E23}"/>
              </a:ext>
            </a:extLst>
          </p:cNvPr>
          <p:cNvSpPr>
            <a:spLocks noGrp="1"/>
          </p:cNvSpPr>
          <p:nvPr>
            <p:ph idx="1"/>
          </p:nvPr>
        </p:nvSpPr>
        <p:spPr>
          <a:xfrm>
            <a:off x="9624" y="812800"/>
            <a:ext cx="9134375" cy="6025950"/>
          </a:xfrm>
        </p:spPr>
        <p:txBody>
          <a:bodyPr>
            <a:normAutofit/>
          </a:bodyPr>
          <a:lstStyle/>
          <a:p>
            <a:pPr marL="0" indent="0">
              <a:lnSpc>
                <a:spcPct val="105000"/>
              </a:lnSpc>
              <a:spcBef>
                <a:spcPts val="0"/>
              </a:spcBef>
              <a:buNone/>
            </a:pPr>
            <a:r>
              <a:rPr lang="vi-VN"/>
              <a:t>Tham số sufﬁx phải là một chuỗi và thường được sử dụng để xác định loại ﬁle, chẳng hạn như '.txt', '.odt' hoặc '.png'</a:t>
            </a:r>
            <a:r>
              <a:rPr lang="en-US"/>
              <a:t>. </a:t>
            </a:r>
            <a:r>
              <a:rPr lang="vi-VN"/>
              <a:t>Cấu hình của thông tin được hiển thị trong FileDialog có thể được thực hiện với:</a:t>
            </a:r>
            <a:r>
              <a:rPr lang="en-US"/>
              <a:t> </a:t>
            </a:r>
            <a:r>
              <a:rPr lang="en-US" b="1" i="1"/>
              <a:t>filedialog.setViewMode(mode)</a:t>
            </a:r>
            <a:endParaRPr lang="vi-VN"/>
          </a:p>
          <a:p>
            <a:pPr marL="0" indent="0">
              <a:lnSpc>
                <a:spcPct val="105000"/>
              </a:lnSpc>
              <a:spcBef>
                <a:spcPts val="0"/>
              </a:spcBef>
              <a:buNone/>
            </a:pPr>
            <a:r>
              <a:rPr lang="vi-VN"/>
              <a:t>Chế độ trong trường hợp này có thể được đặt thành:</a:t>
            </a:r>
          </a:p>
          <a:p>
            <a:pPr marL="0" indent="0">
              <a:lnSpc>
                <a:spcPct val="105000"/>
              </a:lnSpc>
              <a:spcBef>
                <a:spcPts val="0"/>
              </a:spcBef>
              <a:buNone/>
            </a:pPr>
            <a:r>
              <a:rPr lang="vi-VN" b="1" i="1"/>
              <a:t>• QFileDialog.Detail</a:t>
            </a:r>
            <a:r>
              <a:rPr lang="vi-VN"/>
              <a:t> - hiển thị biểu tượng, tên và chi tiết cho từng mục.</a:t>
            </a:r>
          </a:p>
          <a:p>
            <a:pPr marL="0" indent="0">
              <a:lnSpc>
                <a:spcPct val="105000"/>
              </a:lnSpc>
              <a:spcBef>
                <a:spcPts val="0"/>
              </a:spcBef>
              <a:buNone/>
            </a:pPr>
            <a:r>
              <a:rPr lang="vi-VN" b="1" i="1"/>
              <a:t>• QFileDialog.List</a:t>
            </a:r>
            <a:r>
              <a:rPr lang="vi-VN" i="1"/>
              <a:t> </a:t>
            </a:r>
            <a:r>
              <a:rPr lang="vi-VN"/>
              <a:t>- chỉ hiển thị tên và biểu tượng.</a:t>
            </a:r>
          </a:p>
          <a:p>
            <a:pPr marL="0" indent="0">
              <a:lnSpc>
                <a:spcPct val="105000"/>
              </a:lnSpc>
              <a:spcBef>
                <a:spcPts val="0"/>
              </a:spcBef>
              <a:buNone/>
            </a:pPr>
            <a:r>
              <a:rPr lang="vi-VN"/>
              <a:t>Trong một số trường hợp, yêu cầu sẽ là hộp thoại chỉ hiển thị một số loại nhất định. Đối tượng Dir có thể được đặt bằng:</a:t>
            </a:r>
            <a:r>
              <a:rPr lang="en-US"/>
              <a:t> </a:t>
            </a:r>
            <a:r>
              <a:rPr lang="en-US" b="1" i="1"/>
              <a:t>filedialog.setFilter(filter)</a:t>
            </a:r>
            <a:endParaRPr lang="en-US"/>
          </a:p>
        </p:txBody>
      </p:sp>
      <p:sp>
        <p:nvSpPr>
          <p:cNvPr id="4" name="Title 1">
            <a:extLst>
              <a:ext uri="{FF2B5EF4-FFF2-40B4-BE49-F238E27FC236}">
                <a16:creationId xmlns:a16="http://schemas.microsoft.com/office/drawing/2014/main" id="{C04F76E2-1979-46C0-BE09-0124185697F5}"/>
              </a:ext>
            </a:extLst>
          </p:cNvPr>
          <p:cNvSpPr>
            <a:spLocks noGrp="1"/>
          </p:cNvSpPr>
          <p:nvPr>
            <p:ph type="title"/>
          </p:nvPr>
        </p:nvSpPr>
        <p:spPr>
          <a:xfrm>
            <a:off x="9624" y="19250"/>
            <a:ext cx="9134375" cy="683483"/>
          </a:xfrm>
        </p:spPr>
        <p:txBody>
          <a:bodyPr>
            <a:normAutofit fontScale="90000"/>
          </a:bodyPr>
          <a:lstStyle/>
          <a:p>
            <a:r>
              <a:rPr lang="en-US"/>
              <a:t>Dùng QFileDialog duyệt tìm hình ảnh (t.t)</a:t>
            </a:r>
          </a:p>
        </p:txBody>
      </p:sp>
    </p:spTree>
    <p:extLst>
      <p:ext uri="{BB962C8B-B14F-4D97-AF65-F5344CB8AC3E}">
        <p14:creationId xmlns:p14="http://schemas.microsoft.com/office/powerpoint/2010/main" val="129286094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9563607-C4A9-410B-B081-5C37FC9E0C31}"/>
              </a:ext>
            </a:extLst>
          </p:cNvPr>
          <p:cNvSpPr>
            <a:spLocks noGrp="1"/>
          </p:cNvSpPr>
          <p:nvPr>
            <p:ph type="title"/>
          </p:nvPr>
        </p:nvSpPr>
        <p:spPr>
          <a:xfrm>
            <a:off x="9624" y="19250"/>
            <a:ext cx="9134375" cy="683483"/>
          </a:xfrm>
        </p:spPr>
        <p:txBody>
          <a:bodyPr>
            <a:normAutofit fontScale="90000"/>
          </a:bodyPr>
          <a:lstStyle/>
          <a:p>
            <a:r>
              <a:rPr lang="en-US"/>
              <a:t>Dùng QFileDialog duyệt tìm hình ảnh (t.t)</a:t>
            </a:r>
          </a:p>
        </p:txBody>
      </p:sp>
      <p:sp>
        <p:nvSpPr>
          <p:cNvPr id="5" name="Rectangle 4">
            <a:extLst>
              <a:ext uri="{FF2B5EF4-FFF2-40B4-BE49-F238E27FC236}">
                <a16:creationId xmlns:a16="http://schemas.microsoft.com/office/drawing/2014/main" id="{45CE281E-43BE-43EE-BCB0-DFB8FF189184}"/>
              </a:ext>
            </a:extLst>
          </p:cNvPr>
          <p:cNvSpPr/>
          <p:nvPr/>
        </p:nvSpPr>
        <p:spPr>
          <a:xfrm>
            <a:off x="9624" y="702733"/>
            <a:ext cx="6628243" cy="6186309"/>
          </a:xfrm>
          <a:prstGeom prst="rect">
            <a:avLst/>
          </a:prstGeom>
          <a:solidFill>
            <a:schemeClr val="accent4">
              <a:lumMod val="20000"/>
              <a:lumOff val="80000"/>
            </a:schemeClr>
          </a:solidFill>
        </p:spPr>
        <p:txBody>
          <a:bodyPr wrap="square">
            <a:spAutoFit/>
          </a:bodyPr>
          <a:lstStyle/>
          <a:p>
            <a:pPr>
              <a:lnSpc>
                <a:spcPct val="90000"/>
              </a:lnSpc>
            </a:pPr>
            <a:r>
              <a:rPr lang="en-US" sz="2000">
                <a:solidFill>
                  <a:srgbClr val="800080"/>
                </a:solidFill>
                <a:latin typeface="inherit"/>
              </a:rPr>
              <a:t>class</a:t>
            </a:r>
            <a:r>
              <a:rPr lang="en-US" sz="2000">
                <a:solidFill>
                  <a:srgbClr val="006FE0"/>
                </a:solidFill>
                <a:latin typeface="inherit"/>
              </a:rPr>
              <a:t> </a:t>
            </a:r>
            <a:r>
              <a:rPr lang="en-US" sz="2000">
                <a:solidFill>
                  <a:srgbClr val="004ED0"/>
                </a:solidFill>
                <a:latin typeface="inherit"/>
              </a:rPr>
              <a:t>Window</a:t>
            </a:r>
            <a:r>
              <a:rPr lang="en-US" sz="2000">
                <a:solidFill>
                  <a:srgbClr val="333333"/>
                </a:solidFill>
                <a:latin typeface="inherit"/>
              </a:rPr>
              <a:t>(</a:t>
            </a:r>
            <a:r>
              <a:rPr lang="en-US" sz="2000">
                <a:solidFill>
                  <a:srgbClr val="002D7A"/>
                </a:solidFill>
                <a:latin typeface="inherit"/>
              </a:rPr>
              <a:t>QWidget</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4ED0"/>
                </a:solidFill>
                <a:latin typeface="inherit"/>
              </a:rPr>
              <a:t>def __init__</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super</a:t>
            </a:r>
            <a:r>
              <a:rPr lang="en-US" sz="2000">
                <a:solidFill>
                  <a:srgbClr val="333333"/>
                </a:solidFill>
                <a:latin typeface="inherit"/>
              </a:rPr>
              <a:t>().</a:t>
            </a:r>
            <a:r>
              <a:rPr lang="en-US" sz="2000">
                <a:solidFill>
                  <a:srgbClr val="004ED0"/>
                </a:solidFill>
                <a:latin typeface="inherit"/>
              </a:rPr>
              <a:t>__init__</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006FE0"/>
                </a:solidFill>
                <a:latin typeface="inherit"/>
              </a:rPr>
              <a:t> = </a:t>
            </a:r>
            <a:r>
              <a:rPr lang="en-US" sz="2000">
                <a:solidFill>
                  <a:srgbClr val="008000"/>
                </a:solidFill>
                <a:latin typeface="inherit"/>
              </a:rPr>
              <a:t>"PyQt5 Open File"</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006FE0"/>
                </a:solidFill>
                <a:latin typeface="inherit"/>
              </a:rPr>
              <a:t> = </a:t>
            </a:r>
            <a:r>
              <a:rPr lang="en-US" sz="2000">
                <a:solidFill>
                  <a:srgbClr val="CE0000"/>
                </a:solidFill>
                <a:latin typeface="inherit"/>
              </a:rPr>
              <a:t>200</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006FE0"/>
                </a:solidFill>
                <a:latin typeface="inherit"/>
              </a:rPr>
              <a:t> = </a:t>
            </a:r>
            <a:r>
              <a:rPr lang="en-US" sz="2000">
                <a:solidFill>
                  <a:srgbClr val="CE0000"/>
                </a:solidFill>
                <a:latin typeface="inherit"/>
              </a:rPr>
              <a:t>500</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006FE0"/>
                </a:solidFill>
                <a:latin typeface="inherit"/>
              </a:rPr>
              <a:t> = </a:t>
            </a:r>
            <a:r>
              <a:rPr lang="en-US" sz="2000">
                <a:solidFill>
                  <a:srgbClr val="CE0000"/>
                </a:solidFill>
                <a:latin typeface="inherit"/>
              </a:rPr>
              <a:t>400</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006FE0"/>
                </a:solidFill>
                <a:latin typeface="inherit"/>
              </a:rPr>
              <a:t> = </a:t>
            </a:r>
            <a:r>
              <a:rPr lang="en-US" sz="2000">
                <a:solidFill>
                  <a:srgbClr val="CE0000"/>
                </a:solidFill>
                <a:latin typeface="inherit"/>
              </a:rPr>
              <a:t>300</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InitWindow</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004ED0"/>
                </a:solidFill>
                <a:latin typeface="inherit"/>
              </a:rPr>
              <a:t>def InitWindow</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setWindowIcon</a:t>
            </a:r>
            <a:r>
              <a:rPr lang="en-US" sz="2000">
                <a:solidFill>
                  <a:srgbClr val="333333"/>
                </a:solidFill>
                <a:latin typeface="inherit"/>
              </a:rPr>
              <a:t>(</a:t>
            </a:r>
            <a:r>
              <a:rPr lang="en-US" sz="2000">
                <a:solidFill>
                  <a:srgbClr val="002D7A"/>
                </a:solidFill>
                <a:latin typeface="inherit"/>
              </a:rPr>
              <a:t>QtGui</a:t>
            </a:r>
            <a:r>
              <a:rPr lang="en-US" sz="2000">
                <a:solidFill>
                  <a:srgbClr val="333333"/>
                </a:solidFill>
                <a:latin typeface="inherit"/>
              </a:rPr>
              <a:t>.</a:t>
            </a:r>
            <a:r>
              <a:rPr lang="en-US" sz="2000">
                <a:solidFill>
                  <a:srgbClr val="004ED0"/>
                </a:solidFill>
                <a:latin typeface="inherit"/>
              </a:rPr>
              <a:t>QIcon</a:t>
            </a:r>
            <a:r>
              <a:rPr lang="en-US" sz="2000">
                <a:solidFill>
                  <a:srgbClr val="333333"/>
                </a:solidFill>
                <a:latin typeface="inherit"/>
              </a:rPr>
              <a:t>(</a:t>
            </a:r>
            <a:r>
              <a:rPr lang="en-US" sz="2000">
                <a:solidFill>
                  <a:srgbClr val="008000"/>
                </a:solidFill>
                <a:latin typeface="inherit"/>
              </a:rPr>
              <a:t>"icon.png"</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setWindowTitle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title</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setGeometry</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left</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top</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height</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002D7A"/>
                </a:solidFill>
                <a:latin typeface="inherit"/>
              </a:rPr>
              <a:t>vbox</a:t>
            </a:r>
            <a:r>
              <a:rPr lang="en-US" sz="2000">
                <a:solidFill>
                  <a:srgbClr val="006FE0"/>
                </a:solidFill>
                <a:latin typeface="inherit"/>
              </a:rPr>
              <a:t> = </a:t>
            </a:r>
            <a:r>
              <a:rPr lang="en-US" sz="2000">
                <a:solidFill>
                  <a:srgbClr val="004ED0"/>
                </a:solidFill>
                <a:latin typeface="inherit"/>
              </a:rPr>
              <a:t>QVBoxLayout</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btn1</a:t>
            </a:r>
            <a:r>
              <a:rPr lang="en-US" sz="2000">
                <a:solidFill>
                  <a:srgbClr val="006FE0"/>
                </a:solidFill>
                <a:latin typeface="inherit"/>
              </a:rPr>
              <a:t> = </a:t>
            </a:r>
            <a:r>
              <a:rPr lang="en-US" sz="2000">
                <a:solidFill>
                  <a:srgbClr val="004ED0"/>
                </a:solidFill>
                <a:latin typeface="inherit"/>
              </a:rPr>
              <a:t>QPushButton</a:t>
            </a:r>
            <a:r>
              <a:rPr lang="en-US" sz="2000">
                <a:solidFill>
                  <a:srgbClr val="333333"/>
                </a:solidFill>
                <a:latin typeface="inherit"/>
              </a:rPr>
              <a:t>(</a:t>
            </a:r>
            <a:r>
              <a:rPr lang="en-US" sz="2000">
                <a:solidFill>
                  <a:srgbClr val="008000"/>
                </a:solidFill>
                <a:latin typeface="inherit"/>
              </a:rPr>
              <a:t>"Open Image"</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btn1</a:t>
            </a:r>
            <a:r>
              <a:rPr lang="en-US" sz="2000">
                <a:solidFill>
                  <a:srgbClr val="333333"/>
                </a:solidFill>
                <a:latin typeface="inherit"/>
              </a:rPr>
              <a:t>.</a:t>
            </a:r>
            <a:r>
              <a:rPr lang="en-US" sz="2000">
                <a:solidFill>
                  <a:srgbClr val="002D7A"/>
                </a:solidFill>
                <a:latin typeface="inherit"/>
              </a:rPr>
              <a:t>clicked</a:t>
            </a:r>
            <a:r>
              <a:rPr lang="en-US" sz="2000">
                <a:solidFill>
                  <a:srgbClr val="333333"/>
                </a:solidFill>
                <a:latin typeface="inherit"/>
              </a:rPr>
              <a:t>.</a:t>
            </a:r>
            <a:r>
              <a:rPr lang="en-US" sz="2000">
                <a:solidFill>
                  <a:srgbClr val="004ED0"/>
                </a:solidFill>
                <a:latin typeface="inherit"/>
              </a:rPr>
              <a:t>connect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getImage</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btn1</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006FE0"/>
                </a:solidFill>
                <a:latin typeface="inherit"/>
              </a:rPr>
              <a:t> = </a:t>
            </a:r>
            <a:r>
              <a:rPr lang="en-US" sz="2000">
                <a:solidFill>
                  <a:srgbClr val="004ED0"/>
                </a:solidFill>
                <a:latin typeface="inherit"/>
              </a:rPr>
              <a:t>QLabel</a:t>
            </a:r>
            <a:r>
              <a:rPr lang="en-US" sz="2000">
                <a:solidFill>
                  <a:srgbClr val="333333"/>
                </a:solidFill>
                <a:latin typeface="inherit"/>
              </a:rPr>
              <a:t>(</a:t>
            </a:r>
            <a:r>
              <a:rPr lang="en-US" sz="2000">
                <a:solidFill>
                  <a:srgbClr val="008000"/>
                </a:solidFill>
                <a:latin typeface="inherit"/>
              </a:rPr>
              <a:t>"Hello"</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vbox</a:t>
            </a:r>
            <a:r>
              <a:rPr lang="en-US" sz="2000">
                <a:solidFill>
                  <a:srgbClr val="333333"/>
                </a:solidFill>
                <a:latin typeface="inherit"/>
              </a:rPr>
              <a:t>.</a:t>
            </a:r>
            <a:r>
              <a:rPr lang="en-US" sz="2000">
                <a:solidFill>
                  <a:srgbClr val="004ED0"/>
                </a:solidFill>
                <a:latin typeface="inherit"/>
              </a:rPr>
              <a:t>addWidget</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setLayout</a:t>
            </a:r>
            <a:r>
              <a:rPr lang="en-US" sz="2000">
                <a:solidFill>
                  <a:srgbClr val="333333"/>
                </a:solidFill>
                <a:latin typeface="inherit"/>
              </a:rPr>
              <a:t>(</a:t>
            </a:r>
            <a:r>
              <a:rPr lang="en-US" sz="2000">
                <a:solidFill>
                  <a:srgbClr val="002D7A"/>
                </a:solidFill>
                <a:latin typeface="inherit"/>
              </a:rPr>
              <a:t>vbox</a:t>
            </a:r>
            <a:r>
              <a:rPr lang="en-US" sz="2000">
                <a:solidFill>
                  <a:srgbClr val="333333"/>
                </a:solidFill>
                <a:latin typeface="inherit"/>
              </a:rPr>
              <a:t>)</a:t>
            </a:r>
            <a:r>
              <a:rPr lang="en-US" sz="2000">
                <a:solidFill>
                  <a:srgbClr val="000000"/>
                </a:solidFill>
                <a:latin typeface="Monaco"/>
              </a:rPr>
              <a:t>  </a:t>
            </a: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show</a:t>
            </a:r>
            <a:r>
              <a:rPr lang="en-US" sz="2000">
                <a:solidFill>
                  <a:srgbClr val="333333"/>
                </a:solidFill>
                <a:latin typeface="inherit"/>
              </a:rPr>
              <a:t>()</a:t>
            </a:r>
            <a:endParaRPr lang="en-US" sz="2000" b="0" i="0">
              <a:solidFill>
                <a:srgbClr val="000000"/>
              </a:solidFill>
              <a:effectLst/>
              <a:latin typeface="Monaco"/>
            </a:endParaRPr>
          </a:p>
        </p:txBody>
      </p:sp>
      <p:sp>
        <p:nvSpPr>
          <p:cNvPr id="6" name="Rectangle 5">
            <a:extLst>
              <a:ext uri="{FF2B5EF4-FFF2-40B4-BE49-F238E27FC236}">
                <a16:creationId xmlns:a16="http://schemas.microsoft.com/office/drawing/2014/main" id="{CB60AAEE-2F48-46A7-9EB6-05DD3C50C7C5}"/>
              </a:ext>
            </a:extLst>
          </p:cNvPr>
          <p:cNvSpPr/>
          <p:nvPr/>
        </p:nvSpPr>
        <p:spPr>
          <a:xfrm>
            <a:off x="3961243" y="999066"/>
            <a:ext cx="5173133" cy="2031325"/>
          </a:xfrm>
          <a:prstGeom prst="rect">
            <a:avLst/>
          </a:prstGeom>
          <a:solidFill>
            <a:schemeClr val="accent3">
              <a:lumMod val="20000"/>
              <a:lumOff val="80000"/>
            </a:schemeClr>
          </a:solidFill>
        </p:spPr>
        <p:txBody>
          <a:bodyPr wrap="square">
            <a:spAutoFit/>
          </a:bodyPr>
          <a:lstStyle/>
          <a:p>
            <a:pPr>
              <a:lnSpc>
                <a:spcPct val="90000"/>
              </a:lnSpc>
            </a:pPr>
            <a:r>
              <a:rPr lang="en-US" sz="2000">
                <a:solidFill>
                  <a:srgbClr val="006FE0"/>
                </a:solidFill>
                <a:latin typeface="inherit"/>
              </a:rPr>
              <a:t>    </a:t>
            </a:r>
            <a:r>
              <a:rPr lang="en-US" sz="2000">
                <a:solidFill>
                  <a:srgbClr val="004ED0"/>
                </a:solidFill>
                <a:latin typeface="inherit"/>
              </a:rPr>
              <a:t>def getImage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fname</a:t>
            </a:r>
            <a:r>
              <a:rPr lang="en-US" sz="2000">
                <a:solidFill>
                  <a:srgbClr val="006FE0"/>
                </a:solidFill>
                <a:latin typeface="inherit"/>
              </a:rPr>
              <a:t> = </a:t>
            </a:r>
            <a:r>
              <a:rPr lang="en-US" sz="2000">
                <a:solidFill>
                  <a:srgbClr val="002D7A"/>
                </a:solidFill>
                <a:latin typeface="inherit"/>
              </a:rPr>
              <a:t>QFileDialog</a:t>
            </a:r>
            <a:r>
              <a:rPr lang="en-US" sz="2000">
                <a:solidFill>
                  <a:srgbClr val="333333"/>
                </a:solidFill>
                <a:latin typeface="inherit"/>
              </a:rPr>
              <a:t>.</a:t>
            </a:r>
            <a:r>
              <a:rPr lang="en-US" sz="2000">
                <a:solidFill>
                  <a:srgbClr val="004ED0"/>
                </a:solidFill>
                <a:latin typeface="inherit"/>
              </a:rPr>
              <a:t>getOpenFileName</a:t>
            </a:r>
            <a:r>
              <a:rPr lang="en-US" sz="2000">
                <a:solidFill>
                  <a:srgbClr val="333333"/>
                </a:solidFill>
                <a:latin typeface="inherit"/>
              </a:rPr>
              <a:t>(</a:t>
            </a:r>
            <a:r>
              <a:rPr lang="en-US" sz="2000">
                <a:solidFill>
                  <a:srgbClr val="800080"/>
                </a:solidFill>
                <a:latin typeface="inherit"/>
              </a:rPr>
              <a:t>self</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'Open file'</a:t>
            </a:r>
            <a:r>
              <a:rPr lang="en-US" sz="2000">
                <a:solidFill>
                  <a:srgbClr val="333333"/>
                </a:solidFill>
                <a:latin typeface="inherit"/>
              </a:rPr>
              <a:t>,</a:t>
            </a:r>
            <a:r>
              <a:rPr lang="en-US" sz="2000">
                <a:solidFill>
                  <a:srgbClr val="006FE0"/>
                </a:solidFill>
                <a:latin typeface="inherit"/>
              </a:rPr>
              <a:t> </a:t>
            </a:r>
            <a:r>
              <a:rPr lang="en-US" sz="2000">
                <a:solidFill>
                  <a:srgbClr val="000000"/>
                </a:solidFill>
                <a:latin typeface="Monaco"/>
              </a:rPr>
              <a:t>'</a:t>
            </a:r>
            <a:r>
              <a:rPr lang="en-US" sz="2000">
                <a:solidFill>
                  <a:srgbClr val="002D7A"/>
                </a:solidFill>
                <a:latin typeface="inherit"/>
              </a:rPr>
              <a:t>c</a:t>
            </a:r>
            <a:r>
              <a:rPr lang="en-US" sz="2000">
                <a:solidFill>
                  <a:srgbClr val="006FE0"/>
                </a:solidFill>
                <a:latin typeface="inherit"/>
              </a:rPr>
              <a:t>:</a:t>
            </a:r>
            <a:r>
              <a:rPr lang="en-US" sz="2000">
                <a:solidFill>
                  <a:srgbClr val="333333"/>
                </a:solidFill>
                <a:latin typeface="inherit"/>
              </a:rPr>
              <a:t>\</a:t>
            </a:r>
            <a:r>
              <a:rPr lang="en-US" sz="2000">
                <a:solidFill>
                  <a:srgbClr val="000000"/>
                </a:solidFill>
                <a:latin typeface="Monaco"/>
              </a:rPr>
              <a:t>'</a:t>
            </a:r>
            <a:r>
              <a:rPr lang="en-US" sz="2000">
                <a:solidFill>
                  <a:srgbClr val="333333"/>
                </a:solidFill>
                <a:latin typeface="inherit"/>
              </a:rPr>
              <a:t>,</a:t>
            </a:r>
            <a:r>
              <a:rPr lang="en-US" sz="2000">
                <a:solidFill>
                  <a:srgbClr val="006FE0"/>
                </a:solidFill>
                <a:latin typeface="inherit"/>
              </a:rPr>
              <a:t> </a:t>
            </a:r>
            <a:r>
              <a:rPr lang="en-US" sz="2000">
                <a:solidFill>
                  <a:srgbClr val="008000"/>
                </a:solidFill>
                <a:latin typeface="inherit"/>
              </a:rPr>
              <a:t>"Image files (*.jpg *.gif)"</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imagePath</a:t>
            </a:r>
            <a:r>
              <a:rPr lang="en-US" sz="2000">
                <a:solidFill>
                  <a:srgbClr val="006FE0"/>
                </a:solidFill>
                <a:latin typeface="inherit"/>
              </a:rPr>
              <a:t> = </a:t>
            </a:r>
            <a:r>
              <a:rPr lang="en-US" sz="2000">
                <a:solidFill>
                  <a:srgbClr val="002D7A"/>
                </a:solidFill>
                <a:latin typeface="inherit"/>
              </a:rPr>
              <a:t>fname</a:t>
            </a:r>
            <a:r>
              <a:rPr lang="en-US" sz="2000">
                <a:solidFill>
                  <a:srgbClr val="333333"/>
                </a:solidFill>
                <a:latin typeface="inherit"/>
              </a:rPr>
              <a:t>[</a:t>
            </a:r>
            <a:r>
              <a:rPr lang="en-US" sz="2000">
                <a:solidFill>
                  <a:srgbClr val="CE0000"/>
                </a:solidFill>
                <a:latin typeface="inherit"/>
              </a:rPr>
              <a:t>0</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002D7A"/>
                </a:solidFill>
                <a:latin typeface="inherit"/>
              </a:rPr>
              <a:t>pixmap</a:t>
            </a:r>
            <a:r>
              <a:rPr lang="en-US" sz="2000">
                <a:solidFill>
                  <a:srgbClr val="006FE0"/>
                </a:solidFill>
                <a:latin typeface="inherit"/>
              </a:rPr>
              <a:t> = </a:t>
            </a:r>
            <a:r>
              <a:rPr lang="en-US" sz="2000">
                <a:solidFill>
                  <a:srgbClr val="004ED0"/>
                </a:solidFill>
                <a:latin typeface="inherit"/>
              </a:rPr>
              <a:t>QPixmap</a:t>
            </a:r>
            <a:r>
              <a:rPr lang="en-US" sz="2000">
                <a:solidFill>
                  <a:srgbClr val="333333"/>
                </a:solidFill>
                <a:latin typeface="inherit"/>
              </a:rPr>
              <a:t>(</a:t>
            </a:r>
            <a:r>
              <a:rPr lang="en-US" sz="2000">
                <a:solidFill>
                  <a:srgbClr val="002D7A"/>
                </a:solidFill>
                <a:latin typeface="inherit"/>
              </a:rPr>
              <a:t>imagePath</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2D7A"/>
                </a:solidFill>
                <a:latin typeface="inherit"/>
              </a:rPr>
              <a:t>label</a:t>
            </a:r>
            <a:r>
              <a:rPr lang="en-US" sz="2000">
                <a:solidFill>
                  <a:srgbClr val="333333"/>
                </a:solidFill>
                <a:latin typeface="inherit"/>
              </a:rPr>
              <a:t>.</a:t>
            </a:r>
            <a:r>
              <a:rPr lang="en-US" sz="2000">
                <a:solidFill>
                  <a:srgbClr val="004ED0"/>
                </a:solidFill>
                <a:latin typeface="inherit"/>
              </a:rPr>
              <a:t>setPixmap</a:t>
            </a:r>
            <a:r>
              <a:rPr lang="en-US" sz="2000">
                <a:solidFill>
                  <a:srgbClr val="333333"/>
                </a:solidFill>
                <a:latin typeface="inherit"/>
              </a:rPr>
              <a:t>(</a:t>
            </a:r>
            <a:r>
              <a:rPr lang="en-US" sz="2000">
                <a:solidFill>
                  <a:srgbClr val="004ED0"/>
                </a:solidFill>
                <a:latin typeface="inherit"/>
              </a:rPr>
              <a:t>QPixmap</a:t>
            </a:r>
            <a:r>
              <a:rPr lang="en-US" sz="2000">
                <a:solidFill>
                  <a:srgbClr val="333333"/>
                </a:solidFill>
                <a:latin typeface="inherit"/>
              </a:rPr>
              <a:t>(</a:t>
            </a:r>
            <a:r>
              <a:rPr lang="en-US" sz="2000">
                <a:solidFill>
                  <a:srgbClr val="002D7A"/>
                </a:solidFill>
                <a:latin typeface="inherit"/>
              </a:rPr>
              <a:t>pixmap</a:t>
            </a:r>
            <a:r>
              <a:rPr lang="en-US" sz="2000">
                <a:solidFill>
                  <a:srgbClr val="333333"/>
                </a:solidFill>
                <a:latin typeface="inherit"/>
              </a:rPr>
              <a:t>))</a:t>
            </a:r>
            <a:endParaRPr lang="en-US" sz="2000">
              <a:solidFill>
                <a:srgbClr val="000000"/>
              </a:solidFill>
              <a:latin typeface="Monaco"/>
            </a:endParaRPr>
          </a:p>
          <a:p>
            <a:pPr>
              <a:lnSpc>
                <a:spcPct val="90000"/>
              </a:lnSpc>
            </a:pPr>
            <a:r>
              <a:rPr lang="en-US" sz="2000">
                <a:solidFill>
                  <a:srgbClr val="006FE0"/>
                </a:solidFill>
                <a:latin typeface="inherit"/>
              </a:rPr>
              <a:t>        </a:t>
            </a:r>
            <a:r>
              <a:rPr lang="en-US" sz="2000">
                <a:solidFill>
                  <a:srgbClr val="800080"/>
                </a:solidFill>
                <a:latin typeface="inherit"/>
              </a:rPr>
              <a:t>self</a:t>
            </a:r>
            <a:r>
              <a:rPr lang="en-US" sz="2000">
                <a:solidFill>
                  <a:srgbClr val="333333"/>
                </a:solidFill>
                <a:latin typeface="inherit"/>
              </a:rPr>
              <a:t>.</a:t>
            </a:r>
            <a:r>
              <a:rPr lang="en-US" sz="2000">
                <a:solidFill>
                  <a:srgbClr val="004ED0"/>
                </a:solidFill>
                <a:latin typeface="inherit"/>
              </a:rPr>
              <a:t>resize</a:t>
            </a:r>
            <a:r>
              <a:rPr lang="en-US" sz="2000">
                <a:solidFill>
                  <a:srgbClr val="333333"/>
                </a:solidFill>
                <a:latin typeface="inherit"/>
              </a:rPr>
              <a:t>(</a:t>
            </a:r>
            <a:r>
              <a:rPr lang="en-US" sz="2000">
                <a:solidFill>
                  <a:srgbClr val="002D7A"/>
                </a:solidFill>
                <a:latin typeface="inherit"/>
              </a:rPr>
              <a:t>pixmap</a:t>
            </a:r>
            <a:r>
              <a:rPr lang="en-US" sz="2000">
                <a:solidFill>
                  <a:srgbClr val="333333"/>
                </a:solidFill>
                <a:latin typeface="inherit"/>
              </a:rPr>
              <a:t>.</a:t>
            </a:r>
            <a:r>
              <a:rPr lang="en-US" sz="2000">
                <a:solidFill>
                  <a:srgbClr val="004ED0"/>
                </a:solidFill>
                <a:latin typeface="inherit"/>
              </a:rPr>
              <a:t>width</a:t>
            </a:r>
            <a:r>
              <a:rPr lang="en-US" sz="2000">
                <a:solidFill>
                  <a:srgbClr val="333333"/>
                </a:solidFill>
                <a:latin typeface="inherit"/>
              </a:rPr>
              <a:t>(),</a:t>
            </a:r>
            <a:r>
              <a:rPr lang="en-US" sz="2000">
                <a:solidFill>
                  <a:srgbClr val="006FE0"/>
                </a:solidFill>
                <a:latin typeface="inherit"/>
              </a:rPr>
              <a:t> </a:t>
            </a:r>
            <a:r>
              <a:rPr lang="en-US" sz="2000">
                <a:solidFill>
                  <a:srgbClr val="002D7A"/>
                </a:solidFill>
                <a:latin typeface="inherit"/>
              </a:rPr>
              <a:t>pixmap</a:t>
            </a:r>
            <a:r>
              <a:rPr lang="en-US" sz="2000">
                <a:solidFill>
                  <a:srgbClr val="333333"/>
                </a:solidFill>
                <a:latin typeface="inherit"/>
              </a:rPr>
              <a:t>.</a:t>
            </a:r>
            <a:r>
              <a:rPr lang="en-US" sz="2000">
                <a:solidFill>
                  <a:srgbClr val="004ED0"/>
                </a:solidFill>
                <a:latin typeface="inherit"/>
              </a:rPr>
              <a:t>height</a:t>
            </a:r>
            <a:r>
              <a:rPr lang="en-US" sz="2000">
                <a:solidFill>
                  <a:srgbClr val="333333"/>
                </a:solidFill>
                <a:latin typeface="inherit"/>
              </a:rPr>
              <a:t>())</a:t>
            </a:r>
            <a:endParaRPr lang="en-US" sz="2000" b="0" i="0">
              <a:solidFill>
                <a:srgbClr val="000000"/>
              </a:solidFill>
              <a:effectLst/>
              <a:latin typeface="Monaco"/>
            </a:endParaRPr>
          </a:p>
        </p:txBody>
      </p:sp>
    </p:spTree>
    <p:extLst>
      <p:ext uri="{BB962C8B-B14F-4D97-AF65-F5344CB8AC3E}">
        <p14:creationId xmlns:p14="http://schemas.microsoft.com/office/powerpoint/2010/main" val="210790914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A91B2A-B2EE-443E-B8FE-F70763F7F14E}"/>
              </a:ext>
            </a:extLst>
          </p:cNvPr>
          <p:cNvSpPr>
            <a:spLocks noGrp="1"/>
          </p:cNvSpPr>
          <p:nvPr>
            <p:ph idx="1"/>
          </p:nvPr>
        </p:nvSpPr>
        <p:spPr>
          <a:xfrm>
            <a:off x="9624" y="702734"/>
            <a:ext cx="9134375" cy="1016000"/>
          </a:xfrm>
        </p:spPr>
        <p:txBody>
          <a:bodyPr/>
          <a:lstStyle/>
          <a:p>
            <a:pPr marL="0" indent="0">
              <a:buNone/>
            </a:pPr>
            <a:r>
              <a:rPr lang="vi-VN"/>
              <a:t>Cuối cùng, chúng ta tạo đối tượng của Window và QApplication</a:t>
            </a:r>
            <a:endParaRPr lang="en-US"/>
          </a:p>
        </p:txBody>
      </p:sp>
      <p:sp>
        <p:nvSpPr>
          <p:cNvPr id="4" name="Title 1">
            <a:extLst>
              <a:ext uri="{FF2B5EF4-FFF2-40B4-BE49-F238E27FC236}">
                <a16:creationId xmlns:a16="http://schemas.microsoft.com/office/drawing/2014/main" id="{624436AE-7141-4AD2-8982-2B62E6CC1841}"/>
              </a:ext>
            </a:extLst>
          </p:cNvPr>
          <p:cNvSpPr>
            <a:spLocks noGrp="1"/>
          </p:cNvSpPr>
          <p:nvPr>
            <p:ph type="title"/>
          </p:nvPr>
        </p:nvSpPr>
        <p:spPr>
          <a:xfrm>
            <a:off x="9624" y="19250"/>
            <a:ext cx="9134375" cy="683483"/>
          </a:xfrm>
        </p:spPr>
        <p:txBody>
          <a:bodyPr>
            <a:normAutofit fontScale="90000"/>
          </a:bodyPr>
          <a:lstStyle/>
          <a:p>
            <a:r>
              <a:rPr lang="en-US"/>
              <a:t>Dùng QFileDialog duyệt tìm hình ảnh (t.t)</a:t>
            </a:r>
          </a:p>
        </p:txBody>
      </p:sp>
      <p:sp>
        <p:nvSpPr>
          <p:cNvPr id="5" name="Rectangle 4">
            <a:extLst>
              <a:ext uri="{FF2B5EF4-FFF2-40B4-BE49-F238E27FC236}">
                <a16:creationId xmlns:a16="http://schemas.microsoft.com/office/drawing/2014/main" id="{61E23EC0-EAD8-4E78-8FAD-A02832C4E3C0}"/>
              </a:ext>
            </a:extLst>
          </p:cNvPr>
          <p:cNvSpPr/>
          <p:nvPr/>
        </p:nvSpPr>
        <p:spPr>
          <a:xfrm>
            <a:off x="2235200" y="1214735"/>
            <a:ext cx="3750733" cy="1200329"/>
          </a:xfrm>
          <a:prstGeom prst="rect">
            <a:avLst/>
          </a:prstGeom>
          <a:solidFill>
            <a:schemeClr val="accent4">
              <a:lumMod val="20000"/>
              <a:lumOff val="80000"/>
            </a:schemeClr>
          </a:solidFill>
        </p:spPr>
        <p:txBody>
          <a:bodyPr wrap="square">
            <a:spAutoFit/>
          </a:bodyPr>
          <a:lstStyle/>
          <a:p>
            <a:r>
              <a:rPr lang="en-US" sz="2400">
                <a:solidFill>
                  <a:srgbClr val="002D7A"/>
                </a:solidFill>
                <a:latin typeface="inherit"/>
              </a:rPr>
              <a:t>App</a:t>
            </a:r>
            <a:r>
              <a:rPr lang="en-US" sz="2400">
                <a:solidFill>
                  <a:srgbClr val="006FE0"/>
                </a:solidFill>
                <a:latin typeface="inherit"/>
              </a:rPr>
              <a:t> = </a:t>
            </a:r>
            <a:r>
              <a:rPr lang="en-US" sz="2400">
                <a:solidFill>
                  <a:srgbClr val="004ED0"/>
                </a:solidFill>
                <a:latin typeface="inherit"/>
              </a:rPr>
              <a:t>QApplication</a:t>
            </a:r>
            <a:r>
              <a:rPr lang="en-US" sz="2400">
                <a:solidFill>
                  <a:srgbClr val="333333"/>
                </a:solidFill>
                <a:latin typeface="inherit"/>
              </a:rPr>
              <a:t>(</a:t>
            </a:r>
            <a:r>
              <a:rPr lang="en-US" sz="2400">
                <a:solidFill>
                  <a:srgbClr val="002D7A"/>
                </a:solidFill>
                <a:latin typeface="inherit"/>
              </a:rPr>
              <a:t>sys</a:t>
            </a:r>
            <a:r>
              <a:rPr lang="en-US" sz="2400">
                <a:solidFill>
                  <a:srgbClr val="333333"/>
                </a:solidFill>
                <a:latin typeface="inherit"/>
              </a:rPr>
              <a:t>.</a:t>
            </a:r>
            <a:r>
              <a:rPr lang="en-US" sz="2400">
                <a:solidFill>
                  <a:srgbClr val="002D7A"/>
                </a:solidFill>
                <a:latin typeface="inherit"/>
              </a:rPr>
              <a:t>argv</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window</a:t>
            </a:r>
            <a:r>
              <a:rPr lang="en-US" sz="2400">
                <a:solidFill>
                  <a:srgbClr val="006FE0"/>
                </a:solidFill>
                <a:latin typeface="inherit"/>
              </a:rPr>
              <a:t> = </a:t>
            </a:r>
            <a:r>
              <a:rPr lang="en-US" sz="2400">
                <a:solidFill>
                  <a:srgbClr val="004ED0"/>
                </a:solidFill>
                <a:latin typeface="inherit"/>
              </a:rPr>
              <a:t>Window</a:t>
            </a:r>
            <a:r>
              <a:rPr lang="en-US" sz="2400">
                <a:solidFill>
                  <a:srgbClr val="333333"/>
                </a:solidFill>
                <a:latin typeface="inherit"/>
              </a:rPr>
              <a:t>()</a:t>
            </a:r>
            <a:endParaRPr lang="en-US" sz="2400">
              <a:solidFill>
                <a:srgbClr val="000000"/>
              </a:solidFill>
              <a:latin typeface="Monaco"/>
            </a:endParaRPr>
          </a:p>
          <a:p>
            <a:r>
              <a:rPr lang="en-US" sz="2400">
                <a:solidFill>
                  <a:srgbClr val="002D7A"/>
                </a:solidFill>
                <a:latin typeface="inherit"/>
              </a:rPr>
              <a:t>sys</a:t>
            </a:r>
            <a:r>
              <a:rPr lang="en-US" sz="2400">
                <a:solidFill>
                  <a:srgbClr val="333333"/>
                </a:solidFill>
                <a:latin typeface="inherit"/>
              </a:rPr>
              <a:t>.</a:t>
            </a:r>
            <a:r>
              <a:rPr lang="en-US" sz="2400">
                <a:solidFill>
                  <a:srgbClr val="004ED0"/>
                </a:solidFill>
                <a:latin typeface="inherit"/>
              </a:rPr>
              <a:t>exit</a:t>
            </a:r>
            <a:r>
              <a:rPr lang="en-US" sz="2400">
                <a:solidFill>
                  <a:srgbClr val="333333"/>
                </a:solidFill>
                <a:latin typeface="inherit"/>
              </a:rPr>
              <a:t>(</a:t>
            </a:r>
            <a:r>
              <a:rPr lang="en-US" sz="2400">
                <a:solidFill>
                  <a:srgbClr val="002D7A"/>
                </a:solidFill>
                <a:latin typeface="inherit"/>
              </a:rPr>
              <a:t>App</a:t>
            </a:r>
            <a:r>
              <a:rPr lang="en-US" sz="2400">
                <a:solidFill>
                  <a:srgbClr val="333333"/>
                </a:solidFill>
                <a:latin typeface="inherit"/>
              </a:rPr>
              <a:t>.</a:t>
            </a:r>
            <a:r>
              <a:rPr lang="en-US" sz="2400">
                <a:solidFill>
                  <a:srgbClr val="004ED0"/>
                </a:solidFill>
                <a:latin typeface="inherit"/>
              </a:rPr>
              <a:t>exec</a:t>
            </a:r>
            <a:r>
              <a:rPr lang="en-US" sz="2400">
                <a:solidFill>
                  <a:srgbClr val="333333"/>
                </a:solidFill>
                <a:latin typeface="inherit"/>
              </a:rPr>
              <a:t>())</a:t>
            </a:r>
            <a:endParaRPr lang="en-US" sz="2400" b="0" i="0">
              <a:solidFill>
                <a:srgbClr val="000000"/>
              </a:solidFill>
              <a:effectLst/>
              <a:latin typeface="Monaco"/>
            </a:endParaRPr>
          </a:p>
        </p:txBody>
      </p:sp>
      <p:pic>
        <p:nvPicPr>
          <p:cNvPr id="12290" name="Picture 2" descr="HÃ¬nh áº£nh duyá»t web PyQt5 QFileDialog">
            <a:extLst>
              <a:ext uri="{FF2B5EF4-FFF2-40B4-BE49-F238E27FC236}">
                <a16:creationId xmlns:a16="http://schemas.microsoft.com/office/drawing/2014/main" id="{E8D87F99-409F-4DBE-B421-76C31A50C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1666" y="2765112"/>
            <a:ext cx="5807605" cy="382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6579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843</TotalTime>
  <Words>17238</Words>
  <Application>Microsoft Office PowerPoint</Application>
  <PresentationFormat>On-screen Show (4:3)</PresentationFormat>
  <Paragraphs>4637</Paragraphs>
  <Slides>145</Slides>
  <Notes>90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145</vt:i4>
      </vt:variant>
    </vt:vector>
  </HeadingPairs>
  <TitlesOfParts>
    <vt:vector size="153" baseType="lpstr">
      <vt:lpstr>Arial</vt:lpstr>
      <vt:lpstr>Calibri</vt:lpstr>
      <vt:lpstr>Calibri (Body)</vt:lpstr>
      <vt:lpstr>Calibri Light</vt:lpstr>
      <vt:lpstr>inherit</vt:lpstr>
      <vt:lpstr>Monaco</vt:lpstr>
      <vt:lpstr>Times New Roman</vt:lpstr>
      <vt:lpstr>Office Theme</vt:lpstr>
      <vt:lpstr>Giới thiệu PyQt5 Tạo cửa sổ đầu tiên</vt:lpstr>
      <vt:lpstr>PyQt5 là gì?</vt:lpstr>
      <vt:lpstr>Trước khi bắt đầu viết mã lệnh, cần cài đặt PyQt5</vt:lpstr>
      <vt:lpstr>Các bước tạo giao diện</vt:lpstr>
      <vt:lpstr>Các bước tạo giao diện (t.t)</vt:lpstr>
      <vt:lpstr>Cách tạo QPushButton trong PyQt5</vt:lpstr>
      <vt:lpstr>PowerPoint Presentation</vt:lpstr>
      <vt:lpstr>Ví dụ về signal và slot PyQt5</vt:lpstr>
      <vt:lpstr>Ví dụ về signal và slot PyQt5 (t.t)</vt:lpstr>
      <vt:lpstr>Ví dụ về signal và slot PyQt5 (t.t)</vt:lpstr>
      <vt:lpstr>Bố cục QHBox và QVBox</vt:lpstr>
      <vt:lpstr>Bố cục QHBox và QVBox (t.t)</vt:lpstr>
      <vt:lpstr>Bố cục QHBox và QVBox (t.t)</vt:lpstr>
      <vt:lpstr>Bố cục QHBox và QVBox (t.t)</vt:lpstr>
      <vt:lpstr>Bố cục lưới</vt:lpstr>
      <vt:lpstr>Bố cục lưới (t.t)</vt:lpstr>
      <vt:lpstr>Bố cục lưới (t.t)</vt:lpstr>
      <vt:lpstr>Bố cục lưới (t.t)</vt:lpstr>
      <vt:lpstr>Tạo Label &amp; Stylesheets bằng Label</vt:lpstr>
      <vt:lpstr>Tạo Label &amp; Stylesheets bằng Label (t.t)</vt:lpstr>
      <vt:lpstr>Thêm hình ảnh vào cửa sổ PyQt</vt:lpstr>
      <vt:lpstr>Thêm hình ảnh vào cửa sổ PyQt (t.t)</vt:lpstr>
      <vt:lpstr>Tạo QRadioButton với Toggled Signal</vt:lpstr>
      <vt:lpstr>Tạo QRadioButton với Toggled Signal (t.t)</vt:lpstr>
      <vt:lpstr>Tạo QRadioButton với Toggled Signal (t.t)</vt:lpstr>
      <vt:lpstr>Tạo QRadioButton với Toggled Signal (t.t)</vt:lpstr>
      <vt:lpstr>Tạo QCheckBox với signal</vt:lpstr>
      <vt:lpstr>Tạo QCheckBox với signal (t.t)</vt:lpstr>
      <vt:lpstr>Tạo QCheckBox với signal (t.t)</vt:lpstr>
      <vt:lpstr>Tạo QCheckBox với signal (t.t)</vt:lpstr>
      <vt:lpstr>Tạo lớp widget WHATISTHIS</vt:lpstr>
      <vt:lpstr>Tạo lớp widget WHATISTHIS (t.t)</vt:lpstr>
      <vt:lpstr>Tạo lớp widget WHATISTHIS (t.t)</vt:lpstr>
      <vt:lpstr>Tạo QLineEdit với signal returnPressed</vt:lpstr>
      <vt:lpstr>Tạo QLineEdit với signal returnPressed (t.t)</vt:lpstr>
      <vt:lpstr>Tạo QLineEdit với signal returnPressed (t.t)</vt:lpstr>
      <vt:lpstr>Cách tạo QButtonGroup</vt:lpstr>
      <vt:lpstr>Cách tạo QButtonGroup (t.t)</vt:lpstr>
      <vt:lpstr>Tạo QGroupBox  trong PyQt</vt:lpstr>
      <vt:lpstr>Tạo QGroupBox trong PyQt (t.t)</vt:lpstr>
      <vt:lpstr>Cách tạo cửa sổ không khung (Frameless Window) trong PyQt5</vt:lpstr>
      <vt:lpstr>Cách tạo Frameless Window (t.t)</vt:lpstr>
      <vt:lpstr>Cách tạo khung trong PyQt5 (QFrame)</vt:lpstr>
      <vt:lpstr>Cách tạo khung trong PyQt5 (QFrame) (t.t)</vt:lpstr>
      <vt:lpstr>Cách tạo QSplitter</vt:lpstr>
      <vt:lpstr>Cách tạo QSplitter (t.t)</vt:lpstr>
      <vt:lpstr>Cách tạo QSlider trong PyQt5</vt:lpstr>
      <vt:lpstr>Cách tạo QSlider trong PyQt5 (t.t)</vt:lpstr>
      <vt:lpstr>Cách tạo QSlider trong PyQt5 (t.t)</vt:lpstr>
      <vt:lpstr>Tạo QScrollArea trong PyQt5</vt:lpstr>
      <vt:lpstr>Tạo QScrollArea trong PyQt5 (t.t)</vt:lpstr>
      <vt:lpstr>Ví dụ về QDial với signal valueChanged</vt:lpstr>
      <vt:lpstr>Ví dụ về QDial với signal valueChanged (t.t)</vt:lpstr>
      <vt:lpstr>Ví dụ về QDial với signal valueChanged (t.t)</vt:lpstr>
      <vt:lpstr>Cách tạo QSpinBox trong PyQt5</vt:lpstr>
      <vt:lpstr>Cách tạo QSpinBox trong PyQt5 (t.t)</vt:lpstr>
      <vt:lpstr>Tạo số ngẫu nhiên với QLCDNumber</vt:lpstr>
      <vt:lpstr>Tạo số ngẫu nhiên với QLCDNumber (t.t)</vt:lpstr>
      <vt:lpstr>Tạo số ngẫu nhiên với QLCDNumber (t.t)</vt:lpstr>
      <vt:lpstr>Ví dụ QProgressbar với QThread</vt:lpstr>
      <vt:lpstr>Ví dụ QProgressbar với QThread (t.t)</vt:lpstr>
      <vt:lpstr>Ví dụ QProgressbar với QThread (t.t)</vt:lpstr>
      <vt:lpstr>Tạo ứng dụng với QToolBox</vt:lpstr>
      <vt:lpstr>Tạo ứng dụng với QToolBox (t.t)</vt:lpstr>
      <vt:lpstr>Tạo ứng dụng với QToolBox (t.t)</vt:lpstr>
      <vt:lpstr>Tạo ứng dụng với QToolBox (t.t)</vt:lpstr>
      <vt:lpstr>Phát triển ứng dụng với QMenuBar </vt:lpstr>
      <vt:lpstr>Phát triển ứng dụng với QMenuBar (t.t)</vt:lpstr>
      <vt:lpstr>Phát triển ứng dụng với QMenuBar (t.t)</vt:lpstr>
      <vt:lpstr>Phát triển ứng dụng với QToolBar</vt:lpstr>
      <vt:lpstr>Phát triển ứng dụng với QToolBar (t.t)</vt:lpstr>
      <vt:lpstr>Phát triển ứng dụng với QToolBar (t.t)</vt:lpstr>
      <vt:lpstr>Cách tạo QTextEdit trong PyQt5</vt:lpstr>
      <vt:lpstr>Cách tạo QTextEdit trong PyQt5 (t.t)</vt:lpstr>
      <vt:lpstr>Cách tạo QTextEdit trong PyQt5 (t.t)</vt:lpstr>
      <vt:lpstr>Cách tạo QFontDialog trong PyQt5</vt:lpstr>
      <vt:lpstr>Cách tạo QFontDialog trong PyQt5 (t.t)</vt:lpstr>
      <vt:lpstr>Cách tạo QFontDialog trong PyQt5 (t.t)</vt:lpstr>
      <vt:lpstr>Cách tạo QColorDialog trong PyQt5</vt:lpstr>
      <vt:lpstr>Cách tạo QColorDialog trong PyQt5 (t.t)</vt:lpstr>
      <vt:lpstr>Cách tạo QColorDialog trong PyQt5 (t.t)</vt:lpstr>
      <vt:lpstr>Tạo QPrintDialog trong PyQt5</vt:lpstr>
      <vt:lpstr>Tạo QPrintDialog trong PyQt5 (t.t)</vt:lpstr>
      <vt:lpstr>Tạo QPrintDialog trong PyQt5 (t.t)</vt:lpstr>
      <vt:lpstr>Tạo hộp thoại xem trước-Print Preview (QPrintPreviewDialog)</vt:lpstr>
      <vt:lpstr>Tạo hộp thoại xem trước-Print Preview (QPrintPreviewDialog) (t.t)</vt:lpstr>
      <vt:lpstr>Tạo hộp thoại xem trước-Print Preview (QPrintPreviewDialog) (t.t)</vt:lpstr>
      <vt:lpstr>Tạo hộp thoại xem trước-Print Preview (QPrintPreviewDialog) (t.t)</vt:lpstr>
      <vt:lpstr>Cách xuất tệp dưới dạng PDF trong PyQt5</vt:lpstr>
      <vt:lpstr>Cách xuất tệp dưới dạng PDF trong PyQt5 (t.t)</vt:lpstr>
      <vt:lpstr>Cách xuất tệp dưới dạng PDF trong PyQt5 (t.t)</vt:lpstr>
      <vt:lpstr>Ví dụ QMessageBox của PyQt5</vt:lpstr>
      <vt:lpstr>Ví dụ QMessageBox của PyQt5 (t.t)</vt:lpstr>
      <vt:lpstr>Ví dụ QMessageBox của PyQt5 (t.t)</vt:lpstr>
      <vt:lpstr>Ví dụ QMessageBox của PyQt5 (t.t)</vt:lpstr>
      <vt:lpstr>Cách tạo Menu ngữ cảnh trong PyQt5</vt:lpstr>
      <vt:lpstr>Cách tạo Menu ngữ cảnh trong PyQt5 (t.t)</vt:lpstr>
      <vt:lpstr>Cách tạo Menu ngữ cảnh trong PyQt5 (t.t)</vt:lpstr>
      <vt:lpstr>Cách tạo QTabWidget trong PyQt5</vt:lpstr>
      <vt:lpstr>Cách tạo QTabWidget trong PyQt5 (t.t)</vt:lpstr>
      <vt:lpstr>Cách tạo QTabWidget trong PyQt5 (t.t)</vt:lpstr>
      <vt:lpstr>Cách tạo QTabWidget trong PyQt5 (t.t)</vt:lpstr>
      <vt:lpstr>Cách tạo QStackedWidget trong PyQt5</vt:lpstr>
      <vt:lpstr>Cách tạo QStackdWidget trong PyQt5 (t.t)</vt:lpstr>
      <vt:lpstr>Cách tạo QStackdWidget trong PyQt5 (t.t)</vt:lpstr>
      <vt:lpstr>Cách tạo Widget DockAble trong PyQt5</vt:lpstr>
      <vt:lpstr>Cách tạo Widget DockAble trong PyQt5</vt:lpstr>
      <vt:lpstr>Cách tạo Widget DockAble trong PyQt5 (t.t)</vt:lpstr>
      <vt:lpstr>Cách tạo QComboBox trong PyQt5</vt:lpstr>
      <vt:lpstr>Cách tạo QComboBox trong PyQt5 (t.t)</vt:lpstr>
      <vt:lpstr>Cách tạo QComboBox trong PyQt5 (t.t)</vt:lpstr>
      <vt:lpstr>Ví dụ về cách tạo QCompleter</vt:lpstr>
      <vt:lpstr>Ví dụ về cách tạo QCompleter (t.t)</vt:lpstr>
      <vt:lpstr>Ví dụ về cách tạo QCompleter (t.t)</vt:lpstr>
      <vt:lpstr>Mở hộp thoại thứ hai bằng cách nhấp vào nút nhấn</vt:lpstr>
      <vt:lpstr>PowerPoint Presentation</vt:lpstr>
      <vt:lpstr>Cách tạo QTimeEdit trong PyQt5</vt:lpstr>
      <vt:lpstr>PowerPoint Presentation</vt:lpstr>
      <vt:lpstr>Ví dụ thực tế về QListWidget </vt:lpstr>
      <vt:lpstr>Ví dụ thực tế về QListWidget (t.t)</vt:lpstr>
      <vt:lpstr>Ví dụ thực tế về QListWidget (t.t)</vt:lpstr>
      <vt:lpstr>Tạo dự án đơn giản với QListWidget</vt:lpstr>
      <vt:lpstr>Tạo dự án đơn giản với QListWidget (t.t)</vt:lpstr>
      <vt:lpstr>Tạo dự án đơn giản với QListWidget (t.t)</vt:lpstr>
      <vt:lpstr>Tạo dự án đơn giản với QListWidget (t.t)</vt:lpstr>
      <vt:lpstr>Tạo dự án đơn giản với QListWidget (t.t)</vt:lpstr>
      <vt:lpstr>Tạo bảng với QTableWidget</vt:lpstr>
      <vt:lpstr>Tạo bảng với QTableWidget (t.t)</vt:lpstr>
      <vt:lpstr>Tạo bảng với QTableWidget (t.t)</vt:lpstr>
      <vt:lpstr>Tạo bảng với QTableWidget (t.t)</vt:lpstr>
      <vt:lpstr>Tạo bảng với QTableWidget (t.t)</vt:lpstr>
      <vt:lpstr>Ví dụ QPlainTextEdit trong PyQt5</vt:lpstr>
      <vt:lpstr>PowerPoint Presentation</vt:lpstr>
      <vt:lpstr>Ví dụ QPlainTextEdit trong PyQt5 (t.t)</vt:lpstr>
      <vt:lpstr>Ví dụ QPlainTextEdit trong PyQt5 (t.t)</vt:lpstr>
      <vt:lpstr>Ví dụ QPlainTextEdit trong PyQt5 (t.t)</vt:lpstr>
      <vt:lpstr>Tạo Wizard Page với QWizard</vt:lpstr>
      <vt:lpstr>Tạo Wizard Page với QWizard (t.t)</vt:lpstr>
      <vt:lpstr>Tạo Wizard Page với QWizard (t.t)</vt:lpstr>
      <vt:lpstr>Tạo Wizard Page với QWizard (t.t)</vt:lpstr>
      <vt:lpstr>Dùng QFileDialog duyệt tìm hình ảnh</vt:lpstr>
      <vt:lpstr>Dùng QFileDialog duyệt tìm hình ảnh (t.t)</vt:lpstr>
      <vt:lpstr>Dùng QFileDialog duyệt tìm hình ảnh (t.t)</vt:lpstr>
      <vt:lpstr>Dùng QFileDialog duyệt tìm hình ảnh (t.t)</vt:lpstr>
      <vt:lpstr>Dùng QFileDialog duyệt tìm hình ảnh (t.t)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bruce shelby</dc:creator>
  <cp:lastModifiedBy>Long Truong</cp:lastModifiedBy>
  <cp:revision>1186</cp:revision>
  <dcterms:created xsi:type="dcterms:W3CDTF">2019-08-06T13:27:04Z</dcterms:created>
  <dcterms:modified xsi:type="dcterms:W3CDTF">2019-08-08T14:52:15Z</dcterms:modified>
</cp:coreProperties>
</file>