
<file path=[Content_Types].xml><?xml version="1.0" encoding="utf-8"?>
<Types xmlns="http://schemas.openxmlformats.org/package/2006/content-types">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57" r:id="rId3"/>
    <p:sldId id="258" r:id="rId4"/>
    <p:sldId id="488" r:id="rId5"/>
    <p:sldId id="334" r:id="rId6"/>
    <p:sldId id="489" r:id="rId7"/>
    <p:sldId id="372" r:id="rId8"/>
    <p:sldId id="490" r:id="rId9"/>
    <p:sldId id="492" r:id="rId10"/>
    <p:sldId id="493" r:id="rId11"/>
    <p:sldId id="494" r:id="rId12"/>
    <p:sldId id="495" r:id="rId13"/>
    <p:sldId id="496" r:id="rId14"/>
    <p:sldId id="497" r:id="rId15"/>
    <p:sldId id="498" r:id="rId16"/>
    <p:sldId id="499" r:id="rId17"/>
    <p:sldId id="500" r:id="rId18"/>
    <p:sldId id="501" r:id="rId19"/>
    <p:sldId id="502" r:id="rId20"/>
    <p:sldId id="503" r:id="rId21"/>
    <p:sldId id="504" r:id="rId22"/>
    <p:sldId id="505" r:id="rId23"/>
    <p:sldId id="506" r:id="rId24"/>
    <p:sldId id="507" r:id="rId25"/>
    <p:sldId id="508" r:id="rId26"/>
    <p:sldId id="509" r:id="rId27"/>
    <p:sldId id="510" r:id="rId28"/>
    <p:sldId id="511"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5C59D34-11D3-4DA4-83EF-24D8FD6300F5}">
          <p14:sldIdLst>
            <p14:sldId id="256"/>
            <p14:sldId id="257"/>
            <p14:sldId id="258"/>
            <p14:sldId id="488"/>
            <p14:sldId id="334"/>
            <p14:sldId id="489"/>
            <p14:sldId id="372"/>
            <p14:sldId id="490"/>
            <p14:sldId id="492"/>
            <p14:sldId id="493"/>
            <p14:sldId id="494"/>
            <p14:sldId id="495"/>
            <p14:sldId id="496"/>
            <p14:sldId id="497"/>
            <p14:sldId id="498"/>
            <p14:sldId id="499"/>
            <p14:sldId id="500"/>
            <p14:sldId id="501"/>
            <p14:sldId id="502"/>
            <p14:sldId id="503"/>
            <p14:sldId id="504"/>
            <p14:sldId id="505"/>
            <p14:sldId id="506"/>
            <p14:sldId id="507"/>
            <p14:sldId id="508"/>
            <p14:sldId id="509"/>
            <p14:sldId id="510"/>
            <p14:sldId id="511"/>
          </p14:sldIdLst>
        </p14:section>
        <p14:section name="Radio Button" id="{1A23179E-0E45-4F2B-9B2B-53C376ECD7B0}">
          <p14:sldIdLst/>
        </p14:section>
        <p14:section name="checkboxes" id="{A00EFFBC-94E6-4C6A-A3F4-16754BAD0FC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85451" autoAdjust="0"/>
  </p:normalViewPr>
  <p:slideViewPr>
    <p:cSldViewPr snapToGrid="0">
      <p:cViewPr varScale="1">
        <p:scale>
          <a:sx n="69" d="100"/>
          <a:sy n="69" d="100"/>
        </p:scale>
        <p:origin x="13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A2B099-58B4-4AB1-94B8-C1C58CCB9DA3}" type="datetimeFigureOut">
              <a:rPr lang="en-US" smtClean="0"/>
              <a:t>11/14/2019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18AA1-6D54-4DFE-8137-C54D164A4B2B}" type="slidenum">
              <a:rPr lang="en-US" smtClean="0"/>
              <a:t>‹#›</a:t>
            </a:fld>
            <a:endParaRPr lang="en-US"/>
          </a:p>
        </p:txBody>
      </p:sp>
    </p:spTree>
    <p:extLst>
      <p:ext uri="{BB962C8B-B14F-4D97-AF65-F5344CB8AC3E}">
        <p14:creationId xmlns:p14="http://schemas.microsoft.com/office/powerpoint/2010/main" val="1480592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20250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4064473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8848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94314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80289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57217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272448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15917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14818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43493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11/14/2019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06932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59" y="28244"/>
            <a:ext cx="9102490" cy="9054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59" y="1020278"/>
            <a:ext cx="9102490" cy="58094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1050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65AF-1E9D-4F47-A457-BB8E06933EF4}"/>
              </a:ext>
            </a:extLst>
          </p:cNvPr>
          <p:cNvSpPr>
            <a:spLocks noGrp="1"/>
          </p:cNvSpPr>
          <p:nvPr>
            <p:ph type="ctrTitle"/>
          </p:nvPr>
        </p:nvSpPr>
        <p:spPr>
          <a:xfrm>
            <a:off x="685800" y="1122363"/>
            <a:ext cx="8216660" cy="2387600"/>
          </a:xfrm>
        </p:spPr>
        <p:txBody>
          <a:bodyPr>
            <a:normAutofit/>
          </a:bodyPr>
          <a:lstStyle/>
          <a:p>
            <a:r>
              <a:rPr lang="en-US">
                <a:latin typeface="Times New Roman" panose="02020603050405020304" pitchFamily="18" charset="0"/>
                <a:cs typeface="Times New Roman" panose="02020603050405020304" pitchFamily="18" charset="0"/>
              </a:rPr>
              <a:t>IMPLEMENTING ANIMATION</a:t>
            </a:r>
            <a:endParaRPr lang="en-US"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AD84004-3706-4DD2-91FA-FF80F7B22CB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942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58F1-071A-4A8D-8390-AD8C3E95F272}"/>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Nội</a:t>
            </a:r>
            <a:r>
              <a:rPr lang="en-US" dirty="0">
                <a:latin typeface="Times New Roman" panose="02020603050405020304" pitchFamily="18" charset="0"/>
                <a:cs typeface="Times New Roman" panose="02020603050405020304" pitchFamily="18" charset="0"/>
              </a:rPr>
              <a:t> dung</a:t>
            </a:r>
          </a:p>
        </p:txBody>
      </p:sp>
      <p:sp>
        <p:nvSpPr>
          <p:cNvPr id="3" name="Content Placeholder 2">
            <a:extLst>
              <a:ext uri="{FF2B5EF4-FFF2-40B4-BE49-F238E27FC236}">
                <a16:creationId xmlns:a16="http://schemas.microsoft.com/office/drawing/2014/main" id="{BE9A2F4A-DFA5-41F5-BD92-39E9675D4196}"/>
              </a:ext>
            </a:extLst>
          </p:cNvPr>
          <p:cNvSpPr>
            <a:spLocks noGrp="1"/>
          </p:cNvSpPr>
          <p:nvPr>
            <p:ph idx="1"/>
          </p:nvPr>
        </p:nvSpPr>
        <p:spPr>
          <a:xfrm>
            <a:off x="0" y="729333"/>
            <a:ext cx="9102490" cy="5809479"/>
          </a:xfrm>
        </p:spPr>
        <p:txBody>
          <a:bodyPr>
            <a:noAutofit/>
          </a:bodyPr>
          <a:lstStyle/>
          <a:p>
            <a:pPr marL="0" indent="0">
              <a:buNone/>
            </a:pPr>
            <a:r>
              <a:rPr lang="en-US" sz="3200" dirty="0" err="1">
                <a:latin typeface="Times New Roman" panose="02020603050405020304" pitchFamily="18" charset="0"/>
                <a:cs typeface="Times New Roman" panose="02020603050405020304" pitchFamily="18" charset="0"/>
              </a:rPr>
              <a:t>Chúng</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ta sẽ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tìm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hiểu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nội</a:t>
            </a:r>
            <a:r>
              <a:rPr lang="en-US" sz="3200" dirty="0">
                <a:latin typeface="Times New Roman" panose="02020603050405020304" pitchFamily="18" charset="0"/>
                <a:cs typeface="Times New Roman" panose="02020603050405020304" pitchFamily="18" charset="0"/>
              </a:rPr>
              <a:t> dung </a:t>
            </a:r>
            <a:r>
              <a:rPr lang="en-US" sz="3200" dirty="0" err="1">
                <a:latin typeface="Times New Roman" panose="02020603050405020304" pitchFamily="18" charset="0"/>
                <a:cs typeface="Times New Roman" panose="02020603050405020304" pitchFamily="18" charset="0"/>
              </a:rPr>
              <a:t>nh</a:t>
            </a:r>
            <a:r>
              <a:rPr lang="vi-VN" sz="3200" dirty="0">
                <a:latin typeface="Times New Roman" panose="02020603050405020304" pitchFamily="18" charset="0"/>
                <a:cs typeface="Times New Roman" panose="02020603050405020304" pitchFamily="18" charset="0"/>
              </a:rPr>
              <a:t>ư</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sau</a:t>
            </a:r>
            <a:r>
              <a:rPr lang="vi-VN" sz="3200" dirty="0">
                <a:latin typeface="Times New Roman" panose="02020603050405020304" pitchFamily="18" charset="0"/>
                <a:cs typeface="Times New Roman" panose="02020603050405020304" pitchFamily="18" charset="0"/>
              </a:rPr>
              <a:t>:</a:t>
            </a:r>
          </a:p>
          <a:p>
            <a:r>
              <a:rPr lang="vi-VN" sz="3200">
                <a:latin typeface="Times New Roman" panose="02020603050405020304" pitchFamily="18" charset="0"/>
                <a:cs typeface="Times New Roman" panose="02020603050405020304" pitchFamily="18" charset="0"/>
              </a:rPr>
              <a:t>Hiển thị hình ảnh đồ họa 2D</a:t>
            </a:r>
            <a:endParaRPr lang="en-US" sz="3200">
              <a:latin typeface="Times New Roman" panose="02020603050405020304" pitchFamily="18" charset="0"/>
              <a:cs typeface="Times New Roman" panose="02020603050405020304" pitchFamily="18" charset="0"/>
            </a:endParaRPr>
          </a:p>
          <a:p>
            <a:r>
              <a:rPr lang="vi-VN" sz="3200">
                <a:latin typeface="Times New Roman" panose="02020603050405020304" pitchFamily="18" charset="0"/>
                <a:cs typeface="Times New Roman" panose="02020603050405020304" pitchFamily="18" charset="0"/>
              </a:rPr>
              <a:t>Làm cho một quả bóng di chuyển xuống trên nút bấm</a:t>
            </a:r>
            <a:endParaRPr lang="en-US" sz="3200">
              <a:latin typeface="Times New Roman" panose="02020603050405020304" pitchFamily="18" charset="0"/>
              <a:cs typeface="Times New Roman" panose="02020603050405020304" pitchFamily="18" charset="0"/>
            </a:endParaRPr>
          </a:p>
          <a:p>
            <a:r>
              <a:rPr lang="vi-VN" sz="3200">
                <a:latin typeface="Times New Roman" panose="02020603050405020304" pitchFamily="18" charset="0"/>
                <a:cs typeface="Times New Roman" panose="02020603050405020304" pitchFamily="18" charset="0"/>
              </a:rPr>
              <a:t>Làm một quả bóng nảy</a:t>
            </a:r>
            <a:endParaRPr lang="en-US" sz="3200">
              <a:latin typeface="Times New Roman" panose="02020603050405020304" pitchFamily="18" charset="0"/>
              <a:cs typeface="Times New Roman" panose="02020603050405020304" pitchFamily="18" charset="0"/>
            </a:endParaRPr>
          </a:p>
          <a:p>
            <a:r>
              <a:rPr lang="vi-VN" sz="3200">
                <a:latin typeface="Times New Roman" panose="02020603050405020304" pitchFamily="18" charset="0"/>
                <a:cs typeface="Times New Roman" panose="02020603050405020304" pitchFamily="18" charset="0"/>
              </a:rPr>
              <a:t>Tạo một quả bóng sinh động theo đường cong quy định</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502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Gi</a:t>
            </a:r>
            <a:r>
              <a:rPr lang="vi-VN">
                <a:latin typeface="Times New Roman" panose="02020603050405020304" pitchFamily="18" charset="0"/>
                <a:cs typeface="Times New Roman" panose="02020603050405020304" pitchFamily="18" charset="0"/>
              </a:rPr>
              <a:t>ớ</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Thiệu</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a:latin typeface="+mj-lt"/>
              </a:rPr>
              <a:t>Để xem và quản lý các mục đồ họa 2D trong Python, chúng ta cần sử dụng một lớp có tên là QGraphicsScene. Để hiển thị nội dung của QGraphicsScene, chúng ta cần sự giúp đỡ của một lớp khác, được gọi là QGraphicsView. Về cơ bản, QGraphicsView cung cấp một khung nhìn có thể cuộn để hiển thị nội dung của QGraphicsScene. QGraphicsScene hoạt động như một thùng chứa cho một số mặt hàng đồ họa. Nó cũng cung cấp một số hình dạng tiêu chuẩn, chẳng hạn như hình chữ nhật và hình elip, bao gồm các mục văn bản. Một điều nữa: QGraphicsScene sử dụng OpenGL để kết xuất đồ họa. OpenGL rất hiệu quả để hiển thị hình ảnh và</a:t>
            </a:r>
            <a:endParaRPr lang="en-US" sz="3200" b="1" dirty="0">
              <a:latin typeface="+mj-lt"/>
              <a:cs typeface="Times New Roman" panose="02020603050405020304" pitchFamily="18" charset="0"/>
            </a:endParaRPr>
          </a:p>
        </p:txBody>
      </p:sp>
    </p:spTree>
    <p:extLst>
      <p:ext uri="{BB962C8B-B14F-4D97-AF65-F5344CB8AC3E}">
        <p14:creationId xmlns:p14="http://schemas.microsoft.com/office/powerpoint/2010/main" val="181101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Gi</a:t>
            </a:r>
            <a:r>
              <a:rPr lang="vi-VN">
                <a:latin typeface="Times New Roman" panose="02020603050405020304" pitchFamily="18" charset="0"/>
                <a:cs typeface="Times New Roman" panose="02020603050405020304" pitchFamily="18" charset="0"/>
              </a:rPr>
              <a:t>ớ</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Thiệu</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0" indent="0" algn="just">
              <a:buNone/>
            </a:pPr>
            <a:r>
              <a:rPr lang="vi-VN" sz="3200">
                <a:latin typeface="+mj-lt"/>
              </a:rPr>
              <a:t>thực hiện các tác vụ xử lý đa phương tiện. Lớp QGraphicsScene cung cấp một số phương thức giúp thêm hoặc xóa các mục đồ họa khỏi</a:t>
            </a:r>
            <a:r>
              <a:rPr lang="en-US" sz="3200">
                <a:latin typeface="+mj-lt"/>
              </a:rPr>
              <a:t> </a:t>
            </a:r>
            <a:r>
              <a:rPr lang="vi-VN" sz="3200">
                <a:latin typeface="+mj-lt"/>
              </a:rPr>
              <a:t>cảnh. Nghĩa là, bạn có thể thêm bất kỳ mục đồ họa nào vào cảnh bằng cách gọi hàm </a:t>
            </a:r>
            <a:r>
              <a:rPr lang="vi-VN" sz="3200" b="1">
                <a:latin typeface="+mj-lt"/>
              </a:rPr>
              <a:t>addItem</a:t>
            </a:r>
            <a:r>
              <a:rPr lang="vi-VN" sz="3200">
                <a:latin typeface="+mj-lt"/>
              </a:rPr>
              <a:t>. Tương tự, để xóa một mục khỏi cảnh đồ họa, bạn có thể gọi hàm </a:t>
            </a:r>
            <a:r>
              <a:rPr lang="vi-VN" sz="3200" b="1">
                <a:latin typeface="+mj-lt"/>
              </a:rPr>
              <a:t>removeItem</a:t>
            </a:r>
            <a:r>
              <a:rPr lang="vi-VN" sz="3200">
                <a:latin typeface="+mj-lt"/>
              </a:rPr>
              <a:t>.</a:t>
            </a:r>
            <a:endParaRPr lang="en-US" sz="3200" b="1" dirty="0">
              <a:latin typeface="+mj-lt"/>
              <a:cs typeface="Times New Roman" panose="02020603050405020304" pitchFamily="18" charset="0"/>
            </a:endParaRPr>
          </a:p>
        </p:txBody>
      </p:sp>
    </p:spTree>
    <p:extLst>
      <p:ext uri="{BB962C8B-B14F-4D97-AF65-F5344CB8AC3E}">
        <p14:creationId xmlns:p14="http://schemas.microsoft.com/office/powerpoint/2010/main" val="4169989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TH</a:t>
            </a:r>
            <a:r>
              <a:rPr lang="vi-VN">
                <a:latin typeface="Times New Roman" panose="02020603050405020304" pitchFamily="18" charset="0"/>
                <a:cs typeface="Times New Roman" panose="02020603050405020304" pitchFamily="18" charset="0"/>
              </a:rPr>
              <a:t>Ự</a:t>
            </a:r>
            <a:r>
              <a:rPr lang="en-US">
                <a:latin typeface="Times New Roman" panose="02020603050405020304" pitchFamily="18" charset="0"/>
                <a:cs typeface="Times New Roman" panose="02020603050405020304" pitchFamily="18" charset="0"/>
              </a:rPr>
              <a:t>C HIỆN ANIMATION</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a:latin typeface="+mj-lt"/>
              </a:rPr>
              <a:t>Để áp dụng</a:t>
            </a:r>
            <a:r>
              <a:rPr lang="en-US" sz="3200">
                <a:latin typeface="+mj-lt"/>
              </a:rPr>
              <a:t> </a:t>
            </a:r>
            <a:r>
              <a:rPr lang="en-US" sz="3200">
                <a:latin typeface="Times New Roman" panose="02020603050405020304" pitchFamily="18" charset="0"/>
                <a:cs typeface="Times New Roman" panose="02020603050405020304" pitchFamily="18" charset="0"/>
              </a:rPr>
              <a:t>animation (</a:t>
            </a:r>
            <a:r>
              <a:rPr lang="vi-VN" sz="3200">
                <a:latin typeface="+mj-lt"/>
              </a:rPr>
              <a:t>hoạt hình</a:t>
            </a:r>
            <a:r>
              <a:rPr lang="en-US" sz="3200">
                <a:latin typeface="+mj-lt"/>
              </a:rPr>
              <a:t>)</a:t>
            </a:r>
            <a:r>
              <a:rPr lang="vi-VN" sz="3200">
                <a:latin typeface="+mj-lt"/>
              </a:rPr>
              <a:t> trong Python, chúng t</a:t>
            </a:r>
            <a:r>
              <a:rPr lang="en-US" sz="3200">
                <a:latin typeface="Times New Roman" panose="02020603050405020304" pitchFamily="18" charset="0"/>
                <a:cs typeface="Times New Roman" panose="02020603050405020304" pitchFamily="18" charset="0"/>
              </a:rPr>
              <a:t>a</a:t>
            </a:r>
            <a:r>
              <a:rPr lang="vi-VN" sz="3200">
                <a:latin typeface="+mj-lt"/>
              </a:rPr>
              <a:t> sẽ sử dụng lớp QPropertyAnimation. Lớp QPropertyAnimation trong PyQt giúp tạo và thực hiện hoạt ảnh trong PyQt. Lớp QPropertyAnimation thực hiện hoạt hình bằng cách thao tác các thuộc tính Qt như hình học, vị trí,</a:t>
            </a:r>
            <a:r>
              <a:rPr lang="en-US" sz="3200">
                <a:latin typeface="+mj-lt"/>
              </a:rPr>
              <a:t>…</a:t>
            </a:r>
            <a:r>
              <a:rPr lang="vi-VN" sz="3200">
                <a:latin typeface="+mj-lt"/>
              </a:rPr>
              <a:t>. Sau đây là một vài phương thức QPropertyAnimation:</a:t>
            </a:r>
            <a:endParaRPr lang="en-US" sz="3200">
              <a:latin typeface="+mj-lt"/>
            </a:endParaRPr>
          </a:p>
          <a:p>
            <a:pPr algn="just">
              <a:buFont typeface="Wingdings" panose="05000000000000000000" pitchFamily="2" charset="2"/>
              <a:buChar char="Ø"/>
            </a:pPr>
            <a:r>
              <a:rPr lang="vi-VN" sz="3200">
                <a:latin typeface="+mj-lt"/>
              </a:rPr>
              <a:t>start (): Phương thức này bắt đầu hoạt hình</a:t>
            </a:r>
            <a:endParaRPr lang="en-US" sz="3200">
              <a:latin typeface="+mj-lt"/>
            </a:endParaRPr>
          </a:p>
          <a:p>
            <a:pPr algn="just">
              <a:buFont typeface="Wingdings" panose="05000000000000000000" pitchFamily="2" charset="2"/>
              <a:buChar char="Ø"/>
            </a:pPr>
            <a:r>
              <a:rPr lang="vi-VN" sz="3200">
                <a:latin typeface="+mj-lt"/>
              </a:rPr>
              <a:t>stop (): Phương thức này kết thúc hình ảnh động</a:t>
            </a:r>
            <a:endParaRPr lang="en-US" sz="3200">
              <a:latin typeface="+mj-lt"/>
            </a:endParaRPr>
          </a:p>
          <a:p>
            <a:pPr algn="just">
              <a:buFont typeface="Wingdings" panose="05000000000000000000" pitchFamily="2" charset="2"/>
              <a:buChar char="Ø"/>
            </a:pPr>
            <a:r>
              <a:rPr lang="vi-VN" sz="3200">
                <a:latin typeface="+mj-lt"/>
              </a:rPr>
              <a:t>setStartValue (): Phương thức này được sử dụng để gán giá trị bắt đầu của hình ảnh động</a:t>
            </a:r>
            <a:endParaRPr lang="en-US" sz="3200">
              <a:latin typeface="+mj-lt"/>
            </a:endParaRPr>
          </a:p>
        </p:txBody>
      </p:sp>
    </p:spTree>
    <p:extLst>
      <p:ext uri="{BB962C8B-B14F-4D97-AF65-F5344CB8AC3E}">
        <p14:creationId xmlns:p14="http://schemas.microsoft.com/office/powerpoint/2010/main" val="2376301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TH</a:t>
            </a:r>
            <a:r>
              <a:rPr lang="vi-VN">
                <a:latin typeface="Times New Roman" panose="02020603050405020304" pitchFamily="18" charset="0"/>
                <a:cs typeface="Times New Roman" panose="02020603050405020304" pitchFamily="18" charset="0"/>
              </a:rPr>
              <a:t>Ự</a:t>
            </a:r>
            <a:r>
              <a:rPr lang="en-US">
                <a:latin typeface="Times New Roman" panose="02020603050405020304" pitchFamily="18" charset="0"/>
                <a:cs typeface="Times New Roman" panose="02020603050405020304" pitchFamily="18" charset="0"/>
              </a:rPr>
              <a:t>C HIỆN ANIMATION</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buFont typeface="Wingdings" panose="05000000000000000000" pitchFamily="2" charset="2"/>
              <a:buChar char="Ø"/>
            </a:pPr>
            <a:r>
              <a:rPr lang="vi-VN" sz="3200">
                <a:latin typeface="+mj-lt"/>
              </a:rPr>
              <a:t>setEndValue (): Phương thức này được sử dụng để gán giá trị kết thúc của hình ảnh động</a:t>
            </a:r>
            <a:endParaRPr lang="en-US" sz="3200">
              <a:latin typeface="+mj-lt"/>
            </a:endParaRPr>
          </a:p>
          <a:p>
            <a:pPr algn="just">
              <a:buFont typeface="Wingdings" panose="05000000000000000000" pitchFamily="2" charset="2"/>
              <a:buChar char="Ø"/>
            </a:pPr>
            <a:r>
              <a:rPr lang="vi-VN" sz="3200">
                <a:latin typeface="+mj-lt"/>
              </a:rPr>
              <a:t>setDuration (): Phương thức này được sử dụng để đặt thời lượng của hình ảnh động tính bằng mili giây</a:t>
            </a:r>
            <a:endParaRPr lang="en-US" sz="3200">
              <a:latin typeface="+mj-lt"/>
            </a:endParaRPr>
          </a:p>
          <a:p>
            <a:pPr algn="just">
              <a:buFont typeface="Wingdings" panose="05000000000000000000" pitchFamily="2" charset="2"/>
              <a:buChar char="Ø"/>
            </a:pPr>
            <a:r>
              <a:rPr lang="vi-VN" sz="3200">
                <a:latin typeface="+mj-lt"/>
              </a:rPr>
              <a:t>setKeyValueAt (): Phương thức này tạo một khung hình chính ở giá trị đã cho</a:t>
            </a:r>
            <a:endParaRPr lang="en-US" sz="3200">
              <a:latin typeface="+mj-lt"/>
            </a:endParaRPr>
          </a:p>
          <a:p>
            <a:pPr algn="just">
              <a:buFont typeface="Wingdings" panose="05000000000000000000" pitchFamily="2" charset="2"/>
              <a:buChar char="Ø"/>
            </a:pPr>
            <a:r>
              <a:rPr lang="vi-VN" sz="3200">
                <a:latin typeface="+mj-lt"/>
              </a:rPr>
              <a:t>setLoopCount (): Phương thức này đặt số lần lặp lại mong muốn trong hoạt hình</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3846676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a:t>Hiển Thị Hình Ảnh Đồ Họa 2D</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512763" indent="-457200" algn="just"/>
            <a:r>
              <a:rPr lang="vi-VN" sz="3200">
                <a:latin typeface="+mj-lt"/>
              </a:rPr>
              <a:t>Trong </a:t>
            </a:r>
            <a:r>
              <a:rPr lang="en-US" sz="3200">
                <a:latin typeface="Times New Roman" panose="02020603050405020304" pitchFamily="18" charset="0"/>
                <a:cs typeface="Times New Roman" panose="02020603050405020304" pitchFamily="18" charset="0"/>
              </a:rPr>
              <a:t>phần</a:t>
            </a:r>
            <a:r>
              <a:rPr lang="en-US" sz="3200">
                <a:latin typeface="+mj-lt"/>
              </a:rPr>
              <a:t> </a:t>
            </a:r>
            <a:r>
              <a:rPr lang="vi-VN" sz="3200">
                <a:latin typeface="+mj-lt"/>
              </a:rPr>
              <a:t>này, bạn sẽ học cách hiển thị hình ảnh đồ họa 2D. Chúng t</a:t>
            </a:r>
            <a:r>
              <a:rPr lang="en-US" sz="3200">
                <a:latin typeface="Times New Roman" panose="02020603050405020304" pitchFamily="18" charset="0"/>
                <a:cs typeface="Times New Roman" panose="02020603050405020304" pitchFamily="18" charset="0"/>
              </a:rPr>
              <a:t>a</a:t>
            </a:r>
            <a:r>
              <a:rPr lang="vi-VN" sz="3200">
                <a:latin typeface="+mj-lt"/>
              </a:rPr>
              <a:t> giả định rằng bạn có một hình ảnh đồ họa </a:t>
            </a:r>
            <a:r>
              <a:rPr lang="en-US" sz="3200">
                <a:latin typeface="Times New Roman" panose="02020603050405020304" pitchFamily="18" charset="0"/>
                <a:cs typeface="Times New Roman" panose="02020603050405020304" pitchFamily="18" charset="0"/>
              </a:rPr>
              <a:t>có</a:t>
            </a:r>
            <a:r>
              <a:rPr lang="vi-VN" sz="3200">
                <a:latin typeface="+mj-lt"/>
              </a:rPr>
              <a:t> tên</a:t>
            </a:r>
            <a:r>
              <a:rPr lang="en-US" sz="3200">
                <a:latin typeface="+mj-lt"/>
              </a:rPr>
              <a:t> </a:t>
            </a:r>
            <a:r>
              <a:rPr lang="en-US" sz="3200">
                <a:latin typeface="Times New Roman" panose="02020603050405020304" pitchFamily="18" charset="0"/>
                <a:cs typeface="Times New Roman" panose="02020603050405020304" pitchFamily="18" charset="0"/>
              </a:rPr>
              <a:t>scene</a:t>
            </a:r>
            <a:r>
              <a:rPr lang="vi-VN" sz="3200">
                <a:latin typeface="+mj-lt"/>
              </a:rPr>
              <a:t>.jpg trên máy của bạn và bạn sẽ tìm hiểu cách hiển thị trên </a:t>
            </a:r>
            <a:r>
              <a:rPr lang="en-US" sz="3200">
                <a:latin typeface="Times New Roman" panose="02020603050405020304" pitchFamily="18" charset="0"/>
                <a:cs typeface="Times New Roman" panose="02020603050405020304" pitchFamily="18" charset="0"/>
              </a:rPr>
              <a:t>form</a:t>
            </a:r>
            <a:r>
              <a:rPr lang="vi-VN" sz="3200">
                <a:latin typeface="+mj-lt"/>
              </a:rPr>
              <a:t>. Trọng tâm của </a:t>
            </a:r>
            <a:r>
              <a:rPr lang="en-US" sz="3200">
                <a:latin typeface="Times New Roman" panose="02020603050405020304" pitchFamily="18" charset="0"/>
                <a:cs typeface="Times New Roman" panose="02020603050405020304" pitchFamily="18" charset="0"/>
              </a:rPr>
              <a:t>phần</a:t>
            </a:r>
            <a:r>
              <a:rPr lang="en-US" sz="3200">
                <a:latin typeface="+mj-lt"/>
              </a:rPr>
              <a:t> </a:t>
            </a:r>
            <a:r>
              <a:rPr lang="vi-VN" sz="3200">
                <a:latin typeface="+mj-lt"/>
              </a:rPr>
              <a:t>này là để hiểu cách sử dụng tiện ích </a:t>
            </a:r>
            <a:r>
              <a:rPr lang="vi-VN" sz="3200" b="1">
                <a:latin typeface="+mj-lt"/>
              </a:rPr>
              <a:t>Graphics View </a:t>
            </a:r>
            <a:r>
              <a:rPr lang="vi-VN" sz="3200">
                <a:latin typeface="+mj-lt"/>
              </a:rPr>
              <a:t>để hiển thị hình ảnh.</a:t>
            </a:r>
            <a:endParaRPr lang="en-US" sz="3200">
              <a:latin typeface="+mj-lt"/>
            </a:endParaRPr>
          </a:p>
          <a:p>
            <a:pPr marL="512763" indent="-457200" algn="just"/>
            <a:r>
              <a:rPr lang="vi-VN" sz="3200">
                <a:latin typeface="+mj-lt"/>
              </a:rPr>
              <a:t>Hiển thị đồ họa rất đơn giản. Trước tiên, bạn cần tạo một đối tượng của QGraphicsScene, từ đó sử dụng lớp QGraphicsView để hiển thị nội dung của nó. Các mục đồ họa, bao gồm cả hình ảnh, sau đó được thêm vào lớp QGraphicsScene bằng cách gọi phương thức addItem của lớp QGraphicsScene. Dưới đây là các bước để hiển thị hình ảnh đồ họa 2D trên màn hình:</a:t>
            </a:r>
            <a:endParaRPr lang="en-US" sz="3200">
              <a:latin typeface="+mj-lt"/>
            </a:endParaRPr>
          </a:p>
        </p:txBody>
      </p:sp>
    </p:spTree>
    <p:extLst>
      <p:ext uri="{BB962C8B-B14F-4D97-AF65-F5344CB8AC3E}">
        <p14:creationId xmlns:p14="http://schemas.microsoft.com/office/powerpoint/2010/main" val="2221597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a:t>Hiển Thị Hình Ảnh Đồ Họa 2D</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569913" indent="-514350" algn="just">
              <a:buAutoNum type="arabicPeriod"/>
            </a:pPr>
            <a:r>
              <a:rPr lang="vi-VN" sz="3200">
                <a:latin typeface="+mj-lt"/>
              </a:rPr>
              <a:t>Tạo một ứng dụng mới dựa trên Dialog without Buttons.</a:t>
            </a:r>
            <a:endParaRPr lang="en-US" sz="3200">
              <a:latin typeface="+mj-lt"/>
            </a:endParaRPr>
          </a:p>
          <a:p>
            <a:pPr marL="569913" indent="-514350" algn="just">
              <a:buAutoNum type="arabicPeriod"/>
            </a:pPr>
            <a:r>
              <a:rPr lang="vi-VN" sz="3200">
                <a:latin typeface="+mj-lt"/>
              </a:rPr>
              <a:t>Kéo và thả tiện ích Graphics View vào nó.</a:t>
            </a:r>
            <a:endParaRPr lang="en-US" sz="3200">
              <a:latin typeface="+mj-lt"/>
            </a:endParaRPr>
          </a:p>
          <a:p>
            <a:pPr marL="569913" indent="-514350" algn="just">
              <a:buAutoNum type="arabicPeriod"/>
            </a:pPr>
            <a:r>
              <a:rPr lang="vi-VN" sz="3200">
                <a:latin typeface="+mj-lt"/>
              </a:rPr>
              <a:t>Lưu ứng dụng với tên demoGraphicsView.ui. Form sẽ xuất hiện như được hiển thị trong màn hình sau:</a:t>
            </a:r>
            <a:endParaRPr lang="en-US" sz="3200" dirty="0">
              <a:latin typeface="+mj-lt"/>
              <a:cs typeface="Times New Roman" panose="02020603050405020304" pitchFamily="18" charset="0"/>
            </a:endParaRPr>
          </a:p>
        </p:txBody>
      </p:sp>
      <p:pic>
        <p:nvPicPr>
          <p:cNvPr id="5" name="Picture 4" descr="sách Qt5-Python-GUI-Programming-Cookbook.pdf - Adobe Acrobat Reader DC">
            <a:extLst>
              <a:ext uri="{FF2B5EF4-FFF2-40B4-BE49-F238E27FC236}">
                <a16:creationId xmlns:a16="http://schemas.microsoft.com/office/drawing/2014/main" id="{862AD5E4-3391-4E29-861A-BF9CB587EF07}"/>
              </a:ext>
            </a:extLst>
          </p:cNvPr>
          <p:cNvPicPr>
            <a:picLocks noChangeAspect="1"/>
          </p:cNvPicPr>
          <p:nvPr/>
        </p:nvPicPr>
        <p:blipFill rotWithShape="1">
          <a:blip r:embed="rId2">
            <a:extLst>
              <a:ext uri="{28A0092B-C50C-407E-A947-70E740481C1C}">
                <a14:useLocalDpi xmlns:a14="http://schemas.microsoft.com/office/drawing/2010/main" val="0"/>
              </a:ext>
            </a:extLst>
          </a:blip>
          <a:srcRect l="25000" t="28469" r="39848" b="34380"/>
          <a:stretch/>
        </p:blipFill>
        <p:spPr>
          <a:xfrm>
            <a:off x="2673927" y="3685309"/>
            <a:ext cx="5403273" cy="2549236"/>
          </a:xfrm>
          <a:prstGeom prst="rect">
            <a:avLst/>
          </a:prstGeom>
        </p:spPr>
      </p:pic>
    </p:spTree>
    <p:extLst>
      <p:ext uri="{BB962C8B-B14F-4D97-AF65-F5344CB8AC3E}">
        <p14:creationId xmlns:p14="http://schemas.microsoft.com/office/powerpoint/2010/main" val="896565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a:t>Hiển Thị Hình Ảnh Đồ Họa 2D</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55563" indent="0" algn="just">
              <a:buNone/>
            </a:pPr>
            <a:r>
              <a:rPr lang="vi-VN" sz="3200">
                <a:latin typeface="+mj-lt"/>
              </a:rPr>
              <a:t>Lưu ứng dụng với tên demoGraphicsView.ui. Tiện ích lệnh pyuic5 chuyển đổi file .ui (XML) thành code Python. </a:t>
            </a:r>
            <a:endParaRPr lang="en-US" sz="3200">
              <a:latin typeface="+mj-lt"/>
            </a:endParaRPr>
          </a:p>
          <a:p>
            <a:pPr marL="55563" indent="0" algn="just">
              <a:buNone/>
            </a:pPr>
            <a:r>
              <a:rPr lang="vi-VN" sz="3200">
                <a:latin typeface="+mj-lt"/>
              </a:rPr>
              <a:t>4. Tạo tập lệnh Python có tên callGraphicsView.pyw để nhập code, demoGraphicsView.py, để gọi thiết kế giao diện người dùng, tải hình ảnh từ đĩa và hiển thị thông qua Chế độ xem đồ họa. File tập lệnh Python, callGraphicsView.pyw, sẽ bao gồm đoạn mã sau:</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771912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a:t>Hiển Thị Hình Ảnh Đồ Họa 2D</a:t>
            </a:r>
            <a:endParaRPr lang="en-US">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Adobe Acrobat Reader DC">
            <a:extLst>
              <a:ext uri="{FF2B5EF4-FFF2-40B4-BE49-F238E27FC236}">
                <a16:creationId xmlns:a16="http://schemas.microsoft.com/office/drawing/2014/main" id="{35A5CE56-D01D-44A1-94C3-53315DD99E4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912" t="30329" r="25969" b="9169"/>
          <a:stretch/>
        </p:blipFill>
        <p:spPr>
          <a:xfrm>
            <a:off x="304800" y="678871"/>
            <a:ext cx="8478982" cy="5805055"/>
          </a:xfrm>
        </p:spPr>
      </p:pic>
    </p:spTree>
    <p:extLst>
      <p:ext uri="{BB962C8B-B14F-4D97-AF65-F5344CB8AC3E}">
        <p14:creationId xmlns:p14="http://schemas.microsoft.com/office/powerpoint/2010/main" val="2565060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Làm Cho Một Quả Bóng Di Chuyển Xuống Trên Nút Bấm</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F1D3D20-0E21-459A-B33D-75E64795B384}"/>
              </a:ext>
            </a:extLst>
          </p:cNvPr>
          <p:cNvSpPr>
            <a:spLocks noGrp="1"/>
          </p:cNvSpPr>
          <p:nvPr>
            <p:ph idx="1"/>
          </p:nvPr>
        </p:nvSpPr>
        <p:spPr>
          <a:xfrm>
            <a:off x="22259" y="1219200"/>
            <a:ext cx="9102490" cy="5610557"/>
          </a:xfrm>
        </p:spPr>
        <p:txBody>
          <a:bodyPr>
            <a:normAutofit/>
          </a:bodyPr>
          <a:lstStyle/>
          <a:p>
            <a:r>
              <a:rPr lang="vi-VN" sz="3200">
                <a:solidFill>
                  <a:prstClr val="black"/>
                </a:solidFill>
                <a:latin typeface="+mj-lt"/>
              </a:rPr>
              <a:t>Trong </a:t>
            </a:r>
            <a:r>
              <a:rPr lang="en-US" sz="3200">
                <a:solidFill>
                  <a:prstClr val="black"/>
                </a:solidFill>
                <a:latin typeface="Times New Roman" panose="02020603050405020304" pitchFamily="18" charset="0"/>
                <a:cs typeface="Times New Roman" panose="02020603050405020304" pitchFamily="18" charset="0"/>
              </a:rPr>
              <a:t>phần</a:t>
            </a:r>
            <a:r>
              <a:rPr lang="en-US" sz="3200">
                <a:solidFill>
                  <a:prstClr val="black"/>
                </a:solidFill>
                <a:latin typeface="+mj-lt"/>
              </a:rPr>
              <a:t> </a:t>
            </a:r>
            <a:r>
              <a:rPr lang="vi-VN" sz="3200">
                <a:solidFill>
                  <a:prstClr val="black"/>
                </a:solidFill>
                <a:latin typeface="+mj-lt"/>
              </a:rPr>
              <a:t>này</a:t>
            </a:r>
            <a:r>
              <a:rPr lang="vi-VN" sz="3200">
                <a:latin typeface="+mj-lt"/>
              </a:rPr>
              <a:t>, bạn sẽ hiểu cách hoạt hình cơ bản được áp dụng trên một đối tượng. </a:t>
            </a:r>
            <a:r>
              <a:rPr lang="en-US" sz="3200">
                <a:solidFill>
                  <a:prstClr val="black"/>
                </a:solidFill>
                <a:latin typeface="Times New Roman" panose="02020603050405020304" pitchFamily="18" charset="0"/>
                <a:cs typeface="Times New Roman" panose="02020603050405020304" pitchFamily="18" charset="0"/>
              </a:rPr>
              <a:t>Phần</a:t>
            </a:r>
            <a:r>
              <a:rPr lang="en-US" sz="3200">
                <a:solidFill>
                  <a:prstClr val="black"/>
                </a:solidFill>
                <a:latin typeface="+mj-lt"/>
                <a:cs typeface="Times New Roman" panose="02020603050405020304" pitchFamily="18" charset="0"/>
              </a:rPr>
              <a:t> </a:t>
            </a:r>
            <a:r>
              <a:rPr lang="vi-VN" sz="3200">
                <a:latin typeface="+mj-lt"/>
              </a:rPr>
              <a:t>này sẽ bao gồm một nút ấn và một quả bóng, và khi nhấn nút ấn, quả bóng sẽ bắt đầu </a:t>
            </a:r>
            <a:r>
              <a:rPr lang="en-US" sz="3200">
                <a:latin typeface="Times New Roman" panose="02020603050405020304" pitchFamily="18" charset="0"/>
                <a:cs typeface="Times New Roman" panose="02020603050405020304" pitchFamily="18" charset="0"/>
              </a:rPr>
              <a:t>di chuyển </a:t>
            </a:r>
            <a:r>
              <a:rPr lang="vi-VN" sz="3200">
                <a:latin typeface="+mj-lt"/>
              </a:rPr>
              <a:t>về phía mặt đất.</a:t>
            </a:r>
            <a:endParaRPr lang="en-US" sz="3200">
              <a:latin typeface="+mj-lt"/>
            </a:endParaRPr>
          </a:p>
          <a:p>
            <a:pPr algn="just"/>
            <a:r>
              <a:rPr lang="vi-VN" sz="3200">
                <a:latin typeface="+mj-lt"/>
              </a:rPr>
              <a:t>Để thực hiện </a:t>
            </a:r>
            <a:r>
              <a:rPr lang="en-US" sz="3200">
                <a:solidFill>
                  <a:prstClr val="black"/>
                </a:solidFill>
                <a:latin typeface="Times New Roman" panose="02020603050405020304" pitchFamily="18" charset="0"/>
                <a:cs typeface="Times New Roman" panose="02020603050405020304" pitchFamily="18" charset="0"/>
              </a:rPr>
              <a:t>phần</a:t>
            </a:r>
            <a:r>
              <a:rPr lang="en-US" sz="3200">
                <a:solidFill>
                  <a:prstClr val="black"/>
                </a:solidFill>
                <a:latin typeface="+mj-lt"/>
                <a:cs typeface="Times New Roman" panose="02020603050405020304" pitchFamily="18" charset="0"/>
              </a:rPr>
              <a:t> </a:t>
            </a:r>
            <a:r>
              <a:rPr lang="vi-VN" sz="3200">
                <a:latin typeface="+mj-lt"/>
              </a:rPr>
              <a:t>này, chúng t</a:t>
            </a:r>
            <a:r>
              <a:rPr lang="en-US" sz="3200">
                <a:latin typeface="Times New Roman" panose="02020603050405020304" pitchFamily="18" charset="0"/>
                <a:cs typeface="Times New Roman" panose="02020603050405020304" pitchFamily="18" charset="0"/>
              </a:rPr>
              <a:t>a</a:t>
            </a:r>
            <a:r>
              <a:rPr lang="vi-VN" sz="3200">
                <a:latin typeface="+mj-lt"/>
              </a:rPr>
              <a:t> sẽ sử dụng lớp QPropertyAnimation. Các phương thức setStartValue () và setEndValue () của lớp QPropertyAnimation sẽ được sử dụng để xác định tọa độ nơi hoạt ảnh cần bắt đầu và kết thúc tương ứng. Phương thức setDuration () sẽ được gọi để chỉ định độ trễ tính bằng mili giây giữa mỗi lần di chuyển hình ảnh động. Sau đây là quy trình từng bước để áp dụng hình động:</a:t>
            </a:r>
            <a:endParaRPr lang="en-US" sz="3200">
              <a:latin typeface="+mj-lt"/>
            </a:endParaRPr>
          </a:p>
        </p:txBody>
      </p:sp>
    </p:spTree>
    <p:extLst>
      <p:ext uri="{BB962C8B-B14F-4D97-AF65-F5344CB8AC3E}">
        <p14:creationId xmlns:p14="http://schemas.microsoft.com/office/powerpoint/2010/main" val="2134953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Làm Cho Một Quả Bóng Di Chuyển Xuống Trên Nút Bấm</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F1D3D20-0E21-459A-B33D-75E64795B384}"/>
              </a:ext>
            </a:extLst>
          </p:cNvPr>
          <p:cNvSpPr>
            <a:spLocks noGrp="1"/>
          </p:cNvSpPr>
          <p:nvPr>
            <p:ph idx="1"/>
          </p:nvPr>
        </p:nvSpPr>
        <p:spPr>
          <a:xfrm>
            <a:off x="22259" y="1219200"/>
            <a:ext cx="9102490" cy="5610557"/>
          </a:xfrm>
        </p:spPr>
        <p:txBody>
          <a:bodyPr>
            <a:noAutofit/>
          </a:bodyPr>
          <a:lstStyle/>
          <a:p>
            <a:pPr marL="514350" indent="-514350" algn="just">
              <a:buAutoNum type="arabicPeriod"/>
            </a:pPr>
            <a:r>
              <a:rPr lang="vi-VN" sz="3200">
                <a:latin typeface="+mj-lt"/>
              </a:rPr>
              <a:t>Tạo một ứng dụng mới dựa trên Dialog without Buttons.</a:t>
            </a:r>
            <a:endParaRPr lang="en-US" sz="3200">
              <a:latin typeface="+mj-lt"/>
            </a:endParaRPr>
          </a:p>
          <a:p>
            <a:pPr marL="514350" indent="-514350" algn="just">
              <a:buAutoNum type="arabicPeriod"/>
            </a:pPr>
            <a:r>
              <a:rPr lang="vi-VN" sz="3200">
                <a:latin typeface="+mj-lt"/>
              </a:rPr>
              <a:t>Kéo và thả tiện ích Label và một tiện ích Push Button vào form.</a:t>
            </a:r>
            <a:endParaRPr lang="en-US" sz="3200">
              <a:latin typeface="+mj-lt"/>
            </a:endParaRPr>
          </a:p>
          <a:p>
            <a:pPr marL="514350" indent="-514350" algn="just">
              <a:buAutoNum type="arabicPeriod"/>
            </a:pPr>
            <a:r>
              <a:rPr lang="vi-VN" sz="3200">
                <a:latin typeface="+mj-lt"/>
              </a:rPr>
              <a:t>Đặt thuộc tính text của tiện ích Push Button thành </a:t>
            </a:r>
            <a:r>
              <a:rPr lang="vi-VN" sz="3200" b="1">
                <a:latin typeface="+mj-lt"/>
              </a:rPr>
              <a:t>Move Down</a:t>
            </a:r>
            <a:r>
              <a:rPr lang="vi-VN" sz="3200">
                <a:latin typeface="+mj-lt"/>
              </a:rPr>
              <a:t>. Chúng tôi giả sử rằng bạn có một hình ảnh bóng trên máy tính của mình với tên colorball.jpg.</a:t>
            </a:r>
            <a:endParaRPr lang="en-US" sz="3200">
              <a:latin typeface="+mj-lt"/>
            </a:endParaRPr>
          </a:p>
          <a:p>
            <a:pPr marL="514350" indent="-514350" algn="just">
              <a:buAutoNum type="arabicPeriod"/>
            </a:pPr>
            <a:r>
              <a:rPr lang="vi-VN" sz="3200">
                <a:latin typeface="+mj-lt"/>
              </a:rPr>
              <a:t>Chọn thuộc tính pixmap của nó để gán hình ảnh bóng cho tiện ích Label.</a:t>
            </a:r>
            <a:endParaRPr lang="en-US" sz="3200">
              <a:latin typeface="+mj-lt"/>
            </a:endParaRPr>
          </a:p>
        </p:txBody>
      </p:sp>
    </p:spTree>
    <p:extLst>
      <p:ext uri="{BB962C8B-B14F-4D97-AF65-F5344CB8AC3E}">
        <p14:creationId xmlns:p14="http://schemas.microsoft.com/office/powerpoint/2010/main" val="1912620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Làm Cho Một Quả Bóng Di Chuyển Xuống Trên Nút Bấm</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F1D3D20-0E21-459A-B33D-75E64795B384}"/>
              </a:ext>
            </a:extLst>
          </p:cNvPr>
          <p:cNvSpPr>
            <a:spLocks noGrp="1"/>
          </p:cNvSpPr>
          <p:nvPr>
            <p:ph idx="1"/>
          </p:nvPr>
        </p:nvSpPr>
        <p:spPr>
          <a:xfrm>
            <a:off x="22259" y="1219200"/>
            <a:ext cx="9102490" cy="5610557"/>
          </a:xfrm>
        </p:spPr>
        <p:txBody>
          <a:bodyPr>
            <a:noAutofit/>
          </a:bodyPr>
          <a:lstStyle/>
          <a:p>
            <a:pPr marL="0" indent="0" algn="just">
              <a:buNone/>
            </a:pPr>
            <a:r>
              <a:rPr lang="vi-VN" sz="3200">
                <a:latin typeface="+mj-lt"/>
              </a:rPr>
              <a:t>5. Trong thuộc tính pixmap, trong số hai tùy chọn, </a:t>
            </a:r>
            <a:r>
              <a:rPr lang="vi-VN" sz="3200" b="1">
                <a:latin typeface="+mj-lt"/>
              </a:rPr>
              <a:t>Choose Resource </a:t>
            </a:r>
            <a:r>
              <a:rPr lang="en-US" sz="3200">
                <a:latin typeface="+mj-lt"/>
              </a:rPr>
              <a:t>(</a:t>
            </a:r>
            <a:r>
              <a:rPr lang="vi-VN" sz="3200">
                <a:latin typeface="+mj-lt"/>
              </a:rPr>
              <a:t>Chọn Tài nguyên</a:t>
            </a:r>
            <a:r>
              <a:rPr lang="en-US" sz="3200">
                <a:latin typeface="+mj-lt"/>
              </a:rPr>
              <a:t>)</a:t>
            </a:r>
            <a:r>
              <a:rPr lang="vi-VN" sz="3200">
                <a:latin typeface="+mj-lt"/>
              </a:rPr>
              <a:t> và </a:t>
            </a:r>
            <a:r>
              <a:rPr lang="vi-VN" sz="3200" b="1">
                <a:latin typeface="+mj-lt"/>
              </a:rPr>
              <a:t>Choose File </a:t>
            </a:r>
            <a:r>
              <a:rPr lang="en-US" sz="3200" b="1">
                <a:latin typeface="+mj-lt"/>
              </a:rPr>
              <a:t> </a:t>
            </a:r>
            <a:r>
              <a:rPr lang="en-US" sz="3200">
                <a:latin typeface="+mj-lt"/>
              </a:rPr>
              <a:t>(</a:t>
            </a:r>
            <a:r>
              <a:rPr lang="vi-VN" sz="3200">
                <a:latin typeface="+mj-lt"/>
              </a:rPr>
              <a:t>Chọn Tệp</a:t>
            </a:r>
            <a:r>
              <a:rPr lang="en-US" sz="3200">
                <a:latin typeface="+mj-lt"/>
              </a:rPr>
              <a:t>)</a:t>
            </a:r>
            <a:r>
              <a:rPr lang="vi-VN" sz="3200">
                <a:latin typeface="+mj-lt"/>
              </a:rPr>
              <a:t>, chọn tùy chọn </a:t>
            </a:r>
            <a:r>
              <a:rPr lang="vi-VN" sz="3200" b="1">
                <a:latin typeface="+mj-lt"/>
              </a:rPr>
              <a:t>Choose File</a:t>
            </a:r>
            <a:r>
              <a:rPr lang="vi-VN" sz="3200">
                <a:latin typeface="+mj-lt"/>
              </a:rPr>
              <a:t>, </a:t>
            </a:r>
            <a:r>
              <a:rPr lang="en-US" sz="3200">
                <a:latin typeface="Times New Roman" panose="02020603050405020304" pitchFamily="18" charset="0"/>
                <a:cs typeface="Times New Roman" panose="02020603050405020304" pitchFamily="18" charset="0"/>
              </a:rPr>
              <a:t>dẫn đến hình </a:t>
            </a:r>
            <a:r>
              <a:rPr lang="vi-VN" sz="3200">
                <a:latin typeface="+mj-lt"/>
              </a:rPr>
              <a:t>colorball.jpg. Hình ảnh của quả bóng sẽ xuất hiện thay cho tiện ích Label</a:t>
            </a:r>
            <a:endParaRPr lang="en-US" sz="3200">
              <a:latin typeface="+mj-lt"/>
            </a:endParaRPr>
          </a:p>
          <a:p>
            <a:pPr marL="0" indent="0" algn="just">
              <a:buNone/>
            </a:pPr>
            <a:r>
              <a:rPr lang="vi-VN" sz="3200">
                <a:latin typeface="+mj-lt"/>
              </a:rPr>
              <a:t>6. Đặt thuộc tính objectName của tiện ích Push Button thành PushButtonPushDown và thuộc tính của tiện ích Label thành labelPic.</a:t>
            </a:r>
            <a:endParaRPr lang="en-US" sz="3200">
              <a:latin typeface="+mj-lt"/>
            </a:endParaRPr>
          </a:p>
          <a:p>
            <a:pPr marL="0" indent="0" algn="just">
              <a:buNone/>
            </a:pPr>
            <a:r>
              <a:rPr lang="vi-VN" sz="3200">
                <a:latin typeface="+mj-lt"/>
              </a:rPr>
              <a:t>7. Lưu ứng dụng với tên demoAnimation1.ui. Ứng dụng sẽ xuất hiện như trong ảnh chụp màn hình sau:</a:t>
            </a:r>
            <a:endParaRPr lang="en-US" sz="3200">
              <a:latin typeface="+mj-lt"/>
            </a:endParaRPr>
          </a:p>
        </p:txBody>
      </p:sp>
    </p:spTree>
    <p:extLst>
      <p:ext uri="{BB962C8B-B14F-4D97-AF65-F5344CB8AC3E}">
        <p14:creationId xmlns:p14="http://schemas.microsoft.com/office/powerpoint/2010/main" val="3220240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Làm Cho Một Quả Bóng Di Chuyển Xuống Trên Nút Bấm</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046D5E46-8D1F-4DBA-A7E1-39A65FA728AB}"/>
              </a:ext>
            </a:extLst>
          </p:cNvPr>
          <p:cNvSpPr>
            <a:spLocks noGrp="1"/>
          </p:cNvSpPr>
          <p:nvPr>
            <p:ph idx="1"/>
          </p:nvPr>
        </p:nvSpPr>
        <p:spPr/>
        <p:txBody>
          <a:bodyPr>
            <a:normAutofit fontScale="85000" lnSpcReduction="20000"/>
          </a:bodyPr>
          <a:lstStyle/>
          <a:p>
            <a:endParaRPr lang="en-US"/>
          </a:p>
          <a:p>
            <a:endParaRPr lang="en-US"/>
          </a:p>
          <a:p>
            <a:endParaRPr lang="en-US"/>
          </a:p>
          <a:p>
            <a:endParaRPr lang="en-US"/>
          </a:p>
          <a:p>
            <a:endParaRPr lang="en-US"/>
          </a:p>
          <a:p>
            <a:pPr marL="0" indent="0">
              <a:buNone/>
            </a:pPr>
            <a:endParaRPr lang="en-US"/>
          </a:p>
          <a:p>
            <a:endParaRPr lang="en-US"/>
          </a:p>
          <a:p>
            <a:pPr algn="just"/>
            <a:r>
              <a:rPr lang="vi-VN" sz="3800">
                <a:latin typeface="+mj-lt"/>
              </a:rPr>
              <a:t>Giao diện người dùng được tạo bằng Qt Designer được lưu trữ trong file .ui, đây là file XML cần được chuyển đổi thành code Python. Trên ứng dụng của tiện ích lệnh pyuic5, file .ui được chuyển đổi thành tập lệnh Python. </a:t>
            </a:r>
            <a:endParaRPr lang="en-US" sz="3800">
              <a:latin typeface="+mj-lt"/>
            </a:endParaRPr>
          </a:p>
          <a:p>
            <a:pPr marL="0" indent="0" algn="just">
              <a:buNone/>
            </a:pPr>
            <a:r>
              <a:rPr lang="vi-VN" sz="3800">
                <a:latin typeface="+mj-lt"/>
              </a:rPr>
              <a:t>8. Hãy coi tập lệnh demoAnimation1.py như một file tiêu đề và nhập nó vào file mà bạn sẽ gọi thiết kế giao diện người dùng của nó.</a:t>
            </a:r>
            <a:endParaRPr lang="en-US" sz="3800">
              <a:latin typeface="+mj-lt"/>
            </a:endParaRPr>
          </a:p>
        </p:txBody>
      </p:sp>
      <p:pic>
        <p:nvPicPr>
          <p:cNvPr id="8" name="Content Placeholder 4" descr="sách Qt5-Python-GUI-Programming-Cookbook.pdf - Adobe Acrobat Reader DC">
            <a:extLst>
              <a:ext uri="{FF2B5EF4-FFF2-40B4-BE49-F238E27FC236}">
                <a16:creationId xmlns:a16="http://schemas.microsoft.com/office/drawing/2014/main" id="{A6762AAD-CCD9-4537-AB80-BE03823D4579}"/>
              </a:ext>
            </a:extLst>
          </p:cNvPr>
          <p:cNvPicPr>
            <a:picLocks noChangeAspect="1"/>
          </p:cNvPicPr>
          <p:nvPr/>
        </p:nvPicPr>
        <p:blipFill rotWithShape="1">
          <a:blip r:embed="rId2">
            <a:extLst>
              <a:ext uri="{28A0092B-C50C-407E-A947-70E740481C1C}">
                <a14:useLocalDpi xmlns:a14="http://schemas.microsoft.com/office/drawing/2010/main" val="0"/>
              </a:ext>
            </a:extLst>
          </a:blip>
          <a:srcRect l="29892" t="39972" r="44538" b="27798"/>
          <a:stretch/>
        </p:blipFill>
        <p:spPr>
          <a:xfrm>
            <a:off x="3103417" y="1149926"/>
            <a:ext cx="3823855" cy="2279073"/>
          </a:xfrm>
          <a:prstGeom prst="rect">
            <a:avLst/>
          </a:prstGeom>
        </p:spPr>
      </p:pic>
    </p:spTree>
    <p:extLst>
      <p:ext uri="{BB962C8B-B14F-4D97-AF65-F5344CB8AC3E}">
        <p14:creationId xmlns:p14="http://schemas.microsoft.com/office/powerpoint/2010/main" val="2869260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Làm Cho Một Quả Bóng Di Chuyển Xuống Trên Nút Bấm</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046D5E46-8D1F-4DBA-A7E1-39A65FA728AB}"/>
              </a:ext>
            </a:extLst>
          </p:cNvPr>
          <p:cNvSpPr>
            <a:spLocks noGrp="1"/>
          </p:cNvSpPr>
          <p:nvPr>
            <p:ph idx="1"/>
          </p:nvPr>
        </p:nvSpPr>
        <p:spPr/>
        <p:txBody>
          <a:bodyPr>
            <a:normAutofit/>
          </a:bodyPr>
          <a:lstStyle/>
          <a:p>
            <a:pPr marL="0" indent="0" algn="just">
              <a:buNone/>
            </a:pPr>
            <a:r>
              <a:rPr lang="vi-VN" sz="3200">
                <a:latin typeface="+mj-lt"/>
              </a:rPr>
              <a:t>9. Tạo một file Python khác có tên callAnimation1.pyw và nhập code demoAnimation1.py vào đó:</a:t>
            </a:r>
            <a:endParaRPr lang="en-US" sz="3200">
              <a:latin typeface="+mj-lt"/>
            </a:endParaRPr>
          </a:p>
          <a:p>
            <a:endParaRPr lang="en-US"/>
          </a:p>
        </p:txBody>
      </p:sp>
      <p:pic>
        <p:nvPicPr>
          <p:cNvPr id="4" name="Picture 3" descr="sách Qt5-Python-GUI-Programming-Cookbook.pdf - Adobe Acrobat Reader DC">
            <a:extLst>
              <a:ext uri="{FF2B5EF4-FFF2-40B4-BE49-F238E27FC236}">
                <a16:creationId xmlns:a16="http://schemas.microsoft.com/office/drawing/2014/main" id="{00141579-6FC7-44FD-B96B-46D189B1C8D7}"/>
              </a:ext>
            </a:extLst>
          </p:cNvPr>
          <p:cNvPicPr>
            <a:picLocks noChangeAspect="1"/>
          </p:cNvPicPr>
          <p:nvPr/>
        </p:nvPicPr>
        <p:blipFill rotWithShape="1">
          <a:blip r:embed="rId2">
            <a:extLst>
              <a:ext uri="{28A0092B-C50C-407E-A947-70E740481C1C}">
                <a14:useLocalDpi xmlns:a14="http://schemas.microsoft.com/office/drawing/2010/main" val="0"/>
              </a:ext>
            </a:extLst>
          </a:blip>
          <a:srcRect l="20152" t="21433" r="32727" b="9894"/>
          <a:stretch/>
        </p:blipFill>
        <p:spPr>
          <a:xfrm>
            <a:off x="482157" y="2314243"/>
            <a:ext cx="8221195" cy="4543757"/>
          </a:xfrm>
          <a:prstGeom prst="rect">
            <a:avLst/>
          </a:prstGeom>
        </p:spPr>
      </p:pic>
    </p:spTree>
    <p:extLst>
      <p:ext uri="{BB962C8B-B14F-4D97-AF65-F5344CB8AC3E}">
        <p14:creationId xmlns:p14="http://schemas.microsoft.com/office/powerpoint/2010/main" val="1156666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Làm Một Quả Bóng Nảy</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046D5E46-8D1F-4DBA-A7E1-39A65FA728AB}"/>
              </a:ext>
            </a:extLst>
          </p:cNvPr>
          <p:cNvSpPr>
            <a:spLocks noGrp="1"/>
          </p:cNvSpPr>
          <p:nvPr>
            <p:ph idx="1"/>
          </p:nvPr>
        </p:nvSpPr>
        <p:spPr/>
        <p:txBody>
          <a:bodyPr>
            <a:noAutofit/>
          </a:bodyPr>
          <a:lstStyle/>
          <a:p>
            <a:pPr algn="just"/>
            <a:r>
              <a:rPr lang="vi-VN" sz="3200">
                <a:latin typeface="+mj-lt"/>
              </a:rPr>
              <a:t>Trong </a:t>
            </a:r>
            <a:r>
              <a:rPr lang="en-US" sz="3200">
                <a:solidFill>
                  <a:prstClr val="black"/>
                </a:solidFill>
                <a:latin typeface="Times New Roman" panose="02020603050405020304" pitchFamily="18" charset="0"/>
                <a:cs typeface="Times New Roman" panose="02020603050405020304" pitchFamily="18" charset="0"/>
              </a:rPr>
              <a:t>phần</a:t>
            </a:r>
            <a:r>
              <a:rPr lang="en-US" sz="3200">
                <a:solidFill>
                  <a:prstClr val="black"/>
                </a:solidFill>
                <a:latin typeface="+mj-lt"/>
                <a:cs typeface="Times New Roman" panose="02020603050405020304" pitchFamily="18" charset="0"/>
              </a:rPr>
              <a:t> </a:t>
            </a:r>
            <a:r>
              <a:rPr lang="vi-VN" sz="3200">
                <a:latin typeface="+mj-lt"/>
              </a:rPr>
              <a:t>này, bạn sẽ tạo ra một quả bóng nảy; Khi nhấp vào một nút, một quả bóng rơi xuống đất và chạm vào mặt đất, nó nảy trở lại đỉnh. Trong </a:t>
            </a:r>
            <a:r>
              <a:rPr lang="en-US" sz="3200">
                <a:solidFill>
                  <a:prstClr val="black"/>
                </a:solidFill>
                <a:latin typeface="Times New Roman" panose="02020603050405020304" pitchFamily="18" charset="0"/>
                <a:cs typeface="Times New Roman" panose="02020603050405020304" pitchFamily="18" charset="0"/>
              </a:rPr>
              <a:t>phần</a:t>
            </a:r>
            <a:r>
              <a:rPr lang="en-US" sz="3200">
                <a:solidFill>
                  <a:prstClr val="black"/>
                </a:solidFill>
                <a:cs typeface="Times New Roman" panose="02020603050405020304" pitchFamily="18" charset="0"/>
              </a:rPr>
              <a:t> </a:t>
            </a:r>
            <a:r>
              <a:rPr lang="vi-VN" sz="3200">
                <a:latin typeface="+mj-lt"/>
              </a:rPr>
              <a:t>này, bạn sẽ hiểu cách hoạt hình cơ bản được áp dụng trên một đối tượng. </a:t>
            </a:r>
            <a:r>
              <a:rPr lang="en-US" sz="3200">
                <a:solidFill>
                  <a:prstClr val="black"/>
                </a:solidFill>
                <a:latin typeface="Times New Roman" panose="02020603050405020304" pitchFamily="18" charset="0"/>
                <a:cs typeface="Times New Roman" panose="02020603050405020304" pitchFamily="18" charset="0"/>
              </a:rPr>
              <a:t>Phần </a:t>
            </a:r>
            <a:r>
              <a:rPr lang="vi-VN" sz="3200">
                <a:latin typeface="+mj-lt"/>
              </a:rPr>
              <a:t>này sẽ bao gồm một nút ấn và một quả bóng, và khi nhấn nút ấn, quả bóng sẽ bắt đầu hoạt hình hướng xuống mặt đất.</a:t>
            </a:r>
            <a:endParaRPr lang="en-US" sz="3200">
              <a:latin typeface="+mj-lt"/>
            </a:endParaRPr>
          </a:p>
          <a:p>
            <a:pPr algn="just"/>
            <a:r>
              <a:rPr lang="vi-VN" sz="3200">
                <a:latin typeface="+mj-lt"/>
              </a:rPr>
              <a:t>Để làm cho một quả bóng dường như nảy lên, chúng ta cần làm cho nó trở nên sinh động trước tiên trên mặt đất và sau đó từ mặt đất lên trời. Để làm như vậy, chúng ta sẽ gọi phương thức setKeyValueAt của lớp QPropertyAnimation ba lần. Các cuộc gọi đầu tiên và thứ hai đến phương thức setKeyValueAt sẽ làm cho</a:t>
            </a:r>
            <a:endParaRPr lang="en-US" sz="3200">
              <a:latin typeface="+mj-lt"/>
            </a:endParaRPr>
          </a:p>
        </p:txBody>
      </p:sp>
    </p:spTree>
    <p:extLst>
      <p:ext uri="{BB962C8B-B14F-4D97-AF65-F5344CB8AC3E}">
        <p14:creationId xmlns:p14="http://schemas.microsoft.com/office/powerpoint/2010/main" val="583023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Làm Một Quả Bóng Nảy</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046D5E46-8D1F-4DBA-A7E1-39A65FA728AB}"/>
              </a:ext>
            </a:extLst>
          </p:cNvPr>
          <p:cNvSpPr>
            <a:spLocks noGrp="1"/>
          </p:cNvSpPr>
          <p:nvPr>
            <p:ph idx="1"/>
          </p:nvPr>
        </p:nvSpPr>
        <p:spPr/>
        <p:txBody>
          <a:bodyPr>
            <a:noAutofit/>
          </a:bodyPr>
          <a:lstStyle/>
          <a:p>
            <a:pPr marL="0" indent="0" algn="just">
              <a:buNone/>
            </a:pPr>
            <a:r>
              <a:rPr lang="vi-VN" sz="3200">
                <a:latin typeface="+mj-lt"/>
              </a:rPr>
              <a:t>quả bóng trở nên sinh động từ trên xuống dưới. Cuộc gọi thứ ba đến phương thức setKeyValueAt sẽ làm cho quả bóng được tạo hình động từ dưới lên trên. Các tọa độ trong ba phương thức setKeyValueAt được cung cấp sao cho quả bóng nảy theo hướng ngược lại. Sau đây là các bước để hiểu làm thế nào một quả bóng có thể được làm động xuất hiện để nảy:</a:t>
            </a:r>
            <a:endParaRPr lang="en-US" sz="3200">
              <a:latin typeface="+mj-lt"/>
            </a:endParaRPr>
          </a:p>
          <a:p>
            <a:pPr marL="514350" indent="-514350" algn="just">
              <a:buAutoNum type="arabicPeriod"/>
            </a:pPr>
            <a:r>
              <a:rPr lang="vi-VN" sz="3200">
                <a:latin typeface="+mj-lt"/>
              </a:rPr>
              <a:t>Tạo một ứng dụng mới dựa trên Dialog without Buttons.</a:t>
            </a:r>
            <a:endParaRPr lang="en-US" sz="3200">
              <a:latin typeface="+mj-lt"/>
            </a:endParaRPr>
          </a:p>
          <a:p>
            <a:pPr marL="514350" indent="-514350" algn="just">
              <a:buAutoNum type="arabicPeriod"/>
            </a:pPr>
            <a:r>
              <a:rPr lang="vi-VN" sz="3200">
                <a:latin typeface="+mj-lt"/>
              </a:rPr>
              <a:t>Kéo và thả tiện ích Label và một tiện ích Push Button vào form.</a:t>
            </a:r>
            <a:endParaRPr lang="en-US" sz="3200">
              <a:latin typeface="+mj-lt"/>
            </a:endParaRPr>
          </a:p>
        </p:txBody>
      </p:sp>
    </p:spTree>
    <p:extLst>
      <p:ext uri="{BB962C8B-B14F-4D97-AF65-F5344CB8AC3E}">
        <p14:creationId xmlns:p14="http://schemas.microsoft.com/office/powerpoint/2010/main" val="4289631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Làm Một Quả Bóng Nảy</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046D5E46-8D1F-4DBA-A7E1-39A65FA728AB}"/>
              </a:ext>
            </a:extLst>
          </p:cNvPr>
          <p:cNvSpPr>
            <a:spLocks noGrp="1"/>
          </p:cNvSpPr>
          <p:nvPr>
            <p:ph idx="1"/>
          </p:nvPr>
        </p:nvSpPr>
        <p:spPr/>
        <p:txBody>
          <a:bodyPr>
            <a:noAutofit/>
          </a:bodyPr>
          <a:lstStyle/>
          <a:p>
            <a:pPr marL="0" indent="0" algn="just">
              <a:buNone/>
            </a:pPr>
            <a:r>
              <a:rPr lang="vi-VN" sz="3200">
                <a:latin typeface="+mj-lt"/>
              </a:rPr>
              <a:t>3. Đặt thuộc tính text của tiện ích Push Button thành </a:t>
            </a:r>
            <a:r>
              <a:rPr lang="vi-VN" sz="3200" i="1">
                <a:latin typeface="+mj-lt"/>
              </a:rPr>
              <a:t>Bounce</a:t>
            </a:r>
            <a:r>
              <a:rPr lang="vi-VN" sz="3200">
                <a:latin typeface="+mj-lt"/>
              </a:rPr>
              <a:t>. Chúng tôi giả sử rằng bạn có một hình ảnh bóng trên máy tính của mình với tên colorball.jpg.</a:t>
            </a:r>
            <a:endParaRPr lang="en-US" sz="3200">
              <a:latin typeface="+mj-lt"/>
            </a:endParaRPr>
          </a:p>
          <a:p>
            <a:pPr marL="0" indent="0" algn="just">
              <a:buNone/>
            </a:pPr>
            <a:r>
              <a:rPr lang="vi-VN" sz="3200">
                <a:latin typeface="+mj-lt"/>
              </a:rPr>
              <a:t>4. Để gán hình ảnh bóng cho tiện ích Label, chọn thuộc tính pixmap của nó.</a:t>
            </a:r>
            <a:endParaRPr lang="en-US" sz="3200">
              <a:latin typeface="+mj-lt"/>
            </a:endParaRPr>
          </a:p>
          <a:p>
            <a:pPr marL="0" indent="0" algn="just">
              <a:buNone/>
            </a:pPr>
            <a:r>
              <a:rPr lang="vi-VN" sz="3200">
                <a:latin typeface="+mj-lt"/>
              </a:rPr>
              <a:t>5. Trong thuộc tính pixmap, trong số hai tùy chọn, </a:t>
            </a:r>
            <a:r>
              <a:rPr lang="vi-VN" sz="3200" b="1">
                <a:latin typeface="+mj-lt"/>
              </a:rPr>
              <a:t>Choose Resource và Choose File</a:t>
            </a:r>
            <a:r>
              <a:rPr lang="vi-VN" sz="3200">
                <a:latin typeface="+mj-lt"/>
              </a:rPr>
              <a:t>, chọn tùy chọn </a:t>
            </a:r>
            <a:r>
              <a:rPr lang="vi-VN" sz="3200" b="1">
                <a:latin typeface="+mj-lt"/>
              </a:rPr>
              <a:t>Choose File</a:t>
            </a:r>
            <a:r>
              <a:rPr lang="vi-VN" sz="3200">
                <a:latin typeface="+mj-lt"/>
              </a:rPr>
              <a:t>, duyệt đườ</a:t>
            </a:r>
            <a:r>
              <a:rPr lang="en-US" sz="3200">
                <a:latin typeface="Times New Roman" panose="02020603050405020304" pitchFamily="18" charset="0"/>
                <a:cs typeface="Times New Roman" panose="02020603050405020304" pitchFamily="18" charset="0"/>
              </a:rPr>
              <a:t>ng dẫn</a:t>
            </a:r>
            <a:r>
              <a:rPr lang="en-US" sz="3200">
                <a:latin typeface="+mj-lt"/>
              </a:rPr>
              <a:t> </a:t>
            </a:r>
            <a:r>
              <a:rPr lang="vi-VN" sz="3200">
                <a:latin typeface="+mj-lt"/>
              </a:rPr>
              <a:t>và chọn </a:t>
            </a:r>
            <a:r>
              <a:rPr lang="en-US" sz="3200">
                <a:latin typeface="Times New Roman" panose="02020603050405020304" pitchFamily="18" charset="0"/>
                <a:cs typeface="Times New Roman" panose="02020603050405020304" pitchFamily="18" charset="0"/>
              </a:rPr>
              <a:t>file</a:t>
            </a:r>
            <a:r>
              <a:rPr lang="vi-VN" sz="3200">
                <a:latin typeface="+mj-lt"/>
              </a:rPr>
              <a:t> colorball.jpg. Hình ảnh của quả bóng sẽ xuất hiện thay cho tiện ích </a:t>
            </a:r>
            <a:r>
              <a:rPr lang="en-US" sz="3200">
                <a:latin typeface="Times New Roman" panose="02020603050405020304" pitchFamily="18" charset="0"/>
                <a:cs typeface="Times New Roman" panose="02020603050405020304" pitchFamily="18" charset="0"/>
              </a:rPr>
              <a:t>Label</a:t>
            </a:r>
            <a:r>
              <a:rPr lang="vi-VN" sz="3200">
                <a:latin typeface="+mj-lt"/>
              </a:rPr>
              <a:t>.</a:t>
            </a:r>
            <a:endParaRPr lang="en-US" sz="3200">
              <a:latin typeface="+mj-lt"/>
            </a:endParaRPr>
          </a:p>
          <a:p>
            <a:pPr marL="0" indent="0" algn="just">
              <a:buNone/>
            </a:pPr>
            <a:r>
              <a:rPr lang="vi-VN" sz="3200">
                <a:latin typeface="+mj-lt"/>
              </a:rPr>
              <a:t>6. Đặt thuộc tính objectName của tiện ích Push Button thành PushButtonBounce và thuộc tính của tiện ích Label thành labelPic.</a:t>
            </a:r>
            <a:endParaRPr lang="en-US" sz="3200">
              <a:latin typeface="+mj-lt"/>
            </a:endParaRPr>
          </a:p>
        </p:txBody>
      </p:sp>
    </p:spTree>
    <p:extLst>
      <p:ext uri="{BB962C8B-B14F-4D97-AF65-F5344CB8AC3E}">
        <p14:creationId xmlns:p14="http://schemas.microsoft.com/office/powerpoint/2010/main" val="2986001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Làm Một Quả Bóng Nảy</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046D5E46-8D1F-4DBA-A7E1-39A65FA728AB}"/>
              </a:ext>
            </a:extLst>
          </p:cNvPr>
          <p:cNvSpPr>
            <a:spLocks noGrp="1"/>
          </p:cNvSpPr>
          <p:nvPr>
            <p:ph idx="1"/>
          </p:nvPr>
        </p:nvSpPr>
        <p:spPr/>
        <p:txBody>
          <a:bodyPr>
            <a:noAutofit/>
          </a:bodyPr>
          <a:lstStyle/>
          <a:p>
            <a:pPr marL="0" indent="0" algn="just">
              <a:buNone/>
            </a:pPr>
            <a:r>
              <a:rPr lang="vi-VN" sz="3200">
                <a:latin typeface="+mj-lt"/>
              </a:rPr>
              <a:t>7. Lưu ứng dụng với tên demoAnimation3.ui.</a:t>
            </a: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r>
              <a:rPr lang="vi-VN" sz="3200">
                <a:latin typeface="+mj-lt"/>
              </a:rPr>
              <a:t>Giao diện người dùng được tạo bằng Qt Designer được lưu trữ trong file .ui, đây là file XML và cần được chuyển đổi thành code Python. Trên ứng dụng của tiện ích lệnh pyuic5, file .ui được chuyển đổi thành tập lệnh Python.</a:t>
            </a:r>
            <a:endParaRPr lang="en-US" sz="3200">
              <a:latin typeface="+mj-lt"/>
            </a:endParaRPr>
          </a:p>
        </p:txBody>
      </p:sp>
      <p:pic>
        <p:nvPicPr>
          <p:cNvPr id="4" name="Picture 3" descr="sách Qt5-Python-GUI-Programming-Cookbook.pdf - Adobe Acrobat Reader DC">
            <a:extLst>
              <a:ext uri="{FF2B5EF4-FFF2-40B4-BE49-F238E27FC236}">
                <a16:creationId xmlns:a16="http://schemas.microsoft.com/office/drawing/2014/main" id="{5B23E762-01D5-4CB8-B53B-B38167B4AF2A}"/>
              </a:ext>
            </a:extLst>
          </p:cNvPr>
          <p:cNvPicPr>
            <a:picLocks noChangeAspect="1"/>
          </p:cNvPicPr>
          <p:nvPr/>
        </p:nvPicPr>
        <p:blipFill rotWithShape="1">
          <a:blip r:embed="rId2">
            <a:extLst>
              <a:ext uri="{28A0092B-C50C-407E-A947-70E740481C1C}">
                <a14:useLocalDpi xmlns:a14="http://schemas.microsoft.com/office/drawing/2010/main" val="0"/>
              </a:ext>
            </a:extLst>
          </a:blip>
          <a:srcRect l="23031" t="29595" r="37576" b="25655"/>
          <a:stretch/>
        </p:blipFill>
        <p:spPr>
          <a:xfrm>
            <a:off x="1953491" y="1482437"/>
            <a:ext cx="3602183" cy="2202873"/>
          </a:xfrm>
          <a:prstGeom prst="rect">
            <a:avLst/>
          </a:prstGeom>
        </p:spPr>
      </p:pic>
    </p:spTree>
    <p:extLst>
      <p:ext uri="{BB962C8B-B14F-4D97-AF65-F5344CB8AC3E}">
        <p14:creationId xmlns:p14="http://schemas.microsoft.com/office/powerpoint/2010/main" val="3760713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Làm Một Quả Bóng Nảy</a:t>
            </a:r>
            <a:endParaRPr lang="en-US">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046D5E46-8D1F-4DBA-A7E1-39A65FA728AB}"/>
              </a:ext>
            </a:extLst>
          </p:cNvPr>
          <p:cNvSpPr>
            <a:spLocks noGrp="1"/>
          </p:cNvSpPr>
          <p:nvPr>
            <p:ph idx="1"/>
          </p:nvPr>
        </p:nvSpPr>
        <p:spPr/>
        <p:txBody>
          <a:bodyPr>
            <a:noAutofit/>
          </a:bodyPr>
          <a:lstStyle/>
          <a:p>
            <a:pPr marL="0" indent="0" algn="just">
              <a:buNone/>
            </a:pPr>
            <a:r>
              <a:rPr lang="vi-VN" sz="3200">
                <a:latin typeface="+mj-lt"/>
              </a:rPr>
              <a:t>8. Hãy coi tập lệnh demoAnimation3.py như một file tiêu đề và nhập nó vào file mà bạn sẽ gọi thiết kế giao diện người dùng của nó.</a:t>
            </a:r>
            <a:endParaRPr lang="en-US" sz="3200">
              <a:latin typeface="+mj-lt"/>
            </a:endParaRPr>
          </a:p>
          <a:p>
            <a:pPr marL="0" indent="0" algn="just">
              <a:buNone/>
            </a:pPr>
            <a:r>
              <a:rPr lang="vi-VN" sz="3200">
                <a:latin typeface="+mj-lt"/>
              </a:rPr>
              <a:t>9. Tạo một file Python khác có tên callAnimation3.pyw và nhập code demoAnimation3.py vào đó:</a:t>
            </a:r>
            <a:endParaRPr lang="en-US" sz="3200">
              <a:latin typeface="+mj-lt"/>
            </a:endParaRPr>
          </a:p>
        </p:txBody>
      </p:sp>
    </p:spTree>
    <p:extLst>
      <p:ext uri="{BB962C8B-B14F-4D97-AF65-F5344CB8AC3E}">
        <p14:creationId xmlns:p14="http://schemas.microsoft.com/office/powerpoint/2010/main" val="3453749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Làm Một Quả Bóng Nảy</a:t>
            </a:r>
            <a:endParaRPr lang="en-US">
              <a:latin typeface="Times New Roman" panose="02020603050405020304" pitchFamily="18" charset="0"/>
              <a:cs typeface="Times New Roman" panose="02020603050405020304" pitchFamily="18" charset="0"/>
            </a:endParaRPr>
          </a:p>
        </p:txBody>
      </p:sp>
      <p:pic>
        <p:nvPicPr>
          <p:cNvPr id="4" name="Content Placeholder 3" descr="sách Qt5-Python-GUI-Programming-Cookbook.pdf - Adobe Acrobat Reader DC">
            <a:extLst>
              <a:ext uri="{FF2B5EF4-FFF2-40B4-BE49-F238E27FC236}">
                <a16:creationId xmlns:a16="http://schemas.microsoft.com/office/drawing/2014/main" id="{33B542FE-1BAB-4725-9E20-98DA04A2A84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151" t="27578" r="30535" b="22380"/>
          <a:stretch/>
        </p:blipFill>
        <p:spPr>
          <a:xfrm>
            <a:off x="304800" y="914400"/>
            <a:ext cx="8132618" cy="5472545"/>
          </a:xfrm>
        </p:spPr>
      </p:pic>
    </p:spTree>
    <p:extLst>
      <p:ext uri="{BB962C8B-B14F-4D97-AF65-F5344CB8AC3E}">
        <p14:creationId xmlns:p14="http://schemas.microsoft.com/office/powerpoint/2010/main" val="3842347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Làm Một Quả Bóng Nảy</a:t>
            </a:r>
            <a:endParaRPr lang="en-US">
              <a:latin typeface="Times New Roman" panose="02020603050405020304" pitchFamily="18" charset="0"/>
              <a:cs typeface="Times New Roman" panose="02020603050405020304" pitchFamily="18" charset="0"/>
            </a:endParaRPr>
          </a:p>
        </p:txBody>
      </p:sp>
      <p:pic>
        <p:nvPicPr>
          <p:cNvPr id="7" name="Content Placeholder 6" descr="sách Qt5-Python-GUI-Programming-Cookbook.pdf - Adobe Acrobat Reader DC">
            <a:extLst>
              <a:ext uri="{FF2B5EF4-FFF2-40B4-BE49-F238E27FC236}">
                <a16:creationId xmlns:a16="http://schemas.microsoft.com/office/drawing/2014/main" id="{8970B41F-F2D6-4226-BC54-6861BA43458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607" t="39875" r="28405" b="31994"/>
          <a:stretch/>
        </p:blipFill>
        <p:spPr>
          <a:xfrm>
            <a:off x="526473" y="986840"/>
            <a:ext cx="7412181" cy="4291742"/>
          </a:xfrm>
        </p:spPr>
      </p:pic>
    </p:spTree>
    <p:extLst>
      <p:ext uri="{BB962C8B-B14F-4D97-AF65-F5344CB8AC3E}">
        <p14:creationId xmlns:p14="http://schemas.microsoft.com/office/powerpoint/2010/main" val="8506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Tạo Một Quả Bóng Sinh Động Theo Đường Cong Quy Định</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A649D6A-ED59-4BE9-B37E-EE12F1048A26}"/>
              </a:ext>
            </a:extLst>
          </p:cNvPr>
          <p:cNvSpPr>
            <a:spLocks noGrp="1"/>
          </p:cNvSpPr>
          <p:nvPr>
            <p:ph idx="1"/>
          </p:nvPr>
        </p:nvSpPr>
        <p:spPr/>
        <p:txBody>
          <a:bodyPr>
            <a:noAutofit/>
          </a:bodyPr>
          <a:lstStyle/>
          <a:p>
            <a:pPr algn="just"/>
            <a:r>
              <a:rPr lang="vi-VN" sz="3200">
                <a:latin typeface="+mj-lt"/>
              </a:rPr>
              <a:t>Một đường cong với hình dạng và kích thước mong muốn được tạo ra và một quả bóng được thiết lập để di chuyển dọc theo hình dạng của đường cong khi nhấp vào nút ấn. </a:t>
            </a:r>
            <a:endParaRPr lang="en-US" sz="3200">
              <a:latin typeface="+mj-lt"/>
            </a:endParaRPr>
          </a:p>
          <a:p>
            <a:pPr algn="just"/>
            <a:r>
              <a:rPr lang="vi-VN" sz="3200">
                <a:latin typeface="+mj-lt"/>
              </a:rPr>
              <a:t>Phương thức setKeyValueAt của lớp QPropertyAnimation xác định hướng của hình ảnh động. Đối với hình động được hướng dẫn, bạn gọi phương thức setKeyValueAt trong một vòng lặp. Các tọa độ của đường cong được truyền cho phương thức setKeyValueAt trong vòng lặp làm cho quả bóng được sinh động dọc theo đường cong. Dưới đây là các bước để làm cho một đối tượng sinh động như mong muốn:</a:t>
            </a:r>
            <a:endParaRPr lang="en-US" sz="3200">
              <a:latin typeface="+mj-lt"/>
            </a:endParaRPr>
          </a:p>
        </p:txBody>
      </p:sp>
    </p:spTree>
    <p:extLst>
      <p:ext uri="{BB962C8B-B14F-4D97-AF65-F5344CB8AC3E}">
        <p14:creationId xmlns:p14="http://schemas.microsoft.com/office/powerpoint/2010/main" val="1423979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Tạo Một Quả Bóng Sinh Động Theo Đường Cong Quy Định</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A649D6A-ED59-4BE9-B37E-EE12F1048A26}"/>
              </a:ext>
            </a:extLst>
          </p:cNvPr>
          <p:cNvSpPr>
            <a:spLocks noGrp="1"/>
          </p:cNvSpPr>
          <p:nvPr>
            <p:ph idx="1"/>
          </p:nvPr>
        </p:nvSpPr>
        <p:spPr>
          <a:xfrm>
            <a:off x="20755" y="1214242"/>
            <a:ext cx="9102490" cy="5809479"/>
          </a:xfrm>
        </p:spPr>
        <p:txBody>
          <a:bodyPr>
            <a:noAutofit/>
          </a:bodyPr>
          <a:lstStyle/>
          <a:p>
            <a:pPr marL="0" indent="0" algn="just">
              <a:buNone/>
            </a:pPr>
            <a:r>
              <a:rPr lang="en-US" sz="3200">
                <a:latin typeface="Times New Roman" panose="02020603050405020304" pitchFamily="18" charset="0"/>
                <a:cs typeface="Times New Roman" panose="02020603050405020304" pitchFamily="18" charset="0"/>
              </a:rPr>
              <a:t>1. </a:t>
            </a:r>
            <a:r>
              <a:rPr lang="vi-VN" sz="3200">
                <a:latin typeface="Times New Roman" panose="02020603050405020304" pitchFamily="18" charset="0"/>
                <a:cs typeface="Times New Roman" panose="02020603050405020304" pitchFamily="18" charset="0"/>
              </a:rPr>
              <a:t>Tạo một ứng dụng mới dựa trên Dialog without Buttons.</a:t>
            </a:r>
            <a:endParaRPr lang="en-US" sz="3200">
              <a:latin typeface="Times New Roman" panose="02020603050405020304" pitchFamily="18" charset="0"/>
              <a:cs typeface="Times New Roman" panose="02020603050405020304" pitchFamily="18" charset="0"/>
            </a:endParaRPr>
          </a:p>
          <a:p>
            <a:pPr marL="0" indent="0" algn="just">
              <a:buNone/>
            </a:pPr>
            <a:r>
              <a:rPr lang="vi-VN" sz="3200">
                <a:latin typeface="+mj-lt"/>
              </a:rPr>
              <a:t>2. Kéo và thả tiện ích Label và một tiện ích Push Button vào form.</a:t>
            </a:r>
            <a:endParaRPr lang="en-US" sz="3200">
              <a:latin typeface="+mj-lt"/>
            </a:endParaRPr>
          </a:p>
          <a:p>
            <a:pPr marL="0" indent="0" algn="just">
              <a:buNone/>
            </a:pPr>
            <a:r>
              <a:rPr lang="vi-VN" sz="3200">
                <a:latin typeface="+mj-lt"/>
              </a:rPr>
              <a:t>3. Đặt thuộc tính text của tiện ích Push Button thành </a:t>
            </a:r>
            <a:r>
              <a:rPr lang="vi-VN" sz="3200" i="1">
                <a:latin typeface="+mj-lt"/>
              </a:rPr>
              <a:t>Move With Curve</a:t>
            </a:r>
            <a:r>
              <a:rPr lang="vi-VN" sz="3200">
                <a:latin typeface="+mj-lt"/>
              </a:rPr>
              <a:t>.</a:t>
            </a:r>
            <a:endParaRPr lang="en-US" sz="3200">
              <a:latin typeface="+mj-lt"/>
            </a:endParaRPr>
          </a:p>
          <a:p>
            <a:pPr marL="0" indent="0" algn="just">
              <a:buNone/>
            </a:pPr>
            <a:r>
              <a:rPr lang="vi-VN" sz="3200">
                <a:latin typeface="+mj-lt"/>
              </a:rPr>
              <a:t>4. Giả sử bạn có hình ảnh bóng trên máy tính với tên colorball.jpg, bạn có thể gán hình ảnh bóng này cho tiện ích Label bằng cách sử dụng thuộc tính pixmap của nó.</a:t>
            </a:r>
            <a:endParaRPr lang="en-US" sz="3200">
              <a:latin typeface="+mj-lt"/>
            </a:endParaRPr>
          </a:p>
        </p:txBody>
      </p:sp>
    </p:spTree>
    <p:extLst>
      <p:ext uri="{BB962C8B-B14F-4D97-AF65-F5344CB8AC3E}">
        <p14:creationId xmlns:p14="http://schemas.microsoft.com/office/powerpoint/2010/main" val="2437409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Tạo Một Quả Bóng Sinh Động Theo Đường Cong Quy Định</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A649D6A-ED59-4BE9-B37E-EE12F1048A26}"/>
              </a:ext>
            </a:extLst>
          </p:cNvPr>
          <p:cNvSpPr>
            <a:spLocks noGrp="1"/>
          </p:cNvSpPr>
          <p:nvPr>
            <p:ph idx="1"/>
          </p:nvPr>
        </p:nvSpPr>
        <p:spPr>
          <a:xfrm>
            <a:off x="20755" y="1214242"/>
            <a:ext cx="9102490" cy="5809479"/>
          </a:xfrm>
        </p:spPr>
        <p:txBody>
          <a:bodyPr>
            <a:noAutofit/>
          </a:bodyPr>
          <a:lstStyle/>
          <a:p>
            <a:pPr marL="0" indent="0" algn="just">
              <a:buNone/>
            </a:pPr>
            <a:r>
              <a:rPr lang="vi-VN" sz="3200">
                <a:latin typeface="+mj-lt"/>
              </a:rPr>
              <a:t>5. Trong thuộc tính pixmap, bạn sẽ tìm thấy hai tùy chọn, Choose Resource và Choose File; chọn tùy chọn Choose File, duyệt </a:t>
            </a:r>
            <a:r>
              <a:rPr lang="en-US" sz="3200">
                <a:latin typeface="Times New Roman" panose="02020603050405020304" pitchFamily="18" charset="0"/>
                <a:cs typeface="Times New Roman" panose="02020603050405020304" pitchFamily="18" charset="0"/>
              </a:rPr>
              <a:t>qua đ</a:t>
            </a:r>
            <a:r>
              <a:rPr lang="vi-VN" sz="3200">
                <a:latin typeface="Times New Roman" panose="02020603050405020304" pitchFamily="18" charset="0"/>
                <a:cs typeface="Times New Roman" panose="02020603050405020304" pitchFamily="18" charset="0"/>
              </a:rPr>
              <a:t>ườ</a:t>
            </a:r>
            <a:r>
              <a:rPr lang="en-US" sz="3200">
                <a:latin typeface="Times New Roman" panose="02020603050405020304" pitchFamily="18" charset="0"/>
                <a:cs typeface="Times New Roman" panose="02020603050405020304" pitchFamily="18" charset="0"/>
              </a:rPr>
              <a:t>ng dẫn </a:t>
            </a:r>
            <a:r>
              <a:rPr lang="vi-VN" sz="3200">
                <a:latin typeface="+mj-lt"/>
              </a:rPr>
              <a:t>và chọn tệp colorball.jpg. Hình ảnh của quả bóng sẽ xuất hiện thay cho tiện ích </a:t>
            </a:r>
            <a:r>
              <a:rPr lang="en-US" sz="3200">
                <a:latin typeface="Times New Roman" panose="02020603050405020304" pitchFamily="18" charset="0"/>
                <a:cs typeface="Times New Roman" panose="02020603050405020304" pitchFamily="18" charset="0"/>
              </a:rPr>
              <a:t>Label</a:t>
            </a:r>
            <a:r>
              <a:rPr lang="vi-VN" sz="3200">
                <a:latin typeface="+mj-lt"/>
              </a:rPr>
              <a:t>.</a:t>
            </a:r>
            <a:endParaRPr lang="en-US" sz="3200">
              <a:latin typeface="+mj-lt"/>
            </a:endParaRPr>
          </a:p>
          <a:p>
            <a:pPr marL="0" indent="0" algn="just">
              <a:buNone/>
            </a:pPr>
            <a:r>
              <a:rPr lang="vi-VN" sz="3200">
                <a:latin typeface="+mj-lt"/>
              </a:rPr>
              <a:t>6. Đặt thuộc tính objectName của tiện ích Push Button thành PushButtonMoveCurve và thuộc tính của tiện ích Label thành labelPic.</a:t>
            </a:r>
            <a:endParaRPr lang="en-US" sz="3200">
              <a:latin typeface="+mj-lt"/>
            </a:endParaRPr>
          </a:p>
          <a:p>
            <a:pPr marL="0" indent="0" algn="just">
              <a:buNone/>
            </a:pPr>
            <a:r>
              <a:rPr lang="vi-VN" sz="3200">
                <a:latin typeface="+mj-lt"/>
              </a:rPr>
              <a:t>7. Lưu ứng dụng với tên demoAnimation4.ui. Ứng dụng sẽ xuất hiện như trong ảnh chụp màn hình sau:</a:t>
            </a:r>
            <a:endParaRPr lang="en-US" sz="3200">
              <a:latin typeface="+mj-lt"/>
            </a:endParaRPr>
          </a:p>
        </p:txBody>
      </p:sp>
    </p:spTree>
    <p:extLst>
      <p:ext uri="{BB962C8B-B14F-4D97-AF65-F5344CB8AC3E}">
        <p14:creationId xmlns:p14="http://schemas.microsoft.com/office/powerpoint/2010/main" val="7166596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Tạo Một Quả Bóng Sinh Động Theo Đường Cong Quy Định</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A649D6A-ED59-4BE9-B37E-EE12F1048A26}"/>
              </a:ext>
            </a:extLst>
          </p:cNvPr>
          <p:cNvSpPr>
            <a:spLocks noGrp="1"/>
          </p:cNvSpPr>
          <p:nvPr>
            <p:ph idx="1"/>
          </p:nvPr>
        </p:nvSpPr>
        <p:spPr>
          <a:xfrm>
            <a:off x="20755" y="1214242"/>
            <a:ext cx="9102490" cy="5809479"/>
          </a:xfrm>
        </p:spPr>
        <p:txBody>
          <a:bodyPr>
            <a:noAutofit/>
          </a:bodyPr>
          <a:lstStyle/>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endParaRPr lang="en-US" sz="3200">
              <a:latin typeface="+mj-lt"/>
            </a:endParaRPr>
          </a:p>
          <a:p>
            <a:pPr marL="0" indent="0" algn="just">
              <a:buNone/>
            </a:pPr>
            <a:r>
              <a:rPr lang="vi-VN" sz="3200">
                <a:latin typeface="+mj-lt"/>
              </a:rPr>
              <a:t>Giao diện người dùng được tạo bằng Qt Designer được lưu trữ trong file .ui và là file XML. File XML được chuyển đổi thành code Python bằng cách áp dụng tiện ích pyuic5. </a:t>
            </a:r>
            <a:endParaRPr lang="en-US" sz="3200">
              <a:latin typeface="+mj-lt"/>
            </a:endParaRPr>
          </a:p>
          <a:p>
            <a:pPr marL="0" indent="0" algn="just">
              <a:buNone/>
            </a:pPr>
            <a:r>
              <a:rPr lang="vi-VN" sz="3200">
                <a:latin typeface="+mj-lt"/>
              </a:rPr>
              <a:t>8. Hãy coi tập lệnh demoAnimation4.py như một file tiêu đề và nhập nó vào file mà bạn sẽ gọi thiết kế giao diện người dùng của nó.</a:t>
            </a:r>
            <a:endParaRPr lang="en-US" sz="3200">
              <a:latin typeface="+mj-lt"/>
            </a:endParaRPr>
          </a:p>
        </p:txBody>
      </p:sp>
      <p:pic>
        <p:nvPicPr>
          <p:cNvPr id="5" name="Picture 4" descr="sách Qt5-Python-GUI-Programming-Cookbook.pdf - Adobe Acrobat Reader DC">
            <a:extLst>
              <a:ext uri="{FF2B5EF4-FFF2-40B4-BE49-F238E27FC236}">
                <a16:creationId xmlns:a16="http://schemas.microsoft.com/office/drawing/2014/main" id="{D6B09BC9-C724-4CB6-BD3D-C9B5026DD8ED}"/>
              </a:ext>
            </a:extLst>
          </p:cNvPr>
          <p:cNvPicPr>
            <a:picLocks noChangeAspect="1"/>
          </p:cNvPicPr>
          <p:nvPr/>
        </p:nvPicPr>
        <p:blipFill rotWithShape="1">
          <a:blip r:embed="rId2">
            <a:extLst>
              <a:ext uri="{28A0092B-C50C-407E-A947-70E740481C1C}">
                <a14:useLocalDpi xmlns:a14="http://schemas.microsoft.com/office/drawing/2010/main" val="0"/>
              </a:ext>
            </a:extLst>
          </a:blip>
          <a:srcRect l="23333" t="25655" r="36970" b="26781"/>
          <a:stretch/>
        </p:blipFill>
        <p:spPr>
          <a:xfrm>
            <a:off x="2258291" y="1214242"/>
            <a:ext cx="3629891" cy="2341419"/>
          </a:xfrm>
          <a:prstGeom prst="rect">
            <a:avLst/>
          </a:prstGeom>
        </p:spPr>
      </p:pic>
    </p:spTree>
    <p:extLst>
      <p:ext uri="{BB962C8B-B14F-4D97-AF65-F5344CB8AC3E}">
        <p14:creationId xmlns:p14="http://schemas.microsoft.com/office/powerpoint/2010/main" val="3855330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Tạo Một Quả Bóng Sinh Động Theo Đường Cong Quy Định</a:t>
            </a:r>
            <a:endParaRPr lang="en-US">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A649D6A-ED59-4BE9-B37E-EE12F1048A26}"/>
              </a:ext>
            </a:extLst>
          </p:cNvPr>
          <p:cNvSpPr>
            <a:spLocks noGrp="1"/>
          </p:cNvSpPr>
          <p:nvPr>
            <p:ph idx="1"/>
          </p:nvPr>
        </p:nvSpPr>
        <p:spPr>
          <a:xfrm>
            <a:off x="20755" y="1214242"/>
            <a:ext cx="9102490" cy="5809479"/>
          </a:xfrm>
        </p:spPr>
        <p:txBody>
          <a:bodyPr>
            <a:noAutofit/>
          </a:bodyPr>
          <a:lstStyle/>
          <a:p>
            <a:pPr marL="0" indent="0" algn="just">
              <a:buNone/>
            </a:pPr>
            <a:r>
              <a:rPr lang="vi-VN" sz="3200">
                <a:latin typeface="+mj-lt"/>
              </a:rPr>
              <a:t>9. Tạo một file Python khác có tên callAnimation4.pyw và nhập code demoAnimation4.py vào đó:</a:t>
            </a:r>
            <a:endParaRPr lang="en-US" sz="3200">
              <a:latin typeface="+mj-lt"/>
            </a:endParaRPr>
          </a:p>
        </p:txBody>
      </p:sp>
      <p:pic>
        <p:nvPicPr>
          <p:cNvPr id="6" name="Picture 5" descr="sách Qt5-Python-GUI-Programming-Cookbook.pdf - Adobe Acrobat Reader DC">
            <a:extLst>
              <a:ext uri="{FF2B5EF4-FFF2-40B4-BE49-F238E27FC236}">
                <a16:creationId xmlns:a16="http://schemas.microsoft.com/office/drawing/2014/main" id="{4403D9F7-49B5-4175-8187-CCABDB31C383}"/>
              </a:ext>
            </a:extLst>
          </p:cNvPr>
          <p:cNvPicPr>
            <a:picLocks noChangeAspect="1"/>
          </p:cNvPicPr>
          <p:nvPr/>
        </p:nvPicPr>
        <p:blipFill rotWithShape="1">
          <a:blip r:embed="rId2">
            <a:extLst>
              <a:ext uri="{28A0092B-C50C-407E-A947-70E740481C1C}">
                <a14:useLocalDpi xmlns:a14="http://schemas.microsoft.com/office/drawing/2010/main" val="0"/>
              </a:ext>
            </a:extLst>
          </a:blip>
          <a:srcRect l="20606" t="35787" r="31515" b="25937"/>
          <a:stretch/>
        </p:blipFill>
        <p:spPr>
          <a:xfrm>
            <a:off x="568036" y="2486890"/>
            <a:ext cx="8077200" cy="3900055"/>
          </a:xfrm>
          <a:prstGeom prst="rect">
            <a:avLst/>
          </a:prstGeom>
        </p:spPr>
      </p:pic>
    </p:spTree>
    <p:extLst>
      <p:ext uri="{BB962C8B-B14F-4D97-AF65-F5344CB8AC3E}">
        <p14:creationId xmlns:p14="http://schemas.microsoft.com/office/powerpoint/2010/main" val="23320192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41510" y="152935"/>
            <a:ext cx="9102490" cy="833905"/>
          </a:xfrm>
        </p:spPr>
        <p:txBody>
          <a:bodyPr>
            <a:noAutofit/>
          </a:bodyPr>
          <a:lstStyle/>
          <a:p>
            <a:r>
              <a:rPr lang="vi-VN"/>
              <a:t>Tạo Một Quả Bóng Sinh Động Theo Đường Cong Quy Định</a:t>
            </a:r>
            <a:endParaRPr lang="en-US">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Adobe Acrobat Reader DC">
            <a:extLst>
              <a:ext uri="{FF2B5EF4-FFF2-40B4-BE49-F238E27FC236}">
                <a16:creationId xmlns:a16="http://schemas.microsoft.com/office/drawing/2014/main" id="{7447A560-3E34-413B-8B86-E37CE11D06A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9864" t="19668" r="28540" b="6542"/>
          <a:stretch/>
        </p:blipFill>
        <p:spPr>
          <a:xfrm>
            <a:off x="277091" y="1191490"/>
            <a:ext cx="8631382" cy="5320145"/>
          </a:xfrm>
        </p:spPr>
      </p:pic>
    </p:spTree>
    <p:extLst>
      <p:ext uri="{BB962C8B-B14F-4D97-AF65-F5344CB8AC3E}">
        <p14:creationId xmlns:p14="http://schemas.microsoft.com/office/powerpoint/2010/main" val="27992312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5811</TotalTime>
  <Words>2213</Words>
  <Application>Microsoft Office PowerPoint</Application>
  <PresentationFormat>On-screen Show (4:3)</PresentationFormat>
  <Paragraphs>102</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IMPLEMENTING ANIMATION</vt:lpstr>
      <vt:lpstr>Nội dung</vt:lpstr>
      <vt:lpstr>Giới Thiệu</vt:lpstr>
      <vt:lpstr>Giới Thiệu</vt:lpstr>
      <vt:lpstr>THỰC HIỆN ANIMATION</vt:lpstr>
      <vt:lpstr>THỰC HIỆN ANIMATION</vt:lpstr>
      <vt:lpstr>Hiển Thị Hình Ảnh Đồ Họa 2D</vt:lpstr>
      <vt:lpstr>Hiển Thị Hình Ảnh Đồ Họa 2D</vt:lpstr>
      <vt:lpstr>Hiển Thị Hình Ảnh Đồ Họa 2D</vt:lpstr>
      <vt:lpstr>Hiển Thị Hình Ảnh Đồ Họa 2D</vt:lpstr>
      <vt:lpstr>Làm Cho Một Quả Bóng Di Chuyển Xuống Trên Nút Bấm</vt:lpstr>
      <vt:lpstr>Làm Cho Một Quả Bóng Di Chuyển Xuống Trên Nút Bấm</vt:lpstr>
      <vt:lpstr>Làm Cho Một Quả Bóng Di Chuyển Xuống Trên Nút Bấm</vt:lpstr>
      <vt:lpstr>Làm Cho Một Quả Bóng Di Chuyển Xuống Trên Nút Bấm</vt:lpstr>
      <vt:lpstr>Làm Cho Một Quả Bóng Di Chuyển Xuống Trên Nút Bấm</vt:lpstr>
      <vt:lpstr>Làm Một Quả Bóng Nảy</vt:lpstr>
      <vt:lpstr>Làm Một Quả Bóng Nảy</vt:lpstr>
      <vt:lpstr>Làm Một Quả Bóng Nảy</vt:lpstr>
      <vt:lpstr>Làm Một Quả Bóng Nảy</vt:lpstr>
      <vt:lpstr>Làm Một Quả Bóng Nảy</vt:lpstr>
      <vt:lpstr>Làm Một Quả Bóng Nảy</vt:lpstr>
      <vt:lpstr>Làm Một Quả Bóng Nảy</vt:lpstr>
      <vt:lpstr>Tạo Một Quả Bóng Sinh Động Theo Đường Cong Quy Định</vt:lpstr>
      <vt:lpstr>Tạo Một Quả Bóng Sinh Động Theo Đường Cong Quy Định</vt:lpstr>
      <vt:lpstr>Tạo Một Quả Bóng Sinh Động Theo Đường Cong Quy Định</vt:lpstr>
      <vt:lpstr>Tạo Một Quả Bóng Sinh Động Theo Đường Cong Quy Định</vt:lpstr>
      <vt:lpstr>Tạo Một Quả Bóng Sinh Động Theo Đường Cong Quy Định</vt:lpstr>
      <vt:lpstr>Tạo Một Quả Bóng Sinh Động Theo Đường Cong Quy Định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Tạo giao diện người dùng với các thành phần Qt</dc:title>
  <dc:creator>bruce shelby</dc:creator>
  <cp:lastModifiedBy>Hung</cp:lastModifiedBy>
  <cp:revision>784</cp:revision>
  <dcterms:created xsi:type="dcterms:W3CDTF">2019-07-31T07:44:13Z</dcterms:created>
  <dcterms:modified xsi:type="dcterms:W3CDTF">2019-11-13T19:15:43Z</dcterms:modified>
</cp:coreProperties>
</file>