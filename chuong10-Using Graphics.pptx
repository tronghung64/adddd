
<file path=[Content_Types].xml><?xml version="1.0" encoding="utf-8"?>
<Types xmlns="http://schemas.openxmlformats.org/package/2006/content-types">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56" r:id="rId2"/>
    <p:sldId id="257" r:id="rId3"/>
    <p:sldId id="417" r:id="rId4"/>
    <p:sldId id="258" r:id="rId5"/>
    <p:sldId id="334" r:id="rId6"/>
    <p:sldId id="372" r:id="rId7"/>
    <p:sldId id="418" r:id="rId8"/>
    <p:sldId id="419" r:id="rId9"/>
    <p:sldId id="420" r:id="rId10"/>
    <p:sldId id="421" r:id="rId11"/>
    <p:sldId id="422" r:id="rId12"/>
    <p:sldId id="423" r:id="rId13"/>
    <p:sldId id="424" r:id="rId14"/>
    <p:sldId id="425" r:id="rId15"/>
    <p:sldId id="426" r:id="rId16"/>
    <p:sldId id="427" r:id="rId17"/>
    <p:sldId id="428" r:id="rId18"/>
    <p:sldId id="429" r:id="rId19"/>
    <p:sldId id="430" r:id="rId20"/>
    <p:sldId id="431" r:id="rId21"/>
    <p:sldId id="432" r:id="rId22"/>
    <p:sldId id="433" r:id="rId23"/>
    <p:sldId id="434" r:id="rId24"/>
    <p:sldId id="435" r:id="rId25"/>
    <p:sldId id="436" r:id="rId26"/>
    <p:sldId id="437" r:id="rId27"/>
    <p:sldId id="438" r:id="rId28"/>
    <p:sldId id="439" r:id="rId29"/>
    <p:sldId id="440" r:id="rId30"/>
    <p:sldId id="442" r:id="rId31"/>
    <p:sldId id="441" r:id="rId32"/>
    <p:sldId id="443" r:id="rId33"/>
    <p:sldId id="444" r:id="rId34"/>
    <p:sldId id="445" r:id="rId35"/>
    <p:sldId id="446" r:id="rId36"/>
    <p:sldId id="447" r:id="rId37"/>
    <p:sldId id="449" r:id="rId38"/>
    <p:sldId id="450" r:id="rId39"/>
    <p:sldId id="451" r:id="rId40"/>
    <p:sldId id="452" r:id="rId41"/>
    <p:sldId id="453" r:id="rId42"/>
    <p:sldId id="454" r:id="rId43"/>
    <p:sldId id="455" r:id="rId44"/>
    <p:sldId id="456" r:id="rId45"/>
    <p:sldId id="457" r:id="rId46"/>
    <p:sldId id="458" r:id="rId47"/>
    <p:sldId id="459" r:id="rId48"/>
    <p:sldId id="460" r:id="rId49"/>
    <p:sldId id="461" r:id="rId50"/>
    <p:sldId id="462" r:id="rId51"/>
    <p:sldId id="463" r:id="rId52"/>
    <p:sldId id="464" r:id="rId53"/>
    <p:sldId id="465" r:id="rId54"/>
    <p:sldId id="466" r:id="rId55"/>
    <p:sldId id="467" r:id="rId56"/>
    <p:sldId id="468" r:id="rId57"/>
    <p:sldId id="469" r:id="rId58"/>
    <p:sldId id="470" r:id="rId59"/>
    <p:sldId id="471" r:id="rId60"/>
    <p:sldId id="472" r:id="rId61"/>
    <p:sldId id="473" r:id="rId62"/>
    <p:sldId id="474" r:id="rId63"/>
    <p:sldId id="475" r:id="rId64"/>
    <p:sldId id="476" r:id="rId65"/>
    <p:sldId id="477" r:id="rId66"/>
    <p:sldId id="478" r:id="rId67"/>
    <p:sldId id="479" r:id="rId68"/>
    <p:sldId id="480" r:id="rId69"/>
    <p:sldId id="481" r:id="rId70"/>
    <p:sldId id="482" r:id="rId71"/>
    <p:sldId id="484" r:id="rId72"/>
    <p:sldId id="483" r:id="rId73"/>
    <p:sldId id="485" r:id="rId74"/>
    <p:sldId id="486" r:id="rId75"/>
    <p:sldId id="487"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417"/>
            <p14:sldId id="258"/>
            <p14:sldId id="334"/>
            <p14:sldId id="372"/>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2"/>
            <p14:sldId id="441"/>
            <p14:sldId id="443"/>
            <p14:sldId id="444"/>
            <p14:sldId id="445"/>
            <p14:sldId id="446"/>
            <p14:sldId id="447"/>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4"/>
            <p14:sldId id="483"/>
            <p14:sldId id="485"/>
            <p14:sldId id="486"/>
            <p14:sldId id="487"/>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5451" autoAdjust="0"/>
  </p:normalViewPr>
  <p:slideViewPr>
    <p:cSldViewPr snapToGrid="0">
      <p:cViewPr varScale="1">
        <p:scale>
          <a:sx n="69" d="100"/>
          <a:sy n="69" d="100"/>
        </p:scale>
        <p:origin x="13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11/14/2019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a:xfrm>
            <a:off x="685800" y="1122363"/>
            <a:ext cx="8216660" cy="2387600"/>
          </a:xfrm>
        </p:spPr>
        <p:txBody>
          <a:bodyPr>
            <a:normAutofit/>
          </a:bodyPr>
          <a:lstStyle/>
          <a:p>
            <a:r>
              <a:rPr lang="en-US">
                <a:latin typeface="Times New Roman" panose="02020603050405020304" pitchFamily="18" charset="0"/>
                <a:cs typeface="Times New Roman" panose="02020603050405020304" pitchFamily="18" charset="0"/>
              </a:rPr>
              <a:t>USING GRAPHICS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a:xfrm>
            <a:off x="0" y="729333"/>
            <a:ext cx="9102490" cy="5809479"/>
          </a:xfrm>
        </p:spPr>
        <p:txBody>
          <a:bodyPr>
            <a:noAutofit/>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vi-VN" sz="3200" dirty="0">
                <a:latin typeface="+mj-lt"/>
              </a:rPr>
              <a:t>Hiển thị tọa độ chuột</a:t>
            </a:r>
            <a:endParaRPr lang="en-US" sz="3200" dirty="0">
              <a:latin typeface="+mj-lt"/>
            </a:endParaRPr>
          </a:p>
          <a:p>
            <a:r>
              <a:rPr lang="vi-VN" sz="3200" dirty="0">
                <a:latin typeface="+mj-lt"/>
              </a:rPr>
              <a:t>Hiển thị tọa độ nơi nhấp chuột và nhả nút</a:t>
            </a:r>
            <a:endParaRPr lang="en-US" sz="3200" dirty="0">
              <a:latin typeface="+mj-lt"/>
            </a:endParaRPr>
          </a:p>
          <a:p>
            <a:r>
              <a:rPr lang="vi-VN" sz="3200" dirty="0">
                <a:latin typeface="+mj-lt"/>
              </a:rPr>
              <a:t>Hiển thị một điểm nơi nhấp chuột</a:t>
            </a:r>
            <a:endParaRPr lang="en-US" sz="3200" dirty="0">
              <a:latin typeface="+mj-lt"/>
            </a:endParaRPr>
          </a:p>
          <a:p>
            <a:r>
              <a:rPr lang="vi-VN" sz="3200" dirty="0">
                <a:latin typeface="+mj-lt"/>
              </a:rPr>
              <a:t>Vẽ một đường giữa hai lần nhấp chuột</a:t>
            </a:r>
            <a:endParaRPr lang="en-US" sz="3200" dirty="0">
              <a:latin typeface="+mj-lt"/>
            </a:endParaRPr>
          </a:p>
          <a:p>
            <a:r>
              <a:rPr lang="vi-VN" sz="3200" dirty="0">
                <a:latin typeface="+mj-lt"/>
              </a:rPr>
              <a:t>Vẽ các loại khác nhau</a:t>
            </a:r>
            <a:endParaRPr lang="en-US" sz="3200" dirty="0">
              <a:latin typeface="+mj-lt"/>
            </a:endParaRPr>
          </a:p>
          <a:p>
            <a:r>
              <a:rPr lang="vi-VN" sz="3200" dirty="0">
                <a:latin typeface="+mj-lt"/>
              </a:rPr>
              <a:t>Vẽ một vòng tròn có kích thước mong muốn</a:t>
            </a:r>
            <a:endParaRPr lang="en-US" sz="3200" dirty="0">
              <a:latin typeface="+mj-lt"/>
            </a:endParaRPr>
          </a:p>
          <a:p>
            <a:r>
              <a:rPr lang="vi-VN" sz="3200" dirty="0">
                <a:latin typeface="+mj-lt"/>
              </a:rPr>
              <a:t>Vẽ một hình chữ nhật giữa hai lần nhấp chuột</a:t>
            </a:r>
            <a:endParaRPr lang="en-US" sz="3200" dirty="0">
              <a:latin typeface="+mj-lt"/>
            </a:endParaRPr>
          </a:p>
          <a:p>
            <a:r>
              <a:rPr lang="vi-VN" sz="3200" dirty="0">
                <a:latin typeface="+mj-lt"/>
              </a:rPr>
              <a:t>Vẽ văn bản trong một phông chữ và kích thước</a:t>
            </a:r>
            <a:r>
              <a:rPr lang="en-US" sz="3200" dirty="0">
                <a:latin typeface="+mj-lt"/>
              </a:rPr>
              <a:t> </a:t>
            </a:r>
            <a:r>
              <a:rPr lang="vi-VN" sz="3200" dirty="0">
                <a:latin typeface="+mj-lt"/>
              </a:rPr>
              <a:t>mong muốn</a:t>
            </a:r>
            <a:br>
              <a:rPr lang="vi-VN" sz="3200" dirty="0">
                <a:latin typeface="+mj-lt"/>
              </a:rPr>
            </a:b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noAutofit/>
          </a:bodyPr>
          <a:lstStyle/>
          <a:p>
            <a:r>
              <a:rPr lang="vi-VN" sz="3200" dirty="0">
                <a:latin typeface="+mj-lt"/>
              </a:rPr>
              <a:t>Tạo một thanh công cụ hiển thị các công cụ đồ họa khác nhau</a:t>
            </a:r>
            <a:endParaRPr lang="en-US" sz="3200" dirty="0">
              <a:latin typeface="+mj-lt"/>
            </a:endParaRPr>
          </a:p>
          <a:p>
            <a:r>
              <a:rPr lang="vi-VN" sz="3200" dirty="0">
                <a:latin typeface="+mj-lt"/>
              </a:rPr>
              <a:t>Vẽ một đường bằng Matplotlib</a:t>
            </a:r>
            <a:endParaRPr lang="en-US" sz="3200" dirty="0">
              <a:latin typeface="+mj-lt"/>
            </a:endParaRPr>
          </a:p>
          <a:p>
            <a:r>
              <a:rPr lang="vi-VN" sz="3200" dirty="0">
                <a:latin typeface="+mj-lt"/>
              </a:rPr>
              <a:t>Vẽ một thanh bằng Matplotli</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1726423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mj-lt"/>
              </a:rPr>
              <a:t>Để vẽ và vẽ bằng Python, </a:t>
            </a:r>
            <a:r>
              <a:rPr lang="vi-VN" sz="3200">
                <a:latin typeface="+mj-lt"/>
              </a:rPr>
              <a:t>chúng t</a:t>
            </a:r>
            <a:r>
              <a:rPr lang="en-US" sz="3200">
                <a:latin typeface="Times New Roman" panose="02020603050405020304" pitchFamily="18" charset="0"/>
                <a:cs typeface="Times New Roman" panose="02020603050405020304" pitchFamily="18" charset="0"/>
              </a:rPr>
              <a:t>a</a:t>
            </a:r>
            <a:r>
              <a:rPr lang="vi-VN" sz="3200">
                <a:latin typeface="+mj-lt"/>
              </a:rPr>
              <a:t> </a:t>
            </a:r>
            <a:r>
              <a:rPr lang="vi-VN" sz="3200" dirty="0">
                <a:latin typeface="+mj-lt"/>
              </a:rPr>
              <a:t>sẽ sử dụng một số lớp. Điều quan trọng nhất trong số họ là lớp QPainter.</a:t>
            </a:r>
            <a:endParaRPr lang="en-US" sz="3200" dirty="0">
              <a:latin typeface="+mj-lt"/>
            </a:endParaRPr>
          </a:p>
          <a:p>
            <a:pPr algn="just"/>
            <a:r>
              <a:rPr lang="vi-VN" sz="3200" dirty="0">
                <a:latin typeface="+mj-lt"/>
              </a:rPr>
              <a:t>Lớp này được sử dụng để vẽ</a:t>
            </a:r>
            <a:r>
              <a:rPr lang="en-US" sz="3200" dirty="0">
                <a:latin typeface="+mj-lt"/>
              </a:rPr>
              <a:t>.</a:t>
            </a:r>
            <a:r>
              <a:rPr lang="vi-VN" sz="3200" dirty="0">
                <a:latin typeface="+mj-lt"/>
              </a:rPr>
              <a:t> Nó có thể vẽ các đường, hình chữ nhật, hình tròn và hình dạng phức tạp. Trong khi vẽ với QPainter, bạn có thể sử dụng bút lớp QPainter để xác định màu của bản vẽ; độ dày của bút / cọ</a:t>
            </a:r>
            <a:r>
              <a:rPr lang="vi-VN" sz="3200">
                <a:latin typeface="+mj-lt"/>
              </a:rPr>
              <a:t>; </a:t>
            </a:r>
            <a:r>
              <a:rPr lang="en-US" sz="3200">
                <a:latin typeface="Times New Roman" panose="02020603050405020304" pitchFamily="18" charset="0"/>
                <a:cs typeface="Times New Roman" panose="02020603050405020304" pitchFamily="18" charset="0"/>
              </a:rPr>
              <a:t>style</a:t>
            </a:r>
            <a:r>
              <a:rPr lang="vi-VN" sz="3200">
                <a:latin typeface="+mj-lt"/>
              </a:rPr>
              <a:t>; </a:t>
            </a:r>
            <a:r>
              <a:rPr lang="vi-VN" sz="3200" dirty="0">
                <a:latin typeface="+mj-lt"/>
              </a:rPr>
              <a:t>cho dù đường được vẽ dưới dạng rắn, chấm hoặc dấu chấm</a:t>
            </a:r>
            <a:r>
              <a:rPr lang="en-US" sz="3200" dirty="0">
                <a:latin typeface="+mj-lt"/>
              </a:rPr>
              <a:t>...</a:t>
            </a:r>
          </a:p>
          <a:p>
            <a:pPr algn="just"/>
            <a:r>
              <a:rPr lang="vi-VN" sz="3200" dirty="0">
                <a:latin typeface="+mj-lt"/>
              </a:rPr>
              <a:t>Một số phương thức của lớp QPainter được sử dụng trong chương này để vẽ các hình dạng khác nhau. Một vài trong số chúng được liệt kê ở đây:</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8110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buFont typeface="Wingdings" panose="05000000000000000000" pitchFamily="2" charset="2"/>
              <a:buChar char="Ø"/>
            </a:pPr>
            <a:r>
              <a:rPr lang="vi-VN" sz="3200" dirty="0">
                <a:latin typeface="+mj-lt"/>
              </a:rPr>
              <a:t>QPainter :: drawLine (): Phương thức này được sử dụng để vẽ một đường thẳng giữa hai bộ tọa độ x và y</a:t>
            </a:r>
            <a:endParaRPr lang="en-US" sz="3200" dirty="0">
              <a:latin typeface="+mj-lt"/>
            </a:endParaRPr>
          </a:p>
          <a:p>
            <a:pPr algn="just">
              <a:buFont typeface="Wingdings" panose="05000000000000000000" pitchFamily="2" charset="2"/>
              <a:buChar char="Ø"/>
            </a:pPr>
            <a:r>
              <a:rPr lang="vi-VN" sz="3200" dirty="0">
                <a:latin typeface="+mj-lt"/>
              </a:rPr>
              <a:t>QPainter :: drawPoints (): Phương pháp này được sử dụng để vẽ một điểm tại một vị trí được chỉ định thông qua tọa độ x và y được cung cấp</a:t>
            </a:r>
            <a:endParaRPr lang="en-US" sz="3200" dirty="0">
              <a:latin typeface="+mj-lt"/>
            </a:endParaRPr>
          </a:p>
          <a:p>
            <a:pPr algn="just">
              <a:buFont typeface="Wingdings" panose="05000000000000000000" pitchFamily="2" charset="2"/>
              <a:buChar char="Ø"/>
            </a:pPr>
            <a:r>
              <a:rPr lang="vi-VN" sz="3200" dirty="0">
                <a:latin typeface="+mj-lt"/>
              </a:rPr>
              <a:t>QPainter :: drawRect (): Phương thức này được sử dụng để vẽ hình chữ nhật giữa hai bộ tọa độ x và y</a:t>
            </a:r>
            <a:endParaRPr lang="en-US" sz="3200" dirty="0">
              <a:latin typeface="+mj-lt"/>
            </a:endParaRPr>
          </a:p>
          <a:p>
            <a:pPr algn="just">
              <a:buFont typeface="Wingdings" panose="05000000000000000000" pitchFamily="2" charset="2"/>
              <a:buChar char="Ø"/>
            </a:pPr>
            <a:r>
              <a:rPr lang="vi-VN" sz="3200" dirty="0">
                <a:latin typeface="+mj-lt"/>
              </a:rPr>
              <a:t>QPainter :: drawArc (): Phương pháp này được sử dụng để vẽ một cung từ vị trí trung tâm đã chỉ định, giữa hai góc được chỉ định và với bán kính chỉ định</a:t>
            </a:r>
            <a:br>
              <a:rPr lang="vi-VN" sz="3200" dirty="0">
                <a:latin typeface="+mj-lt"/>
              </a:rPr>
            </a:b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37630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98513" indent="-457200" algn="just">
              <a:buFont typeface="Wingdings" panose="05000000000000000000" pitchFamily="2" charset="2"/>
              <a:buChar char="Ø"/>
            </a:pPr>
            <a:r>
              <a:rPr lang="vi-VN" sz="3200" dirty="0">
                <a:latin typeface="+mj-lt"/>
              </a:rPr>
              <a:t>QPainter :: drawText (): Phương pháp này được sử dụng để vẽ văn bản theo kiểu phông chữ, màu sắc và kích thước được chỉ định</a:t>
            </a:r>
            <a:endParaRPr lang="en-US" sz="3200" dirty="0">
              <a:latin typeface="+mj-lt"/>
            </a:endParaRPr>
          </a:p>
          <a:p>
            <a:pPr marL="341313" indent="0" algn="just">
              <a:buNone/>
            </a:pPr>
            <a:r>
              <a:rPr lang="vi-VN" sz="3200" dirty="0">
                <a:latin typeface="+mj-lt"/>
              </a:rPr>
              <a:t>Để hiểu các lớp và phương thức khác nhau cần thiết để hiển thị đồ họa trên thực tế, hãy làm theo một số </a:t>
            </a:r>
            <a:r>
              <a:rPr lang="en-US" sz="3200" dirty="0" err="1">
                <a:latin typeface="Times New Roman" panose="02020603050405020304" pitchFamily="18" charset="0"/>
                <a:cs typeface="Times New Roman" panose="02020603050405020304" pitchFamily="18" charset="0"/>
              </a:rPr>
              <a:t>công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thức</a:t>
            </a:r>
            <a:r>
              <a:rPr lang="vi-VN" sz="3200" dirty="0">
                <a:latin typeface="+mj-lt"/>
              </a:rPr>
              <a:t>.</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221597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Hiển Thị Tọa Độ Chuột</a:t>
            </a:r>
            <a:endParaRPr lang="en-US" dirty="0"/>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47713" indent="-457200" algn="just"/>
            <a:r>
              <a:rPr lang="vi-VN" sz="3200" dirty="0">
                <a:latin typeface="+mj-lt"/>
              </a:rPr>
              <a:t>Để vẽ bất kỳ hình dạng nào với chuột, bạn cần biết nút chuột được nhấp vào đâu, nơi chuột được kéo và nơi thả nút chuột. Chỉ sau khi biết tọa độ nơi nhấp vào nút chuột, bạn mới có thể tiếp tục và thực hiện các lệnh để vẽ các hình dạng khác nhau. 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 sẽ học cách hiển thị tọa độ x và y mà chuột được di chuyển trên form.</a:t>
            </a:r>
            <a:endParaRPr lang="en-US" sz="3200" dirty="0">
              <a:latin typeface="+mj-lt"/>
            </a:endParaRPr>
          </a:p>
          <a:p>
            <a:pPr marL="747713" indent="-457200"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a:t>
            </a:r>
            <a:r>
              <a:rPr lang="vi-VN" sz="3200">
                <a:latin typeface="+mj-lt"/>
              </a:rPr>
              <a:t>chúng t</a:t>
            </a:r>
            <a:r>
              <a:rPr lang="en-US" sz="3200">
                <a:latin typeface="Times New Roman" panose="02020603050405020304" pitchFamily="18" charset="0"/>
                <a:cs typeface="Times New Roman" panose="02020603050405020304" pitchFamily="18" charset="0"/>
              </a:rPr>
              <a:t>a</a:t>
            </a:r>
            <a:r>
              <a:rPr lang="vi-VN" sz="3200">
                <a:latin typeface="+mj-lt"/>
              </a:rPr>
              <a:t> </a:t>
            </a:r>
            <a:r>
              <a:rPr lang="vi-VN" sz="3200" dirty="0">
                <a:latin typeface="+mj-lt"/>
              </a:rPr>
              <a:t>sẽ theo dõi chuyển động của chuột và sẽ hiển thị tọa độ x và y mà chuột được di chuyển trên form. Vì vậy, trong tất cả, chúng t</a:t>
            </a:r>
            <a:r>
              <a:rPr lang="en-US" sz="3200" dirty="0">
                <a:latin typeface="Times New Roman" panose="02020603050405020304" pitchFamily="18" charset="0"/>
                <a:cs typeface="Times New Roman" panose="02020603050405020304" pitchFamily="18" charset="0"/>
              </a:rPr>
              <a:t>a</a:t>
            </a:r>
            <a:r>
              <a:rPr lang="vi-VN" sz="3200" dirty="0">
                <a:latin typeface="+mj-lt"/>
              </a:rPr>
              <a:t> sẽ sử dụng hai tiện ích Label trong ứng dụng này, một để hiển thị thông báo và cái còn lại để hiển thị tọa độ chuột. Các bước hoàn chỉnh để tạo ứng dụng này được hiển thị ở đây:</a:t>
            </a:r>
            <a:endParaRPr lang="en-US" sz="3200" dirty="0">
              <a:latin typeface="+mj-lt"/>
            </a:endParaRPr>
          </a:p>
        </p:txBody>
      </p:sp>
    </p:spTree>
    <p:extLst>
      <p:ext uri="{BB962C8B-B14F-4D97-AF65-F5344CB8AC3E}">
        <p14:creationId xmlns:p14="http://schemas.microsoft.com/office/powerpoint/2010/main" val="3911871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Hiển Thị Tọa Độ Chuột</a:t>
            </a:r>
            <a:endParaRPr lang="en-US" dirty="0"/>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804863" indent="-514350" algn="just">
              <a:buAutoNum type="arabicPeriod"/>
            </a:pPr>
            <a:r>
              <a:rPr lang="vi-VN" sz="3200" dirty="0">
                <a:latin typeface="+mj-lt"/>
              </a:rPr>
              <a:t>Hãy tạo một ứng dụng dựa trên mẫu Dialog without Buttons.</a:t>
            </a:r>
            <a:endParaRPr lang="en-US" sz="3200" dirty="0">
              <a:latin typeface="+mj-lt"/>
            </a:endParaRPr>
          </a:p>
          <a:p>
            <a:pPr marL="804863" indent="-514350" algn="just">
              <a:buAutoNum type="arabicPeriod"/>
            </a:pPr>
            <a:r>
              <a:rPr lang="vi-VN" sz="3200" dirty="0">
                <a:latin typeface="+mj-lt"/>
              </a:rPr>
              <a:t>Thêm hai tiện ích QLabel vào biểu mẫu bằng cách kéo và thả hai tiện ích Label trên form.</a:t>
            </a:r>
            <a:endParaRPr lang="en-US" sz="3200" dirty="0">
              <a:latin typeface="+mj-lt"/>
            </a:endParaRPr>
          </a:p>
          <a:p>
            <a:pPr marL="804863" indent="-514350" algn="just">
              <a:buAutoNum type="arabicPeriod"/>
            </a:pPr>
            <a:r>
              <a:rPr lang="vi-VN" sz="3200" dirty="0">
                <a:latin typeface="+mj-lt"/>
              </a:rPr>
              <a:t>Đặt thuộc tính text của tiện ích Label đầu tiên thành </a:t>
            </a:r>
            <a:r>
              <a:rPr lang="en-US" sz="3200" i="1" dirty="0">
                <a:latin typeface="Times New Roman" panose="02020603050405020304" pitchFamily="18" charset="0"/>
                <a:cs typeface="Times New Roman" panose="02020603050405020304" pitchFamily="18" charset="0"/>
              </a:rPr>
              <a:t>This app will display </a:t>
            </a:r>
            <a:r>
              <a:rPr lang="en-US" sz="3200" i="1" dirty="0" err="1">
                <a:latin typeface="Times New Roman" panose="02020603050405020304" pitchFamily="18" charset="0"/>
                <a:cs typeface="Times New Roman" panose="02020603050405020304" pitchFamily="18" charset="0"/>
              </a:rPr>
              <a:t>x,y</a:t>
            </a:r>
            <a:r>
              <a:rPr lang="en-US" sz="3200" i="1" dirty="0">
                <a:latin typeface="Times New Roman" panose="02020603050405020304" pitchFamily="18" charset="0"/>
                <a:cs typeface="Times New Roman" panose="02020603050405020304" pitchFamily="18" charset="0"/>
              </a:rPr>
              <a:t> coordinates where mouse is moved on</a:t>
            </a:r>
            <a:r>
              <a:rPr lang="vi-VN" sz="3200" dirty="0">
                <a:latin typeface="+mj-lt"/>
              </a:rPr>
              <a:t>.</a:t>
            </a:r>
            <a:endParaRPr lang="en-US" sz="3200" dirty="0">
              <a:latin typeface="+mj-lt"/>
            </a:endParaRPr>
          </a:p>
          <a:p>
            <a:pPr marL="804863" indent="-514350" algn="just">
              <a:buAutoNum type="arabicPeriod"/>
            </a:pPr>
            <a:r>
              <a:rPr lang="vi-VN" sz="3200" dirty="0">
                <a:latin typeface="+mj-lt"/>
              </a:rPr>
              <a:t>Xóa thuộc tính text của tiện ích Label thứ hai vì thuộc tính text của nó sẽ được đặt thông qua code.</a:t>
            </a:r>
            <a:endParaRPr lang="en-US" sz="3200" dirty="0">
              <a:latin typeface="+mj-lt"/>
            </a:endParaRPr>
          </a:p>
          <a:p>
            <a:pPr marL="804863" indent="-514350" algn="just">
              <a:buAutoNum type="arabicPeriod"/>
            </a:pPr>
            <a:r>
              <a:rPr lang="vi-VN" sz="3200" dirty="0">
                <a:latin typeface="+mj-lt"/>
              </a:rPr>
              <a:t>Lưu ứng dụng theo tên là demoMousetrack.ui.</a:t>
            </a:r>
            <a:br>
              <a:rPr lang="vi-VN" sz="3200" dirty="0">
                <a:latin typeface="+mj-lt"/>
              </a:rPr>
            </a:br>
            <a:r>
              <a:rPr lang="vi-VN" sz="3200" dirty="0">
                <a:latin typeface="+mj-lt"/>
              </a:rPr>
              <a:t>Form sẽ xuất hiện như trong hình sau:</a:t>
            </a:r>
            <a:endParaRPr lang="en-US" sz="3200" dirty="0">
              <a:latin typeface="+mj-lt"/>
            </a:endParaRPr>
          </a:p>
        </p:txBody>
      </p:sp>
    </p:spTree>
    <p:extLst>
      <p:ext uri="{BB962C8B-B14F-4D97-AF65-F5344CB8AC3E}">
        <p14:creationId xmlns:p14="http://schemas.microsoft.com/office/powerpoint/2010/main" val="418630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Hiển Thị Tọa Độ Chuột</a:t>
            </a:r>
            <a:endParaRPr lang="en-US" dirty="0"/>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endParaRPr lang="en-US" sz="3200" dirty="0">
              <a:latin typeface="+mj-lt"/>
            </a:endParaRPr>
          </a:p>
          <a:p>
            <a:pPr marL="290513" indent="0" algn="just">
              <a:buNone/>
            </a:pPr>
            <a:endParaRPr lang="en-US" sz="3200" dirty="0">
              <a:latin typeface="+mj-lt"/>
            </a:endParaRPr>
          </a:p>
          <a:p>
            <a:pPr marL="290513" indent="0" algn="just">
              <a:buNone/>
            </a:pPr>
            <a:endParaRPr lang="en-US" sz="3200" dirty="0">
              <a:latin typeface="+mj-lt"/>
            </a:endParaRPr>
          </a:p>
          <a:p>
            <a:pPr marL="290513" indent="0" algn="just">
              <a:buNone/>
            </a:pPr>
            <a:endParaRPr lang="en-US" sz="3200" dirty="0">
              <a:latin typeface="+mj-lt"/>
            </a:endParaRPr>
          </a:p>
          <a:p>
            <a:pPr marL="290513" indent="0" algn="just">
              <a:buNone/>
            </a:pPr>
            <a:endParaRPr lang="en-US" sz="3200" dirty="0">
              <a:latin typeface="+mj-lt"/>
            </a:endParaRPr>
          </a:p>
          <a:p>
            <a:pPr marL="290513" indent="0" algn="just">
              <a:buNone/>
            </a:pPr>
            <a:endParaRPr lang="en-US" sz="3200" dirty="0">
              <a:latin typeface="+mj-lt"/>
            </a:endParaRPr>
          </a:p>
          <a:p>
            <a:pPr marL="290513" indent="0" algn="just">
              <a:buNone/>
            </a:pPr>
            <a:r>
              <a:rPr lang="vi-VN" sz="3200" dirty="0">
                <a:latin typeface="+mj-lt"/>
              </a:rPr>
              <a:t>Giao diện người dùng được tạo bằng Qt Designer được lưu trữ trong file .ui, là file XML và cần được chuyển đổi thành code Python. Tiện ích pyuic5 được sử dụng để chuyển đổi file XML thành code Python. </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0E5DB6BD-D65C-4EC0-894A-ED625AE85199}"/>
              </a:ext>
            </a:extLst>
          </p:cNvPr>
          <p:cNvPicPr>
            <a:picLocks noChangeAspect="1"/>
          </p:cNvPicPr>
          <p:nvPr/>
        </p:nvPicPr>
        <p:blipFill rotWithShape="1">
          <a:blip r:embed="rId2">
            <a:extLst>
              <a:ext uri="{28A0092B-C50C-407E-A947-70E740481C1C}">
                <a14:useLocalDpi xmlns:a14="http://schemas.microsoft.com/office/drawing/2010/main" val="0"/>
              </a:ext>
            </a:extLst>
          </a:blip>
          <a:srcRect l="34091" t="25655" r="32121" b="36631"/>
          <a:stretch/>
        </p:blipFill>
        <p:spPr>
          <a:xfrm>
            <a:off x="1385455" y="767799"/>
            <a:ext cx="6234545" cy="3430128"/>
          </a:xfrm>
          <a:prstGeom prst="rect">
            <a:avLst/>
          </a:prstGeom>
        </p:spPr>
      </p:pic>
    </p:spTree>
    <p:extLst>
      <p:ext uri="{BB962C8B-B14F-4D97-AF65-F5344CB8AC3E}">
        <p14:creationId xmlns:p14="http://schemas.microsoft.com/office/powerpoint/2010/main" val="156104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Hiển Thị Tọa Độ Chuột</a:t>
            </a:r>
            <a:endParaRPr lang="en-US" dirty="0"/>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6. Hãy coi tập lệnh demoMousetrack.py như một file tiêu đề và nhập nó vào file mà bạn sẽ gọi thiết kế giao diện người dùng của nó.</a:t>
            </a:r>
            <a:endParaRPr lang="en-US" sz="3200" dirty="0">
              <a:latin typeface="+mj-lt"/>
            </a:endParaRPr>
          </a:p>
          <a:p>
            <a:pPr marL="290513" indent="0" algn="just">
              <a:buNone/>
            </a:pPr>
            <a:r>
              <a:rPr lang="vi-VN" sz="3200" dirty="0">
                <a:latin typeface="+mj-lt"/>
              </a:rPr>
              <a:t>7. Tạo một file Python khác có tên callMouseTrack.pyw và nhập code demoMousetrack.py vào đó:</a:t>
            </a:r>
            <a:endParaRPr lang="en-US" sz="3200" dirty="0">
              <a:latin typeface="+mj-lt"/>
            </a:endParaRPr>
          </a:p>
        </p:txBody>
      </p:sp>
      <p:pic>
        <p:nvPicPr>
          <p:cNvPr id="6" name="Picture 5" descr="sách Qt5-Python-GUI-Programming-Cookbook.pdf - Foxit Reader">
            <a:extLst>
              <a:ext uri="{FF2B5EF4-FFF2-40B4-BE49-F238E27FC236}">
                <a16:creationId xmlns:a16="http://schemas.microsoft.com/office/drawing/2014/main" id="{BCACA55E-80CB-4FCF-A9AA-D989032673FB}"/>
              </a:ext>
            </a:extLst>
          </p:cNvPr>
          <p:cNvPicPr>
            <a:picLocks noChangeAspect="1"/>
          </p:cNvPicPr>
          <p:nvPr/>
        </p:nvPicPr>
        <p:blipFill rotWithShape="1">
          <a:blip r:embed="rId2">
            <a:extLst>
              <a:ext uri="{28A0092B-C50C-407E-A947-70E740481C1C}">
                <a14:useLocalDpi xmlns:a14="http://schemas.microsoft.com/office/drawing/2010/main" val="0"/>
              </a:ext>
            </a:extLst>
          </a:blip>
          <a:srcRect l="33939" t="22278" r="33333" b="50000"/>
          <a:stretch/>
        </p:blipFill>
        <p:spPr>
          <a:xfrm>
            <a:off x="720436" y="3602182"/>
            <a:ext cx="8118764" cy="3227574"/>
          </a:xfrm>
          <a:prstGeom prst="rect">
            <a:avLst/>
          </a:prstGeom>
        </p:spPr>
      </p:pic>
    </p:spTree>
    <p:extLst>
      <p:ext uri="{BB962C8B-B14F-4D97-AF65-F5344CB8AC3E}">
        <p14:creationId xmlns:p14="http://schemas.microsoft.com/office/powerpoint/2010/main" val="347678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Hiển Thị Tọa Độ Chuột</a:t>
            </a:r>
            <a:endParaRPr lang="en-US" dirty="0"/>
          </a:p>
        </p:txBody>
      </p:sp>
      <p:pic>
        <p:nvPicPr>
          <p:cNvPr id="5" name="Content Placeholder 4" descr="sách Qt5-Python-GUI-Programming-Cookbook.pdf - Foxit Reader">
            <a:extLst>
              <a:ext uri="{FF2B5EF4-FFF2-40B4-BE49-F238E27FC236}">
                <a16:creationId xmlns:a16="http://schemas.microsoft.com/office/drawing/2014/main" id="{E42DE6F3-9B36-4423-AFF5-587E7CD6960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936" t="45030" r="37841" b="34896"/>
          <a:stretch/>
        </p:blipFill>
        <p:spPr>
          <a:xfrm>
            <a:off x="290945" y="862149"/>
            <a:ext cx="6830291" cy="4901342"/>
          </a:xfrm>
        </p:spPr>
      </p:pic>
    </p:spTree>
    <p:extLst>
      <p:ext uri="{BB962C8B-B14F-4D97-AF65-F5344CB8AC3E}">
        <p14:creationId xmlns:p14="http://schemas.microsoft.com/office/powerpoint/2010/main" val="4076708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Autofit/>
          </a:bodyPr>
          <a:lstStyle/>
          <a:p>
            <a:r>
              <a:rPr lang="vi-VN" dirty="0"/>
              <a:t>Hiển Thị Tọa Độ Nơi Nhấp Chuột Và Nhả Nút</a:t>
            </a:r>
            <a:endParaRPr lang="en-US" dirty="0"/>
          </a:p>
        </p:txBody>
      </p:sp>
      <p:sp>
        <p:nvSpPr>
          <p:cNvPr id="4" name="Content Placeholder 3">
            <a:extLst>
              <a:ext uri="{FF2B5EF4-FFF2-40B4-BE49-F238E27FC236}">
                <a16:creationId xmlns:a16="http://schemas.microsoft.com/office/drawing/2014/main" id="{76EFEDA1-0E17-4419-827A-375DAD995E01}"/>
              </a:ext>
            </a:extLst>
          </p:cNvPr>
          <p:cNvSpPr>
            <a:spLocks noGrp="1"/>
          </p:cNvSpPr>
          <p:nvPr>
            <p:ph idx="1"/>
          </p:nvPr>
        </p:nvSpPr>
        <p:spPr/>
        <p:txBody>
          <a:bodyPr>
            <a:normAutofit/>
          </a:bodyPr>
          <a:lstStyle/>
          <a:p>
            <a:pPr algn="just"/>
            <a:r>
              <a:rPr lang="vi-VN" sz="3200" dirty="0">
                <a:latin typeface="+mj-lt"/>
              </a:rPr>
              <a:t>Hai phương thức, mousePressEvent () và mouseReleaseEvent (), sẽ đóng vai trò chính 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Phương thức mousePressEvent () sẽ được tự động gọi khi nhấn chuột và sẽ hiển thị tọa độ x và y khi xảy ra sự kiện nhấn chuột. Tương tự, phương thức mouseReleaseEvent () sẽ được gọi tự động bất cứ khi nào nút chuột được </a:t>
            </a:r>
            <a:r>
              <a:rPr lang="en-US" sz="3200" dirty="0" err="1">
                <a:latin typeface="Times New Roman" panose="02020603050405020304" pitchFamily="18" charset="0"/>
                <a:cs typeface="Times New Roman" panose="02020603050405020304" pitchFamily="18" charset="0"/>
              </a:rPr>
              <a:t>nhả</a:t>
            </a:r>
            <a:r>
              <a:rPr lang="en-US" sz="3200" dirty="0">
                <a:latin typeface="Times New Roman" panose="02020603050405020304" pitchFamily="18" charset="0"/>
                <a:cs typeface="Times New Roman" panose="02020603050405020304" pitchFamily="18" charset="0"/>
              </a:rPr>
              <a:t> ra</a:t>
            </a:r>
            <a:r>
              <a:rPr lang="vi-VN" sz="3200" dirty="0">
                <a:latin typeface="+mj-lt"/>
              </a:rPr>
              <a:t>. Hai tiện ích Label sẽ được sử dụng trong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a:t>
            </a:r>
            <a:r>
              <a:rPr lang="vi-VN" sz="3200" dirty="0">
                <a:latin typeface="+mj-lt"/>
              </a:rPr>
              <a:t>này để hiển thị tọa độ nơi nhấp vào nút chuột và nơi thả nút chuột. Dưới đây là các bước để tạo một ứng dụng như vậy:</a:t>
            </a:r>
            <a:endParaRPr lang="en-US" sz="3200" dirty="0">
              <a:latin typeface="+mj-lt"/>
            </a:endParaRPr>
          </a:p>
          <a:p>
            <a:pPr marL="0" indent="0" algn="just">
              <a:buNone/>
            </a:pPr>
            <a:endParaRPr lang="en-US" sz="3200" dirty="0">
              <a:latin typeface="+mj-lt"/>
            </a:endParaRPr>
          </a:p>
        </p:txBody>
      </p:sp>
    </p:spTree>
    <p:extLst>
      <p:ext uri="{BB962C8B-B14F-4D97-AF65-F5344CB8AC3E}">
        <p14:creationId xmlns:p14="http://schemas.microsoft.com/office/powerpoint/2010/main" val="360248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Autofit/>
          </a:bodyPr>
          <a:lstStyle/>
          <a:p>
            <a:r>
              <a:rPr lang="vi-VN" dirty="0"/>
              <a:t>Hiển Thị Tọa Độ Nơi Nhấp Chuột Và Nhả Nút</a:t>
            </a:r>
            <a:endParaRPr lang="en-US" dirty="0"/>
          </a:p>
        </p:txBody>
      </p:sp>
      <p:sp>
        <p:nvSpPr>
          <p:cNvPr id="4" name="Content Placeholder 3">
            <a:extLst>
              <a:ext uri="{FF2B5EF4-FFF2-40B4-BE49-F238E27FC236}">
                <a16:creationId xmlns:a16="http://schemas.microsoft.com/office/drawing/2014/main" id="{76EFEDA1-0E17-4419-827A-375DAD995E01}"/>
              </a:ext>
            </a:extLst>
          </p:cNvPr>
          <p:cNvSpPr>
            <a:spLocks noGrp="1"/>
          </p:cNvSpPr>
          <p:nvPr>
            <p:ph idx="1"/>
          </p:nvPr>
        </p:nvSpPr>
        <p:spPr/>
        <p:txBody>
          <a:bodyPr>
            <a:noAutofit/>
          </a:bodyPr>
          <a:lstStyle/>
          <a:p>
            <a:pPr marL="514350" indent="-514350" algn="just">
              <a:buAutoNum type="arabicPeriod"/>
            </a:pPr>
            <a:r>
              <a:rPr lang="vi-VN" sz="3200" dirty="0">
                <a:latin typeface="+mj-lt"/>
              </a:rPr>
              <a:t>Hãy tạo một ứng dụng dựa trên mẫu Dialog without Buttons.</a:t>
            </a:r>
            <a:endParaRPr lang="en-US" sz="3200" dirty="0">
              <a:latin typeface="+mj-lt"/>
            </a:endParaRPr>
          </a:p>
          <a:p>
            <a:pPr marL="514350" indent="-514350" algn="just">
              <a:buAutoNum type="arabicPeriod"/>
            </a:pPr>
            <a:r>
              <a:rPr lang="vi-VN" sz="3200" dirty="0">
                <a:latin typeface="+mj-lt"/>
              </a:rPr>
              <a:t>Thêm ba tiện ích QLabel vào form bằng cách kéo và thả ba tiện ích Label trên form.</a:t>
            </a:r>
            <a:endParaRPr lang="en-US" sz="3200" dirty="0">
              <a:latin typeface="+mj-lt"/>
            </a:endParaRPr>
          </a:p>
          <a:p>
            <a:pPr marL="514350" indent="-514350" algn="just">
              <a:buAutoNum type="arabicPeriod"/>
            </a:pPr>
            <a:r>
              <a:rPr lang="vi-VN" sz="3200" dirty="0">
                <a:latin typeface="+mj-lt"/>
              </a:rPr>
              <a:t>Đặt thuộc tính text của tiện ích Label đầu tiên thành</a:t>
            </a:r>
            <a:r>
              <a:rPr lang="en-US" sz="3200" dirty="0">
                <a:latin typeface="+mj-lt"/>
              </a:rPr>
              <a:t> </a:t>
            </a:r>
            <a:r>
              <a:rPr lang="en-US" sz="3200" i="1" dirty="0">
                <a:latin typeface="Times New Roman" panose="02020603050405020304" pitchFamily="18" charset="0"/>
                <a:cs typeface="Times New Roman" panose="02020603050405020304" pitchFamily="18" charset="0"/>
              </a:rPr>
              <a:t>Displays the x, y coordinates where mouse is pressed and released</a:t>
            </a:r>
            <a:r>
              <a:rPr lang="vi-VN" sz="3200" i="1" dirty="0">
                <a:latin typeface="Times New Roman" panose="02020603050405020304" pitchFamily="18" charset="0"/>
                <a:cs typeface="Times New Roman" panose="02020603050405020304" pitchFamily="18" charset="0"/>
              </a:rPr>
              <a:t> </a:t>
            </a:r>
            <a:r>
              <a:rPr lang="en-US" sz="3200" i="1" dirty="0">
                <a:latin typeface="+mj-lt"/>
                <a:cs typeface="Times New Roman" panose="02020603050405020304" pitchFamily="18" charset="0"/>
              </a:rPr>
              <a:t>(</a:t>
            </a:r>
            <a:r>
              <a:rPr lang="vi-VN" sz="3200" dirty="0">
                <a:latin typeface="+mj-lt"/>
              </a:rPr>
              <a:t>Hiển thị tọa độ x, y nơi chuột được nhấn và nhả</a:t>
            </a:r>
            <a:r>
              <a:rPr lang="en-US" sz="3200" dirty="0">
                <a:latin typeface="+mj-lt"/>
              </a:rPr>
              <a:t>)</a:t>
            </a:r>
            <a:r>
              <a:rPr lang="vi-VN" sz="3200" dirty="0">
                <a:latin typeface="+mj-lt"/>
              </a:rPr>
              <a:t>.</a:t>
            </a:r>
            <a:endParaRPr lang="en-US" sz="3200" dirty="0">
              <a:latin typeface="+mj-lt"/>
            </a:endParaRPr>
          </a:p>
          <a:p>
            <a:pPr marL="514350" indent="-514350" algn="just">
              <a:buAutoNum type="arabicPeriod"/>
            </a:pPr>
            <a:r>
              <a:rPr lang="vi-VN" sz="3200" dirty="0">
                <a:latin typeface="+mj-lt"/>
              </a:rPr>
              <a:t>Xóa thuộc tính text của các tiện ích Label thứ hai và thứ ba, vì các thuộc tính text của chúng sẽ được đặt thông qua code.</a:t>
            </a:r>
            <a:endParaRPr lang="en-US" sz="3200" dirty="0">
              <a:latin typeface="+mj-lt"/>
            </a:endParaRPr>
          </a:p>
        </p:txBody>
      </p:sp>
    </p:spTree>
    <p:extLst>
      <p:ext uri="{BB962C8B-B14F-4D97-AF65-F5344CB8AC3E}">
        <p14:creationId xmlns:p14="http://schemas.microsoft.com/office/powerpoint/2010/main" val="2089346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Autofit/>
          </a:bodyPr>
          <a:lstStyle/>
          <a:p>
            <a:r>
              <a:rPr lang="vi-VN" dirty="0"/>
              <a:t>Hiển Thị Tọa Độ Nơi Nhấp Chuột Và Nhả Nút</a:t>
            </a:r>
            <a:endParaRPr lang="en-US" dirty="0"/>
          </a:p>
        </p:txBody>
      </p:sp>
      <p:sp>
        <p:nvSpPr>
          <p:cNvPr id="4" name="Content Placeholder 3">
            <a:extLst>
              <a:ext uri="{FF2B5EF4-FFF2-40B4-BE49-F238E27FC236}">
                <a16:creationId xmlns:a16="http://schemas.microsoft.com/office/drawing/2014/main" id="{76EFEDA1-0E17-4419-827A-375DAD995E01}"/>
              </a:ext>
            </a:extLst>
          </p:cNvPr>
          <p:cNvSpPr>
            <a:spLocks noGrp="1"/>
          </p:cNvSpPr>
          <p:nvPr>
            <p:ph idx="1"/>
          </p:nvPr>
        </p:nvSpPr>
        <p:spPr/>
        <p:txBody>
          <a:bodyPr>
            <a:noAutofit/>
          </a:bodyPr>
          <a:lstStyle/>
          <a:p>
            <a:pPr marL="514350" indent="-514350" algn="just">
              <a:buFont typeface="+mj-lt"/>
              <a:buAutoNum type="arabicPeriod" startAt="5"/>
            </a:pPr>
            <a:r>
              <a:rPr lang="vi-VN" sz="3200" dirty="0">
                <a:latin typeface="+mj-lt"/>
              </a:rPr>
              <a:t>Đặt thuộc tính objectName của tiện ích Label thứ hai thành labelPress, vì nó sẽ được sử dụng để hiển thị tọa độ x và y của vị trí nơi nhấp chuột.</a:t>
            </a:r>
            <a:endParaRPr lang="en-US" sz="3200" dirty="0">
              <a:latin typeface="+mj-lt"/>
            </a:endParaRPr>
          </a:p>
          <a:p>
            <a:pPr marL="514350" indent="-514350" algn="just">
              <a:buFont typeface="+mj-lt"/>
              <a:buAutoNum type="arabicPeriod" startAt="5"/>
            </a:pPr>
            <a:r>
              <a:rPr lang="vi-VN" sz="3200" dirty="0">
                <a:latin typeface="+mj-lt"/>
              </a:rPr>
              <a:t>Đặt thuộc tính objectName của tiện ích Label thứ ba thành labelRelease vì nó sẽ được sử dụng để hiển thị tọa độ x và y của vị trí nơi nút chuột được nhả.</a:t>
            </a:r>
            <a:endParaRPr lang="en-US" sz="3200" dirty="0">
              <a:latin typeface="+mj-lt"/>
            </a:endParaRPr>
          </a:p>
          <a:p>
            <a:pPr marL="514350" indent="-514350" algn="just">
              <a:buFont typeface="+mj-lt"/>
              <a:buAutoNum type="arabicPeriod" startAt="5"/>
            </a:pPr>
            <a:r>
              <a:rPr lang="vi-VN" sz="3200" dirty="0">
                <a:latin typeface="+mj-lt"/>
              </a:rPr>
              <a:t>Lưu ứng dụng theo tên là demoMouseClicks.ui.</a:t>
            </a:r>
            <a:endParaRPr lang="en-US" sz="3200" dirty="0">
              <a:latin typeface="+mj-lt"/>
            </a:endParaRPr>
          </a:p>
        </p:txBody>
      </p:sp>
    </p:spTree>
    <p:extLst>
      <p:ext uri="{BB962C8B-B14F-4D97-AF65-F5344CB8AC3E}">
        <p14:creationId xmlns:p14="http://schemas.microsoft.com/office/powerpoint/2010/main" val="405916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Autofit/>
          </a:bodyPr>
          <a:lstStyle/>
          <a:p>
            <a:r>
              <a:rPr lang="vi-VN" dirty="0"/>
              <a:t>Hiển Thị Tọa Độ Nơi Nhấp Chuột Và Nhả Nút</a:t>
            </a:r>
            <a:endParaRPr lang="en-US" dirty="0"/>
          </a:p>
        </p:txBody>
      </p:sp>
      <p:sp>
        <p:nvSpPr>
          <p:cNvPr id="6" name="Content Placeholder 5">
            <a:extLst>
              <a:ext uri="{FF2B5EF4-FFF2-40B4-BE49-F238E27FC236}">
                <a16:creationId xmlns:a16="http://schemas.microsoft.com/office/drawing/2014/main" id="{5B52A611-FF5F-4086-9AAA-F16623CAC469}"/>
              </a:ext>
            </a:extLst>
          </p:cNvPr>
          <p:cNvSpPr>
            <a:spLocks noGrp="1"/>
          </p:cNvSpPr>
          <p:nvPr>
            <p:ph idx="1"/>
          </p:nvPr>
        </p:nvSpPr>
        <p:spPr/>
        <p:txBody>
          <a:bodyPr>
            <a:normAutofit fontScale="700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just">
              <a:buNone/>
            </a:pPr>
            <a:r>
              <a:rPr lang="vi-VN" sz="4600" dirty="0">
                <a:latin typeface="+mj-lt"/>
              </a:rPr>
              <a:t>Giao diện người dùng được tạo bằng Qt Designer được lưu trữ trong file .ui, là file XML và cần được chuyển đổi thành code  Python. Tiện ích pyuic5 được sử dụng để chuyển đổi tệp XML thành code  Python.</a:t>
            </a:r>
            <a:endParaRPr lang="en-US" sz="4600" dirty="0">
              <a:latin typeface="+mj-lt"/>
            </a:endParaRPr>
          </a:p>
          <a:p>
            <a:pPr marL="0" indent="0" algn="just">
              <a:buNone/>
            </a:pPr>
            <a:r>
              <a:rPr lang="vi-VN" sz="4600" dirty="0">
                <a:latin typeface="+mj-lt"/>
              </a:rPr>
              <a:t>8. Hãy coi tập lệnh demoMouseClicks.py như một file tiêu đề và nhập nó vào file mà bạn sẽ gọi thiết kế giao diện người dùng của nó.</a:t>
            </a:r>
            <a:endParaRPr lang="en-US" sz="4600" dirty="0">
              <a:latin typeface="+mj-lt"/>
            </a:endParaRPr>
          </a:p>
          <a:p>
            <a:endParaRPr lang="en-US" dirty="0"/>
          </a:p>
        </p:txBody>
      </p:sp>
      <p:pic>
        <p:nvPicPr>
          <p:cNvPr id="7" name="Content Placeholder 4" descr="sách Qt5-Python-GUI-Programming-Cookbook.pdf - Foxit Reader">
            <a:extLst>
              <a:ext uri="{FF2B5EF4-FFF2-40B4-BE49-F238E27FC236}">
                <a16:creationId xmlns:a16="http://schemas.microsoft.com/office/drawing/2014/main" id="{099B030E-406D-425E-839F-AC53C733D50B}"/>
              </a:ext>
            </a:extLst>
          </p:cNvPr>
          <p:cNvPicPr>
            <a:picLocks noChangeAspect="1"/>
          </p:cNvPicPr>
          <p:nvPr/>
        </p:nvPicPr>
        <p:blipFill rotWithShape="1">
          <a:blip r:embed="rId2">
            <a:extLst>
              <a:ext uri="{28A0092B-C50C-407E-A947-70E740481C1C}">
                <a14:useLocalDpi xmlns:a14="http://schemas.microsoft.com/office/drawing/2010/main" val="0"/>
              </a:ext>
            </a:extLst>
          </a:blip>
          <a:srcRect l="34306" t="19096" r="32971" b="48956"/>
          <a:stretch/>
        </p:blipFill>
        <p:spPr>
          <a:xfrm>
            <a:off x="1717964" y="1020277"/>
            <a:ext cx="5001491" cy="3025250"/>
          </a:xfrm>
          <a:prstGeom prst="rect">
            <a:avLst/>
          </a:prstGeom>
        </p:spPr>
      </p:pic>
    </p:spTree>
    <p:extLst>
      <p:ext uri="{BB962C8B-B14F-4D97-AF65-F5344CB8AC3E}">
        <p14:creationId xmlns:p14="http://schemas.microsoft.com/office/powerpoint/2010/main" val="114742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96954" y="186373"/>
            <a:ext cx="9102490" cy="833905"/>
          </a:xfrm>
        </p:spPr>
        <p:txBody>
          <a:bodyPr>
            <a:noAutofit/>
          </a:bodyPr>
          <a:lstStyle/>
          <a:p>
            <a:r>
              <a:rPr lang="vi-VN" dirty="0"/>
              <a:t>Hiển Thị Tọa Độ Nơi Nhấp Chuột Và Nhả Nút</a:t>
            </a:r>
            <a:endParaRPr lang="en-US" dirty="0"/>
          </a:p>
        </p:txBody>
      </p:sp>
      <p:sp>
        <p:nvSpPr>
          <p:cNvPr id="6" name="Content Placeholder 5">
            <a:extLst>
              <a:ext uri="{FF2B5EF4-FFF2-40B4-BE49-F238E27FC236}">
                <a16:creationId xmlns:a16="http://schemas.microsoft.com/office/drawing/2014/main" id="{5B52A611-FF5F-4086-9AAA-F16623CAC469}"/>
              </a:ext>
            </a:extLst>
          </p:cNvPr>
          <p:cNvSpPr>
            <a:spLocks noGrp="1"/>
          </p:cNvSpPr>
          <p:nvPr>
            <p:ph idx="1"/>
          </p:nvPr>
        </p:nvSpPr>
        <p:spPr/>
        <p:txBody>
          <a:bodyPr>
            <a:normAutofit/>
          </a:bodyPr>
          <a:lstStyle/>
          <a:p>
            <a:pPr marL="0" indent="0" algn="just">
              <a:buNone/>
            </a:pPr>
            <a:r>
              <a:rPr lang="vi-VN" sz="3200" dirty="0">
                <a:latin typeface="+mj-lt"/>
              </a:rPr>
              <a:t>9. Tạo một file Python khác có tên callMouseClickCoordins.pyw và nhập code  demoMouseClicks.py vào đó:</a:t>
            </a:r>
            <a:endParaRPr lang="en-US" sz="3200" dirty="0">
              <a:latin typeface="+mj-lt"/>
            </a:endParaRPr>
          </a:p>
          <a:p>
            <a:endParaRPr lang="en-US" dirty="0"/>
          </a:p>
        </p:txBody>
      </p:sp>
      <p:pic>
        <p:nvPicPr>
          <p:cNvPr id="4" name="Picture 3" descr="sách Qt5-Python-GUI-Programming-Cookbook.pdf - Foxit Reader">
            <a:extLst>
              <a:ext uri="{FF2B5EF4-FFF2-40B4-BE49-F238E27FC236}">
                <a16:creationId xmlns:a16="http://schemas.microsoft.com/office/drawing/2014/main" id="{BDC61DB9-304C-4081-BB98-1F4D99441B80}"/>
              </a:ext>
            </a:extLst>
          </p:cNvPr>
          <p:cNvPicPr>
            <a:picLocks noChangeAspect="1"/>
          </p:cNvPicPr>
          <p:nvPr/>
        </p:nvPicPr>
        <p:blipFill rotWithShape="1">
          <a:blip r:embed="rId2">
            <a:extLst>
              <a:ext uri="{28A0092B-C50C-407E-A947-70E740481C1C}">
                <a14:useLocalDpi xmlns:a14="http://schemas.microsoft.com/office/drawing/2010/main" val="0"/>
              </a:ext>
            </a:extLst>
          </a:blip>
          <a:srcRect l="32424" t="25937" r="26364" b="30721"/>
          <a:stretch/>
        </p:blipFill>
        <p:spPr>
          <a:xfrm>
            <a:off x="484908" y="2362199"/>
            <a:ext cx="8326583" cy="4163292"/>
          </a:xfrm>
          <a:prstGeom prst="rect">
            <a:avLst/>
          </a:prstGeom>
        </p:spPr>
      </p:pic>
    </p:spTree>
    <p:extLst>
      <p:ext uri="{BB962C8B-B14F-4D97-AF65-F5344CB8AC3E}">
        <p14:creationId xmlns:p14="http://schemas.microsoft.com/office/powerpoint/2010/main" val="753659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232893"/>
            <a:ext cx="9102490" cy="833905"/>
          </a:xfrm>
        </p:spPr>
        <p:txBody>
          <a:bodyPr>
            <a:noAutofit/>
          </a:bodyPr>
          <a:lstStyle/>
          <a:p>
            <a:r>
              <a:rPr lang="vi-VN" dirty="0"/>
              <a:t>Hiển Thị Tọa Độ Nơi Nhấp Chuột Và Nhả Nút</a:t>
            </a:r>
            <a:endParaRPr lang="en-US" dirty="0"/>
          </a:p>
        </p:txBody>
      </p:sp>
      <p:pic>
        <p:nvPicPr>
          <p:cNvPr id="5" name="Content Placeholder 4" descr="sách Qt5-Python-GUI-Programming-Cookbook.pdf - Foxit Reader">
            <a:extLst>
              <a:ext uri="{FF2B5EF4-FFF2-40B4-BE49-F238E27FC236}">
                <a16:creationId xmlns:a16="http://schemas.microsoft.com/office/drawing/2014/main" id="{BBC33667-C580-46E9-BFD3-875D3B09AE0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4001" t="23903" r="26274" b="51500"/>
          <a:stretch/>
        </p:blipFill>
        <p:spPr>
          <a:xfrm>
            <a:off x="332509" y="1108362"/>
            <a:ext cx="7453745" cy="4378038"/>
          </a:xfrm>
        </p:spPr>
      </p:pic>
    </p:spTree>
    <p:extLst>
      <p:ext uri="{BB962C8B-B14F-4D97-AF65-F5344CB8AC3E}">
        <p14:creationId xmlns:p14="http://schemas.microsoft.com/office/powerpoint/2010/main" val="3515433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19039"/>
            <a:ext cx="9102490" cy="833905"/>
          </a:xfrm>
        </p:spPr>
        <p:txBody>
          <a:bodyPr>
            <a:noAutofit/>
          </a:bodyPr>
          <a:lstStyle/>
          <a:p>
            <a:r>
              <a:rPr lang="vi-VN" dirty="0"/>
              <a:t>Hiển Thị Một Điểm Mà Nút Chuột Được Nhấp</a:t>
            </a:r>
            <a:endParaRPr lang="en-US" dirty="0"/>
          </a:p>
        </p:txBody>
      </p:sp>
      <p:sp>
        <p:nvSpPr>
          <p:cNvPr id="4" name="Content Placeholder 3">
            <a:extLst>
              <a:ext uri="{FF2B5EF4-FFF2-40B4-BE49-F238E27FC236}">
                <a16:creationId xmlns:a16="http://schemas.microsoft.com/office/drawing/2014/main" id="{8AFE080D-12B8-4394-B80B-53DC47630BAD}"/>
              </a:ext>
            </a:extLst>
          </p:cNvPr>
          <p:cNvSpPr>
            <a:spLocks noGrp="1"/>
          </p:cNvSpPr>
          <p:nvPr>
            <p:ph idx="1"/>
          </p:nvPr>
        </p:nvSpPr>
        <p:spPr>
          <a:xfrm>
            <a:off x="41510" y="1228096"/>
            <a:ext cx="9102490" cy="5809479"/>
          </a:xfrm>
        </p:spPr>
        <p:txBody>
          <a:bodyPr>
            <a:noAutofit/>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 sẽ học cách hiển thị điểm nhấn vào nút chuột trên form. Điểm ở đây có nghĩa là một dấu chấm. Đó là, bất cứ nơi nào người dùng nhấn chuột, một dấu chấm sẽ xuất hiện tại tọa độ đó. Bạn cũng sẽ học cách xác định kích thước của dấu chấm.</a:t>
            </a:r>
            <a:endParaRPr lang="en-US" sz="3200" dirty="0">
              <a:latin typeface="+mj-lt"/>
            </a:endParaRPr>
          </a:p>
          <a:p>
            <a:pPr algn="just"/>
            <a:r>
              <a:rPr lang="vi-VN" sz="3200" dirty="0">
                <a:latin typeface="+mj-lt"/>
              </a:rPr>
              <a:t>Phương thức mousePressEvent () sẽ được sử dụng trong công thức này vì đây là phương thức được tự động gọi khi nhấn chuột trên form. Trong phương thức mousePressEvent (), chúng tôi sẽ thực thi lệnh để hiển thị một dấu chấm hoặc điểm có kích thước mong muốn. Dưới đây là các bước để hiểu cách bạn có thể hiển thị một điểm hoặc dấu chấm trên form nơi nhấp vào nút chuột:</a:t>
            </a:r>
            <a:endParaRPr lang="en-US" sz="3200" dirty="0">
              <a:latin typeface="+mj-lt"/>
            </a:endParaRPr>
          </a:p>
        </p:txBody>
      </p:sp>
    </p:spTree>
    <p:extLst>
      <p:ext uri="{BB962C8B-B14F-4D97-AF65-F5344CB8AC3E}">
        <p14:creationId xmlns:p14="http://schemas.microsoft.com/office/powerpoint/2010/main" val="112428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19039"/>
            <a:ext cx="9102490" cy="833905"/>
          </a:xfrm>
        </p:spPr>
        <p:txBody>
          <a:bodyPr>
            <a:noAutofit/>
          </a:bodyPr>
          <a:lstStyle/>
          <a:p>
            <a:r>
              <a:rPr lang="vi-VN" dirty="0"/>
              <a:t>Hiển Thị Một Điểm Mà Nút Chuột Được Nhấp</a:t>
            </a:r>
            <a:endParaRPr lang="en-US" dirty="0"/>
          </a:p>
        </p:txBody>
      </p:sp>
      <p:sp>
        <p:nvSpPr>
          <p:cNvPr id="4" name="Content Placeholder 3">
            <a:extLst>
              <a:ext uri="{FF2B5EF4-FFF2-40B4-BE49-F238E27FC236}">
                <a16:creationId xmlns:a16="http://schemas.microsoft.com/office/drawing/2014/main" id="{8AFE080D-12B8-4394-B80B-53DC47630BAD}"/>
              </a:ext>
            </a:extLst>
          </p:cNvPr>
          <p:cNvSpPr>
            <a:spLocks noGrp="1"/>
          </p:cNvSpPr>
          <p:nvPr>
            <p:ph idx="1"/>
          </p:nvPr>
        </p:nvSpPr>
        <p:spPr>
          <a:xfrm>
            <a:off x="41510" y="1228096"/>
            <a:ext cx="9102490" cy="5809479"/>
          </a:xfrm>
        </p:spPr>
        <p:txBody>
          <a:bodyPr>
            <a:noAutofit/>
          </a:bodyPr>
          <a:lstStyle/>
          <a:p>
            <a:pPr marL="514350" indent="-514350" algn="just">
              <a:buAutoNum type="arabicPeriod"/>
            </a:pPr>
            <a:r>
              <a:rPr lang="vi-VN" sz="3200" dirty="0">
                <a:latin typeface="+mj-lt"/>
              </a:rPr>
              <a:t>Hãy tạo một ứng dụng dựa trên mẫu Dialog without Buttons.</a:t>
            </a:r>
            <a:endParaRPr lang="en-US" sz="3200" dirty="0">
              <a:latin typeface="+mj-lt"/>
            </a:endParaRPr>
          </a:p>
          <a:p>
            <a:pPr marL="514350" indent="-514350" algn="just">
              <a:buAutoNum type="arabicPeriod"/>
            </a:pPr>
            <a:r>
              <a:rPr lang="vi-VN" sz="3200" dirty="0">
                <a:latin typeface="+mj-lt"/>
              </a:rPr>
              <a:t>Thêm tiện ích QLabel vào form bằng cách kéo và thả tiện ích Label trên form .</a:t>
            </a:r>
            <a:endParaRPr lang="en-US" sz="3200" dirty="0">
              <a:latin typeface="+mj-lt"/>
            </a:endParaRPr>
          </a:p>
          <a:p>
            <a:pPr marL="514350" indent="-514350" algn="just">
              <a:buAutoNum type="arabicPeriod"/>
            </a:pPr>
            <a:r>
              <a:rPr lang="vi-VN" sz="3200" dirty="0">
                <a:latin typeface="+mj-lt"/>
              </a:rPr>
              <a:t>Đặt thuộc tính text của tiện ích Label thành Nhấp chuột nơi bạn muốn hiển thị dấu chấm.</a:t>
            </a:r>
            <a:endParaRPr lang="en-US" sz="3200" dirty="0">
              <a:latin typeface="+mj-lt"/>
            </a:endParaRPr>
          </a:p>
          <a:p>
            <a:pPr marL="514350" indent="-514350" algn="just">
              <a:buAutoNum type="arabicPeriod"/>
            </a:pPr>
            <a:r>
              <a:rPr lang="vi-VN" sz="3200" dirty="0">
                <a:latin typeface="+mj-lt"/>
              </a:rPr>
              <a:t>Lưu ứng dụng theo tên như demoDrawDot.ui.</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E3868285-3F55-4A9B-998F-1C50B8228B80}"/>
              </a:ext>
            </a:extLst>
          </p:cNvPr>
          <p:cNvPicPr>
            <a:picLocks noChangeAspect="1"/>
          </p:cNvPicPr>
          <p:nvPr/>
        </p:nvPicPr>
        <p:blipFill rotWithShape="1">
          <a:blip r:embed="rId2">
            <a:extLst>
              <a:ext uri="{28A0092B-C50C-407E-A947-70E740481C1C}">
                <a14:useLocalDpi xmlns:a14="http://schemas.microsoft.com/office/drawing/2010/main" val="0"/>
              </a:ext>
            </a:extLst>
          </a:blip>
          <a:srcRect l="35909" t="23685" r="33939" b="37757"/>
          <a:stretch/>
        </p:blipFill>
        <p:spPr>
          <a:xfrm>
            <a:off x="1579419" y="4652493"/>
            <a:ext cx="5749636" cy="2205507"/>
          </a:xfrm>
          <a:prstGeom prst="rect">
            <a:avLst/>
          </a:prstGeom>
        </p:spPr>
      </p:pic>
    </p:spTree>
    <p:extLst>
      <p:ext uri="{BB962C8B-B14F-4D97-AF65-F5344CB8AC3E}">
        <p14:creationId xmlns:p14="http://schemas.microsoft.com/office/powerpoint/2010/main" val="1324746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19039"/>
            <a:ext cx="9102490" cy="833905"/>
          </a:xfrm>
        </p:spPr>
        <p:txBody>
          <a:bodyPr>
            <a:noAutofit/>
          </a:bodyPr>
          <a:lstStyle/>
          <a:p>
            <a:r>
              <a:rPr lang="vi-VN" dirty="0"/>
              <a:t>Hiển Thị Một Điểm Mà Nút Chuột Được Nhấp</a:t>
            </a:r>
            <a:endParaRPr lang="en-US" dirty="0"/>
          </a:p>
        </p:txBody>
      </p:sp>
      <p:sp>
        <p:nvSpPr>
          <p:cNvPr id="4" name="Content Placeholder 3">
            <a:extLst>
              <a:ext uri="{FF2B5EF4-FFF2-40B4-BE49-F238E27FC236}">
                <a16:creationId xmlns:a16="http://schemas.microsoft.com/office/drawing/2014/main" id="{8AFE080D-12B8-4394-B80B-53DC47630BAD}"/>
              </a:ext>
            </a:extLst>
          </p:cNvPr>
          <p:cNvSpPr>
            <a:spLocks noGrp="1"/>
          </p:cNvSpPr>
          <p:nvPr>
            <p:ph idx="1"/>
          </p:nvPr>
        </p:nvSpPr>
        <p:spPr>
          <a:xfrm>
            <a:off x="41510" y="1228096"/>
            <a:ext cx="9102490" cy="5809479"/>
          </a:xfrm>
        </p:spPr>
        <p:txBody>
          <a:bodyPr>
            <a:noAutofit/>
          </a:bodyPr>
          <a:lstStyle/>
          <a:p>
            <a:pPr marL="0" indent="0" algn="just">
              <a:buNone/>
            </a:pPr>
            <a:r>
              <a:rPr lang="vi-VN" sz="3200" dirty="0">
                <a:latin typeface="+mj-lt"/>
              </a:rPr>
              <a:t>Giao diện người dùng được tạo bằng Qt Designer được lưu trữ trong file .ui, là file XML và cần được chuyển đổi thành code  Python. Tiện ích pyuic5 được sử dụng để chuyển đổi tệp XML thành code Python. </a:t>
            </a:r>
            <a:endParaRPr lang="en-US" sz="3200" dirty="0">
              <a:latin typeface="+mj-lt"/>
            </a:endParaRPr>
          </a:p>
          <a:p>
            <a:pPr marL="0" indent="0" algn="just">
              <a:buNone/>
            </a:pPr>
            <a:r>
              <a:rPr lang="vi-VN" sz="3200" dirty="0">
                <a:latin typeface="+mj-lt"/>
              </a:rPr>
              <a:t>5. Hãy coi tập lệnh demoDrawDot.py như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6. Tạo một file Python khác có tên callDrawDot.pyw và nhập code demoDrawDot.py vào đó:</a:t>
            </a:r>
            <a:endParaRPr lang="en-US" sz="3200" dirty="0">
              <a:latin typeface="+mj-lt"/>
            </a:endParaRPr>
          </a:p>
        </p:txBody>
      </p:sp>
    </p:spTree>
    <p:extLst>
      <p:ext uri="{BB962C8B-B14F-4D97-AF65-F5344CB8AC3E}">
        <p14:creationId xmlns:p14="http://schemas.microsoft.com/office/powerpoint/2010/main" val="3474088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19039"/>
            <a:ext cx="9102490" cy="833905"/>
          </a:xfrm>
        </p:spPr>
        <p:txBody>
          <a:bodyPr>
            <a:noAutofit/>
          </a:bodyPr>
          <a:lstStyle/>
          <a:p>
            <a:r>
              <a:rPr lang="vi-VN" dirty="0"/>
              <a:t>Hiển Thị Một Điểm Mà Nút Chuột Được Nhấp</a:t>
            </a:r>
            <a:endParaRPr lang="en-US" dirty="0"/>
          </a:p>
        </p:txBody>
      </p:sp>
      <p:pic>
        <p:nvPicPr>
          <p:cNvPr id="5" name="Content Placeholder 4" descr="sách Qt5-Python-GUI-Programming-Cookbook.pdf - Foxit Reader">
            <a:extLst>
              <a:ext uri="{FF2B5EF4-FFF2-40B4-BE49-F238E27FC236}">
                <a16:creationId xmlns:a16="http://schemas.microsoft.com/office/drawing/2014/main" id="{3C93A211-51F3-4603-94B4-2D74AAEDDAB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792" t="26162" r="30745" b="9661"/>
          <a:stretch/>
        </p:blipFill>
        <p:spPr>
          <a:xfrm>
            <a:off x="401782" y="1219200"/>
            <a:ext cx="8409709" cy="5527964"/>
          </a:xfrm>
        </p:spPr>
      </p:pic>
    </p:spTree>
    <p:extLst>
      <p:ext uri="{BB962C8B-B14F-4D97-AF65-F5344CB8AC3E}">
        <p14:creationId xmlns:p14="http://schemas.microsoft.com/office/powerpoint/2010/main" val="2037257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sp>
        <p:nvSpPr>
          <p:cNvPr id="4" name="Content Placeholder 3">
            <a:extLst>
              <a:ext uri="{FF2B5EF4-FFF2-40B4-BE49-F238E27FC236}">
                <a16:creationId xmlns:a16="http://schemas.microsoft.com/office/drawing/2014/main" id="{53EA253A-74A0-49F6-A74D-71FADD2FFA72}"/>
              </a:ext>
            </a:extLst>
          </p:cNvPr>
          <p:cNvSpPr>
            <a:spLocks noGrp="1"/>
          </p:cNvSpPr>
          <p:nvPr>
            <p:ph idx="1"/>
          </p:nvPr>
        </p:nvSpPr>
        <p:spPr>
          <a:xfrm>
            <a:off x="20755" y="1108361"/>
            <a:ext cx="9102490" cy="5809479"/>
          </a:xfrm>
        </p:spPr>
        <p:txBody>
          <a:bodyPr>
            <a:noAutofit/>
          </a:bodyPr>
          <a:lstStyle/>
          <a:p>
            <a:pPr algn="just"/>
            <a:r>
              <a:rPr lang="vi-VN" sz="3200" dirty="0">
                <a:latin typeface="+mj-lt"/>
              </a:rPr>
              <a:t>Chúng ta sẽ học cách hiển thị một đường giữa hai điểm, từ đó nhấp vào nút chuột cho đến khi nút chuột được </a:t>
            </a:r>
            <a:r>
              <a:rPr lang="en-US" sz="3200" dirty="0" err="1">
                <a:latin typeface="Times New Roman" panose="02020603050405020304" pitchFamily="18" charset="0"/>
                <a:cs typeface="Times New Roman" panose="02020603050405020304" pitchFamily="18" charset="0"/>
              </a:rPr>
              <a:t>nhả</a:t>
            </a:r>
            <a:r>
              <a:rPr lang="en-US" sz="3200" dirty="0">
                <a:latin typeface="+mj-lt"/>
              </a:rPr>
              <a:t> </a:t>
            </a:r>
            <a:r>
              <a:rPr lang="en-US" sz="3200" dirty="0">
                <a:latin typeface="Times New Roman" panose="02020603050405020304" pitchFamily="18" charset="0"/>
                <a:cs typeface="Times New Roman" panose="02020603050405020304" pitchFamily="18" charset="0"/>
              </a:rPr>
              <a:t>ra</a:t>
            </a:r>
            <a:r>
              <a:rPr lang="en-US" sz="3200" dirty="0">
                <a:latin typeface="+mj-lt"/>
              </a:rPr>
              <a:t> </a:t>
            </a:r>
            <a:r>
              <a:rPr lang="vi-VN" sz="3200" dirty="0">
                <a:latin typeface="+mj-lt"/>
              </a:rPr>
              <a:t>trên from. Trọng tâm của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là để hiểu cách xử lý các sự kiện nhấn và nhả chuột, cách thức tọa độ x và y nơi nút chuột được nhấp và thả ra được truy cập và cách một đường được vẽ từ vị trí nơi nhấp vào nút chuột đến vị trí mà nút chuột được </a:t>
            </a:r>
            <a:r>
              <a:rPr lang="en-US" sz="3200" dirty="0" err="1">
                <a:latin typeface="Times New Roman" panose="02020603050405020304" pitchFamily="18" charset="0"/>
                <a:cs typeface="Times New Roman" panose="02020603050405020304" pitchFamily="18" charset="0"/>
              </a:rPr>
              <a:t>nhả</a:t>
            </a:r>
            <a:r>
              <a:rPr lang="en-US" sz="3200" dirty="0">
                <a:latin typeface="Times New Roman" panose="02020603050405020304" pitchFamily="18" charset="0"/>
                <a:cs typeface="Times New Roman" panose="02020603050405020304" pitchFamily="18" charset="0"/>
              </a:rPr>
              <a:t> ra</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algn="just"/>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chính trong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là các phương thức mousePressEvent (), mouseReleaseEvent () và paintEvent (). Các phương thức mousePressEvent () và mouseReleaseEvent () được tự động thực hiện bất cứ khi nào nút chuột được nhấp hoặc </a:t>
            </a:r>
            <a:r>
              <a:rPr lang="en-US" sz="3200" dirty="0" err="1">
                <a:latin typeface="Times New Roman" panose="02020603050405020304" pitchFamily="18" charset="0"/>
                <a:cs typeface="Times New Roman" panose="02020603050405020304" pitchFamily="18" charset="0"/>
              </a:rPr>
              <a:t>nhả</a:t>
            </a:r>
            <a:r>
              <a:rPr lang="en-US" sz="3200" dirty="0">
                <a:latin typeface="Times New Roman" panose="02020603050405020304" pitchFamily="18" charset="0"/>
                <a:cs typeface="Times New Roman" panose="02020603050405020304" pitchFamily="18" charset="0"/>
              </a:rPr>
              <a:t> ra</a:t>
            </a:r>
            <a:r>
              <a:rPr lang="vi-VN" sz="3200" dirty="0">
                <a:latin typeface="+mj-lt"/>
              </a:rPr>
              <a:t>, tương</a:t>
            </a:r>
            <a:endParaRPr lang="en-US" sz="3200" dirty="0">
              <a:latin typeface="+mj-lt"/>
            </a:endParaRPr>
          </a:p>
        </p:txBody>
      </p:sp>
    </p:spTree>
    <p:extLst>
      <p:ext uri="{BB962C8B-B14F-4D97-AF65-F5344CB8AC3E}">
        <p14:creationId xmlns:p14="http://schemas.microsoft.com/office/powerpoint/2010/main" val="2429409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sp>
        <p:nvSpPr>
          <p:cNvPr id="4" name="Content Placeholder 3">
            <a:extLst>
              <a:ext uri="{FF2B5EF4-FFF2-40B4-BE49-F238E27FC236}">
                <a16:creationId xmlns:a16="http://schemas.microsoft.com/office/drawing/2014/main" id="{53EA253A-74A0-49F6-A74D-71FADD2FFA72}"/>
              </a:ext>
            </a:extLst>
          </p:cNvPr>
          <p:cNvSpPr>
            <a:spLocks noGrp="1"/>
          </p:cNvSpPr>
          <p:nvPr>
            <p:ph idx="1"/>
          </p:nvPr>
        </p:nvSpPr>
        <p:spPr>
          <a:xfrm>
            <a:off x="20755" y="1108361"/>
            <a:ext cx="9102490" cy="5809479"/>
          </a:xfrm>
        </p:spPr>
        <p:txBody>
          <a:bodyPr>
            <a:noAutofit/>
          </a:bodyPr>
          <a:lstStyle/>
          <a:p>
            <a:pPr marL="0" indent="0" algn="just">
              <a:buNone/>
            </a:pPr>
            <a:r>
              <a:rPr lang="vi-VN" sz="3200" dirty="0">
                <a:latin typeface="+mj-lt"/>
              </a:rPr>
              <a:t>ứng. Hai phương thức này sẽ được sử dụng để truy cập tọa độ x và y nơi nhấp chuột và nhả nút. Cuối cùng, phương thức paintEvent () được sử dụng để vẽ một đường giữa các tọa độ được cung cấp bởi các phương thức mousePressEvent () và mouseReleaseEvent (). Dưới đây là quy trình từng bước để tạo ứng dụng này:</a:t>
            </a:r>
            <a:endParaRPr lang="en-US" sz="3200" dirty="0">
              <a:latin typeface="+mj-lt"/>
            </a:endParaRPr>
          </a:p>
          <a:p>
            <a:pPr marL="0" indent="0" algn="just">
              <a:buNone/>
            </a:pPr>
            <a:r>
              <a:rPr lang="en-US" sz="3200" dirty="0">
                <a:latin typeface="Times New Roman" panose="02020603050405020304" pitchFamily="18" charset="0"/>
                <a:cs typeface="Times New Roman" panose="02020603050405020304" pitchFamily="18" charset="0"/>
              </a:rPr>
              <a:t>1. </a:t>
            </a:r>
            <a:r>
              <a:rPr lang="vi-VN" sz="3200" dirty="0">
                <a:latin typeface="Times New Roman" panose="02020603050405020304" pitchFamily="18" charset="0"/>
                <a:cs typeface="Times New Roman" panose="02020603050405020304" pitchFamily="18" charset="0"/>
              </a:rPr>
              <a:t>Hãy tạo một ứng dụng dựa trên mẫu Dialog without Buttons.</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mj-lt"/>
              </a:rPr>
              <a:t>2. Thêm tiện ích QLabel vào form bằng cách kéo và thả tiện ích Label  trên form .</a:t>
            </a:r>
            <a:endParaRPr lang="en-US" sz="3200" dirty="0">
              <a:latin typeface="+mj-lt"/>
            </a:endParaRPr>
          </a:p>
          <a:p>
            <a:pPr marL="0" indent="0" algn="just">
              <a:buNone/>
            </a:pPr>
            <a:endParaRPr lang="en-US" sz="3200" dirty="0">
              <a:latin typeface="+mj-lt"/>
            </a:endParaRPr>
          </a:p>
        </p:txBody>
      </p:sp>
    </p:spTree>
    <p:extLst>
      <p:ext uri="{BB962C8B-B14F-4D97-AF65-F5344CB8AC3E}">
        <p14:creationId xmlns:p14="http://schemas.microsoft.com/office/powerpoint/2010/main" val="3908926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sp>
        <p:nvSpPr>
          <p:cNvPr id="4" name="Content Placeholder 3">
            <a:extLst>
              <a:ext uri="{FF2B5EF4-FFF2-40B4-BE49-F238E27FC236}">
                <a16:creationId xmlns:a16="http://schemas.microsoft.com/office/drawing/2014/main" id="{53EA253A-74A0-49F6-A74D-71FADD2FFA72}"/>
              </a:ext>
            </a:extLst>
          </p:cNvPr>
          <p:cNvSpPr>
            <a:spLocks noGrp="1"/>
          </p:cNvSpPr>
          <p:nvPr>
            <p:ph idx="1"/>
          </p:nvPr>
        </p:nvSpPr>
        <p:spPr>
          <a:xfrm>
            <a:off x="20755" y="1108361"/>
            <a:ext cx="9102490" cy="5809479"/>
          </a:xfrm>
        </p:spPr>
        <p:txBody>
          <a:bodyPr>
            <a:noAutofit/>
          </a:bodyPr>
          <a:lstStyle/>
          <a:p>
            <a:pPr marL="0" indent="0" algn="just">
              <a:buNone/>
            </a:pPr>
            <a:r>
              <a:rPr lang="vi-VN" sz="3200" dirty="0">
                <a:latin typeface="+mj-lt"/>
              </a:rPr>
              <a:t>3. Đặt thuộc tính text của tiện ích Label  thành Nhấp chuột và kéo nó để vẽ đường có kích thước mong muốn.</a:t>
            </a:r>
            <a:endParaRPr lang="en-US" sz="3200" dirty="0">
              <a:latin typeface="+mj-lt"/>
            </a:endParaRPr>
          </a:p>
          <a:p>
            <a:pPr marL="0" indent="0" algn="just">
              <a:buNone/>
            </a:pPr>
            <a:r>
              <a:rPr lang="vi-VN" sz="3200" dirty="0">
                <a:latin typeface="+mj-lt"/>
              </a:rPr>
              <a:t>4. Lưu ứng dụng theo tên như demoDrawLine.ui.</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BDFFCB49-71F8-4D64-AFF8-A5A8E56863EF}"/>
              </a:ext>
            </a:extLst>
          </p:cNvPr>
          <p:cNvPicPr>
            <a:picLocks noChangeAspect="1"/>
          </p:cNvPicPr>
          <p:nvPr/>
        </p:nvPicPr>
        <p:blipFill rotWithShape="1">
          <a:blip r:embed="rId2">
            <a:extLst>
              <a:ext uri="{28A0092B-C50C-407E-A947-70E740481C1C}">
                <a14:useLocalDpi xmlns:a14="http://schemas.microsoft.com/office/drawing/2010/main" val="0"/>
              </a:ext>
            </a:extLst>
          </a:blip>
          <a:srcRect l="33636" t="16649" r="32121" b="36632"/>
          <a:stretch/>
        </p:blipFill>
        <p:spPr>
          <a:xfrm>
            <a:off x="1551709" y="3429000"/>
            <a:ext cx="5375564" cy="3094283"/>
          </a:xfrm>
          <a:prstGeom prst="rect">
            <a:avLst/>
          </a:prstGeom>
        </p:spPr>
      </p:pic>
    </p:spTree>
    <p:extLst>
      <p:ext uri="{BB962C8B-B14F-4D97-AF65-F5344CB8AC3E}">
        <p14:creationId xmlns:p14="http://schemas.microsoft.com/office/powerpoint/2010/main" val="3347844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sp>
        <p:nvSpPr>
          <p:cNvPr id="4" name="Content Placeholder 3">
            <a:extLst>
              <a:ext uri="{FF2B5EF4-FFF2-40B4-BE49-F238E27FC236}">
                <a16:creationId xmlns:a16="http://schemas.microsoft.com/office/drawing/2014/main" id="{53EA253A-74A0-49F6-A74D-71FADD2FFA72}"/>
              </a:ext>
            </a:extLst>
          </p:cNvPr>
          <p:cNvSpPr>
            <a:spLocks noGrp="1"/>
          </p:cNvSpPr>
          <p:nvPr>
            <p:ph idx="1"/>
          </p:nvPr>
        </p:nvSpPr>
        <p:spPr>
          <a:xfrm>
            <a:off x="20755" y="1108361"/>
            <a:ext cx="9102490" cy="5809479"/>
          </a:xfrm>
        </p:spPr>
        <p:txBody>
          <a:bodyPr>
            <a:noAutofit/>
          </a:bodyPr>
          <a:lstStyle/>
          <a:p>
            <a:pPr marL="0" indent="0" algn="just">
              <a:buNone/>
            </a:pPr>
            <a:r>
              <a:rPr lang="vi-VN" sz="3200" dirty="0">
                <a:latin typeface="+mj-lt"/>
              </a:rPr>
              <a:t>Giao diện người dùng được tạo bằng Qt Designer được lưu trữ trong file .ui, là file XML và cần được chuyển đổi thành code Python. Tiện ích pyuic5 được sử dụng để chuyển đổi file XML thành code Python. </a:t>
            </a:r>
            <a:endParaRPr lang="en-US" sz="3200" dirty="0">
              <a:latin typeface="+mj-lt"/>
            </a:endParaRPr>
          </a:p>
          <a:p>
            <a:pPr marL="0" indent="0" algn="just">
              <a:buNone/>
            </a:pPr>
            <a:r>
              <a:rPr lang="vi-VN" sz="3200" dirty="0">
                <a:latin typeface="+mj-lt"/>
              </a:rPr>
              <a:t>5. Hãy coi tập lệnh demoDrawLine.py như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6. Tạo một file Python khác có tên callDrawLine.pyw và nhập code demoDrawLine.py vào đó:</a:t>
            </a:r>
            <a:endParaRPr lang="en-US" sz="3200" dirty="0">
              <a:latin typeface="+mj-lt"/>
            </a:endParaRPr>
          </a:p>
        </p:txBody>
      </p:sp>
    </p:spTree>
    <p:extLst>
      <p:ext uri="{BB962C8B-B14F-4D97-AF65-F5344CB8AC3E}">
        <p14:creationId xmlns:p14="http://schemas.microsoft.com/office/powerpoint/2010/main" val="2643998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pic>
        <p:nvPicPr>
          <p:cNvPr id="5" name="Content Placeholder 4" descr="sách Qt5-Python-GUI-Programming-Cookbook.pdf - Foxit Reader">
            <a:extLst>
              <a:ext uri="{FF2B5EF4-FFF2-40B4-BE49-F238E27FC236}">
                <a16:creationId xmlns:a16="http://schemas.microsoft.com/office/drawing/2014/main" id="{FACC296B-B5FC-4E8C-A0CA-4493EC5D7A4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410" t="22105" r="34171" b="48493"/>
          <a:stretch/>
        </p:blipFill>
        <p:spPr>
          <a:xfrm>
            <a:off x="512618" y="1205345"/>
            <a:ext cx="8285017" cy="4946073"/>
          </a:xfrm>
        </p:spPr>
      </p:pic>
    </p:spTree>
    <p:extLst>
      <p:ext uri="{BB962C8B-B14F-4D97-AF65-F5344CB8AC3E}">
        <p14:creationId xmlns:p14="http://schemas.microsoft.com/office/powerpoint/2010/main" val="4212496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Đường Giữa Hai Lần Nhấp Chuột</a:t>
            </a:r>
            <a:endParaRPr lang="en-US" dirty="0"/>
          </a:p>
        </p:txBody>
      </p:sp>
      <p:pic>
        <p:nvPicPr>
          <p:cNvPr id="13" name="Content Placeholder 12" descr="sách Qt5-Python-GUI-Programming-Cookbook.pdf - Foxit Reader">
            <a:extLst>
              <a:ext uri="{FF2B5EF4-FFF2-40B4-BE49-F238E27FC236}">
                <a16:creationId xmlns:a16="http://schemas.microsoft.com/office/drawing/2014/main" id="{21CDB586-1698-48BF-ADE8-5B18D4DBB99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333" t="38363" r="26667" b="18619"/>
          <a:stretch/>
        </p:blipFill>
        <p:spPr>
          <a:xfrm>
            <a:off x="222547" y="1195278"/>
            <a:ext cx="8658217" cy="5662722"/>
          </a:xfrm>
          <a:prstGeom prst="rect">
            <a:avLst/>
          </a:prstGeom>
        </p:spPr>
      </p:pic>
    </p:spTree>
    <p:extLst>
      <p:ext uri="{BB962C8B-B14F-4D97-AF65-F5344CB8AC3E}">
        <p14:creationId xmlns:p14="http://schemas.microsoft.com/office/powerpoint/2010/main" val="953194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D71BD9B-0340-40DB-A192-3C1C3E8EF10A}"/>
              </a:ext>
            </a:extLst>
          </p:cNvPr>
          <p:cNvSpPr>
            <a:spLocks noGrp="1"/>
          </p:cNvSpPr>
          <p:nvPr>
            <p:ph idx="1"/>
          </p:nvPr>
        </p:nvSpPr>
        <p:spPr/>
        <p:txBody>
          <a:bodyPr>
            <a:noAutofit/>
          </a:bodyPr>
          <a:lstStyle/>
          <a:p>
            <a:pPr algn="just"/>
            <a:r>
              <a:rPr lang="vi-VN" sz="3200" dirty="0">
                <a:latin typeface="+mj-lt"/>
              </a:rPr>
              <a:t>Chúng ta sẽ học cách hiển thị các dòng thuộc các loại khác nhau giữa hai điểm, từ vị trí nhấp chuột đến nơi thả nút chuột. Người dùng sẽ được hiển thị các loại dòng khác nhau để lựa chọn, chẳng hạn như đường liền nét, đường gạch ngang, đường gạch chấm, v.v. Đường này sẽ được vẽ trong loại đường đã chọn.</a:t>
            </a:r>
            <a:endParaRPr lang="en-US" sz="3200" dirty="0">
              <a:latin typeface="+mj-lt"/>
            </a:endParaRPr>
          </a:p>
          <a:p>
            <a:pPr algn="just"/>
            <a:r>
              <a:rPr lang="vi-VN" sz="3200" dirty="0">
                <a:latin typeface="+mj-lt"/>
              </a:rPr>
              <a:t>Đó là lớp QPen được sử dụng để xác định kích thước hoặc độ dày của bút được sử dụng để vẽ hình. Phương thức setStyle () của lớp QPen được sử dụng trong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để xác định kiểu của dòng. Dưới đây là quy trình từng bước để vẽ các dòng có kiểu khác nhau:</a:t>
            </a:r>
            <a:endParaRPr lang="en-US" sz="3200" dirty="0">
              <a:latin typeface="+mj-lt"/>
            </a:endParaRPr>
          </a:p>
        </p:txBody>
      </p:sp>
    </p:spTree>
    <p:extLst>
      <p:ext uri="{BB962C8B-B14F-4D97-AF65-F5344CB8AC3E}">
        <p14:creationId xmlns:p14="http://schemas.microsoft.com/office/powerpoint/2010/main" val="2573125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D71BD9B-0340-40DB-A192-3C1C3E8EF10A}"/>
              </a:ext>
            </a:extLst>
          </p:cNvPr>
          <p:cNvSpPr>
            <a:spLocks noGrp="1"/>
          </p:cNvSpPr>
          <p:nvPr>
            <p:ph idx="1"/>
          </p:nvPr>
        </p:nvSpPr>
        <p:spPr/>
        <p:txBody>
          <a:bodyPr>
            <a:noAutofit/>
          </a:bodyPr>
          <a:lstStyle/>
          <a:p>
            <a:pPr marL="0" lvl="0" indent="0" algn="just">
              <a:buNone/>
            </a:pPr>
            <a:r>
              <a:rPr lang="en-US" sz="3200" dirty="0">
                <a:solidFill>
                  <a:prstClr val="black"/>
                </a:solidFill>
                <a:latin typeface="Times New Roman" panose="02020603050405020304" pitchFamily="18" charset="0"/>
                <a:cs typeface="Times New Roman" panose="02020603050405020304" pitchFamily="18" charset="0"/>
              </a:rPr>
              <a:t>1. </a:t>
            </a:r>
            <a:r>
              <a:rPr lang="vi-VN" sz="3200" dirty="0">
                <a:solidFill>
                  <a:prstClr val="black"/>
                </a:solidFill>
                <a:latin typeface="Times New Roman" panose="02020603050405020304" pitchFamily="18" charset="0"/>
                <a:cs typeface="Times New Roman" panose="02020603050405020304" pitchFamily="18" charset="0"/>
              </a:rPr>
              <a:t>Hãy tạo một ứng dụng dựa trên mẫu Dialog without Buttons.</a:t>
            </a:r>
            <a:endParaRPr lang="en-US" sz="3200" dirty="0">
              <a:solidFill>
                <a:prstClr val="black"/>
              </a:solidFill>
              <a:latin typeface="Times New Roman" panose="02020603050405020304" pitchFamily="18" charset="0"/>
              <a:cs typeface="Times New Roman" panose="02020603050405020304" pitchFamily="18" charset="0"/>
            </a:endParaRPr>
          </a:p>
          <a:p>
            <a:pPr marL="0" lvl="0" indent="0" algn="just">
              <a:buNone/>
            </a:pPr>
            <a:r>
              <a:rPr lang="vi-VN" sz="3200" dirty="0">
                <a:solidFill>
                  <a:prstClr val="black"/>
                </a:solidFill>
                <a:latin typeface="Times New Roman" panose="02020603050405020304" pitchFamily="18" charset="0"/>
              </a:rPr>
              <a:t>2. Thêm tiện ích QLabel vào form bằng cách kéo và thả tiện ích Label  trên form .</a:t>
            </a:r>
            <a:endParaRPr lang="en-US" sz="3200" dirty="0">
              <a:solidFill>
                <a:prstClr val="black"/>
              </a:solidFill>
              <a:latin typeface="Times New Roman" panose="02020603050405020304" pitchFamily="18" charset="0"/>
            </a:endParaRPr>
          </a:p>
          <a:p>
            <a:pPr marL="0" lvl="0" indent="0" algn="just">
              <a:buNone/>
            </a:pPr>
            <a:r>
              <a:rPr lang="vi-VN" sz="3200" dirty="0">
                <a:latin typeface="+mj-lt"/>
              </a:rPr>
              <a:t>3. Thêm tiện ích QListWidget bằng cách kéo và thả mục List Widget</a:t>
            </a:r>
            <a:r>
              <a:rPr lang="en-US" sz="3200" dirty="0">
                <a:latin typeface="+mj-lt"/>
              </a:rPr>
              <a:t> </a:t>
            </a:r>
            <a:r>
              <a:rPr lang="vi-VN" sz="3200" dirty="0">
                <a:latin typeface="+mj-lt"/>
              </a:rPr>
              <a:t>con trên </a:t>
            </a:r>
            <a:r>
              <a:rPr lang="vi-VN" sz="3200" dirty="0">
                <a:solidFill>
                  <a:prstClr val="black"/>
                </a:solidFill>
                <a:latin typeface="Times New Roman" panose="02020603050405020304" pitchFamily="18" charset="0"/>
              </a:rPr>
              <a:t>form</a:t>
            </a:r>
            <a:r>
              <a:rPr lang="vi-VN" sz="3200" dirty="0">
                <a:latin typeface="+mj-lt"/>
              </a:rPr>
              <a:t>.</a:t>
            </a:r>
            <a:endParaRPr lang="en-US" sz="3200" dirty="0">
              <a:latin typeface="+mj-lt"/>
            </a:endParaRPr>
          </a:p>
          <a:p>
            <a:pPr marL="0" lvl="0" indent="0" algn="just">
              <a:buNone/>
            </a:pPr>
            <a:r>
              <a:rPr lang="vi-VN" sz="3200" dirty="0">
                <a:latin typeface="+mj-lt"/>
              </a:rPr>
              <a:t>4. Đặt thuộc tính text của tiện ích Label  thành</a:t>
            </a:r>
            <a:r>
              <a:rPr lang="en-US" sz="3200" dirty="0">
                <a:latin typeface="+mj-lt"/>
              </a:rPr>
              <a:t> </a:t>
            </a:r>
            <a:r>
              <a:rPr lang="en-US" sz="3200" i="1" dirty="0">
                <a:latin typeface="Times New Roman" panose="02020603050405020304" pitchFamily="18" charset="0"/>
                <a:cs typeface="Times New Roman" panose="02020603050405020304" pitchFamily="18" charset="0"/>
              </a:rPr>
              <a:t>Select the style from the list and then click and drag to draw a line</a:t>
            </a:r>
            <a:r>
              <a:rPr lang="en-US" sz="3200" dirty="0">
                <a:latin typeface="+mj-lt"/>
              </a:rPr>
              <a:t>. (</a:t>
            </a:r>
            <a:r>
              <a:rPr lang="vi-VN" sz="3200" dirty="0">
                <a:latin typeface="+mj-lt"/>
              </a:rPr>
              <a:t>Chọn kiểu từ danh sách, sau đó bấm và kéo để vẽ một dòng</a:t>
            </a:r>
            <a:r>
              <a:rPr lang="en-US" sz="3200" dirty="0">
                <a:latin typeface="+mj-lt"/>
              </a:rPr>
              <a:t>)</a:t>
            </a:r>
            <a:r>
              <a:rPr lang="vi-VN" sz="3200" dirty="0">
                <a:latin typeface="+mj-lt"/>
              </a:rPr>
              <a:t>.</a:t>
            </a:r>
            <a:endParaRPr lang="en-US" sz="3200" dirty="0">
              <a:latin typeface="+mj-lt"/>
            </a:endParaRPr>
          </a:p>
          <a:p>
            <a:pPr marL="0" lvl="0" indent="0" algn="just">
              <a:buNone/>
            </a:pPr>
            <a:r>
              <a:rPr lang="vi-VN" sz="3200" dirty="0">
                <a:latin typeface="+mj-lt"/>
              </a:rPr>
              <a:t>5. Lưu ứng dụng theo tên dưới dạng demoDrawDiffLine.ui.</a:t>
            </a:r>
            <a:endParaRPr lang="en-US" sz="3200" dirty="0">
              <a:latin typeface="+mj-lt"/>
            </a:endParaRPr>
          </a:p>
          <a:p>
            <a:pPr marL="0" indent="0" algn="just">
              <a:buNone/>
            </a:pPr>
            <a:endParaRPr lang="en-US" sz="3200" dirty="0">
              <a:latin typeface="+mj-lt"/>
            </a:endParaRPr>
          </a:p>
        </p:txBody>
      </p:sp>
    </p:spTree>
    <p:extLst>
      <p:ext uri="{BB962C8B-B14F-4D97-AF65-F5344CB8AC3E}">
        <p14:creationId xmlns:p14="http://schemas.microsoft.com/office/powerpoint/2010/main" val="1313377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D71BD9B-0340-40DB-A192-3C1C3E8EF10A}"/>
              </a:ext>
            </a:extLst>
          </p:cNvPr>
          <p:cNvSpPr>
            <a:spLocks noGrp="1"/>
          </p:cNvSpPr>
          <p:nvPr>
            <p:ph idx="1"/>
          </p:nvPr>
        </p:nvSpPr>
        <p:spPr/>
        <p:txBody>
          <a:bodyPr>
            <a:noAutofit/>
          </a:bodyPr>
          <a:lstStyle/>
          <a:p>
            <a:pPr marL="0" lvl="0" indent="0" algn="just">
              <a:buNone/>
            </a:pPr>
            <a:r>
              <a:rPr lang="en-US" sz="3200" dirty="0">
                <a:latin typeface="Times New Roman" panose="02020603050405020304" pitchFamily="18" charset="0"/>
                <a:cs typeface="Times New Roman" panose="02020603050405020304" pitchFamily="18" charset="0"/>
              </a:rPr>
              <a:t>7. </a:t>
            </a:r>
            <a:r>
              <a:rPr lang="en-US" sz="3200" dirty="0" err="1">
                <a:latin typeface="Times New Roman" panose="02020603050405020304" pitchFamily="18" charset="0"/>
                <a:cs typeface="Times New Roman" panose="02020603050405020304" pitchFamily="18" charset="0"/>
              </a:rPr>
              <a:t>Đặt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thuộc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objectName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mục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Danh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thành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listWidgetLineType</a:t>
            </a:r>
            <a:r>
              <a:rPr lang="en-US" sz="3200" dirty="0">
                <a:latin typeface="Times New Roman" panose="02020603050405020304" pitchFamily="18" charset="0"/>
                <a:cs typeface="Times New Roman" panose="02020603050405020304" pitchFamily="18" charset="0"/>
              </a:rPr>
              <a:t>.</a:t>
            </a: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r>
              <a:rPr lang="vi-VN" sz="3200" dirty="0">
                <a:latin typeface="+mj-lt"/>
              </a:rPr>
              <a:t>Giao diện người dùng được tạo bằng Qt Designer được lưu trữ trong file .ui, là file XML và cần được chuyển đổi thành code Python. Tiện ích pyuic5 được sử dụng để chuyển đổi tệp XML </a:t>
            </a:r>
            <a:r>
              <a:rPr lang="vi-VN" sz="3200">
                <a:latin typeface="+mj-lt"/>
              </a:rPr>
              <a:t>thành </a:t>
            </a:r>
            <a:r>
              <a:rPr lang="en-US" sz="3200">
                <a:latin typeface="Times New Roman" panose="02020603050405020304" pitchFamily="18" charset="0"/>
                <a:cs typeface="Times New Roman" panose="02020603050405020304" pitchFamily="18" charset="0"/>
              </a:rPr>
              <a:t>code</a:t>
            </a:r>
            <a:r>
              <a:rPr lang="en-US" sz="3200">
                <a:latin typeface="+mj-lt"/>
              </a:rPr>
              <a:t> </a:t>
            </a:r>
            <a:r>
              <a:rPr lang="vi-VN" sz="3200">
                <a:latin typeface="+mj-lt"/>
              </a:rPr>
              <a:t> </a:t>
            </a:r>
            <a:r>
              <a:rPr lang="vi-VN" sz="3200" dirty="0">
                <a:latin typeface="+mj-lt"/>
              </a:rPr>
              <a:t>Python. </a:t>
            </a: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a:p>
            <a:pPr marL="0" lvl="0" indent="0" algn="just">
              <a:buNone/>
            </a:pPr>
            <a:endParaRPr lang="en-US" sz="3200" dirty="0">
              <a:latin typeface="Times New Roman" panose="02020603050405020304" pitchFamily="18" charset="0"/>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241B3BBC-33B1-4C05-9A29-0E8419574B70}"/>
              </a:ext>
            </a:extLst>
          </p:cNvPr>
          <p:cNvPicPr>
            <a:picLocks noChangeAspect="1"/>
          </p:cNvPicPr>
          <p:nvPr/>
        </p:nvPicPr>
        <p:blipFill rotWithShape="1">
          <a:blip r:embed="rId2">
            <a:extLst>
              <a:ext uri="{28A0092B-C50C-407E-A947-70E740481C1C}">
                <a14:useLocalDpi xmlns:a14="http://schemas.microsoft.com/office/drawing/2010/main" val="0"/>
              </a:ext>
            </a:extLst>
          </a:blip>
          <a:srcRect l="35758" t="21716" r="32214" b="33816"/>
          <a:stretch/>
        </p:blipFill>
        <p:spPr>
          <a:xfrm>
            <a:off x="2549236" y="1854182"/>
            <a:ext cx="4461164" cy="3119600"/>
          </a:xfrm>
          <a:prstGeom prst="rect">
            <a:avLst/>
          </a:prstGeom>
        </p:spPr>
      </p:pic>
    </p:spTree>
    <p:extLst>
      <p:ext uri="{BB962C8B-B14F-4D97-AF65-F5344CB8AC3E}">
        <p14:creationId xmlns:p14="http://schemas.microsoft.com/office/powerpoint/2010/main" val="3384809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D71BD9B-0340-40DB-A192-3C1C3E8EF10A}"/>
              </a:ext>
            </a:extLst>
          </p:cNvPr>
          <p:cNvSpPr>
            <a:spLocks noGrp="1"/>
          </p:cNvSpPr>
          <p:nvPr>
            <p:ph idx="1"/>
          </p:nvPr>
        </p:nvSpPr>
        <p:spPr/>
        <p:txBody>
          <a:bodyPr>
            <a:noAutofit/>
          </a:bodyPr>
          <a:lstStyle/>
          <a:p>
            <a:pPr marL="0" indent="0" algn="just">
              <a:buNone/>
            </a:pPr>
            <a:r>
              <a:rPr lang="vi-VN" sz="3200" dirty="0">
                <a:latin typeface="+mj-lt"/>
              </a:rPr>
              <a:t>8. Hãy coi tập lệnh demoDrawDiffLine.py như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9. Tạo một file Python khác có tên callDrawDiffLine.pyw và nhập mã demoDrawDiffLine.py vào đó:</a:t>
            </a:r>
            <a:endParaRPr lang="en-US" sz="3200" dirty="0">
              <a:latin typeface="+mj-lt"/>
            </a:endParaRPr>
          </a:p>
        </p:txBody>
      </p:sp>
      <p:pic>
        <p:nvPicPr>
          <p:cNvPr id="7" name="Picture 6" descr="sách Qt5-Python-GUI-Programming-Cookbook.pdf - Foxit Reader">
            <a:extLst>
              <a:ext uri="{FF2B5EF4-FFF2-40B4-BE49-F238E27FC236}">
                <a16:creationId xmlns:a16="http://schemas.microsoft.com/office/drawing/2014/main" id="{61E6C3CD-F20C-45F3-A076-AD0322523EB2}"/>
              </a:ext>
            </a:extLst>
          </p:cNvPr>
          <p:cNvPicPr>
            <a:picLocks noChangeAspect="1"/>
          </p:cNvPicPr>
          <p:nvPr/>
        </p:nvPicPr>
        <p:blipFill rotWithShape="1">
          <a:blip r:embed="rId2">
            <a:extLst>
              <a:ext uri="{28A0092B-C50C-407E-A947-70E740481C1C}">
                <a14:useLocalDpi xmlns:a14="http://schemas.microsoft.com/office/drawing/2010/main" val="0"/>
              </a:ext>
            </a:extLst>
          </a:blip>
          <a:srcRect l="30303" t="18009" r="33940" b="52517"/>
          <a:stretch/>
        </p:blipFill>
        <p:spPr>
          <a:xfrm>
            <a:off x="623455" y="3925017"/>
            <a:ext cx="7578437" cy="2713944"/>
          </a:xfrm>
          <a:prstGeom prst="rect">
            <a:avLst/>
          </a:prstGeom>
        </p:spPr>
      </p:pic>
    </p:spTree>
    <p:extLst>
      <p:ext uri="{BB962C8B-B14F-4D97-AF65-F5344CB8AC3E}">
        <p14:creationId xmlns:p14="http://schemas.microsoft.com/office/powerpoint/2010/main" val="2649321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Vòng Tròn Có Kích Thước Mong Muốn</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7760A1B6-EF06-4072-98D2-0038EC627B6D}"/>
              </a:ext>
            </a:extLst>
          </p:cNvPr>
          <p:cNvSpPr>
            <a:spLocks noGrp="1"/>
          </p:cNvSpPr>
          <p:nvPr>
            <p:ph idx="1"/>
          </p:nvPr>
        </p:nvSpPr>
        <p:spPr/>
        <p:txBody>
          <a:bodyPr>
            <a:noAutofit/>
          </a:bodyPr>
          <a:lstStyle/>
          <a:p>
            <a:pPr algn="just"/>
            <a:r>
              <a:rPr lang="vi-VN" sz="3200" dirty="0">
                <a:latin typeface="+mj-lt"/>
              </a:rPr>
              <a:t>Chúng ta sẽ học cách vẽ một vòng tròn</a:t>
            </a:r>
            <a:r>
              <a:rPr lang="vi-VN" sz="3200">
                <a:latin typeface="+mj-lt"/>
              </a:rPr>
              <a:t>. </a:t>
            </a:r>
            <a:r>
              <a:rPr lang="en-US" sz="3200">
                <a:latin typeface="Times New Roman" panose="02020603050405020304" pitchFamily="18" charset="0"/>
                <a:cs typeface="Times New Roman" panose="02020603050405020304" pitchFamily="18" charset="0"/>
              </a:rPr>
              <a:t>Ng</a:t>
            </a:r>
            <a:r>
              <a:rPr lang="vi-VN" sz="3200">
                <a:latin typeface="Times New Roman" panose="02020603050405020304" pitchFamily="18" charset="0"/>
                <a:cs typeface="Times New Roman" panose="02020603050405020304" pitchFamily="18" charset="0"/>
              </a:rPr>
              <a:t>ười</a:t>
            </a:r>
            <a:r>
              <a:rPr lang="en-US" sz="3200">
                <a:latin typeface="Times New Roman" panose="02020603050405020304" pitchFamily="18" charset="0"/>
                <a:cs typeface="Times New Roman" panose="02020603050405020304" pitchFamily="18" charset="0"/>
              </a:rPr>
              <a:t> dùng</a:t>
            </a:r>
            <a:r>
              <a:rPr lang="vi-VN" sz="3200">
                <a:latin typeface="Times New Roman" panose="02020603050405020304" pitchFamily="18" charset="0"/>
                <a:cs typeface="Times New Roman" panose="02020603050405020304" pitchFamily="18" charset="0"/>
              </a:rPr>
              <a:t> </a:t>
            </a:r>
            <a:r>
              <a:rPr lang="vi-VN" sz="3200" dirty="0">
                <a:latin typeface="+mj-lt"/>
              </a:rPr>
              <a:t>sẽ nhấp và kéo chuột để xác định đường kính của vòng tròn và vòng tròn sẽ được vẽ theo đường kính do người dùng chỉ định.</a:t>
            </a:r>
            <a:endParaRPr lang="en-US" sz="3200" dirty="0">
              <a:latin typeface="+mj-lt"/>
            </a:endParaRPr>
          </a:p>
          <a:p>
            <a:pPr algn="just"/>
            <a:r>
              <a:rPr lang="vi-VN" sz="3200" dirty="0">
                <a:latin typeface="+mj-lt"/>
              </a:rPr>
              <a:t>Một vòng tròn không có gì ngoài một vòng cung được vẽ từ 0 đến 360 độ. Độ dài của vòng cung, hoặc bạn có thể nói đường kính của vòng tròn, được xác định bởi khoảng cách của sự kiện nhấn chuột và sự kiện </a:t>
            </a:r>
            <a:r>
              <a:rPr lang="en-US" sz="3200" dirty="0" err="1">
                <a:latin typeface="Times New Roman" panose="02020603050405020304" pitchFamily="18" charset="0"/>
                <a:cs typeface="Times New Roman" panose="02020603050405020304" pitchFamily="18" charset="0"/>
              </a:rPr>
              <a:t>nhả</a:t>
            </a:r>
            <a:r>
              <a:rPr lang="en-US" sz="3200" dirty="0">
                <a:latin typeface="+mj-lt"/>
              </a:rPr>
              <a:t> </a:t>
            </a:r>
            <a:r>
              <a:rPr lang="vi-VN" sz="3200" dirty="0">
                <a:latin typeface="+mj-lt"/>
              </a:rPr>
              <a:t>chuột. Một hình chữ nhật được xác định bên trong từ sự kiện nhấn chuột cho đến khi sự kiện nhả chuột và hình tròn được vẽ trong hình chữ nhật đó. Dưới đây là các bước hoàn chỉnh để tạo ứng dụng này:</a:t>
            </a:r>
            <a:endParaRPr lang="en-US" sz="3200" dirty="0">
              <a:latin typeface="+mj-lt"/>
            </a:endParaRPr>
          </a:p>
        </p:txBody>
      </p:sp>
    </p:spTree>
    <p:extLst>
      <p:ext uri="{BB962C8B-B14F-4D97-AF65-F5344CB8AC3E}">
        <p14:creationId xmlns:p14="http://schemas.microsoft.com/office/powerpoint/2010/main" val="3596947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Vòng Tròn Có Kích Thước Mong Muốn</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7760A1B6-EF06-4072-98D2-0038EC627B6D}"/>
              </a:ext>
            </a:extLst>
          </p:cNvPr>
          <p:cNvSpPr>
            <a:spLocks noGrp="1"/>
          </p:cNvSpPr>
          <p:nvPr>
            <p:ph idx="1"/>
          </p:nvPr>
        </p:nvSpPr>
        <p:spPr/>
        <p:txBody>
          <a:bodyPr>
            <a:noAutofit/>
          </a:bodyPr>
          <a:lstStyle/>
          <a:p>
            <a:pPr marL="0" lvl="0" indent="0" algn="just">
              <a:buNone/>
            </a:pPr>
            <a:r>
              <a:rPr lang="en-US" dirty="0">
                <a:solidFill>
                  <a:prstClr val="black"/>
                </a:solidFill>
                <a:latin typeface="Times New Roman" panose="02020603050405020304" pitchFamily="18" charset="0"/>
                <a:cs typeface="Times New Roman" panose="02020603050405020304" pitchFamily="18" charset="0"/>
              </a:rPr>
              <a:t>1</a:t>
            </a:r>
            <a:r>
              <a:rPr lang="en-US" sz="3200" dirty="0">
                <a:solidFill>
                  <a:prstClr val="black"/>
                </a:solidFill>
                <a:latin typeface="Times New Roman" panose="02020603050405020304" pitchFamily="18" charset="0"/>
                <a:cs typeface="Times New Roman" panose="02020603050405020304" pitchFamily="18" charset="0"/>
              </a:rPr>
              <a:t>. </a:t>
            </a:r>
            <a:r>
              <a:rPr lang="vi-VN" sz="3200" dirty="0">
                <a:solidFill>
                  <a:prstClr val="black"/>
                </a:solidFill>
                <a:latin typeface="Times New Roman" panose="02020603050405020304" pitchFamily="18" charset="0"/>
                <a:cs typeface="Times New Roman" panose="02020603050405020304" pitchFamily="18" charset="0"/>
              </a:rPr>
              <a:t>Hãy tạo một ứng dụng dựa trên mẫu Dialog without Buttons.</a:t>
            </a:r>
            <a:endParaRPr lang="en-US" sz="3200" dirty="0">
              <a:solidFill>
                <a:prstClr val="black"/>
              </a:solidFill>
              <a:latin typeface="Times New Roman" panose="02020603050405020304" pitchFamily="18" charset="0"/>
              <a:cs typeface="Times New Roman" panose="02020603050405020304" pitchFamily="18" charset="0"/>
            </a:endParaRPr>
          </a:p>
          <a:p>
            <a:pPr marL="0" lvl="0" indent="0" algn="just">
              <a:buNone/>
            </a:pPr>
            <a:r>
              <a:rPr lang="vi-VN" sz="3200" dirty="0">
                <a:solidFill>
                  <a:prstClr val="black"/>
                </a:solidFill>
                <a:latin typeface="Times New Roman" panose="02020603050405020304" pitchFamily="18" charset="0"/>
              </a:rPr>
              <a:t>2. Thêm tiện ích QLabel vào form bằng cách kéo và thả tiện ích Label  trên form </a:t>
            </a:r>
            <a:endParaRPr lang="en-US" sz="3200" dirty="0">
              <a:solidFill>
                <a:prstClr val="black"/>
              </a:solidFill>
              <a:latin typeface="Times New Roman" panose="02020603050405020304" pitchFamily="18" charset="0"/>
            </a:endParaRPr>
          </a:p>
          <a:p>
            <a:pPr marL="0" lvl="0" indent="0" algn="just">
              <a:buNone/>
            </a:pPr>
            <a:r>
              <a:rPr lang="vi-VN" sz="3200" dirty="0">
                <a:latin typeface="+mj-lt"/>
              </a:rPr>
              <a:t>3. Đặt thuộc tính text của tiện ích </a:t>
            </a:r>
            <a:r>
              <a:rPr lang="vi-VN" sz="3200" dirty="0">
                <a:solidFill>
                  <a:prstClr val="black"/>
                </a:solidFill>
                <a:latin typeface="Times New Roman" panose="02020603050405020304" pitchFamily="18" charset="0"/>
              </a:rPr>
              <a:t>Label </a:t>
            </a:r>
            <a:r>
              <a:rPr lang="vi-VN" sz="3200" dirty="0">
                <a:latin typeface="+mj-lt"/>
              </a:rPr>
              <a:t>thành Nhấp chuột và kéo nó để vẽ một vòng tròn có kích thước mong muốn.</a:t>
            </a:r>
            <a:endParaRPr lang="en-US" sz="3200" dirty="0">
              <a:latin typeface="+mj-lt"/>
            </a:endParaRPr>
          </a:p>
          <a:p>
            <a:pPr marL="0" lvl="0" indent="0" algn="just">
              <a:buNone/>
            </a:pPr>
            <a:r>
              <a:rPr lang="vi-VN" sz="3200" dirty="0">
                <a:latin typeface="+mj-lt"/>
              </a:rPr>
              <a:t>4. Lưu ứng dụng theo tên như demoDrawCircle.ui. Biểu mẫu sẽ xuất hiện như sau:</a:t>
            </a:r>
            <a:endParaRPr lang="en-US" sz="3200" dirty="0">
              <a:latin typeface="+mj-lt"/>
            </a:endParaRPr>
          </a:p>
        </p:txBody>
      </p:sp>
    </p:spTree>
    <p:extLst>
      <p:ext uri="{BB962C8B-B14F-4D97-AF65-F5344CB8AC3E}">
        <p14:creationId xmlns:p14="http://schemas.microsoft.com/office/powerpoint/2010/main" val="3998369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Vòng Tròn Có Kích Thước Mong Muốn</a:t>
            </a:r>
            <a:endParaRPr lang="en-US" dirty="0">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Foxit Reader">
            <a:extLst>
              <a:ext uri="{FF2B5EF4-FFF2-40B4-BE49-F238E27FC236}">
                <a16:creationId xmlns:a16="http://schemas.microsoft.com/office/drawing/2014/main" id="{C0D0233C-9358-45D1-933D-854F141FF23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5980" t="27578" r="34340" b="30862"/>
          <a:stretch/>
        </p:blipFill>
        <p:spPr>
          <a:xfrm>
            <a:off x="1880740" y="1110994"/>
            <a:ext cx="5337478" cy="3100788"/>
          </a:xfrm>
        </p:spPr>
      </p:pic>
      <p:sp>
        <p:nvSpPr>
          <p:cNvPr id="5" name="Rectangle 4">
            <a:extLst>
              <a:ext uri="{FF2B5EF4-FFF2-40B4-BE49-F238E27FC236}">
                <a16:creationId xmlns:a16="http://schemas.microsoft.com/office/drawing/2014/main" id="{B2ED8660-D34E-4058-97EF-C0E22617900C}"/>
              </a:ext>
            </a:extLst>
          </p:cNvPr>
          <p:cNvSpPr/>
          <p:nvPr/>
        </p:nvSpPr>
        <p:spPr>
          <a:xfrm>
            <a:off x="280539" y="3977291"/>
            <a:ext cx="8603673" cy="2062103"/>
          </a:xfrm>
          <a:prstGeom prst="rect">
            <a:avLst/>
          </a:prstGeom>
        </p:spPr>
        <p:txBody>
          <a:bodyPr wrap="square">
            <a:spAutoFit/>
          </a:bodyPr>
          <a:lstStyle/>
          <a:p>
            <a:pPr algn="just"/>
            <a:r>
              <a:rPr lang="vi-VN" sz="3200" dirty="0">
                <a:latin typeface="+mj-lt"/>
              </a:rPr>
              <a:t>Giao diện người dùng được tạo bằng Qt Designer được lưu trữ trong file .ui và đó là file XML. File XML được chuyển đổi thành code Python bằng cách áp dụng tiện ích pyuic5. </a:t>
            </a:r>
            <a:endParaRPr lang="en-US" sz="3200" dirty="0">
              <a:latin typeface="+mj-lt"/>
            </a:endParaRPr>
          </a:p>
        </p:txBody>
      </p:sp>
    </p:spTree>
    <p:extLst>
      <p:ext uri="{BB962C8B-B14F-4D97-AF65-F5344CB8AC3E}">
        <p14:creationId xmlns:p14="http://schemas.microsoft.com/office/powerpoint/2010/main" val="854900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Vòng Tròn Có Kích Thước Mong Muốn</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7760A1B6-EF06-4072-98D2-0038EC627B6D}"/>
              </a:ext>
            </a:extLst>
          </p:cNvPr>
          <p:cNvSpPr>
            <a:spLocks noGrp="1"/>
          </p:cNvSpPr>
          <p:nvPr>
            <p:ph idx="1"/>
          </p:nvPr>
        </p:nvSpPr>
        <p:spPr>
          <a:xfrm>
            <a:off x="20755" y="1283514"/>
            <a:ext cx="9102490" cy="5809479"/>
          </a:xfrm>
        </p:spPr>
        <p:txBody>
          <a:bodyPr>
            <a:noAutofit/>
          </a:bodyPr>
          <a:lstStyle/>
          <a:p>
            <a:pPr marL="0" lvl="0" indent="0" algn="just">
              <a:buNone/>
            </a:pPr>
            <a:r>
              <a:rPr lang="vi-VN" sz="3200" dirty="0">
                <a:latin typeface="+mj-lt"/>
              </a:rPr>
              <a:t>5. Hãy coi tập lệnh demoDrawCircle.py như một file tiêu đề và nhập nó vào file mà bạn sẽ gọi thiết kế giao diện người dùng của nó.</a:t>
            </a:r>
            <a:endParaRPr lang="en-US" sz="3200" dirty="0">
              <a:latin typeface="+mj-lt"/>
            </a:endParaRPr>
          </a:p>
          <a:p>
            <a:pPr marL="0" lvl="0" indent="0" algn="just">
              <a:buNone/>
            </a:pPr>
            <a:r>
              <a:rPr lang="vi-VN" sz="3200" dirty="0">
                <a:latin typeface="+mj-lt"/>
              </a:rPr>
              <a:t>6. Tạo một tệp Python khác có tên callDrawCircle.pyw và nhập code demoDrawCircle.py vào đó:</a:t>
            </a:r>
            <a:endParaRPr lang="en-US" sz="3200" dirty="0">
              <a:latin typeface="+mj-lt"/>
            </a:endParaRPr>
          </a:p>
        </p:txBody>
      </p:sp>
    </p:spTree>
    <p:extLst>
      <p:ext uri="{BB962C8B-B14F-4D97-AF65-F5344CB8AC3E}">
        <p14:creationId xmlns:p14="http://schemas.microsoft.com/office/powerpoint/2010/main" val="39335227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dirty="0"/>
              <a:t>Vẽ Một Vòng Tròn Có Kích Thước Mong Muốn</a:t>
            </a:r>
            <a:endParaRPr lang="en-US" dirty="0">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Foxit Reader">
            <a:extLst>
              <a:ext uri="{FF2B5EF4-FFF2-40B4-BE49-F238E27FC236}">
                <a16:creationId xmlns:a16="http://schemas.microsoft.com/office/drawing/2014/main" id="{6DE3DD63-969D-4AF1-ACEE-A8DB5EC2893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497" t="18526" r="25800" b="7120"/>
          <a:stretch/>
        </p:blipFill>
        <p:spPr>
          <a:xfrm>
            <a:off x="443345" y="1288472"/>
            <a:ext cx="8409710" cy="5167745"/>
          </a:xfrm>
        </p:spPr>
      </p:pic>
    </p:spTree>
    <p:extLst>
      <p:ext uri="{BB962C8B-B14F-4D97-AF65-F5344CB8AC3E}">
        <p14:creationId xmlns:p14="http://schemas.microsoft.com/office/powerpoint/2010/main" val="3038813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Hình Chữ Nhật Giữa Hai Lần Nhấp Chuột</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7382F31-9937-46AD-8B67-377B0EC492E8}"/>
              </a:ext>
            </a:extLst>
          </p:cNvPr>
          <p:cNvSpPr>
            <a:spLocks noGrp="1"/>
          </p:cNvSpPr>
          <p:nvPr>
            <p:ph idx="1"/>
          </p:nvPr>
        </p:nvSpPr>
        <p:spPr/>
        <p:txBody>
          <a:bodyPr>
            <a:noAutofit/>
          </a:bodyPr>
          <a:lstStyle/>
          <a:p>
            <a:pPr algn="just"/>
            <a:r>
              <a:rPr lang="vi-VN" sz="3200">
                <a:latin typeface="+mj-lt"/>
              </a:rPr>
              <a:t>Trong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 chúng ta sẽ học cách hiển thị một hình chữ nhật giữa hai điểm mà nút chuột được nhấp và </a:t>
            </a:r>
            <a:r>
              <a:rPr lang="en-US" sz="3200">
                <a:latin typeface="Times New Roman" panose="02020603050405020304" pitchFamily="18" charset="0"/>
                <a:cs typeface="Times New Roman" panose="02020603050405020304" pitchFamily="18" charset="0"/>
              </a:rPr>
              <a:t>nhả</a:t>
            </a:r>
            <a:r>
              <a:rPr lang="en-US" sz="3200">
                <a:latin typeface="+mj-lt"/>
              </a:rPr>
              <a:t> </a:t>
            </a:r>
            <a:r>
              <a:rPr lang="vi-VN" sz="3200">
                <a:latin typeface="+mj-lt"/>
              </a:rPr>
              <a:t>trên form.</a:t>
            </a:r>
            <a:endParaRPr lang="en-US" sz="3200">
              <a:latin typeface="+mj-lt"/>
            </a:endParaRPr>
          </a:p>
          <a:p>
            <a:pPr algn="just"/>
            <a:r>
              <a:rPr lang="vi-VN" sz="3200">
                <a:latin typeface="+mj-lt"/>
              </a:rPr>
              <a:t>Đây là một ứng dụng rất đơn giản, trong đó các phương thức mousePressEvent () và mouseReleaseEvent () được sử dụng để tìm tọa độ x và y của vị trí nơi chuột được nhấn và thả ra, tương ứng. Sau đó, phương thức drawRect () được gọi để vẽ hình chữ nhật từ tọa độ nơi nút chuột được nhấp vào tọa độ nơi nút chuột được nhả ra. Quy trình từng bước để tạo ứng dụng này như sau:</a:t>
            </a:r>
            <a:br>
              <a:rPr lang="vi-VN" sz="3200">
                <a:latin typeface="+mj-lt"/>
              </a:rPr>
            </a:br>
            <a:r>
              <a:rPr lang="en-US" sz="3200">
                <a:solidFill>
                  <a:prstClr val="black"/>
                </a:solidFill>
                <a:latin typeface="Times New Roman" panose="02020603050405020304" pitchFamily="18" charset="0"/>
                <a:cs typeface="Times New Roman" panose="02020603050405020304" pitchFamily="18" charset="0"/>
              </a:rPr>
              <a:t>1. </a:t>
            </a:r>
            <a:r>
              <a:rPr lang="vi-VN" sz="3200">
                <a:solidFill>
                  <a:prstClr val="black"/>
                </a:solidFill>
                <a:latin typeface="Times New Roman" panose="02020603050405020304" pitchFamily="18" charset="0"/>
                <a:cs typeface="Times New Roman" panose="02020603050405020304" pitchFamily="18" charset="0"/>
              </a:rPr>
              <a:t>Hãy tạo một ứng dụng dựa trên mẫu Dialog without Buttons.</a:t>
            </a:r>
            <a:endParaRPr lang="en-US" sz="32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882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Hình Chữ Nhật Giữa Hai Lần Nhấp Chuột</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7382F31-9937-46AD-8B67-377B0EC492E8}"/>
              </a:ext>
            </a:extLst>
          </p:cNvPr>
          <p:cNvSpPr>
            <a:spLocks noGrp="1"/>
          </p:cNvSpPr>
          <p:nvPr>
            <p:ph idx="1"/>
          </p:nvPr>
        </p:nvSpPr>
        <p:spPr/>
        <p:txBody>
          <a:bodyPr>
            <a:noAutofit/>
          </a:bodyPr>
          <a:lstStyle/>
          <a:p>
            <a:pPr marL="0" indent="0" algn="just">
              <a:buNone/>
            </a:pPr>
            <a:r>
              <a:rPr lang="vi-VN" sz="3200">
                <a:solidFill>
                  <a:prstClr val="black"/>
                </a:solidFill>
                <a:latin typeface="+mj-lt"/>
              </a:rPr>
              <a:t>2. Thêm tiện ích QLabel vào form bằng cách kéo và thả tiện ích Label  trên form .</a:t>
            </a:r>
            <a:endParaRPr lang="en-US" sz="3200">
              <a:solidFill>
                <a:prstClr val="black"/>
              </a:solidFill>
              <a:latin typeface="+mj-lt"/>
            </a:endParaRPr>
          </a:p>
          <a:p>
            <a:pPr marL="0" indent="0" algn="just">
              <a:buNone/>
            </a:pPr>
            <a:r>
              <a:rPr lang="vi-VN" sz="3200">
                <a:latin typeface="+mj-lt"/>
              </a:rPr>
              <a:t>3. Đặt thuộc tính </a:t>
            </a:r>
            <a:r>
              <a:rPr lang="en-US" sz="3200" b="1">
                <a:latin typeface="Times New Roman" panose="02020603050405020304" pitchFamily="18" charset="0"/>
                <a:cs typeface="Times New Roman" panose="02020603050405020304" pitchFamily="18" charset="0"/>
              </a:rPr>
              <a:t>text</a:t>
            </a:r>
            <a:r>
              <a:rPr lang="en-US" sz="3200" b="1">
                <a:latin typeface="+mj-lt"/>
              </a:rPr>
              <a:t> </a:t>
            </a:r>
            <a:r>
              <a:rPr lang="vi-VN" sz="3200">
                <a:latin typeface="+mj-lt"/>
              </a:rPr>
              <a:t>của tiện ích </a:t>
            </a:r>
            <a:r>
              <a:rPr lang="en-US" sz="3200">
                <a:latin typeface="Times New Roman" panose="02020603050405020304" pitchFamily="18" charset="0"/>
                <a:cs typeface="Times New Roman" panose="02020603050405020304" pitchFamily="18" charset="0"/>
              </a:rPr>
              <a:t>Label</a:t>
            </a:r>
            <a:r>
              <a:rPr lang="vi-VN" sz="3200">
                <a:latin typeface="+mj-lt"/>
              </a:rPr>
              <a:t> thành Nhấp chuột và kéo nó để vẽ hình chữ nhật có kích thước mong muốn.</a:t>
            </a:r>
            <a:endParaRPr lang="en-US" sz="3200">
              <a:latin typeface="+mj-lt"/>
            </a:endParaRPr>
          </a:p>
          <a:p>
            <a:pPr marL="0" indent="0" algn="just">
              <a:buNone/>
            </a:pPr>
            <a:r>
              <a:rPr lang="vi-VN" sz="3200">
                <a:latin typeface="+mj-lt"/>
              </a:rPr>
              <a:t>4. Lưu ứng dụng theo tên dưới dạng demoDrawRonymous.ui. </a:t>
            </a:r>
            <a:r>
              <a:rPr lang="en-US" sz="3200">
                <a:latin typeface="Times New Roman" panose="02020603050405020304" pitchFamily="18" charset="0"/>
                <a:cs typeface="Times New Roman" panose="02020603050405020304" pitchFamily="18" charset="0"/>
              </a:rPr>
              <a:t>Form</a:t>
            </a:r>
            <a:r>
              <a:rPr lang="en-US" sz="3200">
                <a:latin typeface="+mj-lt"/>
              </a:rPr>
              <a:t> </a:t>
            </a:r>
            <a:r>
              <a:rPr lang="vi-VN" sz="3200">
                <a:latin typeface="+mj-lt"/>
              </a:rPr>
              <a:t>sẽ xuất hiện như trong hình sau:</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3D32FBCB-E4BD-44F3-BB2C-3B155918FFDD}"/>
              </a:ext>
            </a:extLst>
          </p:cNvPr>
          <p:cNvPicPr>
            <a:picLocks noChangeAspect="1"/>
          </p:cNvPicPr>
          <p:nvPr/>
        </p:nvPicPr>
        <p:blipFill rotWithShape="1">
          <a:blip r:embed="rId2">
            <a:extLst>
              <a:ext uri="{28A0092B-C50C-407E-A947-70E740481C1C}">
                <a14:useLocalDpi xmlns:a14="http://schemas.microsoft.com/office/drawing/2010/main" val="0"/>
              </a:ext>
            </a:extLst>
          </a:blip>
          <a:srcRect l="24394" t="33535" r="38940" b="15804"/>
          <a:stretch/>
        </p:blipFill>
        <p:spPr>
          <a:xfrm>
            <a:off x="3519055" y="4335939"/>
            <a:ext cx="3352800" cy="2493818"/>
          </a:xfrm>
          <a:prstGeom prst="rect">
            <a:avLst/>
          </a:prstGeom>
        </p:spPr>
      </p:pic>
    </p:spTree>
    <p:extLst>
      <p:ext uri="{BB962C8B-B14F-4D97-AF65-F5344CB8AC3E}">
        <p14:creationId xmlns:p14="http://schemas.microsoft.com/office/powerpoint/2010/main" val="2477555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Hình Chữ Nhật Giữa Hai Lần Nhấp Chuột</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7382F31-9937-46AD-8B67-377B0EC492E8}"/>
              </a:ext>
            </a:extLst>
          </p:cNvPr>
          <p:cNvSpPr>
            <a:spLocks noGrp="1"/>
          </p:cNvSpPr>
          <p:nvPr>
            <p:ph idx="1"/>
          </p:nvPr>
        </p:nvSpPr>
        <p:spPr/>
        <p:txBody>
          <a:bodyPr>
            <a:noAutofit/>
          </a:bodyPr>
          <a:lstStyle/>
          <a:p>
            <a:pPr marL="0" indent="0" algn="just">
              <a:buNone/>
            </a:pPr>
            <a:r>
              <a:rPr lang="vi-VN" sz="3200">
                <a:latin typeface="+mj-lt"/>
              </a:rPr>
              <a:t>Giao diện người dùng được tạo bằng Qt Designer được lưu trữ trong file .ui, là file XML và cần được chuyển đổi thành code Python. Tiện ích pyuic5 được sử dụng để chuyển đổi file XML thành code Python. </a:t>
            </a:r>
            <a:endParaRPr lang="en-US" sz="3200">
              <a:latin typeface="+mj-lt"/>
            </a:endParaRPr>
          </a:p>
          <a:p>
            <a:pPr marL="0" indent="0" algn="just">
              <a:buNone/>
            </a:pPr>
            <a:r>
              <a:rPr lang="vi-VN" sz="3200">
                <a:latin typeface="+mj-lt"/>
              </a:rPr>
              <a:t>5. Hãy coi tập lệnh demoDrawRonymous.py như một file tiêu đề và nhập nó vào file mà bạn sẽ gọi thiết kế giao diện người dùng của nó.</a:t>
            </a:r>
            <a:endParaRPr lang="en-US" sz="3200">
              <a:latin typeface="+mj-lt"/>
            </a:endParaRPr>
          </a:p>
          <a:p>
            <a:pPr marL="0" indent="0" algn="just">
              <a:buNone/>
            </a:pPr>
            <a:r>
              <a:rPr lang="vi-VN" sz="3200">
                <a:latin typeface="+mj-lt"/>
              </a:rPr>
              <a:t>6. Tạo một file Python khác với tên callDrawRonymous.pyw và nhập code demoDrawRonymous.py vào đó:</a:t>
            </a:r>
            <a:endParaRPr lang="en-US" sz="3200">
              <a:latin typeface="+mj-lt"/>
            </a:endParaRPr>
          </a:p>
        </p:txBody>
      </p:sp>
    </p:spTree>
    <p:extLst>
      <p:ext uri="{BB962C8B-B14F-4D97-AF65-F5344CB8AC3E}">
        <p14:creationId xmlns:p14="http://schemas.microsoft.com/office/powerpoint/2010/main" val="2539146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Hình Chữ Nhật Giữa Hai Lần Nhấp Chuột</a:t>
            </a:r>
            <a:endParaRPr lang="en-US" dirty="0">
              <a:latin typeface="Times New Roman" panose="02020603050405020304" pitchFamily="18" charset="0"/>
              <a:cs typeface="Times New Roman" panose="02020603050405020304" pitchFamily="18" charset="0"/>
            </a:endParaRPr>
          </a:p>
        </p:txBody>
      </p:sp>
      <p:pic>
        <p:nvPicPr>
          <p:cNvPr id="9" name="Content Placeholder 8" descr="sách Qt5-Python-GUI-Programming-Cookbook.pdf - Adobe Acrobat Reader DC">
            <a:extLst>
              <a:ext uri="{FF2B5EF4-FFF2-40B4-BE49-F238E27FC236}">
                <a16:creationId xmlns:a16="http://schemas.microsoft.com/office/drawing/2014/main" id="{0E9CD17A-9D54-47C0-AC29-D137DDAF059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871" t="19380" r="27339" b="7679"/>
          <a:stretch/>
        </p:blipFill>
        <p:spPr>
          <a:xfrm>
            <a:off x="471056" y="1219199"/>
            <a:ext cx="8672944" cy="5419762"/>
          </a:xfrm>
        </p:spPr>
      </p:pic>
    </p:spTree>
    <p:extLst>
      <p:ext uri="{BB962C8B-B14F-4D97-AF65-F5344CB8AC3E}">
        <p14:creationId xmlns:p14="http://schemas.microsoft.com/office/powerpoint/2010/main" val="1935097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2259" y="1330036"/>
            <a:ext cx="9102490" cy="5499721"/>
          </a:xfrm>
        </p:spPr>
        <p:txBody>
          <a:bodyPr>
            <a:noAutofit/>
          </a:bodyPr>
          <a:lstStyle/>
          <a:p>
            <a:pPr algn="just"/>
            <a:r>
              <a:rPr lang="vi-VN" sz="3200">
                <a:latin typeface="+mj-lt"/>
              </a:rPr>
              <a:t>Chúng ta sẽ học cách vẽ văn bản trong một phông chữ cụ thể và ở một kích thước phông chữ cụ thể. Bốn vật dụng sẽ được yêu cầu trong </a:t>
            </a:r>
            <a:r>
              <a:rPr lang="en-US" sz="3200">
                <a:latin typeface="Times New Roman" panose="02020603050405020304" pitchFamily="18" charset="0"/>
                <a:cs typeface="Times New Roman" panose="02020603050405020304" pitchFamily="18" charset="0"/>
              </a:rPr>
              <a:t>bài</a:t>
            </a:r>
            <a:r>
              <a:rPr lang="en-US" sz="3200">
                <a:latin typeface="+mj-lt"/>
              </a:rPr>
              <a:t> </a:t>
            </a:r>
            <a:r>
              <a:rPr lang="vi-VN" sz="3200">
                <a:latin typeface="+mj-lt"/>
              </a:rPr>
              <a:t>này, chẳng hạn như </a:t>
            </a:r>
            <a:r>
              <a:rPr lang="en-US" sz="3200">
                <a:latin typeface="Times New Roman" panose="02020603050405020304" pitchFamily="18" charset="0"/>
                <a:cs typeface="Times New Roman" panose="02020603050405020304" pitchFamily="18" charset="0"/>
              </a:rPr>
              <a:t>Text Edit, List Widget, Combo Box, và Push Button</a:t>
            </a:r>
            <a:r>
              <a:rPr lang="vi-VN" sz="3200">
                <a:latin typeface="+mj-lt"/>
              </a:rPr>
              <a:t>. Tiện ích Chỉnh sửa văn bản</a:t>
            </a:r>
            <a:r>
              <a:rPr lang="en-US" sz="3200">
                <a:latin typeface="+mj-lt"/>
              </a:rPr>
              <a:t> (</a:t>
            </a:r>
            <a:r>
              <a:rPr lang="en-US" sz="3200">
                <a:latin typeface="Times New Roman" panose="02020603050405020304" pitchFamily="18" charset="0"/>
                <a:cs typeface="Times New Roman" panose="02020603050405020304" pitchFamily="18" charset="0"/>
              </a:rPr>
              <a:t>Text Edit)</a:t>
            </a:r>
            <a:r>
              <a:rPr lang="vi-VN" sz="3200">
                <a:latin typeface="+mj-lt"/>
              </a:rPr>
              <a:t> sẽ được sử dụng để nhập văn bản mà người dùng muốn hiển thị theo phông chữ và kích thước mong muốn. Hộp Danh sách tiện ích</a:t>
            </a:r>
            <a:r>
              <a:rPr lang="en-US" sz="3200">
                <a:latin typeface="+mj-lt"/>
              </a:rPr>
              <a:t> </a:t>
            </a:r>
            <a:r>
              <a:rPr lang="en-US" sz="3200">
                <a:latin typeface="Times New Roman" panose="02020603050405020304" pitchFamily="18" charset="0"/>
                <a:cs typeface="Times New Roman" panose="02020603050405020304" pitchFamily="18" charset="0"/>
              </a:rPr>
              <a:t>(</a:t>
            </a:r>
            <a:r>
              <a:rPr lang="en-US" sz="3200" b="1">
                <a:latin typeface="Times New Roman" panose="02020603050405020304" pitchFamily="18" charset="0"/>
                <a:cs typeface="Times New Roman" panose="02020603050405020304" pitchFamily="18" charset="0"/>
              </a:rPr>
              <a:t>List Widget </a:t>
            </a:r>
            <a:r>
              <a:rPr lang="en-US" sz="3200">
                <a:latin typeface="Times New Roman" panose="02020603050405020304" pitchFamily="18" charset="0"/>
                <a:cs typeface="Times New Roman" panose="02020603050405020304" pitchFamily="18" charset="0"/>
              </a:rPr>
              <a:t>box)</a:t>
            </a:r>
            <a:r>
              <a:rPr lang="vi-VN" sz="3200">
                <a:latin typeface="Times New Roman" panose="02020603050405020304" pitchFamily="18" charset="0"/>
                <a:cs typeface="Times New Roman" panose="02020603050405020304" pitchFamily="18" charset="0"/>
              </a:rPr>
              <a:t> </a:t>
            </a:r>
            <a:r>
              <a:rPr lang="vi-VN" sz="3200">
                <a:latin typeface="+mj-lt"/>
              </a:rPr>
              <a:t>sẽ hiển thị các tên phông chữ khác nhau mà người dùng có thể chọn. Tiện ích Hộp Combo</a:t>
            </a:r>
            <a:r>
              <a:rPr lang="en-US" sz="3200">
                <a:latin typeface="+mj-lt"/>
              </a:rPr>
              <a:t> </a:t>
            </a:r>
            <a:r>
              <a:rPr lang="en-US" sz="3200">
                <a:latin typeface="Times New Roman" panose="02020603050405020304" pitchFamily="18" charset="0"/>
                <a:cs typeface="Times New Roman" panose="02020603050405020304" pitchFamily="18" charset="0"/>
              </a:rPr>
              <a:t>(Combo Box)</a:t>
            </a:r>
            <a:r>
              <a:rPr lang="vi-VN" sz="3200">
                <a:latin typeface="Times New Roman" panose="02020603050405020304" pitchFamily="18" charset="0"/>
                <a:cs typeface="Times New Roman" panose="02020603050405020304" pitchFamily="18" charset="0"/>
              </a:rPr>
              <a:t> </a:t>
            </a:r>
            <a:r>
              <a:rPr lang="vi-VN" sz="3200">
                <a:latin typeface="+mj-lt"/>
              </a:rPr>
              <a:t>sẽ hiển thị kích thước phông chữ mà người dùng có thể chọn để xác định kích thước của văn bản. Tiện ích Nút ấn</a:t>
            </a:r>
            <a:r>
              <a:rPr lang="en-US" sz="3200">
                <a:latin typeface="+mj-lt"/>
              </a:rPr>
              <a:t> </a:t>
            </a:r>
            <a:r>
              <a:rPr lang="en-US" sz="3200">
                <a:latin typeface="Times New Roman" panose="02020603050405020304" pitchFamily="18" charset="0"/>
                <a:cs typeface="Times New Roman" panose="02020603050405020304" pitchFamily="18" charset="0"/>
              </a:rPr>
              <a:t>(Push Button)</a:t>
            </a:r>
            <a:r>
              <a:rPr lang="vi-VN" sz="3200">
                <a:latin typeface="Times New Roman" panose="02020603050405020304" pitchFamily="18" charset="0"/>
                <a:cs typeface="Times New Roman" panose="02020603050405020304" pitchFamily="18" charset="0"/>
              </a:rPr>
              <a:t> </a:t>
            </a:r>
            <a:r>
              <a:rPr lang="vi-VN" sz="3200">
                <a:latin typeface="+mj-lt"/>
              </a:rPr>
              <a:t>sẽ bắt đầu hành động, nghĩa là văn bản</a:t>
            </a:r>
            <a:endParaRPr lang="en-US" sz="3200">
              <a:latin typeface="+mj-lt"/>
            </a:endParaRPr>
          </a:p>
        </p:txBody>
      </p:sp>
    </p:spTree>
    <p:extLst>
      <p:ext uri="{BB962C8B-B14F-4D97-AF65-F5344CB8AC3E}">
        <p14:creationId xmlns:p14="http://schemas.microsoft.com/office/powerpoint/2010/main" val="1631397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0756" y="1052944"/>
            <a:ext cx="9102490" cy="5805056"/>
          </a:xfrm>
        </p:spPr>
        <p:txBody>
          <a:bodyPr>
            <a:noAutofit/>
          </a:bodyPr>
          <a:lstStyle/>
          <a:p>
            <a:pPr marL="0" indent="0" algn="just">
              <a:buNone/>
            </a:pPr>
            <a:r>
              <a:rPr lang="vi-VN" sz="3200">
                <a:latin typeface="+mj-lt"/>
              </a:rPr>
              <a:t>được nhập trong tiện ích </a:t>
            </a:r>
            <a:r>
              <a:rPr lang="en-US" sz="3200">
                <a:latin typeface="Times New Roman" panose="02020603050405020304" pitchFamily="18" charset="0"/>
                <a:cs typeface="Times New Roman" panose="02020603050405020304" pitchFamily="18" charset="0"/>
              </a:rPr>
              <a:t>c</a:t>
            </a:r>
            <a:r>
              <a:rPr lang="vi-VN" sz="3200">
                <a:latin typeface="+mj-lt"/>
              </a:rPr>
              <a:t>hỉnh sửa văn bản sẽ được hiển thị theo phông chữ và kích thước đã chọn khi nhấp vào nút ấn.</a:t>
            </a:r>
            <a:endParaRPr lang="en-US" sz="3200">
              <a:latin typeface="+mj-lt"/>
            </a:endParaRPr>
          </a:p>
          <a:p>
            <a:pPr algn="just"/>
            <a:r>
              <a:rPr lang="vi-VN" sz="3200">
                <a:latin typeface="+mj-lt"/>
              </a:rPr>
              <a:t>Lớp QPainter là trọng tâm của</a:t>
            </a:r>
            <a:r>
              <a:rPr lang="en-US" sz="3200">
                <a:latin typeface="+mj-lt"/>
              </a:rPr>
              <a:t> </a:t>
            </a:r>
            <a:r>
              <a:rPr lang="en-US" sz="3200">
                <a:latin typeface="Times New Roman" panose="02020603050405020304" pitchFamily="18" charset="0"/>
                <a:cs typeface="Times New Roman" panose="02020603050405020304" pitchFamily="18" charset="0"/>
              </a:rPr>
              <a:t>bài</a:t>
            </a:r>
            <a:r>
              <a:rPr lang="en-US" sz="3200">
                <a:latin typeface="+mj-lt"/>
              </a:rPr>
              <a:t> </a:t>
            </a:r>
            <a:r>
              <a:rPr lang="vi-VN" sz="3200">
                <a:latin typeface="+mj-lt"/>
              </a:rPr>
              <a:t>này. Các phương thức setFont() và drawText() của lớp QPainter sẽ được sử dụng trong </a:t>
            </a:r>
            <a:r>
              <a:rPr lang="en-US" sz="3200">
                <a:latin typeface="Times New Roman" panose="02020603050405020304" pitchFamily="18" charset="0"/>
                <a:cs typeface="Times New Roman" panose="02020603050405020304" pitchFamily="18" charset="0"/>
              </a:rPr>
              <a:t>bài</a:t>
            </a:r>
            <a:r>
              <a:rPr lang="en-US" sz="3200">
                <a:latin typeface="+mj-lt"/>
                <a:cs typeface="Times New Roman" panose="02020603050405020304" pitchFamily="18" charset="0"/>
              </a:rPr>
              <a:t> </a:t>
            </a:r>
            <a:r>
              <a:rPr lang="vi-VN" sz="3200">
                <a:latin typeface="+mj-lt"/>
              </a:rPr>
              <a:t>này. Phương thức setFont() sẽ được gọi để đặt kiểu phông chữ và kích thước phông chữ do người dùng chọn và phương thức drawText() sẽ vẽ văn bản được người dùng viết trong tiện ích chỉnh sửa văn bản theo kiểu và kích thước phông chữ được chỉ định. Dưới đây là từng bước để tìm hiểu cách các phương thức này được sử dụng:</a:t>
            </a:r>
            <a:endParaRPr lang="en-US" sz="3200">
              <a:latin typeface="+mj-lt"/>
            </a:endParaRPr>
          </a:p>
        </p:txBody>
      </p:sp>
    </p:spTree>
    <p:extLst>
      <p:ext uri="{BB962C8B-B14F-4D97-AF65-F5344CB8AC3E}">
        <p14:creationId xmlns:p14="http://schemas.microsoft.com/office/powerpoint/2010/main" val="2493683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0756" y="1052944"/>
            <a:ext cx="9102490" cy="5805056"/>
          </a:xfrm>
        </p:spPr>
        <p:txBody>
          <a:bodyPr>
            <a:noAutofit/>
          </a:bodyPr>
          <a:lstStyle/>
          <a:p>
            <a:pPr marL="514350" indent="-514350" algn="just">
              <a:buAutoNum type="arabicPeriod"/>
            </a:pPr>
            <a:r>
              <a:rPr lang="vi-VN" sz="3200">
                <a:solidFill>
                  <a:prstClr val="black"/>
                </a:solidFill>
                <a:latin typeface="+mj-lt"/>
                <a:cs typeface="Times New Roman" panose="02020603050405020304" pitchFamily="18" charset="0"/>
              </a:rPr>
              <a:t>Hãy tạo một ứng dụng dựa trên mẫu Dialog without Buttons.</a:t>
            </a:r>
            <a:endParaRPr lang="en-US" sz="3200">
              <a:solidFill>
                <a:prstClr val="black"/>
              </a:solidFill>
              <a:latin typeface="+mj-lt"/>
              <a:cs typeface="Times New Roman" panose="02020603050405020304" pitchFamily="18" charset="0"/>
            </a:endParaRPr>
          </a:p>
          <a:p>
            <a:pPr marL="514350" indent="-514350" algn="just">
              <a:buAutoNum type="arabicPeriod"/>
            </a:pPr>
            <a:r>
              <a:rPr lang="vi-VN" sz="3200">
                <a:latin typeface="+mj-lt"/>
              </a:rPr>
              <a:t>Thêm các tiện ích QLabel, QTextEdit, QListWidget, QComboBox và QPushButton vào form bằng cách kéo và thả tiện ích Label, tiện ích Text Edit, List Widget box, Combo Box widget và tiện ích Push Button trên form.</a:t>
            </a:r>
            <a:endParaRPr lang="en-US" sz="3200">
              <a:latin typeface="+mj-lt"/>
            </a:endParaRPr>
          </a:p>
          <a:p>
            <a:pPr marL="514350" indent="-514350" algn="just">
              <a:buAutoNum type="arabicPeriod"/>
            </a:pPr>
            <a:r>
              <a:rPr lang="vi-VN" sz="3200">
                <a:latin typeface="+mj-lt"/>
              </a:rPr>
              <a:t>Đặt thuộc tính text của tiện ích Label thành Nhập một số text trong hộp ngoài cùng bên trái, chọn phông chữ và kích thước và nhấp vào nút vẽ văn bản.</a:t>
            </a:r>
            <a:endParaRPr lang="en-US" sz="3200">
              <a:latin typeface="+mj-lt"/>
            </a:endParaRPr>
          </a:p>
        </p:txBody>
      </p:sp>
    </p:spTree>
    <p:extLst>
      <p:ext uri="{BB962C8B-B14F-4D97-AF65-F5344CB8AC3E}">
        <p14:creationId xmlns:p14="http://schemas.microsoft.com/office/powerpoint/2010/main" val="3664748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0756" y="1052944"/>
            <a:ext cx="9102490" cy="5805056"/>
          </a:xfrm>
        </p:spPr>
        <p:txBody>
          <a:bodyPr>
            <a:noAutofit/>
          </a:bodyPr>
          <a:lstStyle/>
          <a:p>
            <a:pPr marL="0" indent="0" algn="just">
              <a:buNone/>
            </a:pPr>
            <a:r>
              <a:rPr lang="en-US" sz="3200">
                <a:latin typeface="Times New Roman" panose="02020603050405020304" pitchFamily="18" charset="0"/>
                <a:cs typeface="Times New Roman" panose="02020603050405020304" pitchFamily="18" charset="0"/>
              </a:rPr>
              <a:t>4. </a:t>
            </a:r>
            <a:r>
              <a:rPr lang="vi-VN" sz="3200">
                <a:latin typeface="Times New Roman" panose="02020603050405020304" pitchFamily="18" charset="0"/>
                <a:cs typeface="Times New Roman" panose="02020603050405020304" pitchFamily="18" charset="0"/>
              </a:rPr>
              <a:t>Hộp Danh sách tiện ích sẽ được sử dụng để hiển thị các phông chữ khác nhau, vì vậy hãy nhấp chuột phải vào hộp danh sách tiện ích và chọn tùy chọn chỉnh sửa mục để thêm một vài tên phông chữ vào hộp danh sách tiện ích. Nhấp vào nút + (plus) ở dưới cùng của hộp thoại mở ra và thêm một vài tên phông chữ, như trong hình sau:</a:t>
            </a:r>
            <a:endParaRPr lang="en-US" sz="3200">
              <a:latin typeface="Times New Roman" panose="02020603050405020304" pitchFamily="18" charset="0"/>
              <a:cs typeface="Times New Roman" panose="02020603050405020304" pitchFamily="18" charset="0"/>
            </a:endParaRPr>
          </a:p>
        </p:txBody>
      </p:sp>
      <p:pic>
        <p:nvPicPr>
          <p:cNvPr id="7" name="Picture 6" descr="sách Qt5-Python-GUI-Programming-Cookbook.pdf - Adobe Acrobat Reader DC">
            <a:extLst>
              <a:ext uri="{FF2B5EF4-FFF2-40B4-BE49-F238E27FC236}">
                <a16:creationId xmlns:a16="http://schemas.microsoft.com/office/drawing/2014/main" id="{AF29FBB7-2539-49E3-8514-51DA6FE59507}"/>
              </a:ext>
            </a:extLst>
          </p:cNvPr>
          <p:cNvPicPr>
            <a:picLocks noChangeAspect="1"/>
          </p:cNvPicPr>
          <p:nvPr/>
        </p:nvPicPr>
        <p:blipFill rotWithShape="1">
          <a:blip r:embed="rId2">
            <a:extLst>
              <a:ext uri="{28A0092B-C50C-407E-A947-70E740481C1C}">
                <a14:useLocalDpi xmlns:a14="http://schemas.microsoft.com/office/drawing/2010/main" val="0"/>
              </a:ext>
            </a:extLst>
          </a:blip>
          <a:srcRect l="28030" t="28094" r="28940" b="14240"/>
          <a:stretch/>
        </p:blipFill>
        <p:spPr>
          <a:xfrm>
            <a:off x="2923310" y="3768436"/>
            <a:ext cx="3934692" cy="3089564"/>
          </a:xfrm>
          <a:prstGeom prst="rect">
            <a:avLst/>
          </a:prstGeom>
        </p:spPr>
      </p:pic>
    </p:spTree>
    <p:extLst>
      <p:ext uri="{BB962C8B-B14F-4D97-AF65-F5344CB8AC3E}">
        <p14:creationId xmlns:p14="http://schemas.microsoft.com/office/powerpoint/2010/main" val="39875542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0756" y="1052944"/>
            <a:ext cx="9102490" cy="5805056"/>
          </a:xfrm>
        </p:spPr>
        <p:txBody>
          <a:bodyPr>
            <a:noAutofit/>
          </a:bodyPr>
          <a:lstStyle/>
          <a:p>
            <a:pPr marL="0" indent="0" algn="just">
              <a:buNone/>
            </a:pPr>
            <a:r>
              <a:rPr lang="vi-VN" sz="3200">
                <a:latin typeface="+mj-lt"/>
              </a:rPr>
              <a:t>5. Tiện ích Combo Box sẽ được sử dụng để hiển thị các kích thước phông chữ khác nhau, vì vậy chúng t</a:t>
            </a:r>
            <a:r>
              <a:rPr lang="en-US" sz="3200">
                <a:latin typeface="Times New Roman" panose="02020603050405020304" pitchFamily="18" charset="0"/>
                <a:cs typeface="Times New Roman" panose="02020603050405020304" pitchFamily="18" charset="0"/>
              </a:rPr>
              <a:t>a</a:t>
            </a:r>
            <a:r>
              <a:rPr lang="vi-VN" sz="3200">
                <a:latin typeface="+mj-lt"/>
              </a:rPr>
              <a:t> cần thêm các kích thước phông chữ nhất định vào tiện ích Combo Box</a:t>
            </a:r>
            <a:r>
              <a:rPr lang="vi-VN" sz="3200"/>
              <a:t> </a:t>
            </a:r>
            <a:r>
              <a:rPr lang="vi-VN" sz="3200">
                <a:latin typeface="+mj-lt"/>
              </a:rPr>
              <a:t>. Nhấp chuột phải vào tiện ích Combo Box và chọn tùy chọn </a:t>
            </a:r>
            <a:r>
              <a:rPr lang="vi-VN" sz="3200" b="1">
                <a:latin typeface="+mj-lt"/>
              </a:rPr>
              <a:t>Edit Items</a:t>
            </a:r>
            <a:r>
              <a:rPr lang="vi-VN" sz="3200">
                <a:latin typeface="+mj-lt"/>
              </a:rPr>
              <a:t>.</a:t>
            </a:r>
            <a:endParaRPr lang="en-US" sz="3200">
              <a:latin typeface="+mj-lt"/>
            </a:endParaRPr>
          </a:p>
          <a:p>
            <a:pPr marL="0" indent="0" algn="just">
              <a:buNone/>
            </a:pPr>
            <a:r>
              <a:rPr lang="vi-VN" sz="3200">
                <a:latin typeface="+mj-lt"/>
              </a:rPr>
              <a:t>6. Nhấp vào nút + (</a:t>
            </a:r>
            <a:r>
              <a:rPr lang="vi-VN" sz="3200">
                <a:latin typeface="Times New Roman" panose="02020603050405020304" pitchFamily="18" charset="0"/>
                <a:cs typeface="Times New Roman" panose="02020603050405020304" pitchFamily="18" charset="0"/>
              </a:rPr>
              <a:t>plus</a:t>
            </a:r>
            <a:r>
              <a:rPr lang="vi-VN" sz="3200">
                <a:latin typeface="+mj-lt"/>
              </a:rPr>
              <a:t>) ở dưới cùng của hộp thoại mở ra và thêm một vài kích thước phông chữ, như trong ảnh chụp màn hình sau:</a:t>
            </a:r>
            <a:endParaRPr lang="en-US" sz="3200">
              <a:latin typeface="+mj-lt"/>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2B19C8C5-B127-4867-B084-F88EC071B83B}"/>
              </a:ext>
            </a:extLst>
          </p:cNvPr>
          <p:cNvPicPr>
            <a:picLocks noChangeAspect="1"/>
          </p:cNvPicPr>
          <p:nvPr/>
        </p:nvPicPr>
        <p:blipFill rotWithShape="1">
          <a:blip r:embed="rId2">
            <a:extLst>
              <a:ext uri="{28A0092B-C50C-407E-A947-70E740481C1C}">
                <a14:useLocalDpi xmlns:a14="http://schemas.microsoft.com/office/drawing/2010/main" val="0"/>
              </a:ext>
            </a:extLst>
          </a:blip>
          <a:srcRect l="27576" t="28188" r="28788" b="12427"/>
          <a:stretch/>
        </p:blipFill>
        <p:spPr>
          <a:xfrm>
            <a:off x="3148457" y="3186546"/>
            <a:ext cx="4901033" cy="3452416"/>
          </a:xfrm>
          <a:prstGeom prst="rect">
            <a:avLst/>
          </a:prstGeom>
        </p:spPr>
      </p:pic>
    </p:spTree>
    <p:extLst>
      <p:ext uri="{BB962C8B-B14F-4D97-AF65-F5344CB8AC3E}">
        <p14:creationId xmlns:p14="http://schemas.microsoft.com/office/powerpoint/2010/main" val="322476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56F2A24-15A2-4407-A3E3-580FDFAA2CA7}"/>
              </a:ext>
            </a:extLst>
          </p:cNvPr>
          <p:cNvSpPr>
            <a:spLocks noGrp="1"/>
          </p:cNvSpPr>
          <p:nvPr>
            <p:ph idx="1"/>
          </p:nvPr>
        </p:nvSpPr>
        <p:spPr>
          <a:xfrm>
            <a:off x="20756" y="1052944"/>
            <a:ext cx="9102490" cy="5805056"/>
          </a:xfrm>
        </p:spPr>
        <p:txBody>
          <a:bodyPr>
            <a:noAutofit/>
          </a:bodyPr>
          <a:lstStyle/>
          <a:p>
            <a:pPr marL="0" indent="0" algn="just">
              <a:buNone/>
            </a:pPr>
            <a:r>
              <a:rPr lang="vi-VN" sz="3200">
                <a:latin typeface="+mj-lt"/>
              </a:rPr>
              <a:t>7. Đặt thuộc tính text của tiện ích Push Button thành Draw Text.</a:t>
            </a:r>
            <a:endParaRPr lang="en-US" sz="3200">
              <a:latin typeface="+mj-lt"/>
            </a:endParaRPr>
          </a:p>
          <a:p>
            <a:pPr marL="0" indent="0" algn="just">
              <a:buNone/>
            </a:pPr>
            <a:r>
              <a:rPr lang="vi-VN" sz="3200">
                <a:latin typeface="+mj-lt"/>
              </a:rPr>
              <a:t>8. Đặt thuộc tính objectName của hộp List Widget thành listWidgetFont.</a:t>
            </a:r>
            <a:endParaRPr lang="en-US" sz="3200">
              <a:latin typeface="+mj-lt"/>
            </a:endParaRPr>
          </a:p>
          <a:p>
            <a:pPr marL="0" indent="0" algn="just">
              <a:buNone/>
            </a:pPr>
            <a:r>
              <a:rPr lang="vi-VN" sz="3200">
                <a:latin typeface="+mj-lt"/>
              </a:rPr>
              <a:t>9. Đặt thuộc tính objectName của tiện ích Combo Box thành comboBoxFontSize.</a:t>
            </a:r>
            <a:endParaRPr lang="en-US" sz="3200">
              <a:latin typeface="+mj-lt"/>
            </a:endParaRPr>
          </a:p>
          <a:p>
            <a:pPr marL="0" indent="0" algn="just">
              <a:buNone/>
            </a:pPr>
            <a:r>
              <a:rPr lang="vi-VN" sz="3200">
                <a:latin typeface="+mj-lt"/>
              </a:rPr>
              <a:t> 10. Đặt thuộc tính objectName của tiện ích Push Button thành</a:t>
            </a:r>
            <a:r>
              <a:rPr lang="en-US" sz="3200">
                <a:latin typeface="+mj-lt"/>
              </a:rPr>
              <a:t> </a:t>
            </a:r>
            <a:r>
              <a:rPr lang="vi-VN" sz="3200">
                <a:latin typeface="+mj-lt"/>
              </a:rPr>
              <a:t>pushButtonDrawText.</a:t>
            </a:r>
            <a:endParaRPr lang="en-US" sz="3200">
              <a:latin typeface="+mj-lt"/>
            </a:endParaRPr>
          </a:p>
          <a:p>
            <a:pPr marL="0" indent="0" algn="just">
              <a:buNone/>
            </a:pPr>
            <a:r>
              <a:rPr lang="vi-VN" sz="3200">
                <a:latin typeface="+mj-lt"/>
              </a:rPr>
              <a:t>11. Lưu ứng dụng theo tên như demoDrawText.ui.</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27949860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p:txBody>
          <a:bodyPr>
            <a:normAutofit fontScale="77500" lnSpcReduction="20000"/>
          </a:bodyPr>
          <a:lstStyle/>
          <a:p>
            <a:endParaRPr lang="en-US"/>
          </a:p>
          <a:p>
            <a:endParaRPr lang="en-US"/>
          </a:p>
          <a:p>
            <a:endParaRPr lang="en-US"/>
          </a:p>
          <a:p>
            <a:endParaRPr lang="en-US"/>
          </a:p>
          <a:p>
            <a:endParaRPr lang="en-US"/>
          </a:p>
          <a:p>
            <a:endParaRPr lang="en-US"/>
          </a:p>
          <a:p>
            <a:endParaRPr lang="en-US"/>
          </a:p>
          <a:p>
            <a:pPr algn="just"/>
            <a:r>
              <a:rPr lang="vi-VN" sz="3900">
                <a:latin typeface="+mj-lt"/>
              </a:rPr>
              <a:t>Giao diện người dùng được tạo bằng Qt Designer được lưu trữ trong file .ui và đó là file XML. File XML được chuyển đổi thành code Python bằng cách áp dụng tiện ích pyuic5. </a:t>
            </a:r>
            <a:endParaRPr lang="en-US" sz="3900">
              <a:latin typeface="+mj-lt"/>
            </a:endParaRPr>
          </a:p>
          <a:p>
            <a:pPr marL="0" indent="0" algn="just">
              <a:buNone/>
            </a:pPr>
            <a:r>
              <a:rPr lang="vi-VN" sz="3900">
                <a:latin typeface="+mj-lt"/>
              </a:rPr>
              <a:t>12. Hãy coi tập lệnh demoDrawText.py như một file tiêu đề và nhập nó vào file mà bạn sẽ gọi thiết kế giao diện người dùng của nó.</a:t>
            </a:r>
            <a:endParaRPr lang="en-US" sz="3900">
              <a:latin typeface="+mj-lt"/>
            </a:endParaRPr>
          </a:p>
          <a:p>
            <a:pPr marL="0" indent="0" algn="just">
              <a:buNone/>
            </a:pPr>
            <a:r>
              <a:rPr lang="vi-VN" sz="3900">
                <a:latin typeface="+mj-lt"/>
              </a:rPr>
              <a:t>13. Tạo một file Python khác có tên callDrawText.pyw và nhập code demoDrawText.py vào nó:</a:t>
            </a:r>
            <a:endParaRPr lang="en-US" sz="3900">
              <a:latin typeface="+mj-lt"/>
            </a:endParaRPr>
          </a:p>
        </p:txBody>
      </p:sp>
      <p:pic>
        <p:nvPicPr>
          <p:cNvPr id="7" name="Content Placeholder 4" descr="sách Qt5-Python-GUI-Programming-Cookbook.pdf - Adobe Acrobat Reader DC">
            <a:extLst>
              <a:ext uri="{FF2B5EF4-FFF2-40B4-BE49-F238E27FC236}">
                <a16:creationId xmlns:a16="http://schemas.microsoft.com/office/drawing/2014/main" id="{C1242F05-6649-48DC-89D4-4A79848640A4}"/>
              </a:ext>
            </a:extLst>
          </p:cNvPr>
          <p:cNvPicPr>
            <a:picLocks noChangeAspect="1"/>
          </p:cNvPicPr>
          <p:nvPr/>
        </p:nvPicPr>
        <p:blipFill rotWithShape="1">
          <a:blip r:embed="rId2">
            <a:extLst>
              <a:ext uri="{28A0092B-C50C-407E-A947-70E740481C1C}">
                <a14:useLocalDpi xmlns:a14="http://schemas.microsoft.com/office/drawing/2010/main" val="0"/>
              </a:ext>
            </a:extLst>
          </a:blip>
          <a:srcRect l="29148" t="28659" r="30366" b="19603"/>
          <a:stretch/>
        </p:blipFill>
        <p:spPr>
          <a:xfrm>
            <a:off x="2784763" y="1052944"/>
            <a:ext cx="3934692" cy="2230583"/>
          </a:xfrm>
          <a:prstGeom prst="rect">
            <a:avLst/>
          </a:prstGeom>
        </p:spPr>
      </p:pic>
    </p:spTree>
    <p:extLst>
      <p:ext uri="{BB962C8B-B14F-4D97-AF65-F5344CB8AC3E}">
        <p14:creationId xmlns:p14="http://schemas.microsoft.com/office/powerpoint/2010/main" val="41341235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p:txBody>
          <a:bodyPr>
            <a:normAutofit/>
          </a:bodyPr>
          <a:lstStyle/>
          <a:p>
            <a:endParaRPr lang="en-US"/>
          </a:p>
          <a:p>
            <a:pPr marL="0" indent="0">
              <a:buNone/>
            </a:pPr>
            <a:endParaRPr lang="en-US"/>
          </a:p>
          <a:p>
            <a:endParaRPr lang="en-US"/>
          </a:p>
          <a:p>
            <a:endParaRPr lang="en-US"/>
          </a:p>
          <a:p>
            <a:endParaRPr lang="en-US"/>
          </a:p>
          <a:p>
            <a:pPr marL="0" indent="0">
              <a:buNone/>
            </a:pPr>
            <a:endParaRPr lang="en-US"/>
          </a:p>
        </p:txBody>
      </p:sp>
      <p:pic>
        <p:nvPicPr>
          <p:cNvPr id="4" name="Picture 3" descr="sách Qt5-Python-GUI-Programming-Cookbook.pdf - Adobe Acrobat Reader DC">
            <a:extLst>
              <a:ext uri="{FF2B5EF4-FFF2-40B4-BE49-F238E27FC236}">
                <a16:creationId xmlns:a16="http://schemas.microsoft.com/office/drawing/2014/main" id="{08D9A68C-8461-484E-8B4B-DB597778A585}"/>
              </a:ext>
            </a:extLst>
          </p:cNvPr>
          <p:cNvPicPr>
            <a:picLocks noChangeAspect="1"/>
          </p:cNvPicPr>
          <p:nvPr/>
        </p:nvPicPr>
        <p:blipFill rotWithShape="1">
          <a:blip r:embed="rId2">
            <a:extLst>
              <a:ext uri="{28A0092B-C50C-407E-A947-70E740481C1C}">
                <a14:useLocalDpi xmlns:a14="http://schemas.microsoft.com/office/drawing/2010/main" val="0"/>
              </a:ext>
            </a:extLst>
          </a:blip>
          <a:srcRect l="31212" t="41979" r="31818" b="30439"/>
          <a:stretch/>
        </p:blipFill>
        <p:spPr>
          <a:xfrm>
            <a:off x="471054" y="1175309"/>
            <a:ext cx="7495310" cy="4948400"/>
          </a:xfrm>
          <a:prstGeom prst="rect">
            <a:avLst/>
          </a:prstGeom>
        </p:spPr>
      </p:pic>
    </p:spTree>
    <p:extLst>
      <p:ext uri="{BB962C8B-B14F-4D97-AF65-F5344CB8AC3E}">
        <p14:creationId xmlns:p14="http://schemas.microsoft.com/office/powerpoint/2010/main" val="687933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Văn Bản Trong Một Phông Chữ Và Kích Thước Mong Muốn</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p:txBody>
          <a:bodyPr>
            <a:normAutofit/>
          </a:bodyPr>
          <a:lstStyle/>
          <a:p>
            <a:endParaRPr lang="en-US"/>
          </a:p>
          <a:p>
            <a:pPr marL="0" indent="0">
              <a:buNone/>
            </a:pPr>
            <a:endParaRPr lang="en-US"/>
          </a:p>
          <a:p>
            <a:endParaRPr lang="en-US"/>
          </a:p>
          <a:p>
            <a:endParaRPr lang="en-US"/>
          </a:p>
          <a:p>
            <a:endParaRPr lang="en-US"/>
          </a:p>
          <a:p>
            <a:pPr marL="0" indent="0">
              <a:buNone/>
            </a:pPr>
            <a:endParaRPr lang="en-US"/>
          </a:p>
        </p:txBody>
      </p:sp>
      <p:pic>
        <p:nvPicPr>
          <p:cNvPr id="5" name="Picture 4" descr="sách Qt5-Python-GUI-Programming-Cookbook.pdf - Adobe Acrobat Reader DC">
            <a:extLst>
              <a:ext uri="{FF2B5EF4-FFF2-40B4-BE49-F238E27FC236}">
                <a16:creationId xmlns:a16="http://schemas.microsoft.com/office/drawing/2014/main" id="{B21A4516-17BF-4B40-99FE-216B3E012C25}"/>
              </a:ext>
            </a:extLst>
          </p:cNvPr>
          <p:cNvPicPr>
            <a:picLocks noChangeAspect="1"/>
          </p:cNvPicPr>
          <p:nvPr/>
        </p:nvPicPr>
        <p:blipFill rotWithShape="1">
          <a:blip r:embed="rId2">
            <a:extLst>
              <a:ext uri="{28A0092B-C50C-407E-A947-70E740481C1C}">
                <a14:useLocalDpi xmlns:a14="http://schemas.microsoft.com/office/drawing/2010/main" val="0"/>
              </a:ext>
            </a:extLst>
          </a:blip>
          <a:srcRect l="30909" t="20308" r="28334" b="21715"/>
          <a:stretch/>
        </p:blipFill>
        <p:spPr>
          <a:xfrm>
            <a:off x="304799" y="1357745"/>
            <a:ext cx="8562109" cy="5281216"/>
          </a:xfrm>
          <a:prstGeom prst="rect">
            <a:avLst/>
          </a:prstGeom>
        </p:spPr>
      </p:pic>
    </p:spTree>
    <p:extLst>
      <p:ext uri="{BB962C8B-B14F-4D97-AF65-F5344CB8AC3E}">
        <p14:creationId xmlns:p14="http://schemas.microsoft.com/office/powerpoint/2010/main" val="970748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p:txBody>
          <a:bodyPr>
            <a:noAutofit/>
          </a:bodyPr>
          <a:lstStyle/>
          <a:p>
            <a:pPr algn="just"/>
            <a:r>
              <a:rPr lang="vi-VN" sz="3200">
                <a:latin typeface="+mj-lt"/>
              </a:rPr>
              <a:t>Trong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 chúng ta sẽ học cách tạo một thanh công cụ hiển thị ba nút thanh công cụ. Ba nút thanh công cụ này hiển thị các biểu tượng cho dòng, hình tròn và hình chữ nhật. Khi người dùng nhấp vào nút </a:t>
            </a:r>
            <a:r>
              <a:rPr lang="vi-VN" sz="3200" i="1">
                <a:latin typeface="+mj-lt"/>
              </a:rPr>
              <a:t>line toolbar</a:t>
            </a:r>
            <a:r>
              <a:rPr lang="en-US" sz="3200" i="1">
                <a:latin typeface="+mj-lt"/>
              </a:rPr>
              <a:t> </a:t>
            </a:r>
            <a:r>
              <a:rPr lang="vi-VN" sz="3200">
                <a:latin typeface="+mj-lt"/>
              </a:rPr>
              <a:t>từ thanh công cụ, </a:t>
            </a:r>
            <a:r>
              <a:rPr lang="en-US" sz="3200">
                <a:latin typeface="Times New Roman" panose="02020603050405020304" pitchFamily="18" charset="0"/>
                <a:cs typeface="Times New Roman" panose="02020603050405020304" pitchFamily="18" charset="0"/>
              </a:rPr>
              <a:t>bạn</a:t>
            </a:r>
            <a:r>
              <a:rPr lang="en-US" sz="3200">
                <a:latin typeface="+mj-lt"/>
              </a:rPr>
              <a:t> </a:t>
            </a:r>
            <a:r>
              <a:rPr lang="vi-VN" sz="3200">
                <a:latin typeface="+mj-lt"/>
              </a:rPr>
              <a:t>có thể nhấp và kéo chuột trên biểu mẫu để vẽ một đường giữa hai vị trí chuột. Tương tự, bằng cách nhấp vào nút thanh công cụ hình tròn, người dùng có thể vẽ một vòng tròn trên </a:t>
            </a:r>
            <a:r>
              <a:rPr lang="en-US" sz="3200">
                <a:latin typeface="Times New Roman" panose="02020603050405020304" pitchFamily="18" charset="0"/>
                <a:cs typeface="Times New Roman" panose="02020603050405020304" pitchFamily="18" charset="0"/>
              </a:rPr>
              <a:t>form</a:t>
            </a:r>
            <a:r>
              <a:rPr lang="en-US" sz="3200">
                <a:latin typeface="+mj-lt"/>
              </a:rPr>
              <a:t> </a:t>
            </a:r>
            <a:r>
              <a:rPr lang="vi-VN" sz="3200">
                <a:latin typeface="+mj-lt"/>
              </a:rPr>
              <a:t>bằng cách nhấp và kéo chuột.</a:t>
            </a:r>
            <a:endParaRPr lang="en-US" sz="3200">
              <a:latin typeface="+mj-lt"/>
            </a:endParaRPr>
          </a:p>
          <a:p>
            <a:pPr algn="just"/>
            <a:r>
              <a:rPr lang="vi-VN" sz="3200">
                <a:latin typeface="+mj-lt"/>
              </a:rPr>
              <a:t>Trọng tâm của </a:t>
            </a:r>
            <a:r>
              <a:rPr lang="en-US" sz="3200">
                <a:latin typeface="Times New Roman" panose="02020603050405020304" pitchFamily="18" charset="0"/>
                <a:cs typeface="Times New Roman" panose="02020603050405020304" pitchFamily="18" charset="0"/>
              </a:rPr>
              <a:t>phần </a:t>
            </a:r>
            <a:r>
              <a:rPr lang="vi-VN" sz="3200">
                <a:latin typeface="+mj-lt"/>
              </a:rPr>
              <a:t>này là giúp bạn hiểu mức độ thường xuyên sử dụng các lệnh trong ứng dụng cho người dùng thông qua thanh công cụ, giúp họ dễ dàng truy cập và sử dụng. Bạn sẽ học cách tạo các</a:t>
            </a:r>
            <a:endParaRPr lang="en-US" sz="3200">
              <a:latin typeface="+mj-lt"/>
            </a:endParaRPr>
          </a:p>
        </p:txBody>
      </p:sp>
    </p:spTree>
    <p:extLst>
      <p:ext uri="{BB962C8B-B14F-4D97-AF65-F5344CB8AC3E}">
        <p14:creationId xmlns:p14="http://schemas.microsoft.com/office/powerpoint/2010/main" val="40685431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nút thanh công cụ, xác định các phím tắt và biểu tượng của chúng. Để xác định các biểu tượng cho các nút trên thanh công cụ, bạn sẽ học cách tạo và sử dụng </a:t>
            </a:r>
            <a:r>
              <a:rPr lang="en-US" sz="3200">
                <a:latin typeface="Times New Roman" panose="02020603050405020304" pitchFamily="18" charset="0"/>
                <a:cs typeface="Times New Roman" panose="02020603050405020304" pitchFamily="18" charset="0"/>
              </a:rPr>
              <a:t>file</a:t>
            </a:r>
            <a:r>
              <a:rPr lang="vi-VN" sz="3200">
                <a:latin typeface="+mj-lt"/>
              </a:rPr>
              <a:t> tài nguyên. Việc tạo và thực hiện từng nút thanh công cụ được giải thích rất rõ ràng từng bước:</a:t>
            </a:r>
            <a:endParaRPr lang="en-US" sz="3200">
              <a:latin typeface="+mj-lt"/>
            </a:endParaRPr>
          </a:p>
          <a:p>
            <a:pPr marL="514350" indent="-514350" algn="just">
              <a:buAutoNum type="arabicPeriod"/>
            </a:pPr>
            <a:r>
              <a:rPr lang="vi-VN" sz="3200">
                <a:latin typeface="+mj-lt"/>
              </a:rPr>
              <a:t>Hãy tạo một ứng dụng mới để hiểu các bước liên quan đến việc tạo thanh công cụ.</a:t>
            </a:r>
            <a:endParaRPr lang="en-US" sz="3200">
              <a:latin typeface="+mj-lt"/>
            </a:endParaRPr>
          </a:p>
          <a:p>
            <a:pPr marL="514350" indent="-514350" algn="just">
              <a:buAutoNum type="arabicPeriod"/>
            </a:pPr>
            <a:r>
              <a:rPr lang="vi-VN" sz="3200">
                <a:latin typeface="+mj-lt"/>
              </a:rPr>
              <a:t>Khởi chạy Qt Designer và tạo một ứng dụng dựa trên cửa sổ chính. Bạn nhận được một ứng dụng mới với thanh menu mặc định.</a:t>
            </a:r>
            <a:endParaRPr lang="en-US" sz="3200">
              <a:latin typeface="+mj-lt"/>
            </a:endParaRPr>
          </a:p>
          <a:p>
            <a:pPr algn="just"/>
            <a:endParaRPr lang="en-US" sz="3200">
              <a:latin typeface="+mj-lt"/>
            </a:endParaRPr>
          </a:p>
        </p:txBody>
      </p:sp>
    </p:spTree>
    <p:extLst>
      <p:ext uri="{BB962C8B-B14F-4D97-AF65-F5344CB8AC3E}">
        <p14:creationId xmlns:p14="http://schemas.microsoft.com/office/powerpoint/2010/main" val="1975929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en-US" sz="3200">
                <a:latin typeface="Times New Roman" panose="02020603050405020304" pitchFamily="18" charset="0"/>
                <a:cs typeface="Times New Roman" panose="02020603050405020304" pitchFamily="18" charset="0"/>
              </a:rPr>
              <a:t>3. </a:t>
            </a:r>
            <a:r>
              <a:rPr lang="vi-VN" sz="3200">
                <a:latin typeface="Times New Roman" panose="02020603050405020304" pitchFamily="18" charset="0"/>
                <a:cs typeface="Times New Roman" panose="02020603050405020304" pitchFamily="18" charset="0"/>
              </a:rPr>
              <a:t>Bạn có thể xóa thanh menu bằng cách nhấp chuột phải vào thanh đó và chọn tùy chọn </a:t>
            </a:r>
            <a:r>
              <a:rPr lang="vi-VN" sz="3200" i="1">
                <a:latin typeface="Times New Roman" panose="02020603050405020304" pitchFamily="18" charset="0"/>
                <a:cs typeface="Times New Roman" panose="02020603050405020304" pitchFamily="18" charset="0"/>
              </a:rPr>
              <a:t>Remove Menu Bar</a:t>
            </a:r>
            <a:r>
              <a:rPr lang="vi-VN" sz="3200">
                <a:latin typeface="Times New Roman" panose="02020603050405020304" pitchFamily="18" charset="0"/>
                <a:cs typeface="Times New Roman" panose="02020603050405020304" pitchFamily="18" charset="0"/>
              </a:rPr>
              <a:t> từ menu phím tắt bật lên.</a:t>
            </a:r>
            <a:endParaRPr lang="en-US" sz="3200">
              <a:latin typeface="Times New Roman" panose="02020603050405020304" pitchFamily="18" charset="0"/>
              <a:cs typeface="Times New Roman" panose="02020603050405020304" pitchFamily="18" charset="0"/>
            </a:endParaRPr>
          </a:p>
          <a:p>
            <a:pPr marL="0" indent="0" algn="just">
              <a:buNone/>
            </a:pPr>
            <a:r>
              <a:rPr lang="vi-VN" sz="3200">
                <a:latin typeface="Times New Roman" panose="02020603050405020304" pitchFamily="18" charset="0"/>
                <a:cs typeface="Times New Roman" panose="02020603050405020304" pitchFamily="18" charset="0"/>
              </a:rPr>
              <a:t>4. Để thêm thanh công cụ, nhấp chuột phải vào mẫu </a:t>
            </a:r>
            <a:r>
              <a:rPr lang="vi-VN" sz="3200" b="1">
                <a:latin typeface="Times New Roman" panose="02020603050405020304" pitchFamily="18" charset="0"/>
                <a:cs typeface="Times New Roman" panose="02020603050405020304" pitchFamily="18" charset="0"/>
              </a:rPr>
              <a:t>Main Window </a:t>
            </a:r>
            <a:r>
              <a:rPr lang="vi-VN" sz="3200">
                <a:latin typeface="Times New Roman" panose="02020603050405020304" pitchFamily="18" charset="0"/>
                <a:cs typeface="Times New Roman" panose="02020603050405020304" pitchFamily="18" charset="0"/>
              </a:rPr>
              <a:t>và chọn </a:t>
            </a:r>
            <a:r>
              <a:rPr lang="vi-VN" sz="3200" b="1">
                <a:latin typeface="Times New Roman" panose="02020603050405020304" pitchFamily="18" charset="0"/>
                <a:cs typeface="Times New Roman" panose="02020603050405020304" pitchFamily="18" charset="0"/>
              </a:rPr>
              <a:t>Add Tool Bar </a:t>
            </a:r>
            <a:r>
              <a:rPr lang="vi-VN" sz="3200">
                <a:latin typeface="Times New Roman" panose="02020603050405020304" pitchFamily="18" charset="0"/>
                <a:cs typeface="Times New Roman" panose="02020603050405020304" pitchFamily="18" charset="0"/>
              </a:rPr>
              <a:t>từ menu ngữ cảnh. Một thanh công cụ trống sẽ được thêm vào bên dưới thanh menu, như thể hiện trong hình sau:</a:t>
            </a:r>
          </a:p>
          <a:p>
            <a:pPr algn="just"/>
            <a:endParaRPr lang="en-US" sz="3200">
              <a:latin typeface="+mj-lt"/>
            </a:endParaRPr>
          </a:p>
        </p:txBody>
      </p:sp>
      <p:pic>
        <p:nvPicPr>
          <p:cNvPr id="9" name="Picture 8" descr="sách Qt5-Python-GUI-Programming-Cookbook.pdf - Adobe Acrobat Reader DC">
            <a:extLst>
              <a:ext uri="{FF2B5EF4-FFF2-40B4-BE49-F238E27FC236}">
                <a16:creationId xmlns:a16="http://schemas.microsoft.com/office/drawing/2014/main" id="{6EA78CF0-73D2-4173-8A61-7C6B561A7CB5}"/>
              </a:ext>
            </a:extLst>
          </p:cNvPr>
          <p:cNvPicPr>
            <a:picLocks noChangeAspect="1"/>
          </p:cNvPicPr>
          <p:nvPr/>
        </p:nvPicPr>
        <p:blipFill rotWithShape="1">
          <a:blip r:embed="rId2">
            <a:extLst>
              <a:ext uri="{28A0092B-C50C-407E-A947-70E740481C1C}">
                <a14:useLocalDpi xmlns:a14="http://schemas.microsoft.com/office/drawing/2010/main" val="0"/>
              </a:ext>
            </a:extLst>
          </a:blip>
          <a:srcRect l="26970" t="24529" r="28333" b="17212"/>
          <a:stretch/>
        </p:blipFill>
        <p:spPr>
          <a:xfrm>
            <a:off x="4433454" y="4072703"/>
            <a:ext cx="4087092" cy="2867892"/>
          </a:xfrm>
          <a:prstGeom prst="rect">
            <a:avLst/>
          </a:prstGeom>
        </p:spPr>
      </p:pic>
    </p:spTree>
    <p:extLst>
      <p:ext uri="{BB962C8B-B14F-4D97-AF65-F5344CB8AC3E}">
        <p14:creationId xmlns:p14="http://schemas.microsoft.com/office/powerpoint/2010/main" val="2643622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Chúng t</a:t>
            </a:r>
            <a:r>
              <a:rPr lang="en-US" sz="3200">
                <a:latin typeface="Times New Roman" panose="02020603050405020304" pitchFamily="18" charset="0"/>
                <a:cs typeface="Times New Roman" panose="02020603050405020304" pitchFamily="18" charset="0"/>
              </a:rPr>
              <a:t>a</a:t>
            </a:r>
            <a:r>
              <a:rPr lang="vi-VN" sz="3200">
                <a:latin typeface="+mj-lt"/>
              </a:rPr>
              <a:t> muốn tạo một thanh công cụ với ba </a:t>
            </a:r>
            <a:r>
              <a:rPr lang="en-US" sz="3200" i="1">
                <a:latin typeface="Times New Roman" panose="02020603050405020304" pitchFamily="18" charset="0"/>
                <a:cs typeface="Times New Roman" panose="02020603050405020304" pitchFamily="18" charset="0"/>
              </a:rPr>
              <a:t>toolbar buttons, line, circle, và rectangle</a:t>
            </a:r>
            <a:r>
              <a:rPr lang="vi-VN" sz="3200">
                <a:latin typeface="+mj-lt"/>
              </a:rPr>
              <a:t>. Vì ba nút thanh công cụ sẽ đại diện cho ba hình ảnh biểu tượng, chúng t</a:t>
            </a:r>
            <a:r>
              <a:rPr lang="en-US" sz="3200">
                <a:latin typeface="Times New Roman" panose="02020603050405020304" pitchFamily="18" charset="0"/>
                <a:cs typeface="Times New Roman" panose="02020603050405020304" pitchFamily="18" charset="0"/>
              </a:rPr>
              <a:t>a</a:t>
            </a:r>
            <a:r>
              <a:rPr lang="vi-VN" sz="3200">
                <a:latin typeface="+mj-lt"/>
              </a:rPr>
              <a:t> giả sử chúng t</a:t>
            </a:r>
            <a:r>
              <a:rPr lang="en-US" sz="3200">
                <a:latin typeface="Times New Roman" panose="02020603050405020304" pitchFamily="18" charset="0"/>
                <a:cs typeface="Times New Roman" panose="02020603050405020304" pitchFamily="18" charset="0"/>
              </a:rPr>
              <a:t>a</a:t>
            </a:r>
            <a:r>
              <a:rPr lang="vi-VN" sz="3200">
                <a:latin typeface="+mj-lt"/>
              </a:rPr>
              <a:t> có các </a:t>
            </a:r>
            <a:r>
              <a:rPr lang="en-US" sz="3200">
                <a:latin typeface="Times New Roman" panose="02020603050405020304" pitchFamily="18" charset="0"/>
                <a:cs typeface="Times New Roman" panose="02020603050405020304" pitchFamily="18" charset="0"/>
              </a:rPr>
              <a:t>file</a:t>
            </a:r>
            <a:r>
              <a:rPr lang="vi-VN" sz="3200">
                <a:latin typeface="+mj-lt"/>
              </a:rPr>
              <a:t> biểu tượng, nghĩa là các </a:t>
            </a:r>
            <a:r>
              <a:rPr lang="en-US" sz="3200">
                <a:latin typeface="Times New Roman" panose="02020603050405020304" pitchFamily="18" charset="0"/>
                <a:cs typeface="Times New Roman" panose="02020603050405020304" pitchFamily="18" charset="0"/>
              </a:rPr>
              <a:t>file</a:t>
            </a:r>
            <a:r>
              <a:rPr lang="vi-VN" sz="3200">
                <a:latin typeface="+mj-lt"/>
              </a:rPr>
              <a:t> có phần mở rộng .ico cho dòng, hình tròn và hình chữ nhật.</a:t>
            </a:r>
            <a:endParaRPr lang="en-US" sz="3200">
              <a:latin typeface="+mj-lt"/>
            </a:endParaRPr>
          </a:p>
          <a:p>
            <a:pPr marL="0" indent="0" algn="just">
              <a:buNone/>
            </a:pPr>
            <a:r>
              <a:rPr lang="vi-VN" sz="3200">
                <a:latin typeface="+mj-lt"/>
              </a:rPr>
              <a:t>5. Để thêm các công cụ vào thanh công cụ, hãy tạo một hành động trong hộp </a:t>
            </a:r>
            <a:r>
              <a:rPr lang="vi-VN" sz="3200" b="1">
                <a:latin typeface="+mj-lt"/>
              </a:rPr>
              <a:t>Action Editor</a:t>
            </a:r>
            <a:r>
              <a:rPr lang="vi-VN" sz="3200">
                <a:latin typeface="+mj-lt"/>
              </a:rPr>
              <a:t>; mỗi nút thanh công cụ trong toolbar được thể hiện bằng một hành động. Hộp </a:t>
            </a:r>
            <a:r>
              <a:rPr lang="vi-VN" sz="3200" b="1">
                <a:latin typeface="+mj-lt"/>
              </a:rPr>
              <a:t>Action Editor </a:t>
            </a:r>
            <a:r>
              <a:rPr lang="vi-VN" sz="3200">
                <a:latin typeface="+mj-lt"/>
              </a:rPr>
              <a:t>thường được tìm thấy bên dưới cửa sổ Property Editor.</a:t>
            </a:r>
            <a:endParaRPr lang="en-US" sz="3200">
              <a:latin typeface="+mj-lt"/>
            </a:endParaRPr>
          </a:p>
        </p:txBody>
      </p:sp>
    </p:spTree>
    <p:extLst>
      <p:ext uri="{BB962C8B-B14F-4D97-AF65-F5344CB8AC3E}">
        <p14:creationId xmlns:p14="http://schemas.microsoft.com/office/powerpoint/2010/main" val="1083133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6. Nếu cửa sổ Action Editor không hiển thị, hãy chọn Action Editor từ menu View. Cửa sổ Action Editor xuất hiện như được hiển thị ở đây:</a:t>
            </a: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7. Trong cửa sổ Action Editor, chọn </a:t>
            </a:r>
            <a:r>
              <a:rPr lang="vi-VN" sz="3200" b="1">
                <a:latin typeface="+mj-lt"/>
              </a:rPr>
              <a:t>New button </a:t>
            </a:r>
            <a:r>
              <a:rPr lang="vi-VN" sz="3200">
                <a:latin typeface="+mj-lt"/>
              </a:rPr>
              <a:t>để tạo hành động cho nút thanh công cụ đầu tiên. Bạn nhận được hộp thoại để nhập thông tin chi tiết cho hành động mới.</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FA031C03-3A2B-458E-9CE5-49F0FB9CF77D}"/>
              </a:ext>
            </a:extLst>
          </p:cNvPr>
          <p:cNvPicPr>
            <a:picLocks noChangeAspect="1"/>
          </p:cNvPicPr>
          <p:nvPr/>
        </p:nvPicPr>
        <p:blipFill rotWithShape="1">
          <a:blip r:embed="rId2">
            <a:extLst>
              <a:ext uri="{28A0092B-C50C-407E-A947-70E740481C1C}">
                <a14:useLocalDpi xmlns:a14="http://schemas.microsoft.com/office/drawing/2010/main" val="0"/>
              </a:ext>
            </a:extLst>
          </a:blip>
          <a:srcRect l="28030" t="40853" r="29546" b="25374"/>
          <a:stretch/>
        </p:blipFill>
        <p:spPr>
          <a:xfrm>
            <a:off x="1039091" y="2466108"/>
            <a:ext cx="6553200" cy="2008909"/>
          </a:xfrm>
          <a:prstGeom prst="rect">
            <a:avLst/>
          </a:prstGeom>
        </p:spPr>
      </p:pic>
    </p:spTree>
    <p:extLst>
      <p:ext uri="{BB962C8B-B14F-4D97-AF65-F5344CB8AC3E}">
        <p14:creationId xmlns:p14="http://schemas.microsoft.com/office/powerpoint/2010/main" val="38858585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8. Trong hộp Text, chỉ định tên của hành động Circle.</a:t>
            </a:r>
            <a:endParaRPr lang="en-US" sz="3200">
              <a:latin typeface="+mj-lt"/>
            </a:endParaRPr>
          </a:p>
          <a:p>
            <a:pPr marL="0" indent="0" algn="just">
              <a:buNone/>
            </a:pPr>
            <a:r>
              <a:rPr lang="vi-VN" sz="3200">
                <a:latin typeface="+mj-lt"/>
              </a:rPr>
              <a:t>9. Trong hộp Object name, tên của đối tượng hành động sẽ tự động xuất hiện, được thêm tiền tố với hành động văn bản.</a:t>
            </a:r>
            <a:endParaRPr lang="en-US" sz="3200">
              <a:latin typeface="+mj-lt"/>
            </a:endParaRPr>
          </a:p>
          <a:p>
            <a:pPr marL="0" indent="0" algn="just">
              <a:buNone/>
            </a:pPr>
            <a:r>
              <a:rPr lang="vi-VN" sz="3200">
                <a:latin typeface="+mj-lt"/>
              </a:rPr>
              <a:t>10. Trong hộp ToolTip, nhập bất kỳ văn bản mô tả nào.</a:t>
            </a:r>
            <a:endParaRPr lang="en-US" sz="3200">
              <a:latin typeface="+mj-lt"/>
            </a:endParaRPr>
          </a:p>
          <a:p>
            <a:pPr marL="0" indent="0" algn="just">
              <a:buNone/>
            </a:pPr>
            <a:r>
              <a:rPr lang="vi-VN" sz="3200">
                <a:latin typeface="+mj-lt"/>
              </a:rPr>
              <a:t>11. Trong hộp Shortcut, nhấn ký tự Ctrl + C để gán Ctrl + C làm phím tắt để vẽ vòng tròn.</a:t>
            </a:r>
            <a:br>
              <a:rPr lang="vi-VN" sz="3200">
                <a:latin typeface="+mj-lt"/>
              </a:rPr>
            </a:br>
            <a:r>
              <a:rPr lang="vi-VN" sz="3200">
                <a:latin typeface="+mj-lt"/>
              </a:rPr>
              <a:t>12. Danh sách thả xuống biểu tượng hiển thị hai tùy chọn, </a:t>
            </a:r>
            <a:r>
              <a:rPr lang="en-US" sz="3200" i="1">
                <a:latin typeface="Times New Roman" panose="02020603050405020304" pitchFamily="18" charset="0"/>
                <a:cs typeface="Times New Roman" panose="02020603050405020304" pitchFamily="18" charset="0"/>
              </a:rPr>
              <a:t>Choose Resource... và Choose File</a:t>
            </a:r>
            <a:r>
              <a:rPr lang="vi-VN" sz="3200">
                <a:latin typeface="+mj-lt"/>
              </a:rPr>
              <a:t>.</a:t>
            </a:r>
            <a:br>
              <a:rPr lang="vi-VN" sz="3200">
                <a:latin typeface="+mj-lt"/>
              </a:rPr>
            </a:br>
            <a:r>
              <a:rPr lang="vi-VN" sz="3200">
                <a:latin typeface="+mj-lt"/>
              </a:rPr>
              <a:t>13. Bạn có thể gán</a:t>
            </a:r>
            <a:r>
              <a:rPr lang="en-US" sz="3200">
                <a:latin typeface="+mj-lt"/>
              </a:rPr>
              <a:t> </a:t>
            </a:r>
            <a:r>
              <a:rPr lang="vi-VN" sz="3200">
                <a:latin typeface="+mj-lt"/>
              </a:rPr>
              <a:t>biểu tượng hình ảnh cho hành động bằng cách nhấp vào tùy chọn </a:t>
            </a:r>
            <a:r>
              <a:rPr lang="vi-VN" sz="3200" i="1">
                <a:latin typeface="+mj-lt"/>
              </a:rPr>
              <a:t>Choose File</a:t>
            </a:r>
            <a:r>
              <a:rPr lang="vi-VN" sz="3200">
                <a:latin typeface="+mj-lt"/>
              </a:rPr>
              <a:t>.... hoặc từ </a:t>
            </a:r>
            <a:r>
              <a:rPr lang="en-US" sz="3200">
                <a:latin typeface="Times New Roman" panose="02020603050405020304" pitchFamily="18" charset="0"/>
                <a:cs typeface="Times New Roman" panose="02020603050405020304" pitchFamily="18" charset="0"/>
              </a:rPr>
              <a:t>file</a:t>
            </a:r>
            <a:r>
              <a:rPr lang="vi-VN" sz="3200">
                <a:latin typeface="+mj-lt"/>
              </a:rPr>
              <a:t> tài nguyên:</a:t>
            </a:r>
            <a:endParaRPr lang="en-US" sz="3200">
              <a:latin typeface="+mj-lt"/>
            </a:endParaRPr>
          </a:p>
        </p:txBody>
      </p:sp>
    </p:spTree>
    <p:extLst>
      <p:ext uri="{BB962C8B-B14F-4D97-AF65-F5344CB8AC3E}">
        <p14:creationId xmlns:p14="http://schemas.microsoft.com/office/powerpoint/2010/main" val="592233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14. Chọn tùy chọn </a:t>
            </a:r>
            <a:r>
              <a:rPr lang="en-US" sz="3200" b="1">
                <a:latin typeface="+mj-lt"/>
              </a:rPr>
              <a:t>Choose Resource</a:t>
            </a:r>
            <a:r>
              <a:rPr lang="vi-VN" sz="3200">
                <a:latin typeface="+mj-lt"/>
              </a:rPr>
              <a:t>.... Bạn nhận được hộp thoại </a:t>
            </a:r>
            <a:r>
              <a:rPr lang="en-US" sz="3200" b="1">
                <a:latin typeface="+mj-lt"/>
              </a:rPr>
              <a:t>Choose Resource</a:t>
            </a:r>
            <a:r>
              <a:rPr lang="vi-VN" sz="3200">
                <a:latin typeface="+mj-lt"/>
              </a:rPr>
              <a:t> như trong hình sau:</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F8A86C61-EE3F-4AEF-8AAE-54969B2348B8}"/>
              </a:ext>
            </a:extLst>
          </p:cNvPr>
          <p:cNvPicPr>
            <a:picLocks noChangeAspect="1"/>
          </p:cNvPicPr>
          <p:nvPr/>
        </p:nvPicPr>
        <p:blipFill rotWithShape="1">
          <a:blip r:embed="rId2">
            <a:extLst>
              <a:ext uri="{28A0092B-C50C-407E-A947-70E740481C1C}">
                <a14:useLocalDpi xmlns:a14="http://schemas.microsoft.com/office/drawing/2010/main" val="0"/>
              </a:ext>
            </a:extLst>
          </a:blip>
          <a:srcRect l="32879" t="35787" r="34091" b="12990"/>
          <a:stretch/>
        </p:blipFill>
        <p:spPr>
          <a:xfrm>
            <a:off x="1856509" y="1163781"/>
            <a:ext cx="5403273" cy="2701637"/>
          </a:xfrm>
          <a:prstGeom prst="rect">
            <a:avLst/>
          </a:prstGeom>
        </p:spPr>
      </p:pic>
      <p:pic>
        <p:nvPicPr>
          <p:cNvPr id="7" name="Picture 6" descr="sách Qt5-Python-GUI-Programming-Cookbook.pdf - Adobe Acrobat Reader DC">
            <a:extLst>
              <a:ext uri="{FF2B5EF4-FFF2-40B4-BE49-F238E27FC236}">
                <a16:creationId xmlns:a16="http://schemas.microsoft.com/office/drawing/2014/main" id="{4701730B-467A-4118-9812-0B0CFDB0C0A6}"/>
              </a:ext>
            </a:extLst>
          </p:cNvPr>
          <p:cNvPicPr>
            <a:picLocks noChangeAspect="1"/>
          </p:cNvPicPr>
          <p:nvPr/>
        </p:nvPicPr>
        <p:blipFill rotWithShape="1">
          <a:blip r:embed="rId3">
            <a:extLst>
              <a:ext uri="{28A0092B-C50C-407E-A947-70E740481C1C}">
                <a14:useLocalDpi xmlns:a14="http://schemas.microsoft.com/office/drawing/2010/main" val="0"/>
              </a:ext>
            </a:extLst>
          </a:blip>
          <a:srcRect l="30758" t="37476" r="32424" b="21433"/>
          <a:stretch/>
        </p:blipFill>
        <p:spPr>
          <a:xfrm>
            <a:off x="1856509" y="4806994"/>
            <a:ext cx="5583382" cy="2022763"/>
          </a:xfrm>
          <a:prstGeom prst="rect">
            <a:avLst/>
          </a:prstGeom>
        </p:spPr>
      </p:pic>
    </p:spTree>
    <p:extLst>
      <p:ext uri="{BB962C8B-B14F-4D97-AF65-F5344CB8AC3E}">
        <p14:creationId xmlns:p14="http://schemas.microsoft.com/office/powerpoint/2010/main" val="634394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Vì chưa có tài nguyên nào được tạo nên hộp thoại trống. Bạn thấy hai biểu tượng ở trên cùng. Biểu tượng đầu tiên đại diện cho tài nguyên chỉnh sửa</a:t>
            </a:r>
            <a:r>
              <a:rPr lang="en-US" sz="3200">
                <a:latin typeface="+mj-lt"/>
              </a:rPr>
              <a:t> </a:t>
            </a:r>
            <a:r>
              <a:rPr lang="en-US" sz="3200">
                <a:latin typeface="Times New Roman" panose="02020603050405020304" pitchFamily="18" charset="0"/>
                <a:cs typeface="Times New Roman" panose="02020603050405020304" pitchFamily="18" charset="0"/>
              </a:rPr>
              <a:t>(Edit Resources)</a:t>
            </a:r>
            <a:r>
              <a:rPr lang="vi-VN" sz="3200">
                <a:latin typeface="Times New Roman" panose="02020603050405020304" pitchFamily="18" charset="0"/>
                <a:cs typeface="Times New Roman" panose="02020603050405020304" pitchFamily="18" charset="0"/>
              </a:rPr>
              <a:t> </a:t>
            </a:r>
            <a:r>
              <a:rPr lang="vi-VN" sz="3200">
                <a:latin typeface="+mj-lt"/>
              </a:rPr>
              <a:t>và biểu tượng thứ hai đại diện cho tải lại</a:t>
            </a:r>
            <a:r>
              <a:rPr lang="en-US" sz="3200">
                <a:latin typeface="+mj-lt"/>
              </a:rPr>
              <a:t> </a:t>
            </a:r>
            <a:r>
              <a:rPr lang="en-US" sz="3200">
                <a:latin typeface="Times New Roman" panose="02020603050405020304" pitchFamily="18" charset="0"/>
                <a:cs typeface="Times New Roman" panose="02020603050405020304" pitchFamily="18" charset="0"/>
              </a:rPr>
              <a:t>(Reload)</a:t>
            </a:r>
            <a:r>
              <a:rPr lang="vi-VN" sz="3200">
                <a:latin typeface="+mj-lt"/>
              </a:rPr>
              <a:t>. Khi nhấp vào biểu tượng chỉnh sửa tài nguyên, bạn nhận được hộp thoại hiển thị ở đây:</a:t>
            </a: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p:txBody>
      </p:sp>
      <p:pic>
        <p:nvPicPr>
          <p:cNvPr id="5" name="Picture 4" descr="sách Qt5-Python-GUI-Programming-Cookbook.pdf - Adobe Acrobat Reader DC">
            <a:extLst>
              <a:ext uri="{FF2B5EF4-FFF2-40B4-BE49-F238E27FC236}">
                <a16:creationId xmlns:a16="http://schemas.microsoft.com/office/drawing/2014/main" id="{077E1784-D3D3-4DF0-9B31-A8DD7FCEB378}"/>
              </a:ext>
            </a:extLst>
          </p:cNvPr>
          <p:cNvPicPr>
            <a:picLocks noChangeAspect="1"/>
          </p:cNvPicPr>
          <p:nvPr/>
        </p:nvPicPr>
        <p:blipFill rotWithShape="1">
          <a:blip r:embed="rId2">
            <a:extLst>
              <a:ext uri="{28A0092B-C50C-407E-A947-70E740481C1C}">
                <a14:useLocalDpi xmlns:a14="http://schemas.microsoft.com/office/drawing/2010/main" val="0"/>
              </a:ext>
            </a:extLst>
          </a:blip>
          <a:srcRect l="31818" t="36350" r="33485"/>
          <a:stretch/>
        </p:blipFill>
        <p:spPr>
          <a:xfrm>
            <a:off x="2985654" y="3754581"/>
            <a:ext cx="3172691" cy="2884379"/>
          </a:xfrm>
          <a:prstGeom prst="rect">
            <a:avLst/>
          </a:prstGeom>
        </p:spPr>
      </p:pic>
    </p:spTree>
    <p:extLst>
      <p:ext uri="{BB962C8B-B14F-4D97-AF65-F5344CB8AC3E}">
        <p14:creationId xmlns:p14="http://schemas.microsoft.com/office/powerpoint/2010/main" val="17710151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Bây giờ hãy xem cách chúng t</a:t>
            </a:r>
            <a:r>
              <a:rPr lang="en-US" sz="3200">
                <a:latin typeface="Times New Roman" panose="02020603050405020304" pitchFamily="18" charset="0"/>
                <a:cs typeface="Times New Roman" panose="02020603050405020304" pitchFamily="18" charset="0"/>
              </a:rPr>
              <a:t>a</a:t>
            </a:r>
            <a:r>
              <a:rPr lang="vi-VN" sz="3200">
                <a:latin typeface="+mj-lt"/>
              </a:rPr>
              <a:t> có thể tạo </a:t>
            </a:r>
            <a:r>
              <a:rPr lang="en-US" sz="3200">
                <a:latin typeface="Times New Roman" panose="02020603050405020304" pitchFamily="18" charset="0"/>
                <a:cs typeface="Times New Roman" panose="02020603050405020304" pitchFamily="18" charset="0"/>
              </a:rPr>
              <a:t>file</a:t>
            </a:r>
            <a:r>
              <a:rPr lang="vi-VN" sz="3200">
                <a:latin typeface="+mj-lt"/>
              </a:rPr>
              <a:t> tài nguyên bằng cách thực hiện các bước sau:</a:t>
            </a:r>
            <a:endParaRPr lang="en-US" sz="3200">
              <a:latin typeface="+mj-lt"/>
            </a:endParaRPr>
          </a:p>
          <a:p>
            <a:pPr marL="514350" indent="-514350" algn="just">
              <a:buAutoNum type="arabicPeriod"/>
            </a:pPr>
            <a:r>
              <a:rPr lang="vi-VN" sz="3200">
                <a:latin typeface="+mj-lt"/>
              </a:rPr>
              <a:t>Bước đầu tiên là tạo file tài nguyên hoặc tải file tài nguyên hiện có. Ba biểu tượng đầu tiên ở phía dưới đại diện cho </a:t>
            </a:r>
            <a:r>
              <a:rPr lang="vi-VN" sz="3200" b="1" i="1">
                <a:latin typeface="+mj-lt"/>
              </a:rPr>
              <a:t>file New Resource, Edit Resource </a:t>
            </a:r>
            <a:r>
              <a:rPr lang="en-US" sz="3200" b="1" i="1">
                <a:latin typeface="Times New Roman" panose="02020603050405020304" pitchFamily="18" charset="0"/>
                <a:cs typeface="Times New Roman" panose="02020603050405020304" pitchFamily="18" charset="0"/>
              </a:rPr>
              <a:t>file </a:t>
            </a:r>
            <a:r>
              <a:rPr lang="vi-VN" sz="3200" b="1" i="1">
                <a:latin typeface="+mj-lt"/>
              </a:rPr>
              <a:t>và Remove.</a:t>
            </a:r>
            <a:endParaRPr lang="en-US" sz="3200" b="1" i="1">
              <a:latin typeface="+mj-lt"/>
            </a:endParaRPr>
          </a:p>
          <a:p>
            <a:pPr marL="514350" indent="-514350" algn="just">
              <a:buAutoNum type="arabicPeriod"/>
            </a:pPr>
            <a:r>
              <a:rPr lang="vi-VN" sz="3200">
                <a:latin typeface="+mj-lt"/>
              </a:rPr>
              <a:t>Nhấp vào biểu tượng file New Resource. Bạn sẽ được nhắc chỉ định tên của </a:t>
            </a:r>
            <a:r>
              <a:rPr lang="en-US" sz="3200">
                <a:latin typeface="Times New Roman" panose="02020603050405020304" pitchFamily="18" charset="0"/>
                <a:cs typeface="Times New Roman" panose="02020603050405020304" pitchFamily="18" charset="0"/>
              </a:rPr>
              <a:t>file</a:t>
            </a:r>
            <a:r>
              <a:rPr lang="vi-VN" sz="3200">
                <a:latin typeface="+mj-lt"/>
              </a:rPr>
              <a:t> tài nguyên.</a:t>
            </a:r>
            <a:endParaRPr lang="en-US" sz="3200">
              <a:latin typeface="+mj-lt"/>
            </a:endParaRPr>
          </a:p>
          <a:p>
            <a:pPr marL="514350" indent="-514350" algn="just">
              <a:buAutoNum type="arabicPeriod"/>
            </a:pPr>
            <a:r>
              <a:rPr lang="vi-VN" sz="3200">
                <a:latin typeface="+mj-lt"/>
              </a:rPr>
              <a:t> Hãy đặt tên cho biểu tượng file New Resource. Các tập tin sẽ được lưu với phần mở rộng .qrc.</a:t>
            </a:r>
            <a:endParaRPr lang="en-US" sz="3200">
              <a:latin typeface="+mj-lt"/>
            </a:endParaRPr>
          </a:p>
        </p:txBody>
      </p:sp>
    </p:spTree>
    <p:extLst>
      <p:ext uri="{BB962C8B-B14F-4D97-AF65-F5344CB8AC3E}">
        <p14:creationId xmlns:p14="http://schemas.microsoft.com/office/powerpoint/2010/main" val="36547432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4. Bước tiếp theo là thêm tiền tố vào </a:t>
            </a:r>
            <a:r>
              <a:rPr lang="en-US" sz="3200">
                <a:latin typeface="Times New Roman" panose="02020603050405020304" pitchFamily="18" charset="0"/>
                <a:cs typeface="Times New Roman" panose="02020603050405020304" pitchFamily="18" charset="0"/>
              </a:rPr>
              <a:t>file</a:t>
            </a:r>
            <a:r>
              <a:rPr lang="vi-VN" sz="3200">
                <a:latin typeface="+mj-lt"/>
              </a:rPr>
              <a:t> tài nguyên. Ba biểu tượng bên dưới </a:t>
            </a:r>
            <a:r>
              <a:rPr lang="en-US" sz="3200" b="1">
                <a:latin typeface="Times New Roman" panose="02020603050405020304" pitchFamily="18" charset="0"/>
                <a:cs typeface="Times New Roman" panose="02020603050405020304" pitchFamily="18" charset="0"/>
              </a:rPr>
              <a:t>Prefix / Path </a:t>
            </a:r>
            <a:r>
              <a:rPr lang="vi-VN" sz="3200">
                <a:latin typeface="+mj-lt"/>
              </a:rPr>
              <a:t>là </a:t>
            </a:r>
            <a:r>
              <a:rPr lang="en-US" sz="3200" i="1">
                <a:latin typeface="Times New Roman" panose="02020603050405020304" pitchFamily="18" charset="0"/>
                <a:cs typeface="Times New Roman" panose="02020603050405020304" pitchFamily="18" charset="0"/>
              </a:rPr>
              <a:t>Add Prefix, Add Files, và Remove</a:t>
            </a:r>
            <a:r>
              <a:rPr lang="vi-VN" sz="3200" i="1">
                <a:latin typeface="Times New Roman" panose="02020603050405020304" pitchFamily="18" charset="0"/>
                <a:cs typeface="Times New Roman" panose="02020603050405020304" pitchFamily="18" charset="0"/>
              </a:rPr>
              <a:t>.</a:t>
            </a:r>
            <a:endParaRPr lang="en-US" sz="3200" i="1">
              <a:latin typeface="Times New Roman" panose="02020603050405020304" pitchFamily="18" charset="0"/>
              <a:cs typeface="Times New Roman" panose="02020603050405020304" pitchFamily="18" charset="0"/>
            </a:endParaRPr>
          </a:p>
          <a:p>
            <a:pPr marL="0" indent="0" algn="just">
              <a:buNone/>
            </a:pPr>
            <a:r>
              <a:rPr lang="vi-VN" sz="3200">
                <a:latin typeface="+mj-lt"/>
              </a:rPr>
              <a:t>5. Nhấp vào tùy chọn </a:t>
            </a:r>
            <a:r>
              <a:rPr lang="en-US" sz="3200" i="1">
                <a:latin typeface="Times New Roman" panose="02020603050405020304" pitchFamily="18" charset="0"/>
                <a:cs typeface="Times New Roman" panose="02020603050405020304" pitchFamily="18" charset="0"/>
              </a:rPr>
              <a:t>Add Prefix </a:t>
            </a:r>
            <a:r>
              <a:rPr lang="vi-VN" sz="3200">
                <a:latin typeface="+mj-lt"/>
              </a:rPr>
              <a:t>và bạn sẽ được nhắc nhập tên tiền tố.</a:t>
            </a:r>
            <a:endParaRPr lang="en-US" sz="3200">
              <a:latin typeface="+mj-lt"/>
            </a:endParaRPr>
          </a:p>
          <a:p>
            <a:pPr marL="0" indent="0" algn="just">
              <a:buNone/>
            </a:pPr>
            <a:r>
              <a:rPr lang="vi-VN" sz="3200">
                <a:latin typeface="+mj-lt"/>
              </a:rPr>
              <a:t>6. Nhập tiền tố dưới dạng đồ họa. Sau khi thêm tiền tố, chúng tôi sẵn sàng thêm ba biểu tượng, hình tròn, hình chữ nhật và đường thẳng vào </a:t>
            </a:r>
            <a:r>
              <a:rPr lang="en-US" sz="3200">
                <a:latin typeface="Times New Roman" panose="02020603050405020304" pitchFamily="18" charset="0"/>
                <a:cs typeface="Times New Roman" panose="02020603050405020304" pitchFamily="18" charset="0"/>
              </a:rPr>
              <a:t>file</a:t>
            </a:r>
            <a:r>
              <a:rPr lang="vi-VN" sz="3200">
                <a:latin typeface="+mj-lt"/>
              </a:rPr>
              <a:t> tài nguyên. Hãy nhớ rằng chúng t</a:t>
            </a:r>
            <a:r>
              <a:rPr lang="en-US" sz="3200">
                <a:latin typeface="Times New Roman" panose="02020603050405020304" pitchFamily="18" charset="0"/>
                <a:cs typeface="Times New Roman" panose="02020603050405020304" pitchFamily="18" charset="0"/>
              </a:rPr>
              <a:t>a</a:t>
            </a:r>
            <a:r>
              <a:rPr lang="vi-VN" sz="3200">
                <a:latin typeface="+mj-lt"/>
              </a:rPr>
              <a:t> có ba </a:t>
            </a:r>
            <a:r>
              <a:rPr lang="en-US" sz="3200">
                <a:latin typeface="Times New Roman" panose="02020603050405020304" pitchFamily="18" charset="0"/>
                <a:cs typeface="Times New Roman" panose="02020603050405020304" pitchFamily="18" charset="0"/>
              </a:rPr>
              <a:t>file</a:t>
            </a:r>
            <a:r>
              <a:rPr lang="vi-VN" sz="3200">
                <a:latin typeface="+mj-lt"/>
              </a:rPr>
              <a:t> biểu tượng với phần mở rộng .ico.</a:t>
            </a:r>
            <a:endParaRPr lang="en-US" sz="3200">
              <a:latin typeface="+mj-lt"/>
            </a:endParaRPr>
          </a:p>
        </p:txBody>
      </p:sp>
    </p:spTree>
    <p:extLst>
      <p:ext uri="{BB962C8B-B14F-4D97-AF65-F5344CB8AC3E}">
        <p14:creationId xmlns:p14="http://schemas.microsoft.com/office/powerpoint/2010/main" val="3789005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7. Nhấp vào tùy chọn Add Files để thêm biểu tượng. Khi nhấp vào tùy chọn Add Files, bạn sẽ được yêu cầu duyệt đến ổ đĩa / thư mục và chọn </a:t>
            </a:r>
            <a:r>
              <a:rPr lang="en-US" sz="3200">
                <a:latin typeface="Times New Roman" panose="02020603050405020304" pitchFamily="18" charset="0"/>
                <a:cs typeface="Times New Roman" panose="02020603050405020304" pitchFamily="18" charset="0"/>
              </a:rPr>
              <a:t>file</a:t>
            </a:r>
            <a:r>
              <a:rPr lang="vi-VN" sz="3200">
                <a:latin typeface="+mj-lt"/>
              </a:rPr>
              <a:t> biểu tượng.</a:t>
            </a:r>
            <a:br>
              <a:rPr lang="vi-VN" sz="3200">
                <a:latin typeface="+mj-lt"/>
              </a:rPr>
            </a:br>
            <a:r>
              <a:rPr lang="vi-VN" sz="3200">
                <a:latin typeface="+mj-lt"/>
              </a:rPr>
              <a:t>8. Chọn ba </a:t>
            </a:r>
            <a:r>
              <a:rPr lang="en-US" sz="3200">
                <a:latin typeface="Times New Roman" panose="02020603050405020304" pitchFamily="18" charset="0"/>
                <a:cs typeface="Times New Roman" panose="02020603050405020304" pitchFamily="18" charset="0"/>
              </a:rPr>
              <a:t>file</a:t>
            </a:r>
            <a:r>
              <a:rPr lang="vi-VN" sz="3200">
                <a:latin typeface="+mj-lt"/>
              </a:rPr>
              <a:t> biểu tượng lần lượt. Sau khi thêm ba biểu tượng, hộp thoại chỉnh sửa tài nguyên xuất hiện như được hiển thị ở đây:</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1FE5CA5B-5F51-426F-B673-29767ABD8C09}"/>
              </a:ext>
            </a:extLst>
          </p:cNvPr>
          <p:cNvPicPr>
            <a:picLocks noChangeAspect="1"/>
          </p:cNvPicPr>
          <p:nvPr/>
        </p:nvPicPr>
        <p:blipFill rotWithShape="1">
          <a:blip r:embed="rId2">
            <a:extLst>
              <a:ext uri="{28A0092B-C50C-407E-A947-70E740481C1C}">
                <a14:useLocalDpi xmlns:a14="http://schemas.microsoft.com/office/drawing/2010/main" val="0"/>
              </a:ext>
            </a:extLst>
          </a:blip>
          <a:srcRect l="30454" t="32409" r="30910" b="14961"/>
          <a:stretch/>
        </p:blipFill>
        <p:spPr>
          <a:xfrm>
            <a:off x="4350327" y="3602181"/>
            <a:ext cx="4378037" cy="3036779"/>
          </a:xfrm>
          <a:prstGeom prst="rect">
            <a:avLst/>
          </a:prstGeom>
        </p:spPr>
      </p:pic>
    </p:spTree>
    <p:extLst>
      <p:ext uri="{BB962C8B-B14F-4D97-AF65-F5344CB8AC3E}">
        <p14:creationId xmlns:p14="http://schemas.microsoft.com/office/powerpoint/2010/main" val="3777587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9. Khi nhấp vào nút OK, </a:t>
            </a:r>
            <a:r>
              <a:rPr lang="en-US" sz="3200">
                <a:latin typeface="Times New Roman" panose="02020603050405020304" pitchFamily="18" charset="0"/>
                <a:cs typeface="Times New Roman" panose="02020603050405020304" pitchFamily="18" charset="0"/>
              </a:rPr>
              <a:t>file</a:t>
            </a:r>
            <a:r>
              <a:rPr lang="vi-VN" sz="3200">
                <a:latin typeface="+mj-lt"/>
              </a:rPr>
              <a:t> tài nguyên sẽ xuất hiện, hiển thị ba biểu tượng để chọn.</a:t>
            </a:r>
            <a:endParaRPr lang="en-US" sz="3200">
              <a:latin typeface="+mj-lt"/>
            </a:endParaRPr>
          </a:p>
          <a:p>
            <a:pPr marL="0" indent="0" algn="just">
              <a:buNone/>
            </a:pPr>
            <a:r>
              <a:rPr lang="vi-VN" sz="3200">
                <a:latin typeface="+mj-lt"/>
              </a:rPr>
              <a:t>10. Vì chúng t</a:t>
            </a:r>
            <a:r>
              <a:rPr lang="en-US" sz="3200">
                <a:latin typeface="Times New Roman" panose="02020603050405020304" pitchFamily="18" charset="0"/>
                <a:cs typeface="Times New Roman" panose="02020603050405020304" pitchFamily="18" charset="0"/>
              </a:rPr>
              <a:t>a</a:t>
            </a:r>
            <a:r>
              <a:rPr lang="vi-VN" sz="3200">
                <a:latin typeface="+mj-lt"/>
              </a:rPr>
              <a:t> muốn chỉ định một biểu tượng cho hành động vòng tròn, hãy nhấp vào biểu tượng vòng tròn, sau đó nhấp vào nút OK:</a:t>
            </a:r>
            <a:endParaRPr lang="en-US" sz="3200">
              <a:latin typeface="+mj-lt"/>
            </a:endParaRPr>
          </a:p>
        </p:txBody>
      </p:sp>
      <p:pic>
        <p:nvPicPr>
          <p:cNvPr id="5" name="Picture 4" descr="sách Qt5-Python-GUI-Programming-Cookbook.pdf - Adobe Acrobat Reader DC">
            <a:extLst>
              <a:ext uri="{FF2B5EF4-FFF2-40B4-BE49-F238E27FC236}">
                <a16:creationId xmlns:a16="http://schemas.microsoft.com/office/drawing/2014/main" id="{3F9DD7F1-601A-452A-BBFE-7A49D80AF2E4}"/>
              </a:ext>
            </a:extLst>
          </p:cNvPr>
          <p:cNvPicPr>
            <a:picLocks noChangeAspect="1"/>
          </p:cNvPicPr>
          <p:nvPr/>
        </p:nvPicPr>
        <p:blipFill rotWithShape="1">
          <a:blip r:embed="rId2">
            <a:extLst>
              <a:ext uri="{28A0092B-C50C-407E-A947-70E740481C1C}">
                <a14:useLocalDpi xmlns:a14="http://schemas.microsoft.com/office/drawing/2010/main" val="0"/>
              </a:ext>
            </a:extLst>
          </a:blip>
          <a:srcRect l="27727" t="47609" r="29091" b="3983"/>
          <a:stretch/>
        </p:blipFill>
        <p:spPr>
          <a:xfrm>
            <a:off x="1468583" y="3429000"/>
            <a:ext cx="5846618" cy="2971800"/>
          </a:xfrm>
          <a:prstGeom prst="rect">
            <a:avLst/>
          </a:prstGeom>
        </p:spPr>
      </p:pic>
    </p:spTree>
    <p:extLst>
      <p:ext uri="{BB962C8B-B14F-4D97-AF65-F5344CB8AC3E}">
        <p14:creationId xmlns:p14="http://schemas.microsoft.com/office/powerpoint/2010/main" val="1579123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11. Tương tự, tạo thêm hai hành động </a:t>
            </a:r>
            <a:r>
              <a:rPr lang="vi-VN" sz="3200" i="1">
                <a:latin typeface="+mj-lt"/>
              </a:rPr>
              <a:t>actionRectangle </a:t>
            </a:r>
            <a:r>
              <a:rPr lang="en-US" sz="3200" i="1">
                <a:latin typeface="Times New Roman" panose="02020603050405020304" pitchFamily="18" charset="0"/>
                <a:cs typeface="Times New Roman" panose="02020603050405020304" pitchFamily="18" charset="0"/>
              </a:rPr>
              <a:t>và</a:t>
            </a:r>
            <a:r>
              <a:rPr lang="vi-VN" sz="3200" i="1">
                <a:latin typeface="+mj-lt"/>
              </a:rPr>
              <a:t> actionLine</a:t>
            </a:r>
            <a:r>
              <a:rPr lang="vi-VN" sz="3200">
                <a:latin typeface="+mj-lt"/>
              </a:rPr>
              <a:t>, cho các nút thanh công cụ hình chữ nhật và đường thẳng. Sau khi thêm ba hành động, cửa sổ Action Editor sẽ xuất hiện như được hiển thị ở đây:</a:t>
            </a: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12. Để hiển thị các nút thanh công cụ trên toolbar, hãy nhấp vào một hành động từ cửa sổ Action Editor và giữ cho nó được nhấn, kéo nó vào thanh công cụ.</a:t>
            </a:r>
            <a:br>
              <a:rPr lang="vi-VN" sz="3200">
                <a:latin typeface="+mj-lt"/>
              </a:rPr>
            </a:br>
            <a:r>
              <a:rPr lang="vi-VN" sz="3200">
                <a:latin typeface="+mj-lt"/>
              </a:rPr>
              <a:t>13. Lưu ứng dụng với tên demoToolBars.ui.</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318E7F3E-767F-42A4-A1A9-1BAD6A6D827D}"/>
              </a:ext>
            </a:extLst>
          </p:cNvPr>
          <p:cNvPicPr>
            <a:picLocks noChangeAspect="1"/>
          </p:cNvPicPr>
          <p:nvPr/>
        </p:nvPicPr>
        <p:blipFill rotWithShape="1">
          <a:blip r:embed="rId2">
            <a:extLst>
              <a:ext uri="{28A0092B-C50C-407E-A947-70E740481C1C}">
                <a14:useLocalDpi xmlns:a14="http://schemas.microsoft.com/office/drawing/2010/main" val="0"/>
              </a:ext>
            </a:extLst>
          </a:blip>
          <a:srcRect l="27879" t="66184" r="29394" b="1450"/>
          <a:stretch/>
        </p:blipFill>
        <p:spPr>
          <a:xfrm>
            <a:off x="1773382" y="2881745"/>
            <a:ext cx="5888182" cy="1981200"/>
          </a:xfrm>
          <a:prstGeom prst="rect">
            <a:avLst/>
          </a:prstGeom>
        </p:spPr>
      </p:pic>
      <p:pic>
        <p:nvPicPr>
          <p:cNvPr id="8" name="Picture 7" descr="sách Qt5-Python-GUI-Programming-Cookbook.pdf - Adobe Acrobat Reader DC">
            <a:extLst>
              <a:ext uri="{FF2B5EF4-FFF2-40B4-BE49-F238E27FC236}">
                <a16:creationId xmlns:a16="http://schemas.microsoft.com/office/drawing/2014/main" id="{71C0D30D-C387-4715-81CD-5C99B4799851}"/>
              </a:ext>
            </a:extLst>
          </p:cNvPr>
          <p:cNvPicPr>
            <a:picLocks noChangeAspect="1"/>
          </p:cNvPicPr>
          <p:nvPr/>
        </p:nvPicPr>
        <p:blipFill rotWithShape="1">
          <a:blip r:embed="rId3">
            <a:extLst>
              <a:ext uri="{28A0092B-C50C-407E-A947-70E740481C1C}">
                <a14:useLocalDpi xmlns:a14="http://schemas.microsoft.com/office/drawing/2010/main" val="0"/>
              </a:ext>
            </a:extLst>
          </a:blip>
          <a:srcRect l="27273" t="20871" r="28788" b="18900"/>
          <a:stretch/>
        </p:blipFill>
        <p:spPr>
          <a:xfrm>
            <a:off x="4582376" y="3864885"/>
            <a:ext cx="4017818" cy="2964872"/>
          </a:xfrm>
          <a:prstGeom prst="rect">
            <a:avLst/>
          </a:prstGeom>
        </p:spPr>
      </p:pic>
    </p:spTree>
    <p:extLst>
      <p:ext uri="{BB962C8B-B14F-4D97-AF65-F5344CB8AC3E}">
        <p14:creationId xmlns:p14="http://schemas.microsoft.com/office/powerpoint/2010/main" val="416579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4BAB635-EF3A-4FD4-9E3E-91B56F338525}"/>
              </a:ext>
            </a:extLst>
          </p:cNvPr>
          <p:cNvSpPr>
            <a:spLocks noGrp="1"/>
          </p:cNvSpPr>
          <p:nvPr>
            <p:ph idx="1"/>
          </p:nvPr>
        </p:nvSpPr>
        <p:spPr>
          <a:xfrm>
            <a:off x="22259" y="1163782"/>
            <a:ext cx="9102490" cy="5665975"/>
          </a:xfrm>
        </p:spPr>
        <p:txBody>
          <a:bodyPr>
            <a:noAutofit/>
          </a:bodyPr>
          <a:lstStyle/>
          <a:p>
            <a:pPr marL="0" indent="0" algn="just">
              <a:buNone/>
            </a:pPr>
            <a:r>
              <a:rPr lang="vi-VN" sz="3200">
                <a:latin typeface="+mj-lt"/>
              </a:rPr>
              <a:t>Tiện ích dòng lệnh pyuic5 sẽ chuyển đổi file .ui (XML) thành code Python và code được tạo sẽ được đặt tên là demoToolBars.py. File iconresource.qrc mà chúng tôi đã tạo phải được chuyển đổi sang định dạng Python. Dòng lệnh sau sẽ chuyển đổi file tài nguyên thành tập lệnh Python:</a:t>
            </a:r>
            <a:endParaRPr lang="en-US" sz="3200">
              <a:latin typeface="+mj-lt"/>
            </a:endParaRPr>
          </a:p>
          <a:p>
            <a:pPr marL="0" indent="0" algn="ctr">
              <a:buNone/>
            </a:pPr>
            <a:r>
              <a:rPr lang="en-US" b="1">
                <a:latin typeface="Times New Roman" panose="02020603050405020304" pitchFamily="18" charset="0"/>
                <a:cs typeface="Times New Roman" panose="02020603050405020304" pitchFamily="18" charset="0"/>
              </a:rPr>
              <a:t>pyrcc5 iconresource.qrc -o iconresource_rc.py</a:t>
            </a:r>
          </a:p>
          <a:p>
            <a:pPr marL="0" indent="0" algn="just">
              <a:buNone/>
            </a:pPr>
            <a:r>
              <a:rPr lang="vi-VN" sz="3200">
                <a:latin typeface="+mj-lt"/>
              </a:rPr>
              <a:t>14. Tạo tập lệnh Python có tên callToolBars.pyw để nhập code demoToolBar.py, để gọi thanh công cụ và vẽ đồ họa có nút thanh công cụ được chọn từ toolbar. Tệp script sẽ xuất hiện như sau:</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23971560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Adobe Acrobat Reader DC">
            <a:extLst>
              <a:ext uri="{FF2B5EF4-FFF2-40B4-BE49-F238E27FC236}">
                <a16:creationId xmlns:a16="http://schemas.microsoft.com/office/drawing/2014/main" id="{5AAFC3F1-E6D1-42FD-8563-5CCF4ACBC3F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175" t="18204" r="28252" b="14791"/>
          <a:stretch/>
        </p:blipFill>
        <p:spPr>
          <a:xfrm>
            <a:off x="471054" y="1246910"/>
            <a:ext cx="7952510" cy="5250872"/>
          </a:xfrm>
        </p:spPr>
      </p:pic>
    </p:spTree>
    <p:extLst>
      <p:ext uri="{BB962C8B-B14F-4D97-AF65-F5344CB8AC3E}">
        <p14:creationId xmlns:p14="http://schemas.microsoft.com/office/powerpoint/2010/main" val="14893230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B3408C6D-D42B-4274-A877-45D75FA9558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393" t="20227" r="28252" b="46694"/>
          <a:stretch/>
        </p:blipFill>
        <p:spPr>
          <a:xfrm>
            <a:off x="471055" y="1274617"/>
            <a:ext cx="7689272" cy="5153891"/>
          </a:xfrm>
        </p:spPr>
      </p:pic>
    </p:spTree>
    <p:extLst>
      <p:ext uri="{BB962C8B-B14F-4D97-AF65-F5344CB8AC3E}">
        <p14:creationId xmlns:p14="http://schemas.microsoft.com/office/powerpoint/2010/main" val="21624219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Tạo Một Thanh Công Cụ Hiển Thị Các Công Cụ Đồ Họa Khác Nhau</a:t>
            </a:r>
            <a:endParaRPr lang="en-US" dirty="0">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Adobe Acrobat Reader DC">
            <a:extLst>
              <a:ext uri="{FF2B5EF4-FFF2-40B4-BE49-F238E27FC236}">
                <a16:creationId xmlns:a16="http://schemas.microsoft.com/office/drawing/2014/main" id="{431A27DF-D3EA-46FF-91BB-4794CBF7D19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262" t="28992" r="34036" b="28317"/>
          <a:stretch/>
        </p:blipFill>
        <p:spPr>
          <a:xfrm>
            <a:off x="360218" y="1330036"/>
            <a:ext cx="7980217" cy="4876800"/>
          </a:xfrm>
        </p:spPr>
      </p:pic>
    </p:spTree>
    <p:extLst>
      <p:ext uri="{BB962C8B-B14F-4D97-AF65-F5344CB8AC3E}">
        <p14:creationId xmlns:p14="http://schemas.microsoft.com/office/powerpoint/2010/main" val="19671524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Đường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rmAutofit/>
          </a:bodyPr>
          <a:lstStyle/>
          <a:p>
            <a:pPr algn="just"/>
            <a:r>
              <a:rPr lang="en-US" sz="3200">
                <a:latin typeface="Times New Roman" panose="02020603050405020304" pitchFamily="18" charset="0"/>
                <a:cs typeface="Times New Roman" panose="02020603050405020304" pitchFamily="18" charset="0"/>
              </a:rPr>
              <a:t>T</a:t>
            </a:r>
            <a:r>
              <a:rPr lang="vi-VN" sz="3200">
                <a:latin typeface="Times New Roman" panose="02020603050405020304" pitchFamily="18" charset="0"/>
                <a:cs typeface="Times New Roman" panose="02020603050405020304" pitchFamily="18" charset="0"/>
              </a:rPr>
              <a:t>rong </a:t>
            </a:r>
            <a:r>
              <a:rPr lang="en-US" sz="3200">
                <a:latin typeface="Times New Roman" panose="02020603050405020304" pitchFamily="18" charset="0"/>
                <a:cs typeface="Times New Roman" panose="02020603050405020304" pitchFamily="18" charset="0"/>
              </a:rPr>
              <a:t>phần </a:t>
            </a:r>
            <a:r>
              <a:rPr lang="vi-VN" sz="3200">
                <a:latin typeface="Times New Roman" panose="02020603050405020304" pitchFamily="18" charset="0"/>
                <a:cs typeface="Times New Roman" panose="02020603050405020304" pitchFamily="18" charset="0"/>
              </a:rPr>
              <a:t>này, chúng ta sẽ học cách vẽ một đường bằng Matplotlib đi qua các tọa độ x và y cụ thể.</a:t>
            </a:r>
            <a:br>
              <a:rPr lang="vi-VN" sz="3200">
                <a:latin typeface="Times New Roman" panose="02020603050405020304" pitchFamily="18" charset="0"/>
                <a:cs typeface="Times New Roman" panose="02020603050405020304" pitchFamily="18" charset="0"/>
              </a:rPr>
            </a:br>
            <a:r>
              <a:rPr lang="vi-VN" sz="3200">
                <a:latin typeface="Times New Roman" panose="02020603050405020304" pitchFamily="18" charset="0"/>
                <a:cs typeface="Times New Roman" panose="02020603050405020304" pitchFamily="18" charset="0"/>
              </a:rPr>
              <a:t>Matplotlib là một thư viện vẽ đồ thị 2D của Python, thực hiện nhiệm vụ phức tạp là vẽ các đường, biểu đồ, biểu đồ thanh</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Thư viện này không chỉ vẽ các ô mà còn cung cấp một API cho phép nhúng các ô trong các ứng dụng.</a:t>
            </a:r>
            <a:endParaRPr lang="en-US" sz="3200">
              <a:latin typeface="Times New Roman" panose="02020603050405020304" pitchFamily="18" charset="0"/>
              <a:cs typeface="Times New Roman" panose="02020603050405020304" pitchFamily="18" charset="0"/>
            </a:endParaRPr>
          </a:p>
          <a:p>
            <a:pPr algn="just"/>
            <a:r>
              <a:rPr lang="vi-VN" sz="3200">
                <a:latin typeface="+mj-lt"/>
              </a:rPr>
              <a:t>Bạn có thể cài đặt Matplotlib bằng cách sử dụng câu lệnh sau:</a:t>
            </a:r>
            <a:endParaRPr lang="en-US" sz="3200">
              <a:latin typeface="+mj-lt"/>
            </a:endParaRPr>
          </a:p>
          <a:p>
            <a:pPr marL="0" indent="0" algn="ctr">
              <a:buNone/>
            </a:pPr>
            <a:r>
              <a:rPr lang="en-US" sz="3200" b="1">
                <a:latin typeface="Times New Roman" panose="02020603050405020304" pitchFamily="18" charset="0"/>
                <a:cs typeface="Times New Roman" panose="02020603050405020304" pitchFamily="18" charset="0"/>
              </a:rPr>
              <a:t>pip install matplotlib</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904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Đường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algn="just"/>
            <a:r>
              <a:rPr lang="vi-VN" sz="3200">
                <a:latin typeface="+mj-lt"/>
              </a:rPr>
              <a:t>Giả sử rằng chúng ta muốn vẽ một dòng sử dụng các bộ tọa độ x và y sau đây:</a:t>
            </a:r>
            <a:endParaRPr lang="en-US" sz="3200">
              <a:latin typeface="+mj-lt"/>
            </a:endParaRPr>
          </a:p>
          <a:p>
            <a:pPr marL="0" indent="0" algn="just">
              <a:buNone/>
            </a:pPr>
            <a:r>
              <a:rPr lang="vi-VN" sz="3200">
                <a:latin typeface="+mj-lt"/>
              </a:rPr>
              <a:t>x = 10, y = 20</a:t>
            </a:r>
            <a:br>
              <a:rPr lang="vi-VN" sz="3200">
                <a:latin typeface="+mj-lt"/>
              </a:rPr>
            </a:br>
            <a:r>
              <a:rPr lang="vi-VN" sz="3200">
                <a:latin typeface="+mj-lt"/>
              </a:rPr>
              <a:t>x = 20, y = 40</a:t>
            </a:r>
            <a:br>
              <a:rPr lang="vi-VN" sz="3200">
                <a:latin typeface="+mj-lt"/>
              </a:rPr>
            </a:br>
            <a:r>
              <a:rPr lang="vi-VN" sz="3200">
                <a:latin typeface="+mj-lt"/>
              </a:rPr>
              <a:t>x = 30, y = 60</a:t>
            </a:r>
            <a:br>
              <a:rPr lang="vi-VN" sz="3200">
                <a:latin typeface="+mj-lt"/>
              </a:rPr>
            </a:br>
            <a:r>
              <a:rPr lang="vi-VN" sz="3200">
                <a:latin typeface="+mj-lt"/>
              </a:rPr>
              <a:t>Trên trục x, giá trị của x bắt đầu từ 0 và tăng dần về bên phải và trên trục y, giá trị của y là 0 ở dưới cùng và tăng khi chúng ta di chuyển lên. Vì cặp tọa độ cuối cùng là 30, 60, biểu đồ sẽ có giá trị x tối đa là 30 và giá trị y tối đa là 60.</a:t>
            </a:r>
            <a:endParaRPr lang="en-US" sz="3200">
              <a:latin typeface="+mj-lt"/>
            </a:endParaRPr>
          </a:p>
        </p:txBody>
      </p:sp>
    </p:spTree>
    <p:extLst>
      <p:ext uri="{BB962C8B-B14F-4D97-AF65-F5344CB8AC3E}">
        <p14:creationId xmlns:p14="http://schemas.microsoft.com/office/powerpoint/2010/main" val="4699328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Đường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marL="0" indent="0" algn="just">
              <a:buNone/>
            </a:pPr>
            <a:r>
              <a:rPr lang="vi-VN" sz="3200">
                <a:latin typeface="+mj-lt"/>
              </a:rPr>
              <a:t>Các phương </a:t>
            </a:r>
            <a:r>
              <a:rPr lang="en-US" sz="3200">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mj-lt"/>
              </a:rPr>
              <a:t> sau đây của matplotlib.pyplot sẽ được sử dụng trong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a:t>
            </a:r>
            <a:endParaRPr lang="en-US" sz="3200">
              <a:latin typeface="+mj-lt"/>
            </a:endParaRPr>
          </a:p>
          <a:p>
            <a:pPr algn="just">
              <a:buFont typeface="Wingdings" panose="05000000000000000000" pitchFamily="2" charset="2"/>
              <a:buChar char="Ø"/>
            </a:pPr>
            <a:r>
              <a:rPr lang="vi-VN" sz="3200">
                <a:latin typeface="+mj-lt"/>
              </a:rPr>
              <a:t>title (): Phương thức này được sử dụng để đặt tiêu đề của biểu đồ</a:t>
            </a:r>
            <a:endParaRPr lang="en-US" sz="3200">
              <a:latin typeface="+mj-lt"/>
            </a:endParaRPr>
          </a:p>
          <a:p>
            <a:pPr algn="just">
              <a:buFont typeface="Wingdings" panose="05000000000000000000" pitchFamily="2" charset="2"/>
              <a:buChar char="Ø"/>
            </a:pPr>
            <a:r>
              <a:rPr lang="vi-VN" sz="3200">
                <a:latin typeface="+mj-lt"/>
              </a:rPr>
              <a:t>xlabel (): Phương thức này là để hiển thị văn bản cụ thể dọc theo trục x</a:t>
            </a:r>
            <a:endParaRPr lang="en-US" sz="3200">
              <a:latin typeface="+mj-lt"/>
            </a:endParaRPr>
          </a:p>
          <a:p>
            <a:pPr algn="just">
              <a:buFont typeface="Wingdings" panose="05000000000000000000" pitchFamily="2" charset="2"/>
              <a:buChar char="Ø"/>
            </a:pPr>
            <a:r>
              <a:rPr lang="vi-VN" sz="3200">
                <a:latin typeface="+mj-lt"/>
              </a:rPr>
              <a:t>ylabel (): Phương pháp này là để hiển thị văn bản cụ thể dọc theo trục y</a:t>
            </a:r>
            <a:endParaRPr lang="en-US" sz="3200">
              <a:latin typeface="+mj-lt"/>
            </a:endParaRPr>
          </a:p>
          <a:p>
            <a:pPr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Plot</a:t>
            </a:r>
            <a:r>
              <a:rPr lang="en-US" sz="3200">
                <a:latin typeface="+mj-lt"/>
              </a:rPr>
              <a:t> </a:t>
            </a:r>
            <a:r>
              <a:rPr lang="vi-VN" sz="3200">
                <a:latin typeface="+mj-lt"/>
              </a:rPr>
              <a:t>(): Phương thức này được sử dụng để vẽ đồ thị tại tọa độ x và y đã chỉ định</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30602458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Đường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marL="0" indent="0" algn="just">
              <a:buNone/>
            </a:pPr>
            <a:r>
              <a:rPr lang="vi-VN" sz="3200">
                <a:latin typeface="+mj-lt"/>
              </a:rPr>
              <a:t>Tạo một tập lệnh Python với tên demoPlotLine.py và viết đoạn mã sau vào đó:</a:t>
            </a:r>
            <a:endParaRPr lang="en-US" sz="3200">
              <a:latin typeface="+mj-lt"/>
            </a:endParaRPr>
          </a:p>
          <a:p>
            <a:pPr marL="0" indent="0">
              <a:buNone/>
            </a:pPr>
            <a:r>
              <a:rPr lang="en-US" sz="3200" i="1">
                <a:latin typeface="Times New Roman" panose="02020603050405020304" pitchFamily="18" charset="0"/>
                <a:cs typeface="Times New Roman" panose="02020603050405020304" pitchFamily="18" charset="0"/>
              </a:rPr>
              <a:t>import matplotlib.pyplot as graph</a:t>
            </a:r>
          </a:p>
          <a:p>
            <a:pPr marL="0" indent="0">
              <a:buNone/>
            </a:pPr>
            <a:r>
              <a:rPr lang="en-US" sz="3200" i="1">
                <a:latin typeface="Times New Roman" panose="02020603050405020304" pitchFamily="18" charset="0"/>
                <a:cs typeface="Times New Roman" panose="02020603050405020304" pitchFamily="18" charset="0"/>
              </a:rPr>
              <a:t>graph.title('Plotting a Line!')</a:t>
            </a:r>
          </a:p>
          <a:p>
            <a:pPr marL="0" indent="0">
              <a:buNone/>
            </a:pPr>
            <a:r>
              <a:rPr lang="en-US" sz="3200" i="1">
                <a:latin typeface="Times New Roman" panose="02020603050405020304" pitchFamily="18" charset="0"/>
                <a:cs typeface="Times New Roman" panose="02020603050405020304" pitchFamily="18" charset="0"/>
              </a:rPr>
              <a:t>graph.xlabel('x - axis')</a:t>
            </a:r>
          </a:p>
          <a:p>
            <a:pPr marL="0" indent="0">
              <a:buNone/>
            </a:pPr>
            <a:r>
              <a:rPr lang="en-US" sz="3200" i="1">
                <a:latin typeface="Times New Roman" panose="02020603050405020304" pitchFamily="18" charset="0"/>
                <a:cs typeface="Times New Roman" panose="02020603050405020304" pitchFamily="18" charset="0"/>
              </a:rPr>
              <a:t>graph.ylabel('y - axis')</a:t>
            </a:r>
          </a:p>
          <a:p>
            <a:pPr marL="0" indent="0">
              <a:buNone/>
            </a:pPr>
            <a:r>
              <a:rPr lang="en-US" sz="3200" i="1">
                <a:latin typeface="Times New Roman" panose="02020603050405020304" pitchFamily="18" charset="0"/>
                <a:cs typeface="Times New Roman" panose="02020603050405020304" pitchFamily="18" charset="0"/>
              </a:rPr>
              <a:t>x = [10,20,30]</a:t>
            </a:r>
          </a:p>
          <a:p>
            <a:pPr marL="0" indent="0">
              <a:buNone/>
            </a:pPr>
            <a:r>
              <a:rPr lang="en-US" sz="3200" i="1">
                <a:latin typeface="Times New Roman" panose="02020603050405020304" pitchFamily="18" charset="0"/>
                <a:cs typeface="Times New Roman" panose="02020603050405020304" pitchFamily="18" charset="0"/>
              </a:rPr>
              <a:t>y = [20,40,60]</a:t>
            </a:r>
          </a:p>
          <a:p>
            <a:pPr marL="0" indent="0">
              <a:buNone/>
            </a:pPr>
            <a:r>
              <a:rPr lang="en-US" sz="3200" i="1">
                <a:latin typeface="Times New Roman" panose="02020603050405020304" pitchFamily="18" charset="0"/>
                <a:cs typeface="Times New Roman" panose="02020603050405020304" pitchFamily="18" charset="0"/>
              </a:rPr>
              <a:t>graph.plot(x, y)</a:t>
            </a:r>
          </a:p>
          <a:p>
            <a:pPr marL="0" indent="0">
              <a:buNone/>
            </a:pPr>
            <a:r>
              <a:rPr lang="en-US" sz="3200" i="1">
                <a:latin typeface="Times New Roman" panose="02020603050405020304" pitchFamily="18" charset="0"/>
                <a:cs typeface="Times New Roman" panose="02020603050405020304" pitchFamily="18" charset="0"/>
              </a:rPr>
              <a:t>graph.show()</a:t>
            </a:r>
          </a:p>
        </p:txBody>
      </p:sp>
    </p:spTree>
    <p:extLst>
      <p:ext uri="{BB962C8B-B14F-4D97-AF65-F5344CB8AC3E}">
        <p14:creationId xmlns:p14="http://schemas.microsoft.com/office/powerpoint/2010/main" val="37363814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Đường Bằng Matplotlib</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CE7625D3-680B-4E81-9457-2B244E852B1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6087" t="25034" r="27035" b="4286"/>
          <a:stretch/>
        </p:blipFill>
        <p:spPr>
          <a:xfrm>
            <a:off x="817418" y="1413163"/>
            <a:ext cx="7578437" cy="4973782"/>
          </a:xfrm>
        </p:spPr>
      </p:pic>
    </p:spTree>
    <p:extLst>
      <p:ext uri="{BB962C8B-B14F-4D97-AF65-F5344CB8AC3E}">
        <p14:creationId xmlns:p14="http://schemas.microsoft.com/office/powerpoint/2010/main" val="1930301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Thanh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algn="just"/>
            <a:r>
              <a:rPr lang="vi-VN" sz="3200">
                <a:latin typeface="+mj-lt"/>
              </a:rPr>
              <a:t>Trong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 chúng ta sẽ học cách vẽ một thanh sử dụng Matplotlib để so sánh sự phát triển của một doanh nghiệp trong ba năm qua. Bạn sẽ cung cấp tỷ lệ phần trăm lợi nhuận trong năm 2016, 2017 và 2018 và ứng dụng sẽ hiển thị một thanh biểu thị tỷ lệ phần trăm lợi nhuận trong ba năm qua.</a:t>
            </a:r>
            <a:endParaRPr lang="en-US" sz="3200">
              <a:latin typeface="+mj-lt"/>
            </a:endParaRPr>
          </a:p>
          <a:p>
            <a:pPr algn="just"/>
            <a:r>
              <a:rPr lang="vi-VN" sz="3200">
                <a:latin typeface="+mj-lt"/>
              </a:rPr>
              <a:t>Giả sử rằng tỷ lệ phần trăm lợi nhuận của tổ chức trong ba năm qua như sau:</a:t>
            </a:r>
            <a:endParaRPr lang="en-US" sz="3200">
              <a:latin typeface="+mj-lt"/>
            </a:endParaRPr>
          </a:p>
          <a:p>
            <a:pPr marL="346075" indent="0" algn="just">
              <a:buNone/>
            </a:pPr>
            <a:r>
              <a:rPr lang="vi-VN" sz="3200">
                <a:latin typeface="+mj-lt"/>
              </a:rPr>
              <a:t>2016: Lợi nhuận là 70%</a:t>
            </a:r>
            <a:br>
              <a:rPr lang="vi-VN" sz="3200">
                <a:latin typeface="+mj-lt"/>
              </a:rPr>
            </a:br>
            <a:r>
              <a:rPr lang="vi-VN" sz="3200">
                <a:latin typeface="+mj-lt"/>
              </a:rPr>
              <a:t>2017: Lợi nhuận là 90%</a:t>
            </a:r>
            <a:br>
              <a:rPr lang="vi-VN" sz="3200">
                <a:latin typeface="+mj-lt"/>
              </a:rPr>
            </a:br>
            <a:r>
              <a:rPr lang="vi-VN" sz="3200">
                <a:latin typeface="+mj-lt"/>
              </a:rPr>
              <a:t>2018: </a:t>
            </a:r>
            <a:r>
              <a:rPr lang="en-US" sz="3200">
                <a:latin typeface="+mj-lt"/>
              </a:rPr>
              <a:t>	      </a:t>
            </a:r>
            <a:r>
              <a:rPr lang="vi-VN" sz="3200">
                <a:latin typeface="+mj-lt"/>
              </a:rPr>
              <a:t>Lợi nhuận là 80%</a:t>
            </a:r>
            <a:endParaRPr lang="en-US" sz="3200" i="1">
              <a:latin typeface="+mj-lt"/>
              <a:cs typeface="Times New Roman" panose="02020603050405020304" pitchFamily="18" charset="0"/>
            </a:endParaRPr>
          </a:p>
        </p:txBody>
      </p:sp>
    </p:spTree>
    <p:extLst>
      <p:ext uri="{BB962C8B-B14F-4D97-AF65-F5344CB8AC3E}">
        <p14:creationId xmlns:p14="http://schemas.microsoft.com/office/powerpoint/2010/main" val="40344573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Thanh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algn="just"/>
            <a:r>
              <a:rPr lang="vi-VN" sz="3200">
                <a:latin typeface="+mj-lt"/>
              </a:rPr>
              <a:t>Bạn muốn hiển thị các thanh đại diện cho tỷ lệ phần trăm lợi nhuận và dọc theo trục x và bạn muốn các năm được hiển thị: 2016, 2017 và 2018. Dọc theo trục y, bạn muốn hiển thị thanh đại diện cho tỷ lệ phần trăm lợi nhuận. Giá trị của y trên trục y sẽ bắt đầu từ 0 ở dưới cùng và tăng lên trong khi di chuyển về phía trên cùng, với giá trị tối đa là 100, ở trên cùng.</a:t>
            </a:r>
            <a:endParaRPr lang="en-US" sz="3200">
              <a:latin typeface="+mj-lt"/>
            </a:endParaRPr>
          </a:p>
          <a:p>
            <a:pPr algn="just"/>
            <a:r>
              <a:rPr lang="vi-VN" sz="3200">
                <a:latin typeface="+mj-lt"/>
              </a:rPr>
              <a:t>Các phương pháp sau đây của matplotlib.pyplot sẽ được sử dụng trong công thức này:</a:t>
            </a:r>
            <a:endParaRPr lang="en-US" sz="3200">
              <a:latin typeface="+mj-lt"/>
            </a:endParaRPr>
          </a:p>
        </p:txBody>
      </p:sp>
    </p:spTree>
    <p:extLst>
      <p:ext uri="{BB962C8B-B14F-4D97-AF65-F5344CB8AC3E}">
        <p14:creationId xmlns:p14="http://schemas.microsoft.com/office/powerpoint/2010/main" val="33904699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Thanh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algn="just">
              <a:buFont typeface="Wingdings" panose="05000000000000000000" pitchFamily="2" charset="2"/>
              <a:buChar char="Ø"/>
            </a:pPr>
            <a:r>
              <a:rPr lang="vi-VN" sz="3200">
                <a:latin typeface="+mj-lt"/>
              </a:rPr>
              <a:t>title (): Phương thức này được sử dụng để đặt tiêu đề của biểu đồ</a:t>
            </a:r>
            <a:endParaRPr lang="en-US" sz="3200">
              <a:latin typeface="+mj-lt"/>
            </a:endParaRPr>
          </a:p>
          <a:p>
            <a:pPr algn="just">
              <a:buFont typeface="Wingdings" panose="05000000000000000000" pitchFamily="2" charset="2"/>
              <a:buChar char="Ø"/>
            </a:pPr>
            <a:r>
              <a:rPr lang="vi-VN" sz="3200">
                <a:latin typeface="+mj-lt"/>
              </a:rPr>
              <a:t>bar (): Để vẽ thanh từ hai mảng được cung cấp; một mảng sẽ biểu thị dữ liệu cho trục x và mảng thứ hai sẽ biểu thị dữ liệu cho trục y</a:t>
            </a:r>
            <a:endParaRPr lang="en-US" sz="3200">
              <a:latin typeface="+mj-lt"/>
            </a:endParaRPr>
          </a:p>
          <a:p>
            <a:pPr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plot</a:t>
            </a:r>
            <a:r>
              <a:rPr lang="vi-VN" sz="3200">
                <a:latin typeface="+mj-lt"/>
              </a:rPr>
              <a:t>(): Phương thức này được sử dụng để vẽ đồ thị tại tọa độ x và y đã chỉ định</a:t>
            </a:r>
            <a:endParaRPr lang="en-US" sz="3200">
              <a:latin typeface="+mj-lt"/>
            </a:endParaRPr>
          </a:p>
          <a:p>
            <a:pPr marL="0" indent="0" algn="just">
              <a:buNone/>
            </a:pPr>
            <a:r>
              <a:rPr lang="vi-VN" sz="3200">
                <a:latin typeface="+mj-lt"/>
              </a:rPr>
              <a:t>Tạo một tập lệnh Python với tên demoPlotBars.py và viết đoạn mã sau vào đó:</a:t>
            </a:r>
            <a:endParaRPr lang="en-US" sz="3200" i="1">
              <a:latin typeface="+mj-lt"/>
              <a:cs typeface="Times New Roman" panose="02020603050405020304" pitchFamily="18" charset="0"/>
            </a:endParaRPr>
          </a:p>
        </p:txBody>
      </p:sp>
    </p:spTree>
    <p:extLst>
      <p:ext uri="{BB962C8B-B14F-4D97-AF65-F5344CB8AC3E}">
        <p14:creationId xmlns:p14="http://schemas.microsoft.com/office/powerpoint/2010/main" val="36134023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4" y="219039"/>
            <a:ext cx="9123245" cy="833905"/>
          </a:xfrm>
        </p:spPr>
        <p:txBody>
          <a:bodyPr>
            <a:noAutofit/>
          </a:bodyPr>
          <a:lstStyle/>
          <a:p>
            <a:r>
              <a:rPr lang="vi-VN"/>
              <a:t>Vẽ Một Thanh Bằng Matplotlib</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A66DDB5-5013-4BBE-AE37-4A6982C52826}"/>
              </a:ext>
            </a:extLst>
          </p:cNvPr>
          <p:cNvSpPr>
            <a:spLocks noGrp="1"/>
          </p:cNvSpPr>
          <p:nvPr>
            <p:ph idx="1"/>
          </p:nvPr>
        </p:nvSpPr>
        <p:spPr/>
        <p:txBody>
          <a:bodyPr>
            <a:noAutofit/>
          </a:bodyPr>
          <a:lstStyle/>
          <a:p>
            <a:pPr marL="0" indent="0">
              <a:buNone/>
            </a:pPr>
            <a:r>
              <a:rPr lang="en-US" sz="3200">
                <a:latin typeface="Times New Roman" panose="02020603050405020304" pitchFamily="18" charset="0"/>
                <a:cs typeface="Times New Roman" panose="02020603050405020304" pitchFamily="18" charset="0"/>
              </a:rPr>
              <a:t>import matplotlib.pyplot as graph</a:t>
            </a:r>
          </a:p>
          <a:p>
            <a:pPr marL="0" indent="0">
              <a:buNone/>
            </a:pPr>
            <a:r>
              <a:rPr lang="en-US" sz="3200">
                <a:latin typeface="Times New Roman" panose="02020603050405020304" pitchFamily="18" charset="0"/>
                <a:cs typeface="Times New Roman" panose="02020603050405020304" pitchFamily="18" charset="0"/>
              </a:rPr>
              <a:t>years = ['2016', '2017', '2018']</a:t>
            </a:r>
          </a:p>
          <a:p>
            <a:pPr marL="0" indent="0">
              <a:buNone/>
            </a:pPr>
            <a:r>
              <a:rPr lang="en-US" sz="3200">
                <a:latin typeface="Times New Roman" panose="02020603050405020304" pitchFamily="18" charset="0"/>
                <a:cs typeface="Times New Roman" panose="02020603050405020304" pitchFamily="18" charset="0"/>
              </a:rPr>
              <a:t>profit = [70, 90, 80]</a:t>
            </a:r>
          </a:p>
          <a:p>
            <a:pPr marL="0" indent="0">
              <a:buNone/>
            </a:pPr>
            <a:r>
              <a:rPr lang="en-US" sz="3200">
                <a:latin typeface="Times New Roman" panose="02020603050405020304" pitchFamily="18" charset="0"/>
                <a:cs typeface="Times New Roman" panose="02020603050405020304" pitchFamily="18" charset="0"/>
              </a:rPr>
              <a:t>graph.bar(years, profit)</a:t>
            </a:r>
          </a:p>
          <a:p>
            <a:pPr marL="0" indent="0">
              <a:buNone/>
            </a:pPr>
            <a:r>
              <a:rPr lang="en-US" sz="3200">
                <a:latin typeface="Times New Roman" panose="02020603050405020304" pitchFamily="18" charset="0"/>
                <a:cs typeface="Times New Roman" panose="02020603050405020304" pitchFamily="18" charset="0"/>
              </a:rPr>
              <a:t>graph.title('Growth in Business')</a:t>
            </a:r>
          </a:p>
          <a:p>
            <a:pPr marL="0" indent="0">
              <a:buNone/>
            </a:pPr>
            <a:r>
              <a:rPr lang="en-US" sz="3200">
                <a:latin typeface="Times New Roman" panose="02020603050405020304" pitchFamily="18" charset="0"/>
                <a:cs typeface="Times New Roman" panose="02020603050405020304" pitchFamily="18" charset="0"/>
              </a:rPr>
              <a:t>graph.plot(100)</a:t>
            </a:r>
          </a:p>
          <a:p>
            <a:pPr marL="0" indent="0">
              <a:buNone/>
            </a:pPr>
            <a:r>
              <a:rPr lang="en-US" sz="3200">
                <a:latin typeface="Times New Roman" panose="02020603050405020304" pitchFamily="18" charset="0"/>
                <a:cs typeface="Times New Roman" panose="02020603050405020304" pitchFamily="18" charset="0"/>
              </a:rPr>
              <a:t>graph.show()</a:t>
            </a:r>
            <a:endParaRPr lang="en-US" sz="32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3912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5622</TotalTime>
  <Words>6209</Words>
  <Application>Microsoft Office PowerPoint</Application>
  <PresentationFormat>On-screen Show (4:3)</PresentationFormat>
  <Paragraphs>298</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Calibri Light</vt:lpstr>
      <vt:lpstr>Times New Roman</vt:lpstr>
      <vt:lpstr>Wingdings</vt:lpstr>
      <vt:lpstr>Office Theme</vt:lpstr>
      <vt:lpstr>USING GRAPHICS</vt:lpstr>
      <vt:lpstr>Nội dung</vt:lpstr>
      <vt:lpstr>Nội dung</vt:lpstr>
      <vt:lpstr>Giới Thiệu</vt:lpstr>
      <vt:lpstr>Giới Thiệu</vt:lpstr>
      <vt:lpstr>Giới Thiệu</vt:lpstr>
      <vt:lpstr>Hiển Thị Tọa Độ Chuột</vt:lpstr>
      <vt:lpstr>Hiển Thị Tọa Độ Chuột</vt:lpstr>
      <vt:lpstr>Hiển Thị Tọa Độ Chuột</vt:lpstr>
      <vt:lpstr>Hiển Thị Tọa Độ Chuột</vt:lpstr>
      <vt:lpstr>Hiển Thị Tọa Độ Chuột</vt:lpstr>
      <vt:lpstr>Hiển Thị Tọa Độ Nơi Nhấp Chuột Và Nhả Nút</vt:lpstr>
      <vt:lpstr>Hiển Thị Tọa Độ Nơi Nhấp Chuột Và Nhả Nút</vt:lpstr>
      <vt:lpstr>Hiển Thị Tọa Độ Nơi Nhấp Chuột Và Nhả Nút</vt:lpstr>
      <vt:lpstr>Hiển Thị Tọa Độ Nơi Nhấp Chuột Và Nhả Nút</vt:lpstr>
      <vt:lpstr>Hiển Thị Tọa Độ Nơi Nhấp Chuột Và Nhả Nút</vt:lpstr>
      <vt:lpstr>Hiển Thị Tọa Độ Nơi Nhấp Chuột Và Nhả Nút</vt:lpstr>
      <vt:lpstr>Hiển Thị Một Điểm Mà Nút Chuột Được Nhấp</vt:lpstr>
      <vt:lpstr>Hiển Thị Một Điểm Mà Nút Chuột Được Nhấp</vt:lpstr>
      <vt:lpstr>Hiển Thị Một Điểm Mà Nút Chuột Được Nhấp</vt:lpstr>
      <vt:lpstr>Hiển Thị Một Điểm Mà Nút Chuột Được Nhấp</vt:lpstr>
      <vt:lpstr>Vẽ Một Đường Giữa Hai Lần Nhấp Chuột</vt:lpstr>
      <vt:lpstr>Vẽ Một Đường Giữa Hai Lần Nhấp Chuột</vt:lpstr>
      <vt:lpstr>Vẽ Một Đường Giữa Hai Lần Nhấp Chuột</vt:lpstr>
      <vt:lpstr>Vẽ Một Đường Giữa Hai Lần Nhấp Chuột</vt:lpstr>
      <vt:lpstr>Vẽ Một Đường Giữa Hai Lần Nhấp Chuột</vt:lpstr>
      <vt:lpstr>Vẽ Một Đường Giữa Hai Lần Nhấp Chuột</vt:lpstr>
      <vt:lpstr>Vẽ Các Loại Khác Nhau</vt:lpstr>
      <vt:lpstr>Vẽ Các Loại Khác Nhau</vt:lpstr>
      <vt:lpstr>Vẽ Các Loại Khác Nhau</vt:lpstr>
      <vt:lpstr>Vẽ Các Loại Khác Nhau</vt:lpstr>
      <vt:lpstr>Vẽ Một Vòng Tròn Có Kích Thước Mong Muốn</vt:lpstr>
      <vt:lpstr>Vẽ Một Vòng Tròn Có Kích Thước Mong Muốn</vt:lpstr>
      <vt:lpstr>Vẽ Một Vòng Tròn Có Kích Thước Mong Muốn</vt:lpstr>
      <vt:lpstr>Vẽ Một Vòng Tròn Có Kích Thước Mong Muốn</vt:lpstr>
      <vt:lpstr>Vẽ Một Vòng Tròn Có Kích Thước Mong Muốn</vt:lpstr>
      <vt:lpstr>Vẽ Một Hình Chữ Nhật Giữa Hai Lần Nhấp Chuột</vt:lpstr>
      <vt:lpstr>Vẽ Một Hình Chữ Nhật Giữa Hai Lần Nhấp Chuột</vt:lpstr>
      <vt:lpstr>Vẽ Một Hình Chữ Nhật Giữa Hai Lần Nhấp Chuột</vt:lpstr>
      <vt:lpstr>Vẽ Một Hình Chữ Nhật Giữa Hai Lần Nhấp Chuột</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Vẽ Văn Bản Trong Một Phông Chữ Và Kích Thước Mong Muốn</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Tạo Một Thanh Công Cụ Hiển Thị Các Công Cụ Đồ Họa Khác Nhau</vt:lpstr>
      <vt:lpstr>Vẽ Một Đường Bằng Matplotlib</vt:lpstr>
      <vt:lpstr>Vẽ Một Đường Bằng Matplotlib</vt:lpstr>
      <vt:lpstr>Vẽ Một Đường Bằng Matplotlib</vt:lpstr>
      <vt:lpstr>Vẽ Một Đường Bằng Matplotlib</vt:lpstr>
      <vt:lpstr>Vẽ Một Đường Bằng Matplotlib</vt:lpstr>
      <vt:lpstr>Vẽ Một Thanh Bằng Matplotlib</vt:lpstr>
      <vt:lpstr>Vẽ Một Thanh Bằng Matplotlib</vt:lpstr>
      <vt:lpstr>Vẽ Một Thanh Bằng Matplotlib</vt:lpstr>
      <vt:lpstr>Vẽ Một Thanh Bằng Matplotlib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Hung</cp:lastModifiedBy>
  <cp:revision>761</cp:revision>
  <dcterms:created xsi:type="dcterms:W3CDTF">2019-07-31T07:44:13Z</dcterms:created>
  <dcterms:modified xsi:type="dcterms:W3CDTF">2019-11-13T19:10:18Z</dcterms:modified>
</cp:coreProperties>
</file>