
<file path=[Content_Types].xml><?xml version="1.0" encoding="utf-8"?>
<Types xmlns="http://schemas.openxmlformats.org/package/2006/content-types">
  <Default Extension="jpeg" ContentType="image/jpe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9"/>
  </p:notesMasterIdLst>
  <p:sldIdLst>
    <p:sldId id="256" r:id="rId2"/>
    <p:sldId id="257" r:id="rId3"/>
    <p:sldId id="258" r:id="rId4"/>
    <p:sldId id="334" r:id="rId5"/>
    <p:sldId id="308" r:id="rId6"/>
    <p:sldId id="335" r:id="rId7"/>
    <p:sldId id="336" r:id="rId8"/>
    <p:sldId id="337" r:id="rId9"/>
    <p:sldId id="338" r:id="rId10"/>
    <p:sldId id="339" r:id="rId11"/>
    <p:sldId id="340" r:id="rId12"/>
    <p:sldId id="341" r:id="rId13"/>
    <p:sldId id="342" r:id="rId14"/>
    <p:sldId id="349" r:id="rId15"/>
    <p:sldId id="343" r:id="rId16"/>
    <p:sldId id="345" r:id="rId17"/>
    <p:sldId id="346" r:id="rId18"/>
    <p:sldId id="344" r:id="rId19"/>
    <p:sldId id="347" r:id="rId20"/>
    <p:sldId id="348" r:id="rId21"/>
    <p:sldId id="259" r:id="rId22"/>
    <p:sldId id="350" r:id="rId23"/>
    <p:sldId id="351" r:id="rId24"/>
    <p:sldId id="352" r:id="rId25"/>
    <p:sldId id="260" r:id="rId26"/>
    <p:sldId id="353" r:id="rId27"/>
    <p:sldId id="354" r:id="rId28"/>
    <p:sldId id="309" r:id="rId29"/>
    <p:sldId id="355" r:id="rId30"/>
    <p:sldId id="356" r:id="rId31"/>
    <p:sldId id="357" r:id="rId32"/>
    <p:sldId id="358" r:id="rId33"/>
    <p:sldId id="359" r:id="rId34"/>
    <p:sldId id="360" r:id="rId35"/>
    <p:sldId id="362" r:id="rId36"/>
    <p:sldId id="361" r:id="rId37"/>
    <p:sldId id="364" r:id="rId38"/>
    <p:sldId id="363" r:id="rId39"/>
    <p:sldId id="365" r:id="rId40"/>
    <p:sldId id="261" r:id="rId41"/>
    <p:sldId id="310" r:id="rId42"/>
    <p:sldId id="366" r:id="rId43"/>
    <p:sldId id="367" r:id="rId44"/>
    <p:sldId id="368" r:id="rId45"/>
    <p:sldId id="369" r:id="rId46"/>
    <p:sldId id="370" r:id="rId47"/>
    <p:sldId id="371" r:id="rId4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5C59D34-11D3-4DA4-83EF-24D8FD6300F5}">
          <p14:sldIdLst>
            <p14:sldId id="256"/>
            <p14:sldId id="257"/>
            <p14:sldId id="258"/>
            <p14:sldId id="334"/>
            <p14:sldId id="308"/>
            <p14:sldId id="335"/>
            <p14:sldId id="336"/>
            <p14:sldId id="337"/>
            <p14:sldId id="338"/>
            <p14:sldId id="339"/>
            <p14:sldId id="340"/>
            <p14:sldId id="341"/>
            <p14:sldId id="342"/>
            <p14:sldId id="349"/>
            <p14:sldId id="343"/>
            <p14:sldId id="345"/>
            <p14:sldId id="346"/>
            <p14:sldId id="344"/>
            <p14:sldId id="347"/>
            <p14:sldId id="348"/>
            <p14:sldId id="259"/>
            <p14:sldId id="350"/>
            <p14:sldId id="351"/>
            <p14:sldId id="352"/>
            <p14:sldId id="260"/>
            <p14:sldId id="353"/>
            <p14:sldId id="354"/>
            <p14:sldId id="309"/>
            <p14:sldId id="355"/>
            <p14:sldId id="356"/>
            <p14:sldId id="357"/>
            <p14:sldId id="358"/>
            <p14:sldId id="359"/>
            <p14:sldId id="360"/>
            <p14:sldId id="362"/>
            <p14:sldId id="361"/>
            <p14:sldId id="364"/>
            <p14:sldId id="363"/>
            <p14:sldId id="365"/>
            <p14:sldId id="261"/>
            <p14:sldId id="310"/>
            <p14:sldId id="366"/>
            <p14:sldId id="367"/>
            <p14:sldId id="368"/>
            <p14:sldId id="369"/>
            <p14:sldId id="370"/>
            <p14:sldId id="371"/>
          </p14:sldIdLst>
        </p14:section>
        <p14:section name="Radio Button" id="{1A23179E-0E45-4F2B-9B2B-53C376ECD7B0}">
          <p14:sldIdLst/>
        </p14:section>
        <p14:section name="checkboxes" id="{A00EFFBC-94E6-4C6A-A3F4-16754BAD0FC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644" autoAdjust="0"/>
    <p:restoredTop sz="81952" autoAdjust="0"/>
  </p:normalViewPr>
  <p:slideViewPr>
    <p:cSldViewPr snapToGrid="0">
      <p:cViewPr varScale="1">
        <p:scale>
          <a:sx n="56" d="100"/>
          <a:sy n="56" d="100"/>
        </p:scale>
        <p:origin x="184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A2B099-58B4-4AB1-94B8-C1C58CCB9DA3}" type="datetimeFigureOut">
              <a:rPr lang="en-US" smtClean="0"/>
              <a:t>11/14/2019</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B18AA1-6D54-4DFE-8137-C54D164A4B2B}" type="slidenum">
              <a:rPr lang="en-US" smtClean="0"/>
              <a:t>‹#›</a:t>
            </a:fld>
            <a:endParaRPr lang="en-US"/>
          </a:p>
        </p:txBody>
      </p:sp>
    </p:spTree>
    <p:extLst>
      <p:ext uri="{BB962C8B-B14F-4D97-AF65-F5344CB8AC3E}">
        <p14:creationId xmlns:p14="http://schemas.microsoft.com/office/powerpoint/2010/main" val="1480592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200" i="1">
                <a:latin typeface="Times New Roman" panose="02020603050405020304" pitchFamily="18" charset="0"/>
                <a:cs typeface="Times New Roman" panose="02020603050405020304" pitchFamily="18" charset="0"/>
              </a:rPr>
              <a:t>Đ</a:t>
            </a:r>
            <a:r>
              <a:rPr lang="en-US" sz="1200" i="1" err="1">
                <a:latin typeface="Times New Roman" panose="02020603050405020304" pitchFamily="18" charset="0"/>
                <a:cs typeface="Times New Roman" panose="02020603050405020304" pitchFamily="18" charset="0"/>
              </a:rPr>
              <a:t>oạn</a:t>
            </a:r>
            <a:r>
              <a:rPr lang="en-US" sz="1200" i="1">
                <a:latin typeface="Times New Roman" panose="02020603050405020304" pitchFamily="18" charset="0"/>
                <a:cs typeface="Times New Roman" panose="02020603050405020304" pitchFamily="18" charset="0"/>
              </a:rPr>
              <a:t> code </a:t>
            </a:r>
            <a:r>
              <a:rPr lang="vi-VN" sz="1200" i="1">
                <a:latin typeface="Times New Roman" panose="02020603050405020304" pitchFamily="18" charset="0"/>
                <a:cs typeface="Times New Roman" panose="02020603050405020304" pitchFamily="18" charset="0"/>
              </a:rPr>
              <a:t>sẽ hiển thị</a:t>
            </a:r>
            <a:r>
              <a:rPr lang="en-US" sz="1200" i="1">
                <a:latin typeface="Times New Roman" panose="02020603050405020304" pitchFamily="18" charset="0"/>
                <a:cs typeface="Times New Roman" panose="02020603050405020304" pitchFamily="18" charset="0"/>
              </a:rPr>
              <a:t> </a:t>
            </a:r>
            <a:r>
              <a:rPr lang="vi-VN" sz="1200" i="1">
                <a:latin typeface="Times New Roman" panose="02020603050405020304" pitchFamily="18" charset="0"/>
                <a:cs typeface="Times New Roman" panose="02020603050405020304" pitchFamily="18" charset="0"/>
              </a:rPr>
              <a:t>đầu vào</a:t>
            </a:r>
            <a:r>
              <a:rPr lang="en-US" sz="1200" i="1">
                <a:latin typeface="Times New Roman" panose="02020603050405020304" pitchFamily="18" charset="0"/>
                <a:cs typeface="Times New Roman" panose="02020603050405020304" pitchFamily="18" charset="0"/>
              </a:rPr>
              <a:t> </a:t>
            </a:r>
            <a:r>
              <a:rPr lang="en-US" sz="1200" i="1" err="1">
                <a:latin typeface="Times New Roman" panose="02020603050405020304" pitchFamily="18" charset="0"/>
                <a:cs typeface="Times New Roman" panose="02020603050405020304" pitchFamily="18" charset="0"/>
              </a:rPr>
              <a:t>của</a:t>
            </a:r>
            <a:r>
              <a:rPr lang="vi-VN" sz="1200" i="1">
                <a:latin typeface="Times New Roman" panose="02020603050405020304" pitchFamily="18" charset="0"/>
                <a:cs typeface="Times New Roman" panose="02020603050405020304" pitchFamily="18" charset="0"/>
              </a:rPr>
              <a:t> hộp thoại với </a:t>
            </a:r>
            <a:r>
              <a:rPr lang="en-US" sz="1200" i="1">
                <a:latin typeface="Times New Roman" panose="02020603050405020304" pitchFamily="18" charset="0"/>
                <a:cs typeface="Times New Roman" panose="02020603050405020304" pitchFamily="18" charset="0"/>
              </a:rPr>
              <a:t>h</a:t>
            </a:r>
            <a:r>
              <a:rPr lang="vi-VN" sz="1200" i="1">
                <a:latin typeface="Times New Roman" panose="02020603050405020304" pitchFamily="18" charset="0"/>
                <a:cs typeface="Times New Roman" panose="02020603050405020304" pitchFamily="18" charset="0"/>
              </a:rPr>
              <a:t>ộp thoại </a:t>
            </a:r>
            <a:r>
              <a:rPr lang="en-US" sz="1200" i="1">
                <a:latin typeface="Times New Roman" panose="02020603050405020304" pitchFamily="18" charset="0"/>
                <a:cs typeface="Times New Roman" panose="02020603050405020304" pitchFamily="18" charset="0"/>
              </a:rPr>
              <a:t>d</a:t>
            </a:r>
            <a:r>
              <a:rPr lang="vi-VN" sz="1200" i="1">
                <a:latin typeface="Times New Roman" panose="02020603050405020304" pitchFamily="18" charset="0"/>
                <a:cs typeface="Times New Roman" panose="02020603050405020304" pitchFamily="18" charset="0"/>
              </a:rPr>
              <a:t>ầu vào tiêu đề. Hộp thoại cho thấy</a:t>
            </a:r>
            <a:r>
              <a:rPr lang="en-US" sz="1200" i="1">
                <a:latin typeface="Times New Roman" panose="02020603050405020304" pitchFamily="18" charset="0"/>
                <a:cs typeface="Times New Roman" panose="02020603050405020304" pitchFamily="18" charset="0"/>
              </a:rPr>
              <a:t> </a:t>
            </a:r>
            <a:r>
              <a:rPr lang="en-US" sz="1200" i="1" err="1">
                <a:latin typeface="Times New Roman" panose="02020603050405020304" pitchFamily="18" charset="0"/>
                <a:cs typeface="Times New Roman" panose="02020603050405020304" pitchFamily="18" charset="0"/>
              </a:rPr>
              <a:t>một</a:t>
            </a:r>
            <a:r>
              <a:rPr lang="en-US" sz="1200" i="1">
                <a:latin typeface="Times New Roman" panose="02020603050405020304" pitchFamily="18" charset="0"/>
                <a:cs typeface="Times New Roman" panose="02020603050405020304" pitchFamily="18" charset="0"/>
              </a:rPr>
              <a:t> combo box</a:t>
            </a:r>
            <a:r>
              <a:rPr lang="vi-VN" sz="1200" i="1">
                <a:latin typeface="Times New Roman" panose="02020603050405020304" pitchFamily="18" charset="0"/>
                <a:cs typeface="Times New Roman" panose="02020603050405020304" pitchFamily="18" charset="0"/>
              </a:rPr>
              <a:t> danh sách của quốc gia được hiển thị qua phần tử từ mảng</a:t>
            </a:r>
            <a:r>
              <a:rPr lang="en-US" sz="1200" i="1">
                <a:latin typeface="Times New Roman" panose="02020603050405020304" pitchFamily="18" charset="0"/>
                <a:cs typeface="Times New Roman" panose="02020603050405020304" pitchFamily="18" charset="0"/>
              </a:rPr>
              <a:t> </a:t>
            </a:r>
            <a:r>
              <a:rPr lang="en-US" sz="1200" i="1" err="1">
                <a:latin typeface="Times New Roman" panose="02020603050405020304" pitchFamily="18" charset="0"/>
                <a:cs typeface="Times New Roman" panose="02020603050405020304" pitchFamily="18" charset="0"/>
              </a:rPr>
              <a:t>các</a:t>
            </a:r>
            <a:r>
              <a:rPr lang="en-US" sz="1200" i="1">
                <a:latin typeface="Times New Roman" panose="02020603050405020304" pitchFamily="18" charset="0"/>
                <a:cs typeface="Times New Roman" panose="02020603050405020304" pitchFamily="18" charset="0"/>
              </a:rPr>
              <a:t> </a:t>
            </a:r>
            <a:r>
              <a:rPr lang="en-US" sz="1200" i="1" err="1">
                <a:latin typeface="Times New Roman" panose="02020603050405020304" pitchFamily="18" charset="0"/>
                <a:cs typeface="Times New Roman" panose="02020603050405020304" pitchFamily="18" charset="0"/>
              </a:rPr>
              <a:t>quốc</a:t>
            </a:r>
            <a:r>
              <a:rPr lang="en-US" sz="1200" i="1">
                <a:latin typeface="Times New Roman" panose="02020603050405020304" pitchFamily="18" charset="0"/>
                <a:cs typeface="Times New Roman" panose="02020603050405020304" pitchFamily="18" charset="0"/>
              </a:rPr>
              <a:t> </a:t>
            </a:r>
            <a:r>
              <a:rPr lang="en-US" sz="1200" i="1" err="1">
                <a:latin typeface="Times New Roman" panose="02020603050405020304" pitchFamily="18" charset="0"/>
                <a:cs typeface="Times New Roman" panose="02020603050405020304" pitchFamily="18" charset="0"/>
              </a:rPr>
              <a:t>gia</a:t>
            </a:r>
            <a:r>
              <a:rPr lang="en-US" sz="1200" i="1">
                <a:latin typeface="Times New Roman" panose="02020603050405020304" pitchFamily="18" charset="0"/>
                <a:cs typeface="Times New Roman" panose="02020603050405020304" pitchFamily="18" charset="0"/>
              </a:rPr>
              <a:t> </a:t>
            </a:r>
            <a:r>
              <a:rPr lang="vi-VN" sz="1200" i="1">
                <a:latin typeface="Times New Roman" panose="02020603050405020304" pitchFamily="18" charset="0"/>
                <a:cs typeface="Times New Roman" panose="02020603050405020304" pitchFamily="18" charset="0"/>
              </a:rPr>
              <a:t>. </a:t>
            </a:r>
            <a:r>
              <a:rPr lang="en-US" sz="1200" i="1" err="1">
                <a:latin typeface="Times New Roman" panose="02020603050405020304" pitchFamily="18" charset="0"/>
                <a:cs typeface="Times New Roman" panose="02020603050405020304" pitchFamily="18" charset="0"/>
              </a:rPr>
              <a:t>Lable</a:t>
            </a:r>
            <a:r>
              <a:rPr lang="en-US" sz="1200" i="1">
                <a:latin typeface="Times New Roman" panose="02020603050405020304" pitchFamily="18" charset="0"/>
                <a:cs typeface="Times New Roman" panose="02020603050405020304" pitchFamily="18" charset="0"/>
              </a:rPr>
              <a:t> </a:t>
            </a:r>
            <a:r>
              <a:rPr lang="vi-VN" sz="1200" i="1">
                <a:latin typeface="Times New Roman" panose="02020603050405020304" pitchFamily="18" charset="0"/>
                <a:cs typeface="Times New Roman" panose="02020603050405020304" pitchFamily="18" charset="0"/>
              </a:rPr>
              <a:t>Widget trước khi </a:t>
            </a:r>
            <a:r>
              <a:rPr lang="en-US" sz="1200" i="1">
                <a:latin typeface="Times New Roman" panose="02020603050405020304" pitchFamily="18" charset="0"/>
                <a:cs typeface="Times New Roman" panose="02020603050405020304" pitchFamily="18" charset="0"/>
              </a:rPr>
              <a:t>combo box </a:t>
            </a:r>
            <a:r>
              <a:rPr lang="vi-VN" sz="1200" i="1">
                <a:latin typeface="Times New Roman" panose="02020603050405020304" pitchFamily="18" charset="0"/>
                <a:cs typeface="Times New Roman" panose="02020603050405020304" pitchFamily="18" charset="0"/>
              </a:rPr>
              <a:t>cho thấy văn bản, </a:t>
            </a:r>
            <a:r>
              <a:rPr lang="en-US" sz="1200" i="1">
                <a:latin typeface="Times New Roman" panose="02020603050405020304" pitchFamily="18" charset="0"/>
                <a:cs typeface="Times New Roman" panose="02020603050405020304" pitchFamily="18" charset="0"/>
              </a:rPr>
              <a:t>List of countries</a:t>
            </a:r>
            <a:r>
              <a:rPr lang="vi-VN" sz="1200" i="1">
                <a:latin typeface="Times New Roman" panose="02020603050405020304" pitchFamily="18" charset="0"/>
                <a:cs typeface="Times New Roman" panose="02020603050405020304" pitchFamily="18" charset="0"/>
              </a:rPr>
              <a:t>. Tên quốc gia chọn từ </a:t>
            </a:r>
            <a:r>
              <a:rPr lang="en-US" sz="1200" i="1">
                <a:latin typeface="Times New Roman" panose="02020603050405020304" pitchFamily="18" charset="0"/>
                <a:cs typeface="Times New Roman" panose="02020603050405020304" pitchFamily="18" charset="0"/>
              </a:rPr>
              <a:t>combo box </a:t>
            </a:r>
            <a:r>
              <a:rPr lang="vi-VN" sz="1200" i="1">
                <a:latin typeface="Times New Roman" panose="02020603050405020304" pitchFamily="18" charset="0"/>
                <a:cs typeface="Times New Roman" panose="02020603050405020304" pitchFamily="18" charset="0"/>
              </a:rPr>
              <a:t>sẽ được ấ</a:t>
            </a:r>
            <a:r>
              <a:rPr lang="en-US" sz="1200" i="1">
                <a:latin typeface="Times New Roman" panose="02020603050405020304" pitchFamily="18" charset="0"/>
                <a:cs typeface="Times New Roman" panose="02020603050405020304" pitchFamily="18" charset="0"/>
              </a:rPr>
              <a:t>n </a:t>
            </a:r>
            <a:r>
              <a:rPr lang="en-US" sz="1200" i="1" err="1">
                <a:latin typeface="Times New Roman" panose="02020603050405020304" pitchFamily="18" charset="0"/>
                <a:cs typeface="Times New Roman" panose="02020603050405020304" pitchFamily="18" charset="0"/>
              </a:rPr>
              <a:t>định</a:t>
            </a:r>
            <a:r>
              <a:rPr lang="en-US" sz="1200" i="1">
                <a:latin typeface="Times New Roman" panose="02020603050405020304" pitchFamily="18" charset="0"/>
                <a:cs typeface="Times New Roman" panose="02020603050405020304" pitchFamily="18" charset="0"/>
              </a:rPr>
              <a:t> </a:t>
            </a:r>
            <a:r>
              <a:rPr lang="en-US" sz="1200" i="1" err="1">
                <a:latin typeface="Times New Roman" panose="02020603050405020304" pitchFamily="18" charset="0"/>
                <a:cs typeface="Times New Roman" panose="02020603050405020304" pitchFamily="18" charset="0"/>
              </a:rPr>
              <a:t>cho</a:t>
            </a:r>
            <a:r>
              <a:rPr lang="en-US" sz="1200" i="1">
                <a:latin typeface="Times New Roman" panose="02020603050405020304" pitchFamily="18" charset="0"/>
                <a:cs typeface="Times New Roman" panose="02020603050405020304" pitchFamily="18" charset="0"/>
              </a:rPr>
              <a:t> </a:t>
            </a:r>
            <a:r>
              <a:rPr lang="en-US" sz="1200" i="1" err="1">
                <a:latin typeface="Times New Roman" panose="02020603050405020304" pitchFamily="18" charset="0"/>
                <a:cs typeface="Times New Roman" panose="02020603050405020304" pitchFamily="18" charset="0"/>
              </a:rPr>
              <a:t>biến</a:t>
            </a:r>
            <a:r>
              <a:rPr lang="vi-VN" sz="1200" i="1">
                <a:latin typeface="Times New Roman" panose="02020603050405020304" pitchFamily="18" charset="0"/>
                <a:cs typeface="Times New Roman" panose="02020603050405020304" pitchFamily="18" charset="0"/>
              </a:rPr>
              <a:t> countryName. Người dùng chỉ có thể chọn quốc gia từ </a:t>
            </a:r>
            <a:r>
              <a:rPr lang="en-US" sz="1200" i="1">
                <a:latin typeface="Times New Roman" panose="02020603050405020304" pitchFamily="18" charset="0"/>
                <a:cs typeface="Times New Roman" panose="02020603050405020304" pitchFamily="18" charset="0"/>
              </a:rPr>
              <a:t>combo box </a:t>
            </a:r>
            <a:r>
              <a:rPr lang="vi-VN" sz="1200" i="1">
                <a:latin typeface="Times New Roman" panose="02020603050405020304" pitchFamily="18" charset="0"/>
                <a:cs typeface="Times New Roman" panose="02020603050405020304" pitchFamily="18" charset="0"/>
              </a:rPr>
              <a:t>nhưng không thể chỉnh sửa tên quốc gia nào từ </a:t>
            </a:r>
            <a:r>
              <a:rPr lang="en-US" sz="1200" i="1">
                <a:latin typeface="Times New Roman" panose="02020603050405020304" pitchFamily="18" charset="0"/>
                <a:cs typeface="Times New Roman" panose="02020603050405020304" pitchFamily="18" charset="0"/>
              </a:rPr>
              <a:t>combo box</a:t>
            </a:r>
            <a:r>
              <a:rPr lang="vi-VN" sz="1200" i="1">
                <a:latin typeface="Times New Roman" panose="02020603050405020304" pitchFamily="18" charset="0"/>
                <a:cs typeface="Times New Roman" panose="02020603050405020304" pitchFamily="18" charset="0"/>
              </a:rPr>
              <a:t>. </a:t>
            </a:r>
            <a:endParaRPr lang="en-US" sz="1200" i="1">
              <a:latin typeface="Times New Roman" panose="02020603050405020304" pitchFamily="18" charset="0"/>
              <a:cs typeface="Times New Roman" panose="02020603050405020304" pitchFamily="18" charset="0"/>
            </a:endParaRPr>
          </a:p>
          <a:p>
            <a:endParaRPr lang="en-US"/>
          </a:p>
        </p:txBody>
      </p:sp>
      <p:sp>
        <p:nvSpPr>
          <p:cNvPr id="4" name="Slide Number Placeholder 3"/>
          <p:cNvSpPr>
            <a:spLocks noGrp="1"/>
          </p:cNvSpPr>
          <p:nvPr>
            <p:ph type="sldNum" sz="quarter" idx="5"/>
          </p:nvPr>
        </p:nvSpPr>
        <p:spPr/>
        <p:txBody>
          <a:bodyPr/>
          <a:lstStyle/>
          <a:p>
            <a:fld id="{9DB18AA1-6D54-4DFE-8137-C54D164A4B2B}" type="slidenum">
              <a:rPr lang="en-US" smtClean="0"/>
              <a:t>9</a:t>
            </a:fld>
            <a:endParaRPr lang="en-US"/>
          </a:p>
        </p:txBody>
      </p:sp>
    </p:spTree>
    <p:extLst>
      <p:ext uri="{BB962C8B-B14F-4D97-AF65-F5344CB8AC3E}">
        <p14:creationId xmlns:p14="http://schemas.microsoft.com/office/powerpoint/2010/main" val="10460071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11/14/2019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920250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11/14/2019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4064473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11/14/2019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178848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11/14/2019</a:t>
            </a:fld>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3943140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11/14/2019</a:t>
            </a:fld>
            <a:endParaRPr lang="en-US"/>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802892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11/14/2019</a:t>
            </a:fld>
            <a:endParaRPr lang="en-US"/>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357217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11/14/2019</a:t>
            </a:fld>
            <a:endParaRPr lang="en-US"/>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2724488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11/14/2019</a:t>
            </a:fld>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915917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11/14/2019</a:t>
            </a:fld>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114818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11/14/2019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4349336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11/14/2019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1706932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259" y="28244"/>
            <a:ext cx="9102490" cy="90540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259" y="1020278"/>
            <a:ext cx="9102490" cy="580947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810505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tmp"/><Relationship Id="rId2" Type="http://schemas.openxmlformats.org/officeDocument/2006/relationships/image" Target="../media/image3.tmp"/><Relationship Id="rId1" Type="http://schemas.openxmlformats.org/officeDocument/2006/relationships/slideLayout" Target="../slideLayouts/slideLayout2.xml"/><Relationship Id="rId4" Type="http://schemas.openxmlformats.org/officeDocument/2006/relationships/image" Target="../media/image5.tmp"/></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tmp"/><Relationship Id="rId2" Type="http://schemas.openxmlformats.org/officeDocument/2006/relationships/image" Target="../media/image9.tmp"/><Relationship Id="rId1" Type="http://schemas.openxmlformats.org/officeDocument/2006/relationships/slideLayout" Target="../slideLayouts/slideLayout2.xml"/><Relationship Id="rId4" Type="http://schemas.openxmlformats.org/officeDocument/2006/relationships/image" Target="../media/image11.tmp"/></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tmp"/><Relationship Id="rId2" Type="http://schemas.openxmlformats.org/officeDocument/2006/relationships/image" Target="../media/image14.tmp"/><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tmp"/><Relationship Id="rId2" Type="http://schemas.openxmlformats.org/officeDocument/2006/relationships/image" Target="../media/image16.tmp"/><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tmp"/><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tmp"/><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tmp"/><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tmp"/><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2.tmp"/><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3.tmp"/><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4.tmp"/><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5.tmp"/><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6.tmp"/><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7.tmp"/><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8.tmp"/><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465AF-1E9D-4F47-A457-BB8E06933EF4}"/>
              </a:ext>
            </a:extLst>
          </p:cNvPr>
          <p:cNvSpPr>
            <a:spLocks noGrp="1"/>
          </p:cNvSpPr>
          <p:nvPr>
            <p:ph type="ctrTitle"/>
          </p:nvPr>
        </p:nvSpPr>
        <p:spPr/>
        <p:txBody>
          <a:bodyPr>
            <a:normAutofit/>
          </a:bodyPr>
          <a:lstStyle/>
          <a:p>
            <a:r>
              <a:rPr lang="en-US">
                <a:latin typeface="Times New Roman" panose="02020603050405020304" pitchFamily="18" charset="0"/>
                <a:cs typeface="Times New Roman" panose="02020603050405020304" pitchFamily="18" charset="0"/>
              </a:rPr>
              <a:t>DIALOGS</a:t>
            </a:r>
          </a:p>
        </p:txBody>
      </p:sp>
      <p:sp>
        <p:nvSpPr>
          <p:cNvPr id="3" name="Subtitle 2">
            <a:extLst>
              <a:ext uri="{FF2B5EF4-FFF2-40B4-BE49-F238E27FC236}">
                <a16:creationId xmlns:a16="http://schemas.microsoft.com/office/drawing/2014/main" id="{DAD84004-3706-4DD2-91FA-FF80F7B22CB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94278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958F1-071A-4A8D-8390-AD8C3E95F272}"/>
              </a:ext>
            </a:extLst>
          </p:cNvPr>
          <p:cNvSpPr>
            <a:spLocks noGrp="1"/>
          </p:cNvSpPr>
          <p:nvPr>
            <p:ph type="title"/>
          </p:nvPr>
        </p:nvSpPr>
        <p:spPr/>
        <p:txBody>
          <a:bodyPr/>
          <a:lstStyle/>
          <a:p>
            <a:r>
              <a:rPr lang="en-US" err="1">
                <a:latin typeface="Times New Roman" panose="02020603050405020304" pitchFamily="18" charset="0"/>
                <a:cs typeface="Times New Roman" panose="02020603050405020304" pitchFamily="18" charset="0"/>
              </a:rPr>
              <a:t>Nội</a:t>
            </a:r>
            <a:r>
              <a:rPr lang="en-US">
                <a:latin typeface="Times New Roman" panose="02020603050405020304" pitchFamily="18" charset="0"/>
                <a:cs typeface="Times New Roman" panose="02020603050405020304" pitchFamily="18" charset="0"/>
              </a:rPr>
              <a:t> dung</a:t>
            </a:r>
          </a:p>
        </p:txBody>
      </p:sp>
      <p:sp>
        <p:nvSpPr>
          <p:cNvPr id="3" name="Content Placeholder 2">
            <a:extLst>
              <a:ext uri="{FF2B5EF4-FFF2-40B4-BE49-F238E27FC236}">
                <a16:creationId xmlns:a16="http://schemas.microsoft.com/office/drawing/2014/main" id="{BE9A2F4A-DFA5-41F5-BD92-39E9675D4196}"/>
              </a:ext>
            </a:extLst>
          </p:cNvPr>
          <p:cNvSpPr>
            <a:spLocks noGrp="1"/>
          </p:cNvSpPr>
          <p:nvPr>
            <p:ph idx="1"/>
          </p:nvPr>
        </p:nvSpPr>
        <p:spPr/>
        <p:txBody>
          <a:bodyPr/>
          <a:lstStyle/>
          <a:p>
            <a:pPr marL="0" indent="0">
              <a:buNone/>
            </a:pPr>
            <a:r>
              <a:rPr lang="en-US" err="1">
                <a:latin typeface="Times New Roman" panose="02020603050405020304" pitchFamily="18" charset="0"/>
                <a:cs typeface="Times New Roman" panose="02020603050405020304" pitchFamily="18" charset="0"/>
              </a:rPr>
              <a:t>Chúng</a:t>
            </a:r>
            <a:r>
              <a:rPr lang="en-US">
                <a:latin typeface="Times New Roman" panose="02020603050405020304" pitchFamily="18" charset="0"/>
                <a:cs typeface="Times New Roman" panose="02020603050405020304" pitchFamily="18" charset="0"/>
              </a:rPr>
              <a:t> </a:t>
            </a:r>
            <a:r>
              <a:rPr lang="vi-VN">
                <a:latin typeface="Times New Roman" panose="02020603050405020304" pitchFamily="18" charset="0"/>
                <a:cs typeface="Times New Roman" panose="02020603050405020304" pitchFamily="18" charset="0"/>
              </a:rPr>
              <a:t>ta sẽ</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tìm</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hiểu</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nội</a:t>
            </a:r>
            <a:r>
              <a:rPr lang="en-US">
                <a:latin typeface="Times New Roman" panose="02020603050405020304" pitchFamily="18" charset="0"/>
                <a:cs typeface="Times New Roman" panose="02020603050405020304" pitchFamily="18" charset="0"/>
              </a:rPr>
              <a:t> dung </a:t>
            </a:r>
            <a:r>
              <a:rPr lang="en-US" err="1">
                <a:latin typeface="Times New Roman" panose="02020603050405020304" pitchFamily="18" charset="0"/>
                <a:cs typeface="Times New Roman" panose="02020603050405020304" pitchFamily="18" charset="0"/>
              </a:rPr>
              <a:t>nh</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sau</a:t>
            </a:r>
            <a:r>
              <a:rPr lang="vi-VN">
                <a:latin typeface="Times New Roman" panose="02020603050405020304" pitchFamily="18" charset="0"/>
                <a:cs typeface="Times New Roman" panose="02020603050405020304" pitchFamily="18" charset="0"/>
              </a:rPr>
              <a:t>:</a:t>
            </a:r>
          </a:p>
          <a:p>
            <a:r>
              <a:rPr lang="en-US" err="1">
                <a:latin typeface="Times New Roman" panose="02020603050405020304" pitchFamily="18" charset="0"/>
                <a:cs typeface="Times New Roman" panose="02020603050405020304" pitchFamily="18" charset="0"/>
              </a:rPr>
              <a:t>Đầu</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vào</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hộp</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thoại</a:t>
            </a:r>
            <a:endParaRPr lang="vi-VN">
              <a:latin typeface="Times New Roman" panose="02020603050405020304" pitchFamily="18" charset="0"/>
              <a:cs typeface="Times New Roman" panose="02020603050405020304" pitchFamily="18" charset="0"/>
            </a:endParaRPr>
          </a:p>
          <a:p>
            <a:r>
              <a:rPr lang="en-US" err="1">
                <a:latin typeface="Times New Roman" panose="02020603050405020304" pitchFamily="18" charset="0"/>
                <a:cs typeface="Times New Roman" panose="02020603050405020304" pitchFamily="18" charset="0"/>
              </a:rPr>
              <a:t>Sử</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dụng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đầu</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vào</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hộp</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thoại</a:t>
            </a:r>
            <a:endParaRPr lang="vi-VN">
              <a:latin typeface="Times New Roman" panose="02020603050405020304" pitchFamily="18" charset="0"/>
              <a:cs typeface="Times New Roman" panose="02020603050405020304" pitchFamily="18" charset="0"/>
            </a:endParaRPr>
          </a:p>
          <a:p>
            <a:r>
              <a:rPr lang="en-US" err="1">
                <a:latin typeface="Times New Roman" panose="02020603050405020304" pitchFamily="18" charset="0"/>
                <a:cs typeface="Times New Roman" panose="02020603050405020304" pitchFamily="18" charset="0"/>
              </a:rPr>
              <a:t>Sử</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dụng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màu</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hộp</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thoại</a:t>
            </a:r>
            <a:endParaRPr lang="vi-VN">
              <a:latin typeface="Times New Roman" panose="02020603050405020304" pitchFamily="18" charset="0"/>
              <a:cs typeface="Times New Roman" panose="02020603050405020304" pitchFamily="18" charset="0"/>
            </a:endParaRPr>
          </a:p>
          <a:p>
            <a:r>
              <a:rPr lang="en-US" err="1">
                <a:latin typeface="Times New Roman" panose="02020603050405020304" pitchFamily="18" charset="0"/>
                <a:cs typeface="Times New Roman" panose="02020603050405020304" pitchFamily="18" charset="0"/>
              </a:rPr>
              <a:t>Sử</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dụng</a:t>
            </a:r>
            <a:r>
              <a:rPr lang="en-US">
                <a:latin typeface="Times New Roman" panose="02020603050405020304" pitchFamily="18" charset="0"/>
                <a:cs typeface="Times New Roman" panose="02020603050405020304" pitchFamily="18" charset="0"/>
              </a:rPr>
              <a:t> font </a:t>
            </a:r>
            <a:r>
              <a:rPr lang="en-US" err="1">
                <a:latin typeface="Times New Roman" panose="02020603050405020304" pitchFamily="18" charset="0"/>
                <a:cs typeface="Times New Roman" panose="02020603050405020304" pitchFamily="18" charset="0"/>
              </a:rPr>
              <a:t>hộp</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thoại</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S</a:t>
            </a:r>
            <a:r>
              <a:rPr lang="vi-VN">
                <a:latin typeface="Times New Roman" panose="02020603050405020304" pitchFamily="18" charset="0"/>
                <a:cs typeface="Times New Roman" panose="02020603050405020304" pitchFamily="18" charset="0"/>
              </a:rPr>
              <a:t>ử</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dụng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tập</a:t>
            </a:r>
            <a:r>
              <a:rPr lang="en-US">
                <a:latin typeface="Times New Roman" panose="02020603050405020304" pitchFamily="18" charset="0"/>
                <a:cs typeface="Times New Roman" panose="02020603050405020304" pitchFamily="18" charset="0"/>
              </a:rPr>
              <a:t> tin </a:t>
            </a:r>
            <a:r>
              <a:rPr lang="en-US" err="1">
                <a:latin typeface="Times New Roman" panose="02020603050405020304" pitchFamily="18" charset="0"/>
                <a:cs typeface="Times New Roman" panose="02020603050405020304" pitchFamily="18" charset="0"/>
              </a:rPr>
              <a:t>hộp</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thoại</a:t>
            </a: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5024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en-US">
                <a:latin typeface="Times New Roman" panose="02020603050405020304" pitchFamily="18" charset="0"/>
                <a:cs typeface="Times New Roman" panose="02020603050405020304" pitchFamily="18" charset="0"/>
              </a:rPr>
              <a:t>Gi</a:t>
            </a:r>
            <a:r>
              <a:rPr lang="vi-VN">
                <a:latin typeface="Times New Roman" panose="02020603050405020304" pitchFamily="18" charset="0"/>
                <a:cs typeface="Times New Roman" panose="02020603050405020304" pitchFamily="18" charset="0"/>
              </a:rPr>
              <a:t>ớ</a:t>
            </a:r>
            <a:r>
              <a:rPr lang="en-US" err="1">
                <a:latin typeface="Times New Roman" panose="02020603050405020304" pitchFamily="18" charset="0"/>
                <a:cs typeface="Times New Roman" panose="02020603050405020304" pitchFamily="18" charset="0"/>
              </a:rPr>
              <a:t>i</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Thiệu</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algn="just"/>
            <a:r>
              <a:rPr lang="vi-VN" sz="3200">
                <a:latin typeface="Times New Roman" panose="02020603050405020304" pitchFamily="18" charset="0"/>
                <a:cs typeface="Times New Roman" panose="02020603050405020304" pitchFamily="18" charset="0"/>
              </a:rPr>
              <a:t>Hộp thoại được </a:t>
            </a:r>
            <a:r>
              <a:rPr lang="en-US" sz="3200" err="1">
                <a:latin typeface="Times New Roman" panose="02020603050405020304" pitchFamily="18" charset="0"/>
                <a:cs typeface="Times New Roman" panose="02020603050405020304" pitchFamily="18" charset="0"/>
              </a:rPr>
              <a:t>yêu</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cầu</a:t>
            </a:r>
            <a:r>
              <a:rPr lang="vi-VN" sz="3200">
                <a:latin typeface="Times New Roman" panose="02020603050405020304" pitchFamily="18" charset="0"/>
                <a:cs typeface="Times New Roman" panose="02020603050405020304" pitchFamily="18" charset="0"/>
              </a:rPr>
              <a:t> trong tất cả ứng dụng để có được đầu vào từ người dùng, cũng như để hướng dẫn người dùng nhập dữ liệu chính xác. Hộp thoại tương tác hoàn toàn thân thiện người dùng. Về cơ bản có hai loại hộp thoại sau :</a:t>
            </a:r>
          </a:p>
          <a:p>
            <a:pPr algn="just"/>
            <a:r>
              <a:rPr lang="en-US" sz="3200" b="1">
                <a:latin typeface="Times New Roman" panose="02020603050405020304" pitchFamily="18" charset="0"/>
                <a:cs typeface="Times New Roman" panose="02020603050405020304" pitchFamily="18" charset="0"/>
              </a:rPr>
              <a:t>Modal dialog</a:t>
            </a:r>
            <a:r>
              <a:rPr lang="vi-VN" sz="3200">
                <a:latin typeface="Times New Roman" panose="02020603050405020304" pitchFamily="18" charset="0"/>
                <a:cs typeface="Times New Roman" panose="02020603050405020304" pitchFamily="18" charset="0"/>
              </a:rPr>
              <a:t> : </a:t>
            </a:r>
            <a:r>
              <a:rPr lang="en-US" sz="3200">
                <a:latin typeface="Times New Roman" panose="02020603050405020304" pitchFamily="18" charset="0"/>
                <a:cs typeface="Times New Roman" panose="02020603050405020304" pitchFamily="18" charset="0"/>
              </a:rPr>
              <a:t>modal dialog </a:t>
            </a:r>
            <a:r>
              <a:rPr lang="vi-VN" sz="3200">
                <a:latin typeface="Times New Roman" panose="02020603050405020304" pitchFamily="18" charset="0"/>
                <a:cs typeface="Times New Roman" panose="02020603050405020304" pitchFamily="18" charset="0"/>
              </a:rPr>
              <a:t>là hộp thoại muốn người dùng nhập thông tin bắt buộc. Loại hộp thoại này không để người dùng sử dụng bộ phận khác của ứng dụng cho đến </a:t>
            </a:r>
            <a:r>
              <a:rPr lang="en-US" sz="3200" err="1">
                <a:latin typeface="Times New Roman" panose="02020603050405020304" pitchFamily="18" charset="0"/>
                <a:cs typeface="Times New Roman" panose="02020603050405020304" pitchFamily="18" charset="0"/>
              </a:rPr>
              <a:t>khi</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hộp</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thoại</a:t>
            </a:r>
            <a:r>
              <a:rPr lang="en-US" sz="3200">
                <a:latin typeface="Times New Roman" panose="02020603050405020304" pitchFamily="18" charset="0"/>
                <a:cs typeface="Times New Roman" panose="02020603050405020304" pitchFamily="18" charset="0"/>
              </a:rPr>
              <a:t> modal </a:t>
            </a:r>
            <a:r>
              <a:rPr lang="en-US" sz="3200" err="1">
                <a:latin typeface="Times New Roman" panose="02020603050405020304" pitchFamily="18" charset="0"/>
                <a:cs typeface="Times New Roman" panose="02020603050405020304" pitchFamily="18" charset="0"/>
              </a:rPr>
              <a:t>đóng</a:t>
            </a:r>
            <a:r>
              <a:rPr lang="vi-VN" sz="3200">
                <a:latin typeface="Times New Roman" panose="02020603050405020304" pitchFamily="18" charset="0"/>
                <a:cs typeface="Times New Roman" panose="02020603050405020304" pitchFamily="18" charset="0"/>
              </a:rPr>
              <a:t>. Vậy là, người dùng cần nhập thông tin cần</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thiết</a:t>
            </a:r>
            <a:r>
              <a:rPr lang="vi-VN" sz="3200">
                <a:latin typeface="Times New Roman" panose="02020603050405020304" pitchFamily="18" charset="0"/>
                <a:cs typeface="Times New Roman" panose="02020603050405020304" pitchFamily="18" charset="0"/>
              </a:rPr>
              <a:t> trong hộp thoại </a:t>
            </a:r>
            <a:r>
              <a:rPr lang="en-US" sz="3200">
                <a:latin typeface="Times New Roman" panose="02020603050405020304" pitchFamily="18" charset="0"/>
                <a:cs typeface="Times New Roman" panose="02020603050405020304" pitchFamily="18" charset="0"/>
              </a:rPr>
              <a:t>modal</a:t>
            </a:r>
            <a:r>
              <a:rPr lang="vi-VN" sz="3200">
                <a:latin typeface="Times New Roman" panose="02020603050405020304" pitchFamily="18" charset="0"/>
                <a:cs typeface="Times New Roman" panose="02020603050405020304" pitchFamily="18" charset="0"/>
              </a:rPr>
              <a:t> và </a:t>
            </a:r>
            <a:r>
              <a:rPr lang="en-US" sz="3200" err="1">
                <a:latin typeface="Times New Roman" panose="02020603050405020304" pitchFamily="18" charset="0"/>
                <a:cs typeface="Times New Roman" panose="02020603050405020304" pitchFamily="18" charset="0"/>
              </a:rPr>
              <a:t>sau</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đó</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đóng</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hộp thoại, người dùng có thể truy cập phần còn lại ứng dụng. </a:t>
            </a:r>
          </a:p>
        </p:txBody>
      </p:sp>
    </p:spTree>
    <p:extLst>
      <p:ext uri="{BB962C8B-B14F-4D97-AF65-F5344CB8AC3E}">
        <p14:creationId xmlns:p14="http://schemas.microsoft.com/office/powerpoint/2010/main" val="181101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en-US">
                <a:latin typeface="Times New Roman" panose="02020603050405020304" pitchFamily="18" charset="0"/>
                <a:cs typeface="Times New Roman" panose="02020603050405020304" pitchFamily="18" charset="0"/>
              </a:rPr>
              <a:t>Gi</a:t>
            </a:r>
            <a:r>
              <a:rPr lang="vi-VN">
                <a:latin typeface="Times New Roman" panose="02020603050405020304" pitchFamily="18" charset="0"/>
                <a:cs typeface="Times New Roman" panose="02020603050405020304" pitchFamily="18" charset="0"/>
              </a:rPr>
              <a:t>ớ</a:t>
            </a:r>
            <a:r>
              <a:rPr lang="en-US" err="1">
                <a:latin typeface="Times New Roman" panose="02020603050405020304" pitchFamily="18" charset="0"/>
                <a:cs typeface="Times New Roman" panose="02020603050405020304" pitchFamily="18" charset="0"/>
              </a:rPr>
              <a:t>i</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Thiệu</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algn="just"/>
            <a:r>
              <a:rPr lang="en-US" sz="3200" b="1">
                <a:latin typeface="Times New Roman" panose="02020603050405020304" pitchFamily="18" charset="0"/>
                <a:cs typeface="Times New Roman" panose="02020603050405020304" pitchFamily="18" charset="0"/>
              </a:rPr>
              <a:t>Non-modal </a:t>
            </a:r>
            <a:r>
              <a:rPr lang="vi-VN" sz="3200" b="1">
                <a:latin typeface="Times New Roman" panose="02020603050405020304" pitchFamily="18" charset="0"/>
                <a:cs typeface="Times New Roman" panose="02020603050405020304" pitchFamily="18" charset="0"/>
              </a:rPr>
              <a:t>hoặc modeless </a:t>
            </a:r>
            <a:r>
              <a:rPr lang="en-US" sz="3200" b="1">
                <a:latin typeface="Times New Roman" panose="02020603050405020304" pitchFamily="18" charset="0"/>
                <a:cs typeface="Times New Roman" panose="02020603050405020304" pitchFamily="18" charset="0"/>
              </a:rPr>
              <a:t>dialogs</a:t>
            </a:r>
            <a:r>
              <a:rPr lang="vi-VN" sz="3200">
                <a:latin typeface="Times New Roman" panose="02020603050405020304" pitchFamily="18" charset="0"/>
                <a:cs typeface="Times New Roman" panose="02020603050405020304" pitchFamily="18" charset="0"/>
              </a:rPr>
              <a:t>: hộp thoại </a:t>
            </a:r>
            <a:r>
              <a:rPr lang="en-US" sz="3200" err="1">
                <a:latin typeface="Times New Roman" panose="02020603050405020304" pitchFamily="18" charset="0"/>
                <a:cs typeface="Times New Roman" panose="02020603050405020304" pitchFamily="18" charset="0"/>
              </a:rPr>
              <a:t>này</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cho</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phép</a:t>
            </a:r>
            <a:r>
              <a:rPr lang="vi-VN" sz="3200">
                <a:latin typeface="Times New Roman" panose="02020603050405020304" pitchFamily="18" charset="0"/>
                <a:cs typeface="Times New Roman" panose="02020603050405020304" pitchFamily="18" charset="0"/>
              </a:rPr>
              <a:t> người dùng tương tác với phần còn lại</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của</a:t>
            </a:r>
            <a:r>
              <a:rPr lang="vi-VN" sz="3200">
                <a:latin typeface="Times New Roman" panose="02020603050405020304" pitchFamily="18" charset="0"/>
                <a:cs typeface="Times New Roman" panose="02020603050405020304" pitchFamily="18" charset="0"/>
              </a:rPr>
              <a:t> ứng dụng và </a:t>
            </a:r>
            <a:r>
              <a:rPr lang="en-US" sz="3200">
                <a:latin typeface="Times New Roman" panose="02020603050405020304" pitchFamily="18" charset="0"/>
                <a:cs typeface="Times New Roman" panose="02020603050405020304" pitchFamily="18" charset="0"/>
              </a:rPr>
              <a:t>dialog box</a:t>
            </a:r>
            <a:r>
              <a:rPr lang="vi-VN" sz="3200">
                <a:latin typeface="Times New Roman" panose="02020603050405020304" pitchFamily="18" charset="0"/>
                <a:cs typeface="Times New Roman" panose="02020603050405020304" pitchFamily="18" charset="0"/>
              </a:rPr>
              <a:t>. Vậy là, người dùng có thể tiếp tục tương tác với phần còn lại ứng dụng trong khi giữ cho hộp thoại modeless mở. Đó là lý do tại sao hộp thoại modeless thường được dùng để nhận thông tin về không cần thiết hoặc không quan trọng từ người dùng.</a:t>
            </a:r>
            <a:endParaRPr lang="en-US" sz="32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6301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en-US" err="1">
                <a:latin typeface="Times New Roman" panose="02020603050405020304" pitchFamily="18" charset="0"/>
                <a:cs typeface="Times New Roman" panose="02020603050405020304" pitchFamily="18" charset="0"/>
              </a:rPr>
              <a:t>Đầu</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Vào</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Hộp</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Thoại</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marL="290513" indent="0" algn="just">
              <a:buNone/>
            </a:pPr>
            <a:r>
              <a:rPr lang="vi-VN" sz="3200">
                <a:latin typeface="Times New Roman" panose="02020603050405020304" pitchFamily="18" charset="0"/>
                <a:cs typeface="Times New Roman" panose="02020603050405020304" pitchFamily="18" charset="0"/>
              </a:rPr>
              <a:t>Đầu vào </a:t>
            </a:r>
            <a:r>
              <a:rPr lang="en-US" sz="3200">
                <a:latin typeface="Times New Roman" panose="02020603050405020304" pitchFamily="18" charset="0"/>
                <a:cs typeface="Times New Roman" panose="02020603050405020304" pitchFamily="18" charset="0"/>
              </a:rPr>
              <a:t>h</a:t>
            </a:r>
            <a:r>
              <a:rPr lang="vi-VN" sz="3200">
                <a:latin typeface="Times New Roman" panose="02020603050405020304" pitchFamily="18" charset="0"/>
                <a:cs typeface="Times New Roman" panose="02020603050405020304" pitchFamily="18" charset="0"/>
              </a:rPr>
              <a:t>ộp thoại được tạo lập với trợ giúp của lớp QInputDialog.</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Lớp QInputDialog cung cấp hộp thoại để có được một giá trị từ người dùng. Đầu vào </a:t>
            </a:r>
            <a:r>
              <a:rPr lang="en-US" sz="3200">
                <a:latin typeface="Times New Roman" panose="02020603050405020304" pitchFamily="18" charset="0"/>
                <a:cs typeface="Times New Roman" panose="02020603050405020304" pitchFamily="18" charset="0"/>
              </a:rPr>
              <a:t>h</a:t>
            </a:r>
            <a:r>
              <a:rPr lang="vi-VN" sz="3200">
                <a:latin typeface="Times New Roman" panose="02020603050405020304" pitchFamily="18" charset="0"/>
                <a:cs typeface="Times New Roman" panose="02020603050405020304" pitchFamily="18" charset="0"/>
              </a:rPr>
              <a:t>ộp thoại cung cấp bao gồm văn bản và hai nút</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là</a:t>
            </a:r>
            <a:r>
              <a:rPr lang="vi-VN" sz="3200">
                <a:latin typeface="Times New Roman" panose="02020603050405020304" pitchFamily="18" charset="0"/>
                <a:cs typeface="Times New Roman" panose="02020603050405020304" pitchFamily="18" charset="0"/>
              </a:rPr>
              <a:t> </a:t>
            </a:r>
            <a:r>
              <a:rPr lang="vi-VN" sz="3200" b="1">
                <a:latin typeface="Times New Roman" panose="02020603050405020304" pitchFamily="18" charset="0"/>
                <a:cs typeface="Times New Roman" panose="02020603050405020304" pitchFamily="18" charset="0"/>
              </a:rPr>
              <a:t>OK</a:t>
            </a:r>
            <a:r>
              <a:rPr lang="vi-VN" sz="3200">
                <a:latin typeface="Times New Roman" panose="02020603050405020304" pitchFamily="18" charset="0"/>
                <a:cs typeface="Times New Roman" panose="02020603050405020304" pitchFamily="18" charset="0"/>
              </a:rPr>
              <a:t> và </a:t>
            </a:r>
            <a:r>
              <a:rPr lang="en-US" sz="3200" b="1">
                <a:latin typeface="Times New Roman" panose="02020603050405020304" pitchFamily="18" charset="0"/>
                <a:cs typeface="Times New Roman" panose="02020603050405020304" pitchFamily="18" charset="0"/>
              </a:rPr>
              <a:t>Cancel</a:t>
            </a:r>
            <a:r>
              <a:rPr lang="vi-VN" sz="3200">
                <a:latin typeface="Times New Roman" panose="02020603050405020304" pitchFamily="18" charset="0"/>
                <a:cs typeface="Times New Roman" panose="02020603050405020304" pitchFamily="18" charset="0"/>
              </a:rPr>
              <a:t>. </a:t>
            </a:r>
            <a:r>
              <a:rPr lang="en-US" sz="3200">
                <a:latin typeface="Times New Roman" panose="02020603050405020304" pitchFamily="18" charset="0"/>
                <a:cs typeface="Times New Roman" panose="02020603050405020304" pitchFamily="18" charset="0"/>
              </a:rPr>
              <a:t>V</a:t>
            </a:r>
            <a:r>
              <a:rPr lang="vi-VN" sz="3200">
                <a:latin typeface="Times New Roman" panose="02020603050405020304" pitchFamily="18" charset="0"/>
                <a:cs typeface="Times New Roman" panose="02020603050405020304" pitchFamily="18" charset="0"/>
              </a:rPr>
              <a:t>ăn bản giúp chúng t</a:t>
            </a:r>
            <a:r>
              <a:rPr lang="en-US" sz="3200">
                <a:latin typeface="Times New Roman" panose="02020603050405020304" pitchFamily="18" charset="0"/>
                <a:cs typeface="Times New Roman" panose="02020603050405020304" pitchFamily="18" charset="0"/>
              </a:rPr>
              <a:t>a</a:t>
            </a:r>
            <a:r>
              <a:rPr lang="vi-VN" sz="3200">
                <a:latin typeface="Times New Roman" panose="02020603050405020304" pitchFamily="18" charset="0"/>
                <a:cs typeface="Times New Roman" panose="02020603050405020304" pitchFamily="18" charset="0"/>
              </a:rPr>
              <a:t> có thể có được một giá trị từ người dùng, nơi giá trị đơn có thể là chuỗi, một số, hoặc khoản mục từ danh sách. </a:t>
            </a:r>
            <a:r>
              <a:rPr lang="en-US" sz="3200">
                <a:latin typeface="Times New Roman" panose="02020603050405020304" pitchFamily="18" charset="0"/>
                <a:cs typeface="Times New Roman" panose="02020603050405020304" pitchFamily="18" charset="0"/>
              </a:rPr>
              <a:t>P</a:t>
            </a:r>
            <a:r>
              <a:rPr lang="vi-VN" sz="3200">
                <a:latin typeface="Times New Roman" panose="02020603050405020304" pitchFamily="18" charset="0"/>
                <a:cs typeface="Times New Roman" panose="02020603050405020304" pitchFamily="18" charset="0"/>
              </a:rPr>
              <a:t>hương </a:t>
            </a:r>
            <a:r>
              <a:rPr lang="en-US" sz="3200" err="1">
                <a:latin typeface="Times New Roman" panose="02020603050405020304" pitchFamily="18" charset="0"/>
                <a:cs typeface="Times New Roman" panose="02020603050405020304" pitchFamily="18" charset="0"/>
              </a:rPr>
              <a:t>th</a:t>
            </a:r>
            <a:r>
              <a:rPr lang="vi-VN" sz="3200">
                <a:latin typeface="Times New Roman" panose="02020603050405020304" pitchFamily="18" charset="0"/>
                <a:cs typeface="Times New Roman" panose="02020603050405020304" pitchFamily="18" charset="0"/>
              </a:rPr>
              <a:t>ứ</a:t>
            </a:r>
            <a:r>
              <a:rPr lang="en-US" sz="3200">
                <a:latin typeface="Times New Roman" panose="02020603050405020304" pitchFamily="18" charset="0"/>
                <a:cs typeface="Times New Roman" panose="02020603050405020304" pitchFamily="18" charset="0"/>
              </a:rPr>
              <a:t>c</a:t>
            </a:r>
            <a:r>
              <a:rPr lang="vi-VN" sz="3200">
                <a:latin typeface="Times New Roman" panose="02020603050405020304" pitchFamily="18" charset="0"/>
                <a:cs typeface="Times New Roman" panose="02020603050405020304" pitchFamily="18" charset="0"/>
              </a:rPr>
              <a:t> cung cấp bởi lớp QInputDialog để chấp nhận các loại đầu vào khác nhau từ người dùng :</a:t>
            </a:r>
            <a:endParaRPr lang="en-US" sz="3200">
              <a:latin typeface="Times New Roman" panose="02020603050405020304" pitchFamily="18" charset="0"/>
              <a:cs typeface="Times New Roman" panose="02020603050405020304" pitchFamily="18" charset="0"/>
            </a:endParaRPr>
          </a:p>
          <a:p>
            <a:pPr marL="747713" indent="-457200" algn="just">
              <a:buFont typeface="Wingdings" panose="05000000000000000000" pitchFamily="2" charset="2"/>
              <a:buChar char="Ø"/>
            </a:pPr>
            <a:r>
              <a:rPr lang="vi-VN" sz="3200" b="1">
                <a:latin typeface="Times New Roman" panose="02020603050405020304" pitchFamily="18" charset="0"/>
                <a:cs typeface="Times New Roman" panose="02020603050405020304" pitchFamily="18" charset="0"/>
              </a:rPr>
              <a:t>getInt( ) : </a:t>
            </a:r>
            <a:r>
              <a:rPr lang="vi-VN" sz="3200">
                <a:latin typeface="Times New Roman" panose="02020603050405020304" pitchFamily="18" charset="0"/>
                <a:cs typeface="Times New Roman" panose="02020603050405020304" pitchFamily="18" charset="0"/>
              </a:rPr>
              <a:t>phương </a:t>
            </a:r>
            <a:r>
              <a:rPr lang="en-US" sz="3200" err="1">
                <a:latin typeface="Times New Roman" panose="02020603050405020304" pitchFamily="18" charset="0"/>
                <a:cs typeface="Times New Roman" panose="02020603050405020304" pitchFamily="18" charset="0"/>
              </a:rPr>
              <a:t>th</a:t>
            </a:r>
            <a:r>
              <a:rPr lang="vi-VN" sz="3200">
                <a:latin typeface="Times New Roman" panose="02020603050405020304" pitchFamily="18" charset="0"/>
                <a:cs typeface="Times New Roman" panose="02020603050405020304" pitchFamily="18" charset="0"/>
              </a:rPr>
              <a:t>ứ</a:t>
            </a:r>
            <a:r>
              <a:rPr lang="en-US" sz="3200">
                <a:latin typeface="Times New Roman" panose="02020603050405020304" pitchFamily="18" charset="0"/>
                <a:cs typeface="Times New Roman" panose="02020603050405020304" pitchFamily="18" charset="0"/>
              </a:rPr>
              <a:t>c</a:t>
            </a:r>
            <a:r>
              <a:rPr lang="vi-VN" sz="3200">
                <a:latin typeface="Times New Roman" panose="02020603050405020304" pitchFamily="18" charset="0"/>
                <a:cs typeface="Times New Roman" panose="02020603050405020304" pitchFamily="18" charset="0"/>
              </a:rPr>
              <a:t> này cho thấy hộp xoay cho chấp nhận số nguyên. Để có được số nguyên từ người dùng, cần sử dụng cú pháp sau :</a:t>
            </a:r>
            <a:endParaRPr lang="en-US" sz="3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16398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en-US" err="1">
                <a:latin typeface="Times New Roman" panose="02020603050405020304" pitchFamily="18" charset="0"/>
                <a:cs typeface="Times New Roman" panose="02020603050405020304" pitchFamily="18" charset="0"/>
              </a:rPr>
              <a:t>Đầu</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Vào</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Hộp</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Thoại</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290513" indent="0" algn="just">
              <a:buNone/>
            </a:pPr>
            <a:r>
              <a:rPr lang="en-US" sz="3200" i="1" err="1">
                <a:latin typeface="Times New Roman" panose="02020603050405020304" pitchFamily="18" charset="0"/>
                <a:cs typeface="Times New Roman" panose="02020603050405020304" pitchFamily="18" charset="0"/>
              </a:rPr>
              <a:t>getInt</a:t>
            </a:r>
            <a:r>
              <a:rPr lang="en-US" sz="3200" i="1">
                <a:latin typeface="Times New Roman" panose="02020603050405020304" pitchFamily="18" charset="0"/>
                <a:cs typeface="Times New Roman" panose="02020603050405020304" pitchFamily="18" charset="0"/>
              </a:rPr>
              <a:t>(self, window title, label before </a:t>
            </a:r>
            <a:r>
              <a:rPr lang="en-US" sz="3200" i="1" err="1">
                <a:latin typeface="Times New Roman" panose="02020603050405020304" pitchFamily="18" charset="0"/>
                <a:cs typeface="Times New Roman" panose="02020603050405020304" pitchFamily="18" charset="0"/>
              </a:rPr>
              <a:t>LineEdit</a:t>
            </a:r>
            <a:r>
              <a:rPr lang="en-US" sz="3200" i="1">
                <a:latin typeface="Times New Roman" panose="02020603050405020304" pitchFamily="18" charset="0"/>
                <a:cs typeface="Times New Roman" panose="02020603050405020304" pitchFamily="18" charset="0"/>
              </a:rPr>
              <a:t> widget, default value, minimum, maximum and step size)</a:t>
            </a:r>
          </a:p>
          <a:p>
            <a:pPr marL="290513" indent="0" algn="just">
              <a:buNone/>
            </a:pPr>
            <a:r>
              <a:rPr lang="en-US" sz="3200" i="1" err="1">
                <a:latin typeface="Times New Roman" panose="02020603050405020304" pitchFamily="18" charset="0"/>
                <a:cs typeface="Times New Roman" panose="02020603050405020304" pitchFamily="18" charset="0"/>
              </a:rPr>
              <a:t>Ví</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dụ</a:t>
            </a:r>
            <a:r>
              <a:rPr lang="en-US" sz="3200" i="1">
                <a:latin typeface="Times New Roman" panose="02020603050405020304" pitchFamily="18" charset="0"/>
                <a:cs typeface="Times New Roman" panose="02020603050405020304" pitchFamily="18" charset="0"/>
              </a:rPr>
              <a:t>:</a:t>
            </a:r>
          </a:p>
          <a:p>
            <a:pPr marL="290513" indent="0" algn="just">
              <a:buNone/>
            </a:pPr>
            <a:r>
              <a:rPr lang="en-US" sz="3200" i="1">
                <a:latin typeface="Times New Roman" panose="02020603050405020304" pitchFamily="18" charset="0"/>
                <a:cs typeface="Times New Roman" panose="02020603050405020304" pitchFamily="18" charset="0"/>
              </a:rPr>
              <a:t>quantity, ok = </a:t>
            </a:r>
            <a:r>
              <a:rPr lang="en-US" sz="3200" i="1" err="1">
                <a:latin typeface="Times New Roman" panose="02020603050405020304" pitchFamily="18" charset="0"/>
                <a:cs typeface="Times New Roman" panose="02020603050405020304" pitchFamily="18" charset="0"/>
              </a:rPr>
              <a:t>QInputDialog.getInt</a:t>
            </a:r>
            <a:r>
              <a:rPr lang="en-US" sz="3200" i="1">
                <a:latin typeface="Times New Roman" panose="02020603050405020304" pitchFamily="18" charset="0"/>
                <a:cs typeface="Times New Roman" panose="02020603050405020304" pitchFamily="18" charset="0"/>
              </a:rPr>
              <a:t>(self, "Order Quantity", "Enter quantity:", 2, 1, 100, 1)</a:t>
            </a:r>
          </a:p>
          <a:p>
            <a:pPr marL="346075" indent="-346075" algn="just">
              <a:buFont typeface="Wingdings" panose="05000000000000000000" pitchFamily="2" charset="2"/>
              <a:buChar char="Ø"/>
            </a:pPr>
            <a:r>
              <a:rPr lang="vi-VN" sz="3200" b="1">
                <a:latin typeface="Times New Roman" panose="02020603050405020304" pitchFamily="18" charset="0"/>
                <a:cs typeface="Times New Roman" panose="02020603050405020304" pitchFamily="18" charset="0"/>
              </a:rPr>
              <a:t>getDouble( ) </a:t>
            </a:r>
            <a:r>
              <a:rPr lang="vi-VN" sz="3200">
                <a:latin typeface="Times New Roman" panose="02020603050405020304" pitchFamily="18" charset="0"/>
                <a:cs typeface="Times New Roman" panose="02020603050405020304" pitchFamily="18" charset="0"/>
              </a:rPr>
              <a:t>: phương </a:t>
            </a:r>
            <a:r>
              <a:rPr lang="en-US" sz="3200" err="1">
                <a:latin typeface="Times New Roman" panose="02020603050405020304" pitchFamily="18" charset="0"/>
                <a:cs typeface="Times New Roman" panose="02020603050405020304" pitchFamily="18" charset="0"/>
              </a:rPr>
              <a:t>th</a:t>
            </a:r>
            <a:r>
              <a:rPr lang="vi-VN" sz="3200">
                <a:latin typeface="Times New Roman" panose="02020603050405020304" pitchFamily="18" charset="0"/>
                <a:cs typeface="Times New Roman" panose="02020603050405020304" pitchFamily="18" charset="0"/>
              </a:rPr>
              <a:t>ứ</a:t>
            </a:r>
            <a:r>
              <a:rPr lang="en-US" sz="3200">
                <a:latin typeface="Times New Roman" panose="02020603050405020304" pitchFamily="18" charset="0"/>
                <a:cs typeface="Times New Roman" panose="02020603050405020304" pitchFamily="18" charset="0"/>
              </a:rPr>
              <a:t>c</a:t>
            </a:r>
            <a:r>
              <a:rPr lang="vi-VN" sz="3200">
                <a:latin typeface="Times New Roman" panose="02020603050405020304" pitchFamily="18" charset="0"/>
                <a:cs typeface="Times New Roman" panose="02020603050405020304" pitchFamily="18" charset="0"/>
              </a:rPr>
              <a:t> này cho thấy hộp xoay với số dấu phẩy động để chấp nhận</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một phần giá trị. Để có được một phần</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giá trị từ người dùng, cần sử dụng cú pháp sau :</a:t>
            </a:r>
            <a:endParaRPr lang="en-US" sz="3200">
              <a:latin typeface="Times New Roman" panose="02020603050405020304" pitchFamily="18" charset="0"/>
              <a:cs typeface="Times New Roman" panose="02020603050405020304" pitchFamily="18" charset="0"/>
            </a:endParaRPr>
          </a:p>
          <a:p>
            <a:pPr marL="290513" indent="0" algn="just">
              <a:buNone/>
            </a:pPr>
            <a:r>
              <a:rPr lang="en-US" sz="3200" i="1" err="1">
                <a:latin typeface="Times New Roman" panose="02020603050405020304" pitchFamily="18" charset="0"/>
                <a:cs typeface="Times New Roman" panose="02020603050405020304" pitchFamily="18" charset="0"/>
              </a:rPr>
              <a:t>getDouble</a:t>
            </a:r>
            <a:r>
              <a:rPr lang="en-US" sz="3200" i="1">
                <a:latin typeface="Times New Roman" panose="02020603050405020304" pitchFamily="18" charset="0"/>
                <a:cs typeface="Times New Roman" panose="02020603050405020304" pitchFamily="18" charset="0"/>
              </a:rPr>
              <a:t>(self, window title, label before </a:t>
            </a:r>
            <a:r>
              <a:rPr lang="en-US" sz="3200" i="1" err="1">
                <a:latin typeface="Times New Roman" panose="02020603050405020304" pitchFamily="18" charset="0"/>
                <a:cs typeface="Times New Roman" panose="02020603050405020304" pitchFamily="18" charset="0"/>
              </a:rPr>
              <a:t>LineEdit</a:t>
            </a:r>
            <a:r>
              <a:rPr lang="en-US" sz="3200" i="1">
                <a:latin typeface="Times New Roman" panose="02020603050405020304" pitchFamily="18" charset="0"/>
                <a:cs typeface="Times New Roman" panose="02020603050405020304" pitchFamily="18" charset="0"/>
              </a:rPr>
              <a:t> widget, default value, minimum, maximum and number of decimal places desired)</a:t>
            </a:r>
          </a:p>
        </p:txBody>
      </p:sp>
    </p:spTree>
    <p:extLst>
      <p:ext uri="{BB962C8B-B14F-4D97-AF65-F5344CB8AC3E}">
        <p14:creationId xmlns:p14="http://schemas.microsoft.com/office/powerpoint/2010/main" val="2135290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en-US" err="1">
                <a:latin typeface="Times New Roman" panose="02020603050405020304" pitchFamily="18" charset="0"/>
                <a:cs typeface="Times New Roman" panose="02020603050405020304" pitchFamily="18" charset="0"/>
              </a:rPr>
              <a:t>Đầu</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Vào</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Hộp</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Thoại</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290513" indent="0" algn="just">
              <a:buNone/>
            </a:pPr>
            <a:r>
              <a:rPr lang="en-US" sz="3200" i="1" err="1">
                <a:latin typeface="Times New Roman" panose="02020603050405020304" pitchFamily="18" charset="0"/>
                <a:cs typeface="Times New Roman" panose="02020603050405020304" pitchFamily="18" charset="0"/>
              </a:rPr>
              <a:t>Ví</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dụ</a:t>
            </a:r>
            <a:r>
              <a:rPr lang="en-US" sz="3200" i="1">
                <a:latin typeface="Times New Roman" panose="02020603050405020304" pitchFamily="18" charset="0"/>
                <a:cs typeface="Times New Roman" panose="02020603050405020304" pitchFamily="18" charset="0"/>
              </a:rPr>
              <a:t>:</a:t>
            </a:r>
          </a:p>
          <a:p>
            <a:pPr marL="290513" indent="0" algn="just">
              <a:buNone/>
            </a:pPr>
            <a:r>
              <a:rPr lang="en-US" sz="3200" i="1">
                <a:latin typeface="Times New Roman" panose="02020603050405020304" pitchFamily="18" charset="0"/>
                <a:cs typeface="Times New Roman" panose="02020603050405020304" pitchFamily="18" charset="0"/>
              </a:rPr>
              <a:t>price, ok = </a:t>
            </a:r>
            <a:r>
              <a:rPr lang="en-US" sz="3200" i="1" err="1">
                <a:latin typeface="Times New Roman" panose="02020603050405020304" pitchFamily="18" charset="0"/>
                <a:cs typeface="Times New Roman" panose="02020603050405020304" pitchFamily="18" charset="0"/>
              </a:rPr>
              <a:t>QInputDialog.getDouble</a:t>
            </a:r>
            <a:r>
              <a:rPr lang="en-US" sz="3200" i="1">
                <a:latin typeface="Times New Roman" panose="02020603050405020304" pitchFamily="18" charset="0"/>
                <a:cs typeface="Times New Roman" panose="02020603050405020304" pitchFamily="18" charset="0"/>
              </a:rPr>
              <a:t>(self, "Price of the </a:t>
            </a:r>
            <a:r>
              <a:rPr lang="en-US" sz="3200" i="1" err="1">
                <a:latin typeface="Times New Roman" panose="02020603050405020304" pitchFamily="18" charset="0"/>
                <a:cs typeface="Times New Roman" panose="02020603050405020304" pitchFamily="18" charset="0"/>
              </a:rPr>
              <a:t>product","Enter</a:t>
            </a:r>
            <a:r>
              <a:rPr lang="en-US" sz="3200" i="1">
                <a:latin typeface="Times New Roman" panose="02020603050405020304" pitchFamily="18" charset="0"/>
                <a:cs typeface="Times New Roman" panose="02020603050405020304" pitchFamily="18" charset="0"/>
              </a:rPr>
              <a:t> price:", 1.50,0, 100, 2) </a:t>
            </a:r>
          </a:p>
          <a:p>
            <a:pPr marL="457200" indent="-457200" algn="just">
              <a:buFont typeface="Wingdings" panose="05000000000000000000" pitchFamily="2" charset="2"/>
              <a:buChar char="Ø"/>
            </a:pPr>
            <a:r>
              <a:rPr lang="vi-VN" sz="3200" b="1">
                <a:latin typeface="Times New Roman" panose="02020603050405020304" pitchFamily="18" charset="0"/>
                <a:cs typeface="Times New Roman" panose="02020603050405020304" pitchFamily="18" charset="0"/>
              </a:rPr>
              <a:t>getText ( ) : </a:t>
            </a:r>
            <a:r>
              <a:rPr lang="vi-VN" sz="3200">
                <a:latin typeface="Times New Roman" panose="02020603050405020304" pitchFamily="18" charset="0"/>
                <a:cs typeface="Times New Roman" panose="02020603050405020304" pitchFamily="18" charset="0"/>
              </a:rPr>
              <a:t>phương </a:t>
            </a:r>
            <a:r>
              <a:rPr lang="en-US" sz="3200" err="1">
                <a:latin typeface="Times New Roman" panose="02020603050405020304" pitchFamily="18" charset="0"/>
                <a:cs typeface="Times New Roman" panose="02020603050405020304" pitchFamily="18" charset="0"/>
              </a:rPr>
              <a:t>th</a:t>
            </a:r>
            <a:r>
              <a:rPr lang="vi-VN" sz="3200">
                <a:latin typeface="Times New Roman" panose="02020603050405020304" pitchFamily="18" charset="0"/>
                <a:cs typeface="Times New Roman" panose="02020603050405020304" pitchFamily="18" charset="0"/>
              </a:rPr>
              <a:t>ứ</a:t>
            </a:r>
            <a:r>
              <a:rPr lang="en-US" sz="3200">
                <a:latin typeface="Times New Roman" panose="02020603050405020304" pitchFamily="18" charset="0"/>
                <a:cs typeface="Times New Roman" panose="02020603050405020304" pitchFamily="18" charset="0"/>
              </a:rPr>
              <a:t>c</a:t>
            </a:r>
            <a:r>
              <a:rPr lang="vi-VN" sz="3200">
                <a:latin typeface="Times New Roman" panose="02020603050405020304" pitchFamily="18" charset="0"/>
                <a:cs typeface="Times New Roman" panose="02020603050405020304" pitchFamily="18" charset="0"/>
              </a:rPr>
              <a:t> này cho thấy</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một</a:t>
            </a:r>
            <a:r>
              <a:rPr lang="en-US" sz="3200">
                <a:latin typeface="Times New Roman" panose="02020603050405020304" pitchFamily="18" charset="0"/>
                <a:cs typeface="Times New Roman" panose="02020603050405020304" pitchFamily="18" charset="0"/>
              </a:rPr>
              <a:t> </a:t>
            </a:r>
            <a:r>
              <a:rPr lang="en-US" sz="3200" b="1">
                <a:latin typeface="Times New Roman" panose="02020603050405020304" pitchFamily="18" charset="0"/>
                <a:cs typeface="Times New Roman" panose="02020603050405020304" pitchFamily="18" charset="0"/>
              </a:rPr>
              <a:t>Line</a:t>
            </a:r>
            <a:r>
              <a:rPr lang="vi-VN" sz="3200" b="1">
                <a:latin typeface="Times New Roman" panose="02020603050405020304" pitchFamily="18" charset="0"/>
                <a:cs typeface="Times New Roman" panose="02020603050405020304" pitchFamily="18" charset="0"/>
              </a:rPr>
              <a:t> widget</a:t>
            </a:r>
            <a:r>
              <a:rPr lang="vi-VN" sz="3200">
                <a:latin typeface="Times New Roman" panose="02020603050405020304" pitchFamily="18" charset="0"/>
                <a:cs typeface="Times New Roman" panose="02020603050405020304" pitchFamily="18" charset="0"/>
              </a:rPr>
              <a:t> để </a:t>
            </a:r>
            <a:r>
              <a:rPr lang="en-US" sz="3200" err="1">
                <a:latin typeface="Times New Roman" panose="02020603050405020304" pitchFamily="18" charset="0"/>
                <a:cs typeface="Times New Roman" panose="02020603050405020304" pitchFamily="18" charset="0"/>
              </a:rPr>
              <a:t>chấp</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nhận</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văn bản từ người dùng. Để nhận được văn bản từ người dùng,</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cần sử dụng cú pháp sau : </a:t>
            </a:r>
            <a:endParaRPr lang="en-US" sz="3200">
              <a:latin typeface="Times New Roman" panose="02020603050405020304" pitchFamily="18" charset="0"/>
              <a:cs typeface="Times New Roman" panose="02020603050405020304" pitchFamily="18" charset="0"/>
            </a:endParaRPr>
          </a:p>
          <a:p>
            <a:pPr marL="290513" indent="0" algn="just">
              <a:buNone/>
            </a:pPr>
            <a:r>
              <a:rPr lang="en-US" sz="3200" i="1" err="1">
                <a:latin typeface="Times New Roman" panose="02020603050405020304" pitchFamily="18" charset="0"/>
                <a:cs typeface="Times New Roman" panose="02020603050405020304" pitchFamily="18" charset="0"/>
              </a:rPr>
              <a:t>getText</a:t>
            </a:r>
            <a:r>
              <a:rPr lang="en-US" sz="3200" i="1">
                <a:latin typeface="Times New Roman" panose="02020603050405020304" pitchFamily="18" charset="0"/>
                <a:cs typeface="Times New Roman" panose="02020603050405020304" pitchFamily="18" charset="0"/>
              </a:rPr>
              <a:t>(self, window title, label before </a:t>
            </a:r>
            <a:r>
              <a:rPr lang="en-US" sz="3200" i="1" err="1">
                <a:latin typeface="Times New Roman" panose="02020603050405020304" pitchFamily="18" charset="0"/>
                <a:cs typeface="Times New Roman" panose="02020603050405020304" pitchFamily="18" charset="0"/>
              </a:rPr>
              <a:t>LineEdit</a:t>
            </a:r>
            <a:r>
              <a:rPr lang="en-US" sz="3200" i="1">
                <a:latin typeface="Times New Roman" panose="02020603050405020304" pitchFamily="18" charset="0"/>
                <a:cs typeface="Times New Roman" panose="02020603050405020304" pitchFamily="18" charset="0"/>
              </a:rPr>
              <a:t> widget)</a:t>
            </a:r>
          </a:p>
          <a:p>
            <a:pPr marL="290513" indent="0" algn="just">
              <a:buNone/>
            </a:pPr>
            <a:r>
              <a:rPr lang="en-US" sz="3200" i="1" err="1">
                <a:latin typeface="Times New Roman" panose="02020603050405020304" pitchFamily="18" charset="0"/>
                <a:cs typeface="Times New Roman" panose="02020603050405020304" pitchFamily="18" charset="0"/>
              </a:rPr>
              <a:t>Ví</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dụ</a:t>
            </a:r>
            <a:r>
              <a:rPr lang="en-US" sz="3200" i="1">
                <a:latin typeface="Times New Roman" panose="02020603050405020304" pitchFamily="18" charset="0"/>
                <a:cs typeface="Times New Roman" panose="02020603050405020304" pitchFamily="18" charset="0"/>
              </a:rPr>
              <a:t>:</a:t>
            </a:r>
          </a:p>
          <a:p>
            <a:pPr marL="290513" indent="0" algn="just">
              <a:buNone/>
            </a:pPr>
            <a:r>
              <a:rPr lang="en-US" sz="3200" i="1">
                <a:latin typeface="Times New Roman" panose="02020603050405020304" pitchFamily="18" charset="0"/>
                <a:cs typeface="Times New Roman" panose="02020603050405020304" pitchFamily="18" charset="0"/>
              </a:rPr>
              <a:t>name, ok = </a:t>
            </a:r>
            <a:r>
              <a:rPr lang="en-US" sz="3200" i="1" err="1">
                <a:latin typeface="Times New Roman" panose="02020603050405020304" pitchFamily="18" charset="0"/>
                <a:cs typeface="Times New Roman" panose="02020603050405020304" pitchFamily="18" charset="0"/>
              </a:rPr>
              <a:t>QtGui.QInputDialog.getText</a:t>
            </a:r>
            <a:r>
              <a:rPr lang="en-US" sz="3200" i="1">
                <a:latin typeface="Times New Roman" panose="02020603050405020304" pitchFamily="18" charset="0"/>
                <a:cs typeface="Times New Roman" panose="02020603050405020304" pitchFamily="18" charset="0"/>
              </a:rPr>
              <a:t>(self, 'Get Customer </a:t>
            </a:r>
            <a:r>
              <a:rPr lang="en-US" sz="3200" i="1" err="1">
                <a:latin typeface="Times New Roman" panose="02020603050405020304" pitchFamily="18" charset="0"/>
                <a:cs typeface="Times New Roman" panose="02020603050405020304" pitchFamily="18" charset="0"/>
              </a:rPr>
              <a:t>Name','Enter</a:t>
            </a:r>
            <a:r>
              <a:rPr lang="en-US" sz="3200" i="1">
                <a:latin typeface="Times New Roman" panose="02020603050405020304" pitchFamily="18" charset="0"/>
                <a:cs typeface="Times New Roman" panose="02020603050405020304" pitchFamily="18" charset="0"/>
              </a:rPr>
              <a:t> your name:')</a:t>
            </a:r>
          </a:p>
        </p:txBody>
      </p:sp>
    </p:spTree>
    <p:extLst>
      <p:ext uri="{BB962C8B-B14F-4D97-AF65-F5344CB8AC3E}">
        <p14:creationId xmlns:p14="http://schemas.microsoft.com/office/powerpoint/2010/main" val="3238851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3855"/>
            <a:ext cx="9102490" cy="833905"/>
          </a:xfrm>
        </p:spPr>
        <p:txBody>
          <a:bodyPr/>
          <a:lstStyle/>
          <a:p>
            <a:r>
              <a:rPr lang="en-US" err="1">
                <a:latin typeface="Times New Roman" panose="02020603050405020304" pitchFamily="18" charset="0"/>
                <a:cs typeface="Times New Roman" panose="02020603050405020304" pitchFamily="18" charset="0"/>
              </a:rPr>
              <a:t>Đầu</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Vào</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Hộp</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Thoại</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457200" indent="-457200" algn="just">
              <a:buFont typeface="Wingdings" panose="05000000000000000000" pitchFamily="2" charset="2"/>
              <a:buChar char="Ø"/>
            </a:pPr>
            <a:r>
              <a:rPr lang="vi-VN" sz="3200" b="1">
                <a:latin typeface="Times New Roman" panose="02020603050405020304" pitchFamily="18" charset="0"/>
                <a:cs typeface="Times New Roman" panose="02020603050405020304" pitchFamily="18" charset="0"/>
              </a:rPr>
              <a:t>getItem ( ) : </a:t>
            </a:r>
            <a:r>
              <a:rPr lang="vi-VN" sz="3200">
                <a:latin typeface="Times New Roman" panose="02020603050405020304" pitchFamily="18" charset="0"/>
                <a:cs typeface="Times New Roman" panose="02020603050405020304" pitchFamily="18" charset="0"/>
              </a:rPr>
              <a:t>phương </a:t>
            </a:r>
            <a:r>
              <a:rPr lang="en-US" sz="3200" err="1">
                <a:latin typeface="Times New Roman" panose="02020603050405020304" pitchFamily="18" charset="0"/>
                <a:cs typeface="Times New Roman" panose="02020603050405020304" pitchFamily="18" charset="0"/>
              </a:rPr>
              <a:t>th</a:t>
            </a:r>
            <a:r>
              <a:rPr lang="vi-VN" sz="3200">
                <a:latin typeface="Times New Roman" panose="02020603050405020304" pitchFamily="18" charset="0"/>
                <a:cs typeface="Times New Roman" panose="02020603050405020304" pitchFamily="18" charset="0"/>
              </a:rPr>
              <a:t>ứ</a:t>
            </a:r>
            <a:r>
              <a:rPr lang="en-US" sz="3200">
                <a:latin typeface="Times New Roman" panose="02020603050405020304" pitchFamily="18" charset="0"/>
                <a:cs typeface="Times New Roman" panose="02020603050405020304" pitchFamily="18" charset="0"/>
              </a:rPr>
              <a:t>c</a:t>
            </a:r>
            <a:r>
              <a:rPr lang="vi-VN" sz="3200">
                <a:latin typeface="Times New Roman" panose="02020603050405020304" pitchFamily="18" charset="0"/>
                <a:cs typeface="Times New Roman" panose="02020603050405020304" pitchFamily="18" charset="0"/>
              </a:rPr>
              <a:t> này </a:t>
            </a:r>
            <a:r>
              <a:rPr lang="en-US" sz="3200" err="1">
                <a:latin typeface="Times New Roman" panose="02020603050405020304" pitchFamily="18" charset="0"/>
                <a:cs typeface="Times New Roman" panose="02020603050405020304" pitchFamily="18" charset="0"/>
              </a:rPr>
              <a:t>cho</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thấy</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một</a:t>
            </a:r>
            <a:r>
              <a:rPr lang="en-US" sz="3200">
                <a:latin typeface="Times New Roman" panose="02020603050405020304" pitchFamily="18" charset="0"/>
                <a:cs typeface="Times New Roman" panose="02020603050405020304" pitchFamily="18" charset="0"/>
              </a:rPr>
              <a:t> combo box </a:t>
            </a:r>
            <a:r>
              <a:rPr lang="en-US" sz="3200" err="1">
                <a:latin typeface="Times New Roman" panose="02020603050405020304" pitchFamily="18" charset="0"/>
                <a:cs typeface="Times New Roman" panose="02020603050405020304" pitchFamily="18" charset="0"/>
              </a:rPr>
              <a:t>hiển</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thị</a:t>
            </a:r>
            <a:r>
              <a:rPr lang="vi-VN" sz="3200">
                <a:latin typeface="Times New Roman" panose="02020603050405020304" pitchFamily="18" charset="0"/>
                <a:cs typeface="Times New Roman" panose="02020603050405020304" pitchFamily="18" charset="0"/>
              </a:rPr>
              <a:t> vài </a:t>
            </a:r>
            <a:r>
              <a:rPr lang="en-US" sz="3200">
                <a:latin typeface="Times New Roman" panose="02020603050405020304" pitchFamily="18" charset="0"/>
                <a:cs typeface="Times New Roman" panose="02020603050405020304" pitchFamily="18" charset="0"/>
              </a:rPr>
              <a:t>items </a:t>
            </a:r>
            <a:r>
              <a:rPr lang="vi-VN" sz="3200">
                <a:latin typeface="Times New Roman" panose="02020603050405020304" pitchFamily="18" charset="0"/>
                <a:cs typeface="Times New Roman" panose="02020603050405020304" pitchFamily="18" charset="0"/>
              </a:rPr>
              <a:t>để lựa chọn. Để có được </a:t>
            </a:r>
            <a:r>
              <a:rPr lang="en-US" sz="3200">
                <a:latin typeface="Times New Roman" panose="02020603050405020304" pitchFamily="18" charset="0"/>
                <a:cs typeface="Times New Roman" panose="02020603050405020304" pitchFamily="18" charset="0"/>
              </a:rPr>
              <a:t>items </a:t>
            </a:r>
            <a:r>
              <a:rPr lang="vi-VN" sz="3200">
                <a:latin typeface="Times New Roman" panose="02020603050405020304" pitchFamily="18" charset="0"/>
                <a:cs typeface="Times New Roman" panose="02020603050405020304" pitchFamily="18" charset="0"/>
              </a:rPr>
              <a:t>từ</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hộp </a:t>
            </a:r>
            <a:r>
              <a:rPr lang="en-US" sz="3200">
                <a:latin typeface="Times New Roman" panose="02020603050405020304" pitchFamily="18" charset="0"/>
                <a:cs typeface="Times New Roman" panose="02020603050405020304" pitchFamily="18" charset="0"/>
              </a:rPr>
              <a:t>drop-d</a:t>
            </a:r>
            <a:r>
              <a:rPr lang="vi-VN" sz="3200">
                <a:latin typeface="Times New Roman" panose="02020603050405020304" pitchFamily="18" charset="0"/>
                <a:cs typeface="Times New Roman" panose="02020603050405020304" pitchFamily="18" charset="0"/>
              </a:rPr>
              <a:t>ow</a:t>
            </a:r>
            <a:r>
              <a:rPr lang="en-US" sz="3200">
                <a:latin typeface="Times New Roman" panose="02020603050405020304" pitchFamily="18" charset="0"/>
                <a:cs typeface="Times New Roman" panose="02020603050405020304" pitchFamily="18" charset="0"/>
              </a:rPr>
              <a:t>n (</a:t>
            </a:r>
            <a:r>
              <a:rPr lang="vi-VN" sz="3200">
                <a:latin typeface="Times New Roman" panose="02020603050405020304" pitchFamily="18" charset="0"/>
                <a:cs typeface="Times New Roman" panose="02020603050405020304" pitchFamily="18" charset="0"/>
              </a:rPr>
              <a:t>hộp thả xuống</a:t>
            </a:r>
            <a:r>
              <a:rPr lang="en-US" sz="3200">
                <a:latin typeface="Times New Roman" panose="02020603050405020304" pitchFamily="18" charset="0"/>
                <a:cs typeface="Times New Roman" panose="02020603050405020304" pitchFamily="18" charset="0"/>
              </a:rPr>
              <a:t>)</a:t>
            </a:r>
            <a:r>
              <a:rPr lang="vi-VN" sz="3200">
                <a:latin typeface="Times New Roman" panose="02020603050405020304" pitchFamily="18" charset="0"/>
                <a:cs typeface="Times New Roman" panose="02020603050405020304" pitchFamily="18" charset="0"/>
              </a:rPr>
              <a:t>,</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cần sử dụng cú pháp sau :</a:t>
            </a:r>
            <a:endParaRPr lang="en-US" sz="3200">
              <a:latin typeface="Times New Roman" panose="02020603050405020304" pitchFamily="18" charset="0"/>
              <a:cs typeface="Times New Roman" panose="02020603050405020304" pitchFamily="18" charset="0"/>
            </a:endParaRPr>
          </a:p>
          <a:p>
            <a:pPr marL="457200" indent="0" algn="just">
              <a:buNone/>
            </a:pPr>
            <a:r>
              <a:rPr lang="en-US" sz="3200" i="1" err="1">
                <a:latin typeface="Times New Roman" panose="02020603050405020304" pitchFamily="18" charset="0"/>
                <a:cs typeface="Times New Roman" panose="02020603050405020304" pitchFamily="18" charset="0"/>
              </a:rPr>
              <a:t>getItem</a:t>
            </a:r>
            <a:r>
              <a:rPr lang="en-US" sz="3200" i="1">
                <a:latin typeface="Times New Roman" panose="02020603050405020304" pitchFamily="18" charset="0"/>
                <a:cs typeface="Times New Roman" panose="02020603050405020304" pitchFamily="18" charset="0"/>
              </a:rPr>
              <a:t>(self, window title, label before combo box, array , current item, Boolean Editable) </a:t>
            </a:r>
          </a:p>
          <a:p>
            <a:pPr marL="457200" indent="0" algn="just">
              <a:buNone/>
            </a:pPr>
            <a:r>
              <a:rPr lang="en-US" sz="3200">
                <a:latin typeface="Times New Roman" panose="02020603050405020304" pitchFamily="18" charset="0"/>
                <a:cs typeface="Times New Roman" panose="02020603050405020304" pitchFamily="18" charset="0"/>
              </a:rPr>
              <a:t>M</a:t>
            </a:r>
            <a:r>
              <a:rPr lang="vi-VN" sz="3200">
                <a:latin typeface="Times New Roman" panose="02020603050405020304" pitchFamily="18" charset="0"/>
                <a:cs typeface="Times New Roman" panose="02020603050405020304" pitchFamily="18" charset="0"/>
              </a:rPr>
              <a:t>ảng là danh sách các </a:t>
            </a:r>
            <a:r>
              <a:rPr lang="en-US" sz="3200">
                <a:latin typeface="Times New Roman" panose="02020603050405020304" pitchFamily="18" charset="0"/>
                <a:cs typeface="Times New Roman" panose="02020603050405020304" pitchFamily="18" charset="0"/>
              </a:rPr>
              <a:t>item</a:t>
            </a:r>
            <a:r>
              <a:rPr lang="vi-VN" sz="3200">
                <a:latin typeface="Times New Roman" panose="02020603050405020304" pitchFamily="18" charset="0"/>
                <a:cs typeface="Times New Roman" panose="02020603050405020304" pitchFamily="18" charset="0"/>
              </a:rPr>
              <a:t> cần được hiển thị trong </a:t>
            </a:r>
            <a:r>
              <a:rPr lang="en-US" sz="3200">
                <a:latin typeface="Times New Roman" panose="02020603050405020304" pitchFamily="18" charset="0"/>
                <a:cs typeface="Times New Roman" panose="02020603050405020304" pitchFamily="18" charset="0"/>
              </a:rPr>
              <a:t>combo box</a:t>
            </a:r>
            <a:r>
              <a:rPr lang="vi-VN"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Các</a:t>
            </a:r>
            <a:r>
              <a:rPr lang="en-US" sz="3200">
                <a:latin typeface="Times New Roman" panose="02020603050405020304" pitchFamily="18" charset="0"/>
                <a:cs typeface="Times New Roman" panose="02020603050405020304" pitchFamily="18" charset="0"/>
              </a:rPr>
              <a:t> item </a:t>
            </a:r>
            <a:r>
              <a:rPr lang="vi-VN" sz="3200">
                <a:latin typeface="Times New Roman" panose="02020603050405020304" pitchFamily="18" charset="0"/>
                <a:cs typeface="Times New Roman" panose="02020603050405020304" pitchFamily="18" charset="0"/>
              </a:rPr>
              <a:t>hiện hành là </a:t>
            </a:r>
            <a:r>
              <a:rPr lang="en-US" sz="3200">
                <a:latin typeface="Times New Roman" panose="02020603050405020304" pitchFamily="18" charset="0"/>
                <a:cs typeface="Times New Roman" panose="02020603050405020304" pitchFamily="18" charset="0"/>
              </a:rPr>
              <a:t>item </a:t>
            </a:r>
            <a:r>
              <a:rPr lang="vi-VN" sz="3200">
                <a:latin typeface="Times New Roman" panose="02020603050405020304" pitchFamily="18" charset="0"/>
                <a:cs typeface="Times New Roman" panose="02020603050405020304" pitchFamily="18" charset="0"/>
              </a:rPr>
              <a:t>được </a:t>
            </a:r>
            <a:r>
              <a:rPr lang="en-US" sz="3200" err="1">
                <a:latin typeface="Times New Roman" panose="02020603050405020304" pitchFamily="18" charset="0"/>
                <a:cs typeface="Times New Roman" panose="02020603050405020304" pitchFamily="18" charset="0"/>
              </a:rPr>
              <a:t>coi</a:t>
            </a:r>
            <a:r>
              <a:rPr lang="vi-VN" sz="3200">
                <a:latin typeface="Times New Roman" panose="02020603050405020304" pitchFamily="18" charset="0"/>
                <a:cs typeface="Times New Roman" panose="02020603050405020304" pitchFamily="18" charset="0"/>
              </a:rPr>
              <a:t> như </a:t>
            </a:r>
            <a:r>
              <a:rPr lang="en-US" sz="3200">
                <a:latin typeface="Times New Roman" panose="02020603050405020304" pitchFamily="18" charset="0"/>
                <a:cs typeface="Times New Roman" panose="02020603050405020304" pitchFamily="18" charset="0"/>
              </a:rPr>
              <a:t>item </a:t>
            </a:r>
            <a:r>
              <a:rPr lang="vi-VN" sz="3200">
                <a:latin typeface="Times New Roman" panose="02020603050405020304" pitchFamily="18" charset="0"/>
                <a:cs typeface="Times New Roman" panose="02020603050405020304" pitchFamily="18" charset="0"/>
              </a:rPr>
              <a:t>hiện hành trong </a:t>
            </a:r>
            <a:r>
              <a:rPr lang="en-US" sz="3200">
                <a:latin typeface="Times New Roman" panose="02020603050405020304" pitchFamily="18" charset="0"/>
                <a:cs typeface="Times New Roman" panose="02020603050405020304" pitchFamily="18" charset="0"/>
              </a:rPr>
              <a:t>combo box</a:t>
            </a:r>
            <a:r>
              <a:rPr lang="vi-VN" sz="3200">
                <a:latin typeface="Times New Roman" panose="02020603050405020304" pitchFamily="18" charset="0"/>
                <a:cs typeface="Times New Roman" panose="02020603050405020304" pitchFamily="18" charset="0"/>
              </a:rPr>
              <a:t>. </a:t>
            </a:r>
            <a:r>
              <a:rPr lang="en-US" sz="3200" i="1">
                <a:latin typeface="Times New Roman" panose="02020603050405020304" pitchFamily="18" charset="0"/>
                <a:cs typeface="Times New Roman" panose="02020603050405020304" pitchFamily="18" charset="0"/>
              </a:rPr>
              <a:t>Editable</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kiểu</a:t>
            </a:r>
            <a:r>
              <a:rPr lang="vi-VN" sz="3200">
                <a:latin typeface="Times New Roman" panose="02020603050405020304" pitchFamily="18" charset="0"/>
                <a:cs typeface="Times New Roman" panose="02020603050405020304" pitchFamily="18" charset="0"/>
              </a:rPr>
              <a:t> Boole,</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nếu ấn định thành </a:t>
            </a:r>
            <a:r>
              <a:rPr lang="en-US" sz="3200">
                <a:latin typeface="Times New Roman" panose="02020603050405020304" pitchFamily="18" charset="0"/>
                <a:cs typeface="Times New Roman" panose="02020603050405020304" pitchFamily="18" charset="0"/>
              </a:rPr>
              <a:t>True</a:t>
            </a:r>
            <a:r>
              <a:rPr lang="vi-VN" sz="3200">
                <a:latin typeface="Times New Roman" panose="02020603050405020304" pitchFamily="18" charset="0"/>
                <a:cs typeface="Times New Roman" panose="02020603050405020304" pitchFamily="18" charset="0"/>
              </a:rPr>
              <a:t>, nghĩa là người dùng có thể chỉnh sửa </a:t>
            </a:r>
            <a:r>
              <a:rPr lang="en-US" sz="3200">
                <a:latin typeface="Times New Roman" panose="02020603050405020304" pitchFamily="18" charset="0"/>
                <a:cs typeface="Times New Roman" panose="02020603050405020304" pitchFamily="18" charset="0"/>
              </a:rPr>
              <a:t>combo box </a:t>
            </a:r>
            <a:r>
              <a:rPr lang="vi-VN" sz="3200">
                <a:latin typeface="Times New Roman" panose="02020603050405020304" pitchFamily="18" charset="0"/>
                <a:cs typeface="Times New Roman" panose="02020603050405020304" pitchFamily="18" charset="0"/>
              </a:rPr>
              <a:t>và tự nhập văn bản. </a:t>
            </a:r>
            <a:endParaRPr lang="en-US" sz="3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0433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3855"/>
            <a:ext cx="9102490" cy="833905"/>
          </a:xfrm>
        </p:spPr>
        <p:txBody>
          <a:bodyPr/>
          <a:lstStyle/>
          <a:p>
            <a:r>
              <a:rPr lang="en-US" err="1">
                <a:latin typeface="Times New Roman" panose="02020603050405020304" pitchFamily="18" charset="0"/>
                <a:cs typeface="Times New Roman" panose="02020603050405020304" pitchFamily="18" charset="0"/>
              </a:rPr>
              <a:t>Đầu</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Vào</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Hộp</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Thoại</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401638" indent="0" algn="just">
              <a:buNone/>
            </a:pPr>
            <a:r>
              <a:rPr lang="vi-VN" sz="3200">
                <a:latin typeface="Times New Roman" panose="02020603050405020304" pitchFamily="18" charset="0"/>
                <a:cs typeface="Times New Roman" panose="02020603050405020304" pitchFamily="18" charset="0"/>
              </a:rPr>
              <a:t>Khi </a:t>
            </a:r>
            <a:r>
              <a:rPr lang="en-US" sz="3200" i="1">
                <a:latin typeface="Times New Roman" panose="02020603050405020304" pitchFamily="18" charset="0"/>
                <a:cs typeface="Times New Roman" panose="02020603050405020304" pitchFamily="18" charset="0"/>
              </a:rPr>
              <a:t>Editable </a:t>
            </a:r>
            <a:r>
              <a:rPr lang="vi-VN" sz="3200">
                <a:latin typeface="Times New Roman" panose="02020603050405020304" pitchFamily="18" charset="0"/>
                <a:cs typeface="Times New Roman" panose="02020603050405020304" pitchFamily="18" charset="0"/>
              </a:rPr>
              <a:t>được ấn định thành </a:t>
            </a:r>
            <a:r>
              <a:rPr lang="en-US" sz="3200">
                <a:latin typeface="Times New Roman" panose="02020603050405020304" pitchFamily="18" charset="0"/>
                <a:cs typeface="Times New Roman" panose="02020603050405020304" pitchFamily="18" charset="0"/>
              </a:rPr>
              <a:t>False</a:t>
            </a:r>
            <a:r>
              <a:rPr lang="vi-VN" sz="3200">
                <a:latin typeface="Times New Roman" panose="02020603050405020304" pitchFamily="18" charset="0"/>
                <a:cs typeface="Times New Roman" panose="02020603050405020304" pitchFamily="18" charset="0"/>
              </a:rPr>
              <a:t>, nghĩa là người dùng chỉ có thể chọn </a:t>
            </a:r>
            <a:r>
              <a:rPr lang="en-US" sz="3200">
                <a:latin typeface="Times New Roman" panose="02020603050405020304" pitchFamily="18" charset="0"/>
                <a:cs typeface="Times New Roman" panose="02020603050405020304" pitchFamily="18" charset="0"/>
              </a:rPr>
              <a:t>item </a:t>
            </a:r>
            <a:r>
              <a:rPr lang="vi-VN" sz="3200">
                <a:latin typeface="Times New Roman" panose="02020603050405020304" pitchFamily="18" charset="0"/>
                <a:cs typeface="Times New Roman" panose="02020603050405020304" pitchFamily="18" charset="0"/>
              </a:rPr>
              <a:t>từ </a:t>
            </a:r>
            <a:r>
              <a:rPr lang="en-US" sz="3200">
                <a:latin typeface="Times New Roman" panose="02020603050405020304" pitchFamily="18" charset="0"/>
                <a:cs typeface="Times New Roman" panose="02020603050405020304" pitchFamily="18" charset="0"/>
              </a:rPr>
              <a:t>combo box </a:t>
            </a:r>
            <a:r>
              <a:rPr lang="vi-VN" sz="3200">
                <a:latin typeface="Times New Roman" panose="02020603050405020304" pitchFamily="18" charset="0"/>
                <a:cs typeface="Times New Roman" panose="02020603050405020304" pitchFamily="18" charset="0"/>
              </a:rPr>
              <a:t>nhưng không thể chỉnh sửa </a:t>
            </a:r>
            <a:r>
              <a:rPr lang="en-US" sz="3200" err="1">
                <a:latin typeface="Times New Roman" panose="02020603050405020304" pitchFamily="18" charset="0"/>
                <a:cs typeface="Times New Roman" panose="02020603050405020304" pitchFamily="18" charset="0"/>
              </a:rPr>
              <a:t>các</a:t>
            </a:r>
            <a:r>
              <a:rPr lang="en-US" sz="3200">
                <a:latin typeface="Times New Roman" panose="02020603050405020304" pitchFamily="18" charset="0"/>
                <a:cs typeface="Times New Roman" panose="02020603050405020304" pitchFamily="18" charset="0"/>
              </a:rPr>
              <a:t> item</a:t>
            </a:r>
            <a:r>
              <a:rPr lang="vi-VN" sz="3200">
                <a:latin typeface="Times New Roman" panose="02020603050405020304" pitchFamily="18" charset="0"/>
                <a:cs typeface="Times New Roman" panose="02020603050405020304" pitchFamily="18" charset="0"/>
              </a:rPr>
              <a:t>.</a:t>
            </a:r>
            <a:endParaRPr lang="en-US" sz="3200">
              <a:latin typeface="Times New Roman" panose="02020603050405020304" pitchFamily="18" charset="0"/>
              <a:cs typeface="Times New Roman" panose="02020603050405020304" pitchFamily="18" charset="0"/>
            </a:endParaRPr>
          </a:p>
          <a:p>
            <a:pPr marL="401638" indent="0" algn="just">
              <a:buNone/>
            </a:pPr>
            <a:r>
              <a:rPr lang="en-US" sz="3200" i="1" err="1">
                <a:latin typeface="Times New Roman" panose="02020603050405020304" pitchFamily="18" charset="0"/>
                <a:cs typeface="Times New Roman" panose="02020603050405020304" pitchFamily="18" charset="0"/>
              </a:rPr>
              <a:t>Ví</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dụ</a:t>
            </a:r>
            <a:r>
              <a:rPr lang="en-US" sz="3200" i="1">
                <a:latin typeface="Times New Roman" panose="02020603050405020304" pitchFamily="18" charset="0"/>
                <a:cs typeface="Times New Roman" panose="02020603050405020304" pitchFamily="18" charset="0"/>
              </a:rPr>
              <a:t>:</a:t>
            </a:r>
          </a:p>
          <a:p>
            <a:pPr marL="401638" indent="0" algn="just">
              <a:buNone/>
            </a:pPr>
            <a:r>
              <a:rPr lang="en-US" sz="3200" i="1" err="1">
                <a:latin typeface="Times New Roman" panose="02020603050405020304" pitchFamily="18" charset="0"/>
                <a:cs typeface="Times New Roman" panose="02020603050405020304" pitchFamily="18" charset="0"/>
              </a:rPr>
              <a:t>countryName</a:t>
            </a:r>
            <a:r>
              <a:rPr lang="en-US" sz="3200" i="1">
                <a:latin typeface="Times New Roman" panose="02020603050405020304" pitchFamily="18" charset="0"/>
                <a:cs typeface="Times New Roman" panose="02020603050405020304" pitchFamily="18" charset="0"/>
              </a:rPr>
              <a:t>, ok = </a:t>
            </a:r>
            <a:r>
              <a:rPr lang="en-US" sz="3200" i="1" err="1">
                <a:latin typeface="Times New Roman" panose="02020603050405020304" pitchFamily="18" charset="0"/>
                <a:cs typeface="Times New Roman" panose="02020603050405020304" pitchFamily="18" charset="0"/>
              </a:rPr>
              <a:t>QInputDialog.getItem</a:t>
            </a:r>
            <a:r>
              <a:rPr lang="en-US" sz="3200" i="1">
                <a:latin typeface="Times New Roman" panose="02020603050405020304" pitchFamily="18" charset="0"/>
                <a:cs typeface="Times New Roman" panose="02020603050405020304" pitchFamily="18" charset="0"/>
              </a:rPr>
              <a:t>(self, "Input Dialog", "List of countries", countries, 0, False)</a:t>
            </a:r>
          </a:p>
        </p:txBody>
      </p:sp>
    </p:spTree>
    <p:extLst>
      <p:ext uri="{BB962C8B-B14F-4D97-AF65-F5344CB8AC3E}">
        <p14:creationId xmlns:p14="http://schemas.microsoft.com/office/powerpoint/2010/main" val="42192280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3855"/>
            <a:ext cx="9102490" cy="833905"/>
          </a:xfrm>
        </p:spPr>
        <p:txBody>
          <a:bodyPr/>
          <a:lstStyle/>
          <a:p>
            <a:r>
              <a:rPr lang="en-US" err="1">
                <a:latin typeface="Times New Roman" panose="02020603050405020304" pitchFamily="18" charset="0"/>
                <a:cs typeface="Times New Roman" panose="02020603050405020304" pitchFamily="18" charset="0"/>
              </a:rPr>
              <a:t>Sử</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Dụng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Đầu</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Vào</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Hộp</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Thoại</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457200" indent="-457200" algn="just">
              <a:buFont typeface="Wingdings" panose="05000000000000000000" pitchFamily="2" charset="2"/>
              <a:buChar char="Ø"/>
            </a:pPr>
            <a:r>
              <a:rPr lang="vi-VN" sz="3200">
                <a:latin typeface="Times New Roman" panose="02020603050405020304" pitchFamily="18" charset="0"/>
                <a:cs typeface="Times New Roman" panose="02020603050405020304" pitchFamily="18" charset="0"/>
              </a:rPr>
              <a:t>Đầu vào</a:t>
            </a:r>
            <a:r>
              <a:rPr lang="en-US" sz="3200">
                <a:latin typeface="Times New Roman" panose="02020603050405020304" pitchFamily="18" charset="0"/>
                <a:cs typeface="Times New Roman" panose="02020603050405020304" pitchFamily="18" charset="0"/>
              </a:rPr>
              <a:t> h</a:t>
            </a:r>
            <a:r>
              <a:rPr lang="vi-VN" sz="3200">
                <a:latin typeface="Times New Roman" panose="02020603050405020304" pitchFamily="18" charset="0"/>
                <a:cs typeface="Times New Roman" panose="02020603050405020304" pitchFamily="18" charset="0"/>
              </a:rPr>
              <a:t>ộp thoại có thể chấp nhận</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đủ loại dữ liệu, trong đó có số nguyên</a:t>
            </a:r>
            <a:r>
              <a:rPr lang="en-US" sz="3200">
                <a:latin typeface="Times New Roman" panose="02020603050405020304" pitchFamily="18" charset="0"/>
                <a:cs typeface="Times New Roman" panose="02020603050405020304" pitchFamily="18" charset="0"/>
              </a:rPr>
              <a:t> (integer)</a:t>
            </a:r>
            <a:r>
              <a:rPr lang="vi-VN" sz="3200">
                <a:latin typeface="Times New Roman" panose="02020603050405020304" pitchFamily="18" charset="0"/>
                <a:cs typeface="Times New Roman" panose="02020603050405020304" pitchFamily="18" charset="0"/>
              </a:rPr>
              <a:t>,</a:t>
            </a:r>
            <a:r>
              <a:rPr lang="en-US" sz="3200" err="1">
                <a:latin typeface="Times New Roman" panose="02020603050405020304" pitchFamily="18" charset="0"/>
                <a:cs typeface="Times New Roman" panose="02020603050405020304" pitchFamily="18" charset="0"/>
              </a:rPr>
              <a:t>số</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th</a:t>
            </a:r>
            <a:r>
              <a:rPr lang="vi-VN" sz="3200">
                <a:latin typeface="Times New Roman" panose="02020603050405020304" pitchFamily="18" charset="0"/>
                <a:cs typeface="Times New Roman" panose="02020603050405020304" pitchFamily="18" charset="0"/>
              </a:rPr>
              <a:t>ự</a:t>
            </a:r>
            <a:r>
              <a:rPr lang="en-US" sz="3200">
                <a:latin typeface="Times New Roman" panose="02020603050405020304" pitchFamily="18" charset="0"/>
                <a:cs typeface="Times New Roman" panose="02020603050405020304" pitchFamily="18" charset="0"/>
              </a:rPr>
              <a:t>c (double)</a:t>
            </a:r>
            <a:r>
              <a:rPr lang="vi-VN" sz="3200">
                <a:latin typeface="Times New Roman" panose="02020603050405020304" pitchFamily="18" charset="0"/>
                <a:cs typeface="Times New Roman" panose="02020603050405020304" pitchFamily="18" charset="0"/>
              </a:rPr>
              <a:t>, và văn bản</a:t>
            </a:r>
            <a:r>
              <a:rPr lang="en-US" sz="3200">
                <a:latin typeface="Times New Roman" panose="02020603050405020304" pitchFamily="18" charset="0"/>
                <a:cs typeface="Times New Roman" panose="02020603050405020304" pitchFamily="18" charset="0"/>
              </a:rPr>
              <a:t> (text)</a:t>
            </a:r>
            <a:r>
              <a:rPr lang="vi-VN" sz="3200">
                <a:latin typeface="Times New Roman" panose="02020603050405020304" pitchFamily="18" charset="0"/>
                <a:cs typeface="Times New Roman" panose="02020603050405020304" pitchFamily="18" charset="0"/>
              </a:rPr>
              <a:t>. </a:t>
            </a:r>
            <a:endParaRPr lang="en-US" sz="320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US" sz="3200" err="1">
                <a:latin typeface="Times New Roman" panose="02020603050405020304" pitchFamily="18" charset="0"/>
                <a:cs typeface="Times New Roman" panose="02020603050405020304" pitchFamily="18" charset="0"/>
              </a:rPr>
              <a:t>Tạo</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ứng</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dụng</a:t>
            </a:r>
            <a:r>
              <a:rPr lang="en-US" sz="3200">
                <a:latin typeface="Times New Roman" panose="02020603050405020304" pitchFamily="18" charset="0"/>
                <a:cs typeface="Times New Roman" panose="02020603050405020304" pitchFamily="18" charset="0"/>
              </a:rPr>
              <a:t> t</a:t>
            </a:r>
            <a:r>
              <a:rPr lang="vi-VN" sz="3200">
                <a:latin typeface="Times New Roman" panose="02020603050405020304" pitchFamily="18" charset="0"/>
                <a:cs typeface="Times New Roman" panose="02020603050405020304" pitchFamily="18" charset="0"/>
              </a:rPr>
              <a:t>ừ </a:t>
            </a:r>
            <a:r>
              <a:rPr lang="en-US" sz="3200">
                <a:latin typeface="Times New Roman" panose="02020603050405020304" pitchFamily="18" charset="0"/>
                <a:cs typeface="Times New Roman" panose="02020603050405020304" pitchFamily="18" charset="0"/>
              </a:rPr>
              <a:t> </a:t>
            </a:r>
            <a:r>
              <a:rPr lang="en-US" sz="3200" b="1">
                <a:latin typeface="Times New Roman" panose="02020603050405020304" pitchFamily="18" charset="0"/>
                <a:cs typeface="Times New Roman" panose="02020603050405020304" pitchFamily="18" charset="0"/>
              </a:rPr>
              <a:t>Dialog without </a:t>
            </a:r>
            <a:r>
              <a:rPr lang="en-US" sz="3200">
                <a:latin typeface="Times New Roman" panose="02020603050405020304" pitchFamily="18" charset="0"/>
                <a:cs typeface="Times New Roman" panose="02020603050405020304" pitchFamily="18" charset="0"/>
              </a:rPr>
              <a:t>Buttons </a:t>
            </a:r>
            <a:r>
              <a:rPr lang="en-US" sz="3200" err="1">
                <a:latin typeface="Times New Roman" panose="02020603050405020304" pitchFamily="18" charset="0"/>
                <a:cs typeface="Times New Roman" panose="02020603050405020304" pitchFamily="18" charset="0"/>
              </a:rPr>
              <a:t>theo</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các</a:t>
            </a:r>
            <a:r>
              <a:rPr lang="en-US" sz="3200">
                <a:latin typeface="Times New Roman" panose="02020603050405020304" pitchFamily="18" charset="0"/>
                <a:cs typeface="Times New Roman" panose="02020603050405020304" pitchFamily="18" charset="0"/>
              </a:rPr>
              <a:t> b</a:t>
            </a:r>
            <a:r>
              <a:rPr lang="vi-VN" sz="3200">
                <a:latin typeface="Times New Roman" panose="02020603050405020304" pitchFamily="18" charset="0"/>
                <a:cs typeface="Times New Roman" panose="02020603050405020304" pitchFamily="18" charset="0"/>
              </a:rPr>
              <a:t>ướ</a:t>
            </a:r>
            <a:r>
              <a:rPr lang="en-US" sz="3200">
                <a:latin typeface="Times New Roman" panose="02020603050405020304" pitchFamily="18" charset="0"/>
                <a:cs typeface="Times New Roman" panose="02020603050405020304" pitchFamily="18" charset="0"/>
              </a:rPr>
              <a:t>c </a:t>
            </a:r>
            <a:r>
              <a:rPr lang="en-US" sz="3200" err="1">
                <a:latin typeface="Times New Roman" panose="02020603050405020304" pitchFamily="18" charset="0"/>
                <a:cs typeface="Times New Roman" panose="02020603050405020304" pitchFamily="18" charset="0"/>
              </a:rPr>
              <a:t>sau</a:t>
            </a:r>
            <a:r>
              <a:rPr lang="en-US" sz="3200">
                <a:latin typeface="Times New Roman" panose="02020603050405020304" pitchFamily="18" charset="0"/>
                <a:cs typeface="Times New Roman" panose="02020603050405020304" pitchFamily="18" charset="0"/>
              </a:rPr>
              <a:t>:</a:t>
            </a:r>
          </a:p>
          <a:p>
            <a:pPr marL="969963" indent="-457200" algn="just">
              <a:buFont typeface="Wingdings" panose="05000000000000000000" pitchFamily="2" charset="2"/>
              <a:buChar char="§"/>
            </a:pPr>
            <a:r>
              <a:rPr lang="en-US" sz="3200">
                <a:latin typeface="Times New Roman" panose="02020603050405020304" pitchFamily="18" charset="0"/>
                <a:cs typeface="Times New Roman" panose="02020603050405020304" pitchFamily="18" charset="0"/>
              </a:rPr>
              <a:t>B1: T</a:t>
            </a:r>
            <a:r>
              <a:rPr lang="vi-VN" sz="3200">
                <a:latin typeface="Times New Roman" panose="02020603050405020304" pitchFamily="18" charset="0"/>
                <a:cs typeface="Times New Roman" panose="02020603050405020304" pitchFamily="18" charset="0"/>
              </a:rPr>
              <a:t>ừ</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ứng</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dụng</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này</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sẽ</a:t>
            </a:r>
            <a:r>
              <a:rPr lang="en-US" sz="3200">
                <a:latin typeface="Times New Roman" panose="02020603050405020304" pitchFamily="18" charset="0"/>
                <a:cs typeface="Times New Roman" panose="02020603050405020304" pitchFamily="18" charset="0"/>
              </a:rPr>
              <a:t> g</a:t>
            </a:r>
            <a:r>
              <a:rPr lang="vi-VN" sz="3200">
                <a:latin typeface="Times New Roman" panose="02020603050405020304" pitchFamily="18" charset="0"/>
                <a:cs typeface="Times New Roman" panose="02020603050405020304" pitchFamily="18" charset="0"/>
              </a:rPr>
              <a:t>ợi</a:t>
            </a:r>
            <a:r>
              <a:rPr lang="en-US" sz="3200">
                <a:latin typeface="Times New Roman" panose="02020603050405020304" pitchFamily="18" charset="0"/>
                <a:cs typeface="Times New Roman" panose="02020603050405020304" pitchFamily="18" charset="0"/>
              </a:rPr>
              <a:t> ý </a:t>
            </a:r>
            <a:r>
              <a:rPr lang="en-US" sz="3200" err="1">
                <a:latin typeface="Times New Roman" panose="02020603050405020304" pitchFamily="18" charset="0"/>
                <a:cs typeface="Times New Roman" panose="02020603050405020304" pitchFamily="18" charset="0"/>
              </a:rPr>
              <a:t>cho</a:t>
            </a:r>
            <a:r>
              <a:rPr lang="en-US" sz="3200">
                <a:latin typeface="Times New Roman" panose="02020603050405020304" pitchFamily="18" charset="0"/>
                <a:cs typeface="Times New Roman" panose="02020603050405020304" pitchFamily="18" charset="0"/>
              </a:rPr>
              <a:t> ng</a:t>
            </a:r>
            <a:r>
              <a:rPr lang="vi-VN" sz="3200">
                <a:latin typeface="Times New Roman" panose="02020603050405020304" pitchFamily="18" charset="0"/>
                <a:cs typeface="Times New Roman" panose="02020603050405020304" pitchFamily="18" charset="0"/>
              </a:rPr>
              <a:t>ườ</a:t>
            </a:r>
            <a:r>
              <a:rPr lang="en-US" sz="3200" err="1">
                <a:latin typeface="Times New Roman" panose="02020603050405020304" pitchFamily="18" charset="0"/>
                <a:cs typeface="Times New Roman" panose="02020603050405020304" pitchFamily="18" charset="0"/>
              </a:rPr>
              <a:t>i</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dùng</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chọn</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thành</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phố</a:t>
            </a:r>
            <a:r>
              <a:rPr lang="en-US" sz="3200">
                <a:latin typeface="Times New Roman" panose="02020603050405020304" pitchFamily="18" charset="0"/>
                <a:cs typeface="Times New Roman" panose="02020603050405020304" pitchFamily="18" charset="0"/>
              </a:rPr>
              <a:t> n</a:t>
            </a:r>
            <a:r>
              <a:rPr lang="vi-VN" sz="3200">
                <a:latin typeface="Times New Roman" panose="02020603050405020304" pitchFamily="18" charset="0"/>
                <a:cs typeface="Times New Roman" panose="02020603050405020304" pitchFamily="18" charset="0"/>
              </a:rPr>
              <a:t>ơi</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mà</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họ</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sống</a:t>
            </a:r>
            <a:r>
              <a:rPr lang="en-US" sz="3200">
                <a:latin typeface="Times New Roman" panose="02020603050405020304" pitchFamily="18" charset="0"/>
                <a:cs typeface="Times New Roman" panose="02020603050405020304" pitchFamily="18" charset="0"/>
              </a:rPr>
              <a:t> qua </a:t>
            </a:r>
            <a:r>
              <a:rPr lang="vi-VN" sz="3200">
                <a:latin typeface="Times New Roman" panose="02020603050405020304" pitchFamily="18" charset="0"/>
                <a:cs typeface="Times New Roman" panose="02020603050405020304" pitchFamily="18" charset="0"/>
              </a:rPr>
              <a:t>đầu vào Hộp thoại</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vẽ</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và</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cắt</a:t>
            </a:r>
            <a:r>
              <a:rPr lang="en-US" sz="3200">
                <a:latin typeface="Times New Roman" panose="02020603050405020304" pitchFamily="18" charset="0"/>
                <a:cs typeface="Times New Roman" panose="02020603050405020304" pitchFamily="18" charset="0"/>
              </a:rPr>
              <a:t> 1 Label widget, 1 Line Edit </a:t>
            </a:r>
            <a:r>
              <a:rPr lang="en-US" sz="3200" err="1">
                <a:latin typeface="Times New Roman" panose="02020603050405020304" pitchFamily="18" charset="0"/>
                <a:cs typeface="Times New Roman" panose="02020603050405020304" pitchFamily="18" charset="0"/>
              </a:rPr>
              <a:t>và</a:t>
            </a:r>
            <a:r>
              <a:rPr lang="en-US" sz="3200">
                <a:latin typeface="Times New Roman" panose="02020603050405020304" pitchFamily="18" charset="0"/>
                <a:cs typeface="Times New Roman" panose="02020603050405020304" pitchFamily="18" charset="0"/>
              </a:rPr>
              <a:t> 1 Push Button widget </a:t>
            </a:r>
            <a:r>
              <a:rPr lang="en-US" sz="3200" err="1">
                <a:latin typeface="Times New Roman" panose="02020603050405020304" pitchFamily="18" charset="0"/>
                <a:cs typeface="Times New Roman" panose="02020603050405020304" pitchFamily="18" charset="0"/>
              </a:rPr>
              <a:t>lên</a:t>
            </a:r>
            <a:r>
              <a:rPr lang="en-US" sz="3200">
                <a:latin typeface="Times New Roman" panose="02020603050405020304" pitchFamily="18" charset="0"/>
                <a:cs typeface="Times New Roman" panose="02020603050405020304" pitchFamily="18" charset="0"/>
              </a:rPr>
              <a:t> form</a:t>
            </a:r>
            <a:r>
              <a:rPr lang="vi-VN" sz="3200">
                <a:latin typeface="Times New Roman" panose="02020603050405020304" pitchFamily="18" charset="0"/>
                <a:cs typeface="Times New Roman" panose="02020603050405020304" pitchFamily="18" charset="0"/>
              </a:rPr>
              <a:t> </a:t>
            </a:r>
            <a:endParaRPr lang="en-US" sz="3200">
              <a:latin typeface="Times New Roman" panose="02020603050405020304" pitchFamily="18" charset="0"/>
              <a:cs typeface="Times New Roman" panose="02020603050405020304" pitchFamily="18" charset="0"/>
            </a:endParaRPr>
          </a:p>
          <a:p>
            <a:pPr marL="969963" indent="-457200" algn="just">
              <a:buFont typeface="Wingdings" panose="05000000000000000000" pitchFamily="2" charset="2"/>
              <a:buChar char="§"/>
            </a:pPr>
            <a:r>
              <a:rPr lang="en-US" sz="3200">
                <a:latin typeface="Times New Roman" panose="02020603050405020304" pitchFamily="18" charset="0"/>
                <a:cs typeface="Times New Roman" panose="02020603050405020304" pitchFamily="18" charset="0"/>
              </a:rPr>
              <a:t>B2: </a:t>
            </a:r>
            <a:r>
              <a:rPr lang="vi-VN" sz="3200">
                <a:latin typeface="Times New Roman" panose="02020603050405020304" pitchFamily="18" charset="0"/>
                <a:cs typeface="Times New Roman" panose="02020603050405020304" pitchFamily="18" charset="0"/>
              </a:rPr>
              <a:t>Thiết lập </a:t>
            </a:r>
            <a:r>
              <a:rPr lang="en-US" sz="3200" err="1">
                <a:latin typeface="Times New Roman" panose="02020603050405020304" pitchFamily="18" charset="0"/>
                <a:cs typeface="Times New Roman" panose="02020603050405020304" pitchFamily="18" charset="0"/>
              </a:rPr>
              <a:t>thuộc</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tính</a:t>
            </a:r>
            <a:r>
              <a:rPr lang="en-US" sz="3200">
                <a:latin typeface="Times New Roman" panose="02020603050405020304" pitchFamily="18" charset="0"/>
                <a:cs typeface="Times New Roman" panose="02020603050405020304" pitchFamily="18" charset="0"/>
              </a:rPr>
              <a:t> text</a:t>
            </a:r>
            <a:r>
              <a:rPr lang="vi-VN" sz="3200">
                <a:latin typeface="Times New Roman" panose="02020603050405020304" pitchFamily="18" charset="0"/>
                <a:cs typeface="Times New Roman" panose="02020603050405020304" pitchFamily="18" charset="0"/>
              </a:rPr>
              <a:t> của</a:t>
            </a:r>
            <a:r>
              <a:rPr lang="en-US" sz="3200">
                <a:latin typeface="Times New Roman" panose="02020603050405020304" pitchFamily="18" charset="0"/>
                <a:cs typeface="Times New Roman" panose="02020603050405020304" pitchFamily="18" charset="0"/>
              </a:rPr>
              <a:t> Label</a:t>
            </a:r>
            <a:r>
              <a:rPr lang="vi-VN" sz="3200">
                <a:latin typeface="Times New Roman" panose="02020603050405020304" pitchFamily="18" charset="0"/>
                <a:cs typeface="Times New Roman" panose="02020603050405020304" pitchFamily="18" charset="0"/>
              </a:rPr>
              <a:t> widget cho Quốc gia Của bạn. </a:t>
            </a:r>
          </a:p>
          <a:p>
            <a:pPr marL="969963" indent="-457200" algn="just">
              <a:buFont typeface="Wingdings" panose="05000000000000000000" pitchFamily="2" charset="2"/>
              <a:buChar char="§"/>
            </a:pPr>
            <a:r>
              <a:rPr lang="en-US" sz="3200">
                <a:latin typeface="Times New Roman" panose="02020603050405020304" pitchFamily="18" charset="0"/>
                <a:cs typeface="Times New Roman" panose="02020603050405020304" pitchFamily="18" charset="0"/>
              </a:rPr>
              <a:t>B</a:t>
            </a:r>
            <a:r>
              <a:rPr lang="vi-VN" sz="3200">
                <a:latin typeface="Times New Roman" panose="02020603050405020304" pitchFamily="18" charset="0"/>
                <a:cs typeface="Times New Roman" panose="02020603050405020304" pitchFamily="18" charset="0"/>
              </a:rPr>
              <a:t>3. Thiết lập </a:t>
            </a:r>
            <a:r>
              <a:rPr lang="en-US" sz="3200" err="1">
                <a:latin typeface="Times New Roman" panose="02020603050405020304" pitchFamily="18" charset="0"/>
                <a:cs typeface="Times New Roman" panose="02020603050405020304" pitchFamily="18" charset="0"/>
              </a:rPr>
              <a:t>thuộc</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tính</a:t>
            </a:r>
            <a:r>
              <a:rPr lang="en-US" sz="3200">
                <a:latin typeface="Times New Roman" panose="02020603050405020304" pitchFamily="18" charset="0"/>
                <a:cs typeface="Times New Roman" panose="02020603050405020304" pitchFamily="18" charset="0"/>
              </a:rPr>
              <a:t> text</a:t>
            </a:r>
            <a:r>
              <a:rPr lang="vi-VN" sz="3200">
                <a:latin typeface="Times New Roman" panose="02020603050405020304" pitchFamily="18" charset="0"/>
                <a:cs typeface="Times New Roman" panose="02020603050405020304" pitchFamily="18" charset="0"/>
              </a:rPr>
              <a:t> của</a:t>
            </a:r>
            <a:r>
              <a:rPr lang="en-US" sz="3200">
                <a:latin typeface="Times New Roman" panose="02020603050405020304" pitchFamily="18" charset="0"/>
                <a:cs typeface="Times New Roman" panose="02020603050405020304" pitchFamily="18" charset="0"/>
              </a:rPr>
              <a:t> Label</a:t>
            </a:r>
            <a:r>
              <a:rPr lang="vi-VN" sz="3200">
                <a:latin typeface="Times New Roman" panose="02020603050405020304" pitchFamily="18" charset="0"/>
                <a:cs typeface="Times New Roman" panose="02020603050405020304" pitchFamily="18" charset="0"/>
              </a:rPr>
              <a:t> widget </a:t>
            </a:r>
            <a:r>
              <a:rPr lang="en-US" sz="3200" err="1">
                <a:latin typeface="Times New Roman" panose="02020603050405020304" pitchFamily="18" charset="0"/>
                <a:cs typeface="Times New Roman" panose="02020603050405020304" pitchFamily="18" charset="0"/>
              </a:rPr>
              <a:t>cho</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nút nhấn để Chọn Quốc gia. </a:t>
            </a:r>
          </a:p>
          <a:p>
            <a:pPr marL="0" indent="0" algn="just">
              <a:buNone/>
            </a:pPr>
            <a:endParaRPr lang="en-US" sz="3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8703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3855"/>
            <a:ext cx="9102490" cy="833905"/>
          </a:xfrm>
        </p:spPr>
        <p:txBody>
          <a:bodyPr/>
          <a:lstStyle/>
          <a:p>
            <a:r>
              <a:rPr lang="en-US" err="1">
                <a:latin typeface="Times New Roman" panose="02020603050405020304" pitchFamily="18" charset="0"/>
                <a:cs typeface="Times New Roman" panose="02020603050405020304" pitchFamily="18" charset="0"/>
              </a:rPr>
              <a:t>Sử</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Dụng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Đầu</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Vào</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Hộp</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Thoại</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620713" algn="just">
              <a:buFont typeface="Wingdings" panose="05000000000000000000" pitchFamily="2" charset="2"/>
              <a:buChar char="§"/>
            </a:pPr>
            <a:r>
              <a:rPr lang="en-US" sz="3200">
                <a:latin typeface="Times New Roman" panose="02020603050405020304" pitchFamily="18" charset="0"/>
                <a:cs typeface="Times New Roman" panose="02020603050405020304" pitchFamily="18" charset="0"/>
              </a:rPr>
              <a:t>B</a:t>
            </a:r>
            <a:r>
              <a:rPr lang="vi-VN" sz="3200">
                <a:latin typeface="Times New Roman" panose="02020603050405020304" pitchFamily="18" charset="0"/>
                <a:cs typeface="Times New Roman" panose="02020603050405020304" pitchFamily="18" charset="0"/>
              </a:rPr>
              <a:t>4</a:t>
            </a:r>
            <a:r>
              <a:rPr lang="en-US" sz="3200">
                <a:latin typeface="Times New Roman" panose="02020603050405020304" pitchFamily="18" charset="0"/>
                <a:cs typeface="Times New Roman" panose="02020603050405020304" pitchFamily="18" charset="0"/>
              </a:rPr>
              <a:t>:</a:t>
            </a:r>
            <a:r>
              <a:rPr lang="vi-VN" sz="3200">
                <a:latin typeface="Times New Roman" panose="02020603050405020304" pitchFamily="18" charset="0"/>
                <a:cs typeface="Times New Roman" panose="02020603050405020304" pitchFamily="18" charset="0"/>
              </a:rPr>
              <a:t> Thiết lập </a:t>
            </a:r>
            <a:r>
              <a:rPr lang="en-US" sz="3200" err="1">
                <a:latin typeface="Times New Roman" panose="02020603050405020304" pitchFamily="18" charset="0"/>
                <a:cs typeface="Times New Roman" panose="02020603050405020304" pitchFamily="18" charset="0"/>
              </a:rPr>
              <a:t>thuộc</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tính</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objectName của</a:t>
            </a:r>
            <a:r>
              <a:rPr lang="en-US" sz="3200">
                <a:latin typeface="Times New Roman" panose="02020603050405020304" pitchFamily="18" charset="0"/>
                <a:cs typeface="Times New Roman" panose="02020603050405020304" pitchFamily="18" charset="0"/>
              </a:rPr>
              <a:t> Line Edit</a:t>
            </a:r>
            <a:r>
              <a:rPr lang="vi-VN" sz="3200">
                <a:latin typeface="Times New Roman" panose="02020603050405020304" pitchFamily="18" charset="0"/>
                <a:cs typeface="Times New Roman" panose="02020603050405020304" pitchFamily="18" charset="0"/>
              </a:rPr>
              <a:t> widget đến lineEditCountry. </a:t>
            </a:r>
          </a:p>
          <a:p>
            <a:pPr marL="620713" algn="just">
              <a:buFont typeface="Wingdings" panose="05000000000000000000" pitchFamily="2" charset="2"/>
              <a:buChar char="§"/>
            </a:pPr>
            <a:r>
              <a:rPr lang="en-US" sz="3200">
                <a:latin typeface="Times New Roman" panose="02020603050405020304" pitchFamily="18" charset="0"/>
                <a:cs typeface="Times New Roman" panose="02020603050405020304" pitchFamily="18" charset="0"/>
              </a:rPr>
              <a:t>B</a:t>
            </a:r>
            <a:r>
              <a:rPr lang="vi-VN" sz="3200">
                <a:latin typeface="Times New Roman" panose="02020603050405020304" pitchFamily="18" charset="0"/>
                <a:cs typeface="Times New Roman" panose="02020603050405020304" pitchFamily="18" charset="0"/>
              </a:rPr>
              <a:t>5. Thiết lập </a:t>
            </a:r>
            <a:r>
              <a:rPr lang="en-US" sz="3200" err="1">
                <a:latin typeface="Times New Roman" panose="02020603050405020304" pitchFamily="18" charset="0"/>
                <a:cs typeface="Times New Roman" panose="02020603050405020304" pitchFamily="18" charset="0"/>
              </a:rPr>
              <a:t>thuộc</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tính</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objectName của</a:t>
            </a:r>
            <a:r>
              <a:rPr lang="en-US" sz="3200">
                <a:latin typeface="Times New Roman" panose="02020603050405020304" pitchFamily="18" charset="0"/>
                <a:cs typeface="Times New Roman" panose="02020603050405020304" pitchFamily="18" charset="0"/>
              </a:rPr>
              <a:t> Push Button</a:t>
            </a:r>
            <a:r>
              <a:rPr lang="vi-VN" sz="3200">
                <a:latin typeface="Times New Roman" panose="02020603050405020304" pitchFamily="18" charset="0"/>
                <a:cs typeface="Times New Roman" panose="02020603050405020304" pitchFamily="18" charset="0"/>
              </a:rPr>
              <a:t> widget đến pushButtonCountry. </a:t>
            </a:r>
          </a:p>
          <a:p>
            <a:pPr marL="620713" algn="just">
              <a:buFont typeface="Wingdings" panose="05000000000000000000" pitchFamily="2" charset="2"/>
              <a:buChar char="§"/>
            </a:pPr>
            <a:r>
              <a:rPr lang="en-US" sz="3200">
                <a:latin typeface="Times New Roman" panose="02020603050405020304" pitchFamily="18" charset="0"/>
                <a:cs typeface="Times New Roman" panose="02020603050405020304" pitchFamily="18" charset="0"/>
              </a:rPr>
              <a:t>B</a:t>
            </a:r>
            <a:r>
              <a:rPr lang="vi-VN" sz="3200">
                <a:latin typeface="Times New Roman" panose="02020603050405020304" pitchFamily="18" charset="0"/>
                <a:cs typeface="Times New Roman" panose="02020603050405020304" pitchFamily="18" charset="0"/>
              </a:rPr>
              <a:t>6. Lưu ứng dụng với tên demoInputDialog</a:t>
            </a:r>
            <a:r>
              <a:rPr lang="en-US" sz="3200">
                <a:latin typeface="Times New Roman" panose="02020603050405020304" pitchFamily="18" charset="0"/>
                <a:cs typeface="Times New Roman" panose="02020603050405020304" pitchFamily="18" charset="0"/>
              </a:rPr>
              <a:t>.</a:t>
            </a:r>
          </a:p>
          <a:p>
            <a:pPr marL="620713" algn="just">
              <a:buFont typeface="Wingdings" panose="05000000000000000000" pitchFamily="2" charset="2"/>
              <a:buChar char="§"/>
            </a:pPr>
            <a:endParaRPr lang="en-US" sz="320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a:p>
            <a:pPr marL="620713" algn="just">
              <a:buFont typeface="Wingdings" panose="05000000000000000000" pitchFamily="2" charset="2"/>
              <a:buChar char="§"/>
            </a:pPr>
            <a:r>
              <a:rPr lang="en-US" sz="3200">
                <a:latin typeface="Times New Roman" panose="02020603050405020304" pitchFamily="18" charset="0"/>
                <a:cs typeface="Times New Roman" panose="02020603050405020304" pitchFamily="18" charset="0"/>
              </a:rPr>
              <a:t>B</a:t>
            </a:r>
            <a:r>
              <a:rPr lang="vi-VN" sz="3200">
                <a:latin typeface="Times New Roman" panose="02020603050405020304" pitchFamily="18" charset="0"/>
                <a:cs typeface="Times New Roman" panose="02020603050405020304" pitchFamily="18" charset="0"/>
              </a:rPr>
              <a:t>7. Để chuyển đổi, bạn cần mở cửa sổ nhắc lệnh, dẫn đến thư mục nơi tập tin được lưu lại và cấp phát dòng lệnh sau :</a:t>
            </a:r>
            <a:endParaRPr lang="en-US" sz="3200">
              <a:latin typeface="Times New Roman" panose="02020603050405020304" pitchFamily="18" charset="0"/>
              <a:cs typeface="Times New Roman" panose="02020603050405020304" pitchFamily="18" charset="0"/>
            </a:endParaRPr>
          </a:p>
        </p:txBody>
      </p:sp>
      <p:pic>
        <p:nvPicPr>
          <p:cNvPr id="5" name="Picture 4" descr="sách Qt5-Python-GUI-Programming-Cookbook.pdf - Adobe Acrobat Reader DC">
            <a:extLst>
              <a:ext uri="{FF2B5EF4-FFF2-40B4-BE49-F238E27FC236}">
                <a16:creationId xmlns:a16="http://schemas.microsoft.com/office/drawing/2014/main" id="{DF6D084D-7857-4D7D-A504-7622FFAB2352}"/>
              </a:ext>
            </a:extLst>
          </p:cNvPr>
          <p:cNvPicPr>
            <a:picLocks noChangeAspect="1"/>
          </p:cNvPicPr>
          <p:nvPr/>
        </p:nvPicPr>
        <p:blipFill rotWithShape="1">
          <a:blip r:embed="rId2">
            <a:extLst>
              <a:ext uri="{28A0092B-C50C-407E-A947-70E740481C1C}">
                <a14:useLocalDpi xmlns:a14="http://schemas.microsoft.com/office/drawing/2010/main" val="0"/>
              </a:ext>
            </a:extLst>
          </a:blip>
          <a:srcRect l="17736" t="30811" r="33019" b="47109"/>
          <a:stretch/>
        </p:blipFill>
        <p:spPr>
          <a:xfrm>
            <a:off x="1319841" y="3097867"/>
            <a:ext cx="6504317" cy="2012174"/>
          </a:xfrm>
          <a:prstGeom prst="rect">
            <a:avLst/>
          </a:prstGeom>
        </p:spPr>
      </p:pic>
    </p:spTree>
    <p:extLst>
      <p:ext uri="{BB962C8B-B14F-4D97-AF65-F5344CB8AC3E}">
        <p14:creationId xmlns:p14="http://schemas.microsoft.com/office/powerpoint/2010/main" val="41664962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3855"/>
            <a:ext cx="9102490" cy="833905"/>
          </a:xfrm>
        </p:spPr>
        <p:txBody>
          <a:bodyPr/>
          <a:lstStyle/>
          <a:p>
            <a:r>
              <a:rPr lang="en-US" err="1">
                <a:latin typeface="Times New Roman" panose="02020603050405020304" pitchFamily="18" charset="0"/>
                <a:cs typeface="Times New Roman" panose="02020603050405020304" pitchFamily="18" charset="0"/>
              </a:rPr>
              <a:t>Sử</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Dụng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Đầu</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Vào</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Hộp</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Thoại</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793750" indent="0" algn="just">
              <a:buNone/>
            </a:pPr>
            <a:r>
              <a:rPr lang="en-US" sz="3200" i="1">
                <a:latin typeface="Times New Roman" panose="02020603050405020304" pitchFamily="18" charset="0"/>
                <a:cs typeface="Times New Roman" panose="02020603050405020304" pitchFamily="18" charset="0"/>
              </a:rPr>
              <a:t>C:\Pythonbook\PyQt5&gt;pyuic5 </a:t>
            </a:r>
            <a:r>
              <a:rPr lang="en-US" sz="3200" i="1" err="1">
                <a:latin typeface="Times New Roman" panose="02020603050405020304" pitchFamily="18" charset="0"/>
                <a:cs typeface="Times New Roman" panose="02020603050405020304" pitchFamily="18" charset="0"/>
              </a:rPr>
              <a:t>demoInputDialog.ui</a:t>
            </a:r>
            <a:r>
              <a:rPr lang="en-US" sz="3200" i="1">
                <a:latin typeface="Times New Roman" panose="02020603050405020304" pitchFamily="18" charset="0"/>
                <a:cs typeface="Times New Roman" panose="02020603050405020304" pitchFamily="18" charset="0"/>
              </a:rPr>
              <a:t> -o demoInputDialog.py</a:t>
            </a:r>
          </a:p>
          <a:p>
            <a:pPr marL="569913" algn="just">
              <a:buFont typeface="Wingdings" panose="05000000000000000000" pitchFamily="2" charset="2"/>
              <a:buChar char="§"/>
            </a:pPr>
            <a:r>
              <a:rPr lang="en-US" sz="3200">
                <a:latin typeface="Times New Roman" panose="02020603050405020304" pitchFamily="18" charset="0"/>
                <a:cs typeface="Times New Roman" panose="02020603050405020304" pitchFamily="18" charset="0"/>
              </a:rPr>
              <a:t>B</a:t>
            </a:r>
            <a:r>
              <a:rPr lang="vi-VN" sz="3200">
                <a:latin typeface="Times New Roman" panose="02020603050405020304" pitchFamily="18" charset="0"/>
                <a:cs typeface="Times New Roman" panose="02020603050405020304" pitchFamily="18" charset="0"/>
              </a:rPr>
              <a:t>8</a:t>
            </a:r>
            <a:r>
              <a:rPr lang="en-US" sz="3200">
                <a:latin typeface="Times New Roman" panose="02020603050405020304" pitchFamily="18" charset="0"/>
                <a:cs typeface="Times New Roman" panose="02020603050405020304" pitchFamily="18" charset="0"/>
              </a:rPr>
              <a:t>:</a:t>
            </a:r>
            <a:r>
              <a:rPr lang="vi-VN"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Xem</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xét</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đoạn</a:t>
            </a:r>
            <a:r>
              <a:rPr lang="en-US" sz="3200">
                <a:latin typeface="Times New Roman" panose="02020603050405020304" pitchFamily="18" charset="0"/>
                <a:cs typeface="Times New Roman" panose="02020603050405020304" pitchFamily="18" charset="0"/>
              </a:rPr>
              <a:t> script </a:t>
            </a:r>
            <a:r>
              <a:rPr lang="vi-VN" sz="3200" b="1">
                <a:latin typeface="Times New Roman" panose="02020603050405020304" pitchFamily="18" charset="0"/>
                <a:cs typeface="Times New Roman" panose="02020603050405020304" pitchFamily="18" charset="0"/>
              </a:rPr>
              <a:t>demoInputDialog.</a:t>
            </a:r>
            <a:r>
              <a:rPr lang="en-US" sz="3200" b="1" err="1">
                <a:latin typeface="Times New Roman" panose="02020603050405020304" pitchFamily="18" charset="0"/>
                <a:cs typeface="Times New Roman" panose="02020603050405020304" pitchFamily="18" charset="0"/>
              </a:rPr>
              <a:t>py</a:t>
            </a:r>
            <a:r>
              <a:rPr lang="en-US" sz="3200" b="1">
                <a:latin typeface="Times New Roman" panose="02020603050405020304" pitchFamily="18" charset="0"/>
                <a:cs typeface="Times New Roman" panose="02020603050405020304" pitchFamily="18" charset="0"/>
              </a:rPr>
              <a:t> </a:t>
            </a:r>
            <a:r>
              <a:rPr lang="vi-VN" sz="3200" b="1">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như tập tin tiêu đề và nhập vào nó tập tin từ đó bạn sẽ gọi giao diện người dùng của nó thiết kế. </a:t>
            </a:r>
          </a:p>
          <a:p>
            <a:pPr marL="569913" algn="just">
              <a:buFont typeface="Wingdings" panose="05000000000000000000" pitchFamily="2" charset="2"/>
              <a:buChar char="§"/>
            </a:pPr>
            <a:r>
              <a:rPr lang="en-US" sz="3200">
                <a:latin typeface="Times New Roman" panose="02020603050405020304" pitchFamily="18" charset="0"/>
                <a:cs typeface="Times New Roman" panose="02020603050405020304" pitchFamily="18" charset="0"/>
              </a:rPr>
              <a:t>B</a:t>
            </a:r>
            <a:r>
              <a:rPr lang="vi-VN" sz="3200">
                <a:latin typeface="Times New Roman" panose="02020603050405020304" pitchFamily="18" charset="0"/>
                <a:cs typeface="Times New Roman" panose="02020603050405020304" pitchFamily="18" charset="0"/>
              </a:rPr>
              <a:t>9</a:t>
            </a:r>
            <a:r>
              <a:rPr lang="en-US" sz="3200">
                <a:latin typeface="Times New Roman" panose="02020603050405020304" pitchFamily="18" charset="0"/>
                <a:cs typeface="Times New Roman" panose="02020603050405020304" pitchFamily="18" charset="0"/>
              </a:rPr>
              <a:t>:</a:t>
            </a:r>
            <a:r>
              <a:rPr lang="vi-VN" sz="3200">
                <a:latin typeface="Times New Roman" panose="02020603050405020304" pitchFamily="18" charset="0"/>
                <a:cs typeface="Times New Roman" panose="02020603050405020304" pitchFamily="18" charset="0"/>
              </a:rPr>
              <a:t> Tạo ra tập tin Python khác với tên callInputDialog. pyw và nhập</a:t>
            </a:r>
            <a:r>
              <a:rPr lang="en-US" sz="3200">
                <a:latin typeface="Times New Roman" panose="02020603050405020304" pitchFamily="18" charset="0"/>
                <a:cs typeface="Times New Roman" panose="02020603050405020304" pitchFamily="18" charset="0"/>
              </a:rPr>
              <a:t> code</a:t>
            </a:r>
            <a:r>
              <a:rPr lang="vi-VN" sz="3200">
                <a:latin typeface="Times New Roman" panose="02020603050405020304" pitchFamily="18" charset="0"/>
                <a:cs typeface="Times New Roman" panose="02020603050405020304" pitchFamily="18" charset="0"/>
              </a:rPr>
              <a:t> demoInputDialog. Py</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vào đó :</a:t>
            </a:r>
            <a:endParaRPr lang="en-US" sz="3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86470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3855"/>
            <a:ext cx="9102490" cy="833905"/>
          </a:xfrm>
        </p:spPr>
        <p:txBody>
          <a:bodyPr/>
          <a:lstStyle/>
          <a:p>
            <a:r>
              <a:rPr lang="en-US" err="1">
                <a:latin typeface="Times New Roman" panose="02020603050405020304" pitchFamily="18" charset="0"/>
                <a:cs typeface="Times New Roman" panose="02020603050405020304" pitchFamily="18" charset="0"/>
              </a:rPr>
              <a:t>Sử</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Dụng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Đầu</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Vào</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Hộp</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Thoại</a:t>
            </a:r>
            <a:endParaRPr lang="en-US">
              <a:latin typeface="Times New Roman" panose="02020603050405020304" pitchFamily="18" charset="0"/>
              <a:cs typeface="Times New Roman" panose="02020603050405020304" pitchFamily="18" charset="0"/>
            </a:endParaRPr>
          </a:p>
        </p:txBody>
      </p:sp>
      <p:pic>
        <p:nvPicPr>
          <p:cNvPr id="9" name="Content Placeholder 8" descr="sách Qt5-Python-GUI-Programming-Cookbook.pdf - Adobe Acrobat Reader DC">
            <a:extLst>
              <a:ext uri="{FF2B5EF4-FFF2-40B4-BE49-F238E27FC236}">
                <a16:creationId xmlns:a16="http://schemas.microsoft.com/office/drawing/2014/main" id="{5A95A35E-9080-4389-902F-53477DEFCA8B}"/>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7383" t="20954" r="25756" b="11450"/>
          <a:stretch/>
        </p:blipFill>
        <p:spPr>
          <a:xfrm>
            <a:off x="20755" y="820050"/>
            <a:ext cx="8726431" cy="5684267"/>
          </a:xfrm>
        </p:spPr>
      </p:pic>
    </p:spTree>
    <p:extLst>
      <p:ext uri="{BB962C8B-B14F-4D97-AF65-F5344CB8AC3E}">
        <p14:creationId xmlns:p14="http://schemas.microsoft.com/office/powerpoint/2010/main" val="28972886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3855"/>
            <a:ext cx="9102490" cy="833905"/>
          </a:xfrm>
        </p:spPr>
        <p:txBody>
          <a:bodyPr/>
          <a:lstStyle/>
          <a:p>
            <a:r>
              <a:rPr lang="en-US" err="1">
                <a:latin typeface="Times New Roman" panose="02020603050405020304" pitchFamily="18" charset="0"/>
                <a:cs typeface="Times New Roman" panose="02020603050405020304" pitchFamily="18" charset="0"/>
              </a:rPr>
              <a:t>Sử</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Dụng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Đầu</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Vào</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Hộp</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Thoại</a:t>
            </a:r>
            <a:endParaRPr lang="en-US">
              <a:latin typeface="Times New Roman" panose="02020603050405020304" pitchFamily="18" charset="0"/>
              <a:cs typeface="Times New Roman" panose="02020603050405020304" pitchFamily="18" charset="0"/>
            </a:endParaRPr>
          </a:p>
        </p:txBody>
      </p:sp>
      <p:pic>
        <p:nvPicPr>
          <p:cNvPr id="6" name="Content Placeholder 5" descr="sách Qt5-Python-GUI-Programming-Cookbook.pdf - Adobe Acrobat Reader DC">
            <a:extLst>
              <a:ext uri="{FF2B5EF4-FFF2-40B4-BE49-F238E27FC236}">
                <a16:creationId xmlns:a16="http://schemas.microsoft.com/office/drawing/2014/main" id="{2B2A620F-8339-450D-92A4-CF2255B73F19}"/>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8141" t="35035" r="32201" b="43489"/>
          <a:stretch/>
        </p:blipFill>
        <p:spPr>
          <a:xfrm>
            <a:off x="457199" y="642937"/>
            <a:ext cx="4934310" cy="1940403"/>
          </a:xfrm>
        </p:spPr>
      </p:pic>
      <p:pic>
        <p:nvPicPr>
          <p:cNvPr id="11" name="Picture 10" descr="sách Qt5-Python-GUI-Programming-Cookbook.pdf - Adobe Acrobat Reader DC">
            <a:extLst>
              <a:ext uri="{FF2B5EF4-FFF2-40B4-BE49-F238E27FC236}">
                <a16:creationId xmlns:a16="http://schemas.microsoft.com/office/drawing/2014/main" id="{AA3A2B72-415C-43FE-ACF0-4D6AB0551532}"/>
              </a:ext>
            </a:extLst>
          </p:cNvPr>
          <p:cNvPicPr>
            <a:picLocks noChangeAspect="1"/>
          </p:cNvPicPr>
          <p:nvPr/>
        </p:nvPicPr>
        <p:blipFill rotWithShape="1">
          <a:blip r:embed="rId3">
            <a:extLst>
              <a:ext uri="{28A0092B-C50C-407E-A947-70E740481C1C}">
                <a14:useLocalDpi xmlns:a14="http://schemas.microsoft.com/office/drawing/2010/main" val="0"/>
              </a:ext>
            </a:extLst>
          </a:blip>
          <a:srcRect l="16982" t="24241" r="31887" b="24598"/>
          <a:stretch/>
        </p:blipFill>
        <p:spPr>
          <a:xfrm>
            <a:off x="2691443" y="2355009"/>
            <a:ext cx="5995358" cy="3243534"/>
          </a:xfrm>
          <a:prstGeom prst="rect">
            <a:avLst/>
          </a:prstGeom>
        </p:spPr>
      </p:pic>
      <p:pic>
        <p:nvPicPr>
          <p:cNvPr id="13" name="Picture 12" descr="sách Qt5-Python-GUI-Programming-Cookbook.pdf - Adobe Acrobat Reader DC">
            <a:extLst>
              <a:ext uri="{FF2B5EF4-FFF2-40B4-BE49-F238E27FC236}">
                <a16:creationId xmlns:a16="http://schemas.microsoft.com/office/drawing/2014/main" id="{2998EDAD-BF5B-466F-9A5C-0689D60AE704}"/>
              </a:ext>
            </a:extLst>
          </p:cNvPr>
          <p:cNvPicPr>
            <a:picLocks noChangeAspect="1"/>
          </p:cNvPicPr>
          <p:nvPr/>
        </p:nvPicPr>
        <p:blipFill rotWithShape="1">
          <a:blip r:embed="rId4">
            <a:extLst>
              <a:ext uri="{28A0092B-C50C-407E-A947-70E740481C1C}">
                <a14:useLocalDpi xmlns:a14="http://schemas.microsoft.com/office/drawing/2010/main" val="0"/>
              </a:ext>
            </a:extLst>
          </a:blip>
          <a:srcRect l="18490" t="42377" r="33019" b="35472"/>
          <a:stretch/>
        </p:blipFill>
        <p:spPr>
          <a:xfrm>
            <a:off x="707365" y="5417389"/>
            <a:ext cx="5417390" cy="1440611"/>
          </a:xfrm>
          <a:prstGeom prst="rect">
            <a:avLst/>
          </a:prstGeom>
        </p:spPr>
      </p:pic>
      <p:sp>
        <p:nvSpPr>
          <p:cNvPr id="14" name="Arrow: Bent-Up 13">
            <a:extLst>
              <a:ext uri="{FF2B5EF4-FFF2-40B4-BE49-F238E27FC236}">
                <a16:creationId xmlns:a16="http://schemas.microsoft.com/office/drawing/2014/main" id="{8C632539-ED86-4287-A5CB-38ABDCCDAB8E}"/>
              </a:ext>
            </a:extLst>
          </p:cNvPr>
          <p:cNvSpPr/>
          <p:nvPr/>
        </p:nvSpPr>
        <p:spPr>
          <a:xfrm flipV="1">
            <a:off x="5244860" y="1759786"/>
            <a:ext cx="1570008" cy="833905"/>
          </a:xfrm>
          <a:prstGeom prst="bentUp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Bent-Up 14">
            <a:extLst>
              <a:ext uri="{FF2B5EF4-FFF2-40B4-BE49-F238E27FC236}">
                <a16:creationId xmlns:a16="http://schemas.microsoft.com/office/drawing/2014/main" id="{E838B32D-E50F-43A0-844F-1E0ADB20183C}"/>
              </a:ext>
            </a:extLst>
          </p:cNvPr>
          <p:cNvSpPr/>
          <p:nvPr/>
        </p:nvSpPr>
        <p:spPr>
          <a:xfrm rot="10800000">
            <a:off x="1233575" y="4650181"/>
            <a:ext cx="1690779" cy="948362"/>
          </a:xfrm>
          <a:prstGeom prst="bentUp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826662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3855"/>
            <a:ext cx="9102490" cy="833905"/>
          </a:xfrm>
        </p:spPr>
        <p:txBody>
          <a:bodyPr/>
          <a:lstStyle/>
          <a:p>
            <a:r>
              <a:rPr lang="en-US" err="1">
                <a:latin typeface="Times New Roman" panose="02020603050405020304" pitchFamily="18" charset="0"/>
                <a:cs typeface="Times New Roman" panose="02020603050405020304" pitchFamily="18" charset="0"/>
              </a:rPr>
              <a:t>Sử</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Dụng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Màu</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Hộp</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Thoại</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457200" indent="-457200" algn="just">
              <a:buFont typeface="Wingdings" panose="05000000000000000000" pitchFamily="2" charset="2"/>
              <a:buChar char="Ø"/>
            </a:pPr>
            <a:r>
              <a:rPr lang="en-US" sz="3200">
                <a:latin typeface="Times New Roman" panose="02020603050405020304" pitchFamily="18" charset="0"/>
                <a:cs typeface="Times New Roman" panose="02020603050405020304" pitchFamily="18" charset="0"/>
              </a:rPr>
              <a:t>C</a:t>
            </a:r>
            <a:r>
              <a:rPr lang="vi-VN" sz="3200">
                <a:latin typeface="Times New Roman" panose="02020603050405020304" pitchFamily="18" charset="0"/>
                <a:cs typeface="Times New Roman" panose="02020603050405020304" pitchFamily="18" charset="0"/>
              </a:rPr>
              <a:t>ho phép người dùng chọn màu định sẵn từ bảng màu hoặc tạo ra màu</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mới theo ý riêng. </a:t>
            </a:r>
          </a:p>
          <a:p>
            <a:pPr marL="457200" indent="-457200" algn="just">
              <a:buFont typeface="Wingdings" panose="05000000000000000000" pitchFamily="2" charset="2"/>
              <a:buChar char="Ø"/>
            </a:pPr>
            <a:r>
              <a:rPr lang="vi-VN" sz="3200">
                <a:latin typeface="Times New Roman" panose="02020603050405020304" pitchFamily="18" charset="0"/>
                <a:cs typeface="Times New Roman" panose="02020603050405020304" pitchFamily="18" charset="0"/>
              </a:rPr>
              <a:t>Ứng dụng bao gồm khung</a:t>
            </a:r>
            <a:r>
              <a:rPr lang="en-US" sz="3200">
                <a:latin typeface="Times New Roman" panose="02020603050405020304" pitchFamily="18" charset="0"/>
                <a:cs typeface="Times New Roman" panose="02020603050405020304" pitchFamily="18" charset="0"/>
              </a:rPr>
              <a:t> (Frame)</a:t>
            </a:r>
            <a:r>
              <a:rPr lang="vi-VN" sz="3200">
                <a:latin typeface="Times New Roman" panose="02020603050405020304" pitchFamily="18" charset="0"/>
                <a:cs typeface="Times New Roman" panose="02020603050405020304" pitchFamily="18" charset="0"/>
              </a:rPr>
              <a:t> và khi người dùng chọn màu nào từ hộp thoại màu, màu đã chọn sẽ được đưa vào khung. Bên cạnh đó, mã số thập lục phân của màu chọn lọc cũng sẽ được hiển thị qua</a:t>
            </a:r>
            <a:r>
              <a:rPr lang="en-US" sz="3200">
                <a:latin typeface="Times New Roman" panose="02020603050405020304" pitchFamily="18" charset="0"/>
                <a:cs typeface="Times New Roman" panose="02020603050405020304" pitchFamily="18" charset="0"/>
              </a:rPr>
              <a:t> </a:t>
            </a:r>
            <a:r>
              <a:rPr lang="en-US" sz="3200" b="1">
                <a:latin typeface="Times New Roman" panose="02020603050405020304" pitchFamily="18" charset="0"/>
                <a:cs typeface="Times New Roman" panose="02020603050405020304" pitchFamily="18" charset="0"/>
              </a:rPr>
              <a:t>Label</a:t>
            </a:r>
            <a:r>
              <a:rPr lang="vi-VN" sz="3200" b="1">
                <a:latin typeface="Times New Roman" panose="02020603050405020304" pitchFamily="18" charset="0"/>
                <a:cs typeface="Times New Roman" panose="02020603050405020304" pitchFamily="18" charset="0"/>
              </a:rPr>
              <a:t> widget</a:t>
            </a:r>
            <a:r>
              <a:rPr lang="vi-VN" sz="3200">
                <a:latin typeface="Times New Roman" panose="02020603050405020304" pitchFamily="18" charset="0"/>
                <a:cs typeface="Times New Roman" panose="02020603050405020304" pitchFamily="18" charset="0"/>
              </a:rPr>
              <a:t>. </a:t>
            </a:r>
          </a:p>
          <a:p>
            <a:pPr marL="457200" indent="-457200" algn="just">
              <a:buFont typeface="Wingdings" panose="05000000000000000000" pitchFamily="2" charset="2"/>
              <a:buChar char="Ø"/>
            </a:pPr>
            <a:r>
              <a:rPr lang="en-US" sz="3200">
                <a:latin typeface="Times New Roman" panose="02020603050405020304" pitchFamily="18" charset="0"/>
                <a:cs typeface="Times New Roman" panose="02020603050405020304" pitchFamily="18" charset="0"/>
              </a:rPr>
              <a:t>C</a:t>
            </a:r>
            <a:r>
              <a:rPr lang="vi-VN" sz="3200">
                <a:latin typeface="Times New Roman" panose="02020603050405020304" pitchFamily="18" charset="0"/>
                <a:cs typeface="Times New Roman" panose="02020603050405020304" pitchFamily="18" charset="0"/>
              </a:rPr>
              <a:t>húng t</a:t>
            </a:r>
            <a:r>
              <a:rPr lang="en-US" sz="3200">
                <a:latin typeface="Times New Roman" panose="02020603050405020304" pitchFamily="18" charset="0"/>
                <a:cs typeface="Times New Roman" panose="02020603050405020304" pitchFamily="18" charset="0"/>
              </a:rPr>
              <a:t>a</a:t>
            </a:r>
            <a:r>
              <a:rPr lang="vi-VN" sz="3200">
                <a:latin typeface="Times New Roman" panose="02020603050405020304" pitchFamily="18" charset="0"/>
                <a:cs typeface="Times New Roman" panose="02020603050405020304" pitchFamily="18" charset="0"/>
              </a:rPr>
              <a:t> sẽ sử dụng lớp QColorDialog, cung cấp</a:t>
            </a:r>
            <a:r>
              <a:rPr lang="en-US" sz="3200">
                <a:latin typeface="Times New Roman" panose="02020603050405020304" pitchFamily="18" charset="0"/>
                <a:cs typeface="Times New Roman" panose="02020603050405020304" pitchFamily="18" charset="0"/>
              </a:rPr>
              <a:t> dialog</a:t>
            </a:r>
            <a:r>
              <a:rPr lang="vi-VN" sz="3200">
                <a:latin typeface="Times New Roman" panose="02020603050405020304" pitchFamily="18" charset="0"/>
                <a:cs typeface="Times New Roman" panose="02020603050405020304" pitchFamily="18" charset="0"/>
              </a:rPr>
              <a:t> widget cho chọn giá trị màu.</a:t>
            </a:r>
            <a:endParaRPr lang="en-US" sz="3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84878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3855"/>
            <a:ext cx="9102490" cy="833905"/>
          </a:xfrm>
        </p:spPr>
        <p:txBody>
          <a:bodyPr/>
          <a:lstStyle/>
          <a:p>
            <a:r>
              <a:rPr lang="en-US" err="1">
                <a:latin typeface="Times New Roman" panose="02020603050405020304" pitchFamily="18" charset="0"/>
                <a:cs typeface="Times New Roman" panose="02020603050405020304" pitchFamily="18" charset="0"/>
              </a:rPr>
              <a:t>Sử</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Dụng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Màu</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Hộp</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Thoại</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457200" indent="-457200" algn="just">
              <a:buFont typeface="Wingdings" panose="05000000000000000000" pitchFamily="2" charset="2"/>
              <a:buChar char="Ø"/>
            </a:pPr>
            <a:r>
              <a:rPr lang="en-US" sz="3200" err="1">
                <a:latin typeface="Times New Roman" panose="02020603050405020304" pitchFamily="18" charset="0"/>
                <a:cs typeface="Times New Roman" panose="02020603050405020304" pitchFamily="18" charset="0"/>
              </a:rPr>
              <a:t>Ứng</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dụng</a:t>
            </a:r>
            <a:r>
              <a:rPr lang="en-US" sz="3200">
                <a:latin typeface="Times New Roman" panose="02020603050405020304" pitchFamily="18" charset="0"/>
                <a:cs typeface="Times New Roman" panose="02020603050405020304" pitchFamily="18" charset="0"/>
              </a:rPr>
              <a:t>: </a:t>
            </a:r>
          </a:p>
          <a:p>
            <a:pPr marL="0" indent="0" algn="just">
              <a:buNone/>
            </a:pP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Tạo</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ứng</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dụng</a:t>
            </a:r>
            <a:r>
              <a:rPr lang="en-US" sz="3200">
                <a:latin typeface="Times New Roman" panose="02020603050405020304" pitchFamily="18" charset="0"/>
                <a:cs typeface="Times New Roman" panose="02020603050405020304" pitchFamily="18" charset="0"/>
              </a:rPr>
              <a:t> d</a:t>
            </a:r>
            <a:r>
              <a:rPr lang="vi-VN" sz="3200">
                <a:latin typeface="Times New Roman" panose="02020603050405020304" pitchFamily="18" charset="0"/>
                <a:cs typeface="Times New Roman" panose="02020603050405020304" pitchFamily="18" charset="0"/>
              </a:rPr>
              <a:t>ựa</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trên</a:t>
            </a:r>
            <a:r>
              <a:rPr lang="en-US" sz="3200">
                <a:latin typeface="Times New Roman" panose="02020603050405020304" pitchFamily="18" charset="0"/>
                <a:cs typeface="Times New Roman" panose="02020603050405020304" pitchFamily="18" charset="0"/>
              </a:rPr>
              <a:t> </a:t>
            </a:r>
            <a:r>
              <a:rPr lang="en-US" sz="3200" b="1">
                <a:latin typeface="Times New Roman" panose="02020603050405020304" pitchFamily="18" charset="0"/>
                <a:cs typeface="Times New Roman" panose="02020603050405020304" pitchFamily="18" charset="0"/>
              </a:rPr>
              <a:t>Dialog without Buttons </a:t>
            </a:r>
            <a:r>
              <a:rPr lang="en-US" sz="3200" err="1">
                <a:latin typeface="Times New Roman" panose="02020603050405020304" pitchFamily="18" charset="0"/>
                <a:cs typeface="Times New Roman" panose="02020603050405020304" pitchFamily="18" charset="0"/>
              </a:rPr>
              <a:t>theo</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các</a:t>
            </a:r>
            <a:r>
              <a:rPr lang="en-US" sz="3200">
                <a:latin typeface="Times New Roman" panose="02020603050405020304" pitchFamily="18" charset="0"/>
                <a:cs typeface="Times New Roman" panose="02020603050405020304" pitchFamily="18" charset="0"/>
              </a:rPr>
              <a:t> b</a:t>
            </a:r>
            <a:r>
              <a:rPr lang="vi-VN" sz="3200">
                <a:latin typeface="Times New Roman" panose="02020603050405020304" pitchFamily="18" charset="0"/>
                <a:cs typeface="Times New Roman" panose="02020603050405020304" pitchFamily="18" charset="0"/>
              </a:rPr>
              <a:t>ướ</a:t>
            </a:r>
            <a:r>
              <a:rPr lang="en-US" sz="3200">
                <a:latin typeface="Times New Roman" panose="02020603050405020304" pitchFamily="18" charset="0"/>
                <a:cs typeface="Times New Roman" panose="02020603050405020304" pitchFamily="18" charset="0"/>
              </a:rPr>
              <a:t>c </a:t>
            </a:r>
            <a:r>
              <a:rPr lang="en-US" sz="3200" err="1">
                <a:latin typeface="Times New Roman" panose="02020603050405020304" pitchFamily="18" charset="0"/>
                <a:cs typeface="Times New Roman" panose="02020603050405020304" pitchFamily="18" charset="0"/>
              </a:rPr>
              <a:t>sau</a:t>
            </a:r>
            <a:r>
              <a:rPr lang="en-US" sz="3200">
                <a:latin typeface="Times New Roman" panose="02020603050405020304" pitchFamily="18" charset="0"/>
                <a:cs typeface="Times New Roman" panose="02020603050405020304" pitchFamily="18" charset="0"/>
              </a:rPr>
              <a:t>:</a:t>
            </a:r>
          </a:p>
          <a:p>
            <a:pPr marL="620713" algn="just">
              <a:buFont typeface="Wingdings" panose="05000000000000000000" pitchFamily="2" charset="2"/>
              <a:buChar char="§"/>
            </a:pPr>
            <a:r>
              <a:rPr lang="en-US" sz="3200">
                <a:latin typeface="Times New Roman" panose="02020603050405020304" pitchFamily="18" charset="0"/>
                <a:cs typeface="Times New Roman" panose="02020603050405020304" pitchFamily="18" charset="0"/>
              </a:rPr>
              <a:t>B</a:t>
            </a:r>
            <a:r>
              <a:rPr lang="vi-VN" sz="3200">
                <a:latin typeface="Times New Roman" panose="02020603050405020304" pitchFamily="18" charset="0"/>
                <a:cs typeface="Times New Roman" panose="02020603050405020304" pitchFamily="18" charset="0"/>
              </a:rPr>
              <a:t>1</a:t>
            </a:r>
            <a:r>
              <a:rPr lang="en-US" sz="3200">
                <a:latin typeface="Times New Roman" panose="02020603050405020304" pitchFamily="18" charset="0"/>
                <a:cs typeface="Times New Roman" panose="02020603050405020304" pitchFamily="18" charset="0"/>
              </a:rPr>
              <a:t>:</a:t>
            </a:r>
            <a:r>
              <a:rPr lang="vi-VN" sz="3200">
                <a:latin typeface="Times New Roman" panose="02020603050405020304" pitchFamily="18" charset="0"/>
                <a:cs typeface="Times New Roman" panose="02020603050405020304" pitchFamily="18" charset="0"/>
              </a:rPr>
              <a:t> Kéo và thả </a:t>
            </a:r>
            <a:r>
              <a:rPr lang="en-US" sz="3200" b="1">
                <a:latin typeface="Times New Roman" panose="02020603050405020304" pitchFamily="18" charset="0"/>
                <a:cs typeface="Times New Roman" panose="02020603050405020304" pitchFamily="18" charset="0"/>
              </a:rPr>
              <a:t>Push Button</a:t>
            </a:r>
            <a:r>
              <a:rPr lang="vi-VN" sz="3200">
                <a:latin typeface="Times New Roman" panose="02020603050405020304" pitchFamily="18" charset="0"/>
                <a:cs typeface="Times New Roman" panose="02020603050405020304" pitchFamily="18" charset="0"/>
              </a:rPr>
              <a:t>, </a:t>
            </a:r>
            <a:r>
              <a:rPr lang="en-US" sz="3200" b="1">
                <a:latin typeface="Times New Roman" panose="02020603050405020304" pitchFamily="18" charset="0"/>
                <a:cs typeface="Times New Roman" panose="02020603050405020304" pitchFamily="18" charset="0"/>
              </a:rPr>
              <a:t>Frame </a:t>
            </a:r>
            <a:r>
              <a:rPr lang="en-US" sz="3200">
                <a:latin typeface="Times New Roman" panose="02020603050405020304" pitchFamily="18" charset="0"/>
                <a:cs typeface="Times New Roman" panose="02020603050405020304" pitchFamily="18" charset="0"/>
              </a:rPr>
              <a:t>(</a:t>
            </a:r>
            <a:r>
              <a:rPr lang="vi-VN" sz="3200">
                <a:latin typeface="Times New Roman" panose="02020603050405020304" pitchFamily="18" charset="0"/>
                <a:cs typeface="Times New Roman" panose="02020603050405020304" pitchFamily="18" charset="0"/>
              </a:rPr>
              <a:t>Khung</a:t>
            </a:r>
            <a:r>
              <a:rPr lang="en-US" sz="3200">
                <a:latin typeface="Times New Roman" panose="02020603050405020304" pitchFamily="18" charset="0"/>
                <a:cs typeface="Times New Roman" panose="02020603050405020304" pitchFamily="18" charset="0"/>
              </a:rPr>
              <a:t>)</a:t>
            </a:r>
            <a:r>
              <a:rPr lang="vi-VN" sz="3200">
                <a:latin typeface="Times New Roman" panose="02020603050405020304" pitchFamily="18" charset="0"/>
                <a:cs typeface="Times New Roman" panose="02020603050405020304" pitchFamily="18" charset="0"/>
              </a:rPr>
              <a:t> và </a:t>
            </a:r>
            <a:r>
              <a:rPr lang="en-US" sz="3200">
                <a:latin typeface="Times New Roman" panose="02020603050405020304" pitchFamily="18" charset="0"/>
                <a:cs typeface="Times New Roman" panose="02020603050405020304" pitchFamily="18" charset="0"/>
              </a:rPr>
              <a:t> </a:t>
            </a:r>
            <a:r>
              <a:rPr lang="en-US" sz="3200" b="1">
                <a:latin typeface="Times New Roman" panose="02020603050405020304" pitchFamily="18" charset="0"/>
                <a:cs typeface="Times New Roman" panose="02020603050405020304" pitchFamily="18" charset="0"/>
              </a:rPr>
              <a:t>Label </a:t>
            </a:r>
            <a:r>
              <a:rPr lang="vi-VN" sz="3200" b="1">
                <a:latin typeface="Times New Roman" panose="02020603050405020304" pitchFamily="18" charset="0"/>
                <a:cs typeface="Times New Roman" panose="02020603050405020304" pitchFamily="18" charset="0"/>
              </a:rPr>
              <a:t>widget </a:t>
            </a:r>
            <a:r>
              <a:rPr lang="en-US" sz="3200" err="1">
                <a:latin typeface="Times New Roman" panose="02020603050405020304" pitchFamily="18" charset="0"/>
                <a:cs typeface="Times New Roman" panose="02020603050405020304" pitchFamily="18" charset="0"/>
              </a:rPr>
              <a:t>lên</a:t>
            </a:r>
            <a:r>
              <a:rPr lang="en-US" sz="3200">
                <a:latin typeface="Times New Roman" panose="02020603050405020304" pitchFamily="18" charset="0"/>
                <a:cs typeface="Times New Roman" panose="02020603050405020304" pitchFamily="18" charset="0"/>
              </a:rPr>
              <a:t> form</a:t>
            </a:r>
            <a:r>
              <a:rPr lang="vi-VN" sz="3200">
                <a:latin typeface="Times New Roman" panose="02020603050405020304" pitchFamily="18" charset="0"/>
                <a:cs typeface="Times New Roman" panose="02020603050405020304" pitchFamily="18" charset="0"/>
              </a:rPr>
              <a:t>. </a:t>
            </a:r>
          </a:p>
          <a:p>
            <a:pPr marL="620713" algn="just">
              <a:buFont typeface="Wingdings" panose="05000000000000000000" pitchFamily="2" charset="2"/>
              <a:buChar char="§"/>
            </a:pPr>
            <a:r>
              <a:rPr lang="en-US" sz="3200">
                <a:latin typeface="Times New Roman" panose="02020603050405020304" pitchFamily="18" charset="0"/>
                <a:cs typeface="Times New Roman" panose="02020603050405020304" pitchFamily="18" charset="0"/>
              </a:rPr>
              <a:t>B</a:t>
            </a:r>
            <a:r>
              <a:rPr lang="vi-VN" sz="3200">
                <a:latin typeface="Times New Roman" panose="02020603050405020304" pitchFamily="18" charset="0"/>
                <a:cs typeface="Times New Roman" panose="02020603050405020304" pitchFamily="18" charset="0"/>
              </a:rPr>
              <a:t>2</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Thiết lập </a:t>
            </a:r>
            <a:r>
              <a:rPr lang="en-US" sz="3200" err="1">
                <a:latin typeface="Times New Roman" panose="02020603050405020304" pitchFamily="18" charset="0"/>
                <a:cs typeface="Times New Roman" panose="02020603050405020304" pitchFamily="18" charset="0"/>
              </a:rPr>
              <a:t>thuộc</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tính</a:t>
            </a:r>
            <a:r>
              <a:rPr lang="en-US" sz="3200">
                <a:latin typeface="Times New Roman" panose="02020603050405020304" pitchFamily="18" charset="0"/>
                <a:cs typeface="Times New Roman" panose="02020603050405020304" pitchFamily="18" charset="0"/>
              </a:rPr>
              <a:t> </a:t>
            </a:r>
            <a:r>
              <a:rPr lang="en-US" sz="3200" b="1">
                <a:latin typeface="Times New Roman" panose="02020603050405020304" pitchFamily="18" charset="0"/>
                <a:cs typeface="Times New Roman" panose="02020603050405020304" pitchFamily="18" charset="0"/>
              </a:rPr>
              <a:t>text</a:t>
            </a:r>
            <a:r>
              <a:rPr lang="vi-VN" sz="3200">
                <a:latin typeface="Times New Roman" panose="02020603050405020304" pitchFamily="18" charset="0"/>
                <a:cs typeface="Times New Roman" panose="02020603050405020304" pitchFamily="18" charset="0"/>
              </a:rPr>
              <a:t> của</a:t>
            </a:r>
            <a:r>
              <a:rPr lang="en-US" sz="3200">
                <a:latin typeface="Times New Roman" panose="02020603050405020304" pitchFamily="18" charset="0"/>
                <a:cs typeface="Times New Roman" panose="02020603050405020304" pitchFamily="18" charset="0"/>
              </a:rPr>
              <a:t> </a:t>
            </a:r>
            <a:r>
              <a:rPr lang="en-US" sz="3200" b="1">
                <a:latin typeface="Times New Roman" panose="02020603050405020304" pitchFamily="18" charset="0"/>
                <a:cs typeface="Times New Roman" panose="02020603050405020304" pitchFamily="18" charset="0"/>
              </a:rPr>
              <a:t>Push Button</a:t>
            </a:r>
            <a:r>
              <a:rPr lang="vi-VN" sz="3200">
                <a:latin typeface="Times New Roman" panose="02020603050405020304" pitchFamily="18" charset="0"/>
                <a:cs typeface="Times New Roman" panose="02020603050405020304" pitchFamily="18" charset="0"/>
              </a:rPr>
              <a:t> widget để Chọn màu. </a:t>
            </a:r>
          </a:p>
          <a:p>
            <a:pPr marL="620713" algn="just">
              <a:buFont typeface="Wingdings" panose="05000000000000000000" pitchFamily="2" charset="2"/>
              <a:buChar char="§"/>
            </a:pPr>
            <a:r>
              <a:rPr lang="en-US" sz="3200">
                <a:latin typeface="Times New Roman" panose="02020603050405020304" pitchFamily="18" charset="0"/>
                <a:cs typeface="Times New Roman" panose="02020603050405020304" pitchFamily="18" charset="0"/>
              </a:rPr>
              <a:t>B</a:t>
            </a:r>
            <a:r>
              <a:rPr lang="vi-VN" sz="3200">
                <a:latin typeface="Times New Roman" panose="02020603050405020304" pitchFamily="18" charset="0"/>
                <a:cs typeface="Times New Roman" panose="02020603050405020304" pitchFamily="18" charset="0"/>
              </a:rPr>
              <a:t>3</a:t>
            </a:r>
            <a:r>
              <a:rPr lang="en-US" sz="3200">
                <a:latin typeface="Times New Roman" panose="02020603050405020304" pitchFamily="18" charset="0"/>
                <a:cs typeface="Times New Roman" panose="02020603050405020304" pitchFamily="18" charset="0"/>
              </a:rPr>
              <a:t>:</a:t>
            </a:r>
            <a:r>
              <a:rPr lang="vi-VN" sz="3200">
                <a:latin typeface="Times New Roman" panose="02020603050405020304" pitchFamily="18" charset="0"/>
                <a:cs typeface="Times New Roman" panose="02020603050405020304" pitchFamily="18" charset="0"/>
              </a:rPr>
              <a:t> Thiết lập </a:t>
            </a:r>
            <a:r>
              <a:rPr lang="en-US" sz="3200" err="1">
                <a:latin typeface="Times New Roman" panose="02020603050405020304" pitchFamily="18" charset="0"/>
                <a:cs typeface="Times New Roman" panose="02020603050405020304" pitchFamily="18" charset="0"/>
              </a:rPr>
              <a:t>thuộc</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tính</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objectName của</a:t>
            </a:r>
            <a:r>
              <a:rPr lang="en-US" sz="3200">
                <a:latin typeface="Times New Roman" panose="02020603050405020304" pitchFamily="18" charset="0"/>
                <a:cs typeface="Times New Roman" panose="02020603050405020304" pitchFamily="18" charset="0"/>
              </a:rPr>
              <a:t> </a:t>
            </a:r>
            <a:r>
              <a:rPr lang="en-US" sz="3200" b="1">
                <a:latin typeface="Times New Roman" panose="02020603050405020304" pitchFamily="18" charset="0"/>
                <a:cs typeface="Times New Roman" panose="02020603050405020304" pitchFamily="18" charset="0"/>
              </a:rPr>
              <a:t>Push Button</a:t>
            </a:r>
            <a:r>
              <a:rPr lang="vi-VN" sz="3200">
                <a:latin typeface="Times New Roman" panose="02020603050405020304" pitchFamily="18" charset="0"/>
                <a:cs typeface="Times New Roman" panose="02020603050405020304" pitchFamily="18" charset="0"/>
              </a:rPr>
              <a:t> widget đến pushButtonColor. </a:t>
            </a:r>
          </a:p>
          <a:p>
            <a:pPr marL="620713" algn="just">
              <a:buFont typeface="Wingdings" panose="05000000000000000000" pitchFamily="2" charset="2"/>
              <a:buChar char="§"/>
            </a:pPr>
            <a:r>
              <a:rPr lang="en-US" sz="3200">
                <a:latin typeface="Times New Roman" panose="02020603050405020304" pitchFamily="18" charset="0"/>
                <a:cs typeface="Times New Roman" panose="02020603050405020304" pitchFamily="18" charset="0"/>
              </a:rPr>
              <a:t>B</a:t>
            </a:r>
            <a:r>
              <a:rPr lang="vi-VN" sz="3200">
                <a:latin typeface="Times New Roman" panose="02020603050405020304" pitchFamily="18" charset="0"/>
                <a:cs typeface="Times New Roman" panose="02020603050405020304" pitchFamily="18" charset="0"/>
              </a:rPr>
              <a:t>4</a:t>
            </a:r>
            <a:r>
              <a:rPr lang="en-US" sz="3200">
                <a:latin typeface="Times New Roman" panose="02020603050405020304" pitchFamily="18" charset="0"/>
                <a:cs typeface="Times New Roman" panose="02020603050405020304" pitchFamily="18" charset="0"/>
              </a:rPr>
              <a:t>:</a:t>
            </a:r>
            <a:r>
              <a:rPr lang="vi-VN" sz="3200">
                <a:latin typeface="Times New Roman" panose="02020603050405020304" pitchFamily="18" charset="0"/>
                <a:cs typeface="Times New Roman" panose="02020603050405020304" pitchFamily="18" charset="0"/>
              </a:rPr>
              <a:t> Thiết lập tính chất objectName của </a:t>
            </a:r>
            <a:r>
              <a:rPr lang="en-US" sz="3200" b="1">
                <a:latin typeface="Times New Roman" panose="02020603050405020304" pitchFamily="18" charset="0"/>
                <a:cs typeface="Times New Roman" panose="02020603050405020304" pitchFamily="18" charset="0"/>
              </a:rPr>
              <a:t>Frame </a:t>
            </a:r>
            <a:r>
              <a:rPr lang="vi-VN" sz="3200" b="1">
                <a:latin typeface="Times New Roman" panose="02020603050405020304" pitchFamily="18" charset="0"/>
                <a:cs typeface="Times New Roman" panose="02020603050405020304" pitchFamily="18" charset="0"/>
              </a:rPr>
              <a:t>widget </a:t>
            </a:r>
            <a:r>
              <a:rPr lang="vi-VN" sz="3200">
                <a:latin typeface="Times New Roman" panose="02020603050405020304" pitchFamily="18" charset="0"/>
                <a:cs typeface="Times New Roman" panose="02020603050405020304" pitchFamily="18" charset="0"/>
              </a:rPr>
              <a:t>đến frameColor. </a:t>
            </a:r>
          </a:p>
        </p:txBody>
      </p:sp>
    </p:spTree>
    <p:extLst>
      <p:ext uri="{BB962C8B-B14F-4D97-AF65-F5344CB8AC3E}">
        <p14:creationId xmlns:p14="http://schemas.microsoft.com/office/powerpoint/2010/main" val="36527684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3855"/>
            <a:ext cx="9102490" cy="833905"/>
          </a:xfrm>
        </p:spPr>
        <p:txBody>
          <a:bodyPr/>
          <a:lstStyle/>
          <a:p>
            <a:r>
              <a:rPr lang="en-US" err="1">
                <a:latin typeface="Times New Roman" panose="02020603050405020304" pitchFamily="18" charset="0"/>
                <a:cs typeface="Times New Roman" panose="02020603050405020304" pitchFamily="18" charset="0"/>
              </a:rPr>
              <a:t>Sử</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Dụng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Màu</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Hộp</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Thoại</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457200" indent="-457200" algn="just">
              <a:buFont typeface="Wingdings" panose="05000000000000000000" pitchFamily="2" charset="2"/>
              <a:buChar char="Ø"/>
            </a:pPr>
            <a:r>
              <a:rPr lang="en-US" sz="3200" err="1">
                <a:latin typeface="Times New Roman" panose="02020603050405020304" pitchFamily="18" charset="0"/>
                <a:cs typeface="Times New Roman" panose="02020603050405020304" pitchFamily="18" charset="0"/>
              </a:rPr>
              <a:t>Ứng</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dụng</a:t>
            </a:r>
            <a:r>
              <a:rPr lang="en-US" sz="3200">
                <a:latin typeface="Times New Roman" panose="02020603050405020304" pitchFamily="18" charset="0"/>
                <a:cs typeface="Times New Roman" panose="02020603050405020304" pitchFamily="18" charset="0"/>
              </a:rPr>
              <a:t>: </a:t>
            </a:r>
          </a:p>
          <a:p>
            <a:pPr marL="620713" algn="just">
              <a:buFont typeface="Wingdings" panose="05000000000000000000" pitchFamily="2" charset="2"/>
              <a:buChar char="§"/>
            </a:pPr>
            <a:r>
              <a:rPr lang="en-US" sz="3200">
                <a:latin typeface="Times New Roman" panose="02020603050405020304" pitchFamily="18" charset="0"/>
                <a:cs typeface="Times New Roman" panose="02020603050405020304" pitchFamily="18" charset="0"/>
              </a:rPr>
              <a:t>B</a:t>
            </a:r>
            <a:r>
              <a:rPr lang="vi-VN" sz="3200">
                <a:latin typeface="Times New Roman" panose="02020603050405020304" pitchFamily="18" charset="0"/>
                <a:cs typeface="Times New Roman" panose="02020603050405020304" pitchFamily="18" charset="0"/>
              </a:rPr>
              <a:t>5</a:t>
            </a:r>
            <a:r>
              <a:rPr lang="en-US" sz="3200">
                <a:latin typeface="Times New Roman" panose="02020603050405020304" pitchFamily="18" charset="0"/>
                <a:cs typeface="Times New Roman" panose="02020603050405020304" pitchFamily="18" charset="0"/>
              </a:rPr>
              <a:t>:</a:t>
            </a:r>
            <a:r>
              <a:rPr lang="vi-VN" sz="3200">
                <a:latin typeface="Times New Roman" panose="02020603050405020304" pitchFamily="18" charset="0"/>
                <a:cs typeface="Times New Roman" panose="02020603050405020304" pitchFamily="18" charset="0"/>
              </a:rPr>
              <a:t> Thiết lập</a:t>
            </a:r>
            <a:r>
              <a:rPr lang="en-US" sz="3200">
                <a:latin typeface="Times New Roman" panose="02020603050405020304" pitchFamily="18" charset="0"/>
                <a:cs typeface="Times New Roman" panose="02020603050405020304" pitchFamily="18" charset="0"/>
              </a:rPr>
              <a:t> Label</a:t>
            </a:r>
            <a:r>
              <a:rPr lang="vi-VN" sz="3200">
                <a:latin typeface="Times New Roman" panose="02020603050405020304" pitchFamily="18" charset="0"/>
                <a:cs typeface="Times New Roman" panose="02020603050405020304" pitchFamily="18" charset="0"/>
              </a:rPr>
              <a:t> widget đến labelColor. </a:t>
            </a:r>
          </a:p>
          <a:p>
            <a:pPr marL="620713" algn="just">
              <a:buFont typeface="Wingdings" panose="05000000000000000000" pitchFamily="2" charset="2"/>
              <a:buChar char="§"/>
            </a:pPr>
            <a:r>
              <a:rPr lang="en-US" sz="3200">
                <a:latin typeface="Times New Roman" panose="02020603050405020304" pitchFamily="18" charset="0"/>
                <a:cs typeface="Times New Roman" panose="02020603050405020304" pitchFamily="18" charset="0"/>
              </a:rPr>
              <a:t>B</a:t>
            </a:r>
            <a:r>
              <a:rPr lang="vi-VN" sz="3200">
                <a:latin typeface="Times New Roman" panose="02020603050405020304" pitchFamily="18" charset="0"/>
                <a:cs typeface="Times New Roman" panose="02020603050405020304" pitchFamily="18" charset="0"/>
              </a:rPr>
              <a:t>6</a:t>
            </a:r>
            <a:r>
              <a:rPr lang="en-US" sz="3200">
                <a:latin typeface="Times New Roman" panose="02020603050405020304" pitchFamily="18" charset="0"/>
                <a:cs typeface="Times New Roman" panose="02020603050405020304" pitchFamily="18" charset="0"/>
              </a:rPr>
              <a:t>:</a:t>
            </a:r>
            <a:r>
              <a:rPr lang="vi-VN" sz="3200">
                <a:latin typeface="Times New Roman" panose="02020603050405020304" pitchFamily="18" charset="0"/>
                <a:cs typeface="Times New Roman" panose="02020603050405020304" pitchFamily="18" charset="0"/>
              </a:rPr>
              <a:t> Lưu ứng dụng với tên demoColorDialog. </a:t>
            </a:r>
            <a:r>
              <a:rPr lang="en-US" sz="3200">
                <a:latin typeface="Times New Roman" panose="02020603050405020304" pitchFamily="18" charset="0"/>
                <a:cs typeface="Times New Roman" panose="02020603050405020304" pitchFamily="18" charset="0"/>
              </a:rPr>
              <a:t>Form </a:t>
            </a:r>
            <a:r>
              <a:rPr lang="en-US" sz="3200" err="1">
                <a:latin typeface="Times New Roman" panose="02020603050405020304" pitchFamily="18" charset="0"/>
                <a:cs typeface="Times New Roman" panose="02020603050405020304" pitchFamily="18" charset="0"/>
              </a:rPr>
              <a:t>hiển</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thị</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nh</a:t>
            </a:r>
            <a:r>
              <a:rPr lang="vi-VN" sz="3200">
                <a:latin typeface="Times New Roman" panose="02020603050405020304" pitchFamily="18" charset="0"/>
                <a:cs typeface="Times New Roman" panose="02020603050405020304" pitchFamily="18" charset="0"/>
              </a:rPr>
              <a:t>ư</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sau</a:t>
            </a:r>
            <a:r>
              <a:rPr lang="en-US" sz="3200">
                <a:latin typeface="Times New Roman" panose="02020603050405020304" pitchFamily="18" charset="0"/>
                <a:cs typeface="Times New Roman" panose="02020603050405020304" pitchFamily="18" charset="0"/>
              </a:rPr>
              <a:t>:</a:t>
            </a:r>
          </a:p>
          <a:p>
            <a:pPr marL="392113" indent="0" algn="just">
              <a:buNone/>
            </a:pPr>
            <a:endParaRPr lang="en-US" sz="3200">
              <a:latin typeface="Times New Roman" panose="02020603050405020304" pitchFamily="18" charset="0"/>
              <a:cs typeface="Times New Roman" panose="02020603050405020304" pitchFamily="18" charset="0"/>
            </a:endParaRPr>
          </a:p>
          <a:p>
            <a:pPr marL="392113" indent="0" algn="just">
              <a:buNone/>
            </a:pPr>
            <a:endParaRPr lang="en-US" sz="3200">
              <a:latin typeface="Times New Roman" panose="02020603050405020304" pitchFamily="18" charset="0"/>
              <a:cs typeface="Times New Roman" panose="02020603050405020304" pitchFamily="18" charset="0"/>
            </a:endParaRPr>
          </a:p>
          <a:p>
            <a:pPr marL="392113" indent="0" algn="just">
              <a:buNone/>
            </a:pPr>
            <a:endParaRPr lang="en-US" sz="3200">
              <a:latin typeface="Times New Roman" panose="02020603050405020304" pitchFamily="18" charset="0"/>
              <a:cs typeface="Times New Roman" panose="02020603050405020304" pitchFamily="18" charset="0"/>
            </a:endParaRPr>
          </a:p>
          <a:p>
            <a:pPr marL="392113" indent="0" algn="just">
              <a:buNone/>
            </a:pPr>
            <a:endParaRPr lang="en-US" sz="3200">
              <a:latin typeface="Times New Roman" panose="02020603050405020304" pitchFamily="18" charset="0"/>
              <a:cs typeface="Times New Roman" panose="02020603050405020304" pitchFamily="18" charset="0"/>
            </a:endParaRPr>
          </a:p>
          <a:p>
            <a:pPr marL="392113" indent="0" algn="just">
              <a:buNone/>
            </a:pPr>
            <a:r>
              <a:rPr lang="vi-VN" sz="3200">
                <a:latin typeface="Times New Roman" panose="02020603050405020304" pitchFamily="18" charset="0"/>
                <a:cs typeface="Times New Roman" panose="02020603050405020304" pitchFamily="18" charset="0"/>
              </a:rPr>
              <a:t>Giao diện người dùng tạo ra với </a:t>
            </a:r>
            <a:r>
              <a:rPr lang="en-US" sz="3200" err="1">
                <a:latin typeface="Times New Roman" panose="02020603050405020304" pitchFamily="18" charset="0"/>
                <a:cs typeface="Times New Roman" panose="02020603050405020304" pitchFamily="18" charset="0"/>
              </a:rPr>
              <a:t>QtDesigner</a:t>
            </a:r>
            <a:r>
              <a:rPr lang="en-US" sz="3200">
                <a:latin typeface="Times New Roman" panose="02020603050405020304" pitchFamily="18" charset="0"/>
                <a:cs typeface="Times New Roman" panose="02020603050405020304" pitchFamily="18" charset="0"/>
              </a:rPr>
              <a:t> đ</a:t>
            </a:r>
            <a:r>
              <a:rPr lang="vi-VN" sz="3200">
                <a:latin typeface="Times New Roman" panose="02020603050405020304" pitchFamily="18" charset="0"/>
                <a:cs typeface="Times New Roman" panose="02020603050405020304" pitchFamily="18" charset="0"/>
              </a:rPr>
              <a:t>ượ</a:t>
            </a:r>
            <a:r>
              <a:rPr lang="en-US" sz="3200">
                <a:latin typeface="Times New Roman" panose="02020603050405020304" pitchFamily="18" charset="0"/>
                <a:cs typeface="Times New Roman" panose="02020603050405020304" pitchFamily="18" charset="0"/>
              </a:rPr>
              <a:t>c l</a:t>
            </a:r>
            <a:r>
              <a:rPr lang="vi-VN" sz="3200">
                <a:latin typeface="Times New Roman" panose="02020603050405020304" pitchFamily="18" charset="0"/>
                <a:cs typeface="Times New Roman" panose="02020603050405020304" pitchFamily="18" charset="0"/>
              </a:rPr>
              <a:t>ư</a:t>
            </a:r>
            <a:r>
              <a:rPr lang="en-US" sz="3200">
                <a:latin typeface="Times New Roman" panose="02020603050405020304" pitchFamily="18" charset="0"/>
                <a:cs typeface="Times New Roman" panose="02020603050405020304" pitchFamily="18" charset="0"/>
              </a:rPr>
              <a:t>u v</a:t>
            </a:r>
            <a:r>
              <a:rPr lang="vi-VN" sz="3200">
                <a:latin typeface="Times New Roman" panose="02020603050405020304" pitchFamily="18" charset="0"/>
                <a:cs typeface="Times New Roman" panose="02020603050405020304" pitchFamily="18" charset="0"/>
              </a:rPr>
              <a:t>ớ</a:t>
            </a:r>
            <a:r>
              <a:rPr lang="en-US" sz="3200" err="1">
                <a:latin typeface="Times New Roman" panose="02020603050405020304" pitchFamily="18" charset="0"/>
                <a:cs typeface="Times New Roman" panose="02020603050405020304" pitchFamily="18" charset="0"/>
              </a:rPr>
              <a:t>i</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tập</a:t>
            </a:r>
            <a:r>
              <a:rPr lang="en-US" sz="3200">
                <a:latin typeface="Times New Roman" panose="02020603050405020304" pitchFamily="18" charset="0"/>
                <a:cs typeface="Times New Roman" panose="02020603050405020304" pitchFamily="18" charset="0"/>
              </a:rPr>
              <a:t> tin </a:t>
            </a:r>
            <a:r>
              <a:rPr lang="en-US" sz="3200" err="1">
                <a:latin typeface="Times New Roman" panose="02020603050405020304" pitchFamily="18" charset="0"/>
                <a:cs typeface="Times New Roman" panose="02020603050405020304" pitchFamily="18" charset="0"/>
              </a:rPr>
              <a:t>là</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ui</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nó</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là</a:t>
            </a:r>
            <a:r>
              <a:rPr lang="en-US" sz="3200">
                <a:latin typeface="Times New Roman" panose="02020603050405020304" pitchFamily="18" charset="0"/>
                <a:cs typeface="Times New Roman" panose="02020603050405020304" pitchFamily="18" charset="0"/>
              </a:rPr>
              <a:t> t</a:t>
            </a:r>
            <a:r>
              <a:rPr lang="vi-VN" sz="3200">
                <a:latin typeface="Times New Roman" panose="02020603050405020304" pitchFamily="18" charset="0"/>
                <a:cs typeface="Times New Roman" panose="02020603050405020304" pitchFamily="18" charset="0"/>
              </a:rPr>
              <a:t>ập tin XML. </a:t>
            </a:r>
            <a:r>
              <a:rPr lang="en-US" sz="3200">
                <a:latin typeface="Times New Roman" panose="02020603050405020304" pitchFamily="18" charset="0"/>
                <a:cs typeface="Times New Roman" panose="02020603050405020304" pitchFamily="18" charset="0"/>
              </a:rPr>
              <a:t>C</a:t>
            </a:r>
            <a:r>
              <a:rPr lang="vi-VN" sz="3200">
                <a:latin typeface="Times New Roman" panose="02020603050405020304" pitchFamily="18" charset="0"/>
                <a:cs typeface="Times New Roman" panose="02020603050405020304" pitchFamily="18" charset="0"/>
              </a:rPr>
              <a:t>ó thể dùng trình tiện ích pyuic5 để chuyển đổi tập tin XML thành mã Python. </a:t>
            </a:r>
            <a:endParaRPr lang="en-US" sz="3200">
              <a:latin typeface="Times New Roman" panose="02020603050405020304" pitchFamily="18" charset="0"/>
              <a:cs typeface="Times New Roman" panose="02020603050405020304" pitchFamily="18" charset="0"/>
            </a:endParaRPr>
          </a:p>
        </p:txBody>
      </p:sp>
      <p:pic>
        <p:nvPicPr>
          <p:cNvPr id="7" name="Picture 6" descr="sách Qt5-Python-GUI-Programming-Cookbook.pdf - Adobe Acrobat Reader DC">
            <a:extLst>
              <a:ext uri="{FF2B5EF4-FFF2-40B4-BE49-F238E27FC236}">
                <a16:creationId xmlns:a16="http://schemas.microsoft.com/office/drawing/2014/main" id="{9B6350E1-4686-4F54-BCC1-1EDC8EDF4B5F}"/>
              </a:ext>
            </a:extLst>
          </p:cNvPr>
          <p:cNvPicPr>
            <a:picLocks noChangeAspect="1"/>
          </p:cNvPicPr>
          <p:nvPr/>
        </p:nvPicPr>
        <p:blipFill rotWithShape="1">
          <a:blip r:embed="rId2">
            <a:extLst>
              <a:ext uri="{28A0092B-C50C-407E-A947-70E740481C1C}">
                <a14:useLocalDpi xmlns:a14="http://schemas.microsoft.com/office/drawing/2010/main" val="0"/>
              </a:ext>
            </a:extLst>
          </a:blip>
          <a:srcRect l="20189" t="28709" r="34717" b="26080"/>
          <a:stretch/>
        </p:blipFill>
        <p:spPr>
          <a:xfrm>
            <a:off x="2035834" y="2652178"/>
            <a:ext cx="6556075" cy="2420472"/>
          </a:xfrm>
          <a:prstGeom prst="rect">
            <a:avLst/>
          </a:prstGeom>
        </p:spPr>
      </p:pic>
    </p:spTree>
    <p:extLst>
      <p:ext uri="{BB962C8B-B14F-4D97-AF65-F5344CB8AC3E}">
        <p14:creationId xmlns:p14="http://schemas.microsoft.com/office/powerpoint/2010/main" val="20165507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3855"/>
            <a:ext cx="9102490" cy="833905"/>
          </a:xfrm>
        </p:spPr>
        <p:txBody>
          <a:bodyPr/>
          <a:lstStyle/>
          <a:p>
            <a:r>
              <a:rPr lang="en-US" err="1">
                <a:latin typeface="Times New Roman" panose="02020603050405020304" pitchFamily="18" charset="0"/>
                <a:cs typeface="Times New Roman" panose="02020603050405020304" pitchFamily="18" charset="0"/>
              </a:rPr>
              <a:t>Sử</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Dụng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Màu</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Hộp</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Thoại</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457200" indent="-457200" algn="just">
              <a:buFont typeface="Wingdings" panose="05000000000000000000" pitchFamily="2" charset="2"/>
              <a:buChar char="Ø"/>
            </a:pPr>
            <a:r>
              <a:rPr lang="en-US" sz="3200" err="1">
                <a:latin typeface="Times New Roman" panose="02020603050405020304" pitchFamily="18" charset="0"/>
                <a:cs typeface="Times New Roman" panose="02020603050405020304" pitchFamily="18" charset="0"/>
              </a:rPr>
              <a:t>Ứng</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dụng</a:t>
            </a:r>
            <a:r>
              <a:rPr lang="en-US" sz="3200">
                <a:latin typeface="Times New Roman" panose="02020603050405020304" pitchFamily="18" charset="0"/>
                <a:cs typeface="Times New Roman" panose="02020603050405020304" pitchFamily="18" charset="0"/>
              </a:rPr>
              <a:t>: </a:t>
            </a:r>
          </a:p>
          <a:p>
            <a:pPr marL="392113" indent="0" algn="just">
              <a:buNone/>
            </a:pPr>
            <a:r>
              <a:rPr lang="en-US" sz="3200" err="1">
                <a:latin typeface="Times New Roman" panose="02020603050405020304" pitchFamily="18" charset="0"/>
                <a:cs typeface="Times New Roman" panose="02020603050405020304" pitchFamily="18" charset="0"/>
              </a:rPr>
              <a:t>Mã</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Python</a:t>
            </a:r>
            <a:r>
              <a:rPr lang="en-US" sz="3200">
                <a:latin typeface="Times New Roman" panose="02020603050405020304" pitchFamily="18" charset="0"/>
                <a:cs typeface="Times New Roman" panose="02020603050405020304" pitchFamily="18" charset="0"/>
              </a:rPr>
              <a:t> đ</a:t>
            </a:r>
            <a:r>
              <a:rPr lang="vi-VN" sz="3200">
                <a:latin typeface="Times New Roman" panose="02020603050405020304" pitchFamily="18" charset="0"/>
                <a:cs typeface="Times New Roman" panose="02020603050405020304" pitchFamily="18" charset="0"/>
              </a:rPr>
              <a:t>ược</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sinh</a:t>
            </a:r>
            <a:r>
              <a:rPr lang="en-US" sz="3200">
                <a:latin typeface="Times New Roman" panose="02020603050405020304" pitchFamily="18" charset="0"/>
                <a:cs typeface="Times New Roman" panose="02020603050405020304" pitchFamily="18" charset="0"/>
              </a:rPr>
              <a:t> ra </a:t>
            </a:r>
            <a:r>
              <a:rPr lang="en-US" sz="3200" err="1">
                <a:latin typeface="Times New Roman" panose="02020603050405020304" pitchFamily="18" charset="0"/>
                <a:cs typeface="Times New Roman" panose="02020603050405020304" pitchFamily="18" charset="0"/>
              </a:rPr>
              <a:t>là</a:t>
            </a:r>
            <a:r>
              <a:rPr lang="vi-VN" sz="3200">
                <a:latin typeface="Times New Roman" panose="02020603050405020304" pitchFamily="18" charset="0"/>
                <a:cs typeface="Times New Roman" panose="02020603050405020304" pitchFamily="18" charset="0"/>
              </a:rPr>
              <a:t> demoColorDialog. py.</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Mã</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DemoColorDialog.</a:t>
            </a:r>
            <a:r>
              <a:rPr lang="en-US" sz="3200" err="1">
                <a:latin typeface="Times New Roman" panose="02020603050405020304" pitchFamily="18" charset="0"/>
                <a:cs typeface="Times New Roman" panose="02020603050405020304" pitchFamily="18" charset="0"/>
              </a:rPr>
              <a:t>py</a:t>
            </a:r>
            <a:r>
              <a:rPr lang="vi-VN" sz="3200">
                <a:latin typeface="Times New Roman" panose="02020603050405020304" pitchFamily="18" charset="0"/>
                <a:cs typeface="Times New Roman" panose="02020603050405020304" pitchFamily="18" charset="0"/>
              </a:rPr>
              <a:t> được dùng như tập tin tiêu đề và sẽ được nhập trong tập tin Python</a:t>
            </a:r>
            <a:r>
              <a:rPr lang="en-US" sz="3200">
                <a:latin typeface="Times New Roman" panose="02020603050405020304" pitchFamily="18" charset="0"/>
                <a:cs typeface="Times New Roman" panose="02020603050405020304" pitchFamily="18" charset="0"/>
              </a:rPr>
              <a:t> script</a:t>
            </a:r>
            <a:r>
              <a:rPr lang="vi-VN" sz="3200">
                <a:latin typeface="Times New Roman" panose="02020603050405020304" pitchFamily="18" charset="0"/>
                <a:cs typeface="Times New Roman" panose="02020603050405020304" pitchFamily="18" charset="0"/>
              </a:rPr>
              <a:t> khác,</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nó</a:t>
            </a:r>
            <a:r>
              <a:rPr lang="vi-VN" sz="3200">
                <a:latin typeface="Times New Roman" panose="02020603050405020304" pitchFamily="18" charset="0"/>
                <a:cs typeface="Times New Roman" panose="02020603050405020304" pitchFamily="18" charset="0"/>
              </a:rPr>
              <a:t> sẽ gọi thiết kế giao diện người dùng</a:t>
            </a:r>
          </a:p>
          <a:p>
            <a:pPr marL="620713" algn="just">
              <a:buFont typeface="Wingdings" panose="05000000000000000000" pitchFamily="2" charset="2"/>
              <a:buChar char="§"/>
            </a:pPr>
            <a:r>
              <a:rPr lang="en-US" sz="3200">
                <a:latin typeface="Times New Roman" panose="02020603050405020304" pitchFamily="18" charset="0"/>
                <a:cs typeface="Times New Roman" panose="02020603050405020304" pitchFamily="18" charset="0"/>
              </a:rPr>
              <a:t>B</a:t>
            </a:r>
            <a:r>
              <a:rPr lang="vi-VN" sz="3200">
                <a:latin typeface="Times New Roman" panose="02020603050405020304" pitchFamily="18" charset="0"/>
                <a:cs typeface="Times New Roman" panose="02020603050405020304" pitchFamily="18" charset="0"/>
              </a:rPr>
              <a:t>7</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Tạo ra tập tin Python khác với tên callColorDialog. pyw và nhập vào</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mã</a:t>
            </a:r>
            <a:r>
              <a:rPr lang="vi-VN" sz="3200">
                <a:latin typeface="Times New Roman" panose="02020603050405020304" pitchFamily="18" charset="0"/>
                <a:cs typeface="Times New Roman" panose="02020603050405020304" pitchFamily="18" charset="0"/>
              </a:rPr>
              <a:t> demoColorDialog. Py</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vào đó :</a:t>
            </a:r>
            <a:endParaRPr lang="en-US" sz="3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45830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3855"/>
            <a:ext cx="9102490" cy="833905"/>
          </a:xfrm>
        </p:spPr>
        <p:txBody>
          <a:bodyPr/>
          <a:lstStyle/>
          <a:p>
            <a:r>
              <a:rPr lang="en-US" err="1">
                <a:latin typeface="Times New Roman" panose="02020603050405020304" pitchFamily="18" charset="0"/>
                <a:cs typeface="Times New Roman" panose="02020603050405020304" pitchFamily="18" charset="0"/>
              </a:rPr>
              <a:t>Sử</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Dụng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Màu</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Hộp</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Thoại</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457200" indent="-457200" algn="just">
              <a:buFont typeface="Wingdings" panose="05000000000000000000" pitchFamily="2" charset="2"/>
              <a:buChar char="Ø"/>
            </a:pPr>
            <a:r>
              <a:rPr lang="en-US" sz="3200" err="1">
                <a:latin typeface="Times New Roman" panose="02020603050405020304" pitchFamily="18" charset="0"/>
                <a:cs typeface="Times New Roman" panose="02020603050405020304" pitchFamily="18" charset="0"/>
              </a:rPr>
              <a:t>Ứng</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dụng</a:t>
            </a:r>
            <a:r>
              <a:rPr lang="en-US" sz="3200">
                <a:latin typeface="Times New Roman" panose="02020603050405020304" pitchFamily="18" charset="0"/>
                <a:cs typeface="Times New Roman" panose="02020603050405020304" pitchFamily="18" charset="0"/>
              </a:rPr>
              <a:t>: </a:t>
            </a:r>
          </a:p>
        </p:txBody>
      </p:sp>
      <p:pic>
        <p:nvPicPr>
          <p:cNvPr id="9" name="Picture 8" descr="sách Qt5-Python-GUI-Programming-Cookbook.pdf - Adobe Acrobat Reader DC">
            <a:extLst>
              <a:ext uri="{FF2B5EF4-FFF2-40B4-BE49-F238E27FC236}">
                <a16:creationId xmlns:a16="http://schemas.microsoft.com/office/drawing/2014/main" id="{DF5ED75E-0CB3-46A5-947A-455AF2940C1C}"/>
              </a:ext>
            </a:extLst>
          </p:cNvPr>
          <p:cNvPicPr>
            <a:picLocks noChangeAspect="1"/>
          </p:cNvPicPr>
          <p:nvPr/>
        </p:nvPicPr>
        <p:blipFill rotWithShape="1">
          <a:blip r:embed="rId2">
            <a:extLst>
              <a:ext uri="{28A0092B-C50C-407E-A947-70E740481C1C}">
                <a14:useLocalDpi xmlns:a14="http://schemas.microsoft.com/office/drawing/2010/main" val="0"/>
              </a:ext>
            </a:extLst>
          </a:blip>
          <a:srcRect l="19811" t="21699" r="28114" b="22926"/>
          <a:stretch/>
        </p:blipFill>
        <p:spPr>
          <a:xfrm>
            <a:off x="517585" y="1136466"/>
            <a:ext cx="8108830" cy="3786457"/>
          </a:xfrm>
          <a:prstGeom prst="rect">
            <a:avLst/>
          </a:prstGeom>
        </p:spPr>
      </p:pic>
      <p:pic>
        <p:nvPicPr>
          <p:cNvPr id="7" name="Picture 6" descr="sách Qt5-Python-GUI-Programming-Cookbook.pdf - Adobe Acrobat Reader DC">
            <a:extLst>
              <a:ext uri="{FF2B5EF4-FFF2-40B4-BE49-F238E27FC236}">
                <a16:creationId xmlns:a16="http://schemas.microsoft.com/office/drawing/2014/main" id="{D1760217-08A6-4F51-91B3-4CAD0B616BEE}"/>
              </a:ext>
            </a:extLst>
          </p:cNvPr>
          <p:cNvPicPr>
            <a:picLocks noChangeAspect="1"/>
          </p:cNvPicPr>
          <p:nvPr/>
        </p:nvPicPr>
        <p:blipFill rotWithShape="1">
          <a:blip r:embed="rId3">
            <a:extLst>
              <a:ext uri="{28A0092B-C50C-407E-A947-70E740481C1C}">
                <a14:useLocalDpi xmlns:a14="http://schemas.microsoft.com/office/drawing/2010/main" val="0"/>
              </a:ext>
            </a:extLst>
          </a:blip>
          <a:srcRect l="20755" t="29409" r="29246" b="43954"/>
          <a:stretch/>
        </p:blipFill>
        <p:spPr>
          <a:xfrm>
            <a:off x="983412" y="4922923"/>
            <a:ext cx="7418716" cy="1987722"/>
          </a:xfrm>
          <a:prstGeom prst="rect">
            <a:avLst/>
          </a:prstGeom>
        </p:spPr>
      </p:pic>
    </p:spTree>
    <p:extLst>
      <p:ext uri="{BB962C8B-B14F-4D97-AF65-F5344CB8AC3E}">
        <p14:creationId xmlns:p14="http://schemas.microsoft.com/office/powerpoint/2010/main" val="3128225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3855"/>
            <a:ext cx="9102490" cy="833905"/>
          </a:xfrm>
        </p:spPr>
        <p:txBody>
          <a:bodyPr/>
          <a:lstStyle/>
          <a:p>
            <a:r>
              <a:rPr lang="en-US" err="1">
                <a:latin typeface="Times New Roman" panose="02020603050405020304" pitchFamily="18" charset="0"/>
                <a:cs typeface="Times New Roman" panose="02020603050405020304" pitchFamily="18" charset="0"/>
              </a:rPr>
              <a:t>Sử</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Dụng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Màu</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Hộp</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Thoại</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457200" indent="-457200" algn="just">
              <a:buFont typeface="Wingdings" panose="05000000000000000000" pitchFamily="2" charset="2"/>
              <a:buChar char="Ø"/>
            </a:pPr>
            <a:r>
              <a:rPr lang="en-US" sz="3200" err="1">
                <a:latin typeface="Times New Roman" panose="02020603050405020304" pitchFamily="18" charset="0"/>
                <a:cs typeface="Times New Roman" panose="02020603050405020304" pitchFamily="18" charset="0"/>
              </a:rPr>
              <a:t>Ứng</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dụng</a:t>
            </a:r>
            <a:r>
              <a:rPr lang="en-US" sz="3200">
                <a:latin typeface="Times New Roman" panose="02020603050405020304" pitchFamily="18" charset="0"/>
                <a:cs typeface="Times New Roman" panose="02020603050405020304" pitchFamily="18" charset="0"/>
              </a:rPr>
              <a:t>: </a:t>
            </a:r>
          </a:p>
        </p:txBody>
      </p:sp>
      <p:pic>
        <p:nvPicPr>
          <p:cNvPr id="5" name="Picture 4" descr="sách Qt5-Python-GUI-Programming-Cookbook.pdf - Adobe Acrobat Reader DC">
            <a:extLst>
              <a:ext uri="{FF2B5EF4-FFF2-40B4-BE49-F238E27FC236}">
                <a16:creationId xmlns:a16="http://schemas.microsoft.com/office/drawing/2014/main" id="{1231E92B-D3D7-4190-9F93-E9218A2D9A43}"/>
              </a:ext>
            </a:extLst>
          </p:cNvPr>
          <p:cNvPicPr>
            <a:picLocks noChangeAspect="1"/>
          </p:cNvPicPr>
          <p:nvPr/>
        </p:nvPicPr>
        <p:blipFill rotWithShape="1">
          <a:blip r:embed="rId2">
            <a:extLst>
              <a:ext uri="{28A0092B-C50C-407E-A947-70E740481C1C}">
                <a14:useLocalDpi xmlns:a14="http://schemas.microsoft.com/office/drawing/2010/main" val="0"/>
              </a:ext>
            </a:extLst>
          </a:blip>
          <a:srcRect l="21320" t="26956" r="36227" b="28183"/>
          <a:stretch/>
        </p:blipFill>
        <p:spPr>
          <a:xfrm>
            <a:off x="134520" y="1078301"/>
            <a:ext cx="4192438" cy="2984741"/>
          </a:xfrm>
          <a:prstGeom prst="rect">
            <a:avLst/>
          </a:prstGeom>
        </p:spPr>
      </p:pic>
      <p:pic>
        <p:nvPicPr>
          <p:cNvPr id="8" name="Picture 7" descr="sách Qt5-Python-GUI-Programming-Cookbook.pdf - Adobe Acrobat Reader DC">
            <a:extLst>
              <a:ext uri="{FF2B5EF4-FFF2-40B4-BE49-F238E27FC236}">
                <a16:creationId xmlns:a16="http://schemas.microsoft.com/office/drawing/2014/main" id="{CA1FCA6F-16C5-4D47-AFB7-8347F9E7A8EC}"/>
              </a:ext>
            </a:extLst>
          </p:cNvPr>
          <p:cNvPicPr>
            <a:picLocks noChangeAspect="1"/>
          </p:cNvPicPr>
          <p:nvPr/>
        </p:nvPicPr>
        <p:blipFill rotWithShape="1">
          <a:blip r:embed="rId3">
            <a:extLst>
              <a:ext uri="{28A0092B-C50C-407E-A947-70E740481C1C}">
                <a14:useLocalDpi xmlns:a14="http://schemas.microsoft.com/office/drawing/2010/main" val="0"/>
              </a:ext>
            </a:extLst>
          </a:blip>
          <a:srcRect l="17547" t="20648" r="31698"/>
          <a:stretch/>
        </p:blipFill>
        <p:spPr>
          <a:xfrm>
            <a:off x="4461478" y="1657294"/>
            <a:ext cx="4641012" cy="3906262"/>
          </a:xfrm>
          <a:prstGeom prst="rect">
            <a:avLst/>
          </a:prstGeom>
        </p:spPr>
      </p:pic>
      <p:pic>
        <p:nvPicPr>
          <p:cNvPr id="11" name="Picture 10" descr="sách Qt5-Python-GUI-Programming-Cookbook.pdf - Adobe Acrobat Reader DC">
            <a:extLst>
              <a:ext uri="{FF2B5EF4-FFF2-40B4-BE49-F238E27FC236}">
                <a16:creationId xmlns:a16="http://schemas.microsoft.com/office/drawing/2014/main" id="{4034A3F1-7DA7-4EBC-ABC2-F3CB87DAD7CF}"/>
              </a:ext>
            </a:extLst>
          </p:cNvPr>
          <p:cNvPicPr>
            <a:picLocks noChangeAspect="1"/>
          </p:cNvPicPr>
          <p:nvPr/>
        </p:nvPicPr>
        <p:blipFill rotWithShape="1">
          <a:blip r:embed="rId4">
            <a:extLst>
              <a:ext uri="{28A0092B-C50C-407E-A947-70E740481C1C}">
                <a14:useLocalDpi xmlns:a14="http://schemas.microsoft.com/office/drawing/2010/main" val="0"/>
              </a:ext>
            </a:extLst>
          </a:blip>
          <a:srcRect l="24717" t="26255" r="38679" b="36430"/>
          <a:stretch/>
        </p:blipFill>
        <p:spPr>
          <a:xfrm>
            <a:off x="363930" y="3823996"/>
            <a:ext cx="3916393" cy="2984741"/>
          </a:xfrm>
          <a:prstGeom prst="rect">
            <a:avLst/>
          </a:prstGeom>
        </p:spPr>
      </p:pic>
      <p:sp>
        <p:nvSpPr>
          <p:cNvPr id="12" name="Arrow: Right 11">
            <a:extLst>
              <a:ext uri="{FF2B5EF4-FFF2-40B4-BE49-F238E27FC236}">
                <a16:creationId xmlns:a16="http://schemas.microsoft.com/office/drawing/2014/main" id="{C41F4CC8-7F50-4DF4-8297-D745A4A84C20}"/>
              </a:ext>
            </a:extLst>
          </p:cNvPr>
          <p:cNvSpPr/>
          <p:nvPr/>
        </p:nvSpPr>
        <p:spPr>
          <a:xfrm>
            <a:off x="4088921" y="2570672"/>
            <a:ext cx="483079" cy="379562"/>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Bent-Up 12">
            <a:extLst>
              <a:ext uri="{FF2B5EF4-FFF2-40B4-BE49-F238E27FC236}">
                <a16:creationId xmlns:a16="http://schemas.microsoft.com/office/drawing/2014/main" id="{C949D857-E8D6-433F-AF1C-830D16ACA421}"/>
              </a:ext>
            </a:extLst>
          </p:cNvPr>
          <p:cNvSpPr/>
          <p:nvPr/>
        </p:nvSpPr>
        <p:spPr>
          <a:xfrm rot="16200000" flipH="1">
            <a:off x="3958514" y="5408767"/>
            <a:ext cx="1185462" cy="1000664"/>
          </a:xfrm>
          <a:prstGeom prst="bentUp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016196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CF2B3-B3DB-41EA-A25C-FA8897181BFD}"/>
              </a:ext>
            </a:extLst>
          </p:cNvPr>
          <p:cNvSpPr>
            <a:spLocks noGrp="1"/>
          </p:cNvSpPr>
          <p:nvPr>
            <p:ph type="title"/>
          </p:nvPr>
        </p:nvSpPr>
        <p:spPr>
          <a:xfrm>
            <a:off x="22259" y="28244"/>
            <a:ext cx="9102490" cy="781653"/>
          </a:xfrm>
        </p:spPr>
        <p:txBody>
          <a:bodyPr>
            <a:normAutofit/>
          </a:bodyPr>
          <a:lstStyle/>
          <a:p>
            <a:r>
              <a:rPr lang="en-US" b="1" err="1">
                <a:latin typeface="Times New Roman" panose="02020603050405020304" pitchFamily="18" charset="0"/>
                <a:cs typeface="Times New Roman" panose="02020603050405020304" pitchFamily="18" charset="0"/>
              </a:rPr>
              <a:t>Sử</a:t>
            </a:r>
            <a:r>
              <a:rPr lang="en-US" b="1">
                <a:latin typeface="Times New Roman" panose="02020603050405020304" pitchFamily="18" charset="0"/>
                <a:cs typeface="Times New Roman" panose="02020603050405020304" pitchFamily="18" charset="0"/>
              </a:rPr>
              <a:t> </a:t>
            </a:r>
            <a:r>
              <a:rPr lang="en-US" b="1" err="1">
                <a:latin typeface="Times New Roman" panose="02020603050405020304" pitchFamily="18" charset="0"/>
                <a:cs typeface="Times New Roman" panose="02020603050405020304" pitchFamily="18" charset="0"/>
              </a:rPr>
              <a:t>Dụng</a:t>
            </a:r>
            <a:r>
              <a:rPr lang="en-US" b="1">
                <a:latin typeface="Times New Roman" panose="02020603050405020304" pitchFamily="18" charset="0"/>
                <a:cs typeface="Times New Roman" panose="02020603050405020304" pitchFamily="18" charset="0"/>
              </a:rPr>
              <a:t> Font </a:t>
            </a:r>
            <a:r>
              <a:rPr lang="en-US" b="1" err="1">
                <a:latin typeface="Times New Roman" panose="02020603050405020304" pitchFamily="18" charset="0"/>
                <a:cs typeface="Times New Roman" panose="02020603050405020304" pitchFamily="18" charset="0"/>
              </a:rPr>
              <a:t>Hộp</a:t>
            </a:r>
            <a:r>
              <a:rPr lang="en-US" b="1">
                <a:latin typeface="Times New Roman" panose="02020603050405020304" pitchFamily="18" charset="0"/>
                <a:cs typeface="Times New Roman" panose="02020603050405020304" pitchFamily="18" charset="0"/>
              </a:rPr>
              <a:t> </a:t>
            </a:r>
            <a:r>
              <a:rPr lang="en-US" b="1" err="1">
                <a:latin typeface="Times New Roman" panose="02020603050405020304" pitchFamily="18" charset="0"/>
                <a:cs typeface="Times New Roman" panose="02020603050405020304" pitchFamily="18" charset="0"/>
              </a:rPr>
              <a:t>Thoại</a:t>
            </a:r>
            <a:endParaRPr lang="en-US" b="1">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039CAF4-937A-4A9D-81B9-FEF2C9C4D8E5}"/>
              </a:ext>
            </a:extLst>
          </p:cNvPr>
          <p:cNvSpPr>
            <a:spLocks noGrp="1"/>
          </p:cNvSpPr>
          <p:nvPr>
            <p:ph idx="1"/>
          </p:nvPr>
        </p:nvSpPr>
        <p:spPr>
          <a:xfrm>
            <a:off x="22259" y="896983"/>
            <a:ext cx="9102490" cy="5932774"/>
          </a:xfrm>
        </p:spPr>
        <p:txBody>
          <a:bodyPr>
            <a:normAutofit/>
          </a:bodyPr>
          <a:lstStyle/>
          <a:p>
            <a:pPr algn="just"/>
            <a:r>
              <a:rPr lang="vi-VN" sz="3200">
                <a:latin typeface="Times New Roman" panose="02020603050405020304" pitchFamily="18" charset="0"/>
                <a:cs typeface="Times New Roman" panose="02020603050405020304" pitchFamily="18" charset="0"/>
              </a:rPr>
              <a:t>Chúng t</a:t>
            </a:r>
            <a:r>
              <a:rPr lang="en-US" sz="3200">
                <a:latin typeface="Times New Roman" panose="02020603050405020304" pitchFamily="18" charset="0"/>
                <a:cs typeface="Times New Roman" panose="02020603050405020304" pitchFamily="18" charset="0"/>
              </a:rPr>
              <a:t>a</a:t>
            </a:r>
            <a:r>
              <a:rPr lang="vi-VN" sz="3200">
                <a:latin typeface="Times New Roman" panose="02020603050405020304" pitchFamily="18" charset="0"/>
                <a:cs typeface="Times New Roman" panose="02020603050405020304" pitchFamily="18" charset="0"/>
              </a:rPr>
              <a:t> sẽ sử dụng</a:t>
            </a:r>
            <a:r>
              <a:rPr lang="en-US" sz="3200">
                <a:latin typeface="Times New Roman" panose="02020603050405020304" pitchFamily="18" charset="0"/>
                <a:cs typeface="Times New Roman" panose="02020603050405020304" pitchFamily="18" charset="0"/>
              </a:rPr>
              <a:t> Text Edit</a:t>
            </a:r>
            <a:r>
              <a:rPr lang="vi-VN" sz="3200">
                <a:latin typeface="Times New Roman" panose="02020603050405020304" pitchFamily="18" charset="0"/>
                <a:cs typeface="Times New Roman" panose="02020603050405020304" pitchFamily="18" charset="0"/>
              </a:rPr>
              <a:t> widget và </a:t>
            </a:r>
            <a:r>
              <a:rPr lang="en-US" sz="3200">
                <a:latin typeface="Times New Roman" panose="02020603050405020304" pitchFamily="18" charset="0"/>
                <a:cs typeface="Times New Roman" panose="02020603050405020304" pitchFamily="18" charset="0"/>
              </a:rPr>
              <a:t>Push Button </a:t>
            </a:r>
            <a:r>
              <a:rPr lang="vi-VN" sz="3200">
                <a:latin typeface="Times New Roman" panose="02020603050405020304" pitchFamily="18" charset="0"/>
                <a:cs typeface="Times New Roman" panose="02020603050405020304" pitchFamily="18" charset="0"/>
              </a:rPr>
              <a:t>widget trong ứng dụng này. </a:t>
            </a:r>
            <a:r>
              <a:rPr lang="en-US" sz="3200">
                <a:latin typeface="Times New Roman" panose="02020603050405020304" pitchFamily="18" charset="0"/>
                <a:cs typeface="Times New Roman" panose="02020603050405020304" pitchFamily="18" charset="0"/>
              </a:rPr>
              <a:t>Push Button (</a:t>
            </a:r>
            <a:r>
              <a:rPr lang="vi-VN" sz="3200">
                <a:latin typeface="Times New Roman" panose="02020603050405020304" pitchFamily="18" charset="0"/>
                <a:cs typeface="Times New Roman" panose="02020603050405020304" pitchFamily="18" charset="0"/>
              </a:rPr>
              <a:t>Nút nhấn</a:t>
            </a:r>
            <a:r>
              <a:rPr lang="en-US" sz="3200">
                <a:latin typeface="Times New Roman" panose="02020603050405020304" pitchFamily="18" charset="0"/>
                <a:cs typeface="Times New Roman" panose="02020603050405020304" pitchFamily="18" charset="0"/>
              </a:rPr>
              <a:t>)</a:t>
            </a:r>
            <a:r>
              <a:rPr lang="vi-VN" sz="3200">
                <a:latin typeface="Times New Roman" panose="02020603050405020304" pitchFamily="18" charset="0"/>
                <a:cs typeface="Times New Roman" panose="02020603050405020304" pitchFamily="18" charset="0"/>
              </a:rPr>
              <a:t> khi bấm, sẽ mở hộp thoại kiểu chữ. Kiểu chữ và hộp thoại</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chọn kiểu</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ch</a:t>
            </a:r>
            <a:r>
              <a:rPr lang="vi-VN" sz="3200">
                <a:latin typeface="Times New Roman" panose="02020603050405020304" pitchFamily="18" charset="0"/>
                <a:cs typeface="Times New Roman" panose="02020603050405020304" pitchFamily="18" charset="0"/>
              </a:rPr>
              <a:t>ữ sẽ được ứ</a:t>
            </a:r>
            <a:r>
              <a:rPr lang="en-US" sz="3200">
                <a:latin typeface="Times New Roman" panose="02020603050405020304" pitchFamily="18" charset="0"/>
                <a:cs typeface="Times New Roman" panose="02020603050405020304" pitchFamily="18" charset="0"/>
              </a:rPr>
              <a:t>ng </a:t>
            </a:r>
            <a:r>
              <a:rPr lang="en-US" sz="3200" err="1">
                <a:latin typeface="Times New Roman" panose="02020603050405020304" pitchFamily="18" charset="0"/>
                <a:cs typeface="Times New Roman" panose="02020603050405020304" pitchFamily="18" charset="0"/>
              </a:rPr>
              <a:t>dụng</a:t>
            </a:r>
            <a:r>
              <a:rPr lang="vi-VN" sz="3200">
                <a:latin typeface="Times New Roman" panose="02020603050405020304" pitchFamily="18" charset="0"/>
                <a:cs typeface="Times New Roman" panose="02020603050405020304" pitchFamily="18" charset="0"/>
              </a:rPr>
              <a:t> vào văn bản </a:t>
            </a:r>
            <a:r>
              <a:rPr lang="en-US" sz="3200">
                <a:latin typeface="Times New Roman" panose="02020603050405020304" pitchFamily="18" charset="0"/>
                <a:cs typeface="Times New Roman" panose="02020603050405020304" pitchFamily="18" charset="0"/>
              </a:rPr>
              <a:t>(TextEdit widget).</a:t>
            </a:r>
            <a:endParaRPr lang="vi-VN" sz="3200">
              <a:latin typeface="Times New Roman" panose="02020603050405020304" pitchFamily="18" charset="0"/>
              <a:cs typeface="Times New Roman" panose="02020603050405020304" pitchFamily="18" charset="0"/>
            </a:endParaRPr>
          </a:p>
          <a:p>
            <a:pPr algn="just"/>
            <a:r>
              <a:rPr lang="en-US" sz="3200">
                <a:latin typeface="Times New Roman" panose="02020603050405020304" pitchFamily="18" charset="0"/>
                <a:cs typeface="Times New Roman" panose="02020603050405020304" pitchFamily="18" charset="0"/>
              </a:rPr>
              <a:t>C</a:t>
            </a:r>
            <a:r>
              <a:rPr lang="vi-VN" sz="3200">
                <a:latin typeface="Times New Roman" panose="02020603050405020304" pitchFamily="18" charset="0"/>
                <a:cs typeface="Times New Roman" panose="02020603050405020304" pitchFamily="18" charset="0"/>
              </a:rPr>
              <a:t>húng t</a:t>
            </a:r>
            <a:r>
              <a:rPr lang="en-US" sz="3200">
                <a:latin typeface="Times New Roman" panose="02020603050405020304" pitchFamily="18" charset="0"/>
                <a:cs typeface="Times New Roman" panose="02020603050405020304" pitchFamily="18" charset="0"/>
              </a:rPr>
              <a:t>a</a:t>
            </a:r>
            <a:r>
              <a:rPr lang="vi-VN" sz="3200">
                <a:latin typeface="Times New Roman" panose="02020603050405020304" pitchFamily="18" charset="0"/>
                <a:cs typeface="Times New Roman" panose="02020603050405020304" pitchFamily="18" charset="0"/>
              </a:rPr>
              <a:t> sẽ sử dụng lớp QFontDialog, màn hình </a:t>
            </a:r>
            <a:r>
              <a:rPr lang="en-US" sz="3200" err="1">
                <a:latin typeface="Times New Roman" panose="02020603050405020304" pitchFamily="18" charset="0"/>
                <a:cs typeface="Times New Roman" panose="02020603050405020304" pitchFamily="18" charset="0"/>
              </a:rPr>
              <a:t>xuất</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hiện</a:t>
            </a:r>
            <a:r>
              <a:rPr lang="vi-VN" sz="3200">
                <a:latin typeface="Times New Roman" panose="02020603050405020304" pitchFamily="18" charset="0"/>
                <a:cs typeface="Times New Roman" panose="02020603050405020304" pitchFamily="18" charset="0"/>
              </a:rPr>
              <a:t> </a:t>
            </a:r>
            <a:r>
              <a:rPr lang="en-US" sz="3200">
                <a:latin typeface="Times New Roman" panose="02020603050405020304" pitchFamily="18" charset="0"/>
                <a:cs typeface="Times New Roman" panose="02020603050405020304" pitchFamily="18" charset="0"/>
              </a:rPr>
              <a:t>h</a:t>
            </a:r>
            <a:r>
              <a:rPr lang="vi-VN" sz="3200">
                <a:latin typeface="Times New Roman" panose="02020603050405020304" pitchFamily="18" charset="0"/>
                <a:cs typeface="Times New Roman" panose="02020603050405020304" pitchFamily="18" charset="0"/>
              </a:rPr>
              <a:t>ộp thoại cho chọn kiểu chữ. </a:t>
            </a:r>
            <a:endParaRPr lang="en-US" sz="3200">
              <a:latin typeface="Times New Roman" panose="02020603050405020304" pitchFamily="18" charset="0"/>
              <a:cs typeface="Times New Roman" panose="02020603050405020304" pitchFamily="18" charset="0"/>
            </a:endParaRPr>
          </a:p>
          <a:p>
            <a:pPr algn="just"/>
            <a:r>
              <a:rPr lang="en-US" sz="3200">
                <a:latin typeface="Times New Roman" panose="02020603050405020304" pitchFamily="18" charset="0"/>
                <a:cs typeface="Times New Roman" panose="02020603050405020304" pitchFamily="18" charset="0"/>
              </a:rPr>
              <a:t>C</a:t>
            </a:r>
            <a:r>
              <a:rPr lang="vi-VN" sz="3200">
                <a:latin typeface="Times New Roman" panose="02020603050405020304" pitchFamily="18" charset="0"/>
                <a:cs typeface="Times New Roman" panose="02020603050405020304" pitchFamily="18" charset="0"/>
              </a:rPr>
              <a:t>húng ta hãy tạo ra ứng dụng mới dựa trên</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mẫu</a:t>
            </a:r>
            <a:r>
              <a:rPr lang="en-US" sz="3200">
                <a:latin typeface="Times New Roman" panose="02020603050405020304" pitchFamily="18" charset="0"/>
                <a:cs typeface="Times New Roman" panose="02020603050405020304" pitchFamily="18" charset="0"/>
              </a:rPr>
              <a:t> Dialog without Buttons </a:t>
            </a:r>
            <a:r>
              <a:rPr lang="en-US" sz="3200" err="1">
                <a:latin typeface="Times New Roman" panose="02020603050405020304" pitchFamily="18" charset="0"/>
                <a:cs typeface="Times New Roman" panose="02020603050405020304" pitchFamily="18" charset="0"/>
              </a:rPr>
              <a:t>theo</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bước sau :</a:t>
            </a:r>
            <a:endParaRPr lang="en-US" sz="3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26339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CF2B3-B3DB-41EA-A25C-FA8897181BFD}"/>
              </a:ext>
            </a:extLst>
          </p:cNvPr>
          <p:cNvSpPr>
            <a:spLocks noGrp="1"/>
          </p:cNvSpPr>
          <p:nvPr>
            <p:ph type="title"/>
          </p:nvPr>
        </p:nvSpPr>
        <p:spPr>
          <a:xfrm>
            <a:off x="22259" y="28244"/>
            <a:ext cx="9102490" cy="781653"/>
          </a:xfrm>
        </p:spPr>
        <p:txBody>
          <a:bodyPr>
            <a:normAutofit/>
          </a:bodyPr>
          <a:lstStyle/>
          <a:p>
            <a:r>
              <a:rPr lang="en-US" b="1" err="1">
                <a:latin typeface="Times New Roman" panose="02020603050405020304" pitchFamily="18" charset="0"/>
                <a:cs typeface="Times New Roman" panose="02020603050405020304" pitchFamily="18" charset="0"/>
              </a:rPr>
              <a:t>Sử</a:t>
            </a:r>
            <a:r>
              <a:rPr lang="en-US" b="1">
                <a:latin typeface="Times New Roman" panose="02020603050405020304" pitchFamily="18" charset="0"/>
                <a:cs typeface="Times New Roman" panose="02020603050405020304" pitchFamily="18" charset="0"/>
              </a:rPr>
              <a:t> </a:t>
            </a:r>
            <a:r>
              <a:rPr lang="en-US" b="1" err="1">
                <a:latin typeface="Times New Roman" panose="02020603050405020304" pitchFamily="18" charset="0"/>
                <a:cs typeface="Times New Roman" panose="02020603050405020304" pitchFamily="18" charset="0"/>
              </a:rPr>
              <a:t>Dụng</a:t>
            </a:r>
            <a:r>
              <a:rPr lang="en-US" b="1">
                <a:latin typeface="Times New Roman" panose="02020603050405020304" pitchFamily="18" charset="0"/>
                <a:cs typeface="Times New Roman" panose="02020603050405020304" pitchFamily="18" charset="0"/>
              </a:rPr>
              <a:t> Font </a:t>
            </a:r>
            <a:r>
              <a:rPr lang="en-US" b="1" err="1">
                <a:latin typeface="Times New Roman" panose="02020603050405020304" pitchFamily="18" charset="0"/>
                <a:cs typeface="Times New Roman" panose="02020603050405020304" pitchFamily="18" charset="0"/>
              </a:rPr>
              <a:t>Hộp</a:t>
            </a:r>
            <a:r>
              <a:rPr lang="en-US" b="1">
                <a:latin typeface="Times New Roman" panose="02020603050405020304" pitchFamily="18" charset="0"/>
                <a:cs typeface="Times New Roman" panose="02020603050405020304" pitchFamily="18" charset="0"/>
              </a:rPr>
              <a:t> </a:t>
            </a:r>
            <a:r>
              <a:rPr lang="en-US" b="1" err="1">
                <a:latin typeface="Times New Roman" panose="02020603050405020304" pitchFamily="18" charset="0"/>
                <a:cs typeface="Times New Roman" panose="02020603050405020304" pitchFamily="18" charset="0"/>
              </a:rPr>
              <a:t>Thoại</a:t>
            </a:r>
            <a:endParaRPr lang="en-US" b="1">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039CAF4-937A-4A9D-81B9-FEF2C9C4D8E5}"/>
              </a:ext>
            </a:extLst>
          </p:cNvPr>
          <p:cNvSpPr>
            <a:spLocks noGrp="1"/>
          </p:cNvSpPr>
          <p:nvPr>
            <p:ph idx="1"/>
          </p:nvPr>
        </p:nvSpPr>
        <p:spPr>
          <a:xfrm>
            <a:off x="22259" y="896983"/>
            <a:ext cx="9102490" cy="5932774"/>
          </a:xfrm>
        </p:spPr>
        <p:txBody>
          <a:bodyPr>
            <a:normAutofit fontScale="92500" lnSpcReduction="10000"/>
          </a:bodyPr>
          <a:lstStyle/>
          <a:p>
            <a:pPr marL="517525" algn="just">
              <a:buFont typeface="Wingdings" panose="05000000000000000000" pitchFamily="2" charset="2"/>
              <a:buChar char="Ø"/>
            </a:pPr>
            <a:r>
              <a:rPr lang="en-US" sz="3200">
                <a:latin typeface="Times New Roman" panose="02020603050405020304" pitchFamily="18" charset="0"/>
                <a:cs typeface="Times New Roman" panose="02020603050405020304" pitchFamily="18" charset="0"/>
              </a:rPr>
              <a:t>B1:</a:t>
            </a:r>
            <a:r>
              <a:rPr lang="vi-VN" sz="3200">
                <a:latin typeface="Times New Roman" panose="02020603050405020304" pitchFamily="18" charset="0"/>
                <a:cs typeface="Times New Roman" panose="02020603050405020304" pitchFamily="18" charset="0"/>
              </a:rPr>
              <a:t> Kéo và thả nút nhấn</a:t>
            </a:r>
            <a:r>
              <a:rPr lang="en-US" sz="3200">
                <a:latin typeface="Times New Roman" panose="02020603050405020304" pitchFamily="18" charset="0"/>
                <a:cs typeface="Times New Roman" panose="02020603050405020304" pitchFamily="18" charset="0"/>
              </a:rPr>
              <a:t> (Push Button)</a:t>
            </a:r>
            <a:r>
              <a:rPr lang="vi-VN" sz="3200">
                <a:latin typeface="Times New Roman" panose="02020603050405020304" pitchFamily="18" charset="0"/>
                <a:cs typeface="Times New Roman" panose="02020603050405020304" pitchFamily="18" charset="0"/>
              </a:rPr>
              <a:t> và </a:t>
            </a:r>
            <a:r>
              <a:rPr lang="en-US" sz="3200">
                <a:latin typeface="Times New Roman" panose="02020603050405020304" pitchFamily="18" charset="0"/>
                <a:cs typeface="Times New Roman" panose="02020603050405020304" pitchFamily="18" charset="0"/>
              </a:rPr>
              <a:t>Text Edit </a:t>
            </a:r>
            <a:r>
              <a:rPr lang="vi-VN" sz="3200">
                <a:latin typeface="Times New Roman" panose="02020603050405020304" pitchFamily="18" charset="0"/>
                <a:cs typeface="Times New Roman" panose="02020603050405020304" pitchFamily="18" charset="0"/>
              </a:rPr>
              <a:t>widget </a:t>
            </a:r>
            <a:r>
              <a:rPr lang="en-US" sz="3200" err="1">
                <a:latin typeface="Times New Roman" panose="02020603050405020304" pitchFamily="18" charset="0"/>
                <a:cs typeface="Times New Roman" panose="02020603050405020304" pitchFamily="18" charset="0"/>
              </a:rPr>
              <a:t>lên</a:t>
            </a:r>
            <a:r>
              <a:rPr lang="en-US" sz="3200">
                <a:latin typeface="Times New Roman" panose="02020603050405020304" pitchFamily="18" charset="0"/>
                <a:cs typeface="Times New Roman" panose="02020603050405020304" pitchFamily="18" charset="0"/>
              </a:rPr>
              <a:t> form</a:t>
            </a:r>
            <a:r>
              <a:rPr lang="vi-VN" sz="3200">
                <a:latin typeface="Times New Roman" panose="02020603050405020304" pitchFamily="18" charset="0"/>
                <a:cs typeface="Times New Roman" panose="02020603050405020304" pitchFamily="18" charset="0"/>
              </a:rPr>
              <a:t>. </a:t>
            </a:r>
          </a:p>
          <a:p>
            <a:pPr marL="517525" algn="just">
              <a:buFont typeface="Wingdings" panose="05000000000000000000" pitchFamily="2" charset="2"/>
              <a:buChar char="Ø"/>
            </a:pPr>
            <a:r>
              <a:rPr lang="en-US" sz="3200">
                <a:latin typeface="Times New Roman" panose="02020603050405020304" pitchFamily="18" charset="0"/>
                <a:cs typeface="Times New Roman" panose="02020603050405020304" pitchFamily="18" charset="0"/>
              </a:rPr>
              <a:t>B</a:t>
            </a:r>
            <a:r>
              <a:rPr lang="vi-VN" sz="3200">
                <a:latin typeface="Times New Roman" panose="02020603050405020304" pitchFamily="18" charset="0"/>
                <a:cs typeface="Times New Roman" panose="02020603050405020304" pitchFamily="18" charset="0"/>
              </a:rPr>
              <a:t>2</a:t>
            </a:r>
            <a:r>
              <a:rPr lang="en-US" sz="3200">
                <a:latin typeface="Times New Roman" panose="02020603050405020304" pitchFamily="18" charset="0"/>
                <a:cs typeface="Times New Roman" panose="02020603050405020304" pitchFamily="18" charset="0"/>
              </a:rPr>
              <a:t>:</a:t>
            </a:r>
            <a:r>
              <a:rPr lang="vi-VN" sz="3200">
                <a:latin typeface="Times New Roman" panose="02020603050405020304" pitchFamily="18" charset="0"/>
                <a:cs typeface="Times New Roman" panose="02020603050405020304" pitchFamily="18" charset="0"/>
              </a:rPr>
              <a:t> Thiết lập </a:t>
            </a:r>
            <a:r>
              <a:rPr lang="en-US" sz="3200" err="1">
                <a:latin typeface="Times New Roman" panose="02020603050405020304" pitchFamily="18" charset="0"/>
                <a:cs typeface="Times New Roman" panose="02020603050405020304" pitchFamily="18" charset="0"/>
              </a:rPr>
              <a:t>thuộc</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tính</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văn bản của </a:t>
            </a:r>
            <a:r>
              <a:rPr lang="en-US" sz="3200">
                <a:latin typeface="Times New Roman" panose="02020603050405020304" pitchFamily="18" charset="0"/>
                <a:cs typeface="Times New Roman" panose="02020603050405020304" pitchFamily="18" charset="0"/>
              </a:rPr>
              <a:t>Push Button </a:t>
            </a:r>
            <a:r>
              <a:rPr lang="vi-VN" sz="3200">
                <a:latin typeface="Times New Roman" panose="02020603050405020304" pitchFamily="18" charset="0"/>
                <a:cs typeface="Times New Roman" panose="02020603050405020304" pitchFamily="18" charset="0"/>
              </a:rPr>
              <a:t>widget để </a:t>
            </a:r>
            <a:r>
              <a:rPr lang="en-US" sz="3200">
                <a:latin typeface="Times New Roman" panose="02020603050405020304" pitchFamily="18" charset="0"/>
                <a:cs typeface="Times New Roman" panose="02020603050405020304" pitchFamily="18" charset="0"/>
              </a:rPr>
              <a:t>c</a:t>
            </a:r>
            <a:r>
              <a:rPr lang="vi-VN" sz="3200">
                <a:latin typeface="Times New Roman" panose="02020603050405020304" pitchFamily="18" charset="0"/>
                <a:cs typeface="Times New Roman" panose="02020603050405020304" pitchFamily="18" charset="0"/>
              </a:rPr>
              <a:t>họn Kiểu chữ. </a:t>
            </a:r>
          </a:p>
          <a:p>
            <a:pPr marL="517525" algn="just">
              <a:buFont typeface="Wingdings" panose="05000000000000000000" pitchFamily="2" charset="2"/>
              <a:buChar char="Ø"/>
            </a:pPr>
            <a:r>
              <a:rPr lang="en-US" sz="3200">
                <a:latin typeface="Times New Roman" panose="02020603050405020304" pitchFamily="18" charset="0"/>
                <a:cs typeface="Times New Roman" panose="02020603050405020304" pitchFamily="18" charset="0"/>
              </a:rPr>
              <a:t>B</a:t>
            </a:r>
            <a:r>
              <a:rPr lang="vi-VN" sz="3200">
                <a:latin typeface="Times New Roman" panose="02020603050405020304" pitchFamily="18" charset="0"/>
                <a:cs typeface="Times New Roman" panose="02020603050405020304" pitchFamily="18" charset="0"/>
              </a:rPr>
              <a:t>3. Thiết lập </a:t>
            </a:r>
            <a:r>
              <a:rPr lang="en-US" sz="3200" err="1">
                <a:latin typeface="Times New Roman" panose="02020603050405020304" pitchFamily="18" charset="0"/>
                <a:cs typeface="Times New Roman" panose="02020603050405020304" pitchFamily="18" charset="0"/>
              </a:rPr>
              <a:t>thuộc</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tính</a:t>
            </a:r>
            <a:r>
              <a:rPr lang="vi-VN" sz="3200">
                <a:latin typeface="Times New Roman" panose="02020603050405020304" pitchFamily="18" charset="0"/>
                <a:cs typeface="Times New Roman" panose="02020603050405020304" pitchFamily="18" charset="0"/>
              </a:rPr>
              <a:t> objectName của</a:t>
            </a:r>
            <a:r>
              <a:rPr lang="en-US" sz="3200">
                <a:latin typeface="Times New Roman" panose="02020603050405020304" pitchFamily="18" charset="0"/>
                <a:cs typeface="Times New Roman" panose="02020603050405020304" pitchFamily="18" charset="0"/>
              </a:rPr>
              <a:t> Push Button</a:t>
            </a:r>
            <a:r>
              <a:rPr lang="vi-VN" sz="3200">
                <a:latin typeface="Times New Roman" panose="02020603050405020304" pitchFamily="18" charset="0"/>
                <a:cs typeface="Times New Roman" panose="02020603050405020304" pitchFamily="18" charset="0"/>
              </a:rPr>
              <a:t> widget đến pushButtonFont. </a:t>
            </a:r>
          </a:p>
          <a:p>
            <a:pPr marL="517525" algn="just">
              <a:buFont typeface="Wingdings" panose="05000000000000000000" pitchFamily="2" charset="2"/>
              <a:buChar char="Ø"/>
            </a:pPr>
            <a:r>
              <a:rPr lang="en-US" sz="3200">
                <a:latin typeface="Times New Roman" panose="02020603050405020304" pitchFamily="18" charset="0"/>
                <a:cs typeface="Times New Roman" panose="02020603050405020304" pitchFamily="18" charset="0"/>
              </a:rPr>
              <a:t>B</a:t>
            </a:r>
            <a:r>
              <a:rPr lang="vi-VN" sz="3200">
                <a:latin typeface="Times New Roman" panose="02020603050405020304" pitchFamily="18" charset="0"/>
                <a:cs typeface="Times New Roman" panose="02020603050405020304" pitchFamily="18" charset="0"/>
              </a:rPr>
              <a:t>4</a:t>
            </a:r>
            <a:r>
              <a:rPr lang="en-US" sz="3200">
                <a:latin typeface="Times New Roman" panose="02020603050405020304" pitchFamily="18" charset="0"/>
                <a:cs typeface="Times New Roman" panose="02020603050405020304" pitchFamily="18" charset="0"/>
              </a:rPr>
              <a:t>:</a:t>
            </a:r>
            <a:r>
              <a:rPr lang="vi-VN" sz="3200">
                <a:latin typeface="Times New Roman" panose="02020603050405020304" pitchFamily="18" charset="0"/>
                <a:cs typeface="Times New Roman" panose="02020603050405020304" pitchFamily="18" charset="0"/>
              </a:rPr>
              <a:t> Lưu ứng dụng với tên demoFontDialog.</a:t>
            </a:r>
            <a:r>
              <a:rPr lang="en-US" sz="3200" err="1">
                <a:latin typeface="Times New Roman" panose="02020603050405020304" pitchFamily="18" charset="0"/>
                <a:cs typeface="Times New Roman" panose="02020603050405020304" pitchFamily="18" charset="0"/>
              </a:rPr>
              <a:t>ui</a:t>
            </a:r>
            <a:endParaRPr lang="en-US" sz="3200">
              <a:latin typeface="Times New Roman" panose="02020603050405020304" pitchFamily="18" charset="0"/>
              <a:cs typeface="Times New Roman" panose="02020603050405020304" pitchFamily="18" charset="0"/>
            </a:endParaRPr>
          </a:p>
          <a:p>
            <a:pPr marL="517525" algn="just">
              <a:buFont typeface="Wingdings" panose="05000000000000000000" pitchFamily="2" charset="2"/>
              <a:buChar char="Ø"/>
            </a:pPr>
            <a:r>
              <a:rPr lang="vi-VN" sz="3200">
                <a:latin typeface="Times New Roman" panose="02020603050405020304" pitchFamily="18" charset="0"/>
                <a:cs typeface="Times New Roman" panose="02020603050405020304" pitchFamily="18" charset="0"/>
              </a:rPr>
              <a:t>Giao diện người dùng tạo ra với </a:t>
            </a:r>
            <a:r>
              <a:rPr lang="en-US" sz="3200">
                <a:latin typeface="Times New Roman" panose="02020603050405020304" pitchFamily="18" charset="0"/>
                <a:cs typeface="Times New Roman" panose="02020603050405020304" pitchFamily="18" charset="0"/>
              </a:rPr>
              <a:t>Qt Designer </a:t>
            </a:r>
            <a:r>
              <a:rPr lang="vi-VN" sz="3200">
                <a:latin typeface="Times New Roman" panose="02020603050405020304" pitchFamily="18" charset="0"/>
                <a:cs typeface="Times New Roman" panose="02020603050405020304" pitchFamily="18" charset="0"/>
              </a:rPr>
              <a:t>được lưu trữ trong tập tin</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ui</a:t>
            </a:r>
            <a:r>
              <a:rPr lang="vi-VN"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nó</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là</a:t>
            </a:r>
            <a:r>
              <a:rPr lang="en-US" sz="3200">
                <a:latin typeface="Times New Roman" panose="02020603050405020304" pitchFamily="18" charset="0"/>
                <a:cs typeface="Times New Roman" panose="02020603050405020304" pitchFamily="18" charset="0"/>
              </a:rPr>
              <a:t> t</a:t>
            </a:r>
            <a:r>
              <a:rPr lang="vi-VN" sz="3200">
                <a:latin typeface="Times New Roman" panose="02020603050405020304" pitchFamily="18" charset="0"/>
                <a:cs typeface="Times New Roman" panose="02020603050405020304" pitchFamily="18" charset="0"/>
              </a:rPr>
              <a:t>ập tin XML. Sử dụng lệnh pyuic5, bạn có thể chuyển đổi tập tin XML thành mã Python. </a:t>
            </a:r>
            <a:r>
              <a:rPr lang="en-US" sz="3200" err="1">
                <a:latin typeface="Times New Roman" panose="02020603050405020304" pitchFamily="18" charset="0"/>
                <a:cs typeface="Times New Roman" panose="02020603050405020304" pitchFamily="18" charset="0"/>
              </a:rPr>
              <a:t>Mã</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Python tạo ra demoFontDialog. py. </a:t>
            </a:r>
            <a:r>
              <a:rPr lang="en-US" sz="3200" err="1">
                <a:latin typeface="Times New Roman" panose="02020603050405020304" pitchFamily="18" charset="0"/>
                <a:cs typeface="Times New Roman" panose="02020603050405020304" pitchFamily="18" charset="0"/>
              </a:rPr>
              <a:t>Mã</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DemoFontDialog. py sẽ được dùng như tập tin tiêu đề và sẽ được nhập trong tập tin </a:t>
            </a:r>
            <a:r>
              <a:rPr lang="en-US" sz="3200" err="1">
                <a:latin typeface="Times New Roman" panose="02020603050405020304" pitchFamily="18" charset="0"/>
                <a:cs typeface="Times New Roman" panose="02020603050405020304" pitchFamily="18" charset="0"/>
              </a:rPr>
              <a:t>mã</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Python khác,</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nó</a:t>
            </a:r>
            <a:r>
              <a:rPr lang="vi-VN" sz="3200">
                <a:latin typeface="Times New Roman" panose="02020603050405020304" pitchFamily="18" charset="0"/>
                <a:cs typeface="Times New Roman" panose="02020603050405020304" pitchFamily="18" charset="0"/>
              </a:rPr>
              <a:t> sẽ gọi thiết kế giao diện người dùng này.</a:t>
            </a:r>
          </a:p>
          <a:p>
            <a:pPr marL="0" indent="0" algn="just">
              <a:buNone/>
            </a:pPr>
            <a:endParaRPr lang="en-US" sz="3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15783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CF2B3-B3DB-41EA-A25C-FA8897181BFD}"/>
              </a:ext>
            </a:extLst>
          </p:cNvPr>
          <p:cNvSpPr>
            <a:spLocks noGrp="1"/>
          </p:cNvSpPr>
          <p:nvPr>
            <p:ph type="title"/>
          </p:nvPr>
        </p:nvSpPr>
        <p:spPr>
          <a:xfrm>
            <a:off x="22259" y="28244"/>
            <a:ext cx="9102490" cy="781653"/>
          </a:xfrm>
        </p:spPr>
        <p:txBody>
          <a:bodyPr>
            <a:normAutofit/>
          </a:bodyPr>
          <a:lstStyle/>
          <a:p>
            <a:r>
              <a:rPr lang="en-US" b="1" err="1">
                <a:latin typeface="Times New Roman" panose="02020603050405020304" pitchFamily="18" charset="0"/>
                <a:cs typeface="Times New Roman" panose="02020603050405020304" pitchFamily="18" charset="0"/>
              </a:rPr>
              <a:t>Sử</a:t>
            </a:r>
            <a:r>
              <a:rPr lang="en-US" b="1">
                <a:latin typeface="Times New Roman" panose="02020603050405020304" pitchFamily="18" charset="0"/>
                <a:cs typeface="Times New Roman" panose="02020603050405020304" pitchFamily="18" charset="0"/>
              </a:rPr>
              <a:t> </a:t>
            </a:r>
            <a:r>
              <a:rPr lang="en-US" b="1" err="1">
                <a:latin typeface="Times New Roman" panose="02020603050405020304" pitchFamily="18" charset="0"/>
                <a:cs typeface="Times New Roman" panose="02020603050405020304" pitchFamily="18" charset="0"/>
              </a:rPr>
              <a:t>Dụng</a:t>
            </a:r>
            <a:r>
              <a:rPr lang="en-US" b="1">
                <a:latin typeface="Times New Roman" panose="02020603050405020304" pitchFamily="18" charset="0"/>
                <a:cs typeface="Times New Roman" panose="02020603050405020304" pitchFamily="18" charset="0"/>
              </a:rPr>
              <a:t> Font </a:t>
            </a:r>
            <a:r>
              <a:rPr lang="en-US" b="1" err="1">
                <a:latin typeface="Times New Roman" panose="02020603050405020304" pitchFamily="18" charset="0"/>
                <a:cs typeface="Times New Roman" panose="02020603050405020304" pitchFamily="18" charset="0"/>
              </a:rPr>
              <a:t>Hộp</a:t>
            </a:r>
            <a:r>
              <a:rPr lang="en-US" b="1">
                <a:latin typeface="Times New Roman" panose="02020603050405020304" pitchFamily="18" charset="0"/>
                <a:cs typeface="Times New Roman" panose="02020603050405020304" pitchFamily="18" charset="0"/>
              </a:rPr>
              <a:t> </a:t>
            </a:r>
            <a:r>
              <a:rPr lang="en-US" b="1" err="1">
                <a:latin typeface="Times New Roman" panose="02020603050405020304" pitchFamily="18" charset="0"/>
                <a:cs typeface="Times New Roman" panose="02020603050405020304" pitchFamily="18" charset="0"/>
              </a:rPr>
              <a:t>Thoại</a:t>
            </a:r>
            <a:endParaRPr lang="en-US" b="1">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039CAF4-937A-4A9D-81B9-FEF2C9C4D8E5}"/>
              </a:ext>
            </a:extLst>
          </p:cNvPr>
          <p:cNvSpPr>
            <a:spLocks noGrp="1"/>
          </p:cNvSpPr>
          <p:nvPr>
            <p:ph idx="1"/>
          </p:nvPr>
        </p:nvSpPr>
        <p:spPr>
          <a:xfrm>
            <a:off x="22259" y="896983"/>
            <a:ext cx="9102490" cy="5932774"/>
          </a:xfrm>
        </p:spPr>
        <p:txBody>
          <a:bodyPr>
            <a:normAutofit/>
          </a:bodyPr>
          <a:lstStyle/>
          <a:p>
            <a:pPr marL="0" indent="0" algn="just">
              <a:buNone/>
            </a:pPr>
            <a:endParaRPr lang="en-US" sz="3200">
              <a:latin typeface="Times New Roman" panose="02020603050405020304" pitchFamily="18" charset="0"/>
              <a:cs typeface="Times New Roman" panose="02020603050405020304" pitchFamily="18" charset="0"/>
            </a:endParaRPr>
          </a:p>
          <a:p>
            <a:pPr marL="0" indent="0" algn="just">
              <a:buNone/>
            </a:pPr>
            <a:endParaRPr lang="en-US" sz="3200">
              <a:latin typeface="Times New Roman" panose="02020603050405020304" pitchFamily="18" charset="0"/>
              <a:cs typeface="Times New Roman" panose="02020603050405020304" pitchFamily="18" charset="0"/>
            </a:endParaRPr>
          </a:p>
          <a:p>
            <a:pPr marL="0" indent="0" algn="just">
              <a:buNone/>
            </a:pPr>
            <a:endParaRPr lang="en-US" sz="3200">
              <a:latin typeface="Times New Roman" panose="02020603050405020304" pitchFamily="18" charset="0"/>
              <a:cs typeface="Times New Roman" panose="02020603050405020304" pitchFamily="18" charset="0"/>
            </a:endParaRPr>
          </a:p>
          <a:p>
            <a:pPr marL="0" indent="0" algn="just">
              <a:buNone/>
            </a:pPr>
            <a:endParaRPr lang="en-US" sz="3200">
              <a:latin typeface="Times New Roman" panose="02020603050405020304" pitchFamily="18" charset="0"/>
              <a:cs typeface="Times New Roman" panose="02020603050405020304" pitchFamily="18" charset="0"/>
            </a:endParaRPr>
          </a:p>
          <a:p>
            <a:pPr marL="0" indent="0" algn="just">
              <a:buNone/>
            </a:pPr>
            <a:endParaRPr lang="en-US" sz="3200">
              <a:latin typeface="Times New Roman" panose="02020603050405020304" pitchFamily="18" charset="0"/>
              <a:cs typeface="Times New Roman" panose="02020603050405020304" pitchFamily="18" charset="0"/>
            </a:endParaRPr>
          </a:p>
          <a:p>
            <a:pPr marL="0" indent="0" algn="just">
              <a:buNone/>
            </a:pPr>
            <a:endParaRPr lang="en-US" sz="3200">
              <a:latin typeface="Times New Roman" panose="02020603050405020304" pitchFamily="18" charset="0"/>
              <a:cs typeface="Times New Roman" panose="02020603050405020304" pitchFamily="18" charset="0"/>
            </a:endParaRPr>
          </a:p>
          <a:p>
            <a:pPr marL="0" indent="0" algn="just">
              <a:buNone/>
            </a:pPr>
            <a:endParaRPr lang="en-US" sz="3200">
              <a:latin typeface="Times New Roman" panose="02020603050405020304" pitchFamily="18" charset="0"/>
              <a:cs typeface="Times New Roman" panose="02020603050405020304" pitchFamily="18" charset="0"/>
            </a:endParaRPr>
          </a:p>
          <a:p>
            <a:pPr marL="0" indent="0" algn="just">
              <a:buNone/>
            </a:pPr>
            <a:r>
              <a:rPr lang="en-US" sz="3200">
                <a:latin typeface="Times New Roman" panose="02020603050405020304" pitchFamily="18" charset="0"/>
                <a:cs typeface="Times New Roman" panose="02020603050405020304" pitchFamily="18" charset="0"/>
              </a:rPr>
              <a:t>B6: </a:t>
            </a:r>
            <a:r>
              <a:rPr lang="en-US" sz="3200" err="1">
                <a:latin typeface="Times New Roman" panose="02020603050405020304" pitchFamily="18" charset="0"/>
                <a:cs typeface="Times New Roman" panose="02020603050405020304" pitchFamily="18" charset="0"/>
              </a:rPr>
              <a:t>Tạo</a:t>
            </a:r>
            <a:r>
              <a:rPr lang="en-US" sz="3200">
                <a:latin typeface="Times New Roman" panose="02020603050405020304" pitchFamily="18" charset="0"/>
                <a:cs typeface="Times New Roman" panose="02020603050405020304" pitchFamily="18" charset="0"/>
              </a:rPr>
              <a:t> ra </a:t>
            </a:r>
            <a:r>
              <a:rPr lang="en-US" sz="3200" err="1">
                <a:latin typeface="Times New Roman" panose="02020603050405020304" pitchFamily="18" charset="0"/>
                <a:cs typeface="Times New Roman" panose="02020603050405020304" pitchFamily="18" charset="0"/>
              </a:rPr>
              <a:t>tập</a:t>
            </a:r>
            <a:r>
              <a:rPr lang="en-US" sz="3200">
                <a:latin typeface="Times New Roman" panose="02020603050405020304" pitchFamily="18" charset="0"/>
                <a:cs typeface="Times New Roman" panose="02020603050405020304" pitchFamily="18" charset="0"/>
              </a:rPr>
              <a:t> tin Python </a:t>
            </a:r>
            <a:r>
              <a:rPr lang="en-US" sz="3200" err="1">
                <a:latin typeface="Times New Roman" panose="02020603050405020304" pitchFamily="18" charset="0"/>
                <a:cs typeface="Times New Roman" panose="02020603050405020304" pitchFamily="18" charset="0"/>
              </a:rPr>
              <a:t>khác</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với</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tên</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callFontDialog</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pyw</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và</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nhập</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vào</a:t>
            </a:r>
            <a:r>
              <a:rPr lang="en-US" sz="3200">
                <a:latin typeface="Times New Roman" panose="02020603050405020304" pitchFamily="18" charset="0"/>
                <a:cs typeface="Times New Roman" panose="02020603050405020304" pitchFamily="18" charset="0"/>
              </a:rPr>
              <a:t> code </a:t>
            </a:r>
            <a:r>
              <a:rPr lang="en-US" sz="3200" err="1">
                <a:latin typeface="Times New Roman" panose="02020603050405020304" pitchFamily="18" charset="0"/>
                <a:cs typeface="Times New Roman" panose="02020603050405020304" pitchFamily="18" charset="0"/>
              </a:rPr>
              <a:t>demoFontDialog</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Py</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vào</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đó</a:t>
            </a:r>
            <a:r>
              <a:rPr lang="en-US" sz="3200">
                <a:latin typeface="Times New Roman" panose="02020603050405020304" pitchFamily="18" charset="0"/>
                <a:cs typeface="Times New Roman" panose="02020603050405020304" pitchFamily="18" charset="0"/>
              </a:rPr>
              <a:t> :</a:t>
            </a:r>
          </a:p>
        </p:txBody>
      </p:sp>
      <p:pic>
        <p:nvPicPr>
          <p:cNvPr id="5" name="Picture 4" descr="sách Qt5-Python-GUI-Programming-Cookbook.pdf - Adobe Acrobat Reader DC">
            <a:extLst>
              <a:ext uri="{FF2B5EF4-FFF2-40B4-BE49-F238E27FC236}">
                <a16:creationId xmlns:a16="http://schemas.microsoft.com/office/drawing/2014/main" id="{920038D5-20DA-43DC-8B81-7C910BB25735}"/>
              </a:ext>
            </a:extLst>
          </p:cNvPr>
          <p:cNvPicPr>
            <a:picLocks noChangeAspect="1"/>
          </p:cNvPicPr>
          <p:nvPr/>
        </p:nvPicPr>
        <p:blipFill rotWithShape="1">
          <a:blip r:embed="rId2">
            <a:extLst>
              <a:ext uri="{28A0092B-C50C-407E-A947-70E740481C1C}">
                <a14:useLocalDpi xmlns:a14="http://schemas.microsoft.com/office/drawing/2010/main" val="0"/>
              </a:ext>
            </a:extLst>
          </a:blip>
          <a:srcRect l="24528" t="31512" r="39057" b="13463"/>
          <a:stretch/>
        </p:blipFill>
        <p:spPr>
          <a:xfrm>
            <a:off x="586596" y="896983"/>
            <a:ext cx="7280695" cy="3847545"/>
          </a:xfrm>
          <a:prstGeom prst="rect">
            <a:avLst/>
          </a:prstGeom>
        </p:spPr>
      </p:pic>
    </p:spTree>
    <p:extLst>
      <p:ext uri="{BB962C8B-B14F-4D97-AF65-F5344CB8AC3E}">
        <p14:creationId xmlns:p14="http://schemas.microsoft.com/office/powerpoint/2010/main" val="6732604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CF2B3-B3DB-41EA-A25C-FA8897181BFD}"/>
              </a:ext>
            </a:extLst>
          </p:cNvPr>
          <p:cNvSpPr>
            <a:spLocks noGrp="1"/>
          </p:cNvSpPr>
          <p:nvPr>
            <p:ph type="title"/>
          </p:nvPr>
        </p:nvSpPr>
        <p:spPr>
          <a:xfrm>
            <a:off x="22259" y="28244"/>
            <a:ext cx="9102490" cy="781653"/>
          </a:xfrm>
        </p:spPr>
        <p:txBody>
          <a:bodyPr>
            <a:normAutofit/>
          </a:bodyPr>
          <a:lstStyle/>
          <a:p>
            <a:r>
              <a:rPr lang="en-US" b="1" err="1">
                <a:latin typeface="Times New Roman" panose="02020603050405020304" pitchFamily="18" charset="0"/>
                <a:cs typeface="Times New Roman" panose="02020603050405020304" pitchFamily="18" charset="0"/>
              </a:rPr>
              <a:t>Sử</a:t>
            </a:r>
            <a:r>
              <a:rPr lang="en-US" b="1">
                <a:latin typeface="Times New Roman" panose="02020603050405020304" pitchFamily="18" charset="0"/>
                <a:cs typeface="Times New Roman" panose="02020603050405020304" pitchFamily="18" charset="0"/>
              </a:rPr>
              <a:t> </a:t>
            </a:r>
            <a:r>
              <a:rPr lang="en-US" b="1" err="1">
                <a:latin typeface="Times New Roman" panose="02020603050405020304" pitchFamily="18" charset="0"/>
                <a:cs typeface="Times New Roman" panose="02020603050405020304" pitchFamily="18" charset="0"/>
              </a:rPr>
              <a:t>Dụng</a:t>
            </a:r>
            <a:r>
              <a:rPr lang="en-US" b="1">
                <a:latin typeface="Times New Roman" panose="02020603050405020304" pitchFamily="18" charset="0"/>
                <a:cs typeface="Times New Roman" panose="02020603050405020304" pitchFamily="18" charset="0"/>
              </a:rPr>
              <a:t> Font </a:t>
            </a:r>
            <a:r>
              <a:rPr lang="en-US" b="1" err="1">
                <a:latin typeface="Times New Roman" panose="02020603050405020304" pitchFamily="18" charset="0"/>
                <a:cs typeface="Times New Roman" panose="02020603050405020304" pitchFamily="18" charset="0"/>
              </a:rPr>
              <a:t>Hộp</a:t>
            </a:r>
            <a:r>
              <a:rPr lang="en-US" b="1">
                <a:latin typeface="Times New Roman" panose="02020603050405020304" pitchFamily="18" charset="0"/>
                <a:cs typeface="Times New Roman" panose="02020603050405020304" pitchFamily="18" charset="0"/>
              </a:rPr>
              <a:t> </a:t>
            </a:r>
            <a:r>
              <a:rPr lang="en-US" b="1" err="1">
                <a:latin typeface="Times New Roman" panose="02020603050405020304" pitchFamily="18" charset="0"/>
                <a:cs typeface="Times New Roman" panose="02020603050405020304" pitchFamily="18" charset="0"/>
              </a:rPr>
              <a:t>Thoại</a:t>
            </a:r>
            <a:endParaRPr lang="en-US" b="1">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039CAF4-937A-4A9D-81B9-FEF2C9C4D8E5}"/>
              </a:ext>
            </a:extLst>
          </p:cNvPr>
          <p:cNvSpPr>
            <a:spLocks noGrp="1"/>
          </p:cNvSpPr>
          <p:nvPr>
            <p:ph idx="1"/>
          </p:nvPr>
        </p:nvSpPr>
        <p:spPr>
          <a:xfrm>
            <a:off x="22259" y="896983"/>
            <a:ext cx="9102490" cy="5932774"/>
          </a:xfrm>
        </p:spPr>
        <p:txBody>
          <a:bodyPr>
            <a:normAutofit/>
          </a:bodyPr>
          <a:lstStyle/>
          <a:p>
            <a:pPr marL="0" indent="0" algn="just">
              <a:buNone/>
            </a:pPr>
            <a:endParaRPr lang="en-US" sz="3200">
              <a:latin typeface="Times New Roman" panose="02020603050405020304" pitchFamily="18" charset="0"/>
              <a:cs typeface="Times New Roman" panose="02020603050405020304" pitchFamily="18" charset="0"/>
            </a:endParaRPr>
          </a:p>
          <a:p>
            <a:pPr marL="0" indent="0" algn="just">
              <a:buNone/>
            </a:pPr>
            <a:endParaRPr lang="en-US" sz="3200">
              <a:latin typeface="Times New Roman" panose="02020603050405020304" pitchFamily="18" charset="0"/>
              <a:cs typeface="Times New Roman" panose="02020603050405020304" pitchFamily="18" charset="0"/>
            </a:endParaRPr>
          </a:p>
          <a:p>
            <a:pPr marL="0" indent="0" algn="just">
              <a:buNone/>
            </a:pPr>
            <a:endParaRPr lang="en-US" sz="3200">
              <a:latin typeface="Times New Roman" panose="02020603050405020304" pitchFamily="18" charset="0"/>
              <a:cs typeface="Times New Roman" panose="02020603050405020304" pitchFamily="18" charset="0"/>
            </a:endParaRPr>
          </a:p>
          <a:p>
            <a:pPr marL="0" indent="0" algn="just">
              <a:buNone/>
            </a:pPr>
            <a:endParaRPr lang="en-US" sz="3200">
              <a:latin typeface="Times New Roman" panose="02020603050405020304" pitchFamily="18" charset="0"/>
              <a:cs typeface="Times New Roman" panose="02020603050405020304" pitchFamily="18" charset="0"/>
            </a:endParaRPr>
          </a:p>
          <a:p>
            <a:pPr marL="0" indent="0" algn="just">
              <a:buNone/>
            </a:pPr>
            <a:endParaRPr lang="en-US" sz="3200">
              <a:latin typeface="Times New Roman" panose="02020603050405020304" pitchFamily="18" charset="0"/>
              <a:cs typeface="Times New Roman" panose="02020603050405020304" pitchFamily="18" charset="0"/>
            </a:endParaRPr>
          </a:p>
          <a:p>
            <a:pPr marL="0" indent="0" algn="just">
              <a:buNone/>
            </a:pPr>
            <a:endParaRPr lang="en-US" sz="3200">
              <a:latin typeface="Times New Roman" panose="02020603050405020304" pitchFamily="18" charset="0"/>
              <a:cs typeface="Times New Roman" panose="02020603050405020304" pitchFamily="18" charset="0"/>
            </a:endParaRPr>
          </a:p>
          <a:p>
            <a:pPr marL="0" indent="0" algn="just">
              <a:buNone/>
            </a:pPr>
            <a:endParaRPr lang="en-US" sz="3200">
              <a:latin typeface="Times New Roman" panose="02020603050405020304" pitchFamily="18" charset="0"/>
              <a:cs typeface="Times New Roman" panose="02020603050405020304" pitchFamily="18" charset="0"/>
            </a:endParaRPr>
          </a:p>
        </p:txBody>
      </p:sp>
      <p:pic>
        <p:nvPicPr>
          <p:cNvPr id="6" name="Picture 5" descr="sách Qt5-Python-GUI-Programming-Cookbook.pdf - Adobe Acrobat Reader DC">
            <a:extLst>
              <a:ext uri="{FF2B5EF4-FFF2-40B4-BE49-F238E27FC236}">
                <a16:creationId xmlns:a16="http://schemas.microsoft.com/office/drawing/2014/main" id="{2395A77E-6F18-4B8F-8D68-BCECCB4D966F}"/>
              </a:ext>
            </a:extLst>
          </p:cNvPr>
          <p:cNvPicPr>
            <a:picLocks noChangeAspect="1"/>
          </p:cNvPicPr>
          <p:nvPr/>
        </p:nvPicPr>
        <p:blipFill rotWithShape="1">
          <a:blip r:embed="rId2">
            <a:extLst>
              <a:ext uri="{28A0092B-C50C-407E-A947-70E740481C1C}">
                <a14:useLocalDpi xmlns:a14="http://schemas.microsoft.com/office/drawing/2010/main" val="0"/>
              </a:ext>
            </a:extLst>
          </a:blip>
          <a:srcRect l="18680" t="26255" r="28113" b="16617"/>
          <a:stretch/>
        </p:blipFill>
        <p:spPr>
          <a:xfrm>
            <a:off x="19250" y="809897"/>
            <a:ext cx="8796945" cy="5642661"/>
          </a:xfrm>
          <a:prstGeom prst="rect">
            <a:avLst/>
          </a:prstGeom>
        </p:spPr>
      </p:pic>
    </p:spTree>
    <p:extLst>
      <p:ext uri="{BB962C8B-B14F-4D97-AF65-F5344CB8AC3E}">
        <p14:creationId xmlns:p14="http://schemas.microsoft.com/office/powerpoint/2010/main" val="31698076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659E0-DB62-4032-AB9E-8BBA22421560}"/>
              </a:ext>
            </a:extLst>
          </p:cNvPr>
          <p:cNvSpPr>
            <a:spLocks noGrp="1"/>
          </p:cNvSpPr>
          <p:nvPr>
            <p:ph type="title"/>
          </p:nvPr>
        </p:nvSpPr>
        <p:spPr/>
        <p:txBody>
          <a:bodyPr/>
          <a:lstStyle/>
          <a:p>
            <a:r>
              <a:rPr lang="en-US" b="1" err="1">
                <a:latin typeface="Times New Roman" panose="02020603050405020304" pitchFamily="18" charset="0"/>
                <a:cs typeface="Times New Roman" panose="02020603050405020304" pitchFamily="18" charset="0"/>
              </a:rPr>
              <a:t>Sử</a:t>
            </a:r>
            <a:r>
              <a:rPr lang="en-US" b="1">
                <a:latin typeface="Times New Roman" panose="02020603050405020304" pitchFamily="18" charset="0"/>
                <a:cs typeface="Times New Roman" panose="02020603050405020304" pitchFamily="18" charset="0"/>
              </a:rPr>
              <a:t> </a:t>
            </a:r>
            <a:r>
              <a:rPr lang="en-US" b="1" err="1">
                <a:latin typeface="Times New Roman" panose="02020603050405020304" pitchFamily="18" charset="0"/>
                <a:cs typeface="Times New Roman" panose="02020603050405020304" pitchFamily="18" charset="0"/>
              </a:rPr>
              <a:t>Dụng</a:t>
            </a:r>
            <a:r>
              <a:rPr lang="en-US" b="1">
                <a:latin typeface="Times New Roman" panose="02020603050405020304" pitchFamily="18" charset="0"/>
                <a:cs typeface="Times New Roman" panose="02020603050405020304" pitchFamily="18" charset="0"/>
              </a:rPr>
              <a:t> Font </a:t>
            </a:r>
            <a:r>
              <a:rPr lang="en-US" b="1" err="1">
                <a:latin typeface="Times New Roman" panose="02020603050405020304" pitchFamily="18" charset="0"/>
                <a:cs typeface="Times New Roman" panose="02020603050405020304" pitchFamily="18" charset="0"/>
              </a:rPr>
              <a:t>Hộp</a:t>
            </a:r>
            <a:r>
              <a:rPr lang="en-US" b="1">
                <a:latin typeface="Times New Roman" panose="02020603050405020304" pitchFamily="18" charset="0"/>
                <a:cs typeface="Times New Roman" panose="02020603050405020304" pitchFamily="18" charset="0"/>
              </a:rPr>
              <a:t> </a:t>
            </a:r>
            <a:r>
              <a:rPr lang="en-US" b="1" err="1">
                <a:latin typeface="Times New Roman" panose="02020603050405020304" pitchFamily="18" charset="0"/>
                <a:cs typeface="Times New Roman" panose="02020603050405020304" pitchFamily="18" charset="0"/>
              </a:rPr>
              <a:t>Thoại</a:t>
            </a:r>
            <a:endParaRPr lang="en-US" b="1">
              <a:latin typeface="Times New Roman" panose="02020603050405020304" pitchFamily="18" charset="0"/>
              <a:cs typeface="Times New Roman" panose="02020603050405020304" pitchFamily="18" charset="0"/>
            </a:endParaRPr>
          </a:p>
        </p:txBody>
      </p:sp>
      <p:pic>
        <p:nvPicPr>
          <p:cNvPr id="5" name="Content Placeholder 4" descr="sách Qt5-Python-GUI-Programming-Cookbook.pdf - Adobe Acrobat Reader DC">
            <a:extLst>
              <a:ext uri="{FF2B5EF4-FFF2-40B4-BE49-F238E27FC236}">
                <a16:creationId xmlns:a16="http://schemas.microsoft.com/office/drawing/2014/main" id="{8B7458E4-4490-43C2-8E86-45B889CD2638}"/>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4774" t="21657" r="38645" b="21661"/>
          <a:stretch/>
        </p:blipFill>
        <p:spPr>
          <a:xfrm>
            <a:off x="258792" y="651294"/>
            <a:ext cx="5400135" cy="3454880"/>
          </a:xfrm>
        </p:spPr>
      </p:pic>
      <p:pic>
        <p:nvPicPr>
          <p:cNvPr id="9" name="Picture 8" descr="sách Qt5-Python-GUI-Programming-Cookbook.pdf - Adobe Acrobat Reader DC">
            <a:extLst>
              <a:ext uri="{FF2B5EF4-FFF2-40B4-BE49-F238E27FC236}">
                <a16:creationId xmlns:a16="http://schemas.microsoft.com/office/drawing/2014/main" id="{23EABFF8-0363-4BD8-9EA3-FD9B38258FCF}"/>
              </a:ext>
            </a:extLst>
          </p:cNvPr>
          <p:cNvPicPr>
            <a:picLocks noChangeAspect="1"/>
          </p:cNvPicPr>
          <p:nvPr/>
        </p:nvPicPr>
        <p:blipFill rotWithShape="1">
          <a:blip r:embed="rId3">
            <a:extLst>
              <a:ext uri="{28A0092B-C50C-407E-A947-70E740481C1C}">
                <a14:useLocalDpi xmlns:a14="http://schemas.microsoft.com/office/drawing/2010/main" val="0"/>
              </a:ext>
            </a:extLst>
          </a:blip>
          <a:srcRect l="24340" t="21699" r="38113" b="20473"/>
          <a:stretch/>
        </p:blipFill>
        <p:spPr>
          <a:xfrm>
            <a:off x="2462148" y="3668174"/>
            <a:ext cx="5939980" cy="3189825"/>
          </a:xfrm>
          <a:prstGeom prst="rect">
            <a:avLst/>
          </a:prstGeom>
        </p:spPr>
      </p:pic>
      <p:sp>
        <p:nvSpPr>
          <p:cNvPr id="10" name="Arrow: Bent-Up 9">
            <a:extLst>
              <a:ext uri="{FF2B5EF4-FFF2-40B4-BE49-F238E27FC236}">
                <a16:creationId xmlns:a16="http://schemas.microsoft.com/office/drawing/2014/main" id="{D0F7A958-730F-46D0-94AA-D0D0A62D39FE}"/>
              </a:ext>
            </a:extLst>
          </p:cNvPr>
          <p:cNvSpPr/>
          <p:nvPr/>
        </p:nvSpPr>
        <p:spPr>
          <a:xfrm flipV="1">
            <a:off x="5382882" y="2956311"/>
            <a:ext cx="2139351" cy="905407"/>
          </a:xfrm>
          <a:prstGeom prst="bentUp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10241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659E0-DB62-4032-AB9E-8BBA22421560}"/>
              </a:ext>
            </a:extLst>
          </p:cNvPr>
          <p:cNvSpPr>
            <a:spLocks noGrp="1"/>
          </p:cNvSpPr>
          <p:nvPr>
            <p:ph type="title"/>
          </p:nvPr>
        </p:nvSpPr>
        <p:spPr/>
        <p:txBody>
          <a:bodyPr/>
          <a:lstStyle/>
          <a:p>
            <a:r>
              <a:rPr lang="en-US" b="1" err="1">
                <a:latin typeface="Times New Roman" panose="02020603050405020304" pitchFamily="18" charset="0"/>
                <a:cs typeface="Times New Roman" panose="02020603050405020304" pitchFamily="18" charset="0"/>
              </a:rPr>
              <a:t>Sử</a:t>
            </a:r>
            <a:r>
              <a:rPr lang="en-US" b="1">
                <a:latin typeface="Times New Roman" panose="02020603050405020304" pitchFamily="18" charset="0"/>
                <a:cs typeface="Times New Roman" panose="02020603050405020304" pitchFamily="18" charset="0"/>
              </a:rPr>
              <a:t> </a:t>
            </a:r>
            <a:r>
              <a:rPr lang="en-US" b="1" err="1">
                <a:latin typeface="Times New Roman" panose="02020603050405020304" pitchFamily="18" charset="0"/>
                <a:cs typeface="Times New Roman" panose="02020603050405020304" pitchFamily="18" charset="0"/>
              </a:rPr>
              <a:t>Dụng</a:t>
            </a:r>
            <a:r>
              <a:rPr lang="en-US" b="1">
                <a:latin typeface="Times New Roman" panose="02020603050405020304" pitchFamily="18" charset="0"/>
                <a:cs typeface="Times New Roman" panose="02020603050405020304" pitchFamily="18" charset="0"/>
              </a:rPr>
              <a:t> Font </a:t>
            </a:r>
            <a:r>
              <a:rPr lang="en-US" b="1" err="1">
                <a:latin typeface="Times New Roman" panose="02020603050405020304" pitchFamily="18" charset="0"/>
                <a:cs typeface="Times New Roman" panose="02020603050405020304" pitchFamily="18" charset="0"/>
              </a:rPr>
              <a:t>Hộp</a:t>
            </a:r>
            <a:r>
              <a:rPr lang="en-US" b="1">
                <a:latin typeface="Times New Roman" panose="02020603050405020304" pitchFamily="18" charset="0"/>
                <a:cs typeface="Times New Roman" panose="02020603050405020304" pitchFamily="18" charset="0"/>
              </a:rPr>
              <a:t> </a:t>
            </a:r>
            <a:r>
              <a:rPr lang="en-US" b="1" err="1">
                <a:latin typeface="Times New Roman" panose="02020603050405020304" pitchFamily="18" charset="0"/>
                <a:cs typeface="Times New Roman" panose="02020603050405020304" pitchFamily="18" charset="0"/>
              </a:rPr>
              <a:t>Thoại</a:t>
            </a:r>
            <a:endParaRPr lang="en-US" b="1">
              <a:latin typeface="Times New Roman" panose="02020603050405020304" pitchFamily="18" charset="0"/>
              <a:cs typeface="Times New Roman" panose="02020603050405020304" pitchFamily="18" charset="0"/>
            </a:endParaRPr>
          </a:p>
        </p:txBody>
      </p:sp>
      <p:sp>
        <p:nvSpPr>
          <p:cNvPr id="10" name="Arrow: Bent-Up 9">
            <a:extLst>
              <a:ext uri="{FF2B5EF4-FFF2-40B4-BE49-F238E27FC236}">
                <a16:creationId xmlns:a16="http://schemas.microsoft.com/office/drawing/2014/main" id="{D0F7A958-730F-46D0-94AA-D0D0A62D39FE}"/>
              </a:ext>
            </a:extLst>
          </p:cNvPr>
          <p:cNvSpPr/>
          <p:nvPr/>
        </p:nvSpPr>
        <p:spPr>
          <a:xfrm flipV="1">
            <a:off x="5382882" y="2956311"/>
            <a:ext cx="2139351" cy="905407"/>
          </a:xfrm>
          <a:prstGeom prst="bentUp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Content Placeholder 10" descr="sách Qt5-Python-GUI-Programming-Cookbook.pdf - Adobe Acrobat Reader DC">
            <a:extLst>
              <a:ext uri="{FF2B5EF4-FFF2-40B4-BE49-F238E27FC236}">
                <a16:creationId xmlns:a16="http://schemas.microsoft.com/office/drawing/2014/main" id="{6A784DAC-2C01-4A87-97B4-9F6DE888B06E}"/>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5109" t="19896" r="29358"/>
          <a:stretch/>
        </p:blipFill>
        <p:spPr>
          <a:xfrm>
            <a:off x="155274" y="724618"/>
            <a:ext cx="5055079" cy="3925419"/>
          </a:xfrm>
        </p:spPr>
      </p:pic>
      <p:pic>
        <p:nvPicPr>
          <p:cNvPr id="13" name="Picture 12" descr="sách Qt5-Python-GUI-Programming-Cookbook.pdf - Adobe Acrobat Reader DC">
            <a:extLst>
              <a:ext uri="{FF2B5EF4-FFF2-40B4-BE49-F238E27FC236}">
                <a16:creationId xmlns:a16="http://schemas.microsoft.com/office/drawing/2014/main" id="{3E595CE2-FE48-4B21-89D4-529DF696E3DC}"/>
              </a:ext>
            </a:extLst>
          </p:cNvPr>
          <p:cNvPicPr>
            <a:picLocks noChangeAspect="1"/>
          </p:cNvPicPr>
          <p:nvPr/>
        </p:nvPicPr>
        <p:blipFill rotWithShape="1">
          <a:blip r:embed="rId3">
            <a:extLst>
              <a:ext uri="{28A0092B-C50C-407E-A947-70E740481C1C}">
                <a14:useLocalDpi xmlns:a14="http://schemas.microsoft.com/office/drawing/2010/main" val="0"/>
              </a:ext>
            </a:extLst>
          </a:blip>
          <a:srcRect l="25849" t="24153" r="39056" b="21524"/>
          <a:stretch/>
        </p:blipFill>
        <p:spPr>
          <a:xfrm>
            <a:off x="4934309" y="3783713"/>
            <a:ext cx="4190440" cy="3074287"/>
          </a:xfrm>
          <a:prstGeom prst="rect">
            <a:avLst/>
          </a:prstGeom>
        </p:spPr>
      </p:pic>
    </p:spTree>
    <p:extLst>
      <p:ext uri="{BB962C8B-B14F-4D97-AF65-F5344CB8AC3E}">
        <p14:creationId xmlns:p14="http://schemas.microsoft.com/office/powerpoint/2010/main" val="22728929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659E0-DB62-4032-AB9E-8BBA22421560}"/>
              </a:ext>
            </a:extLst>
          </p:cNvPr>
          <p:cNvSpPr>
            <a:spLocks noGrp="1"/>
          </p:cNvSpPr>
          <p:nvPr>
            <p:ph type="title"/>
          </p:nvPr>
        </p:nvSpPr>
        <p:spPr/>
        <p:txBody>
          <a:bodyPr/>
          <a:lstStyle/>
          <a:p>
            <a:r>
              <a:rPr lang="en-US" b="1" err="1">
                <a:latin typeface="Times New Roman" panose="02020603050405020304" pitchFamily="18" charset="0"/>
                <a:cs typeface="Times New Roman" panose="02020603050405020304" pitchFamily="18" charset="0"/>
              </a:rPr>
              <a:t>Sử</a:t>
            </a:r>
            <a:r>
              <a:rPr lang="en-US" b="1">
                <a:latin typeface="Times New Roman" panose="02020603050405020304" pitchFamily="18" charset="0"/>
                <a:cs typeface="Times New Roman" panose="02020603050405020304" pitchFamily="18" charset="0"/>
              </a:rPr>
              <a:t> </a:t>
            </a:r>
            <a:r>
              <a:rPr lang="en-US" b="1" err="1">
                <a:latin typeface="Times New Roman" panose="02020603050405020304" pitchFamily="18" charset="0"/>
                <a:cs typeface="Times New Roman" panose="02020603050405020304" pitchFamily="18" charset="0"/>
              </a:rPr>
              <a:t>Dụng</a:t>
            </a:r>
            <a:r>
              <a:rPr lang="en-US" b="1">
                <a:latin typeface="Times New Roman" panose="02020603050405020304" pitchFamily="18" charset="0"/>
                <a:cs typeface="Times New Roman" panose="02020603050405020304" pitchFamily="18" charset="0"/>
              </a:rPr>
              <a:t> File </a:t>
            </a:r>
            <a:r>
              <a:rPr lang="en-US" b="1" err="1">
                <a:latin typeface="Times New Roman" panose="02020603050405020304" pitchFamily="18" charset="0"/>
                <a:cs typeface="Times New Roman" panose="02020603050405020304" pitchFamily="18" charset="0"/>
              </a:rPr>
              <a:t>Hộp</a:t>
            </a:r>
            <a:r>
              <a:rPr lang="en-US" b="1">
                <a:latin typeface="Times New Roman" panose="02020603050405020304" pitchFamily="18" charset="0"/>
                <a:cs typeface="Times New Roman" panose="02020603050405020304" pitchFamily="18" charset="0"/>
              </a:rPr>
              <a:t> </a:t>
            </a:r>
            <a:r>
              <a:rPr lang="en-US" b="1" err="1">
                <a:latin typeface="Times New Roman" panose="02020603050405020304" pitchFamily="18" charset="0"/>
                <a:cs typeface="Times New Roman" panose="02020603050405020304" pitchFamily="18" charset="0"/>
              </a:rPr>
              <a:t>Thoại</a:t>
            </a:r>
            <a:endParaRPr lang="en-US" b="1">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53DBDF6-DF73-41BF-8FA0-79FD03DAC7D8}"/>
              </a:ext>
            </a:extLst>
          </p:cNvPr>
          <p:cNvSpPr>
            <a:spLocks noGrp="1"/>
          </p:cNvSpPr>
          <p:nvPr>
            <p:ph idx="1"/>
          </p:nvPr>
        </p:nvSpPr>
        <p:spPr/>
        <p:txBody>
          <a:bodyPr>
            <a:normAutofit/>
          </a:bodyPr>
          <a:lstStyle/>
          <a:p>
            <a:pPr algn="just"/>
            <a:r>
              <a:rPr lang="en-US" sz="3200" err="1">
                <a:latin typeface="Times New Roman" panose="02020603050405020304" pitchFamily="18" charset="0"/>
                <a:cs typeface="Times New Roman" panose="02020603050405020304" pitchFamily="18" charset="0"/>
              </a:rPr>
              <a:t>Trong</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phần</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này</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chúng</a:t>
            </a:r>
            <a:r>
              <a:rPr lang="en-US" sz="3200">
                <a:latin typeface="Times New Roman" panose="02020603050405020304" pitchFamily="18" charset="0"/>
                <a:cs typeface="Times New Roman" panose="02020603050405020304" pitchFamily="18" charset="0"/>
              </a:rPr>
              <a:t> ta </a:t>
            </a:r>
            <a:r>
              <a:rPr lang="en-US" sz="3200" err="1">
                <a:latin typeface="Times New Roman" panose="02020603050405020304" pitchFamily="18" charset="0"/>
                <a:cs typeface="Times New Roman" panose="02020603050405020304" pitchFamily="18" charset="0"/>
              </a:rPr>
              <a:t>sẽ</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tìm</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hiểu</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thao</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tác</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khác</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nhau</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vời</a:t>
            </a:r>
            <a:r>
              <a:rPr lang="en-US" sz="3200">
                <a:latin typeface="Times New Roman" panose="02020603050405020304" pitchFamily="18" charset="0"/>
                <a:cs typeface="Times New Roman" panose="02020603050405020304" pitchFamily="18" charset="0"/>
              </a:rPr>
              <a:t> file </a:t>
            </a:r>
            <a:r>
              <a:rPr lang="en-US" sz="3200" err="1">
                <a:latin typeface="Times New Roman" panose="02020603050405020304" pitchFamily="18" charset="0"/>
                <a:cs typeface="Times New Roman" panose="02020603050405020304" pitchFamily="18" charset="0"/>
              </a:rPr>
              <a:t>hộp</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thoại</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nh</a:t>
            </a:r>
            <a:r>
              <a:rPr lang="vi-VN" sz="3200">
                <a:latin typeface="Times New Roman" panose="02020603050405020304" pitchFamily="18" charset="0"/>
                <a:cs typeface="Times New Roman" panose="02020603050405020304" pitchFamily="18" charset="0"/>
              </a:rPr>
              <a:t>ư</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mở</a:t>
            </a:r>
            <a:r>
              <a:rPr lang="en-US" sz="3200">
                <a:latin typeface="Times New Roman" panose="02020603050405020304" pitchFamily="18" charset="0"/>
                <a:cs typeface="Times New Roman" panose="02020603050405020304" pitchFamily="18" charset="0"/>
              </a:rPr>
              <a:t> file, l</a:t>
            </a:r>
            <a:r>
              <a:rPr lang="vi-VN" sz="3200">
                <a:latin typeface="Times New Roman" panose="02020603050405020304" pitchFamily="18" charset="0"/>
                <a:cs typeface="Times New Roman" panose="02020603050405020304" pitchFamily="18" charset="0"/>
              </a:rPr>
              <a:t>ưu</a:t>
            </a:r>
            <a:r>
              <a:rPr lang="en-US" sz="3200">
                <a:latin typeface="Times New Roman" panose="02020603050405020304" pitchFamily="18" charset="0"/>
                <a:cs typeface="Times New Roman" panose="02020603050405020304" pitchFamily="18" charset="0"/>
              </a:rPr>
              <a:t> file…</a:t>
            </a:r>
          </a:p>
          <a:p>
            <a:pPr algn="just"/>
            <a:r>
              <a:rPr lang="vi-VN" sz="3200">
                <a:latin typeface="Times New Roman" panose="02020603050405020304" pitchFamily="18" charset="0"/>
                <a:cs typeface="Times New Roman" panose="02020603050405020304" pitchFamily="18" charset="0"/>
              </a:rPr>
              <a:t>Chúng t</a:t>
            </a:r>
            <a:r>
              <a:rPr lang="en-US" sz="3200">
                <a:latin typeface="Times New Roman" panose="02020603050405020304" pitchFamily="18" charset="0"/>
                <a:cs typeface="Times New Roman" panose="02020603050405020304" pitchFamily="18" charset="0"/>
              </a:rPr>
              <a:t>a</a:t>
            </a:r>
            <a:r>
              <a:rPr lang="vi-VN" sz="3200">
                <a:latin typeface="Times New Roman" panose="02020603050405020304" pitchFamily="18" charset="0"/>
                <a:cs typeface="Times New Roman" panose="02020603050405020304" pitchFamily="18" charset="0"/>
              </a:rPr>
              <a:t> sẽ tập tạo ra menu File với hai menu</a:t>
            </a:r>
            <a:r>
              <a:rPr lang="en-US" sz="3200">
                <a:latin typeface="Times New Roman" panose="02020603050405020304" pitchFamily="18" charset="0"/>
                <a:cs typeface="Times New Roman" panose="02020603050405020304" pitchFamily="18" charset="0"/>
              </a:rPr>
              <a:t> item</a:t>
            </a:r>
            <a:r>
              <a:rPr lang="vi-VN" sz="3200">
                <a:latin typeface="Times New Roman" panose="02020603050405020304" pitchFamily="18" charset="0"/>
                <a:cs typeface="Times New Roman" panose="02020603050405020304" pitchFamily="18" charset="0"/>
              </a:rPr>
              <a:t>, </a:t>
            </a:r>
            <a:r>
              <a:rPr lang="en-US" sz="3200">
                <a:latin typeface="Times New Roman" panose="02020603050405020304" pitchFamily="18" charset="0"/>
                <a:cs typeface="Times New Roman" panose="02020603050405020304" pitchFamily="18" charset="0"/>
              </a:rPr>
              <a:t>m</a:t>
            </a:r>
            <a:r>
              <a:rPr lang="vi-VN" sz="3200">
                <a:latin typeface="Times New Roman" panose="02020603050405020304" pitchFamily="18" charset="0"/>
                <a:cs typeface="Times New Roman" panose="02020603050405020304" pitchFamily="18" charset="0"/>
              </a:rPr>
              <a:t>ở và </a:t>
            </a:r>
            <a:r>
              <a:rPr lang="en-US" sz="3200">
                <a:latin typeface="Times New Roman" panose="02020603050405020304" pitchFamily="18" charset="0"/>
                <a:cs typeface="Times New Roman" panose="02020603050405020304" pitchFamily="18" charset="0"/>
              </a:rPr>
              <a:t>l</a:t>
            </a:r>
            <a:r>
              <a:rPr lang="vi-VN" sz="3200">
                <a:latin typeface="Times New Roman" panose="02020603050405020304" pitchFamily="18" charset="0"/>
                <a:cs typeface="Times New Roman" panose="02020603050405020304" pitchFamily="18" charset="0"/>
              </a:rPr>
              <a:t>ưu. </a:t>
            </a:r>
            <a:r>
              <a:rPr lang="en-US" sz="3200" err="1">
                <a:latin typeface="Times New Roman" panose="02020603050405020304" pitchFamily="18" charset="0"/>
                <a:cs typeface="Times New Roman" panose="02020603050405020304" pitchFamily="18" charset="0"/>
              </a:rPr>
              <a:t>Nhấn</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mở</a:t>
            </a:r>
            <a:r>
              <a:rPr lang="en-US" sz="3200">
                <a:latin typeface="Times New Roman" panose="02020603050405020304" pitchFamily="18" charset="0"/>
                <a:cs typeface="Times New Roman" panose="02020603050405020304" pitchFamily="18" charset="0"/>
              </a:rPr>
              <a:t> menu item</a:t>
            </a:r>
            <a:r>
              <a:rPr lang="vi-VN" sz="3200">
                <a:latin typeface="Times New Roman" panose="02020603050405020304" pitchFamily="18" charset="0"/>
                <a:cs typeface="Times New Roman" panose="02020603050405020304" pitchFamily="18" charset="0"/>
              </a:rPr>
              <a:t>, hộp thoại mở tập tin sẽ mở, sẽ </a:t>
            </a:r>
            <a:r>
              <a:rPr lang="en-US" sz="3200">
                <a:latin typeface="Times New Roman" panose="02020603050405020304" pitchFamily="18" charset="0"/>
                <a:cs typeface="Times New Roman" panose="02020603050405020304" pitchFamily="18" charset="0"/>
              </a:rPr>
              <a:t>dẫn </a:t>
            </a:r>
            <a:r>
              <a:rPr lang="en-US" sz="3200" err="1">
                <a:latin typeface="Times New Roman" panose="02020603050405020304" pitchFamily="18" charset="0"/>
                <a:cs typeface="Times New Roman" panose="02020603050405020304" pitchFamily="18" charset="0"/>
              </a:rPr>
              <a:t>đến</a:t>
            </a:r>
            <a:r>
              <a:rPr lang="en-US" sz="3200">
                <a:latin typeface="Times New Roman" panose="02020603050405020304" pitchFamily="18" charset="0"/>
                <a:cs typeface="Times New Roman" panose="02020603050405020304" pitchFamily="18" charset="0"/>
              </a:rPr>
              <a:t> đ</a:t>
            </a:r>
            <a:r>
              <a:rPr lang="vi-VN" sz="3200">
                <a:latin typeface="Times New Roman" panose="02020603050405020304" pitchFamily="18" charset="0"/>
                <a:cs typeface="Times New Roman" panose="02020603050405020304" pitchFamily="18" charset="0"/>
              </a:rPr>
              <a:t>ư</a:t>
            </a:r>
            <a:r>
              <a:rPr lang="en-US" sz="3200" err="1">
                <a:latin typeface="Times New Roman" panose="02020603050405020304" pitchFamily="18" charset="0"/>
                <a:cs typeface="Times New Roman" panose="02020603050405020304" pitchFamily="18" charset="0"/>
              </a:rPr>
              <a:t>ờng</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dẫn</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và chọn tập tin để mở. Nội dung tập tin mở được hiển thị trong hộp soạn thảo </a:t>
            </a:r>
            <a:r>
              <a:rPr lang="en-US" sz="3200">
                <a:latin typeface="Times New Roman" panose="02020603050405020304" pitchFamily="18" charset="0"/>
                <a:cs typeface="Times New Roman" panose="02020603050405020304" pitchFamily="18" charset="0"/>
              </a:rPr>
              <a:t>v</a:t>
            </a:r>
            <a:r>
              <a:rPr lang="vi-VN" sz="3200">
                <a:latin typeface="Times New Roman" panose="02020603050405020304" pitchFamily="18" charset="0"/>
                <a:cs typeface="Times New Roman" panose="02020603050405020304" pitchFamily="18" charset="0"/>
              </a:rPr>
              <a:t>ăn bản. Người dùng thậm chí có thể cập nhật nội dung tập tin nếu muốn. </a:t>
            </a:r>
            <a:r>
              <a:rPr lang="en-US" sz="3200">
                <a:latin typeface="Times New Roman" panose="02020603050405020304" pitchFamily="18" charset="0"/>
                <a:cs typeface="Times New Roman" panose="02020603050405020304" pitchFamily="18" charset="0"/>
              </a:rPr>
              <a:t>K</a:t>
            </a:r>
            <a:r>
              <a:rPr lang="vi-VN" sz="3200">
                <a:latin typeface="Times New Roman" panose="02020603050405020304" pitchFamily="18" charset="0"/>
                <a:cs typeface="Times New Roman" panose="02020603050405020304" pitchFamily="18" charset="0"/>
              </a:rPr>
              <a:t>hi người dùng bấm </a:t>
            </a:r>
            <a:r>
              <a:rPr lang="en-US" sz="3200">
                <a:latin typeface="Times New Roman" panose="02020603050405020304" pitchFamily="18" charset="0"/>
                <a:cs typeface="Times New Roman" panose="02020603050405020304" pitchFamily="18" charset="0"/>
              </a:rPr>
              <a:t>save </a:t>
            </a:r>
            <a:r>
              <a:rPr lang="en-US" sz="3200" err="1">
                <a:latin typeface="Times New Roman" panose="02020603050405020304" pitchFamily="18" charset="0"/>
                <a:cs typeface="Times New Roman" panose="02020603050405020304" pitchFamily="18" charset="0"/>
              </a:rPr>
              <a:t>từ</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menu File, nội dung tập tin sẽ cập nhật. </a:t>
            </a:r>
            <a:endParaRPr lang="en-US" sz="3200">
              <a:latin typeface="Times New Roman" panose="02020603050405020304" pitchFamily="18" charset="0"/>
              <a:cs typeface="Times New Roman" panose="02020603050405020304" pitchFamily="18" charset="0"/>
            </a:endParaRPr>
          </a:p>
          <a:p>
            <a:pPr algn="just"/>
            <a:r>
              <a:rPr lang="en-US" sz="3200" err="1">
                <a:latin typeface="Times New Roman" panose="02020603050405020304" pitchFamily="18" charset="0"/>
                <a:cs typeface="Times New Roman" panose="02020603050405020304" pitchFamily="18" charset="0"/>
              </a:rPr>
              <a:t>Chúng</a:t>
            </a:r>
            <a:r>
              <a:rPr lang="en-US" sz="3200">
                <a:latin typeface="Times New Roman" panose="02020603050405020304" pitchFamily="18" charset="0"/>
                <a:cs typeface="Times New Roman" panose="02020603050405020304" pitchFamily="18" charset="0"/>
              </a:rPr>
              <a:t> ta </a:t>
            </a:r>
            <a:r>
              <a:rPr lang="en-US" sz="3200" err="1">
                <a:latin typeface="Times New Roman" panose="02020603050405020304" pitchFamily="18" charset="0"/>
                <a:cs typeface="Times New Roman" panose="02020603050405020304" pitchFamily="18" charset="0"/>
              </a:rPr>
              <a:t>sẽ</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sử</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dụng</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lớp</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QFileDialog</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nó</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cho</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phép</a:t>
            </a:r>
            <a:r>
              <a:rPr lang="en-US" sz="3200">
                <a:latin typeface="Times New Roman" panose="02020603050405020304" pitchFamily="18" charset="0"/>
                <a:cs typeface="Times New Roman" panose="02020603050405020304" pitchFamily="18" charset="0"/>
              </a:rPr>
              <a:t> ng</a:t>
            </a:r>
            <a:r>
              <a:rPr lang="vi-VN" sz="3200">
                <a:latin typeface="Times New Roman" panose="02020603050405020304" pitchFamily="18" charset="0"/>
                <a:cs typeface="Times New Roman" panose="02020603050405020304" pitchFamily="18" charset="0"/>
              </a:rPr>
              <a:t>ười</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dùng</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chọn</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tập</a:t>
            </a:r>
            <a:r>
              <a:rPr lang="en-US" sz="3200">
                <a:latin typeface="Times New Roman" panose="02020603050405020304" pitchFamily="18" charset="0"/>
                <a:cs typeface="Times New Roman" panose="02020603050405020304" pitchFamily="18" charset="0"/>
              </a:rPr>
              <a:t> tin </a:t>
            </a:r>
            <a:r>
              <a:rPr lang="en-US" sz="3200" err="1">
                <a:latin typeface="Times New Roman" panose="02020603050405020304" pitchFamily="18" charset="0"/>
                <a:cs typeface="Times New Roman" panose="02020603050405020304" pitchFamily="18" charset="0"/>
              </a:rPr>
              <a:t>hoặc</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th</a:t>
            </a:r>
            <a:r>
              <a:rPr lang="vi-VN" sz="3200">
                <a:latin typeface="Times New Roman" panose="02020603050405020304" pitchFamily="18" charset="0"/>
                <a:cs typeface="Times New Roman" panose="02020603050405020304" pitchFamily="18" charset="0"/>
              </a:rPr>
              <a:t>ư</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mục</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Tập</a:t>
            </a:r>
            <a:r>
              <a:rPr lang="en-US" sz="3200">
                <a:latin typeface="Times New Roman" panose="02020603050405020304" pitchFamily="18" charset="0"/>
                <a:cs typeface="Times New Roman" panose="02020603050405020304" pitchFamily="18" charset="0"/>
              </a:rPr>
              <a:t> tin đ</a:t>
            </a:r>
            <a:r>
              <a:rPr lang="vi-VN" sz="3200">
                <a:latin typeface="Times New Roman" panose="02020603050405020304" pitchFamily="18" charset="0"/>
                <a:cs typeface="Times New Roman" panose="02020603050405020304" pitchFamily="18" charset="0"/>
              </a:rPr>
              <a:t>ượ</a:t>
            </a:r>
            <a:r>
              <a:rPr lang="en-US" sz="3200">
                <a:latin typeface="Times New Roman" panose="02020603050405020304" pitchFamily="18" charset="0"/>
                <a:cs typeface="Times New Roman" panose="02020603050405020304" pitchFamily="18" charset="0"/>
              </a:rPr>
              <a:t>c </a:t>
            </a:r>
            <a:r>
              <a:rPr lang="en-US" sz="3200" err="1">
                <a:latin typeface="Times New Roman" panose="02020603050405020304" pitchFamily="18" charset="0"/>
                <a:cs typeface="Times New Roman" panose="02020603050405020304" pitchFamily="18" charset="0"/>
              </a:rPr>
              <a:t>chọn</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lựa</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cho</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cả</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mở</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và</a:t>
            </a:r>
            <a:r>
              <a:rPr lang="en-US" sz="3200">
                <a:latin typeface="Times New Roman" panose="02020603050405020304" pitchFamily="18" charset="0"/>
                <a:cs typeface="Times New Roman" panose="02020603050405020304" pitchFamily="18" charset="0"/>
              </a:rPr>
              <a:t> l</a:t>
            </a:r>
            <a:r>
              <a:rPr lang="vi-VN" sz="3200">
                <a:latin typeface="Times New Roman" panose="02020603050405020304" pitchFamily="18" charset="0"/>
                <a:cs typeface="Times New Roman" panose="02020603050405020304" pitchFamily="18" charset="0"/>
              </a:rPr>
              <a:t>ưu</a:t>
            </a:r>
            <a:r>
              <a:rPr lang="en-US" sz="320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3737972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659E0-DB62-4032-AB9E-8BBA22421560}"/>
              </a:ext>
            </a:extLst>
          </p:cNvPr>
          <p:cNvSpPr>
            <a:spLocks noGrp="1"/>
          </p:cNvSpPr>
          <p:nvPr>
            <p:ph type="title"/>
          </p:nvPr>
        </p:nvSpPr>
        <p:spPr/>
        <p:txBody>
          <a:bodyPr/>
          <a:lstStyle/>
          <a:p>
            <a:r>
              <a:rPr lang="en-US" b="1" err="1">
                <a:latin typeface="Times New Roman" panose="02020603050405020304" pitchFamily="18" charset="0"/>
                <a:cs typeface="Times New Roman" panose="02020603050405020304" pitchFamily="18" charset="0"/>
              </a:rPr>
              <a:t>Sử</a:t>
            </a:r>
            <a:r>
              <a:rPr lang="en-US" b="1">
                <a:latin typeface="Times New Roman" panose="02020603050405020304" pitchFamily="18" charset="0"/>
                <a:cs typeface="Times New Roman" panose="02020603050405020304" pitchFamily="18" charset="0"/>
              </a:rPr>
              <a:t> </a:t>
            </a:r>
            <a:r>
              <a:rPr lang="en-US" b="1" err="1">
                <a:latin typeface="Times New Roman" panose="02020603050405020304" pitchFamily="18" charset="0"/>
                <a:cs typeface="Times New Roman" panose="02020603050405020304" pitchFamily="18" charset="0"/>
              </a:rPr>
              <a:t>Dụng</a:t>
            </a:r>
            <a:r>
              <a:rPr lang="en-US" b="1">
                <a:latin typeface="Times New Roman" panose="02020603050405020304" pitchFamily="18" charset="0"/>
                <a:cs typeface="Times New Roman" panose="02020603050405020304" pitchFamily="18" charset="0"/>
              </a:rPr>
              <a:t> File </a:t>
            </a:r>
            <a:r>
              <a:rPr lang="en-US" b="1" err="1">
                <a:latin typeface="Times New Roman" panose="02020603050405020304" pitchFamily="18" charset="0"/>
                <a:cs typeface="Times New Roman" panose="02020603050405020304" pitchFamily="18" charset="0"/>
              </a:rPr>
              <a:t>Hộp</a:t>
            </a:r>
            <a:r>
              <a:rPr lang="en-US" b="1">
                <a:latin typeface="Times New Roman" panose="02020603050405020304" pitchFamily="18" charset="0"/>
                <a:cs typeface="Times New Roman" panose="02020603050405020304" pitchFamily="18" charset="0"/>
              </a:rPr>
              <a:t> </a:t>
            </a:r>
            <a:r>
              <a:rPr lang="en-US" b="1" err="1">
                <a:latin typeface="Times New Roman" panose="02020603050405020304" pitchFamily="18" charset="0"/>
                <a:cs typeface="Times New Roman" panose="02020603050405020304" pitchFamily="18" charset="0"/>
              </a:rPr>
              <a:t>Thoại</a:t>
            </a:r>
            <a:endParaRPr lang="en-US" b="1">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53DBDF6-DF73-41BF-8FA0-79FD03DAC7D8}"/>
              </a:ext>
            </a:extLst>
          </p:cNvPr>
          <p:cNvSpPr>
            <a:spLocks noGrp="1"/>
          </p:cNvSpPr>
          <p:nvPr>
            <p:ph idx="1"/>
          </p:nvPr>
        </p:nvSpPr>
        <p:spPr/>
        <p:txBody>
          <a:bodyPr>
            <a:normAutofit/>
          </a:bodyPr>
          <a:lstStyle/>
          <a:p>
            <a:pPr algn="just"/>
            <a:r>
              <a:rPr lang="en-US" sz="3200">
                <a:latin typeface="Times New Roman" panose="02020603050405020304" pitchFamily="18" charset="0"/>
                <a:cs typeface="Times New Roman" panose="02020603050405020304" pitchFamily="18" charset="0"/>
              </a:rPr>
              <a:t>Hai </a:t>
            </a:r>
            <a:r>
              <a:rPr lang="en-US" sz="3200" err="1">
                <a:latin typeface="Times New Roman" panose="02020603050405020304" pitchFamily="18" charset="0"/>
                <a:cs typeface="Times New Roman" panose="02020603050405020304" pitchFamily="18" charset="0"/>
              </a:rPr>
              <a:t>ph</a:t>
            </a:r>
            <a:r>
              <a:rPr lang="vi-VN" sz="3200">
                <a:latin typeface="Times New Roman" panose="02020603050405020304" pitchFamily="18" charset="0"/>
                <a:cs typeface="Times New Roman" panose="02020603050405020304" pitchFamily="18" charset="0"/>
              </a:rPr>
              <a:t>ươ</a:t>
            </a:r>
            <a:r>
              <a:rPr lang="en-US" sz="3200">
                <a:latin typeface="Times New Roman" panose="02020603050405020304" pitchFamily="18" charset="0"/>
                <a:cs typeface="Times New Roman" panose="02020603050405020304" pitchFamily="18" charset="0"/>
              </a:rPr>
              <a:t>ng </a:t>
            </a:r>
            <a:r>
              <a:rPr lang="en-US" sz="3200" err="1">
                <a:latin typeface="Times New Roman" panose="02020603050405020304" pitchFamily="18" charset="0"/>
                <a:cs typeface="Times New Roman" panose="02020603050405020304" pitchFamily="18" charset="0"/>
              </a:rPr>
              <a:t>thức</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của</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lớp</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QFileDialog</a:t>
            </a:r>
            <a:r>
              <a:rPr lang="en-US" sz="3200">
                <a:latin typeface="Times New Roman" panose="02020603050405020304" pitchFamily="18" charset="0"/>
                <a:cs typeface="Times New Roman" panose="02020603050405020304" pitchFamily="18" charset="0"/>
              </a:rPr>
              <a:t>:</a:t>
            </a:r>
          </a:p>
          <a:p>
            <a:pPr marL="620713" algn="just">
              <a:buFont typeface="Wingdings" panose="05000000000000000000" pitchFamily="2" charset="2"/>
              <a:buChar char="Ø"/>
            </a:pPr>
            <a:r>
              <a:rPr lang="vi-VN" sz="3200" b="1">
                <a:latin typeface="Times New Roman" panose="02020603050405020304" pitchFamily="18" charset="0"/>
                <a:cs typeface="Times New Roman" panose="02020603050405020304" pitchFamily="18" charset="0"/>
              </a:rPr>
              <a:t>getOpenFileName( ) </a:t>
            </a:r>
            <a:r>
              <a:rPr lang="vi-VN" sz="3200">
                <a:latin typeface="Times New Roman" panose="02020603050405020304" pitchFamily="18" charset="0"/>
                <a:cs typeface="Times New Roman" panose="02020603050405020304" pitchFamily="18" charset="0"/>
              </a:rPr>
              <a:t>: phương </a:t>
            </a:r>
            <a:r>
              <a:rPr lang="en-US" sz="3200" err="1">
                <a:latin typeface="Times New Roman" panose="02020603050405020304" pitchFamily="18" charset="0"/>
                <a:cs typeface="Times New Roman" panose="02020603050405020304" pitchFamily="18" charset="0"/>
              </a:rPr>
              <a:t>th</a:t>
            </a:r>
            <a:r>
              <a:rPr lang="vi-VN" sz="3200">
                <a:latin typeface="Times New Roman" panose="02020603050405020304" pitchFamily="18" charset="0"/>
                <a:cs typeface="Times New Roman" panose="02020603050405020304" pitchFamily="18" charset="0"/>
              </a:rPr>
              <a:t>ứ</a:t>
            </a:r>
            <a:r>
              <a:rPr lang="en-US" sz="3200">
                <a:latin typeface="Times New Roman" panose="02020603050405020304" pitchFamily="18" charset="0"/>
                <a:cs typeface="Times New Roman" panose="02020603050405020304" pitchFamily="18" charset="0"/>
              </a:rPr>
              <a:t>c</a:t>
            </a:r>
            <a:r>
              <a:rPr lang="vi-VN" sz="3200">
                <a:latin typeface="Times New Roman" panose="02020603050405020304" pitchFamily="18" charset="0"/>
                <a:cs typeface="Times New Roman" panose="02020603050405020304" pitchFamily="18" charset="0"/>
              </a:rPr>
              <a:t> này mở hộp thoại tập tin, </a:t>
            </a:r>
            <a:r>
              <a:rPr lang="en-US" sz="3200" err="1">
                <a:latin typeface="Times New Roman" panose="02020603050405020304" pitchFamily="18" charset="0"/>
                <a:cs typeface="Times New Roman" panose="02020603050405020304" pitchFamily="18" charset="0"/>
              </a:rPr>
              <a:t>cho</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phép</a:t>
            </a:r>
            <a:r>
              <a:rPr lang="en-US" sz="3200">
                <a:latin typeface="Times New Roman" panose="02020603050405020304" pitchFamily="18" charset="0"/>
                <a:cs typeface="Times New Roman" panose="02020603050405020304" pitchFamily="18" charset="0"/>
              </a:rPr>
              <a:t> ng</a:t>
            </a:r>
            <a:r>
              <a:rPr lang="vi-VN" sz="3200">
                <a:latin typeface="Times New Roman" panose="02020603050405020304" pitchFamily="18" charset="0"/>
                <a:cs typeface="Times New Roman" panose="02020603050405020304" pitchFamily="18" charset="0"/>
              </a:rPr>
              <a:t>ườ</a:t>
            </a:r>
            <a:r>
              <a:rPr lang="en-US" sz="3200" err="1">
                <a:latin typeface="Times New Roman" panose="02020603050405020304" pitchFamily="18" charset="0"/>
                <a:cs typeface="Times New Roman" panose="02020603050405020304" pitchFamily="18" charset="0"/>
              </a:rPr>
              <a:t>i</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dùng</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dẫn</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nhanh</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đến</a:t>
            </a:r>
            <a:r>
              <a:rPr lang="en-US" sz="3200">
                <a:latin typeface="Times New Roman" panose="02020603050405020304" pitchFamily="18" charset="0"/>
                <a:cs typeface="Times New Roman" panose="02020603050405020304" pitchFamily="18" charset="0"/>
              </a:rPr>
              <a:t> đ</a:t>
            </a:r>
            <a:r>
              <a:rPr lang="vi-VN" sz="3200">
                <a:latin typeface="Times New Roman" panose="02020603050405020304" pitchFamily="18" charset="0"/>
                <a:cs typeface="Times New Roman" panose="02020603050405020304" pitchFamily="18" charset="0"/>
              </a:rPr>
              <a:t>ường</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dẫn</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và mở tập tin </a:t>
            </a:r>
            <a:r>
              <a:rPr lang="en-US" sz="3200" err="1">
                <a:latin typeface="Times New Roman" panose="02020603050405020304" pitchFamily="18" charset="0"/>
                <a:cs typeface="Times New Roman" panose="02020603050405020304" pitchFamily="18" charset="0"/>
              </a:rPr>
              <a:t>mong</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muốn. Cú</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pháp của getOpenFileName( ) như sau :</a:t>
            </a:r>
            <a:r>
              <a:rPr lang="en-US" sz="3200">
                <a:latin typeface="Times New Roman" panose="02020603050405020304" pitchFamily="18" charset="0"/>
                <a:cs typeface="Times New Roman" panose="02020603050405020304" pitchFamily="18" charset="0"/>
              </a:rPr>
              <a:t> </a:t>
            </a:r>
          </a:p>
          <a:p>
            <a:pPr marL="620713" indent="0" algn="just">
              <a:buNone/>
            </a:pPr>
            <a:r>
              <a:rPr lang="en-US" sz="3200" i="1" err="1">
                <a:latin typeface="Times New Roman" panose="02020603050405020304" pitchFamily="18" charset="0"/>
                <a:cs typeface="Times New Roman" panose="02020603050405020304" pitchFamily="18" charset="0"/>
              </a:rPr>
              <a:t>file_name</a:t>
            </a:r>
            <a:r>
              <a:rPr lang="en-US" sz="3200" i="1">
                <a:latin typeface="Times New Roman" panose="02020603050405020304" pitchFamily="18" charset="0"/>
                <a:cs typeface="Times New Roman" panose="02020603050405020304" pitchFamily="18" charset="0"/>
              </a:rPr>
              <a:t> = </a:t>
            </a:r>
            <a:r>
              <a:rPr lang="en-US" sz="3200" i="1" err="1">
                <a:latin typeface="Times New Roman" panose="02020603050405020304" pitchFamily="18" charset="0"/>
                <a:cs typeface="Times New Roman" panose="02020603050405020304" pitchFamily="18" charset="0"/>
              </a:rPr>
              <a:t>QFileDialog.getOpenFileName</a:t>
            </a:r>
            <a:r>
              <a:rPr lang="en-US" sz="3200" i="1">
                <a:latin typeface="Times New Roman" panose="02020603050405020304" pitchFamily="18" charset="0"/>
                <a:cs typeface="Times New Roman" panose="02020603050405020304" pitchFamily="18" charset="0"/>
              </a:rPr>
              <a:t>(self, </a:t>
            </a:r>
            <a:r>
              <a:rPr lang="en-US" sz="3200" i="1" err="1">
                <a:latin typeface="Times New Roman" panose="02020603050405020304" pitchFamily="18" charset="0"/>
                <a:cs typeface="Times New Roman" panose="02020603050405020304" pitchFamily="18" charset="0"/>
              </a:rPr>
              <a:t>dialog_title</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path,filter</a:t>
            </a:r>
            <a:r>
              <a:rPr lang="en-US" sz="3200" i="1">
                <a:latin typeface="Times New Roman" panose="02020603050405020304" pitchFamily="18" charset="0"/>
                <a:cs typeface="Times New Roman" panose="02020603050405020304" pitchFamily="18" charset="0"/>
              </a:rPr>
              <a:t>)</a:t>
            </a:r>
          </a:p>
          <a:p>
            <a:pPr marL="620713" indent="0" algn="just">
              <a:buNone/>
            </a:pPr>
            <a:r>
              <a:rPr lang="en-US" sz="3200" i="1">
                <a:latin typeface="Times New Roman" panose="02020603050405020304" pitchFamily="18" charset="0"/>
                <a:cs typeface="Times New Roman" panose="02020603050405020304" pitchFamily="18" charset="0"/>
              </a:rPr>
              <a:t>Filter </a:t>
            </a:r>
            <a:r>
              <a:rPr lang="vi-VN" sz="3200" i="1">
                <a:latin typeface="Times New Roman" panose="02020603050405020304" pitchFamily="18" charset="0"/>
                <a:cs typeface="Times New Roman" panose="02020603050405020304" pitchFamily="18" charset="0"/>
              </a:rPr>
              <a:t>đại diện cho phần mở rộng tên tập tin ; nó xác định loại tập tin hiển thị để mở, ví dụ như sau</a:t>
            </a:r>
            <a:r>
              <a:rPr lang="en-US" sz="3200" i="1">
                <a:latin typeface="Times New Roman" panose="02020603050405020304" pitchFamily="18" charset="0"/>
                <a:cs typeface="Times New Roman" panose="02020603050405020304" pitchFamily="18" charset="0"/>
              </a:rPr>
              <a:t>:</a:t>
            </a:r>
          </a:p>
          <a:p>
            <a:pPr marL="620713" indent="0" algn="just">
              <a:buNone/>
            </a:pPr>
            <a:r>
              <a:rPr lang="en-US" sz="3200" i="1" err="1">
                <a:latin typeface="Times New Roman" panose="02020603050405020304" pitchFamily="18" charset="0"/>
                <a:cs typeface="Times New Roman" panose="02020603050405020304" pitchFamily="18" charset="0"/>
              </a:rPr>
              <a:t>file_name</a:t>
            </a:r>
            <a:r>
              <a:rPr lang="en-US" sz="3200" i="1">
                <a:latin typeface="Times New Roman" panose="02020603050405020304" pitchFamily="18" charset="0"/>
                <a:cs typeface="Times New Roman" panose="02020603050405020304" pitchFamily="18" charset="0"/>
              </a:rPr>
              <a:t> = </a:t>
            </a:r>
            <a:r>
              <a:rPr lang="en-US" sz="3200" i="1" err="1">
                <a:latin typeface="Times New Roman" panose="02020603050405020304" pitchFamily="18" charset="0"/>
                <a:cs typeface="Times New Roman" panose="02020603050405020304" pitchFamily="18" charset="0"/>
              </a:rPr>
              <a:t>QFileDialog.getOpenFileName</a:t>
            </a:r>
            <a:r>
              <a:rPr lang="en-US" sz="3200" i="1">
                <a:latin typeface="Times New Roman" panose="02020603050405020304" pitchFamily="18" charset="0"/>
                <a:cs typeface="Times New Roman" panose="02020603050405020304" pitchFamily="18" charset="0"/>
              </a:rPr>
              <a:t>(self, 'Open file', '/home')</a:t>
            </a:r>
          </a:p>
        </p:txBody>
      </p:sp>
    </p:spTree>
    <p:extLst>
      <p:ext uri="{BB962C8B-B14F-4D97-AF65-F5344CB8AC3E}">
        <p14:creationId xmlns:p14="http://schemas.microsoft.com/office/powerpoint/2010/main" val="26760813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659E0-DB62-4032-AB9E-8BBA22421560}"/>
              </a:ext>
            </a:extLst>
          </p:cNvPr>
          <p:cNvSpPr>
            <a:spLocks noGrp="1"/>
          </p:cNvSpPr>
          <p:nvPr>
            <p:ph type="title"/>
          </p:nvPr>
        </p:nvSpPr>
        <p:spPr/>
        <p:txBody>
          <a:bodyPr/>
          <a:lstStyle/>
          <a:p>
            <a:r>
              <a:rPr lang="en-US" b="1" err="1">
                <a:latin typeface="Times New Roman" panose="02020603050405020304" pitchFamily="18" charset="0"/>
                <a:cs typeface="Times New Roman" panose="02020603050405020304" pitchFamily="18" charset="0"/>
              </a:rPr>
              <a:t>Sử</a:t>
            </a:r>
            <a:r>
              <a:rPr lang="en-US" b="1">
                <a:latin typeface="Times New Roman" panose="02020603050405020304" pitchFamily="18" charset="0"/>
                <a:cs typeface="Times New Roman" panose="02020603050405020304" pitchFamily="18" charset="0"/>
              </a:rPr>
              <a:t> </a:t>
            </a:r>
            <a:r>
              <a:rPr lang="en-US" b="1" err="1">
                <a:latin typeface="Times New Roman" panose="02020603050405020304" pitchFamily="18" charset="0"/>
                <a:cs typeface="Times New Roman" panose="02020603050405020304" pitchFamily="18" charset="0"/>
              </a:rPr>
              <a:t>Dụng</a:t>
            </a:r>
            <a:r>
              <a:rPr lang="en-US" b="1">
                <a:latin typeface="Times New Roman" panose="02020603050405020304" pitchFamily="18" charset="0"/>
                <a:cs typeface="Times New Roman" panose="02020603050405020304" pitchFamily="18" charset="0"/>
              </a:rPr>
              <a:t> File </a:t>
            </a:r>
            <a:r>
              <a:rPr lang="en-US" b="1" err="1">
                <a:latin typeface="Times New Roman" panose="02020603050405020304" pitchFamily="18" charset="0"/>
                <a:cs typeface="Times New Roman" panose="02020603050405020304" pitchFamily="18" charset="0"/>
              </a:rPr>
              <a:t>Hộp</a:t>
            </a:r>
            <a:r>
              <a:rPr lang="en-US" b="1">
                <a:latin typeface="Times New Roman" panose="02020603050405020304" pitchFamily="18" charset="0"/>
                <a:cs typeface="Times New Roman" panose="02020603050405020304" pitchFamily="18" charset="0"/>
              </a:rPr>
              <a:t> </a:t>
            </a:r>
            <a:r>
              <a:rPr lang="en-US" b="1" err="1">
                <a:latin typeface="Times New Roman" panose="02020603050405020304" pitchFamily="18" charset="0"/>
                <a:cs typeface="Times New Roman" panose="02020603050405020304" pitchFamily="18" charset="0"/>
              </a:rPr>
              <a:t>Thoại</a:t>
            </a:r>
            <a:endParaRPr lang="en-US" b="1">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53DBDF6-DF73-41BF-8FA0-79FD03DAC7D8}"/>
              </a:ext>
            </a:extLst>
          </p:cNvPr>
          <p:cNvSpPr>
            <a:spLocks noGrp="1"/>
          </p:cNvSpPr>
          <p:nvPr>
            <p:ph idx="1"/>
          </p:nvPr>
        </p:nvSpPr>
        <p:spPr/>
        <p:txBody>
          <a:bodyPr>
            <a:normAutofit/>
          </a:bodyPr>
          <a:lstStyle/>
          <a:p>
            <a:pPr marL="620713" indent="0" algn="just">
              <a:buNone/>
            </a:pPr>
            <a:r>
              <a:rPr lang="vi-VN" sz="3200" i="1">
                <a:latin typeface="Times New Roman" panose="02020603050405020304" pitchFamily="18" charset="0"/>
                <a:cs typeface="Times New Roman" panose="02020603050405020304" pitchFamily="18" charset="0"/>
              </a:rPr>
              <a:t>file_name = QFileDialog.getOpenFileName(self, 'Open file', '/home’,</a:t>
            </a:r>
            <a:r>
              <a:rPr lang="en-US" sz="3200" i="1">
                <a:latin typeface="Times New Roman" panose="02020603050405020304" pitchFamily="18" charset="0"/>
                <a:cs typeface="Times New Roman" panose="02020603050405020304" pitchFamily="18" charset="0"/>
              </a:rPr>
              <a:t> </a:t>
            </a:r>
            <a:r>
              <a:rPr lang="vi-VN" sz="3200" i="1">
                <a:latin typeface="Times New Roman" panose="02020603050405020304" pitchFamily="18" charset="0"/>
                <a:cs typeface="Times New Roman" panose="02020603050405020304" pitchFamily="18" charset="0"/>
              </a:rPr>
              <a:t>"Images (*.png *.jpg);;Text files (.txt);;XML files (*.xml)")</a:t>
            </a:r>
            <a:endParaRPr lang="en-US" sz="3200" i="1">
              <a:latin typeface="Times New Roman" panose="02020603050405020304" pitchFamily="18" charset="0"/>
              <a:cs typeface="Times New Roman" panose="02020603050405020304" pitchFamily="18" charset="0"/>
            </a:endParaRPr>
          </a:p>
          <a:p>
            <a:pPr marL="620713" algn="just">
              <a:buFont typeface="Wingdings" panose="05000000000000000000" pitchFamily="2" charset="2"/>
              <a:buChar char="Ø"/>
            </a:pPr>
            <a:r>
              <a:rPr lang="vi-VN" sz="3200" b="1">
                <a:latin typeface="Times New Roman" panose="02020603050405020304" pitchFamily="18" charset="0"/>
                <a:cs typeface="Times New Roman" panose="02020603050405020304" pitchFamily="18" charset="0"/>
              </a:rPr>
              <a:t>getSaveFileName ( ) </a:t>
            </a:r>
            <a:r>
              <a:rPr lang="vi-VN" sz="3200">
                <a:latin typeface="Times New Roman" panose="02020603050405020304" pitchFamily="18" charset="0"/>
                <a:cs typeface="Times New Roman" panose="02020603050405020304" pitchFamily="18" charset="0"/>
              </a:rPr>
              <a:t>: phương </a:t>
            </a:r>
            <a:r>
              <a:rPr lang="en-US" sz="3200" err="1">
                <a:latin typeface="Times New Roman" panose="02020603050405020304" pitchFamily="18" charset="0"/>
                <a:cs typeface="Times New Roman" panose="02020603050405020304" pitchFamily="18" charset="0"/>
              </a:rPr>
              <a:t>th</a:t>
            </a:r>
            <a:r>
              <a:rPr lang="vi-VN" sz="3200">
                <a:latin typeface="Times New Roman" panose="02020603050405020304" pitchFamily="18" charset="0"/>
                <a:cs typeface="Times New Roman" panose="02020603050405020304" pitchFamily="18" charset="0"/>
              </a:rPr>
              <a:t>ứ</a:t>
            </a:r>
            <a:r>
              <a:rPr lang="en-US" sz="3200">
                <a:latin typeface="Times New Roman" panose="02020603050405020304" pitchFamily="18" charset="0"/>
                <a:cs typeface="Times New Roman" panose="02020603050405020304" pitchFamily="18" charset="0"/>
              </a:rPr>
              <a:t>c</a:t>
            </a:r>
            <a:r>
              <a:rPr lang="vi-VN" sz="3200">
                <a:latin typeface="Times New Roman" panose="02020603050405020304" pitchFamily="18" charset="0"/>
                <a:cs typeface="Times New Roman" panose="02020603050405020304" pitchFamily="18" charset="0"/>
              </a:rPr>
              <a:t> này mở hộp thoại lưu tập tin, cho người dùng lưu tập tin với tên</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và</a:t>
            </a:r>
            <a:r>
              <a:rPr lang="en-US" sz="3200">
                <a:latin typeface="Times New Roman" panose="02020603050405020304" pitchFamily="18" charset="0"/>
                <a:cs typeface="Times New Roman" panose="02020603050405020304" pitchFamily="18" charset="0"/>
              </a:rPr>
              <a:t>o</a:t>
            </a:r>
            <a:r>
              <a:rPr lang="vi-VN" sz="3200">
                <a:latin typeface="Times New Roman" panose="02020603050405020304" pitchFamily="18" charset="0"/>
                <a:cs typeface="Times New Roman" panose="02020603050405020304" pitchFamily="18" charset="0"/>
              </a:rPr>
              <a:t> thư mục</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mong</a:t>
            </a:r>
            <a:r>
              <a:rPr lang="vi-VN" sz="3200">
                <a:latin typeface="Times New Roman" panose="02020603050405020304" pitchFamily="18" charset="0"/>
                <a:cs typeface="Times New Roman" panose="02020603050405020304" pitchFamily="18" charset="0"/>
              </a:rPr>
              <a:t> muốn. Cú pháp của getSaveFileName( ) như sau :</a:t>
            </a:r>
            <a:endParaRPr lang="en-US" sz="3200">
              <a:latin typeface="Times New Roman" panose="02020603050405020304" pitchFamily="18" charset="0"/>
              <a:cs typeface="Times New Roman" panose="02020603050405020304" pitchFamily="18" charset="0"/>
            </a:endParaRPr>
          </a:p>
          <a:p>
            <a:pPr marL="569913" indent="0" algn="just">
              <a:buNone/>
            </a:pPr>
            <a:r>
              <a:rPr lang="en-US" sz="3200" i="1" err="1">
                <a:latin typeface="Times New Roman" panose="02020603050405020304" pitchFamily="18" charset="0"/>
                <a:cs typeface="Times New Roman" panose="02020603050405020304" pitchFamily="18" charset="0"/>
              </a:rPr>
              <a:t>file_name</a:t>
            </a:r>
            <a:r>
              <a:rPr lang="en-US" sz="3200" i="1">
                <a:latin typeface="Times New Roman" panose="02020603050405020304" pitchFamily="18" charset="0"/>
                <a:cs typeface="Times New Roman" panose="02020603050405020304" pitchFamily="18" charset="0"/>
              </a:rPr>
              <a:t> = </a:t>
            </a:r>
            <a:r>
              <a:rPr lang="en-US" sz="3200" i="1" err="1">
                <a:latin typeface="Times New Roman" panose="02020603050405020304" pitchFamily="18" charset="0"/>
                <a:cs typeface="Times New Roman" panose="02020603050405020304" pitchFamily="18" charset="0"/>
              </a:rPr>
              <a:t>QFileDialog.getSaveFileName</a:t>
            </a:r>
            <a:r>
              <a:rPr lang="en-US" sz="3200" i="1">
                <a:latin typeface="Times New Roman" panose="02020603050405020304" pitchFamily="18" charset="0"/>
                <a:cs typeface="Times New Roman" panose="02020603050405020304" pitchFamily="18" charset="0"/>
              </a:rPr>
              <a:t>(self, </a:t>
            </a:r>
            <a:r>
              <a:rPr lang="en-US" sz="3200" i="1" err="1">
                <a:latin typeface="Times New Roman" panose="02020603050405020304" pitchFamily="18" charset="0"/>
                <a:cs typeface="Times New Roman" panose="02020603050405020304" pitchFamily="18" charset="0"/>
              </a:rPr>
              <a:t>dialog_title</a:t>
            </a:r>
            <a:r>
              <a:rPr lang="en-US" sz="3200" i="1">
                <a:latin typeface="Times New Roman" panose="02020603050405020304" pitchFamily="18" charset="0"/>
                <a:cs typeface="Times New Roman" panose="02020603050405020304" pitchFamily="18" charset="0"/>
              </a:rPr>
              <a:t>, path, filter, options)</a:t>
            </a:r>
          </a:p>
          <a:p>
            <a:pPr marL="569913" indent="0" algn="just">
              <a:buNone/>
            </a:pPr>
            <a:r>
              <a:rPr lang="en-US" sz="3200" b="1" i="1">
                <a:latin typeface="Times New Roman" panose="02020603050405020304" pitchFamily="18" charset="0"/>
                <a:cs typeface="Times New Roman" panose="02020603050405020304" pitchFamily="18" charset="0"/>
              </a:rPr>
              <a:t>options</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đại</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diện</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cho</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tùy</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chọn</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khác</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nhau</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cho</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cách</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chạy</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hộp</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thoại</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chẳng</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hạn</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nhìn</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vào</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mã</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sau</a:t>
            </a:r>
            <a:r>
              <a:rPr lang="en-US" sz="3200" i="1">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1144656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659E0-DB62-4032-AB9E-8BBA22421560}"/>
              </a:ext>
            </a:extLst>
          </p:cNvPr>
          <p:cNvSpPr>
            <a:spLocks noGrp="1"/>
          </p:cNvSpPr>
          <p:nvPr>
            <p:ph type="title"/>
          </p:nvPr>
        </p:nvSpPr>
        <p:spPr/>
        <p:txBody>
          <a:bodyPr/>
          <a:lstStyle/>
          <a:p>
            <a:r>
              <a:rPr lang="en-US" b="1" err="1">
                <a:latin typeface="Times New Roman" panose="02020603050405020304" pitchFamily="18" charset="0"/>
                <a:cs typeface="Times New Roman" panose="02020603050405020304" pitchFamily="18" charset="0"/>
              </a:rPr>
              <a:t>Sử</a:t>
            </a:r>
            <a:r>
              <a:rPr lang="en-US" b="1">
                <a:latin typeface="Times New Roman" panose="02020603050405020304" pitchFamily="18" charset="0"/>
                <a:cs typeface="Times New Roman" panose="02020603050405020304" pitchFamily="18" charset="0"/>
              </a:rPr>
              <a:t> </a:t>
            </a:r>
            <a:r>
              <a:rPr lang="en-US" b="1" err="1">
                <a:latin typeface="Times New Roman" panose="02020603050405020304" pitchFamily="18" charset="0"/>
                <a:cs typeface="Times New Roman" panose="02020603050405020304" pitchFamily="18" charset="0"/>
              </a:rPr>
              <a:t>Dụng</a:t>
            </a:r>
            <a:r>
              <a:rPr lang="en-US" b="1">
                <a:latin typeface="Times New Roman" panose="02020603050405020304" pitchFamily="18" charset="0"/>
                <a:cs typeface="Times New Roman" panose="02020603050405020304" pitchFamily="18" charset="0"/>
              </a:rPr>
              <a:t> File </a:t>
            </a:r>
            <a:r>
              <a:rPr lang="en-US" b="1" err="1">
                <a:latin typeface="Times New Roman" panose="02020603050405020304" pitchFamily="18" charset="0"/>
                <a:cs typeface="Times New Roman" panose="02020603050405020304" pitchFamily="18" charset="0"/>
              </a:rPr>
              <a:t>Hộp</a:t>
            </a:r>
            <a:r>
              <a:rPr lang="en-US" b="1">
                <a:latin typeface="Times New Roman" panose="02020603050405020304" pitchFamily="18" charset="0"/>
                <a:cs typeface="Times New Roman" panose="02020603050405020304" pitchFamily="18" charset="0"/>
              </a:rPr>
              <a:t> </a:t>
            </a:r>
            <a:r>
              <a:rPr lang="en-US" b="1" err="1">
                <a:latin typeface="Times New Roman" panose="02020603050405020304" pitchFamily="18" charset="0"/>
                <a:cs typeface="Times New Roman" panose="02020603050405020304" pitchFamily="18" charset="0"/>
              </a:rPr>
              <a:t>Thoại</a:t>
            </a:r>
            <a:endParaRPr lang="en-US" b="1">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53DBDF6-DF73-41BF-8FA0-79FD03DAC7D8}"/>
              </a:ext>
            </a:extLst>
          </p:cNvPr>
          <p:cNvSpPr>
            <a:spLocks noGrp="1"/>
          </p:cNvSpPr>
          <p:nvPr>
            <p:ph idx="1"/>
          </p:nvPr>
        </p:nvSpPr>
        <p:spPr/>
        <p:txBody>
          <a:bodyPr>
            <a:normAutofit/>
          </a:bodyPr>
          <a:lstStyle/>
          <a:p>
            <a:pPr marL="620713" indent="0" algn="just">
              <a:buNone/>
            </a:pPr>
            <a:r>
              <a:rPr lang="vi-VN" sz="3200" i="1">
                <a:latin typeface="Times New Roman" panose="02020603050405020304" pitchFamily="18" charset="0"/>
                <a:cs typeface="Times New Roman" panose="02020603050405020304" pitchFamily="18" charset="0"/>
              </a:rPr>
              <a:t>file_name, _ =</a:t>
            </a:r>
          </a:p>
          <a:p>
            <a:pPr marL="620713" indent="0" algn="just">
              <a:buNone/>
            </a:pPr>
            <a:r>
              <a:rPr lang="vi-VN" sz="3200" i="1">
                <a:latin typeface="Times New Roman" panose="02020603050405020304" pitchFamily="18" charset="0"/>
                <a:cs typeface="Times New Roman" panose="02020603050405020304" pitchFamily="18" charset="0"/>
              </a:rPr>
              <a:t>QFileDialog.getSaveFileName(self,"QFileDialog.getSaveFileName()","","All Files (*);;Text Files (*.txt)", options=options)</a:t>
            </a:r>
            <a:endParaRPr lang="vi-VN" sz="3200">
              <a:latin typeface="Times New Roman" panose="02020603050405020304" pitchFamily="18" charset="0"/>
              <a:cs typeface="Times New Roman" panose="02020603050405020304" pitchFamily="18" charset="0"/>
            </a:endParaRPr>
          </a:p>
          <a:p>
            <a:pPr marL="620713" indent="0" algn="just">
              <a:buNone/>
            </a:pPr>
            <a:r>
              <a:rPr lang="en-US" sz="3200">
                <a:latin typeface="Times New Roman" panose="02020603050405020304" pitchFamily="18" charset="0"/>
                <a:cs typeface="Times New Roman" panose="02020603050405020304" pitchFamily="18" charset="0"/>
              </a:rPr>
              <a:t>V</a:t>
            </a:r>
            <a:r>
              <a:rPr lang="vi-VN" sz="3200">
                <a:latin typeface="Times New Roman" panose="02020603050405020304" pitchFamily="18" charset="0"/>
                <a:cs typeface="Times New Roman" panose="02020603050405020304" pitchFamily="18" charset="0"/>
              </a:rPr>
              <a:t>í dụ </a:t>
            </a:r>
            <a:r>
              <a:rPr lang="en-US" sz="3200" err="1">
                <a:latin typeface="Times New Roman" panose="02020603050405020304" pitchFamily="18" charset="0"/>
                <a:cs typeface="Times New Roman" panose="02020603050405020304" pitchFamily="18" charset="0"/>
              </a:rPr>
              <a:t>trên</a:t>
            </a:r>
            <a:r>
              <a:rPr lang="vi-VN" sz="3200">
                <a:latin typeface="Times New Roman" panose="02020603050405020304" pitchFamily="18" charset="0"/>
                <a:cs typeface="Times New Roman" panose="02020603050405020304" pitchFamily="18" charset="0"/>
              </a:rPr>
              <a:t>, hộp thoại </a:t>
            </a:r>
            <a:r>
              <a:rPr lang="en-US" sz="3200">
                <a:latin typeface="Times New Roman" panose="02020603050405020304" pitchFamily="18" charset="0"/>
                <a:cs typeface="Times New Roman" panose="02020603050405020304" pitchFamily="18" charset="0"/>
              </a:rPr>
              <a:t>l</a:t>
            </a:r>
            <a:r>
              <a:rPr lang="vi-VN" sz="3200">
                <a:latin typeface="Times New Roman" panose="02020603050405020304" pitchFamily="18" charset="0"/>
                <a:cs typeface="Times New Roman" panose="02020603050405020304" pitchFamily="18" charset="0"/>
              </a:rPr>
              <a:t>ưu </a:t>
            </a:r>
            <a:r>
              <a:rPr lang="en-US" sz="3200">
                <a:latin typeface="Times New Roman" panose="02020603050405020304" pitchFamily="18" charset="0"/>
                <a:cs typeface="Times New Roman" panose="02020603050405020304" pitchFamily="18" charset="0"/>
              </a:rPr>
              <a:t>t</a:t>
            </a:r>
            <a:r>
              <a:rPr lang="vi-VN" sz="3200">
                <a:latin typeface="Times New Roman" panose="02020603050405020304" pitchFamily="18" charset="0"/>
                <a:cs typeface="Times New Roman" panose="02020603050405020304" pitchFamily="18" charset="0"/>
              </a:rPr>
              <a:t>ập tin mở</a:t>
            </a:r>
            <a:r>
              <a:rPr lang="en-US" sz="3200">
                <a:latin typeface="Times New Roman" panose="02020603050405020304" pitchFamily="18" charset="0"/>
                <a:cs typeface="Times New Roman" panose="02020603050405020304" pitchFamily="18" charset="0"/>
              </a:rPr>
              <a:t> ra</a:t>
            </a:r>
            <a:r>
              <a:rPr lang="vi-VN" sz="3200">
                <a:latin typeface="Times New Roman" panose="02020603050405020304" pitchFamily="18" charset="0"/>
                <a:cs typeface="Times New Roman" panose="02020603050405020304" pitchFamily="18" charset="0"/>
              </a:rPr>
              <a:t> cho phép bạn lưu tập tin với phần mở rộng</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mong</a:t>
            </a:r>
            <a:r>
              <a:rPr lang="vi-VN" sz="3200">
                <a:latin typeface="Times New Roman" panose="02020603050405020304" pitchFamily="18" charset="0"/>
                <a:cs typeface="Times New Roman" panose="02020603050405020304" pitchFamily="18" charset="0"/>
              </a:rPr>
              <a:t> muốn. Nếu bạn không xác định phần mở rộng tên tập tin, sau đó nó sẽ được lưu lại với phần mở rộng mặc định,. txt. </a:t>
            </a:r>
            <a:endParaRPr lang="en-US" sz="3200" i="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35065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659E0-DB62-4032-AB9E-8BBA22421560}"/>
              </a:ext>
            </a:extLst>
          </p:cNvPr>
          <p:cNvSpPr>
            <a:spLocks noGrp="1"/>
          </p:cNvSpPr>
          <p:nvPr>
            <p:ph type="title"/>
          </p:nvPr>
        </p:nvSpPr>
        <p:spPr/>
        <p:txBody>
          <a:bodyPr/>
          <a:lstStyle/>
          <a:p>
            <a:r>
              <a:rPr lang="en-US" b="1" err="1">
                <a:latin typeface="Times New Roman" panose="02020603050405020304" pitchFamily="18" charset="0"/>
                <a:cs typeface="Times New Roman" panose="02020603050405020304" pitchFamily="18" charset="0"/>
              </a:rPr>
              <a:t>Sử</a:t>
            </a:r>
            <a:r>
              <a:rPr lang="en-US" b="1">
                <a:latin typeface="Times New Roman" panose="02020603050405020304" pitchFamily="18" charset="0"/>
                <a:cs typeface="Times New Roman" panose="02020603050405020304" pitchFamily="18" charset="0"/>
              </a:rPr>
              <a:t> </a:t>
            </a:r>
            <a:r>
              <a:rPr lang="en-US" b="1" err="1">
                <a:latin typeface="Times New Roman" panose="02020603050405020304" pitchFamily="18" charset="0"/>
                <a:cs typeface="Times New Roman" panose="02020603050405020304" pitchFamily="18" charset="0"/>
              </a:rPr>
              <a:t>Dụng</a:t>
            </a:r>
            <a:r>
              <a:rPr lang="en-US" b="1">
                <a:latin typeface="Times New Roman" panose="02020603050405020304" pitchFamily="18" charset="0"/>
                <a:cs typeface="Times New Roman" panose="02020603050405020304" pitchFamily="18" charset="0"/>
              </a:rPr>
              <a:t> File </a:t>
            </a:r>
            <a:r>
              <a:rPr lang="en-US" b="1" err="1">
                <a:latin typeface="Times New Roman" panose="02020603050405020304" pitchFamily="18" charset="0"/>
                <a:cs typeface="Times New Roman" panose="02020603050405020304" pitchFamily="18" charset="0"/>
              </a:rPr>
              <a:t>Hộp</a:t>
            </a:r>
            <a:r>
              <a:rPr lang="en-US" b="1">
                <a:latin typeface="Times New Roman" panose="02020603050405020304" pitchFamily="18" charset="0"/>
                <a:cs typeface="Times New Roman" panose="02020603050405020304" pitchFamily="18" charset="0"/>
              </a:rPr>
              <a:t> </a:t>
            </a:r>
            <a:r>
              <a:rPr lang="en-US" b="1" err="1">
                <a:latin typeface="Times New Roman" panose="02020603050405020304" pitchFamily="18" charset="0"/>
                <a:cs typeface="Times New Roman" panose="02020603050405020304" pitchFamily="18" charset="0"/>
              </a:rPr>
              <a:t>Thoại</a:t>
            </a:r>
            <a:endParaRPr lang="en-US" b="1">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53DBDF6-DF73-41BF-8FA0-79FD03DAC7D8}"/>
              </a:ext>
            </a:extLst>
          </p:cNvPr>
          <p:cNvSpPr>
            <a:spLocks noGrp="1"/>
          </p:cNvSpPr>
          <p:nvPr>
            <p:ph idx="1"/>
          </p:nvPr>
        </p:nvSpPr>
        <p:spPr/>
        <p:txBody>
          <a:bodyPr>
            <a:normAutofit/>
          </a:bodyPr>
          <a:lstStyle/>
          <a:p>
            <a:pPr marL="465138" indent="-457200" algn="just">
              <a:buFont typeface="Wingdings" panose="05000000000000000000" pitchFamily="2" charset="2"/>
              <a:buChar char="§"/>
            </a:pPr>
            <a:r>
              <a:rPr lang="en-US" sz="3200" err="1">
                <a:latin typeface="Times New Roman" panose="02020603050405020304" pitchFamily="18" charset="0"/>
                <a:cs typeface="Times New Roman" panose="02020603050405020304" pitchFamily="18" charset="0"/>
              </a:rPr>
              <a:t>Tạo</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ứ</a:t>
            </a:r>
            <a:r>
              <a:rPr lang="en-US" sz="3200">
                <a:latin typeface="Times New Roman" panose="02020603050405020304" pitchFamily="18" charset="0"/>
                <a:cs typeface="Times New Roman" panose="02020603050405020304" pitchFamily="18" charset="0"/>
              </a:rPr>
              <a:t>ng </a:t>
            </a:r>
            <a:r>
              <a:rPr lang="en-US" sz="3200" err="1">
                <a:latin typeface="Times New Roman" panose="02020603050405020304" pitchFamily="18" charset="0"/>
                <a:cs typeface="Times New Roman" panose="02020603050405020304" pitchFamily="18" charset="0"/>
              </a:rPr>
              <a:t>dụng</a:t>
            </a:r>
            <a:r>
              <a:rPr lang="en-US" sz="3200">
                <a:latin typeface="Times New Roman" panose="02020603050405020304" pitchFamily="18" charset="0"/>
                <a:cs typeface="Times New Roman" panose="02020603050405020304" pitchFamily="18" charset="0"/>
              </a:rPr>
              <a:t> d</a:t>
            </a:r>
            <a:r>
              <a:rPr lang="vi-VN" sz="3200">
                <a:latin typeface="Times New Roman" panose="02020603050405020304" pitchFamily="18" charset="0"/>
                <a:cs typeface="Times New Roman" panose="02020603050405020304" pitchFamily="18" charset="0"/>
              </a:rPr>
              <a:t>ựa </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trên</a:t>
            </a:r>
            <a:r>
              <a:rPr lang="en-US" sz="3200" i="1">
                <a:latin typeface="Times New Roman" panose="02020603050405020304" pitchFamily="18" charset="0"/>
                <a:cs typeface="Times New Roman" panose="02020603050405020304" pitchFamily="18" charset="0"/>
              </a:rPr>
              <a:t> </a:t>
            </a:r>
            <a:r>
              <a:rPr lang="en-US" sz="3200" b="1" i="1">
                <a:latin typeface="Times New Roman" panose="02020603050405020304" pitchFamily="18" charset="0"/>
                <a:cs typeface="Times New Roman" panose="02020603050405020304" pitchFamily="18" charset="0"/>
              </a:rPr>
              <a:t>Main Window</a:t>
            </a:r>
            <a:r>
              <a:rPr lang="en-US" sz="3200" b="1">
                <a:latin typeface="Times New Roman" panose="02020603050405020304" pitchFamily="18" charset="0"/>
                <a:cs typeface="Times New Roman" panose="02020603050405020304" pitchFamily="18" charset="0"/>
              </a:rPr>
              <a:t> . Main window </a:t>
            </a:r>
            <a:r>
              <a:rPr lang="en-US" sz="3200">
                <a:latin typeface="Times New Roman" panose="02020603050405020304" pitchFamily="18" charset="0"/>
                <a:cs typeface="Times New Roman" panose="02020603050405020304" pitchFamily="18" charset="0"/>
              </a:rPr>
              <a:t>bao </a:t>
            </a:r>
            <a:r>
              <a:rPr lang="en-US" sz="3200" err="1">
                <a:latin typeface="Times New Roman" panose="02020603050405020304" pitchFamily="18" charset="0"/>
                <a:cs typeface="Times New Roman" panose="02020603050405020304" pitchFamily="18" charset="0"/>
              </a:rPr>
              <a:t>gồm</a:t>
            </a:r>
            <a:r>
              <a:rPr lang="en-US" sz="3200">
                <a:latin typeface="Times New Roman" panose="02020603050405020304" pitchFamily="18" charset="0"/>
                <a:cs typeface="Times New Roman" panose="02020603050405020304" pitchFamily="18" charset="0"/>
              </a:rPr>
              <a:t> menu </a:t>
            </a:r>
            <a:r>
              <a:rPr lang="en-US" sz="3200" err="1">
                <a:latin typeface="Times New Roman" panose="02020603050405020304" pitchFamily="18" charset="0"/>
                <a:cs typeface="Times New Roman" panose="02020603050405020304" pitchFamily="18" charset="0"/>
              </a:rPr>
              <a:t>mặc</a:t>
            </a:r>
            <a:r>
              <a:rPr lang="en-US" sz="320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định</a:t>
            </a:r>
            <a:r>
              <a:rPr lang="en-US" sz="3200">
                <a:latin typeface="Times New Roman" panose="02020603050405020304" pitchFamily="18" charset="0"/>
                <a:cs typeface="Times New Roman" panose="02020603050405020304" pitchFamily="18" charset="0"/>
              </a:rPr>
              <a:t> ở </a:t>
            </a:r>
            <a:r>
              <a:rPr lang="en-US" sz="3200" err="1">
                <a:latin typeface="Times New Roman" panose="02020603050405020304" pitchFamily="18" charset="0"/>
                <a:cs typeface="Times New Roman" panose="02020603050405020304" pitchFamily="18" charset="0"/>
              </a:rPr>
              <a:t>trên</a:t>
            </a:r>
            <a:r>
              <a:rPr lang="en-US" sz="3200">
                <a:latin typeface="Times New Roman" panose="02020603050405020304" pitchFamily="18" charset="0"/>
                <a:cs typeface="Times New Roman" panose="02020603050405020304" pitchFamily="18" charset="0"/>
              </a:rPr>
              <a:t>:</a:t>
            </a:r>
          </a:p>
          <a:p>
            <a:pPr marL="7938" indent="0" algn="just">
              <a:buNone/>
            </a:pPr>
            <a:r>
              <a:rPr lang="en-US" sz="3200" i="1">
                <a:latin typeface="Times New Roman" panose="02020603050405020304" pitchFamily="18" charset="0"/>
                <a:cs typeface="Times New Roman" panose="02020603050405020304" pitchFamily="18" charset="0"/>
              </a:rPr>
              <a:t>B</a:t>
            </a:r>
            <a:r>
              <a:rPr lang="vi-VN" sz="3200" i="1">
                <a:latin typeface="Times New Roman" panose="02020603050405020304" pitchFamily="18" charset="0"/>
                <a:cs typeface="Times New Roman" panose="02020603050405020304" pitchFamily="18" charset="0"/>
              </a:rPr>
              <a:t>1</a:t>
            </a:r>
            <a:r>
              <a:rPr lang="en-US" sz="3200" i="1">
                <a:latin typeface="Times New Roman" panose="02020603050405020304" pitchFamily="18" charset="0"/>
                <a:cs typeface="Times New Roman" panose="02020603050405020304" pitchFamily="18" charset="0"/>
              </a:rPr>
              <a:t>:</a:t>
            </a:r>
            <a:r>
              <a:rPr lang="vi-VN"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Chúng</a:t>
            </a:r>
            <a:r>
              <a:rPr lang="en-US" sz="3200" i="1">
                <a:latin typeface="Times New Roman" panose="02020603050405020304" pitchFamily="18" charset="0"/>
                <a:cs typeface="Times New Roman" panose="02020603050405020304" pitchFamily="18" charset="0"/>
              </a:rPr>
              <a:t> ta </a:t>
            </a:r>
            <a:r>
              <a:rPr lang="vi-VN" sz="3200" i="1">
                <a:latin typeface="Times New Roman" panose="02020603050405020304" pitchFamily="18" charset="0"/>
                <a:cs typeface="Times New Roman" panose="02020603050405020304" pitchFamily="18" charset="0"/>
              </a:rPr>
              <a:t>có thể dùng hai nút nhấn để </a:t>
            </a:r>
            <a:r>
              <a:rPr lang="en-US" sz="3200" i="1" err="1">
                <a:latin typeface="Times New Roman" panose="02020603050405020304" pitchFamily="18" charset="0"/>
                <a:cs typeface="Times New Roman" panose="02020603050405020304" pitchFamily="18" charset="0"/>
              </a:rPr>
              <a:t>bắt</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đầu</a:t>
            </a:r>
            <a:r>
              <a:rPr lang="en-US" sz="3200" i="1">
                <a:latin typeface="Times New Roman" panose="02020603050405020304" pitchFamily="18" charset="0"/>
                <a:cs typeface="Times New Roman" panose="02020603050405020304" pitchFamily="18" charset="0"/>
              </a:rPr>
              <a:t> </a:t>
            </a:r>
            <a:r>
              <a:rPr lang="vi-VN" sz="3200" i="1">
                <a:latin typeface="Times New Roman" panose="02020603050405020304" pitchFamily="18" charset="0"/>
                <a:cs typeface="Times New Roman" panose="02020603050405020304" pitchFamily="18" charset="0"/>
              </a:rPr>
              <a:t>mở hộp thoại tập tin và</a:t>
            </a:r>
            <a:r>
              <a:rPr lang="en-US" sz="3200" i="1">
                <a:latin typeface="Times New Roman" panose="02020603050405020304" pitchFamily="18" charset="0"/>
                <a:cs typeface="Times New Roman" panose="02020603050405020304" pitchFamily="18" charset="0"/>
              </a:rPr>
              <a:t> </a:t>
            </a:r>
            <a:r>
              <a:rPr lang="vi-VN" sz="3200" i="1">
                <a:latin typeface="Times New Roman" panose="02020603050405020304" pitchFamily="18" charset="0"/>
                <a:cs typeface="Times New Roman" panose="02020603050405020304" pitchFamily="18" charset="0"/>
              </a:rPr>
              <a:t>hộp thoại</a:t>
            </a:r>
            <a:r>
              <a:rPr lang="en-US" sz="3200" i="1">
                <a:latin typeface="Times New Roman" panose="02020603050405020304" pitchFamily="18" charset="0"/>
                <a:cs typeface="Times New Roman" panose="02020603050405020304" pitchFamily="18" charset="0"/>
              </a:rPr>
              <a:t> </a:t>
            </a:r>
            <a:r>
              <a:rPr lang="vi-VN" sz="3200" i="1">
                <a:latin typeface="Times New Roman" panose="02020603050405020304" pitchFamily="18" charset="0"/>
                <a:cs typeface="Times New Roman" panose="02020603050405020304" pitchFamily="18" charset="0"/>
              </a:rPr>
              <a:t>lưu tập tin, nhưng dùng menu </a:t>
            </a:r>
            <a:r>
              <a:rPr lang="en-US" sz="3200" i="1">
                <a:latin typeface="Times New Roman" panose="02020603050405020304" pitchFamily="18" charset="0"/>
                <a:cs typeface="Times New Roman" panose="02020603050405020304" pitchFamily="18" charset="0"/>
              </a:rPr>
              <a:t>item </a:t>
            </a:r>
            <a:r>
              <a:rPr lang="vi-VN" sz="3200" i="1">
                <a:latin typeface="Times New Roman" panose="02020603050405020304" pitchFamily="18" charset="0"/>
                <a:cs typeface="Times New Roman" panose="02020603050405020304" pitchFamily="18" charset="0"/>
              </a:rPr>
              <a:t>để </a:t>
            </a:r>
            <a:r>
              <a:rPr lang="en-US" sz="3200" i="1" err="1">
                <a:latin typeface="Times New Roman" panose="02020603050405020304" pitchFamily="18" charset="0"/>
                <a:cs typeface="Times New Roman" panose="02020603050405020304" pitchFamily="18" charset="0"/>
              </a:rPr>
              <a:t>bắt</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đầu</a:t>
            </a:r>
            <a:r>
              <a:rPr lang="en-US" sz="3200" i="1">
                <a:latin typeface="Times New Roman" panose="02020603050405020304" pitchFamily="18" charset="0"/>
                <a:cs typeface="Times New Roman" panose="02020603050405020304" pitchFamily="18" charset="0"/>
              </a:rPr>
              <a:t> </a:t>
            </a:r>
            <a:r>
              <a:rPr lang="vi-VN" sz="3200" i="1">
                <a:latin typeface="Times New Roman" panose="02020603050405020304" pitchFamily="18" charset="0"/>
                <a:cs typeface="Times New Roman" panose="02020603050405020304" pitchFamily="18" charset="0"/>
              </a:rPr>
              <a:t>thao tác tập tin sẽ cho cảm </a:t>
            </a:r>
            <a:r>
              <a:rPr lang="en-US" sz="3200" i="1" err="1">
                <a:latin typeface="Times New Roman" panose="02020603050405020304" pitchFamily="18" charset="0"/>
                <a:cs typeface="Times New Roman" panose="02020603050405020304" pitchFamily="18" charset="0"/>
              </a:rPr>
              <a:t>giác</a:t>
            </a:r>
            <a:r>
              <a:rPr lang="vi-VN" sz="3200" i="1">
                <a:latin typeface="Times New Roman" panose="02020603050405020304" pitchFamily="18" charset="0"/>
                <a:cs typeface="Times New Roman" panose="02020603050405020304" pitchFamily="18" charset="0"/>
              </a:rPr>
              <a:t> ứng dụng thời gian thực. </a:t>
            </a:r>
          </a:p>
          <a:p>
            <a:pPr marL="7938" indent="0" algn="just">
              <a:buNone/>
            </a:pPr>
            <a:r>
              <a:rPr lang="en-US" sz="3200" i="1">
                <a:latin typeface="Times New Roman" panose="02020603050405020304" pitchFamily="18" charset="0"/>
                <a:cs typeface="Times New Roman" panose="02020603050405020304" pitchFamily="18" charset="0"/>
              </a:rPr>
              <a:t>B</a:t>
            </a:r>
            <a:r>
              <a:rPr lang="vi-VN" sz="3200" i="1">
                <a:latin typeface="Times New Roman" panose="02020603050405020304" pitchFamily="18" charset="0"/>
                <a:cs typeface="Times New Roman" panose="02020603050405020304" pitchFamily="18" charset="0"/>
              </a:rPr>
              <a:t>2</a:t>
            </a:r>
            <a:r>
              <a:rPr lang="en-US" sz="3200" i="1">
                <a:latin typeface="Times New Roman" panose="02020603050405020304" pitchFamily="18" charset="0"/>
                <a:cs typeface="Times New Roman" panose="02020603050405020304" pitchFamily="18" charset="0"/>
              </a:rPr>
              <a:t>:</a:t>
            </a:r>
            <a:r>
              <a:rPr lang="vi-VN" sz="3200" i="1">
                <a:latin typeface="Times New Roman" panose="02020603050405020304" pitchFamily="18" charset="0"/>
                <a:cs typeface="Times New Roman" panose="02020603050405020304" pitchFamily="18" charset="0"/>
              </a:rPr>
              <a:t> Thanh menu</a:t>
            </a:r>
            <a:r>
              <a:rPr lang="en-US" sz="3200" i="1">
                <a:latin typeface="Times New Roman" panose="02020603050405020304" pitchFamily="18" charset="0"/>
                <a:cs typeface="Times New Roman" panose="02020603050405020304" pitchFamily="18" charset="0"/>
              </a:rPr>
              <a:t> bar</a:t>
            </a:r>
            <a:r>
              <a:rPr lang="vi-VN" sz="3200" i="1">
                <a:latin typeface="Times New Roman" panose="02020603050405020304" pitchFamily="18" charset="0"/>
                <a:cs typeface="Times New Roman" panose="02020603050405020304" pitchFamily="18" charset="0"/>
              </a:rPr>
              <a:t> mặc định trong khuôn mẫu </a:t>
            </a:r>
            <a:r>
              <a:rPr lang="en-US" sz="3200" i="1">
                <a:latin typeface="Times New Roman" panose="02020603050405020304" pitchFamily="18" charset="0"/>
                <a:cs typeface="Times New Roman" panose="02020603050405020304" pitchFamily="18" charset="0"/>
              </a:rPr>
              <a:t>Main Window </a:t>
            </a:r>
            <a:r>
              <a:rPr lang="en-US" sz="3200" i="1" err="1">
                <a:latin typeface="Times New Roman" panose="02020603050405020304" pitchFamily="18" charset="0"/>
                <a:cs typeface="Times New Roman" panose="02020603050405020304" pitchFamily="18" charset="0"/>
              </a:rPr>
              <a:t>sẽ</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hiển</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thị</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một</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tuỳ</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chọn</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với</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tên</a:t>
            </a:r>
            <a:r>
              <a:rPr lang="en-US" sz="3200" i="1">
                <a:latin typeface="Times New Roman" panose="02020603050405020304" pitchFamily="18" charset="0"/>
                <a:cs typeface="Times New Roman" panose="02020603050405020304" pitchFamily="18" charset="0"/>
              </a:rPr>
              <a:t> </a:t>
            </a:r>
            <a:r>
              <a:rPr lang="en-US" sz="3200" b="1" i="1">
                <a:latin typeface="Times New Roman" panose="02020603050405020304" pitchFamily="18" charset="0"/>
                <a:cs typeface="Times New Roman" panose="02020603050405020304" pitchFamily="18" charset="0"/>
              </a:rPr>
              <a:t>Type Here</a:t>
            </a:r>
            <a:r>
              <a:rPr lang="vi-VN" sz="3200" i="1">
                <a:latin typeface="Times New Roman" panose="02020603050405020304" pitchFamily="18" charset="0"/>
                <a:cs typeface="Times New Roman" panose="02020603050405020304" pitchFamily="18" charset="0"/>
              </a:rPr>
              <a:t>. </a:t>
            </a:r>
          </a:p>
          <a:p>
            <a:pPr marL="7938" indent="0" algn="just">
              <a:buNone/>
            </a:pPr>
            <a:r>
              <a:rPr lang="en-US" sz="3200" i="1">
                <a:latin typeface="Times New Roman" panose="02020603050405020304" pitchFamily="18" charset="0"/>
                <a:cs typeface="Times New Roman" panose="02020603050405020304" pitchFamily="18" charset="0"/>
              </a:rPr>
              <a:t>B</a:t>
            </a:r>
            <a:r>
              <a:rPr lang="vi-VN" sz="3200" i="1">
                <a:latin typeface="Times New Roman" panose="02020603050405020304" pitchFamily="18" charset="0"/>
                <a:cs typeface="Times New Roman" panose="02020603050405020304" pitchFamily="18" charset="0"/>
              </a:rPr>
              <a:t>3</a:t>
            </a:r>
            <a:r>
              <a:rPr lang="en-US" sz="3200" i="1">
                <a:latin typeface="Times New Roman" panose="02020603050405020304" pitchFamily="18" charset="0"/>
                <a:cs typeface="Times New Roman" panose="02020603050405020304" pitchFamily="18" charset="0"/>
              </a:rPr>
              <a:t>:</a:t>
            </a:r>
            <a:r>
              <a:rPr lang="vi-VN" sz="3200" i="1">
                <a:latin typeface="Times New Roman" panose="02020603050405020304" pitchFamily="18" charset="0"/>
                <a:cs typeface="Times New Roman" panose="02020603050405020304" pitchFamily="18" charset="0"/>
              </a:rPr>
              <a:t> </a:t>
            </a:r>
            <a:r>
              <a:rPr lang="en-US" sz="3200" i="1">
                <a:latin typeface="Times New Roman" panose="02020603050405020304" pitchFamily="18" charset="0"/>
                <a:cs typeface="Times New Roman" panose="02020603050405020304" pitchFamily="18" charset="0"/>
              </a:rPr>
              <a:t>Ng</a:t>
            </a:r>
            <a:r>
              <a:rPr lang="vi-VN" sz="3200" i="1">
                <a:latin typeface="Times New Roman" panose="02020603050405020304" pitchFamily="18" charset="0"/>
                <a:cs typeface="Times New Roman" panose="02020603050405020304" pitchFamily="18" charset="0"/>
              </a:rPr>
              <a:t>ười</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dùng</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có</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thể</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gõ</a:t>
            </a:r>
            <a:r>
              <a:rPr lang="en-US" sz="3200" i="1">
                <a:latin typeface="Times New Roman" panose="02020603050405020304" pitchFamily="18" charset="0"/>
                <a:cs typeface="Times New Roman" panose="02020603050405020304" pitchFamily="18" charset="0"/>
              </a:rPr>
              <a:t> </a:t>
            </a:r>
            <a:r>
              <a:rPr lang="vi-VN" sz="3200" i="1">
                <a:latin typeface="Times New Roman" panose="02020603050405020304" pitchFamily="18" charset="0"/>
                <a:cs typeface="Times New Roman" panose="02020603050405020304" pitchFamily="18" charset="0"/>
              </a:rPr>
              <a:t>tên menu</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mong</a:t>
            </a:r>
            <a:r>
              <a:rPr lang="vi-VN" sz="3200" i="1">
                <a:latin typeface="Times New Roman" panose="02020603050405020304" pitchFamily="18" charset="0"/>
                <a:cs typeface="Times New Roman" panose="02020603050405020304" pitchFamily="18" charset="0"/>
              </a:rPr>
              <a:t> muốn</a:t>
            </a:r>
            <a:r>
              <a:rPr lang="en-US" sz="3200" i="1">
                <a:latin typeface="Times New Roman" panose="02020603050405020304" pitchFamily="18" charset="0"/>
                <a:cs typeface="Times New Roman" panose="02020603050405020304" pitchFamily="18" charset="0"/>
              </a:rPr>
              <a:t> ở </a:t>
            </a:r>
            <a:r>
              <a:rPr lang="en-US" sz="3200" i="1" err="1">
                <a:latin typeface="Times New Roman" panose="02020603050405020304" pitchFamily="18" charset="0"/>
                <a:cs typeface="Times New Roman" panose="02020603050405020304" pitchFamily="18" charset="0"/>
              </a:rPr>
              <a:t>tuỳ</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chọn</a:t>
            </a:r>
            <a:r>
              <a:rPr lang="en-US" sz="3200" i="1">
                <a:latin typeface="Times New Roman" panose="02020603050405020304" pitchFamily="18" charset="0"/>
                <a:cs typeface="Times New Roman" panose="02020603050405020304" pitchFamily="18" charset="0"/>
              </a:rPr>
              <a:t> </a:t>
            </a:r>
            <a:r>
              <a:rPr lang="en-US" sz="3200" b="1" i="1">
                <a:latin typeface="Times New Roman" panose="02020603050405020304" pitchFamily="18" charset="0"/>
                <a:cs typeface="Times New Roman" panose="02020603050405020304" pitchFamily="18" charset="0"/>
              </a:rPr>
              <a:t>Type Here</a:t>
            </a:r>
            <a:r>
              <a:rPr lang="vi-VN" sz="3200" i="1">
                <a:latin typeface="Times New Roman" panose="02020603050405020304" pitchFamily="18" charset="0"/>
                <a:cs typeface="Times New Roman" panose="02020603050405020304" pitchFamily="18" charset="0"/>
              </a:rPr>
              <a:t>. </a:t>
            </a:r>
            <a:r>
              <a:rPr lang="en-US" sz="3200" i="1">
                <a:latin typeface="Times New Roman" panose="02020603050405020304" pitchFamily="18" charset="0"/>
                <a:cs typeface="Times New Roman" panose="02020603050405020304" pitchFamily="18" charset="0"/>
              </a:rPr>
              <a:t>C</a:t>
            </a:r>
            <a:r>
              <a:rPr lang="vi-VN" sz="3200" i="1">
                <a:latin typeface="Times New Roman" panose="02020603050405020304" pitchFamily="18" charset="0"/>
                <a:cs typeface="Times New Roman" panose="02020603050405020304" pitchFamily="18" charset="0"/>
              </a:rPr>
              <a:t>húng ta hãy</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gõ</a:t>
            </a:r>
            <a:r>
              <a:rPr lang="en-US" sz="3200" i="1">
                <a:latin typeface="Times New Roman" panose="02020603050405020304" pitchFamily="18" charset="0"/>
                <a:cs typeface="Times New Roman" panose="02020603050405020304" pitchFamily="18" charset="0"/>
              </a:rPr>
              <a:t> “File”</a:t>
            </a:r>
            <a:r>
              <a:rPr lang="vi-VN" sz="3200" i="1">
                <a:latin typeface="Times New Roman" panose="02020603050405020304" pitchFamily="18" charset="0"/>
                <a:cs typeface="Times New Roman" panose="02020603050405020304" pitchFamily="18" charset="0"/>
              </a:rPr>
              <a:t> để tạo ra</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một</a:t>
            </a:r>
            <a:r>
              <a:rPr lang="vi-VN" sz="3200" i="1">
                <a:latin typeface="Times New Roman" panose="02020603050405020304" pitchFamily="18" charset="0"/>
                <a:cs typeface="Times New Roman" panose="02020603050405020304" pitchFamily="18" charset="0"/>
              </a:rPr>
              <a:t> menu trong thanh menu. </a:t>
            </a:r>
          </a:p>
          <a:p>
            <a:pPr marL="7938" indent="0" algn="just">
              <a:buNone/>
            </a:pPr>
            <a:endParaRPr lang="en-US" sz="3200" i="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70080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659E0-DB62-4032-AB9E-8BBA22421560}"/>
              </a:ext>
            </a:extLst>
          </p:cNvPr>
          <p:cNvSpPr>
            <a:spLocks noGrp="1"/>
          </p:cNvSpPr>
          <p:nvPr>
            <p:ph type="title"/>
          </p:nvPr>
        </p:nvSpPr>
        <p:spPr/>
        <p:txBody>
          <a:bodyPr/>
          <a:lstStyle/>
          <a:p>
            <a:r>
              <a:rPr lang="en-US" b="1" err="1">
                <a:latin typeface="Times New Roman" panose="02020603050405020304" pitchFamily="18" charset="0"/>
                <a:cs typeface="Times New Roman" panose="02020603050405020304" pitchFamily="18" charset="0"/>
              </a:rPr>
              <a:t>Sử</a:t>
            </a:r>
            <a:r>
              <a:rPr lang="en-US" b="1">
                <a:latin typeface="Times New Roman" panose="02020603050405020304" pitchFamily="18" charset="0"/>
                <a:cs typeface="Times New Roman" panose="02020603050405020304" pitchFamily="18" charset="0"/>
              </a:rPr>
              <a:t> </a:t>
            </a:r>
            <a:r>
              <a:rPr lang="en-US" b="1" err="1">
                <a:latin typeface="Times New Roman" panose="02020603050405020304" pitchFamily="18" charset="0"/>
                <a:cs typeface="Times New Roman" panose="02020603050405020304" pitchFamily="18" charset="0"/>
              </a:rPr>
              <a:t>Dụng</a:t>
            </a:r>
            <a:r>
              <a:rPr lang="en-US" b="1">
                <a:latin typeface="Times New Roman" panose="02020603050405020304" pitchFamily="18" charset="0"/>
                <a:cs typeface="Times New Roman" panose="02020603050405020304" pitchFamily="18" charset="0"/>
              </a:rPr>
              <a:t> File </a:t>
            </a:r>
            <a:r>
              <a:rPr lang="en-US" b="1" err="1">
                <a:latin typeface="Times New Roman" panose="02020603050405020304" pitchFamily="18" charset="0"/>
                <a:cs typeface="Times New Roman" panose="02020603050405020304" pitchFamily="18" charset="0"/>
              </a:rPr>
              <a:t>Hộp</a:t>
            </a:r>
            <a:r>
              <a:rPr lang="en-US" b="1">
                <a:latin typeface="Times New Roman" panose="02020603050405020304" pitchFamily="18" charset="0"/>
                <a:cs typeface="Times New Roman" panose="02020603050405020304" pitchFamily="18" charset="0"/>
              </a:rPr>
              <a:t> </a:t>
            </a:r>
            <a:r>
              <a:rPr lang="en-US" b="1" err="1">
                <a:latin typeface="Times New Roman" panose="02020603050405020304" pitchFamily="18" charset="0"/>
                <a:cs typeface="Times New Roman" panose="02020603050405020304" pitchFamily="18" charset="0"/>
              </a:rPr>
              <a:t>Thoại</a:t>
            </a:r>
            <a:endParaRPr lang="en-US" b="1">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53DBDF6-DF73-41BF-8FA0-79FD03DAC7D8}"/>
              </a:ext>
            </a:extLst>
          </p:cNvPr>
          <p:cNvSpPr>
            <a:spLocks noGrp="1"/>
          </p:cNvSpPr>
          <p:nvPr>
            <p:ph idx="1"/>
          </p:nvPr>
        </p:nvSpPr>
        <p:spPr/>
        <p:txBody>
          <a:bodyPr>
            <a:normAutofit/>
          </a:bodyPr>
          <a:lstStyle/>
          <a:p>
            <a:pPr marL="7938" indent="0" algn="just">
              <a:buNone/>
            </a:pPr>
            <a:r>
              <a:rPr lang="en-US" sz="3200" i="1">
                <a:latin typeface="Times New Roman" panose="02020603050405020304" pitchFamily="18" charset="0"/>
                <a:cs typeface="Times New Roman" panose="02020603050405020304" pitchFamily="18" charset="0"/>
              </a:rPr>
              <a:t>B</a:t>
            </a:r>
            <a:r>
              <a:rPr lang="vi-VN" sz="3200" i="1">
                <a:latin typeface="Times New Roman" panose="02020603050405020304" pitchFamily="18" charset="0"/>
                <a:cs typeface="Times New Roman" panose="02020603050405020304" pitchFamily="18" charset="0"/>
              </a:rPr>
              <a:t>4</a:t>
            </a:r>
            <a:r>
              <a:rPr lang="en-US" sz="3200" i="1">
                <a:latin typeface="Times New Roman" panose="02020603050405020304" pitchFamily="18" charset="0"/>
                <a:cs typeface="Times New Roman" panose="02020603050405020304" pitchFamily="18" charset="0"/>
              </a:rPr>
              <a:t>:</a:t>
            </a:r>
            <a:r>
              <a:rPr lang="vi-VN"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Nhấn</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phím</a:t>
            </a:r>
            <a:r>
              <a:rPr lang="en-US" sz="3200" i="1">
                <a:latin typeface="Times New Roman" panose="02020603050405020304" pitchFamily="18" charset="0"/>
                <a:cs typeface="Times New Roman" panose="02020603050405020304" pitchFamily="18" charset="0"/>
              </a:rPr>
              <a:t> Enter, </a:t>
            </a:r>
            <a:r>
              <a:rPr lang="en-US" sz="3200" b="1" i="1">
                <a:latin typeface="Times New Roman" panose="02020603050405020304" pitchFamily="18" charset="0"/>
                <a:cs typeface="Times New Roman" panose="02020603050405020304" pitchFamily="18" charset="0"/>
              </a:rPr>
              <a:t>Type Here</a:t>
            </a:r>
            <a:r>
              <a:rPr lang="vi-VN" sz="3200" i="1">
                <a:latin typeface="Times New Roman" panose="02020603050405020304" pitchFamily="18" charset="0"/>
                <a:cs typeface="Times New Roman" panose="02020603050405020304" pitchFamily="18" charset="0"/>
              </a:rPr>
              <a:t> xuất hiện như menu</a:t>
            </a:r>
            <a:r>
              <a:rPr lang="en-US" sz="3200" i="1">
                <a:latin typeface="Times New Roman" panose="02020603050405020304" pitchFamily="18" charset="0"/>
                <a:cs typeface="Times New Roman" panose="02020603050405020304" pitchFamily="18" charset="0"/>
              </a:rPr>
              <a:t> item</a:t>
            </a:r>
            <a:r>
              <a:rPr lang="vi-VN" sz="3200" i="1">
                <a:latin typeface="Times New Roman" panose="02020603050405020304" pitchFamily="18" charset="0"/>
                <a:cs typeface="Times New Roman" panose="02020603050405020304" pitchFamily="18" charset="0"/>
              </a:rPr>
              <a:t> dưới menu File. </a:t>
            </a:r>
          </a:p>
          <a:p>
            <a:pPr marL="7938" indent="0" algn="just">
              <a:buNone/>
            </a:pPr>
            <a:r>
              <a:rPr lang="en-US" sz="3200" i="1">
                <a:latin typeface="Times New Roman" panose="02020603050405020304" pitchFamily="18" charset="0"/>
                <a:cs typeface="Times New Roman" panose="02020603050405020304" pitchFamily="18" charset="0"/>
              </a:rPr>
              <a:t>B</a:t>
            </a:r>
            <a:r>
              <a:rPr lang="vi-VN" sz="3200" i="1">
                <a:latin typeface="Times New Roman" panose="02020603050405020304" pitchFamily="18" charset="0"/>
                <a:cs typeface="Times New Roman" panose="02020603050405020304" pitchFamily="18" charset="0"/>
              </a:rPr>
              <a:t>5</a:t>
            </a:r>
            <a:r>
              <a:rPr lang="en-US" sz="3200" i="1">
                <a:latin typeface="Times New Roman" panose="02020603050405020304" pitchFamily="18" charset="0"/>
                <a:cs typeface="Times New Roman" panose="02020603050405020304" pitchFamily="18" charset="0"/>
              </a:rPr>
              <a:t>:</a:t>
            </a:r>
            <a:r>
              <a:rPr lang="vi-VN"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Gõ</a:t>
            </a:r>
            <a:r>
              <a:rPr lang="en-US" sz="3200" i="1">
                <a:latin typeface="Times New Roman" panose="02020603050405020304" pitchFamily="18" charset="0"/>
                <a:cs typeface="Times New Roman" panose="02020603050405020304" pitchFamily="18" charset="0"/>
              </a:rPr>
              <a:t> Open</a:t>
            </a:r>
            <a:r>
              <a:rPr lang="vi-VN" sz="3200" i="1">
                <a:latin typeface="Times New Roman" panose="02020603050405020304" pitchFamily="18" charset="0"/>
                <a:cs typeface="Times New Roman" panose="02020603050405020304" pitchFamily="18" charset="0"/>
              </a:rPr>
              <a:t> như menu</a:t>
            </a:r>
            <a:r>
              <a:rPr lang="en-US" sz="3200" i="1">
                <a:latin typeface="Times New Roman" panose="02020603050405020304" pitchFamily="18" charset="0"/>
                <a:cs typeface="Times New Roman" panose="02020603050405020304" pitchFamily="18" charset="0"/>
              </a:rPr>
              <a:t> item</a:t>
            </a:r>
            <a:r>
              <a:rPr lang="vi-VN" sz="3200" i="1">
                <a:latin typeface="Times New Roman" panose="02020603050405020304" pitchFamily="18" charset="0"/>
                <a:cs typeface="Times New Roman" panose="02020603050405020304" pitchFamily="18" charset="0"/>
              </a:rPr>
              <a:t> đầu tiên trong menu File. </a:t>
            </a:r>
          </a:p>
          <a:p>
            <a:pPr marL="7938" indent="0" algn="just">
              <a:buNone/>
            </a:pPr>
            <a:r>
              <a:rPr lang="en-US" sz="3200" i="1">
                <a:latin typeface="Times New Roman" panose="02020603050405020304" pitchFamily="18" charset="0"/>
                <a:cs typeface="Times New Roman" panose="02020603050405020304" pitchFamily="18" charset="0"/>
              </a:rPr>
              <a:t>B</a:t>
            </a:r>
            <a:r>
              <a:rPr lang="vi-VN" sz="3200" i="1">
                <a:latin typeface="Times New Roman" panose="02020603050405020304" pitchFamily="18" charset="0"/>
                <a:cs typeface="Times New Roman" panose="02020603050405020304" pitchFamily="18" charset="0"/>
              </a:rPr>
              <a:t>6</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Gõ</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phím</a:t>
            </a:r>
            <a:r>
              <a:rPr lang="en-US" sz="3200" i="1">
                <a:latin typeface="Times New Roman" panose="02020603050405020304" pitchFamily="18" charset="0"/>
                <a:cs typeface="Times New Roman" panose="02020603050405020304" pitchFamily="18" charset="0"/>
              </a:rPr>
              <a:t> Enter </a:t>
            </a:r>
            <a:r>
              <a:rPr lang="vi-VN" sz="3200" i="1">
                <a:latin typeface="Times New Roman" panose="02020603050405020304" pitchFamily="18" charset="0"/>
                <a:cs typeface="Times New Roman" panose="02020603050405020304" pitchFamily="18" charset="0"/>
              </a:rPr>
              <a:t>sau</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khi</a:t>
            </a:r>
            <a:r>
              <a:rPr lang="vi-VN" sz="3200" i="1">
                <a:latin typeface="Times New Roman" panose="02020603050405020304" pitchFamily="18" charset="0"/>
                <a:cs typeface="Times New Roman" panose="02020603050405020304" pitchFamily="18" charset="0"/>
              </a:rPr>
              <a:t> tạo ra menu</a:t>
            </a:r>
            <a:r>
              <a:rPr lang="en-US" sz="3200" i="1">
                <a:latin typeface="Times New Roman" panose="02020603050405020304" pitchFamily="18" charset="0"/>
                <a:cs typeface="Times New Roman" panose="02020603050405020304" pitchFamily="18" charset="0"/>
              </a:rPr>
              <a:t> item</a:t>
            </a:r>
            <a:r>
              <a:rPr lang="vi-VN" sz="3200" i="1">
                <a:latin typeface="Times New Roman" panose="02020603050405020304" pitchFamily="18" charset="0"/>
                <a:cs typeface="Times New Roman" panose="02020603050405020304" pitchFamily="18" charset="0"/>
              </a:rPr>
              <a:t> đầu tiên</a:t>
            </a:r>
            <a:r>
              <a:rPr lang="en-US" sz="3200" i="1">
                <a:latin typeface="Times New Roman" panose="02020603050405020304" pitchFamily="18" charset="0"/>
                <a:cs typeface="Times New Roman" panose="02020603050405020304" pitchFamily="18" charset="0"/>
              </a:rPr>
              <a:t> Open</a:t>
            </a:r>
            <a:r>
              <a:rPr lang="vi-VN" sz="3200" i="1">
                <a:latin typeface="Times New Roman" panose="02020603050405020304" pitchFamily="18" charset="0"/>
                <a:cs typeface="Times New Roman" panose="02020603050405020304" pitchFamily="18" charset="0"/>
              </a:rPr>
              <a:t>, </a:t>
            </a:r>
            <a:r>
              <a:rPr lang="en-US" sz="3200" b="1" i="1">
                <a:latin typeface="Times New Roman" panose="02020603050405020304" pitchFamily="18" charset="0"/>
                <a:cs typeface="Times New Roman" panose="02020603050405020304" pitchFamily="18" charset="0"/>
              </a:rPr>
              <a:t>Type Here </a:t>
            </a:r>
            <a:r>
              <a:rPr lang="vi-VN" sz="3200" i="1">
                <a:latin typeface="Times New Roman" panose="02020603050405020304" pitchFamily="18" charset="0"/>
                <a:cs typeface="Times New Roman" panose="02020603050405020304" pitchFamily="18" charset="0"/>
              </a:rPr>
              <a:t>sẽ xuất hiện dưới </a:t>
            </a:r>
            <a:r>
              <a:rPr lang="en-US" sz="3200" i="1">
                <a:latin typeface="Times New Roman" panose="02020603050405020304" pitchFamily="18" charset="0"/>
                <a:cs typeface="Times New Roman" panose="02020603050405020304" pitchFamily="18" charset="0"/>
              </a:rPr>
              <a:t>Open</a:t>
            </a:r>
            <a:r>
              <a:rPr lang="vi-VN" sz="3200" i="1">
                <a:latin typeface="Times New Roman" panose="02020603050405020304" pitchFamily="18" charset="0"/>
                <a:cs typeface="Times New Roman" panose="02020603050405020304" pitchFamily="18" charset="0"/>
              </a:rPr>
              <a:t>. </a:t>
            </a:r>
          </a:p>
          <a:p>
            <a:pPr marL="7938" indent="0" algn="just">
              <a:buNone/>
            </a:pPr>
            <a:r>
              <a:rPr lang="en-US" sz="3200" i="1">
                <a:latin typeface="Times New Roman" panose="02020603050405020304" pitchFamily="18" charset="0"/>
                <a:cs typeface="Times New Roman" panose="02020603050405020304" pitchFamily="18" charset="0"/>
              </a:rPr>
              <a:t>B</a:t>
            </a:r>
            <a:r>
              <a:rPr lang="vi-VN" sz="3200" i="1">
                <a:latin typeface="Times New Roman" panose="02020603050405020304" pitchFamily="18" charset="0"/>
                <a:cs typeface="Times New Roman" panose="02020603050405020304" pitchFamily="18" charset="0"/>
              </a:rPr>
              <a:t>7</a:t>
            </a:r>
            <a:r>
              <a:rPr lang="en-US" sz="3200" i="1">
                <a:latin typeface="Times New Roman" panose="02020603050405020304" pitchFamily="18" charset="0"/>
                <a:cs typeface="Times New Roman" panose="02020603050405020304" pitchFamily="18" charset="0"/>
              </a:rPr>
              <a:t>:</a:t>
            </a:r>
            <a:r>
              <a:rPr lang="vi-VN" sz="3200" i="1">
                <a:latin typeface="Times New Roman" panose="02020603050405020304" pitchFamily="18" charset="0"/>
                <a:cs typeface="Times New Roman" panose="02020603050405020304" pitchFamily="18" charset="0"/>
              </a:rPr>
              <a:t> Thay thế </a:t>
            </a:r>
            <a:r>
              <a:rPr lang="en-US" sz="3200" b="1" i="1">
                <a:latin typeface="Times New Roman" panose="02020603050405020304" pitchFamily="18" charset="0"/>
                <a:cs typeface="Times New Roman" panose="02020603050405020304" pitchFamily="18" charset="0"/>
              </a:rPr>
              <a:t>Type Here</a:t>
            </a:r>
            <a:r>
              <a:rPr lang="vi-VN" sz="3200" i="1">
                <a:latin typeface="Times New Roman" panose="02020603050405020304" pitchFamily="18" charset="0"/>
                <a:cs typeface="Times New Roman" panose="02020603050405020304" pitchFamily="18" charset="0"/>
              </a:rPr>
              <a:t> Ở đây với menu</a:t>
            </a:r>
            <a:r>
              <a:rPr lang="en-US" sz="3200" i="1">
                <a:latin typeface="Times New Roman" panose="02020603050405020304" pitchFamily="18" charset="0"/>
                <a:cs typeface="Times New Roman" panose="02020603050405020304" pitchFamily="18" charset="0"/>
              </a:rPr>
              <a:t> item </a:t>
            </a:r>
            <a:r>
              <a:rPr lang="en-US" sz="3200" i="1" err="1">
                <a:latin typeface="Times New Roman" panose="02020603050405020304" pitchFamily="18" charset="0"/>
                <a:cs typeface="Times New Roman" panose="02020603050405020304" pitchFamily="18" charset="0"/>
              </a:rPr>
              <a:t>là</a:t>
            </a:r>
            <a:r>
              <a:rPr lang="en-US" sz="3200" i="1">
                <a:latin typeface="Times New Roman" panose="02020603050405020304" pitchFamily="18" charset="0"/>
                <a:cs typeface="Times New Roman" panose="02020603050405020304" pitchFamily="18" charset="0"/>
              </a:rPr>
              <a:t> Save</a:t>
            </a:r>
            <a:r>
              <a:rPr lang="vi-VN" sz="3200" i="1">
                <a:latin typeface="Times New Roman" panose="02020603050405020304" pitchFamily="18" charset="0"/>
                <a:cs typeface="Times New Roman" panose="02020603050405020304" pitchFamily="18" charset="0"/>
              </a:rPr>
              <a:t>. </a:t>
            </a:r>
          </a:p>
          <a:p>
            <a:pPr marL="7938" indent="0" algn="just">
              <a:buNone/>
            </a:pPr>
            <a:r>
              <a:rPr lang="en-US" sz="3200" i="1">
                <a:latin typeface="Times New Roman" panose="02020603050405020304" pitchFamily="18" charset="0"/>
                <a:cs typeface="Times New Roman" panose="02020603050405020304" pitchFamily="18" charset="0"/>
              </a:rPr>
              <a:t>B</a:t>
            </a:r>
            <a:r>
              <a:rPr lang="vi-VN" sz="3200" i="1">
                <a:latin typeface="Times New Roman" panose="02020603050405020304" pitchFamily="18" charset="0"/>
                <a:cs typeface="Times New Roman" panose="02020603050405020304" pitchFamily="18" charset="0"/>
              </a:rPr>
              <a:t>8</a:t>
            </a:r>
            <a:r>
              <a:rPr lang="en-US" sz="3200" i="1">
                <a:latin typeface="Times New Roman" panose="02020603050405020304" pitchFamily="18" charset="0"/>
                <a:cs typeface="Times New Roman" panose="02020603050405020304" pitchFamily="18" charset="0"/>
              </a:rPr>
              <a:t>:</a:t>
            </a:r>
            <a:r>
              <a:rPr lang="vi-VN" sz="3200" i="1">
                <a:latin typeface="Times New Roman" panose="02020603050405020304" pitchFamily="18" charset="0"/>
                <a:cs typeface="Times New Roman" panose="02020603050405020304" pitchFamily="18" charset="0"/>
              </a:rPr>
              <a:t> </a:t>
            </a:r>
            <a:r>
              <a:rPr lang="en-US" sz="3200" i="1">
                <a:latin typeface="Times New Roman" panose="02020603050405020304" pitchFamily="18" charset="0"/>
                <a:cs typeface="Times New Roman" panose="02020603050405020304" pitchFamily="18" charset="0"/>
              </a:rPr>
              <a:t>S</a:t>
            </a:r>
            <a:r>
              <a:rPr lang="vi-VN" sz="3200" i="1">
                <a:latin typeface="Times New Roman" panose="02020603050405020304" pitchFamily="18" charset="0"/>
                <a:cs typeface="Times New Roman" panose="02020603050405020304" pitchFamily="18" charset="0"/>
              </a:rPr>
              <a:t>au</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khi</a:t>
            </a:r>
            <a:r>
              <a:rPr lang="vi-VN" sz="3200" i="1">
                <a:latin typeface="Times New Roman" panose="02020603050405020304" pitchFamily="18" charset="0"/>
                <a:cs typeface="Times New Roman" panose="02020603050405020304" pitchFamily="18" charset="0"/>
              </a:rPr>
              <a:t> tạo ra menu File cùng với hai menu</a:t>
            </a:r>
            <a:r>
              <a:rPr lang="en-US" sz="3200" i="1">
                <a:latin typeface="Times New Roman" panose="02020603050405020304" pitchFamily="18" charset="0"/>
                <a:cs typeface="Times New Roman" panose="02020603050405020304" pitchFamily="18" charset="0"/>
              </a:rPr>
              <a:t> item</a:t>
            </a:r>
            <a:r>
              <a:rPr lang="vi-VN" sz="3200" i="1">
                <a:latin typeface="Times New Roman" panose="02020603050405020304" pitchFamily="18" charset="0"/>
                <a:cs typeface="Times New Roman" panose="02020603050405020304" pitchFamily="18" charset="0"/>
              </a:rPr>
              <a:t> </a:t>
            </a:r>
            <a:r>
              <a:rPr lang="en-US" sz="3200" i="1">
                <a:latin typeface="Times New Roman" panose="02020603050405020304" pitchFamily="18" charset="0"/>
                <a:cs typeface="Times New Roman" panose="02020603050405020304" pitchFamily="18" charset="0"/>
              </a:rPr>
              <a:t>Open</a:t>
            </a:r>
            <a:r>
              <a:rPr lang="vi-VN" sz="3200" i="1">
                <a:latin typeface="Times New Roman" panose="02020603050405020304" pitchFamily="18" charset="0"/>
                <a:cs typeface="Times New Roman" panose="02020603050405020304" pitchFamily="18" charset="0"/>
              </a:rPr>
              <a:t> và </a:t>
            </a:r>
            <a:r>
              <a:rPr lang="en-US" sz="3200" i="1">
                <a:latin typeface="Times New Roman" panose="02020603050405020304" pitchFamily="18" charset="0"/>
                <a:cs typeface="Times New Roman" panose="02020603050405020304" pitchFamily="18" charset="0"/>
              </a:rPr>
              <a:t>Save</a:t>
            </a:r>
            <a:endParaRPr lang="vi-VN" sz="3200" i="1">
              <a:latin typeface="Times New Roman" panose="02020603050405020304" pitchFamily="18" charset="0"/>
              <a:cs typeface="Times New Roman" panose="02020603050405020304" pitchFamily="18" charset="0"/>
            </a:endParaRPr>
          </a:p>
          <a:p>
            <a:pPr marL="7938" indent="0" algn="just">
              <a:buNone/>
            </a:pPr>
            <a:r>
              <a:rPr lang="en-US" sz="3200" i="1">
                <a:latin typeface="Times New Roman" panose="02020603050405020304" pitchFamily="18" charset="0"/>
                <a:cs typeface="Times New Roman" panose="02020603050405020304" pitchFamily="18" charset="0"/>
              </a:rPr>
              <a:t>B</a:t>
            </a:r>
            <a:r>
              <a:rPr lang="vi-VN" sz="3200" i="1">
                <a:latin typeface="Times New Roman" panose="02020603050405020304" pitchFamily="18" charset="0"/>
                <a:cs typeface="Times New Roman" panose="02020603050405020304" pitchFamily="18" charset="0"/>
              </a:rPr>
              <a:t>9</a:t>
            </a:r>
            <a:r>
              <a:rPr lang="en-US" sz="3200" i="1">
                <a:latin typeface="Times New Roman" panose="02020603050405020304" pitchFamily="18" charset="0"/>
                <a:cs typeface="Times New Roman" panose="02020603050405020304" pitchFamily="18" charset="0"/>
              </a:rPr>
              <a:t>:</a:t>
            </a:r>
            <a:r>
              <a:rPr lang="vi-VN" sz="3200" i="1">
                <a:latin typeface="Times New Roman" panose="02020603050405020304" pitchFamily="18" charset="0"/>
                <a:cs typeface="Times New Roman" panose="02020603050405020304" pitchFamily="18" charset="0"/>
              </a:rPr>
              <a:t> Ứng dụng sẽ xuất hiện như sau :</a:t>
            </a:r>
            <a:endParaRPr lang="en-US" sz="3200" i="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84669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659E0-DB62-4032-AB9E-8BBA22421560}"/>
              </a:ext>
            </a:extLst>
          </p:cNvPr>
          <p:cNvSpPr>
            <a:spLocks noGrp="1"/>
          </p:cNvSpPr>
          <p:nvPr>
            <p:ph type="title"/>
          </p:nvPr>
        </p:nvSpPr>
        <p:spPr/>
        <p:txBody>
          <a:bodyPr/>
          <a:lstStyle/>
          <a:p>
            <a:r>
              <a:rPr lang="en-US" b="1" err="1">
                <a:latin typeface="Times New Roman" panose="02020603050405020304" pitchFamily="18" charset="0"/>
                <a:cs typeface="Times New Roman" panose="02020603050405020304" pitchFamily="18" charset="0"/>
              </a:rPr>
              <a:t>Sử</a:t>
            </a:r>
            <a:r>
              <a:rPr lang="en-US" b="1">
                <a:latin typeface="Times New Roman" panose="02020603050405020304" pitchFamily="18" charset="0"/>
                <a:cs typeface="Times New Roman" panose="02020603050405020304" pitchFamily="18" charset="0"/>
              </a:rPr>
              <a:t> </a:t>
            </a:r>
            <a:r>
              <a:rPr lang="en-US" b="1" err="1">
                <a:latin typeface="Times New Roman" panose="02020603050405020304" pitchFamily="18" charset="0"/>
                <a:cs typeface="Times New Roman" panose="02020603050405020304" pitchFamily="18" charset="0"/>
              </a:rPr>
              <a:t>Dụng</a:t>
            </a:r>
            <a:r>
              <a:rPr lang="en-US" b="1">
                <a:latin typeface="Times New Roman" panose="02020603050405020304" pitchFamily="18" charset="0"/>
                <a:cs typeface="Times New Roman" panose="02020603050405020304" pitchFamily="18" charset="0"/>
              </a:rPr>
              <a:t> File </a:t>
            </a:r>
            <a:r>
              <a:rPr lang="en-US" b="1" err="1">
                <a:latin typeface="Times New Roman" panose="02020603050405020304" pitchFamily="18" charset="0"/>
                <a:cs typeface="Times New Roman" panose="02020603050405020304" pitchFamily="18" charset="0"/>
              </a:rPr>
              <a:t>Hộp</a:t>
            </a:r>
            <a:r>
              <a:rPr lang="en-US" b="1">
                <a:latin typeface="Times New Roman" panose="02020603050405020304" pitchFamily="18" charset="0"/>
                <a:cs typeface="Times New Roman" panose="02020603050405020304" pitchFamily="18" charset="0"/>
              </a:rPr>
              <a:t> </a:t>
            </a:r>
            <a:r>
              <a:rPr lang="en-US" b="1" err="1">
                <a:latin typeface="Times New Roman" panose="02020603050405020304" pitchFamily="18" charset="0"/>
                <a:cs typeface="Times New Roman" panose="02020603050405020304" pitchFamily="18" charset="0"/>
              </a:rPr>
              <a:t>Thoại</a:t>
            </a:r>
            <a:endParaRPr lang="en-US" b="1">
              <a:latin typeface="Times New Roman" panose="02020603050405020304" pitchFamily="18" charset="0"/>
              <a:cs typeface="Times New Roman" panose="02020603050405020304" pitchFamily="18" charset="0"/>
            </a:endParaRPr>
          </a:p>
        </p:txBody>
      </p:sp>
      <p:pic>
        <p:nvPicPr>
          <p:cNvPr id="7" name="Content Placeholder 6" descr="sách Qt5-Python-GUI-Programming-Cookbook.pdf - Adobe Acrobat Reader DC">
            <a:extLst>
              <a:ext uri="{FF2B5EF4-FFF2-40B4-BE49-F238E27FC236}">
                <a16:creationId xmlns:a16="http://schemas.microsoft.com/office/drawing/2014/main" id="{9C3FF1F9-0E3F-412A-93F2-850048307250}"/>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2311" t="22361" r="36370" b="20252"/>
          <a:stretch/>
        </p:blipFill>
        <p:spPr>
          <a:xfrm>
            <a:off x="500332" y="933651"/>
            <a:ext cx="8229600" cy="5415391"/>
          </a:xfrm>
        </p:spPr>
      </p:pic>
    </p:spTree>
    <p:extLst>
      <p:ext uri="{BB962C8B-B14F-4D97-AF65-F5344CB8AC3E}">
        <p14:creationId xmlns:p14="http://schemas.microsoft.com/office/powerpoint/2010/main" val="27174519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659E0-DB62-4032-AB9E-8BBA22421560}"/>
              </a:ext>
            </a:extLst>
          </p:cNvPr>
          <p:cNvSpPr>
            <a:spLocks noGrp="1"/>
          </p:cNvSpPr>
          <p:nvPr>
            <p:ph type="title"/>
          </p:nvPr>
        </p:nvSpPr>
        <p:spPr>
          <a:xfrm>
            <a:off x="0" y="35260"/>
            <a:ext cx="9102490" cy="905407"/>
          </a:xfrm>
        </p:spPr>
        <p:txBody>
          <a:bodyPr/>
          <a:lstStyle/>
          <a:p>
            <a:r>
              <a:rPr lang="en-US" b="1">
                <a:latin typeface="Times New Roman" panose="02020603050405020304" pitchFamily="18" charset="0"/>
                <a:cs typeface="Times New Roman" panose="02020603050405020304" pitchFamily="18" charset="0"/>
              </a:rPr>
              <a:t>Sử Dụng File Hộp Thoại</a:t>
            </a:r>
          </a:p>
        </p:txBody>
      </p:sp>
      <p:sp>
        <p:nvSpPr>
          <p:cNvPr id="3" name="Content Placeholder 2">
            <a:extLst>
              <a:ext uri="{FF2B5EF4-FFF2-40B4-BE49-F238E27FC236}">
                <a16:creationId xmlns:a16="http://schemas.microsoft.com/office/drawing/2014/main" id="{953DBDF6-DF73-41BF-8FA0-79FD03DAC7D8}"/>
              </a:ext>
            </a:extLst>
          </p:cNvPr>
          <p:cNvSpPr>
            <a:spLocks noGrp="1"/>
          </p:cNvSpPr>
          <p:nvPr>
            <p:ph idx="1"/>
          </p:nvPr>
        </p:nvSpPr>
        <p:spPr/>
        <p:txBody>
          <a:bodyPr>
            <a:normAutofit/>
          </a:bodyPr>
          <a:lstStyle/>
          <a:p>
            <a:pPr marL="7938" indent="0" algn="just">
              <a:buNone/>
            </a:pPr>
            <a:r>
              <a:rPr lang="en-US" sz="3200" i="1">
                <a:latin typeface="Times New Roman" panose="02020603050405020304" pitchFamily="18" charset="0"/>
                <a:cs typeface="Times New Roman" panose="02020603050405020304" pitchFamily="18" charset="0"/>
              </a:rPr>
              <a:t>C</a:t>
            </a:r>
            <a:r>
              <a:rPr lang="vi-VN" sz="3200" i="1">
                <a:latin typeface="Times New Roman" panose="02020603050405020304" pitchFamily="18" charset="0"/>
                <a:cs typeface="Times New Roman" panose="02020603050405020304" pitchFamily="18" charset="0"/>
              </a:rPr>
              <a:t>ửa</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sổ</a:t>
            </a:r>
            <a:r>
              <a:rPr lang="en-US" sz="3200" i="1">
                <a:latin typeface="Times New Roman" panose="02020603050405020304" pitchFamily="18" charset="0"/>
                <a:cs typeface="Times New Roman" panose="02020603050405020304" pitchFamily="18" charset="0"/>
              </a:rPr>
              <a:t> </a:t>
            </a:r>
            <a:r>
              <a:rPr lang="en-US" sz="3200" b="1" i="1">
                <a:latin typeface="Times New Roman" panose="02020603050405020304" pitchFamily="18" charset="0"/>
                <a:cs typeface="Times New Roman" panose="02020603050405020304" pitchFamily="18" charset="0"/>
              </a:rPr>
              <a:t>Action Editor </a:t>
            </a:r>
            <a:r>
              <a:rPr lang="vi-VN" sz="3200" i="1">
                <a:latin typeface="Times New Roman" panose="02020603050405020304" pitchFamily="18" charset="0"/>
                <a:cs typeface="Times New Roman" panose="02020603050405020304" pitchFamily="18" charset="0"/>
              </a:rPr>
              <a:t>dưới</a:t>
            </a:r>
            <a:r>
              <a:rPr lang="en-US" sz="3200" i="1">
                <a:latin typeface="Times New Roman" panose="02020603050405020304" pitchFamily="18" charset="0"/>
                <a:cs typeface="Times New Roman" panose="02020603050405020304" pitchFamily="18" charset="0"/>
              </a:rPr>
              <a:t> </a:t>
            </a:r>
            <a:r>
              <a:rPr lang="vi-VN" sz="3200" i="1">
                <a:latin typeface="Times New Roman" panose="02020603050405020304" pitchFamily="18" charset="0"/>
                <a:cs typeface="Times New Roman" panose="02020603050405020304" pitchFamily="18" charset="0"/>
              </a:rPr>
              <a:t>cửa sổ </a:t>
            </a:r>
            <a:r>
              <a:rPr lang="en-US" sz="3200" b="1">
                <a:latin typeface="Times New Roman" panose="02020603050405020304" pitchFamily="18" charset="0"/>
                <a:cs typeface="Times New Roman" panose="02020603050405020304" pitchFamily="18" charset="0"/>
              </a:rPr>
              <a:t>Property Editor</a:t>
            </a:r>
            <a:r>
              <a:rPr lang="vi-VN" sz="3200" i="1">
                <a:latin typeface="Times New Roman" panose="02020603050405020304" pitchFamily="18" charset="0"/>
                <a:cs typeface="Times New Roman" panose="02020603050405020304" pitchFamily="18" charset="0"/>
              </a:rPr>
              <a:t>, bạn có thể thấy rằng tên đối tượng mặc định của</a:t>
            </a:r>
            <a:r>
              <a:rPr lang="en-US" sz="3200" i="1">
                <a:latin typeface="Times New Roman" panose="02020603050405020304" pitchFamily="18" charset="0"/>
                <a:cs typeface="Times New Roman" panose="02020603050405020304" pitchFamily="18" charset="0"/>
              </a:rPr>
              <a:t> menu item </a:t>
            </a:r>
            <a:r>
              <a:rPr lang="vi-VN" sz="3200" i="1">
                <a:latin typeface="Times New Roman" panose="02020603050405020304" pitchFamily="18" charset="0"/>
                <a:cs typeface="Times New Roman" panose="02020603050405020304" pitchFamily="18" charset="0"/>
              </a:rPr>
              <a:t> </a:t>
            </a:r>
            <a:r>
              <a:rPr lang="en-US" sz="3200" i="1">
                <a:latin typeface="Times New Roman" panose="02020603050405020304" pitchFamily="18" charset="0"/>
                <a:cs typeface="Times New Roman" panose="02020603050405020304" pitchFamily="18" charset="0"/>
              </a:rPr>
              <a:t>Open</a:t>
            </a:r>
            <a:r>
              <a:rPr lang="vi-VN" sz="3200" i="1">
                <a:latin typeface="Times New Roman" panose="02020603050405020304" pitchFamily="18" charset="0"/>
                <a:cs typeface="Times New Roman" panose="02020603050405020304" pitchFamily="18" charset="0"/>
              </a:rPr>
              <a:t> và </a:t>
            </a:r>
            <a:r>
              <a:rPr lang="en-US" sz="3200" i="1">
                <a:latin typeface="Times New Roman" panose="02020603050405020304" pitchFamily="18" charset="0"/>
                <a:cs typeface="Times New Roman" panose="02020603050405020304" pitchFamily="18" charset="0"/>
              </a:rPr>
              <a:t>Save </a:t>
            </a:r>
            <a:r>
              <a:rPr lang="en-US" sz="3200" i="1" err="1">
                <a:latin typeface="Times New Roman" panose="02020603050405020304" pitchFamily="18" charset="0"/>
                <a:cs typeface="Times New Roman" panose="02020603050405020304" pitchFamily="18" charset="0"/>
              </a:rPr>
              <a:t>theo</a:t>
            </a:r>
            <a:r>
              <a:rPr lang="en-US" sz="3200" i="1">
                <a:latin typeface="Times New Roman" panose="02020603050405020304" pitchFamily="18" charset="0"/>
                <a:cs typeface="Times New Roman" panose="02020603050405020304" pitchFamily="18" charset="0"/>
              </a:rPr>
              <a:t> </a:t>
            </a:r>
            <a:r>
              <a:rPr lang="en-US" sz="3200" i="1" err="1">
                <a:latin typeface="Times New Roman" panose="02020603050405020304" pitchFamily="18" charset="0"/>
                <a:cs typeface="Times New Roman" panose="02020603050405020304" pitchFamily="18" charset="0"/>
              </a:rPr>
              <a:t>th</a:t>
            </a:r>
            <a:r>
              <a:rPr lang="vi-VN" sz="3200" i="1">
                <a:latin typeface="Times New Roman" panose="02020603050405020304" pitchFamily="18" charset="0"/>
                <a:cs typeface="Times New Roman" panose="02020603050405020304" pitchFamily="18" charset="0"/>
              </a:rPr>
              <a:t>ứ</a:t>
            </a:r>
            <a:r>
              <a:rPr lang="en-US" sz="3200" i="1">
                <a:latin typeface="Times New Roman" panose="02020603050405020304" pitchFamily="18" charset="0"/>
                <a:cs typeface="Times New Roman" panose="02020603050405020304" pitchFamily="18" charset="0"/>
              </a:rPr>
              <a:t> t</a:t>
            </a:r>
            <a:r>
              <a:rPr lang="vi-VN" sz="3200" i="1">
                <a:latin typeface="Times New Roman" panose="02020603050405020304" pitchFamily="18" charset="0"/>
                <a:cs typeface="Times New Roman" panose="02020603050405020304" pitchFamily="18" charset="0"/>
              </a:rPr>
              <a:t>ự là actionOpen và actionSave. Tab </a:t>
            </a:r>
            <a:r>
              <a:rPr lang="en-US" sz="3200" b="1" i="1">
                <a:latin typeface="Times New Roman" panose="02020603050405020304" pitchFamily="18" charset="0"/>
                <a:cs typeface="Times New Roman" panose="02020603050405020304" pitchFamily="18" charset="0"/>
              </a:rPr>
              <a:t>Shortcut </a:t>
            </a:r>
            <a:r>
              <a:rPr lang="en-US" sz="3200" i="1">
                <a:latin typeface="Times New Roman" panose="02020603050405020304" pitchFamily="18" charset="0"/>
                <a:cs typeface="Times New Roman" panose="02020603050405020304" pitchFamily="18" charset="0"/>
              </a:rPr>
              <a:t>trong c</a:t>
            </a:r>
            <a:r>
              <a:rPr lang="vi-VN" sz="3200" i="1">
                <a:latin typeface="Times New Roman" panose="02020603050405020304" pitchFamily="18" charset="0"/>
                <a:cs typeface="Times New Roman" panose="02020603050405020304" pitchFamily="18" charset="0"/>
              </a:rPr>
              <a:t>ửa</a:t>
            </a:r>
            <a:r>
              <a:rPr lang="en-US" sz="3200" i="1">
                <a:latin typeface="Times New Roman" panose="02020603050405020304" pitchFamily="18" charset="0"/>
                <a:cs typeface="Times New Roman" panose="02020603050405020304" pitchFamily="18" charset="0"/>
              </a:rPr>
              <a:t> sổ </a:t>
            </a:r>
            <a:r>
              <a:rPr lang="en-US" sz="3200" b="1" i="1">
                <a:latin typeface="Times New Roman" panose="02020603050405020304" pitchFamily="18" charset="0"/>
                <a:cs typeface="Times New Roman" panose="02020603050405020304" pitchFamily="18" charset="0"/>
              </a:rPr>
              <a:t>Action Editor </a:t>
            </a:r>
            <a:endParaRPr lang="vi-VN" sz="3200" b="1" i="1">
              <a:latin typeface="Times New Roman" panose="02020603050405020304" pitchFamily="18" charset="0"/>
              <a:cs typeface="Times New Roman" panose="02020603050405020304" pitchFamily="18" charset="0"/>
            </a:endParaRPr>
          </a:p>
          <a:p>
            <a:pPr marL="7938" indent="0" algn="just">
              <a:buNone/>
            </a:pPr>
            <a:r>
              <a:rPr lang="en-US" sz="3200" i="1">
                <a:latin typeface="Times New Roman" panose="02020603050405020304" pitchFamily="18" charset="0"/>
                <a:cs typeface="Times New Roman" panose="02020603050405020304" pitchFamily="18" charset="0"/>
              </a:rPr>
              <a:t>h</a:t>
            </a:r>
            <a:r>
              <a:rPr lang="vi-VN" sz="3200" i="1">
                <a:latin typeface="Times New Roman" panose="02020603050405020304" pitchFamily="18" charset="0"/>
                <a:cs typeface="Times New Roman" panose="02020603050405020304" pitchFamily="18" charset="0"/>
              </a:rPr>
              <a:t>iện</a:t>
            </a:r>
            <a:r>
              <a:rPr lang="en-US" sz="3200" i="1">
                <a:latin typeface="Times New Roman" panose="02020603050405020304" pitchFamily="18" charset="0"/>
                <a:cs typeface="Times New Roman" panose="02020603050405020304" pitchFamily="18" charset="0"/>
              </a:rPr>
              <a:t> đang</a:t>
            </a:r>
            <a:r>
              <a:rPr lang="vi-VN" sz="3200" i="1">
                <a:latin typeface="Times New Roman" panose="02020603050405020304" pitchFamily="18" charset="0"/>
                <a:cs typeface="Times New Roman" panose="02020603050405020304" pitchFamily="18" charset="0"/>
              </a:rPr>
              <a:t> trống,</a:t>
            </a:r>
            <a:r>
              <a:rPr lang="en-US" sz="3200" i="1">
                <a:latin typeface="Times New Roman" panose="02020603050405020304" pitchFamily="18" charset="0"/>
                <a:cs typeface="Times New Roman" panose="02020603050405020304" pitchFamily="18" charset="0"/>
              </a:rPr>
              <a:t> </a:t>
            </a:r>
            <a:r>
              <a:rPr lang="vi-VN" sz="3200" i="1">
                <a:latin typeface="Times New Roman" panose="02020603050405020304" pitchFamily="18" charset="0"/>
                <a:cs typeface="Times New Roman" panose="02020603050405020304" pitchFamily="18" charset="0"/>
              </a:rPr>
              <a:t>vì chưa có phím tắt nào được gán cho một trong hai mục menu :</a:t>
            </a:r>
            <a:endParaRPr lang="en-US" sz="3200" i="1">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84E7C285-F47E-4A3A-8B67-94A7563FAC15}"/>
              </a:ext>
            </a:extLst>
          </p:cNvPr>
          <p:cNvSpPr>
            <a:spLocks noChangeArrowheads="1"/>
          </p:cNvSpPr>
          <p:nvPr/>
        </p:nvSpPr>
        <p:spPr bwMode="auto">
          <a:xfrm>
            <a:off x="0" y="105489"/>
            <a:ext cx="24878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en-US" sz="1000" b="0" i="0" u="none" strike="noStrike" cap="none" normalizeH="0" baseline="0">
                <a:ln>
                  <a:noFill/>
                </a:ln>
                <a:solidFill>
                  <a:schemeClr val="tx1"/>
                </a:solidFill>
                <a:effectLst/>
                <a:latin typeface="Arial Unicode MS"/>
              </a:rPr>
              <a:t>:</a:t>
            </a:r>
            <a:r>
              <a:rPr kumimoji="0" lang="vi-VN" altLang="en-US" sz="800" b="0" i="0" u="none" strike="noStrike" cap="none" normalizeH="0" baseline="0">
                <a:ln>
                  <a:noFill/>
                </a:ln>
                <a:solidFill>
                  <a:schemeClr val="tx1"/>
                </a:solidFill>
                <a:effectLst/>
              </a:rPr>
              <a:t> </a:t>
            </a:r>
            <a:endParaRPr kumimoji="0" lang="vi-VN" altLang="en-US" sz="1800" b="0" i="0" u="none" strike="noStrike" cap="none" normalizeH="0" baseline="0">
              <a:ln>
                <a:noFill/>
              </a:ln>
              <a:solidFill>
                <a:schemeClr val="tx1"/>
              </a:solidFill>
              <a:effectLst/>
              <a:latin typeface="Arial" panose="020B0604020202020204" pitchFamily="34" charset="0"/>
            </a:endParaRPr>
          </a:p>
        </p:txBody>
      </p:sp>
      <p:pic>
        <p:nvPicPr>
          <p:cNvPr id="8" name="Picture 7" descr="sách Qt5-Python-GUI-Programming-Cookbook.pdf - Adobe Acrobat Reader DC">
            <a:extLst>
              <a:ext uri="{FF2B5EF4-FFF2-40B4-BE49-F238E27FC236}">
                <a16:creationId xmlns:a16="http://schemas.microsoft.com/office/drawing/2014/main" id="{312FAD5F-912C-4AB0-8618-AF3215924379}"/>
              </a:ext>
            </a:extLst>
          </p:cNvPr>
          <p:cNvPicPr>
            <a:picLocks noChangeAspect="1"/>
          </p:cNvPicPr>
          <p:nvPr/>
        </p:nvPicPr>
        <p:blipFill rotWithShape="1">
          <a:blip r:embed="rId2">
            <a:extLst>
              <a:ext uri="{28A0092B-C50C-407E-A947-70E740481C1C}">
                <a14:useLocalDpi xmlns:a14="http://schemas.microsoft.com/office/drawing/2010/main" val="0"/>
              </a:ext>
            </a:extLst>
          </a:blip>
          <a:srcRect l="11698" t="32564" r="25094" b="22575"/>
          <a:stretch/>
        </p:blipFill>
        <p:spPr>
          <a:xfrm>
            <a:off x="552091" y="3925017"/>
            <a:ext cx="7988059" cy="2700070"/>
          </a:xfrm>
          <a:prstGeom prst="rect">
            <a:avLst/>
          </a:prstGeom>
        </p:spPr>
      </p:pic>
    </p:spTree>
    <p:extLst>
      <p:ext uri="{BB962C8B-B14F-4D97-AF65-F5344CB8AC3E}">
        <p14:creationId xmlns:p14="http://schemas.microsoft.com/office/powerpoint/2010/main" val="8859830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659E0-DB62-4032-AB9E-8BBA22421560}"/>
              </a:ext>
            </a:extLst>
          </p:cNvPr>
          <p:cNvSpPr>
            <a:spLocks noGrp="1"/>
          </p:cNvSpPr>
          <p:nvPr>
            <p:ph type="title"/>
          </p:nvPr>
        </p:nvSpPr>
        <p:spPr>
          <a:xfrm>
            <a:off x="0" y="35260"/>
            <a:ext cx="9102490" cy="905407"/>
          </a:xfrm>
        </p:spPr>
        <p:txBody>
          <a:bodyPr/>
          <a:lstStyle/>
          <a:p>
            <a:r>
              <a:rPr lang="en-US" b="1">
                <a:latin typeface="Times New Roman" panose="02020603050405020304" pitchFamily="18" charset="0"/>
                <a:cs typeface="Times New Roman" panose="02020603050405020304" pitchFamily="18" charset="0"/>
              </a:rPr>
              <a:t>Sử Dụng File Hộp Thoại</a:t>
            </a:r>
          </a:p>
        </p:txBody>
      </p:sp>
      <p:sp>
        <p:nvSpPr>
          <p:cNvPr id="3" name="Content Placeholder 2">
            <a:extLst>
              <a:ext uri="{FF2B5EF4-FFF2-40B4-BE49-F238E27FC236}">
                <a16:creationId xmlns:a16="http://schemas.microsoft.com/office/drawing/2014/main" id="{953DBDF6-DF73-41BF-8FA0-79FD03DAC7D8}"/>
              </a:ext>
            </a:extLst>
          </p:cNvPr>
          <p:cNvSpPr>
            <a:spLocks noGrp="1"/>
          </p:cNvSpPr>
          <p:nvPr>
            <p:ph idx="1"/>
          </p:nvPr>
        </p:nvSpPr>
        <p:spPr/>
        <p:txBody>
          <a:bodyPr>
            <a:normAutofit/>
          </a:bodyPr>
          <a:lstStyle/>
          <a:p>
            <a:pPr marL="7938" indent="0" algn="just">
              <a:buNone/>
            </a:pPr>
            <a:r>
              <a:rPr lang="en-US" sz="3200" i="1">
                <a:latin typeface="Times New Roman" panose="02020603050405020304" pitchFamily="18" charset="0"/>
                <a:cs typeface="Times New Roman" panose="02020603050405020304" pitchFamily="18" charset="0"/>
              </a:rPr>
              <a:t>B10:</a:t>
            </a:r>
            <a:r>
              <a:rPr lang="vi-VN" sz="3200" i="1">
                <a:latin typeface="Times New Roman" panose="02020603050405020304" pitchFamily="18" charset="0"/>
                <a:cs typeface="Times New Roman" panose="02020603050405020304" pitchFamily="18" charset="0"/>
              </a:rPr>
              <a:t>Để gán phím tắt cho mục menu </a:t>
            </a:r>
            <a:r>
              <a:rPr lang="en-US" sz="3200" i="1">
                <a:latin typeface="Times New Roman" panose="02020603050405020304" pitchFamily="18" charset="0"/>
                <a:cs typeface="Times New Roman" panose="02020603050405020304" pitchFamily="18" charset="0"/>
              </a:rPr>
              <a:t>Open</a:t>
            </a:r>
            <a:r>
              <a:rPr lang="vi-VN" sz="3200" i="1">
                <a:latin typeface="Times New Roman" panose="02020603050405020304" pitchFamily="18" charset="0"/>
                <a:cs typeface="Times New Roman" panose="02020603050405020304" pitchFamily="18" charset="0"/>
              </a:rPr>
              <a:t>, bấm đúp vào khoảng trống trong tab </a:t>
            </a:r>
            <a:r>
              <a:rPr lang="en-US" sz="3200" i="1">
                <a:latin typeface="Times New Roman" panose="02020603050405020304" pitchFamily="18" charset="0"/>
                <a:cs typeface="Times New Roman" panose="02020603050405020304" pitchFamily="18" charset="0"/>
              </a:rPr>
              <a:t>Shortcut </a:t>
            </a:r>
            <a:r>
              <a:rPr lang="vi-VN" sz="3200" i="1">
                <a:latin typeface="Times New Roman" panose="02020603050405020304" pitchFamily="18" charset="0"/>
                <a:cs typeface="Times New Roman" panose="02020603050405020304" pitchFamily="18" charset="0"/>
              </a:rPr>
              <a:t>của mục menu ActionOpen. Bạn nhận được hộp thoại, như thể hiện trong ảnh chụp màn hình sau:</a:t>
            </a:r>
            <a:endParaRPr lang="en-US" sz="3200" i="1">
              <a:latin typeface="Times New Roman" panose="02020603050405020304" pitchFamily="18" charset="0"/>
              <a:cs typeface="Times New Roman" panose="02020603050405020304" pitchFamily="18" charset="0"/>
            </a:endParaRPr>
          </a:p>
          <a:p>
            <a:pPr marL="7938" indent="0" algn="just">
              <a:buNone/>
            </a:pPr>
            <a:endParaRPr lang="en-US" sz="3200" i="1">
              <a:latin typeface="Times New Roman" panose="02020603050405020304" pitchFamily="18" charset="0"/>
              <a:cs typeface="Times New Roman" panose="02020603050405020304" pitchFamily="18" charset="0"/>
            </a:endParaRPr>
          </a:p>
          <a:p>
            <a:pPr marL="7938" indent="0" algn="just">
              <a:buNone/>
            </a:pPr>
            <a:endParaRPr lang="en-US" sz="3200" i="1">
              <a:latin typeface="Times New Roman" panose="02020603050405020304" pitchFamily="18" charset="0"/>
              <a:cs typeface="Times New Roman" panose="02020603050405020304" pitchFamily="18" charset="0"/>
            </a:endParaRPr>
          </a:p>
          <a:p>
            <a:pPr marL="7938" indent="0" algn="just">
              <a:buNone/>
            </a:pPr>
            <a:endParaRPr lang="en-US" sz="3200" i="1">
              <a:latin typeface="Times New Roman" panose="02020603050405020304" pitchFamily="18" charset="0"/>
              <a:cs typeface="Times New Roman" panose="02020603050405020304" pitchFamily="18" charset="0"/>
            </a:endParaRPr>
          </a:p>
          <a:p>
            <a:pPr marL="7938" indent="0" algn="just">
              <a:buNone/>
            </a:pPr>
            <a:endParaRPr lang="en-US" sz="3200" i="1">
              <a:latin typeface="Times New Roman" panose="02020603050405020304" pitchFamily="18" charset="0"/>
              <a:cs typeface="Times New Roman" panose="02020603050405020304" pitchFamily="18" charset="0"/>
            </a:endParaRPr>
          </a:p>
          <a:p>
            <a:pPr marL="7938" indent="0" algn="just">
              <a:buNone/>
            </a:pPr>
            <a:endParaRPr lang="en-US" sz="3200" i="1">
              <a:latin typeface="Times New Roman" panose="02020603050405020304" pitchFamily="18" charset="0"/>
              <a:cs typeface="Times New Roman" panose="02020603050405020304" pitchFamily="18" charset="0"/>
            </a:endParaRPr>
          </a:p>
          <a:p>
            <a:pPr marL="7938" indent="0" algn="just">
              <a:buNone/>
            </a:pPr>
            <a:r>
              <a:rPr lang="vi-VN" sz="3200" i="1">
                <a:latin typeface="Times New Roman" panose="02020603050405020304" pitchFamily="18" charset="0"/>
                <a:cs typeface="Times New Roman" panose="02020603050405020304" pitchFamily="18" charset="0"/>
              </a:rPr>
              <a:t>Các hộp Văn bản, Tên đối tượng và ToolTip sẽ tự động được điền với văn bản mặc định.</a:t>
            </a:r>
            <a:endParaRPr lang="en-US" sz="3200" i="1">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84E7C285-F47E-4A3A-8B67-94A7563FAC15}"/>
              </a:ext>
            </a:extLst>
          </p:cNvPr>
          <p:cNvSpPr>
            <a:spLocks noChangeArrowheads="1"/>
          </p:cNvSpPr>
          <p:nvPr/>
        </p:nvSpPr>
        <p:spPr bwMode="auto">
          <a:xfrm>
            <a:off x="0" y="105489"/>
            <a:ext cx="24878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en-US" sz="1000" b="0" i="0" u="none" strike="noStrike" cap="none" normalizeH="0" baseline="0">
                <a:ln>
                  <a:noFill/>
                </a:ln>
                <a:solidFill>
                  <a:schemeClr val="tx1"/>
                </a:solidFill>
                <a:effectLst/>
                <a:latin typeface="Arial Unicode MS"/>
              </a:rPr>
              <a:t>:</a:t>
            </a:r>
            <a:r>
              <a:rPr kumimoji="0" lang="vi-VN" altLang="en-US" sz="800" b="0" i="0" u="none" strike="noStrike" cap="none" normalizeH="0" baseline="0">
                <a:ln>
                  <a:noFill/>
                </a:ln>
                <a:solidFill>
                  <a:schemeClr val="tx1"/>
                </a:solidFill>
                <a:effectLst/>
              </a:rPr>
              <a:t> </a:t>
            </a:r>
            <a:endParaRPr kumimoji="0" lang="vi-VN" altLang="en-US" sz="1800" b="0" i="0" u="none" strike="noStrike" cap="none" normalizeH="0" baseline="0">
              <a:ln>
                <a:noFill/>
              </a:ln>
              <a:solidFill>
                <a:schemeClr val="tx1"/>
              </a:solidFill>
              <a:effectLst/>
              <a:latin typeface="Arial" panose="020B0604020202020204" pitchFamily="34" charset="0"/>
            </a:endParaRPr>
          </a:p>
        </p:txBody>
      </p:sp>
      <p:pic>
        <p:nvPicPr>
          <p:cNvPr id="6" name="Picture 5" descr="sách Qt5-Python-GUI-Programming-Cookbook.pdf - Adobe Acrobat Reader DC">
            <a:extLst>
              <a:ext uri="{FF2B5EF4-FFF2-40B4-BE49-F238E27FC236}">
                <a16:creationId xmlns:a16="http://schemas.microsoft.com/office/drawing/2014/main" id="{CAC29D73-0776-4EEF-A140-8DC122611D8D}"/>
              </a:ext>
            </a:extLst>
          </p:cNvPr>
          <p:cNvPicPr>
            <a:picLocks noChangeAspect="1"/>
          </p:cNvPicPr>
          <p:nvPr/>
        </p:nvPicPr>
        <p:blipFill rotWithShape="1">
          <a:blip r:embed="rId2">
            <a:extLst>
              <a:ext uri="{28A0092B-C50C-407E-A947-70E740481C1C}">
                <a14:useLocalDpi xmlns:a14="http://schemas.microsoft.com/office/drawing/2010/main" val="0"/>
              </a:ext>
            </a:extLst>
          </a:blip>
          <a:srcRect l="23774" t="31162" r="38113" b="9958"/>
          <a:stretch/>
        </p:blipFill>
        <p:spPr>
          <a:xfrm>
            <a:off x="914401" y="2766717"/>
            <a:ext cx="6745856" cy="3071005"/>
          </a:xfrm>
          <a:prstGeom prst="rect">
            <a:avLst/>
          </a:prstGeom>
        </p:spPr>
      </p:pic>
    </p:spTree>
    <p:extLst>
      <p:ext uri="{BB962C8B-B14F-4D97-AF65-F5344CB8AC3E}">
        <p14:creationId xmlns:p14="http://schemas.microsoft.com/office/powerpoint/2010/main" val="279731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659E0-DB62-4032-AB9E-8BBA22421560}"/>
              </a:ext>
            </a:extLst>
          </p:cNvPr>
          <p:cNvSpPr>
            <a:spLocks noGrp="1"/>
          </p:cNvSpPr>
          <p:nvPr>
            <p:ph type="title"/>
          </p:nvPr>
        </p:nvSpPr>
        <p:spPr>
          <a:xfrm>
            <a:off x="0" y="35260"/>
            <a:ext cx="9102490" cy="905407"/>
          </a:xfrm>
        </p:spPr>
        <p:txBody>
          <a:bodyPr/>
          <a:lstStyle/>
          <a:p>
            <a:r>
              <a:rPr lang="en-US" b="1">
                <a:latin typeface="Times New Roman" panose="02020603050405020304" pitchFamily="18" charset="0"/>
                <a:cs typeface="Times New Roman" panose="02020603050405020304" pitchFamily="18" charset="0"/>
              </a:rPr>
              <a:t>Sử Dụng File Hộp Thoại</a:t>
            </a:r>
          </a:p>
        </p:txBody>
      </p:sp>
      <p:sp>
        <p:nvSpPr>
          <p:cNvPr id="3" name="Content Placeholder 2">
            <a:extLst>
              <a:ext uri="{FF2B5EF4-FFF2-40B4-BE49-F238E27FC236}">
                <a16:creationId xmlns:a16="http://schemas.microsoft.com/office/drawing/2014/main" id="{953DBDF6-DF73-41BF-8FA0-79FD03DAC7D8}"/>
              </a:ext>
            </a:extLst>
          </p:cNvPr>
          <p:cNvSpPr>
            <a:spLocks noGrp="1"/>
          </p:cNvSpPr>
          <p:nvPr>
            <p:ph idx="1"/>
          </p:nvPr>
        </p:nvSpPr>
        <p:spPr/>
        <p:txBody>
          <a:bodyPr>
            <a:normAutofit/>
          </a:bodyPr>
          <a:lstStyle/>
          <a:p>
            <a:pPr marL="7938" indent="0" algn="just">
              <a:buNone/>
            </a:pPr>
            <a:r>
              <a:rPr lang="en-US" sz="3200" i="1">
                <a:latin typeface="Times New Roman" panose="02020603050405020304" pitchFamily="18" charset="0"/>
                <a:cs typeface="Times New Roman" panose="02020603050405020304" pitchFamily="18" charset="0"/>
              </a:rPr>
              <a:t>B</a:t>
            </a:r>
            <a:r>
              <a:rPr lang="vi-VN" sz="3200" i="1">
                <a:latin typeface="Times New Roman" panose="02020603050405020304" pitchFamily="18" charset="0"/>
                <a:cs typeface="Times New Roman" panose="02020603050405020304" pitchFamily="18" charset="0"/>
              </a:rPr>
              <a:t>11</a:t>
            </a:r>
            <a:r>
              <a:rPr lang="en-US" sz="3200" i="1">
                <a:latin typeface="Times New Roman" panose="02020603050405020304" pitchFamily="18" charset="0"/>
                <a:cs typeface="Times New Roman" panose="02020603050405020304" pitchFamily="18" charset="0"/>
              </a:rPr>
              <a:t>:</a:t>
            </a:r>
            <a:r>
              <a:rPr lang="vi-VN" sz="3200" i="1">
                <a:latin typeface="Times New Roman" panose="02020603050405020304" pitchFamily="18" charset="0"/>
                <a:cs typeface="Times New Roman" panose="02020603050405020304" pitchFamily="18" charset="0"/>
              </a:rPr>
              <a:t> Nhấp vào hộp </a:t>
            </a:r>
            <a:r>
              <a:rPr lang="en-US" sz="3200" i="1">
                <a:latin typeface="Times New Roman" panose="02020603050405020304" pitchFamily="18" charset="0"/>
                <a:cs typeface="Times New Roman" panose="02020603050405020304" pitchFamily="18" charset="0"/>
              </a:rPr>
              <a:t>Shortcut</a:t>
            </a:r>
            <a:r>
              <a:rPr lang="vi-VN" sz="3200" i="1">
                <a:latin typeface="Times New Roman" panose="02020603050405020304" pitchFamily="18" charset="0"/>
                <a:cs typeface="Times New Roman" panose="02020603050405020304" pitchFamily="18" charset="0"/>
              </a:rPr>
              <a:t> để đặt con trỏ vào ô đó và nhấn phím Ctrl và O để gán Ctrl + O làm </a:t>
            </a:r>
            <a:r>
              <a:rPr lang="en-US" sz="3200" i="1">
                <a:latin typeface="Times New Roman" panose="02020603050405020304" pitchFamily="18" charset="0"/>
                <a:cs typeface="Times New Roman" panose="02020603050405020304" pitchFamily="18" charset="0"/>
              </a:rPr>
              <a:t>phím</a:t>
            </a:r>
            <a:r>
              <a:rPr lang="vi-VN" sz="3200" i="1">
                <a:latin typeface="Times New Roman" panose="02020603050405020304" pitchFamily="18" charset="0"/>
                <a:cs typeface="Times New Roman" panose="02020603050405020304" pitchFamily="18" charset="0"/>
              </a:rPr>
              <a:t> tắt cho mục menu </a:t>
            </a:r>
            <a:r>
              <a:rPr lang="en-US" sz="3200" i="1">
                <a:latin typeface="Times New Roman" panose="02020603050405020304" pitchFamily="18" charset="0"/>
                <a:cs typeface="Times New Roman" panose="02020603050405020304" pitchFamily="18" charset="0"/>
              </a:rPr>
              <a:t>Open</a:t>
            </a:r>
            <a:r>
              <a:rPr lang="vi-VN" sz="3200" i="1">
                <a:latin typeface="Times New Roman" panose="02020603050405020304" pitchFamily="18" charset="0"/>
                <a:cs typeface="Times New Roman" panose="02020603050405020304" pitchFamily="18" charset="0"/>
              </a:rPr>
              <a:t>.</a:t>
            </a:r>
          </a:p>
          <a:p>
            <a:pPr marL="7938" indent="0" algn="just">
              <a:buNone/>
            </a:pPr>
            <a:r>
              <a:rPr lang="en-US" sz="3200" i="1">
                <a:latin typeface="Times New Roman" panose="02020603050405020304" pitchFamily="18" charset="0"/>
                <a:cs typeface="Times New Roman" panose="02020603050405020304" pitchFamily="18" charset="0"/>
              </a:rPr>
              <a:t>B</a:t>
            </a:r>
            <a:r>
              <a:rPr lang="vi-VN" sz="3200" i="1">
                <a:latin typeface="Times New Roman" panose="02020603050405020304" pitchFamily="18" charset="0"/>
                <a:cs typeface="Times New Roman" panose="02020603050405020304" pitchFamily="18" charset="0"/>
              </a:rPr>
              <a:t>12</a:t>
            </a:r>
            <a:r>
              <a:rPr lang="en-US" sz="3200" i="1">
                <a:latin typeface="Times New Roman" panose="02020603050405020304" pitchFamily="18" charset="0"/>
                <a:cs typeface="Times New Roman" panose="02020603050405020304" pitchFamily="18" charset="0"/>
              </a:rPr>
              <a:t>:</a:t>
            </a:r>
            <a:r>
              <a:rPr lang="vi-VN" sz="3200" i="1">
                <a:latin typeface="Times New Roman" panose="02020603050405020304" pitchFamily="18" charset="0"/>
                <a:cs typeface="Times New Roman" panose="02020603050405020304" pitchFamily="18" charset="0"/>
              </a:rPr>
              <a:t> Nhấp đúp vào khoảng trống trong tab </a:t>
            </a:r>
            <a:r>
              <a:rPr lang="en-US" sz="3200" i="1">
                <a:latin typeface="Times New Roman" panose="02020603050405020304" pitchFamily="18" charset="0"/>
                <a:cs typeface="Times New Roman" panose="02020603050405020304" pitchFamily="18" charset="0"/>
              </a:rPr>
              <a:t>Shortcut </a:t>
            </a:r>
            <a:r>
              <a:rPr lang="vi-VN" sz="3200" i="1">
                <a:latin typeface="Times New Roman" panose="02020603050405020304" pitchFamily="18" charset="0"/>
                <a:cs typeface="Times New Roman" panose="02020603050405020304" pitchFamily="18" charset="0"/>
              </a:rPr>
              <a:t>của mục menu ActionSave và nhấn Ctrl + S trong hộp </a:t>
            </a:r>
            <a:r>
              <a:rPr lang="en-US" sz="3200" i="1">
                <a:latin typeface="Times New Roman" panose="02020603050405020304" pitchFamily="18" charset="0"/>
                <a:cs typeface="Times New Roman" panose="02020603050405020304" pitchFamily="18" charset="0"/>
              </a:rPr>
              <a:t>shortcut </a:t>
            </a:r>
            <a:r>
              <a:rPr lang="vi-VN" sz="3200" i="1">
                <a:latin typeface="Times New Roman" panose="02020603050405020304" pitchFamily="18" charset="0"/>
                <a:cs typeface="Times New Roman" panose="02020603050405020304" pitchFamily="18" charset="0"/>
              </a:rPr>
              <a:t>của hộp thoại mở ra.</a:t>
            </a:r>
          </a:p>
          <a:p>
            <a:pPr marL="7938" indent="0" algn="just">
              <a:buNone/>
            </a:pPr>
            <a:r>
              <a:rPr lang="en-US" sz="3200" i="1">
                <a:latin typeface="Times New Roman" panose="02020603050405020304" pitchFamily="18" charset="0"/>
                <a:cs typeface="Times New Roman" panose="02020603050405020304" pitchFamily="18" charset="0"/>
              </a:rPr>
              <a:t>B</a:t>
            </a:r>
            <a:r>
              <a:rPr lang="vi-VN" sz="3200" i="1">
                <a:latin typeface="Times New Roman" panose="02020603050405020304" pitchFamily="18" charset="0"/>
                <a:cs typeface="Times New Roman" panose="02020603050405020304" pitchFamily="18" charset="0"/>
              </a:rPr>
              <a:t>13</a:t>
            </a:r>
            <a:r>
              <a:rPr lang="en-US" sz="3200" i="1">
                <a:latin typeface="Times New Roman" panose="02020603050405020304" pitchFamily="18" charset="0"/>
                <a:cs typeface="Times New Roman" panose="02020603050405020304" pitchFamily="18" charset="0"/>
              </a:rPr>
              <a:t>:</a:t>
            </a:r>
            <a:r>
              <a:rPr lang="vi-VN" sz="3200" i="1">
                <a:latin typeface="Times New Roman" panose="02020603050405020304" pitchFamily="18" charset="0"/>
                <a:cs typeface="Times New Roman" panose="02020603050405020304" pitchFamily="18" charset="0"/>
              </a:rPr>
              <a:t> Sau khi gán các phím tắt cho cả hai mục menu, </a:t>
            </a:r>
            <a:r>
              <a:rPr lang="en-US" sz="3200" i="1">
                <a:latin typeface="Times New Roman" panose="02020603050405020304" pitchFamily="18" charset="0"/>
                <a:cs typeface="Times New Roman" panose="02020603050405020304" pitchFamily="18" charset="0"/>
              </a:rPr>
              <a:t>Open</a:t>
            </a:r>
            <a:r>
              <a:rPr lang="vi-VN" sz="3200" i="1">
                <a:latin typeface="Times New Roman" panose="02020603050405020304" pitchFamily="18" charset="0"/>
                <a:cs typeface="Times New Roman" panose="02020603050405020304" pitchFamily="18" charset="0"/>
              </a:rPr>
              <a:t> và </a:t>
            </a:r>
            <a:r>
              <a:rPr lang="en-US" sz="3200" i="1">
                <a:latin typeface="Times New Roman" panose="02020603050405020304" pitchFamily="18" charset="0"/>
                <a:cs typeface="Times New Roman" panose="02020603050405020304" pitchFamily="18" charset="0"/>
              </a:rPr>
              <a:t>Save.</a:t>
            </a:r>
            <a:r>
              <a:rPr lang="vi-VN" sz="3200" i="1">
                <a:latin typeface="Times New Roman" panose="02020603050405020304" pitchFamily="18" charset="0"/>
                <a:cs typeface="Times New Roman" panose="02020603050405020304" pitchFamily="18" charset="0"/>
              </a:rPr>
              <a:t> Cửa sổ Action Editor sẽ xuất hiện như trong ảnh chụp màn hình sau:</a:t>
            </a:r>
            <a:endParaRPr lang="en-US" sz="3200" i="1">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84E7C285-F47E-4A3A-8B67-94A7563FAC15}"/>
              </a:ext>
            </a:extLst>
          </p:cNvPr>
          <p:cNvSpPr>
            <a:spLocks noChangeArrowheads="1"/>
          </p:cNvSpPr>
          <p:nvPr/>
        </p:nvSpPr>
        <p:spPr bwMode="auto">
          <a:xfrm>
            <a:off x="0" y="105489"/>
            <a:ext cx="24878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en-US" sz="1000" b="0" i="0" u="none" strike="noStrike" cap="none" normalizeH="0" baseline="0">
                <a:ln>
                  <a:noFill/>
                </a:ln>
                <a:solidFill>
                  <a:schemeClr val="tx1"/>
                </a:solidFill>
                <a:effectLst/>
                <a:latin typeface="Arial Unicode MS"/>
              </a:rPr>
              <a:t>:</a:t>
            </a:r>
            <a:r>
              <a:rPr kumimoji="0" lang="vi-VN" altLang="en-US" sz="800" b="0" i="0" u="none" strike="noStrike" cap="none" normalizeH="0" baseline="0">
                <a:ln>
                  <a:noFill/>
                </a:ln>
                <a:solidFill>
                  <a:schemeClr val="tx1"/>
                </a:solidFill>
                <a:effectLst/>
              </a:rPr>
              <a:t> </a:t>
            </a:r>
            <a:endParaRPr kumimoji="0" lang="vi-VN"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158972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659E0-DB62-4032-AB9E-8BBA22421560}"/>
              </a:ext>
            </a:extLst>
          </p:cNvPr>
          <p:cNvSpPr>
            <a:spLocks noGrp="1"/>
          </p:cNvSpPr>
          <p:nvPr>
            <p:ph type="title"/>
          </p:nvPr>
        </p:nvSpPr>
        <p:spPr>
          <a:xfrm>
            <a:off x="0" y="35260"/>
            <a:ext cx="9102490" cy="905407"/>
          </a:xfrm>
        </p:spPr>
        <p:txBody>
          <a:bodyPr/>
          <a:lstStyle/>
          <a:p>
            <a:r>
              <a:rPr lang="en-US" b="1">
                <a:latin typeface="Times New Roman" panose="02020603050405020304" pitchFamily="18" charset="0"/>
                <a:cs typeface="Times New Roman" panose="02020603050405020304" pitchFamily="18" charset="0"/>
              </a:rPr>
              <a:t>Sử Dụng File Hộp Thoại</a:t>
            </a:r>
          </a:p>
        </p:txBody>
      </p:sp>
      <p:sp>
        <p:nvSpPr>
          <p:cNvPr id="3" name="Content Placeholder 2">
            <a:extLst>
              <a:ext uri="{FF2B5EF4-FFF2-40B4-BE49-F238E27FC236}">
                <a16:creationId xmlns:a16="http://schemas.microsoft.com/office/drawing/2014/main" id="{953DBDF6-DF73-41BF-8FA0-79FD03DAC7D8}"/>
              </a:ext>
            </a:extLst>
          </p:cNvPr>
          <p:cNvSpPr>
            <a:spLocks noGrp="1"/>
          </p:cNvSpPr>
          <p:nvPr>
            <p:ph idx="1"/>
          </p:nvPr>
        </p:nvSpPr>
        <p:spPr/>
        <p:txBody>
          <a:bodyPr>
            <a:normAutofit fontScale="92500" lnSpcReduction="10000"/>
          </a:bodyPr>
          <a:lstStyle/>
          <a:p>
            <a:pPr marL="7938" indent="0" algn="just">
              <a:buNone/>
            </a:pPr>
            <a:endParaRPr lang="en-US" sz="3200" i="1">
              <a:latin typeface="Times New Roman" panose="02020603050405020304" pitchFamily="18" charset="0"/>
              <a:cs typeface="Times New Roman" panose="02020603050405020304" pitchFamily="18" charset="0"/>
            </a:endParaRPr>
          </a:p>
          <a:p>
            <a:pPr marL="7938" indent="0" algn="just">
              <a:buNone/>
            </a:pPr>
            <a:endParaRPr lang="en-US" sz="3200" i="1">
              <a:latin typeface="Times New Roman" panose="02020603050405020304" pitchFamily="18" charset="0"/>
              <a:cs typeface="Times New Roman" panose="02020603050405020304" pitchFamily="18" charset="0"/>
            </a:endParaRPr>
          </a:p>
          <a:p>
            <a:pPr marL="7938" indent="0" algn="just">
              <a:buNone/>
            </a:pPr>
            <a:endParaRPr lang="en-US" sz="3200" i="1">
              <a:latin typeface="Times New Roman" panose="02020603050405020304" pitchFamily="18" charset="0"/>
              <a:cs typeface="Times New Roman" panose="02020603050405020304" pitchFamily="18" charset="0"/>
            </a:endParaRPr>
          </a:p>
          <a:p>
            <a:pPr marL="7938" indent="0" algn="just">
              <a:buNone/>
            </a:pPr>
            <a:endParaRPr lang="en-US" sz="3200" i="1">
              <a:latin typeface="Times New Roman" panose="02020603050405020304" pitchFamily="18" charset="0"/>
              <a:cs typeface="Times New Roman" panose="02020603050405020304" pitchFamily="18" charset="0"/>
            </a:endParaRPr>
          </a:p>
          <a:p>
            <a:pPr marL="7938" indent="0" algn="just">
              <a:buNone/>
            </a:pPr>
            <a:endParaRPr lang="en-US" sz="3200" i="1">
              <a:latin typeface="Times New Roman" panose="02020603050405020304" pitchFamily="18" charset="0"/>
              <a:cs typeface="Times New Roman" panose="02020603050405020304" pitchFamily="18" charset="0"/>
            </a:endParaRPr>
          </a:p>
          <a:p>
            <a:pPr marL="7938" indent="0" algn="just">
              <a:buNone/>
            </a:pPr>
            <a:r>
              <a:rPr lang="vi-VN" sz="3200" i="1">
                <a:latin typeface="Times New Roman" panose="02020603050405020304" pitchFamily="18" charset="0"/>
                <a:cs typeface="Times New Roman" panose="02020603050405020304" pitchFamily="18" charset="0"/>
              </a:rPr>
              <a:t>Giao diện người dùng được tạo bằng Qt Designer được lưu trữ trong </a:t>
            </a:r>
            <a:r>
              <a:rPr lang="en-US" sz="3200" i="1">
                <a:latin typeface="Times New Roman" panose="02020603050405020304" pitchFamily="18" charset="0"/>
                <a:cs typeface="Times New Roman" panose="02020603050405020304" pitchFamily="18" charset="0"/>
              </a:rPr>
              <a:t>file</a:t>
            </a:r>
            <a:r>
              <a:rPr lang="vi-VN" sz="3200" i="1">
                <a:latin typeface="Times New Roman" panose="02020603050405020304" pitchFamily="18" charset="0"/>
                <a:cs typeface="Times New Roman" panose="02020603050405020304" pitchFamily="18" charset="0"/>
              </a:rPr>
              <a:t> .ui, là </a:t>
            </a:r>
            <a:r>
              <a:rPr lang="en-US" sz="3200" i="1">
                <a:latin typeface="Times New Roman" panose="02020603050405020304" pitchFamily="18" charset="0"/>
                <a:cs typeface="Times New Roman" panose="02020603050405020304" pitchFamily="18" charset="0"/>
              </a:rPr>
              <a:t>file</a:t>
            </a:r>
            <a:r>
              <a:rPr lang="vi-VN" sz="3200" i="1">
                <a:latin typeface="Times New Roman" panose="02020603050405020304" pitchFamily="18" charset="0"/>
                <a:cs typeface="Times New Roman" panose="02020603050405020304" pitchFamily="18" charset="0"/>
              </a:rPr>
              <a:t> XML. Khi áp dụng lệnh pyuic5, </a:t>
            </a:r>
            <a:r>
              <a:rPr lang="en-US" sz="3200" i="1">
                <a:latin typeface="Times New Roman" panose="02020603050405020304" pitchFamily="18" charset="0"/>
                <a:cs typeface="Times New Roman" panose="02020603050405020304" pitchFamily="18" charset="0"/>
              </a:rPr>
              <a:t>file</a:t>
            </a:r>
            <a:r>
              <a:rPr lang="vi-VN" sz="3200" i="1">
                <a:latin typeface="Times New Roman" panose="02020603050405020304" pitchFamily="18" charset="0"/>
                <a:cs typeface="Times New Roman" panose="02020603050405020304" pitchFamily="18" charset="0"/>
              </a:rPr>
              <a:t> XML sẽ được chuyển đổi thành mã Python. Tập lệnh Python được tạo demoFileDialog.py. Tập lệnh demoFileDialog.py sẽ được sử dụng làm </a:t>
            </a:r>
            <a:r>
              <a:rPr lang="en-US" sz="3200" i="1">
                <a:latin typeface="Times New Roman" panose="02020603050405020304" pitchFamily="18" charset="0"/>
                <a:cs typeface="Times New Roman" panose="02020603050405020304" pitchFamily="18" charset="0"/>
              </a:rPr>
              <a:t>file</a:t>
            </a:r>
            <a:r>
              <a:rPr lang="vi-VN" sz="3200" i="1">
                <a:latin typeface="Times New Roman" panose="02020603050405020304" pitchFamily="18" charset="0"/>
                <a:cs typeface="Times New Roman" panose="02020603050405020304" pitchFamily="18" charset="0"/>
              </a:rPr>
              <a:t> tiêu đề và sẽ được nhập vào một tập lệnh Python khác, sẽ gọi thiết kế giao diện người dùng này, menu </a:t>
            </a:r>
            <a:r>
              <a:rPr lang="en-US" sz="3200" i="1">
                <a:latin typeface="Times New Roman" panose="02020603050405020304" pitchFamily="18" charset="0"/>
                <a:cs typeface="Times New Roman" panose="02020603050405020304" pitchFamily="18" charset="0"/>
              </a:rPr>
              <a:t>file</a:t>
            </a:r>
            <a:r>
              <a:rPr lang="vi-VN" sz="3200" i="1">
                <a:latin typeface="Times New Roman" panose="02020603050405020304" pitchFamily="18" charset="0"/>
                <a:cs typeface="Times New Roman" panose="02020603050405020304" pitchFamily="18" charset="0"/>
              </a:rPr>
              <a:t> và các mục menu tương ứng.</a:t>
            </a:r>
          </a:p>
        </p:txBody>
      </p:sp>
      <p:sp>
        <p:nvSpPr>
          <p:cNvPr id="4" name="Rectangle 1">
            <a:extLst>
              <a:ext uri="{FF2B5EF4-FFF2-40B4-BE49-F238E27FC236}">
                <a16:creationId xmlns:a16="http://schemas.microsoft.com/office/drawing/2014/main" id="{84E7C285-F47E-4A3A-8B67-94A7563FAC15}"/>
              </a:ext>
            </a:extLst>
          </p:cNvPr>
          <p:cNvSpPr>
            <a:spLocks noChangeArrowheads="1"/>
          </p:cNvSpPr>
          <p:nvPr/>
        </p:nvSpPr>
        <p:spPr bwMode="auto">
          <a:xfrm>
            <a:off x="0" y="105489"/>
            <a:ext cx="24878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en-US" sz="1000" b="0" i="0" u="none" strike="noStrike" cap="none" normalizeH="0" baseline="0">
                <a:ln>
                  <a:noFill/>
                </a:ln>
                <a:solidFill>
                  <a:schemeClr val="tx1"/>
                </a:solidFill>
                <a:effectLst/>
                <a:latin typeface="Arial Unicode MS"/>
              </a:rPr>
              <a:t>:</a:t>
            </a:r>
            <a:r>
              <a:rPr kumimoji="0" lang="vi-VN" altLang="en-US" sz="800" b="0" i="0" u="none" strike="noStrike" cap="none" normalizeH="0" baseline="0">
                <a:ln>
                  <a:noFill/>
                </a:ln>
                <a:solidFill>
                  <a:schemeClr val="tx1"/>
                </a:solidFill>
                <a:effectLst/>
              </a:rPr>
              <a:t> </a:t>
            </a:r>
            <a:endParaRPr kumimoji="0" lang="vi-VN" altLang="en-US" sz="1800" b="0" i="0" u="none" strike="noStrike" cap="none" normalizeH="0" baseline="0">
              <a:ln>
                <a:noFill/>
              </a:ln>
              <a:solidFill>
                <a:schemeClr val="tx1"/>
              </a:solidFill>
              <a:effectLst/>
              <a:latin typeface="Arial" panose="020B0604020202020204" pitchFamily="34" charset="0"/>
            </a:endParaRPr>
          </a:p>
        </p:txBody>
      </p:sp>
      <p:pic>
        <p:nvPicPr>
          <p:cNvPr id="9" name="Picture 8" descr="sách Qt5-Python-GUI-Programming-Cookbook.pdf - Adobe Acrobat Reader DC">
            <a:extLst>
              <a:ext uri="{FF2B5EF4-FFF2-40B4-BE49-F238E27FC236}">
                <a16:creationId xmlns:a16="http://schemas.microsoft.com/office/drawing/2014/main" id="{60C3D223-3C7F-4864-9D88-03A9D02C7EFF}"/>
              </a:ext>
            </a:extLst>
          </p:cNvPr>
          <p:cNvPicPr>
            <a:picLocks noChangeAspect="1"/>
          </p:cNvPicPr>
          <p:nvPr/>
        </p:nvPicPr>
        <p:blipFill rotWithShape="1">
          <a:blip r:embed="rId2">
            <a:extLst>
              <a:ext uri="{28A0092B-C50C-407E-A947-70E740481C1C}">
                <a14:useLocalDpi xmlns:a14="http://schemas.microsoft.com/office/drawing/2010/main" val="0"/>
              </a:ext>
            </a:extLst>
          </a:blip>
          <a:srcRect l="12264" t="25554" r="26227" b="30286"/>
          <a:stretch/>
        </p:blipFill>
        <p:spPr>
          <a:xfrm>
            <a:off x="879894" y="940667"/>
            <a:ext cx="7850038" cy="2216601"/>
          </a:xfrm>
          <a:prstGeom prst="rect">
            <a:avLst/>
          </a:prstGeom>
        </p:spPr>
      </p:pic>
    </p:spTree>
    <p:extLst>
      <p:ext uri="{BB962C8B-B14F-4D97-AF65-F5344CB8AC3E}">
        <p14:creationId xmlns:p14="http://schemas.microsoft.com/office/powerpoint/2010/main" val="3191362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659E0-DB62-4032-AB9E-8BBA22421560}"/>
              </a:ext>
            </a:extLst>
          </p:cNvPr>
          <p:cNvSpPr>
            <a:spLocks noGrp="1"/>
          </p:cNvSpPr>
          <p:nvPr>
            <p:ph type="title"/>
          </p:nvPr>
        </p:nvSpPr>
        <p:spPr>
          <a:xfrm>
            <a:off x="0" y="35260"/>
            <a:ext cx="9102490" cy="905407"/>
          </a:xfrm>
        </p:spPr>
        <p:txBody>
          <a:bodyPr/>
          <a:lstStyle/>
          <a:p>
            <a:r>
              <a:rPr lang="en-US" b="1">
                <a:latin typeface="Times New Roman" panose="02020603050405020304" pitchFamily="18" charset="0"/>
                <a:cs typeface="Times New Roman" panose="02020603050405020304" pitchFamily="18" charset="0"/>
              </a:rPr>
              <a:t>Sử Dụng File Hộp Thoại</a:t>
            </a:r>
          </a:p>
        </p:txBody>
      </p:sp>
      <p:sp>
        <p:nvSpPr>
          <p:cNvPr id="3" name="Content Placeholder 2">
            <a:extLst>
              <a:ext uri="{FF2B5EF4-FFF2-40B4-BE49-F238E27FC236}">
                <a16:creationId xmlns:a16="http://schemas.microsoft.com/office/drawing/2014/main" id="{953DBDF6-DF73-41BF-8FA0-79FD03DAC7D8}"/>
              </a:ext>
            </a:extLst>
          </p:cNvPr>
          <p:cNvSpPr>
            <a:spLocks noGrp="1"/>
          </p:cNvSpPr>
          <p:nvPr>
            <p:ph idx="1"/>
          </p:nvPr>
        </p:nvSpPr>
        <p:spPr/>
        <p:txBody>
          <a:bodyPr>
            <a:normAutofit/>
          </a:bodyPr>
          <a:lstStyle/>
          <a:p>
            <a:pPr marL="7938" indent="0" algn="just">
              <a:buNone/>
            </a:pPr>
            <a:r>
              <a:rPr lang="vi-VN" sz="3200" i="1">
                <a:latin typeface="Times New Roman" panose="02020603050405020304" pitchFamily="18" charset="0"/>
                <a:cs typeface="Times New Roman" panose="02020603050405020304" pitchFamily="18" charset="0"/>
              </a:rPr>
              <a:t>14. Tạo một tệp Python khác có tên callFileDialog.pyw và nhập mã demoFileDialog.py vào đó:</a:t>
            </a:r>
            <a:endParaRPr lang="en-US" sz="3200" i="1">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84E7C285-F47E-4A3A-8B67-94A7563FAC15}"/>
              </a:ext>
            </a:extLst>
          </p:cNvPr>
          <p:cNvSpPr>
            <a:spLocks noChangeArrowheads="1"/>
          </p:cNvSpPr>
          <p:nvPr/>
        </p:nvSpPr>
        <p:spPr bwMode="auto">
          <a:xfrm>
            <a:off x="0" y="105489"/>
            <a:ext cx="24878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en-US" sz="1000" b="0" i="0" u="none" strike="noStrike" cap="none" normalizeH="0" baseline="0">
                <a:ln>
                  <a:noFill/>
                </a:ln>
                <a:solidFill>
                  <a:schemeClr val="tx1"/>
                </a:solidFill>
                <a:effectLst/>
                <a:latin typeface="Arial Unicode MS"/>
              </a:rPr>
              <a:t>:</a:t>
            </a:r>
            <a:r>
              <a:rPr kumimoji="0" lang="vi-VN" altLang="en-US" sz="800" b="0" i="0" u="none" strike="noStrike" cap="none" normalizeH="0" baseline="0">
                <a:ln>
                  <a:noFill/>
                </a:ln>
                <a:solidFill>
                  <a:schemeClr val="tx1"/>
                </a:solidFill>
                <a:effectLst/>
              </a:rPr>
              <a:t> </a:t>
            </a:r>
            <a:endParaRPr kumimoji="0" lang="vi-VN" altLang="en-US" sz="1800" b="0" i="0" u="none" strike="noStrike" cap="none" normalizeH="0" baseline="0">
              <a:ln>
                <a:noFill/>
              </a:ln>
              <a:solidFill>
                <a:schemeClr val="tx1"/>
              </a:solidFill>
              <a:effectLst/>
              <a:latin typeface="Arial" panose="020B0604020202020204" pitchFamily="34" charset="0"/>
            </a:endParaRPr>
          </a:p>
        </p:txBody>
      </p:sp>
      <p:pic>
        <p:nvPicPr>
          <p:cNvPr id="6" name="Picture 5" descr="sách Qt5-Python-GUI-Programming-Cookbook.pdf - Adobe Acrobat Reader DC">
            <a:extLst>
              <a:ext uri="{FF2B5EF4-FFF2-40B4-BE49-F238E27FC236}">
                <a16:creationId xmlns:a16="http://schemas.microsoft.com/office/drawing/2014/main" id="{9F1C20E8-D279-404B-B598-82D95DB5DA9F}"/>
              </a:ext>
            </a:extLst>
          </p:cNvPr>
          <p:cNvPicPr>
            <a:picLocks noChangeAspect="1"/>
          </p:cNvPicPr>
          <p:nvPr/>
        </p:nvPicPr>
        <p:blipFill rotWithShape="1">
          <a:blip r:embed="rId2">
            <a:extLst>
              <a:ext uri="{28A0092B-C50C-407E-A947-70E740481C1C}">
                <a14:useLocalDpi xmlns:a14="http://schemas.microsoft.com/office/drawing/2010/main" val="0"/>
              </a:ext>
            </a:extLst>
          </a:blip>
          <a:srcRect l="20377" t="32213" r="30000" b="41852"/>
          <a:stretch/>
        </p:blipFill>
        <p:spPr>
          <a:xfrm>
            <a:off x="248786" y="2380889"/>
            <a:ext cx="6704105" cy="4088921"/>
          </a:xfrm>
          <a:prstGeom prst="rect">
            <a:avLst/>
          </a:prstGeom>
        </p:spPr>
      </p:pic>
    </p:spTree>
    <p:extLst>
      <p:ext uri="{BB962C8B-B14F-4D97-AF65-F5344CB8AC3E}">
        <p14:creationId xmlns:p14="http://schemas.microsoft.com/office/powerpoint/2010/main" val="851193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659E0-DB62-4032-AB9E-8BBA22421560}"/>
              </a:ext>
            </a:extLst>
          </p:cNvPr>
          <p:cNvSpPr>
            <a:spLocks noGrp="1"/>
          </p:cNvSpPr>
          <p:nvPr>
            <p:ph type="title"/>
          </p:nvPr>
        </p:nvSpPr>
        <p:spPr>
          <a:xfrm>
            <a:off x="0" y="35260"/>
            <a:ext cx="9102490" cy="905407"/>
          </a:xfrm>
        </p:spPr>
        <p:txBody>
          <a:bodyPr/>
          <a:lstStyle/>
          <a:p>
            <a:r>
              <a:rPr lang="en-US" b="1">
                <a:latin typeface="Times New Roman" panose="02020603050405020304" pitchFamily="18" charset="0"/>
                <a:cs typeface="Times New Roman" panose="02020603050405020304" pitchFamily="18" charset="0"/>
              </a:rPr>
              <a:t>Sử Dụng File Hộp Thoại</a:t>
            </a:r>
          </a:p>
        </p:txBody>
      </p:sp>
      <p:sp>
        <p:nvSpPr>
          <p:cNvPr id="3" name="Content Placeholder 2">
            <a:extLst>
              <a:ext uri="{FF2B5EF4-FFF2-40B4-BE49-F238E27FC236}">
                <a16:creationId xmlns:a16="http://schemas.microsoft.com/office/drawing/2014/main" id="{953DBDF6-DF73-41BF-8FA0-79FD03DAC7D8}"/>
              </a:ext>
            </a:extLst>
          </p:cNvPr>
          <p:cNvSpPr>
            <a:spLocks noGrp="1"/>
          </p:cNvSpPr>
          <p:nvPr>
            <p:ph idx="1"/>
          </p:nvPr>
        </p:nvSpPr>
        <p:spPr/>
        <p:txBody>
          <a:bodyPr>
            <a:normAutofit/>
          </a:bodyPr>
          <a:lstStyle/>
          <a:p>
            <a:pPr marL="7938" indent="0" algn="just">
              <a:buNone/>
            </a:pPr>
            <a:endParaRPr lang="en-US" sz="3200" i="1">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84E7C285-F47E-4A3A-8B67-94A7563FAC15}"/>
              </a:ext>
            </a:extLst>
          </p:cNvPr>
          <p:cNvSpPr>
            <a:spLocks noChangeArrowheads="1"/>
          </p:cNvSpPr>
          <p:nvPr/>
        </p:nvSpPr>
        <p:spPr bwMode="auto">
          <a:xfrm>
            <a:off x="0" y="105489"/>
            <a:ext cx="24878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en-US" sz="1000" b="0" i="0" u="none" strike="noStrike" cap="none" normalizeH="0" baseline="0">
                <a:ln>
                  <a:noFill/>
                </a:ln>
                <a:solidFill>
                  <a:schemeClr val="tx1"/>
                </a:solidFill>
                <a:effectLst/>
                <a:latin typeface="Arial Unicode MS"/>
              </a:rPr>
              <a:t>:</a:t>
            </a:r>
            <a:r>
              <a:rPr kumimoji="0" lang="vi-VN" altLang="en-US" sz="800" b="0" i="0" u="none" strike="noStrike" cap="none" normalizeH="0" baseline="0">
                <a:ln>
                  <a:noFill/>
                </a:ln>
                <a:solidFill>
                  <a:schemeClr val="tx1"/>
                </a:solidFill>
                <a:effectLst/>
              </a:rPr>
              <a:t> </a:t>
            </a:r>
            <a:endParaRPr kumimoji="0" lang="vi-VN" altLang="en-US" sz="1800" b="0" i="0" u="none" strike="noStrike" cap="none" normalizeH="0" baseline="0">
              <a:ln>
                <a:noFill/>
              </a:ln>
              <a:solidFill>
                <a:schemeClr val="tx1"/>
              </a:solidFill>
              <a:effectLst/>
              <a:latin typeface="Arial" panose="020B0604020202020204" pitchFamily="34" charset="0"/>
            </a:endParaRPr>
          </a:p>
        </p:txBody>
      </p:sp>
      <p:pic>
        <p:nvPicPr>
          <p:cNvPr id="9" name="Picture 8" descr="sách Qt5-Python-GUI-Programming-Cookbook.pdf - Adobe Acrobat Reader DC">
            <a:extLst>
              <a:ext uri="{FF2B5EF4-FFF2-40B4-BE49-F238E27FC236}">
                <a16:creationId xmlns:a16="http://schemas.microsoft.com/office/drawing/2014/main" id="{239AC47A-09B0-45FD-81AA-5C77AD7F5039}"/>
              </a:ext>
            </a:extLst>
          </p:cNvPr>
          <p:cNvPicPr>
            <a:picLocks noChangeAspect="1"/>
          </p:cNvPicPr>
          <p:nvPr/>
        </p:nvPicPr>
        <p:blipFill rotWithShape="1">
          <a:blip r:embed="rId2">
            <a:extLst>
              <a:ext uri="{28A0092B-C50C-407E-A947-70E740481C1C}">
                <a14:useLocalDpi xmlns:a14="http://schemas.microsoft.com/office/drawing/2010/main" val="0"/>
              </a:ext>
            </a:extLst>
          </a:blip>
          <a:srcRect l="20567" t="17493" r="26981"/>
          <a:stretch/>
        </p:blipFill>
        <p:spPr>
          <a:xfrm>
            <a:off x="124392" y="1020278"/>
            <a:ext cx="8605539" cy="5809479"/>
          </a:xfrm>
          <a:prstGeom prst="rect">
            <a:avLst/>
          </a:prstGeom>
        </p:spPr>
      </p:pic>
    </p:spTree>
    <p:extLst>
      <p:ext uri="{BB962C8B-B14F-4D97-AF65-F5344CB8AC3E}">
        <p14:creationId xmlns:p14="http://schemas.microsoft.com/office/powerpoint/2010/main" val="25091395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846A7-9124-49FE-8BCC-D7827013DE0A}"/>
              </a:ext>
            </a:extLst>
          </p:cNvPr>
          <p:cNvSpPr>
            <a:spLocks noGrp="1"/>
          </p:cNvSpPr>
          <p:nvPr>
            <p:ph type="title"/>
          </p:nvPr>
        </p:nvSpPr>
        <p:spPr>
          <a:xfrm>
            <a:off x="22259" y="128726"/>
            <a:ext cx="9102490" cy="905407"/>
          </a:xfrm>
        </p:spPr>
        <p:txBody>
          <a:bodyPr>
            <a:normAutofit/>
          </a:bodyPr>
          <a:lstStyle/>
          <a:p>
            <a:r>
              <a:rPr lang="en-US" b="1">
                <a:latin typeface="Times New Roman" panose="02020603050405020304" pitchFamily="18" charset="0"/>
                <a:cs typeface="Times New Roman" panose="02020603050405020304" pitchFamily="18" charset="0"/>
              </a:rPr>
              <a:t>Sử Dụng File Hộp Thoại</a:t>
            </a:r>
            <a:endParaRPr lang="vi-VN" b="1">
              <a:cs typeface="Times New Roman" panose="02020603050405020304" pitchFamily="18" charset="0"/>
            </a:endParaRPr>
          </a:p>
        </p:txBody>
      </p:sp>
      <p:sp>
        <p:nvSpPr>
          <p:cNvPr id="3" name="Content Placeholder 2">
            <a:extLst>
              <a:ext uri="{FF2B5EF4-FFF2-40B4-BE49-F238E27FC236}">
                <a16:creationId xmlns:a16="http://schemas.microsoft.com/office/drawing/2014/main" id="{0970B6D0-2B8C-4266-A2B1-36FADC49F82A}"/>
              </a:ext>
            </a:extLst>
          </p:cNvPr>
          <p:cNvSpPr>
            <a:spLocks noGrp="1"/>
          </p:cNvSpPr>
          <p:nvPr>
            <p:ph idx="1"/>
          </p:nvPr>
        </p:nvSpPr>
        <p:spPr/>
        <p:txBody>
          <a:bodyPr>
            <a:normAutofit/>
          </a:bodyPr>
          <a:lstStyle/>
          <a:p>
            <a:pPr marL="0" indent="0" algn="just">
              <a:buNone/>
            </a:pPr>
            <a:r>
              <a:rPr lang="vi-VN" sz="3200">
                <a:latin typeface="Times New Roman" panose="02020603050405020304" pitchFamily="18" charset="0"/>
                <a:cs typeface="Times New Roman" panose="02020603050405020304" pitchFamily="18" charset="0"/>
              </a:rPr>
              <a:t>Trong tệp callFileDialog.pyw, bạn có thể thấy rằng sự kiện click () của mục menu </a:t>
            </a:r>
            <a:r>
              <a:rPr lang="en-US" sz="3200">
                <a:latin typeface="Times New Roman" panose="02020603050405020304" pitchFamily="18" charset="0"/>
                <a:cs typeface="Times New Roman" panose="02020603050405020304" pitchFamily="18" charset="0"/>
              </a:rPr>
              <a:t>Open</a:t>
            </a:r>
            <a:r>
              <a:rPr lang="vi-VN" sz="3200">
                <a:latin typeface="Times New Roman" panose="02020603050405020304" pitchFamily="18" charset="0"/>
                <a:cs typeface="Times New Roman" panose="02020603050405020304" pitchFamily="18" charset="0"/>
              </a:rPr>
              <a:t> với objectName, actionOpen, được kết nối với phương thức openFileDialog; khi người dùng nhấp vào mục menu </a:t>
            </a:r>
            <a:r>
              <a:rPr lang="en-US" sz="3200">
                <a:latin typeface="Times New Roman" panose="02020603050405020304" pitchFamily="18" charset="0"/>
                <a:cs typeface="Times New Roman" panose="02020603050405020304" pitchFamily="18" charset="0"/>
              </a:rPr>
              <a:t>Open</a:t>
            </a:r>
            <a:r>
              <a:rPr lang="vi-VN" sz="3200">
                <a:latin typeface="Times New Roman" panose="02020603050405020304" pitchFamily="18" charset="0"/>
                <a:cs typeface="Times New Roman" panose="02020603050405020304" pitchFamily="18" charset="0"/>
              </a:rPr>
              <a:t>, phương thức openFileDialog sẽ được gọi. Tương tự, sự kiện click () của mục menu Save với objectName, actionSave, được kết nối với phương thức saveFileDialog; khi người dùng nhấp vào mục menu Save, phương thức saveFileDialog sẽ được gọi.</a:t>
            </a:r>
          </a:p>
          <a:p>
            <a:pPr marL="0" indent="0" algn="just">
              <a:buNone/>
            </a:pPr>
            <a:endParaRPr lang="vi-VN" sz="32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24711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846A7-9124-49FE-8BCC-D7827013DE0A}"/>
              </a:ext>
            </a:extLst>
          </p:cNvPr>
          <p:cNvSpPr>
            <a:spLocks noGrp="1"/>
          </p:cNvSpPr>
          <p:nvPr>
            <p:ph type="title"/>
          </p:nvPr>
        </p:nvSpPr>
        <p:spPr>
          <a:xfrm>
            <a:off x="22259" y="128726"/>
            <a:ext cx="9102490" cy="905407"/>
          </a:xfrm>
        </p:spPr>
        <p:txBody>
          <a:bodyPr>
            <a:normAutofit/>
          </a:bodyPr>
          <a:lstStyle/>
          <a:p>
            <a:r>
              <a:rPr lang="en-US" b="1">
                <a:latin typeface="Times New Roman" panose="02020603050405020304" pitchFamily="18" charset="0"/>
                <a:cs typeface="Times New Roman" panose="02020603050405020304" pitchFamily="18" charset="0"/>
              </a:rPr>
              <a:t>Sử Dụng File Hộp Thoại</a:t>
            </a:r>
            <a:endParaRPr lang="vi-VN" b="1">
              <a:cs typeface="Times New Roman" panose="02020603050405020304" pitchFamily="18" charset="0"/>
            </a:endParaRPr>
          </a:p>
        </p:txBody>
      </p:sp>
      <p:sp>
        <p:nvSpPr>
          <p:cNvPr id="3" name="Content Placeholder 2">
            <a:extLst>
              <a:ext uri="{FF2B5EF4-FFF2-40B4-BE49-F238E27FC236}">
                <a16:creationId xmlns:a16="http://schemas.microsoft.com/office/drawing/2014/main" id="{0970B6D0-2B8C-4266-A2B1-36FADC49F82A}"/>
              </a:ext>
            </a:extLst>
          </p:cNvPr>
          <p:cNvSpPr>
            <a:spLocks noGrp="1"/>
          </p:cNvSpPr>
          <p:nvPr>
            <p:ph idx="1"/>
          </p:nvPr>
        </p:nvSpPr>
        <p:spPr/>
        <p:txBody>
          <a:bodyPr>
            <a:normAutofit/>
          </a:bodyPr>
          <a:lstStyle/>
          <a:p>
            <a:pPr marL="463550" indent="0" algn="just">
              <a:buNone/>
            </a:pPr>
            <a:r>
              <a:rPr lang="vi-VN" sz="3200">
                <a:latin typeface="Times New Roman" panose="02020603050405020304" pitchFamily="18" charset="0"/>
                <a:cs typeface="Times New Roman" panose="02020603050405020304" pitchFamily="18" charset="0"/>
              </a:rPr>
              <a:t>Trong phương thức openFileDialog, hộp thoại mở </a:t>
            </a:r>
            <a:r>
              <a:rPr lang="en-US" sz="3200">
                <a:latin typeface="Times New Roman" panose="02020603050405020304" pitchFamily="18" charset="0"/>
                <a:cs typeface="Times New Roman" panose="02020603050405020304" pitchFamily="18" charset="0"/>
              </a:rPr>
              <a:t>file</a:t>
            </a:r>
            <a:r>
              <a:rPr lang="vi-VN" sz="3200">
                <a:latin typeface="Times New Roman" panose="02020603050405020304" pitchFamily="18" charset="0"/>
                <a:cs typeface="Times New Roman" panose="02020603050405020304" pitchFamily="18" charset="0"/>
              </a:rPr>
              <a:t> bằng cách gọi phương thức getOpenFileName của lớp QFileDialog. Hộp thoại mở </a:t>
            </a:r>
            <a:r>
              <a:rPr lang="en-US" sz="3200">
                <a:latin typeface="Times New Roman" panose="02020603050405020304" pitchFamily="18" charset="0"/>
                <a:cs typeface="Times New Roman" panose="02020603050405020304" pitchFamily="18" charset="0"/>
              </a:rPr>
              <a:t>file</a:t>
            </a:r>
            <a:r>
              <a:rPr lang="vi-VN" sz="3200">
                <a:latin typeface="Times New Roman" panose="02020603050405020304" pitchFamily="18" charset="0"/>
                <a:cs typeface="Times New Roman" panose="02020603050405020304" pitchFamily="18" charset="0"/>
              </a:rPr>
              <a:t> cho phép người dùng duyệt các thư mục và chọn </a:t>
            </a:r>
            <a:r>
              <a:rPr lang="en-US" sz="3200">
                <a:latin typeface="Times New Roman" panose="02020603050405020304" pitchFamily="18" charset="0"/>
                <a:cs typeface="Times New Roman" panose="02020603050405020304" pitchFamily="18" charset="0"/>
              </a:rPr>
              <a:t>file</a:t>
            </a:r>
            <a:r>
              <a:rPr lang="vi-VN" sz="3200">
                <a:latin typeface="Times New Roman" panose="02020603050405020304" pitchFamily="18" charset="0"/>
                <a:cs typeface="Times New Roman" panose="02020603050405020304" pitchFamily="18" charset="0"/>
              </a:rPr>
              <a:t> mong muốn để mở. Sau khi chọn </a:t>
            </a:r>
            <a:r>
              <a:rPr lang="en-US" sz="3200">
                <a:latin typeface="Times New Roman" panose="02020603050405020304" pitchFamily="18" charset="0"/>
                <a:cs typeface="Times New Roman" panose="02020603050405020304" pitchFamily="18" charset="0"/>
              </a:rPr>
              <a:t>file</a:t>
            </a:r>
            <a:r>
              <a:rPr lang="vi-VN" sz="3200">
                <a:latin typeface="Times New Roman" panose="02020603050405020304" pitchFamily="18" charset="0"/>
                <a:cs typeface="Times New Roman" panose="02020603050405020304" pitchFamily="18" charset="0"/>
              </a:rPr>
              <a:t>, người dùng nhấp vào nút OK, tên </a:t>
            </a:r>
            <a:r>
              <a:rPr lang="en-US" sz="3200">
                <a:latin typeface="Times New Roman" panose="02020603050405020304" pitchFamily="18" charset="0"/>
                <a:cs typeface="Times New Roman" panose="02020603050405020304" pitchFamily="18" charset="0"/>
              </a:rPr>
              <a:t>file</a:t>
            </a:r>
            <a:r>
              <a:rPr lang="vi-VN" sz="3200">
                <a:latin typeface="Times New Roman" panose="02020603050405020304" pitchFamily="18" charset="0"/>
                <a:cs typeface="Times New Roman" panose="02020603050405020304" pitchFamily="18" charset="0"/>
              </a:rPr>
              <a:t> đã chọn được gán cho biến fname. </a:t>
            </a:r>
            <a:r>
              <a:rPr lang="en-US" sz="3200">
                <a:latin typeface="Times New Roman" panose="02020603050405020304" pitchFamily="18" charset="0"/>
                <a:cs typeface="Times New Roman" panose="02020603050405020304" pitchFamily="18" charset="0"/>
              </a:rPr>
              <a:t>File</a:t>
            </a:r>
            <a:r>
              <a:rPr lang="vi-VN" sz="3200">
                <a:latin typeface="Times New Roman" panose="02020603050405020304" pitchFamily="18" charset="0"/>
                <a:cs typeface="Times New Roman" panose="02020603050405020304" pitchFamily="18" charset="0"/>
              </a:rPr>
              <a:t> được mở ở chế độ chỉ đọc và nội dung </a:t>
            </a:r>
            <a:r>
              <a:rPr lang="en-US" sz="3200">
                <a:latin typeface="Times New Roman" panose="02020603050405020304" pitchFamily="18" charset="0"/>
                <a:cs typeface="Times New Roman" panose="02020603050405020304" pitchFamily="18" charset="0"/>
              </a:rPr>
              <a:t>file</a:t>
            </a:r>
            <a:r>
              <a:rPr lang="vi-VN" sz="3200">
                <a:latin typeface="Times New Roman" panose="02020603050405020304" pitchFamily="18" charset="0"/>
                <a:cs typeface="Times New Roman" panose="02020603050405020304" pitchFamily="18" charset="0"/>
              </a:rPr>
              <a:t> được đọc và gán cho tiện ích </a:t>
            </a:r>
            <a:r>
              <a:rPr lang="en-US" sz="3200">
                <a:latin typeface="Times New Roman" panose="02020603050405020304" pitchFamily="18" charset="0"/>
                <a:cs typeface="Times New Roman" panose="02020603050405020304" pitchFamily="18" charset="0"/>
              </a:rPr>
              <a:t>Line Edit</a:t>
            </a:r>
            <a:r>
              <a:rPr lang="vi-VN" sz="3200">
                <a:latin typeface="Times New Roman" panose="02020603050405020304" pitchFamily="18" charset="0"/>
                <a:cs typeface="Times New Roman" panose="02020603050405020304" pitchFamily="18" charset="0"/>
              </a:rPr>
              <a:t>; nghĩa là nội dung </a:t>
            </a:r>
            <a:r>
              <a:rPr lang="en-US" sz="3200">
                <a:latin typeface="Times New Roman" panose="02020603050405020304" pitchFamily="18" charset="0"/>
                <a:cs typeface="Times New Roman" panose="02020603050405020304" pitchFamily="18" charset="0"/>
              </a:rPr>
              <a:t>file</a:t>
            </a:r>
            <a:r>
              <a:rPr lang="vi-VN" sz="3200">
                <a:latin typeface="Times New Roman" panose="02020603050405020304" pitchFamily="18" charset="0"/>
                <a:cs typeface="Times New Roman" panose="02020603050405020304" pitchFamily="18" charset="0"/>
              </a:rPr>
              <a:t> được hiển thị trong tiện ích </a:t>
            </a:r>
            <a:r>
              <a:rPr lang="en-US" sz="3200">
                <a:latin typeface="Times New Roman" panose="02020603050405020304" pitchFamily="18" charset="0"/>
                <a:cs typeface="Times New Roman" panose="02020603050405020304" pitchFamily="18" charset="0"/>
              </a:rPr>
              <a:t>Text Edit</a:t>
            </a:r>
            <a:r>
              <a:rPr lang="vi-VN" sz="3200">
                <a:latin typeface="Times New Roman" panose="02020603050405020304" pitchFamily="18" charset="0"/>
                <a:cs typeface="Times New Roman" panose="02020603050405020304" pitchFamily="18" charset="0"/>
              </a:rPr>
              <a:t>.</a:t>
            </a:r>
          </a:p>
          <a:p>
            <a:pPr marL="463550" indent="0" algn="just">
              <a:buNone/>
            </a:pPr>
            <a:endParaRPr lang="vi-VN" sz="3200" b="1">
              <a:latin typeface="Times New Roman" panose="02020603050405020304" pitchFamily="18" charset="0"/>
              <a:cs typeface="Times New Roman" panose="02020603050405020304" pitchFamily="18" charset="0"/>
            </a:endParaRPr>
          </a:p>
          <a:p>
            <a:pPr marL="463550" indent="0" algn="just">
              <a:buNone/>
            </a:pPr>
            <a:endParaRPr lang="vi-VN" sz="32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31450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846A7-9124-49FE-8BCC-D7827013DE0A}"/>
              </a:ext>
            </a:extLst>
          </p:cNvPr>
          <p:cNvSpPr>
            <a:spLocks noGrp="1"/>
          </p:cNvSpPr>
          <p:nvPr>
            <p:ph type="title"/>
          </p:nvPr>
        </p:nvSpPr>
        <p:spPr>
          <a:xfrm>
            <a:off x="22259" y="128726"/>
            <a:ext cx="9102490" cy="905407"/>
          </a:xfrm>
        </p:spPr>
        <p:txBody>
          <a:bodyPr>
            <a:normAutofit/>
          </a:bodyPr>
          <a:lstStyle/>
          <a:p>
            <a:r>
              <a:rPr lang="en-US" b="1">
                <a:latin typeface="Times New Roman" panose="02020603050405020304" pitchFamily="18" charset="0"/>
                <a:cs typeface="Times New Roman" panose="02020603050405020304" pitchFamily="18" charset="0"/>
              </a:rPr>
              <a:t>Sử Dụng File Hộp Thoại</a:t>
            </a:r>
            <a:endParaRPr lang="vi-VN" b="1">
              <a:cs typeface="Times New Roman" panose="02020603050405020304" pitchFamily="18" charset="0"/>
            </a:endParaRPr>
          </a:p>
        </p:txBody>
      </p:sp>
      <p:sp>
        <p:nvSpPr>
          <p:cNvPr id="3" name="Content Placeholder 2">
            <a:extLst>
              <a:ext uri="{FF2B5EF4-FFF2-40B4-BE49-F238E27FC236}">
                <a16:creationId xmlns:a16="http://schemas.microsoft.com/office/drawing/2014/main" id="{0970B6D0-2B8C-4266-A2B1-36FADC49F82A}"/>
              </a:ext>
            </a:extLst>
          </p:cNvPr>
          <p:cNvSpPr>
            <a:spLocks noGrp="1"/>
          </p:cNvSpPr>
          <p:nvPr>
            <p:ph idx="1"/>
          </p:nvPr>
        </p:nvSpPr>
        <p:spPr/>
        <p:txBody>
          <a:bodyPr>
            <a:normAutofit fontScale="92500" lnSpcReduction="20000"/>
          </a:bodyPr>
          <a:lstStyle/>
          <a:p>
            <a:pPr marL="920750" indent="-457200" algn="just">
              <a:buFont typeface="Wingdings" panose="05000000000000000000" pitchFamily="2" charset="2"/>
              <a:buChar char="§"/>
            </a:pPr>
            <a:r>
              <a:rPr lang="vi-VN" sz="3200">
                <a:latin typeface="Times New Roman" panose="02020603050405020304" pitchFamily="18" charset="0"/>
                <a:cs typeface="Times New Roman" panose="02020603050405020304" pitchFamily="18" charset="0"/>
              </a:rPr>
              <a:t>Sau khi thực hiện các thay đổi trong nội dung </a:t>
            </a:r>
            <a:r>
              <a:rPr lang="en-US" sz="3200">
                <a:latin typeface="Times New Roman" panose="02020603050405020304" pitchFamily="18" charset="0"/>
                <a:cs typeface="Times New Roman" panose="02020603050405020304" pitchFamily="18" charset="0"/>
              </a:rPr>
              <a:t>file</a:t>
            </a:r>
            <a:r>
              <a:rPr lang="vi-VN" sz="3200">
                <a:latin typeface="Times New Roman" panose="02020603050405020304" pitchFamily="18" charset="0"/>
                <a:cs typeface="Times New Roman" panose="02020603050405020304" pitchFamily="18" charset="0"/>
              </a:rPr>
              <a:t> được hiển thị trong tiện ích </a:t>
            </a:r>
            <a:r>
              <a:rPr lang="en-US" sz="3200">
                <a:latin typeface="Times New Roman" panose="02020603050405020304" pitchFamily="18" charset="0"/>
                <a:cs typeface="Times New Roman" panose="02020603050405020304" pitchFamily="18" charset="0"/>
              </a:rPr>
              <a:t>Text Edit</a:t>
            </a:r>
            <a:r>
              <a:rPr lang="vi-VN" sz="3200">
                <a:latin typeface="Times New Roman" panose="02020603050405020304" pitchFamily="18" charset="0"/>
                <a:cs typeface="Times New Roman" panose="02020603050405020304" pitchFamily="18" charset="0"/>
              </a:rPr>
              <a:t>, khi người dùng nhấp vào mục menu </a:t>
            </a:r>
            <a:r>
              <a:rPr lang="en-US" sz="3200">
                <a:latin typeface="Times New Roman" panose="02020603050405020304" pitchFamily="18" charset="0"/>
                <a:cs typeface="Times New Roman" panose="02020603050405020304" pitchFamily="18" charset="0"/>
              </a:rPr>
              <a:t>Save</a:t>
            </a:r>
            <a:r>
              <a:rPr lang="vi-VN" sz="3200">
                <a:latin typeface="Times New Roman" panose="02020603050405020304" pitchFamily="18" charset="0"/>
                <a:cs typeface="Times New Roman" panose="02020603050405020304" pitchFamily="18" charset="0"/>
              </a:rPr>
              <a:t> từ hộp thoại </a:t>
            </a:r>
            <a:r>
              <a:rPr lang="en-US" sz="3200">
                <a:latin typeface="Times New Roman" panose="02020603050405020304" pitchFamily="18" charset="0"/>
                <a:cs typeface="Times New Roman" panose="02020603050405020304" pitchFamily="18" charset="0"/>
              </a:rPr>
              <a:t>file</a:t>
            </a:r>
            <a:r>
              <a:rPr lang="vi-VN" sz="3200">
                <a:latin typeface="Times New Roman" panose="02020603050405020304" pitchFamily="18" charset="0"/>
                <a:cs typeface="Times New Roman" panose="02020603050405020304" pitchFamily="18" charset="0"/>
              </a:rPr>
              <a:t>, phương thức saveFileDialog () sẽ được gọi.</a:t>
            </a:r>
            <a:endParaRPr lang="en-US" sz="3200">
              <a:latin typeface="Times New Roman" panose="02020603050405020304" pitchFamily="18" charset="0"/>
              <a:cs typeface="Times New Roman" panose="02020603050405020304" pitchFamily="18" charset="0"/>
            </a:endParaRPr>
          </a:p>
          <a:p>
            <a:pPr marL="920750" indent="-457200" algn="just">
              <a:buFont typeface="Wingdings" panose="05000000000000000000" pitchFamily="2" charset="2"/>
              <a:buChar char="§"/>
            </a:pPr>
            <a:r>
              <a:rPr lang="vi-VN" sz="3200">
                <a:latin typeface="Times New Roman" panose="02020603050405020304" pitchFamily="18" charset="0"/>
                <a:cs typeface="Times New Roman" panose="02020603050405020304" pitchFamily="18" charset="0"/>
              </a:rPr>
              <a:t>Trong phương thức saveFileDialog(), phương thức getSaveFileName() được gọi trên lớp QFileDialog,</a:t>
            </a:r>
            <a:r>
              <a:rPr lang="en-US" sz="3200">
                <a:latin typeface="Times New Roman" panose="02020603050405020304" pitchFamily="18" charset="0"/>
                <a:cs typeface="Times New Roman" panose="02020603050405020304" pitchFamily="18" charset="0"/>
              </a:rPr>
              <a:t> nó</a:t>
            </a:r>
            <a:r>
              <a:rPr lang="vi-VN" sz="3200">
                <a:latin typeface="Times New Roman" panose="02020603050405020304" pitchFamily="18" charset="0"/>
                <a:cs typeface="Times New Roman" panose="02020603050405020304" pitchFamily="18" charset="0"/>
              </a:rPr>
              <a:t> sẽ mở hộp thoại lưu </a:t>
            </a:r>
            <a:r>
              <a:rPr lang="en-US" sz="3200">
                <a:latin typeface="Times New Roman" panose="02020603050405020304" pitchFamily="18" charset="0"/>
                <a:cs typeface="Times New Roman" panose="02020603050405020304" pitchFamily="18" charset="0"/>
              </a:rPr>
              <a:t>file</a:t>
            </a:r>
            <a:r>
              <a:rPr lang="vi-VN" sz="3200">
                <a:latin typeface="Times New Roman" panose="02020603050405020304" pitchFamily="18" charset="0"/>
                <a:cs typeface="Times New Roman" panose="02020603050405020304" pitchFamily="18" charset="0"/>
              </a:rPr>
              <a:t>. Bạn có thể lưu </a:t>
            </a:r>
            <a:r>
              <a:rPr lang="en-US" sz="3200">
                <a:latin typeface="Times New Roman" panose="02020603050405020304" pitchFamily="18" charset="0"/>
                <a:cs typeface="Times New Roman" panose="02020603050405020304" pitchFamily="18" charset="0"/>
              </a:rPr>
              <a:t>file</a:t>
            </a:r>
            <a:r>
              <a:rPr lang="vi-VN" sz="3200">
                <a:latin typeface="Times New Roman" panose="02020603050405020304" pitchFamily="18" charset="0"/>
                <a:cs typeface="Times New Roman" panose="02020603050405020304" pitchFamily="18" charset="0"/>
              </a:rPr>
              <a:t> có cùng tên ở cùng một vị trí hoặc với một số tên khác. Nếu cùng tên </a:t>
            </a:r>
            <a:r>
              <a:rPr lang="en-US" sz="3200">
                <a:latin typeface="Times New Roman" panose="02020603050405020304" pitchFamily="18" charset="0"/>
                <a:cs typeface="Times New Roman" panose="02020603050405020304" pitchFamily="18" charset="0"/>
              </a:rPr>
              <a:t>file</a:t>
            </a:r>
            <a:r>
              <a:rPr lang="vi-VN" sz="3200">
                <a:latin typeface="Times New Roman" panose="02020603050405020304" pitchFamily="18" charset="0"/>
                <a:cs typeface="Times New Roman" panose="02020603050405020304" pitchFamily="18" charset="0"/>
              </a:rPr>
              <a:t> được cung cấp tại cùng một vị trí, thì khi nhấp vào nút OK, bạn nhận được một hộp thoại hỏi liệu bạn có muốn ghi đè lên tệp gốc với nội dung được cập nhật hay không. Khi cung cấp tên </a:t>
            </a:r>
            <a:r>
              <a:rPr lang="en-US" sz="3200">
                <a:latin typeface="Times New Roman" panose="02020603050405020304" pitchFamily="18" charset="0"/>
                <a:cs typeface="Times New Roman" panose="02020603050405020304" pitchFamily="18" charset="0"/>
              </a:rPr>
              <a:t>file</a:t>
            </a:r>
            <a:r>
              <a:rPr lang="vi-VN" sz="3200">
                <a:latin typeface="Times New Roman" panose="02020603050405020304" pitchFamily="18" charset="0"/>
                <a:cs typeface="Times New Roman" panose="02020603050405020304" pitchFamily="18" charset="0"/>
              </a:rPr>
              <a:t>, </a:t>
            </a:r>
            <a:r>
              <a:rPr lang="en-US" sz="3200">
                <a:latin typeface="Times New Roman" panose="02020603050405020304" pitchFamily="18" charset="0"/>
                <a:cs typeface="Times New Roman" panose="02020603050405020304" pitchFamily="18" charset="0"/>
              </a:rPr>
              <a:t>file</a:t>
            </a:r>
            <a:r>
              <a:rPr lang="vi-VN" sz="3200">
                <a:latin typeface="Times New Roman" panose="02020603050405020304" pitchFamily="18" charset="0"/>
                <a:cs typeface="Times New Roman" panose="02020603050405020304" pitchFamily="18" charset="0"/>
              </a:rPr>
              <a:t> đó được mở ở chế độ ghi và nội dung trong tiện ích </a:t>
            </a:r>
            <a:r>
              <a:rPr lang="en-US" sz="3200">
                <a:latin typeface="Times New Roman" panose="02020603050405020304" pitchFamily="18" charset="0"/>
                <a:cs typeface="Times New Roman" panose="02020603050405020304" pitchFamily="18" charset="0"/>
              </a:rPr>
              <a:t>Text Edit</a:t>
            </a:r>
            <a:r>
              <a:rPr lang="vi-VN" sz="3200">
                <a:latin typeface="Times New Roman" panose="02020603050405020304" pitchFamily="18" charset="0"/>
                <a:cs typeface="Times New Roman" panose="02020603050405020304" pitchFamily="18" charset="0"/>
              </a:rPr>
              <a:t> sẽ được đọc và ghi vào </a:t>
            </a:r>
            <a:r>
              <a:rPr lang="en-US" sz="3200">
                <a:latin typeface="Times New Roman" panose="02020603050405020304" pitchFamily="18" charset="0"/>
                <a:cs typeface="Times New Roman" panose="02020603050405020304" pitchFamily="18" charset="0"/>
              </a:rPr>
              <a:t>file</a:t>
            </a:r>
            <a:r>
              <a:rPr lang="vi-VN" sz="3200">
                <a:latin typeface="Times New Roman" panose="02020603050405020304" pitchFamily="18" charset="0"/>
                <a:cs typeface="Times New Roman" panose="02020603050405020304" pitchFamily="18" charset="0"/>
              </a:rPr>
              <a:t>. Đó là nội dung </a:t>
            </a:r>
            <a:r>
              <a:rPr lang="en-US" sz="3200">
                <a:latin typeface="Times New Roman" panose="02020603050405020304" pitchFamily="18" charset="0"/>
                <a:cs typeface="Times New Roman" panose="02020603050405020304" pitchFamily="18" charset="0"/>
              </a:rPr>
              <a:t>file</a:t>
            </a:r>
            <a:r>
              <a:rPr lang="vi-VN" sz="3200">
                <a:latin typeface="Times New Roman" panose="02020603050405020304" pitchFamily="18" charset="0"/>
                <a:cs typeface="Times New Roman" panose="02020603050405020304" pitchFamily="18" charset="0"/>
              </a:rPr>
              <a:t> được cập nhật có sẵn trong tiện ích </a:t>
            </a:r>
            <a:r>
              <a:rPr lang="en-US" sz="3200">
                <a:latin typeface="Times New Roman" panose="02020603050405020304" pitchFamily="18" charset="0"/>
                <a:cs typeface="Times New Roman" panose="02020603050405020304" pitchFamily="18" charset="0"/>
              </a:rPr>
              <a:t>Text Edit </a:t>
            </a:r>
            <a:r>
              <a:rPr lang="vi-VN" sz="3200">
                <a:latin typeface="Times New Roman" panose="02020603050405020304" pitchFamily="18" charset="0"/>
                <a:cs typeface="Times New Roman" panose="02020603050405020304" pitchFamily="18" charset="0"/>
              </a:rPr>
              <a:t>được ghi vào tên </a:t>
            </a:r>
            <a:r>
              <a:rPr lang="en-US" sz="3200">
                <a:latin typeface="Times New Roman" panose="02020603050405020304" pitchFamily="18" charset="0"/>
                <a:cs typeface="Times New Roman" panose="02020603050405020304" pitchFamily="18" charset="0"/>
              </a:rPr>
              <a:t>file</a:t>
            </a:r>
            <a:r>
              <a:rPr lang="vi-VN" sz="3200">
                <a:latin typeface="Times New Roman" panose="02020603050405020304" pitchFamily="18" charset="0"/>
                <a:cs typeface="Times New Roman" panose="02020603050405020304" pitchFamily="18" charset="0"/>
              </a:rPr>
              <a:t> được cung cấp.</a:t>
            </a:r>
          </a:p>
          <a:p>
            <a:pPr marL="463550" indent="0" algn="just">
              <a:buNone/>
            </a:pPr>
            <a:endParaRPr lang="vi-VN" sz="3200">
              <a:latin typeface="Times New Roman" panose="02020603050405020304" pitchFamily="18" charset="0"/>
              <a:cs typeface="Times New Roman" panose="02020603050405020304" pitchFamily="18" charset="0"/>
            </a:endParaRPr>
          </a:p>
          <a:p>
            <a:pPr marL="463550" indent="0" algn="just">
              <a:buNone/>
            </a:pPr>
            <a:endParaRPr lang="vi-VN" sz="3200">
              <a:latin typeface="Times New Roman" panose="02020603050405020304" pitchFamily="18" charset="0"/>
              <a:cs typeface="Times New Roman" panose="02020603050405020304" pitchFamily="18" charset="0"/>
            </a:endParaRPr>
          </a:p>
          <a:p>
            <a:pPr marL="463550" indent="0" algn="just">
              <a:buNone/>
            </a:pPr>
            <a:endParaRPr lang="vi-VN" sz="3200">
              <a:latin typeface="Times New Roman" panose="02020603050405020304" pitchFamily="18" charset="0"/>
              <a:cs typeface="Times New Roman" panose="02020603050405020304" pitchFamily="18" charset="0"/>
            </a:endParaRPr>
          </a:p>
          <a:p>
            <a:pPr marL="463550" indent="0" algn="just">
              <a:buNone/>
            </a:pPr>
            <a:endParaRPr lang="vi-VN" sz="32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22925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846A7-9124-49FE-8BCC-D7827013DE0A}"/>
              </a:ext>
            </a:extLst>
          </p:cNvPr>
          <p:cNvSpPr>
            <a:spLocks noGrp="1"/>
          </p:cNvSpPr>
          <p:nvPr>
            <p:ph type="title"/>
          </p:nvPr>
        </p:nvSpPr>
        <p:spPr>
          <a:xfrm>
            <a:off x="22259" y="128726"/>
            <a:ext cx="9102490" cy="905407"/>
          </a:xfrm>
        </p:spPr>
        <p:txBody>
          <a:bodyPr>
            <a:normAutofit/>
          </a:bodyPr>
          <a:lstStyle/>
          <a:p>
            <a:r>
              <a:rPr lang="en-US" b="1">
                <a:latin typeface="Times New Roman" panose="02020603050405020304" pitchFamily="18" charset="0"/>
                <a:cs typeface="Times New Roman" panose="02020603050405020304" pitchFamily="18" charset="0"/>
              </a:rPr>
              <a:t>Sử Dụng File Hộp Thoại</a:t>
            </a:r>
            <a:endParaRPr lang="vi-VN" b="1">
              <a:cs typeface="Times New Roman" panose="02020603050405020304" pitchFamily="18" charset="0"/>
            </a:endParaRPr>
          </a:p>
        </p:txBody>
      </p:sp>
      <p:sp>
        <p:nvSpPr>
          <p:cNvPr id="3" name="Content Placeholder 2">
            <a:extLst>
              <a:ext uri="{FF2B5EF4-FFF2-40B4-BE49-F238E27FC236}">
                <a16:creationId xmlns:a16="http://schemas.microsoft.com/office/drawing/2014/main" id="{0970B6D0-2B8C-4266-A2B1-36FADC49F82A}"/>
              </a:ext>
            </a:extLst>
          </p:cNvPr>
          <p:cNvSpPr>
            <a:spLocks noGrp="1"/>
          </p:cNvSpPr>
          <p:nvPr>
            <p:ph idx="1"/>
          </p:nvPr>
        </p:nvSpPr>
        <p:spPr/>
        <p:txBody>
          <a:bodyPr>
            <a:normAutofit/>
          </a:bodyPr>
          <a:lstStyle/>
          <a:p>
            <a:pPr marL="920750" indent="-457200" algn="just">
              <a:buFont typeface="Wingdings" panose="05000000000000000000" pitchFamily="2" charset="2"/>
              <a:buChar char="§"/>
            </a:pPr>
            <a:r>
              <a:rPr lang="vi-VN" sz="3200">
                <a:latin typeface="Times New Roman" panose="02020603050405020304" pitchFamily="18" charset="0"/>
                <a:cs typeface="Times New Roman" panose="02020603050405020304" pitchFamily="18" charset="0"/>
              </a:rPr>
              <a:t>Khi chạy ứng dụng, bạn tìm thấy menu </a:t>
            </a:r>
            <a:r>
              <a:rPr lang="en-US" sz="3200">
                <a:latin typeface="Times New Roman" panose="02020603050405020304" pitchFamily="18" charset="0"/>
                <a:cs typeface="Times New Roman" panose="02020603050405020304" pitchFamily="18" charset="0"/>
              </a:rPr>
              <a:t>File</a:t>
            </a:r>
            <a:r>
              <a:rPr lang="vi-VN" sz="3200">
                <a:latin typeface="Times New Roman" panose="02020603050405020304" pitchFamily="18" charset="0"/>
                <a:cs typeface="Times New Roman" panose="02020603050405020304" pitchFamily="18" charset="0"/>
              </a:rPr>
              <a:t> có hai mục menu </a:t>
            </a:r>
            <a:r>
              <a:rPr lang="en-US" sz="3200">
                <a:latin typeface="Times New Roman" panose="02020603050405020304" pitchFamily="18" charset="0"/>
                <a:cs typeface="Times New Roman" panose="02020603050405020304" pitchFamily="18" charset="0"/>
              </a:rPr>
              <a:t>Open</a:t>
            </a:r>
            <a:r>
              <a:rPr lang="vi-VN" sz="3200">
                <a:latin typeface="Times New Roman" panose="02020603050405020304" pitchFamily="18" charset="0"/>
                <a:cs typeface="Times New Roman" panose="02020603050405020304" pitchFamily="18" charset="0"/>
              </a:rPr>
              <a:t> và </a:t>
            </a:r>
            <a:r>
              <a:rPr lang="en-US" sz="3200">
                <a:latin typeface="Times New Roman" panose="02020603050405020304" pitchFamily="18" charset="0"/>
                <a:cs typeface="Times New Roman" panose="02020603050405020304" pitchFamily="18" charset="0"/>
              </a:rPr>
              <a:t>Save và các phím tắt</a:t>
            </a:r>
            <a:r>
              <a:rPr lang="vi-VN" sz="3200">
                <a:latin typeface="Times New Roman" panose="02020603050405020304" pitchFamily="18" charset="0"/>
                <a:cs typeface="Times New Roman" panose="02020603050405020304" pitchFamily="18" charset="0"/>
              </a:rPr>
              <a:t>, như hiển thị trong ảnh chụp màn hình sau</a:t>
            </a:r>
          </a:p>
          <a:p>
            <a:pPr marL="463550" indent="0" algn="just">
              <a:buNone/>
            </a:pPr>
            <a:endParaRPr lang="vi-VN" sz="3200" b="1">
              <a:latin typeface="Times New Roman" panose="02020603050405020304" pitchFamily="18" charset="0"/>
              <a:cs typeface="Times New Roman" panose="02020603050405020304" pitchFamily="18" charset="0"/>
            </a:endParaRPr>
          </a:p>
        </p:txBody>
      </p:sp>
      <p:pic>
        <p:nvPicPr>
          <p:cNvPr id="5" name="Picture 4" descr="sách Qt5-Python-GUI-Programming-Cookbook.pdf - Adobe Acrobat Reader DC">
            <a:extLst>
              <a:ext uri="{FF2B5EF4-FFF2-40B4-BE49-F238E27FC236}">
                <a16:creationId xmlns:a16="http://schemas.microsoft.com/office/drawing/2014/main" id="{F55D0B24-F4AB-4EB7-9521-6719BB4B28FD}"/>
              </a:ext>
            </a:extLst>
          </p:cNvPr>
          <p:cNvPicPr>
            <a:picLocks noChangeAspect="1"/>
          </p:cNvPicPr>
          <p:nvPr/>
        </p:nvPicPr>
        <p:blipFill rotWithShape="1">
          <a:blip r:embed="rId2">
            <a:extLst>
              <a:ext uri="{28A0092B-C50C-407E-A947-70E740481C1C}">
                <a14:useLocalDpi xmlns:a14="http://schemas.microsoft.com/office/drawing/2010/main" val="0"/>
              </a:ext>
            </a:extLst>
          </a:blip>
          <a:srcRect l="16415" t="19461" r="31698" b="4700"/>
          <a:stretch/>
        </p:blipFill>
        <p:spPr>
          <a:xfrm>
            <a:off x="2199735" y="2512281"/>
            <a:ext cx="4744529" cy="3733243"/>
          </a:xfrm>
          <a:prstGeom prst="rect">
            <a:avLst/>
          </a:prstGeom>
        </p:spPr>
      </p:pic>
    </p:spTree>
    <p:extLst>
      <p:ext uri="{BB962C8B-B14F-4D97-AF65-F5344CB8AC3E}">
        <p14:creationId xmlns:p14="http://schemas.microsoft.com/office/powerpoint/2010/main" val="32426557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846A7-9124-49FE-8BCC-D7827013DE0A}"/>
              </a:ext>
            </a:extLst>
          </p:cNvPr>
          <p:cNvSpPr>
            <a:spLocks noGrp="1"/>
          </p:cNvSpPr>
          <p:nvPr>
            <p:ph type="title"/>
          </p:nvPr>
        </p:nvSpPr>
        <p:spPr>
          <a:xfrm>
            <a:off x="22259" y="128726"/>
            <a:ext cx="9102490" cy="905407"/>
          </a:xfrm>
        </p:spPr>
        <p:txBody>
          <a:bodyPr>
            <a:normAutofit/>
          </a:bodyPr>
          <a:lstStyle/>
          <a:p>
            <a:r>
              <a:rPr lang="en-US" b="1">
                <a:latin typeface="Times New Roman" panose="02020603050405020304" pitchFamily="18" charset="0"/>
                <a:cs typeface="Times New Roman" panose="02020603050405020304" pitchFamily="18" charset="0"/>
              </a:rPr>
              <a:t>Sử Dụng File Hộp Thoại</a:t>
            </a:r>
            <a:endParaRPr lang="vi-VN" b="1">
              <a:cs typeface="Times New Roman" panose="02020603050405020304" pitchFamily="18" charset="0"/>
            </a:endParaRPr>
          </a:p>
        </p:txBody>
      </p:sp>
      <p:sp>
        <p:nvSpPr>
          <p:cNvPr id="3" name="Content Placeholder 2">
            <a:extLst>
              <a:ext uri="{FF2B5EF4-FFF2-40B4-BE49-F238E27FC236}">
                <a16:creationId xmlns:a16="http://schemas.microsoft.com/office/drawing/2014/main" id="{0970B6D0-2B8C-4266-A2B1-36FADC49F82A}"/>
              </a:ext>
            </a:extLst>
          </p:cNvPr>
          <p:cNvSpPr>
            <a:spLocks noGrp="1"/>
          </p:cNvSpPr>
          <p:nvPr>
            <p:ph idx="1"/>
          </p:nvPr>
        </p:nvSpPr>
        <p:spPr/>
        <p:txBody>
          <a:bodyPr>
            <a:normAutofit/>
          </a:bodyPr>
          <a:lstStyle/>
          <a:p>
            <a:pPr marL="920750" indent="-457200" algn="just">
              <a:buFont typeface="Wingdings" panose="05000000000000000000" pitchFamily="2" charset="2"/>
              <a:buChar char="§"/>
            </a:pPr>
            <a:r>
              <a:rPr lang="vi-VN" sz="3200">
                <a:latin typeface="Times New Roman" panose="02020603050405020304" pitchFamily="18" charset="0"/>
                <a:cs typeface="Times New Roman" panose="02020603050405020304" pitchFamily="18" charset="0"/>
              </a:rPr>
              <a:t>Khi nhấp vào mục menu </a:t>
            </a:r>
            <a:r>
              <a:rPr lang="en-US" sz="3200">
                <a:latin typeface="Times New Roman" panose="02020603050405020304" pitchFamily="18" charset="0"/>
                <a:cs typeface="Times New Roman" panose="02020603050405020304" pitchFamily="18" charset="0"/>
              </a:rPr>
              <a:t>Open</a:t>
            </a:r>
            <a:r>
              <a:rPr lang="vi-VN" sz="3200">
                <a:latin typeface="Times New Roman" panose="02020603050405020304" pitchFamily="18" charset="0"/>
                <a:cs typeface="Times New Roman" panose="02020603050405020304" pitchFamily="18" charset="0"/>
              </a:rPr>
              <a:t> từ menu </a:t>
            </a:r>
            <a:r>
              <a:rPr lang="en-US" sz="3200">
                <a:latin typeface="Times New Roman" panose="02020603050405020304" pitchFamily="18" charset="0"/>
                <a:cs typeface="Times New Roman" panose="02020603050405020304" pitchFamily="18" charset="0"/>
              </a:rPr>
              <a:t>File</a:t>
            </a:r>
            <a:r>
              <a:rPr lang="vi-VN" sz="3200">
                <a:latin typeface="Times New Roman" panose="02020603050405020304" pitchFamily="18" charset="0"/>
                <a:cs typeface="Times New Roman" panose="02020603050405020304" pitchFamily="18" charset="0"/>
              </a:rPr>
              <a:t> hoặc nhấn phím tắt Ctrl + O, bạn nhận được hộp thoại </a:t>
            </a:r>
            <a:r>
              <a:rPr lang="en-US" sz="3200">
                <a:latin typeface="Times New Roman" panose="02020603050405020304" pitchFamily="18" charset="0"/>
                <a:cs typeface="Times New Roman" panose="02020603050405020304" pitchFamily="18" charset="0"/>
              </a:rPr>
              <a:t>Open File</a:t>
            </a:r>
            <a:r>
              <a:rPr lang="vi-VN" sz="3200">
                <a:latin typeface="Times New Roman" panose="02020603050405020304" pitchFamily="18" charset="0"/>
                <a:cs typeface="Times New Roman" panose="02020603050405020304" pitchFamily="18" charset="0"/>
              </a:rPr>
              <a:t>. Bạn có thể duyệt thư mục mong muốn và chọn </a:t>
            </a:r>
            <a:r>
              <a:rPr lang="en-US" sz="3200">
                <a:latin typeface="Times New Roman" panose="02020603050405020304" pitchFamily="18" charset="0"/>
                <a:cs typeface="Times New Roman" panose="02020603050405020304" pitchFamily="18" charset="0"/>
              </a:rPr>
              <a:t>file</a:t>
            </a:r>
            <a:r>
              <a:rPr lang="vi-VN" sz="3200">
                <a:latin typeface="Times New Roman" panose="02020603050405020304" pitchFamily="18" charset="0"/>
                <a:cs typeface="Times New Roman" panose="02020603050405020304" pitchFamily="18" charset="0"/>
              </a:rPr>
              <a:t> để mở. Sau khi chọn </a:t>
            </a:r>
            <a:r>
              <a:rPr lang="en-US" sz="3200">
                <a:latin typeface="Times New Roman" panose="02020603050405020304" pitchFamily="18" charset="0"/>
                <a:cs typeface="Times New Roman" panose="02020603050405020304" pitchFamily="18" charset="0"/>
              </a:rPr>
              <a:t>file</a:t>
            </a:r>
            <a:r>
              <a:rPr lang="vi-VN" sz="3200">
                <a:latin typeface="Times New Roman" panose="02020603050405020304" pitchFamily="18" charset="0"/>
                <a:cs typeface="Times New Roman" panose="02020603050405020304" pitchFamily="18" charset="0"/>
              </a:rPr>
              <a:t>, bạn cần nhấp vào nút </a:t>
            </a:r>
            <a:r>
              <a:rPr lang="en-US" sz="3200">
                <a:latin typeface="Times New Roman" panose="02020603050405020304" pitchFamily="18" charset="0"/>
                <a:cs typeface="Times New Roman" panose="02020603050405020304" pitchFamily="18" charset="0"/>
              </a:rPr>
              <a:t>Open</a:t>
            </a:r>
            <a:r>
              <a:rPr lang="vi-VN" sz="3200">
                <a:latin typeface="Times New Roman" panose="02020603050405020304" pitchFamily="18" charset="0"/>
                <a:cs typeface="Times New Roman" panose="02020603050405020304" pitchFamily="18" charset="0"/>
              </a:rPr>
              <a:t> từ hộp thoại:</a:t>
            </a:r>
            <a:endParaRPr lang="vi-VN" sz="3200" b="1">
              <a:latin typeface="Times New Roman" panose="02020603050405020304" pitchFamily="18" charset="0"/>
              <a:cs typeface="Times New Roman" panose="02020603050405020304" pitchFamily="18" charset="0"/>
            </a:endParaRPr>
          </a:p>
        </p:txBody>
      </p:sp>
      <p:pic>
        <p:nvPicPr>
          <p:cNvPr id="7" name="Picture 6" descr="sách Qt5-Python-GUI-Programming-Cookbook.pdf - Adobe Acrobat Reader DC">
            <a:extLst>
              <a:ext uri="{FF2B5EF4-FFF2-40B4-BE49-F238E27FC236}">
                <a16:creationId xmlns:a16="http://schemas.microsoft.com/office/drawing/2014/main" id="{FF00D9C4-B5CA-4952-9C17-65D69C86375E}"/>
              </a:ext>
            </a:extLst>
          </p:cNvPr>
          <p:cNvPicPr>
            <a:picLocks noChangeAspect="1"/>
          </p:cNvPicPr>
          <p:nvPr/>
        </p:nvPicPr>
        <p:blipFill rotWithShape="1">
          <a:blip r:embed="rId2">
            <a:extLst>
              <a:ext uri="{28A0092B-C50C-407E-A947-70E740481C1C}">
                <a14:useLocalDpi xmlns:a14="http://schemas.microsoft.com/office/drawing/2010/main" val="0"/>
              </a:ext>
            </a:extLst>
          </a:blip>
          <a:srcRect l="12265" t="19461" r="26981"/>
          <a:stretch/>
        </p:blipFill>
        <p:spPr>
          <a:xfrm>
            <a:off x="2035834" y="3174520"/>
            <a:ext cx="5555411" cy="3554753"/>
          </a:xfrm>
          <a:prstGeom prst="rect">
            <a:avLst/>
          </a:prstGeom>
        </p:spPr>
      </p:pic>
    </p:spTree>
    <p:extLst>
      <p:ext uri="{BB962C8B-B14F-4D97-AF65-F5344CB8AC3E}">
        <p14:creationId xmlns:p14="http://schemas.microsoft.com/office/powerpoint/2010/main" val="15735547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846A7-9124-49FE-8BCC-D7827013DE0A}"/>
              </a:ext>
            </a:extLst>
          </p:cNvPr>
          <p:cNvSpPr>
            <a:spLocks noGrp="1"/>
          </p:cNvSpPr>
          <p:nvPr>
            <p:ph type="title"/>
          </p:nvPr>
        </p:nvSpPr>
        <p:spPr>
          <a:xfrm>
            <a:off x="22259" y="128726"/>
            <a:ext cx="9102490" cy="905407"/>
          </a:xfrm>
        </p:spPr>
        <p:txBody>
          <a:bodyPr>
            <a:normAutofit/>
          </a:bodyPr>
          <a:lstStyle/>
          <a:p>
            <a:r>
              <a:rPr lang="en-US" b="1">
                <a:latin typeface="Times New Roman" panose="02020603050405020304" pitchFamily="18" charset="0"/>
                <a:cs typeface="Times New Roman" panose="02020603050405020304" pitchFamily="18" charset="0"/>
              </a:rPr>
              <a:t>Sử Dụng File Hộp Thoại</a:t>
            </a:r>
            <a:endParaRPr lang="vi-VN" b="1">
              <a:cs typeface="Times New Roman" panose="02020603050405020304" pitchFamily="18" charset="0"/>
            </a:endParaRPr>
          </a:p>
        </p:txBody>
      </p:sp>
      <p:sp>
        <p:nvSpPr>
          <p:cNvPr id="3" name="Content Placeholder 2">
            <a:extLst>
              <a:ext uri="{FF2B5EF4-FFF2-40B4-BE49-F238E27FC236}">
                <a16:creationId xmlns:a16="http://schemas.microsoft.com/office/drawing/2014/main" id="{0970B6D0-2B8C-4266-A2B1-36FADC49F82A}"/>
              </a:ext>
            </a:extLst>
          </p:cNvPr>
          <p:cNvSpPr>
            <a:spLocks noGrp="1"/>
          </p:cNvSpPr>
          <p:nvPr>
            <p:ph idx="1"/>
          </p:nvPr>
        </p:nvSpPr>
        <p:spPr/>
        <p:txBody>
          <a:bodyPr>
            <a:normAutofit/>
          </a:bodyPr>
          <a:lstStyle/>
          <a:p>
            <a:pPr marL="920750" indent="-457200" algn="just">
              <a:buFont typeface="Wingdings" panose="05000000000000000000" pitchFamily="2" charset="2"/>
              <a:buChar char="§"/>
            </a:pPr>
            <a:r>
              <a:rPr lang="vi-VN" sz="3200">
                <a:latin typeface="Times New Roman" panose="02020603050405020304" pitchFamily="18" charset="0"/>
                <a:cs typeface="Times New Roman" panose="02020603050405020304" pitchFamily="18" charset="0"/>
              </a:rPr>
              <a:t>Nội dung của </a:t>
            </a:r>
            <a:r>
              <a:rPr lang="en-US" sz="3200">
                <a:latin typeface="Times New Roman" panose="02020603050405020304" pitchFamily="18" charset="0"/>
                <a:cs typeface="Times New Roman" panose="02020603050405020304" pitchFamily="18" charset="0"/>
              </a:rPr>
              <a:t>file</a:t>
            </a:r>
            <a:r>
              <a:rPr lang="vi-VN" sz="3200">
                <a:latin typeface="Times New Roman" panose="02020603050405020304" pitchFamily="18" charset="0"/>
                <a:cs typeface="Times New Roman" panose="02020603050405020304" pitchFamily="18" charset="0"/>
              </a:rPr>
              <a:t> đã chọn sẽ được hiển thị trong hộp </a:t>
            </a:r>
            <a:r>
              <a:rPr lang="en-US" sz="3200">
                <a:latin typeface="Times New Roman" panose="02020603050405020304" pitchFamily="18" charset="0"/>
                <a:cs typeface="Times New Roman" panose="02020603050405020304" pitchFamily="18" charset="0"/>
              </a:rPr>
              <a:t>Text Edit</a:t>
            </a:r>
            <a:r>
              <a:rPr lang="vi-VN" sz="3200">
                <a:latin typeface="Times New Roman" panose="02020603050405020304" pitchFamily="18" charset="0"/>
                <a:cs typeface="Times New Roman" panose="02020603050405020304" pitchFamily="18" charset="0"/>
              </a:rPr>
              <a:t>, như hình sau:</a:t>
            </a:r>
            <a:endParaRPr lang="vi-VN" sz="3200" b="1">
              <a:latin typeface="Times New Roman" panose="02020603050405020304" pitchFamily="18" charset="0"/>
              <a:cs typeface="Times New Roman" panose="02020603050405020304" pitchFamily="18" charset="0"/>
            </a:endParaRPr>
          </a:p>
        </p:txBody>
      </p:sp>
      <p:pic>
        <p:nvPicPr>
          <p:cNvPr id="5" name="Picture 4" descr="sách Qt5-Python-GUI-Programming-Cookbook.pdf - Adobe Acrobat Reader DC">
            <a:extLst>
              <a:ext uri="{FF2B5EF4-FFF2-40B4-BE49-F238E27FC236}">
                <a16:creationId xmlns:a16="http://schemas.microsoft.com/office/drawing/2014/main" id="{27305D3E-B297-4B6A-8586-6D4ADB80E01D}"/>
              </a:ext>
            </a:extLst>
          </p:cNvPr>
          <p:cNvPicPr>
            <a:picLocks noChangeAspect="1"/>
          </p:cNvPicPr>
          <p:nvPr/>
        </p:nvPicPr>
        <p:blipFill rotWithShape="1">
          <a:blip r:embed="rId2">
            <a:extLst>
              <a:ext uri="{28A0092B-C50C-407E-A947-70E740481C1C}">
                <a14:useLocalDpi xmlns:a14="http://schemas.microsoft.com/office/drawing/2010/main" val="0"/>
              </a:ext>
            </a:extLst>
          </a:blip>
          <a:srcRect l="11886" t="31512" r="26604"/>
          <a:stretch/>
        </p:blipFill>
        <p:spPr>
          <a:xfrm>
            <a:off x="776377" y="1925685"/>
            <a:ext cx="7384212" cy="4043794"/>
          </a:xfrm>
          <a:prstGeom prst="rect">
            <a:avLst/>
          </a:prstGeom>
        </p:spPr>
      </p:pic>
    </p:spTree>
    <p:extLst>
      <p:ext uri="{BB962C8B-B14F-4D97-AF65-F5344CB8AC3E}">
        <p14:creationId xmlns:p14="http://schemas.microsoft.com/office/powerpoint/2010/main" val="28605419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846A7-9124-49FE-8BCC-D7827013DE0A}"/>
              </a:ext>
            </a:extLst>
          </p:cNvPr>
          <p:cNvSpPr>
            <a:spLocks noGrp="1"/>
          </p:cNvSpPr>
          <p:nvPr>
            <p:ph type="title"/>
          </p:nvPr>
        </p:nvSpPr>
        <p:spPr>
          <a:xfrm>
            <a:off x="22259" y="128726"/>
            <a:ext cx="9102490" cy="905407"/>
          </a:xfrm>
        </p:spPr>
        <p:txBody>
          <a:bodyPr>
            <a:normAutofit/>
          </a:bodyPr>
          <a:lstStyle/>
          <a:p>
            <a:r>
              <a:rPr lang="en-US" b="1">
                <a:latin typeface="Times New Roman" panose="02020603050405020304" pitchFamily="18" charset="0"/>
                <a:cs typeface="Times New Roman" panose="02020603050405020304" pitchFamily="18" charset="0"/>
              </a:rPr>
              <a:t>Sử Dụng File Hộp Thoại</a:t>
            </a:r>
            <a:endParaRPr lang="vi-VN" b="1">
              <a:cs typeface="Times New Roman" panose="02020603050405020304" pitchFamily="18" charset="0"/>
            </a:endParaRPr>
          </a:p>
        </p:txBody>
      </p:sp>
      <p:sp>
        <p:nvSpPr>
          <p:cNvPr id="3" name="Content Placeholder 2">
            <a:extLst>
              <a:ext uri="{FF2B5EF4-FFF2-40B4-BE49-F238E27FC236}">
                <a16:creationId xmlns:a16="http://schemas.microsoft.com/office/drawing/2014/main" id="{0970B6D0-2B8C-4266-A2B1-36FADC49F82A}"/>
              </a:ext>
            </a:extLst>
          </p:cNvPr>
          <p:cNvSpPr>
            <a:spLocks noGrp="1"/>
          </p:cNvSpPr>
          <p:nvPr>
            <p:ph idx="1"/>
          </p:nvPr>
        </p:nvSpPr>
        <p:spPr/>
        <p:txBody>
          <a:bodyPr>
            <a:normAutofit/>
          </a:bodyPr>
          <a:lstStyle/>
          <a:p>
            <a:pPr marL="920750" indent="-457200" algn="just">
              <a:buFont typeface="Wingdings" panose="05000000000000000000" pitchFamily="2" charset="2"/>
              <a:buChar char="§"/>
            </a:pPr>
            <a:r>
              <a:rPr lang="vi-VN" sz="3200">
                <a:latin typeface="Times New Roman" panose="02020603050405020304" pitchFamily="18" charset="0"/>
                <a:cs typeface="Times New Roman" panose="02020603050405020304" pitchFamily="18" charset="0"/>
              </a:rPr>
              <a:t>Sau khi sửa đổi nội dung </a:t>
            </a:r>
            <a:r>
              <a:rPr lang="en-US" sz="3200">
                <a:latin typeface="Times New Roman" panose="02020603050405020304" pitchFamily="18" charset="0"/>
                <a:cs typeface="Times New Roman" panose="02020603050405020304" pitchFamily="18" charset="0"/>
              </a:rPr>
              <a:t>file</a:t>
            </a:r>
            <a:r>
              <a:rPr lang="vi-VN" sz="3200">
                <a:latin typeface="Times New Roman" panose="02020603050405020304" pitchFamily="18" charset="0"/>
                <a:cs typeface="Times New Roman" panose="02020603050405020304" pitchFamily="18" charset="0"/>
              </a:rPr>
              <a:t> được hiển thị trong hộp </a:t>
            </a:r>
            <a:r>
              <a:rPr lang="en-US" sz="3200">
                <a:latin typeface="Times New Roman" panose="02020603050405020304" pitchFamily="18" charset="0"/>
                <a:cs typeface="Times New Roman" panose="02020603050405020304" pitchFamily="18" charset="0"/>
              </a:rPr>
              <a:t>Text Edit</a:t>
            </a:r>
            <a:r>
              <a:rPr lang="vi-VN" sz="3200">
                <a:latin typeface="Times New Roman" panose="02020603050405020304" pitchFamily="18" charset="0"/>
                <a:cs typeface="Times New Roman" panose="02020603050405020304" pitchFamily="18" charset="0"/>
              </a:rPr>
              <a:t>, khi người dùng nhấp vào mục menu </a:t>
            </a:r>
            <a:r>
              <a:rPr lang="en-US" sz="3200">
                <a:latin typeface="Times New Roman" panose="02020603050405020304" pitchFamily="18" charset="0"/>
                <a:cs typeface="Times New Roman" panose="02020603050405020304" pitchFamily="18" charset="0"/>
              </a:rPr>
              <a:t>Save</a:t>
            </a:r>
            <a:r>
              <a:rPr lang="vi-VN" sz="3200">
                <a:latin typeface="Times New Roman" panose="02020603050405020304" pitchFamily="18" charset="0"/>
                <a:cs typeface="Times New Roman" panose="02020603050405020304" pitchFamily="18" charset="0"/>
              </a:rPr>
              <a:t> từ menu </a:t>
            </a:r>
            <a:r>
              <a:rPr lang="en-US" sz="3200">
                <a:latin typeface="Times New Roman" panose="02020603050405020304" pitchFamily="18" charset="0"/>
                <a:cs typeface="Times New Roman" panose="02020603050405020304" pitchFamily="18" charset="0"/>
              </a:rPr>
              <a:t>File</a:t>
            </a:r>
            <a:r>
              <a:rPr lang="vi-VN" sz="3200">
                <a:latin typeface="Times New Roman" panose="02020603050405020304" pitchFamily="18" charset="0"/>
                <a:cs typeface="Times New Roman" panose="02020603050405020304" pitchFamily="18" charset="0"/>
              </a:rPr>
              <a:t>, phương thức getSaveFileName sẽ được gọi để hiển thị hộp thoại lưu </a:t>
            </a:r>
            <a:r>
              <a:rPr lang="en-US" sz="3200">
                <a:latin typeface="Times New Roman" panose="02020603050405020304" pitchFamily="18" charset="0"/>
                <a:cs typeface="Times New Roman" panose="02020603050405020304" pitchFamily="18" charset="0"/>
              </a:rPr>
              <a:t>file</a:t>
            </a:r>
            <a:r>
              <a:rPr lang="vi-VN" sz="3200">
                <a:latin typeface="Times New Roman" panose="02020603050405020304" pitchFamily="18" charset="0"/>
                <a:cs typeface="Times New Roman" panose="02020603050405020304" pitchFamily="18" charset="0"/>
              </a:rPr>
              <a:t>. Hãy lưu </a:t>
            </a:r>
            <a:r>
              <a:rPr lang="en-US" sz="3200">
                <a:latin typeface="Times New Roman" panose="02020603050405020304" pitchFamily="18" charset="0"/>
                <a:cs typeface="Times New Roman" panose="02020603050405020304" pitchFamily="18" charset="0"/>
              </a:rPr>
              <a:t>file</a:t>
            </a:r>
            <a:r>
              <a:rPr lang="vi-VN" sz="3200">
                <a:latin typeface="Times New Roman" panose="02020603050405020304" pitchFamily="18" charset="0"/>
                <a:cs typeface="Times New Roman" panose="02020603050405020304" pitchFamily="18" charset="0"/>
              </a:rPr>
              <a:t> với tên gốc, tiếp theo là nhấp vào nút </a:t>
            </a:r>
            <a:r>
              <a:rPr lang="en-US" sz="3200">
                <a:latin typeface="Times New Roman" panose="02020603050405020304" pitchFamily="18" charset="0"/>
                <a:cs typeface="Times New Roman" panose="02020603050405020304" pitchFamily="18" charset="0"/>
              </a:rPr>
              <a:t>Save</a:t>
            </a:r>
            <a:r>
              <a:rPr lang="vi-VN" sz="3200">
                <a:latin typeface="Times New Roman" panose="02020603050405020304" pitchFamily="18" charset="0"/>
                <a:cs typeface="Times New Roman" panose="02020603050405020304" pitchFamily="18" charset="0"/>
              </a:rPr>
              <a:t>, như hình sau:</a:t>
            </a:r>
          </a:p>
          <a:p>
            <a:pPr marL="920750" indent="-457200" algn="just">
              <a:buFont typeface="Wingdings" panose="05000000000000000000" pitchFamily="2" charset="2"/>
              <a:buChar char="§"/>
            </a:pPr>
            <a:endParaRPr lang="vi-VN" sz="3200">
              <a:latin typeface="Times New Roman" panose="02020603050405020304" pitchFamily="18" charset="0"/>
              <a:cs typeface="Times New Roman" panose="02020603050405020304" pitchFamily="18" charset="0"/>
            </a:endParaRPr>
          </a:p>
        </p:txBody>
      </p:sp>
      <p:pic>
        <p:nvPicPr>
          <p:cNvPr id="7" name="Picture 6" descr="sách Qt5-Python-GUI-Programming-Cookbook.pdf - Adobe Acrobat Reader DC">
            <a:extLst>
              <a:ext uri="{FF2B5EF4-FFF2-40B4-BE49-F238E27FC236}">
                <a16:creationId xmlns:a16="http://schemas.microsoft.com/office/drawing/2014/main" id="{D026A23F-2CA4-4346-9A43-7785C288F8B0}"/>
              </a:ext>
            </a:extLst>
          </p:cNvPr>
          <p:cNvPicPr>
            <a:picLocks noChangeAspect="1"/>
          </p:cNvPicPr>
          <p:nvPr/>
        </p:nvPicPr>
        <p:blipFill rotWithShape="1">
          <a:blip r:embed="rId2">
            <a:extLst>
              <a:ext uri="{28A0092B-C50C-407E-A947-70E740481C1C}">
                <a14:useLocalDpi xmlns:a14="http://schemas.microsoft.com/office/drawing/2010/main" val="0"/>
              </a:ext>
            </a:extLst>
          </a:blip>
          <a:srcRect l="12641" t="19461" r="26226" b="4000"/>
          <a:stretch/>
        </p:blipFill>
        <p:spPr>
          <a:xfrm>
            <a:off x="1777041" y="3709358"/>
            <a:ext cx="5589917" cy="3148642"/>
          </a:xfrm>
          <a:prstGeom prst="rect">
            <a:avLst/>
          </a:prstGeom>
        </p:spPr>
      </p:pic>
    </p:spTree>
    <p:extLst>
      <p:ext uri="{BB962C8B-B14F-4D97-AF65-F5344CB8AC3E}">
        <p14:creationId xmlns:p14="http://schemas.microsoft.com/office/powerpoint/2010/main" val="5828491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846A7-9124-49FE-8BCC-D7827013DE0A}"/>
              </a:ext>
            </a:extLst>
          </p:cNvPr>
          <p:cNvSpPr>
            <a:spLocks noGrp="1"/>
          </p:cNvSpPr>
          <p:nvPr>
            <p:ph type="title"/>
          </p:nvPr>
        </p:nvSpPr>
        <p:spPr>
          <a:xfrm>
            <a:off x="22259" y="128726"/>
            <a:ext cx="9102490" cy="905407"/>
          </a:xfrm>
        </p:spPr>
        <p:txBody>
          <a:bodyPr>
            <a:normAutofit/>
          </a:bodyPr>
          <a:lstStyle/>
          <a:p>
            <a:r>
              <a:rPr lang="en-US" b="1">
                <a:latin typeface="Times New Roman" panose="02020603050405020304" pitchFamily="18" charset="0"/>
                <a:cs typeface="Times New Roman" panose="02020603050405020304" pitchFamily="18" charset="0"/>
              </a:rPr>
              <a:t>Sử Dụng File Hộp Thoại</a:t>
            </a:r>
            <a:endParaRPr lang="vi-VN" b="1">
              <a:cs typeface="Times New Roman" panose="02020603050405020304" pitchFamily="18" charset="0"/>
            </a:endParaRPr>
          </a:p>
        </p:txBody>
      </p:sp>
      <p:sp>
        <p:nvSpPr>
          <p:cNvPr id="3" name="Content Placeholder 2">
            <a:extLst>
              <a:ext uri="{FF2B5EF4-FFF2-40B4-BE49-F238E27FC236}">
                <a16:creationId xmlns:a16="http://schemas.microsoft.com/office/drawing/2014/main" id="{0970B6D0-2B8C-4266-A2B1-36FADC49F82A}"/>
              </a:ext>
            </a:extLst>
          </p:cNvPr>
          <p:cNvSpPr>
            <a:spLocks noGrp="1"/>
          </p:cNvSpPr>
          <p:nvPr>
            <p:ph idx="1"/>
          </p:nvPr>
        </p:nvSpPr>
        <p:spPr/>
        <p:txBody>
          <a:bodyPr>
            <a:normAutofit/>
          </a:bodyPr>
          <a:lstStyle/>
          <a:p>
            <a:pPr marL="920750" indent="-457200" algn="just">
              <a:buFont typeface="Wingdings" panose="05000000000000000000" pitchFamily="2" charset="2"/>
              <a:buChar char="§"/>
            </a:pPr>
            <a:r>
              <a:rPr lang="vi-VN" sz="3200">
                <a:latin typeface="Times New Roman" panose="02020603050405020304" pitchFamily="18" charset="0"/>
                <a:cs typeface="Times New Roman" panose="02020603050405020304" pitchFamily="18" charset="0"/>
              </a:rPr>
              <a:t>Vì </a:t>
            </a:r>
            <a:r>
              <a:rPr lang="en-US" sz="3200">
                <a:latin typeface="Times New Roman" panose="02020603050405020304" pitchFamily="18" charset="0"/>
                <a:cs typeface="Times New Roman" panose="02020603050405020304" pitchFamily="18" charset="0"/>
              </a:rPr>
              <a:t>file</a:t>
            </a:r>
            <a:r>
              <a:rPr lang="vi-VN" sz="3200">
                <a:latin typeface="Times New Roman" panose="02020603050405020304" pitchFamily="18" charset="0"/>
                <a:cs typeface="Times New Roman" panose="02020603050405020304" pitchFamily="18" charset="0"/>
              </a:rPr>
              <a:t> đang được lưu cùng tên, bạn sẽ nhận được hộp thoại yêu cầu xác nhận thay thế </a:t>
            </a:r>
            <a:r>
              <a:rPr lang="en-US" sz="3200">
                <a:latin typeface="Times New Roman" panose="02020603050405020304" pitchFamily="18" charset="0"/>
                <a:cs typeface="Times New Roman" panose="02020603050405020304" pitchFamily="18" charset="0"/>
              </a:rPr>
              <a:t>file</a:t>
            </a:r>
            <a:r>
              <a:rPr lang="vi-VN" sz="3200">
                <a:latin typeface="Times New Roman" panose="02020603050405020304" pitchFamily="18" charset="0"/>
                <a:cs typeface="Times New Roman" panose="02020603050405020304" pitchFamily="18" charset="0"/>
              </a:rPr>
              <a:t> gốc bằng nội dung mới, như hình sau</a:t>
            </a:r>
          </a:p>
          <a:p>
            <a:pPr marL="920750" indent="-457200" algn="just">
              <a:buFont typeface="Wingdings" panose="05000000000000000000" pitchFamily="2" charset="2"/>
              <a:buChar char="§"/>
            </a:pPr>
            <a:endParaRPr lang="vi-VN" sz="3200">
              <a:latin typeface="Times New Roman" panose="02020603050405020304" pitchFamily="18" charset="0"/>
              <a:cs typeface="Times New Roman" panose="02020603050405020304" pitchFamily="18" charset="0"/>
            </a:endParaRPr>
          </a:p>
        </p:txBody>
      </p:sp>
      <p:pic>
        <p:nvPicPr>
          <p:cNvPr id="5" name="Picture 4" descr="sách Qt5-Python-GUI-Programming-Cookbook.pdf - Adobe Acrobat Reader DC">
            <a:extLst>
              <a:ext uri="{FF2B5EF4-FFF2-40B4-BE49-F238E27FC236}">
                <a16:creationId xmlns:a16="http://schemas.microsoft.com/office/drawing/2014/main" id="{9C94FF09-D059-4770-98CC-E36AC03EEC14}"/>
              </a:ext>
            </a:extLst>
          </p:cNvPr>
          <p:cNvPicPr>
            <a:picLocks noChangeAspect="1"/>
          </p:cNvPicPr>
          <p:nvPr/>
        </p:nvPicPr>
        <p:blipFill rotWithShape="1">
          <a:blip r:embed="rId2">
            <a:extLst>
              <a:ext uri="{28A0092B-C50C-407E-A947-70E740481C1C}">
                <a14:useLocalDpi xmlns:a14="http://schemas.microsoft.com/office/drawing/2010/main" val="0"/>
              </a:ext>
            </a:extLst>
          </a:blip>
          <a:srcRect l="28679" t="43779" r="45471" b="25028"/>
          <a:stretch/>
        </p:blipFill>
        <p:spPr>
          <a:xfrm>
            <a:off x="2208362" y="2846715"/>
            <a:ext cx="5607170" cy="2001330"/>
          </a:xfrm>
          <a:prstGeom prst="rect">
            <a:avLst/>
          </a:prstGeom>
        </p:spPr>
      </p:pic>
    </p:spTree>
    <p:extLst>
      <p:ext uri="{BB962C8B-B14F-4D97-AF65-F5344CB8AC3E}">
        <p14:creationId xmlns:p14="http://schemas.microsoft.com/office/powerpoint/2010/main" val="264144791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2869</TotalTime>
  <Words>3585</Words>
  <Application>Microsoft Office PowerPoint</Application>
  <PresentationFormat>On-screen Show (4:3)</PresentationFormat>
  <Paragraphs>197</Paragraphs>
  <Slides>47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47</vt:i4>
      </vt:variant>
    </vt:vector>
  </HeadingPairs>
  <TitlesOfParts>
    <vt:vector size="54" baseType="lpstr">
      <vt:lpstr>Arial</vt:lpstr>
      <vt:lpstr>Arial Unicode MS</vt:lpstr>
      <vt:lpstr>Calibri</vt:lpstr>
      <vt:lpstr>Calibri Light</vt:lpstr>
      <vt:lpstr>Times New Roman</vt:lpstr>
      <vt:lpstr>Wingdings</vt:lpstr>
      <vt:lpstr>Office Theme</vt:lpstr>
      <vt:lpstr>DIALOGS</vt:lpstr>
      <vt:lpstr>Nội dung</vt:lpstr>
      <vt:lpstr>Giới Thiệu</vt:lpstr>
      <vt:lpstr>Giới Thiệu</vt:lpstr>
      <vt:lpstr>Đầu Vào Hộp Thoại</vt:lpstr>
      <vt:lpstr>Đầu Vào Hộp Thoại</vt:lpstr>
      <vt:lpstr>Đầu Vào Hộp Thoại</vt:lpstr>
      <vt:lpstr>Đầu Vào Hộp Thoại</vt:lpstr>
      <vt:lpstr>Đầu Vào Hộp Thoại</vt:lpstr>
      <vt:lpstr>Sử Dụng Đầu Vào Hộp Thoại</vt:lpstr>
      <vt:lpstr>Sử Dụng Đầu Vào Hộp Thoại</vt:lpstr>
      <vt:lpstr>Sử Dụng Đầu Vào Hộp Thoại</vt:lpstr>
      <vt:lpstr>Sử Dụng Đầu Vào Hộp Thoại</vt:lpstr>
      <vt:lpstr>Sử Dụng Đầu Vào Hộp Thoại</vt:lpstr>
      <vt:lpstr>Sử Dụng Màu Hộp Thoại</vt:lpstr>
      <vt:lpstr>Sử Dụng Màu Hộp Thoại</vt:lpstr>
      <vt:lpstr>Sử Dụng Màu Hộp Thoại</vt:lpstr>
      <vt:lpstr>Sử Dụng Màu Hộp Thoại</vt:lpstr>
      <vt:lpstr>Sử Dụng Màu Hộp Thoại</vt:lpstr>
      <vt:lpstr>Sử Dụng Màu Hộp Thoại</vt:lpstr>
      <vt:lpstr>Sử Dụng Font Hộp Thoại</vt:lpstr>
      <vt:lpstr>Sử Dụng Font Hộp Thoại</vt:lpstr>
      <vt:lpstr>Sử Dụng Font Hộp Thoại</vt:lpstr>
      <vt:lpstr>Sử Dụng Font Hộp Thoại</vt:lpstr>
      <vt:lpstr>Sử Dụng Font Hộp Thoại</vt:lpstr>
      <vt:lpstr>Sử Dụng Font Hộp Thoại</vt:lpstr>
      <vt:lpstr>Sử Dụng File Hộp Thoại</vt:lpstr>
      <vt:lpstr>Sử Dụng File Hộp Thoại</vt:lpstr>
      <vt:lpstr>Sử Dụng File Hộp Thoại</vt:lpstr>
      <vt:lpstr>Sử Dụng File Hộp Thoại</vt:lpstr>
      <vt:lpstr>Sử Dụng File Hộp Thoại</vt:lpstr>
      <vt:lpstr>Sử Dụng File Hộp Thoại</vt:lpstr>
      <vt:lpstr>Sử Dụng File Hộp Thoại</vt:lpstr>
      <vt:lpstr>Sử Dụng File Hộp Thoại</vt:lpstr>
      <vt:lpstr>Sử Dụng File Hộp Thoại</vt:lpstr>
      <vt:lpstr>Sử Dụng File Hộp Thoại</vt:lpstr>
      <vt:lpstr>Sử Dụng File Hộp Thoại</vt:lpstr>
      <vt:lpstr>Sử Dụng File Hộp Thoại</vt:lpstr>
      <vt:lpstr>Sử Dụng File Hộp Thoại</vt:lpstr>
      <vt:lpstr>Sử Dụng File Hộp Thoại</vt:lpstr>
      <vt:lpstr>Sử Dụng File Hộp Thoại</vt:lpstr>
      <vt:lpstr>Sử Dụng File Hộp Thoại</vt:lpstr>
      <vt:lpstr>Sử Dụng File Hộp Thoại</vt:lpstr>
      <vt:lpstr>Sử Dụng File Hộp Thoại</vt:lpstr>
      <vt:lpstr>Sử Dụng File Hộp Thoại</vt:lpstr>
      <vt:lpstr>Sử Dụng File Hộp Thoại</vt:lpstr>
      <vt:lpstr>Sử Dụng File Hộp Thoại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Tạo giao diện người dùng với các thành phần Qt</dc:title>
  <dc:creator>bruce shelby</dc:creator>
  <cp:lastModifiedBy>ly</cp:lastModifiedBy>
  <cp:revision>535</cp:revision>
  <dcterms:created xsi:type="dcterms:W3CDTF">2019-07-31T07:44:13Z</dcterms:created>
  <dcterms:modified xsi:type="dcterms:W3CDTF">2019-11-14T09:14:59Z</dcterms:modified>
</cp:coreProperties>
</file>