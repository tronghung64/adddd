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9" r:id="rId34"/>
    <p:sldId id="290" r:id="rId35"/>
    <p:sldId id="288" r:id="rId36"/>
    <p:sldId id="291" r:id="rId37"/>
    <p:sldId id="292" r:id="rId38"/>
    <p:sldId id="293" r:id="rId39"/>
    <p:sldId id="294" r:id="rId40"/>
    <p:sldId id="295" r:id="rId41"/>
    <p:sldId id="296" r:id="rId42"/>
    <p:sldId id="298" r:id="rId43"/>
    <p:sldId id="297" r:id="rId44"/>
    <p:sldId id="299" r:id="rId45"/>
    <p:sldId id="300" r:id="rId46"/>
    <p:sldId id="301" r:id="rId47"/>
    <p:sldId id="302" r:id="rId48"/>
    <p:sldId id="303" r:id="rId49"/>
    <p:sldId id="304" r:id="rId50"/>
    <p:sldId id="305" r:id="rId51"/>
    <p:sldId id="306" r:id="rId52"/>
    <p:sldId id="307" r:id="rId5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5C59D34-11D3-4DA4-83EF-24D8FD6300F5}">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 name="Radio Button" id="{1A23179E-0E45-4F2B-9B2B-53C376ECD7B0}">
          <p14:sldIdLst>
            <p14:sldId id="279"/>
            <p14:sldId id="280"/>
            <p14:sldId id="281"/>
            <p14:sldId id="282"/>
            <p14:sldId id="283"/>
            <p14:sldId id="284"/>
            <p14:sldId id="285"/>
            <p14:sldId id="286"/>
            <p14:sldId id="287"/>
            <p14:sldId id="289"/>
            <p14:sldId id="290"/>
            <p14:sldId id="288"/>
            <p14:sldId id="291"/>
            <p14:sldId id="292"/>
          </p14:sldIdLst>
        </p14:section>
        <p14:section name="checkboxes" id="{A00EFFBC-94E6-4C6A-A3F4-16754BAD0FC2}">
          <p14:sldIdLst>
            <p14:sldId id="293"/>
            <p14:sldId id="294"/>
            <p14:sldId id="295"/>
            <p14:sldId id="296"/>
            <p14:sldId id="298"/>
            <p14:sldId id="297"/>
            <p14:sldId id="299"/>
            <p14:sldId id="300"/>
            <p14:sldId id="301"/>
            <p14:sldId id="302"/>
            <p14:sldId id="303"/>
            <p14:sldId id="304"/>
            <p14:sldId id="305"/>
            <p14:sldId id="306"/>
            <p14:sldId id="30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44" autoAdjust="0"/>
    <p:restoredTop sz="94878" autoAdjust="0"/>
  </p:normalViewPr>
  <p:slideViewPr>
    <p:cSldViewPr snapToGrid="0">
      <p:cViewPr varScale="1">
        <p:scale>
          <a:sx n="78" d="100"/>
          <a:sy n="78" d="100"/>
        </p:scale>
        <p:origin x="98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06/08/2019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920250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06/08/2019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4064473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06/08/2019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78848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06/08/2019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394314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06/08/2019</a:t>
            </a:fld>
            <a:endParaRPr lang="en-US"/>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802892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06/08/2019</a:t>
            </a:fld>
            <a:endParaRPr lang="en-US"/>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357217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06/08/2019</a:t>
            </a:fld>
            <a:endParaRPr lang="en-US"/>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2724488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06/08/2019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915917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06/08/2019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14818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06/08/2019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434933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06/08/2019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706932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59" y="28244"/>
            <a:ext cx="9102490" cy="90540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259" y="1020278"/>
            <a:ext cx="9102490" cy="58094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10505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465AF-1E9D-4F47-A457-BB8E06933EF4}"/>
              </a:ext>
            </a:extLst>
          </p:cNvPr>
          <p:cNvSpPr>
            <a:spLocks noGrp="1"/>
          </p:cNvSpPr>
          <p:nvPr>
            <p:ph type="ctrTitle"/>
          </p:nvPr>
        </p:nvSpPr>
        <p:spPr/>
        <p:txBody>
          <a:bodyPr>
            <a:normAutofit fontScale="90000"/>
          </a:bodyPr>
          <a:lstStyle/>
          <a:p>
            <a:r>
              <a:rPr lang="vi-VN"/>
              <a:t>Tạo giao diện người dùng với các thành phần Qt</a:t>
            </a:r>
            <a:endParaRPr lang="en-US"/>
          </a:p>
        </p:txBody>
      </p:sp>
      <p:sp>
        <p:nvSpPr>
          <p:cNvPr id="3" name="Subtitle 2">
            <a:extLst>
              <a:ext uri="{FF2B5EF4-FFF2-40B4-BE49-F238E27FC236}">
                <a16:creationId xmlns:a16="http://schemas.microsoft.com/office/drawing/2014/main" id="{DAD84004-3706-4DD2-91FA-FF80F7B22CB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9427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958F1-071A-4A8D-8390-AD8C3E95F272}"/>
              </a:ext>
            </a:extLst>
          </p:cNvPr>
          <p:cNvSpPr>
            <a:spLocks noGrp="1"/>
          </p:cNvSpPr>
          <p:nvPr>
            <p:ph type="title"/>
          </p:nvPr>
        </p:nvSpPr>
        <p:spPr/>
        <p:txBody>
          <a:bodyPr/>
          <a:lstStyle/>
          <a:p>
            <a:r>
              <a:rPr lang="en-US"/>
              <a:t>Nội dung</a:t>
            </a:r>
          </a:p>
        </p:txBody>
      </p:sp>
      <p:sp>
        <p:nvSpPr>
          <p:cNvPr id="3" name="Content Placeholder 2">
            <a:extLst>
              <a:ext uri="{FF2B5EF4-FFF2-40B4-BE49-F238E27FC236}">
                <a16:creationId xmlns:a16="http://schemas.microsoft.com/office/drawing/2014/main" id="{BE9A2F4A-DFA5-41F5-BD92-39E9675D4196}"/>
              </a:ext>
            </a:extLst>
          </p:cNvPr>
          <p:cNvSpPr>
            <a:spLocks noGrp="1"/>
          </p:cNvSpPr>
          <p:nvPr>
            <p:ph idx="1"/>
          </p:nvPr>
        </p:nvSpPr>
        <p:spPr/>
        <p:txBody>
          <a:bodyPr/>
          <a:lstStyle/>
          <a:p>
            <a:pPr marL="0" indent="0">
              <a:buNone/>
            </a:pPr>
            <a:r>
              <a:rPr lang="en-US"/>
              <a:t>Chúng </a:t>
            </a:r>
            <a:r>
              <a:rPr lang="vi-VN"/>
              <a:t>ta sẽ học cách sử dụng các </a:t>
            </a:r>
            <a:r>
              <a:rPr lang="en-US"/>
              <a:t>widget </a:t>
            </a:r>
            <a:r>
              <a:rPr lang="vi-VN"/>
              <a:t>sau:</a:t>
            </a:r>
          </a:p>
          <a:p>
            <a:r>
              <a:rPr lang="vi-VN"/>
              <a:t>Hiển thị thông điệp chào mừng</a:t>
            </a:r>
          </a:p>
          <a:p>
            <a:r>
              <a:rPr lang="vi-VN"/>
              <a:t>Sử dụng tiện ích Nút Radio</a:t>
            </a:r>
          </a:p>
          <a:p>
            <a:r>
              <a:rPr lang="vi-VN"/>
              <a:t>Nhóm các nút radio</a:t>
            </a:r>
          </a:p>
          <a:p>
            <a:r>
              <a:rPr lang="vi-VN"/>
              <a:t>Hiển thị tùy chọn ở dạng hộp kiểm</a:t>
            </a:r>
          </a:p>
          <a:p>
            <a:r>
              <a:rPr lang="vi-VN"/>
              <a:t>Hiển thị hai nhóm hộp kiểm</a:t>
            </a:r>
            <a:endParaRPr lang="en-US"/>
          </a:p>
        </p:txBody>
      </p:sp>
    </p:spTree>
    <p:extLst>
      <p:ext uri="{BB962C8B-B14F-4D97-AF65-F5344CB8AC3E}">
        <p14:creationId xmlns:p14="http://schemas.microsoft.com/office/powerpoint/2010/main" val="2175024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a:t>Giới thiệu</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lstStyle/>
          <a:p>
            <a:r>
              <a:rPr lang="vi-VN"/>
              <a:t>Chúng tôi sẽ học cách tạo các ứng dụng GUI bằng bộ công cụ Qt. Bộ công cụ Qt, được gọi đơn giản là Qt, là một ứng dụng đa nền tảng và khung UI được phát triển bởi </a:t>
            </a:r>
            <a:r>
              <a:rPr lang="vi-VN" b="1"/>
              <a:t>Trolltech</a:t>
            </a:r>
            <a:r>
              <a:rPr lang="vi-VN"/>
              <a:t>, được sử dụng để phát triển các ứng dụng GUI. Nó chạy trên một số nền tảng, bao gồm Windows, macOS X, Linux và các nền tảng UNIX khác. Nó cũng được gọi là bộ công cụ widget vì nó cung cấp các widget như nút</a:t>
            </a:r>
            <a:r>
              <a:rPr lang="en-US"/>
              <a:t> (buttons)</a:t>
            </a:r>
            <a:r>
              <a:rPr lang="vi-VN"/>
              <a:t>, nhãn</a:t>
            </a:r>
            <a:r>
              <a:rPr lang="en-US"/>
              <a:t> (labels)</a:t>
            </a:r>
            <a:r>
              <a:rPr lang="vi-VN"/>
              <a:t>, hộp văn bản</a:t>
            </a:r>
            <a:r>
              <a:rPr lang="en-US"/>
              <a:t> (textboxes)</a:t>
            </a:r>
            <a:r>
              <a:rPr lang="vi-VN"/>
              <a:t>, nút ấn</a:t>
            </a:r>
            <a:r>
              <a:rPr lang="en-US"/>
              <a:t> (push buttons)</a:t>
            </a:r>
            <a:r>
              <a:rPr lang="vi-VN"/>
              <a:t> và hộp danh sách</a:t>
            </a:r>
            <a:r>
              <a:rPr lang="en-US"/>
              <a:t> (list boxes)</a:t>
            </a:r>
            <a:r>
              <a:rPr lang="vi-VN"/>
              <a:t>, được </a:t>
            </a:r>
            <a:r>
              <a:rPr lang="en-US"/>
              <a:t>dùng cho </a:t>
            </a:r>
            <a:r>
              <a:rPr lang="vi-VN"/>
              <a:t>thiết kế GUI. Nó bao gồm một tập hợp các lớp đa nền tảng, các công cụ phát triển tích hợp và IDE đa nền tảng. Để tạo các ứng dụng thời gian thực, chúng tôi sẽ sử dụng các ràng buộc Python cho bộ công cụ Qt có tên là </a:t>
            </a:r>
            <a:r>
              <a:rPr lang="vi-VN" b="1"/>
              <a:t>PyQt5</a:t>
            </a:r>
            <a:r>
              <a:rPr lang="vi-VN"/>
              <a:t>.</a:t>
            </a:r>
            <a:endParaRPr lang="en-US"/>
          </a:p>
        </p:txBody>
      </p:sp>
    </p:spTree>
    <p:extLst>
      <p:ext uri="{BB962C8B-B14F-4D97-AF65-F5344CB8AC3E}">
        <p14:creationId xmlns:p14="http://schemas.microsoft.com/office/powerpoint/2010/main" val="181101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CF2B3-B3DB-41EA-A25C-FA8897181BFD}"/>
              </a:ext>
            </a:extLst>
          </p:cNvPr>
          <p:cNvSpPr>
            <a:spLocks noGrp="1"/>
          </p:cNvSpPr>
          <p:nvPr>
            <p:ph type="title"/>
          </p:nvPr>
        </p:nvSpPr>
        <p:spPr>
          <a:xfrm>
            <a:off x="22259" y="28244"/>
            <a:ext cx="9102490" cy="781653"/>
          </a:xfrm>
        </p:spPr>
        <p:txBody>
          <a:bodyPr>
            <a:normAutofit/>
          </a:bodyPr>
          <a:lstStyle/>
          <a:p>
            <a:r>
              <a:rPr lang="en-US" b="1"/>
              <a:t>PyQt</a:t>
            </a:r>
          </a:p>
        </p:txBody>
      </p:sp>
      <p:sp>
        <p:nvSpPr>
          <p:cNvPr id="3" name="Content Placeholder 2">
            <a:extLst>
              <a:ext uri="{FF2B5EF4-FFF2-40B4-BE49-F238E27FC236}">
                <a16:creationId xmlns:a16="http://schemas.microsoft.com/office/drawing/2014/main" id="{9039CAF4-937A-4A9D-81B9-FEF2C9C4D8E5}"/>
              </a:ext>
            </a:extLst>
          </p:cNvPr>
          <p:cNvSpPr>
            <a:spLocks noGrp="1"/>
          </p:cNvSpPr>
          <p:nvPr>
            <p:ph idx="1"/>
          </p:nvPr>
        </p:nvSpPr>
        <p:spPr>
          <a:xfrm>
            <a:off x="22259" y="896983"/>
            <a:ext cx="9102490" cy="5932774"/>
          </a:xfrm>
        </p:spPr>
        <p:txBody>
          <a:bodyPr>
            <a:normAutofit lnSpcReduction="10000"/>
          </a:bodyPr>
          <a:lstStyle/>
          <a:p>
            <a:r>
              <a:rPr lang="vi-VN"/>
              <a:t>PyQt là một tập hợp các ràng buộc Python cho khung ứng dụng đa nền tảng kết hợp tất cả các lợi thế của Qt và Python. Với PyQt, </a:t>
            </a:r>
            <a:r>
              <a:rPr lang="en-US"/>
              <a:t>ta </a:t>
            </a:r>
            <a:r>
              <a:rPr lang="vi-VN"/>
              <a:t>có thể </a:t>
            </a:r>
            <a:r>
              <a:rPr lang="en-US"/>
              <a:t>gộp </a:t>
            </a:r>
            <a:r>
              <a:rPr lang="vi-VN"/>
              <a:t>các thư viện Qt trong mã Python, cho phép viết các ứng dụng GUI bằng Python. Nói cách khác, PyQt cho phép truy cập tất cả các phương tiện được cung cấp bởi Qt thông qua mã Python. Vì PyQt phụ thuộc vào các thư viện Qt để chạy, khi bạn cài đặt PyQt, phiên bản Qt bắt buộc cũng được cài đặt tự động trên máy của bạn.</a:t>
            </a:r>
            <a:endParaRPr lang="en-US"/>
          </a:p>
          <a:p>
            <a:r>
              <a:rPr lang="vi-VN"/>
              <a:t>Một ứng dụng GUI có thể bao gồm một cửa sổ chính với một số hộp thoại hoặc chỉ một hộp thoại. Một ứng dụng GUI nhỏ thường bao gồm ít nhất một hộp thoại. Một ứng dụng hộp thoại chứa các nút. Nó không chứa thanh menu, thanh công cụ, thanh trạng thái hoặc widget trung tâm, trong khi một ứng dụng cửa sổ chính thường có tất cả những thứ đó.</a:t>
            </a:r>
            <a:endParaRPr lang="en-US"/>
          </a:p>
        </p:txBody>
      </p:sp>
    </p:spTree>
    <p:extLst>
      <p:ext uri="{BB962C8B-B14F-4D97-AF65-F5344CB8AC3E}">
        <p14:creationId xmlns:p14="http://schemas.microsoft.com/office/powerpoint/2010/main" val="1502633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59E0-DB62-4032-AB9E-8BBA22421560}"/>
              </a:ext>
            </a:extLst>
          </p:cNvPr>
          <p:cNvSpPr>
            <a:spLocks noGrp="1"/>
          </p:cNvSpPr>
          <p:nvPr>
            <p:ph type="title"/>
          </p:nvPr>
        </p:nvSpPr>
        <p:spPr/>
        <p:txBody>
          <a:bodyPr/>
          <a:lstStyle/>
          <a:p>
            <a:r>
              <a:rPr lang="en-US"/>
              <a:t>Hộp thoại (dialog) có hai loại sau</a:t>
            </a:r>
          </a:p>
        </p:txBody>
      </p:sp>
      <p:sp>
        <p:nvSpPr>
          <p:cNvPr id="3" name="Content Placeholder 2">
            <a:extLst>
              <a:ext uri="{FF2B5EF4-FFF2-40B4-BE49-F238E27FC236}">
                <a16:creationId xmlns:a16="http://schemas.microsoft.com/office/drawing/2014/main" id="{953DBDF6-DF73-41BF-8FA0-79FD03DAC7D8}"/>
              </a:ext>
            </a:extLst>
          </p:cNvPr>
          <p:cNvSpPr>
            <a:spLocks noGrp="1"/>
          </p:cNvSpPr>
          <p:nvPr>
            <p:ph idx="1"/>
          </p:nvPr>
        </p:nvSpPr>
        <p:spPr/>
        <p:txBody>
          <a:bodyPr>
            <a:normAutofit/>
          </a:bodyPr>
          <a:lstStyle/>
          <a:p>
            <a:r>
              <a:rPr lang="vi-VN" sz="3200" b="1"/>
              <a:t>Modal</a:t>
            </a:r>
            <a:r>
              <a:rPr lang="vi-VN" sz="3200"/>
              <a:t>: Hộp thoại này là hộp thoại ngăn người dùng tương tác với các phần khác của ứng dụng. Hộp thoại là phần duy nhất của ứng dụng mà người dùng có thể tương tác. Cho đến khi hộp thoại được đóng lại, không có phần nào khác của ứng dụng có thể được truy cập</a:t>
            </a:r>
            <a:endParaRPr lang="en-US" sz="3200"/>
          </a:p>
          <a:p>
            <a:r>
              <a:rPr lang="vi-VN" sz="3200" b="1"/>
              <a:t>Modless</a:t>
            </a:r>
            <a:r>
              <a:rPr lang="vi-VN" sz="3200"/>
              <a:t>: Hộp thoại này ngược lại với hộp thoại modal. Khi hộp thoại không chế độ được kích hoạt, người dùng có thể tự do tương tác với hộp thoại và với phần còn lại của ứng dụng</a:t>
            </a:r>
            <a:endParaRPr lang="en-US" sz="3200"/>
          </a:p>
        </p:txBody>
      </p:sp>
    </p:spTree>
    <p:extLst>
      <p:ext uri="{BB962C8B-B14F-4D97-AF65-F5344CB8AC3E}">
        <p14:creationId xmlns:p14="http://schemas.microsoft.com/office/powerpoint/2010/main" val="521024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46A7-9124-49FE-8BCC-D7827013DE0A}"/>
              </a:ext>
            </a:extLst>
          </p:cNvPr>
          <p:cNvSpPr>
            <a:spLocks noGrp="1"/>
          </p:cNvSpPr>
          <p:nvPr>
            <p:ph type="title"/>
          </p:nvPr>
        </p:nvSpPr>
        <p:spPr/>
        <p:txBody>
          <a:bodyPr/>
          <a:lstStyle/>
          <a:p>
            <a:r>
              <a:rPr lang="en-US" b="1"/>
              <a:t>Các cách tạo ứng dụng GUI</a:t>
            </a:r>
          </a:p>
        </p:txBody>
      </p:sp>
      <p:sp>
        <p:nvSpPr>
          <p:cNvPr id="3" name="Content Placeholder 2">
            <a:extLst>
              <a:ext uri="{FF2B5EF4-FFF2-40B4-BE49-F238E27FC236}">
                <a16:creationId xmlns:a16="http://schemas.microsoft.com/office/drawing/2014/main" id="{0970B6D0-2B8C-4266-A2B1-36FADC49F82A}"/>
              </a:ext>
            </a:extLst>
          </p:cNvPr>
          <p:cNvSpPr>
            <a:spLocks noGrp="1"/>
          </p:cNvSpPr>
          <p:nvPr>
            <p:ph idx="1"/>
          </p:nvPr>
        </p:nvSpPr>
        <p:spPr/>
        <p:txBody>
          <a:bodyPr>
            <a:normAutofit/>
          </a:bodyPr>
          <a:lstStyle/>
          <a:p>
            <a:pPr marL="0" indent="0">
              <a:buNone/>
            </a:pPr>
            <a:r>
              <a:rPr lang="vi-VN" sz="3200"/>
              <a:t>Có hai cách sau đây để viết ứng dụng GUI:</a:t>
            </a:r>
          </a:p>
          <a:p>
            <a:r>
              <a:rPr lang="vi-VN" sz="3200"/>
              <a:t>Từ đầu, sử dụng một trình soạn thảo văn bản đơn giản</a:t>
            </a:r>
          </a:p>
          <a:p>
            <a:r>
              <a:rPr lang="vi-VN" sz="3200"/>
              <a:t>Với Qt Designer, một công cụ thiết kế trực quan mà bạn có thể tạo giao diện người dùng một cách nhanh chóng bằng cách kéo và thả</a:t>
            </a:r>
          </a:p>
          <a:p>
            <a:endParaRPr lang="vi-VN" sz="3200"/>
          </a:p>
          <a:p>
            <a:pPr marL="0" indent="0">
              <a:buNone/>
            </a:pPr>
            <a:r>
              <a:rPr lang="vi-VN" sz="3200"/>
              <a:t>Bạn sẽ sử dụng Qt Designer để phát triển các ứng dụng GUI trong PyQt, vì đây là cách nhanh chóng và dễ dàng để thiết kế giao diện người dùng mà không cần viết một dòng mã. </a:t>
            </a:r>
            <a:endParaRPr lang="en-US" sz="3200"/>
          </a:p>
        </p:txBody>
      </p:sp>
    </p:spTree>
    <p:extLst>
      <p:ext uri="{BB962C8B-B14F-4D97-AF65-F5344CB8AC3E}">
        <p14:creationId xmlns:p14="http://schemas.microsoft.com/office/powerpoint/2010/main" val="40624711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268A2-27AD-4F58-BA4C-9F5670B8381D}"/>
              </a:ext>
            </a:extLst>
          </p:cNvPr>
          <p:cNvSpPr>
            <a:spLocks noGrp="1"/>
          </p:cNvSpPr>
          <p:nvPr>
            <p:ph type="title"/>
          </p:nvPr>
        </p:nvSpPr>
        <p:spPr>
          <a:xfrm>
            <a:off x="22259" y="28245"/>
            <a:ext cx="9102490" cy="738110"/>
          </a:xfrm>
        </p:spPr>
        <p:txBody>
          <a:bodyPr>
            <a:noAutofit/>
          </a:bodyPr>
          <a:lstStyle/>
          <a:p>
            <a:r>
              <a:rPr lang="vi-VN" sz="2800"/>
              <a:t>Khi mở Qt Designer yêu cầu chọn một mẫu cho ứng dụng mới</a:t>
            </a:r>
            <a:endParaRPr lang="en-US" sz="2800"/>
          </a:p>
        </p:txBody>
      </p:sp>
      <p:grpSp>
        <p:nvGrpSpPr>
          <p:cNvPr id="4" name="Group 2">
            <a:extLst>
              <a:ext uri="{FF2B5EF4-FFF2-40B4-BE49-F238E27FC236}">
                <a16:creationId xmlns:a16="http://schemas.microsoft.com/office/drawing/2014/main" id="{E884D77A-90A4-40B7-B0CA-1FBE453D7127}"/>
              </a:ext>
            </a:extLst>
          </p:cNvPr>
          <p:cNvGrpSpPr>
            <a:grpSpLocks/>
          </p:cNvGrpSpPr>
          <p:nvPr/>
        </p:nvGrpSpPr>
        <p:grpSpPr bwMode="auto">
          <a:xfrm>
            <a:off x="133031" y="694326"/>
            <a:ext cx="6703197" cy="6098359"/>
            <a:chOff x="1660" y="250"/>
            <a:chExt cx="7480" cy="7000"/>
          </a:xfrm>
        </p:grpSpPr>
        <p:pic>
          <p:nvPicPr>
            <p:cNvPr id="1027" name="Picture 3">
              <a:extLst>
                <a:ext uri="{FF2B5EF4-FFF2-40B4-BE49-F238E27FC236}">
                  <a16:creationId xmlns:a16="http://schemas.microsoft.com/office/drawing/2014/main" id="{05BEF7C3-029F-4DD1-86F0-FF01E8E64F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0" y="360"/>
              <a:ext cx="7440" cy="6870"/>
            </a:xfrm>
            <a:prstGeom prst="rect">
              <a:avLst/>
            </a:prstGeom>
            <a:noFill/>
            <a:extLst>
              <a:ext uri="{909E8E84-426E-40DD-AFC4-6F175D3DCCD1}">
                <a14:hiddenFill xmlns:a14="http://schemas.microsoft.com/office/drawing/2010/main">
                  <a:solidFill>
                    <a:srgbClr val="FFFFFF"/>
                  </a:solidFill>
                </a14:hiddenFill>
              </a:ext>
            </a:extLst>
          </p:spPr>
        </p:pic>
        <p:sp>
          <p:nvSpPr>
            <p:cNvPr id="5" name="Line 4">
              <a:extLst>
                <a:ext uri="{FF2B5EF4-FFF2-40B4-BE49-F238E27FC236}">
                  <a16:creationId xmlns:a16="http://schemas.microsoft.com/office/drawing/2014/main" id="{1CB9AC26-CC4B-4A59-8051-4DD11C7C8D6E}"/>
                </a:ext>
              </a:extLst>
            </p:cNvPr>
            <p:cNvSpPr>
              <a:spLocks noChangeShapeType="1"/>
            </p:cNvSpPr>
            <p:nvPr/>
          </p:nvSpPr>
          <p:spPr bwMode="auto">
            <a:xfrm>
              <a:off x="1670" y="260"/>
              <a:ext cx="746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Line 5">
              <a:extLst>
                <a:ext uri="{FF2B5EF4-FFF2-40B4-BE49-F238E27FC236}">
                  <a16:creationId xmlns:a16="http://schemas.microsoft.com/office/drawing/2014/main" id="{C211A1F6-ECDE-49A0-A3B8-4179308F8929}"/>
                </a:ext>
              </a:extLst>
            </p:cNvPr>
            <p:cNvSpPr>
              <a:spLocks noChangeShapeType="1"/>
            </p:cNvSpPr>
            <p:nvPr/>
          </p:nvSpPr>
          <p:spPr bwMode="auto">
            <a:xfrm>
              <a:off x="1670" y="260"/>
              <a:ext cx="0" cy="69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Line 6">
              <a:extLst>
                <a:ext uri="{FF2B5EF4-FFF2-40B4-BE49-F238E27FC236}">
                  <a16:creationId xmlns:a16="http://schemas.microsoft.com/office/drawing/2014/main" id="{288D4445-AE7A-47D1-A5C0-96BF7839E191}"/>
                </a:ext>
              </a:extLst>
            </p:cNvPr>
            <p:cNvSpPr>
              <a:spLocks noChangeShapeType="1"/>
            </p:cNvSpPr>
            <p:nvPr/>
          </p:nvSpPr>
          <p:spPr bwMode="auto">
            <a:xfrm>
              <a:off x="9130" y="260"/>
              <a:ext cx="0" cy="69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Line 7">
              <a:extLst>
                <a:ext uri="{FF2B5EF4-FFF2-40B4-BE49-F238E27FC236}">
                  <a16:creationId xmlns:a16="http://schemas.microsoft.com/office/drawing/2014/main" id="{954B7781-1C87-4444-BC87-816C7A4D02A8}"/>
                </a:ext>
              </a:extLst>
            </p:cNvPr>
            <p:cNvSpPr>
              <a:spLocks noChangeShapeType="1"/>
            </p:cNvSpPr>
            <p:nvPr/>
          </p:nvSpPr>
          <p:spPr bwMode="auto">
            <a:xfrm>
              <a:off x="1670" y="7240"/>
              <a:ext cx="746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191805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FFD36EE-41A5-41FD-8155-5311727F871A}"/>
              </a:ext>
            </a:extLst>
          </p:cNvPr>
          <p:cNvSpPr/>
          <p:nvPr/>
        </p:nvSpPr>
        <p:spPr>
          <a:xfrm>
            <a:off x="0" y="0"/>
            <a:ext cx="9144000" cy="6740307"/>
          </a:xfrm>
          <a:prstGeom prst="rect">
            <a:avLst/>
          </a:prstGeom>
        </p:spPr>
        <p:txBody>
          <a:bodyPr wrap="square">
            <a:spAutoFit/>
          </a:bodyPr>
          <a:lstStyle/>
          <a:p>
            <a:pPr algn="just"/>
            <a:r>
              <a:rPr lang="en-US" sz="2400"/>
              <a:t>Qt Designer cung cấp một số mẫu phù hợp với các loại ứng dụng khác nhau. Ta có thể chọn bất kỳ mẫu nào trong số này và sau đó nhấp vào nút </a:t>
            </a:r>
            <a:r>
              <a:rPr lang="en-US" sz="2400" b="1"/>
              <a:t>Create</a:t>
            </a:r>
            <a:r>
              <a:rPr lang="en-US" sz="2400"/>
              <a:t>.</a:t>
            </a:r>
          </a:p>
          <a:p>
            <a:pPr algn="just"/>
            <a:r>
              <a:rPr lang="en-US" sz="2400"/>
              <a:t>Qt Designer cung cấp các mẫu được xác định trước cho một ứng dụng mới:</a:t>
            </a:r>
          </a:p>
          <a:p>
            <a:pPr marL="342900" indent="-342900" algn="just">
              <a:buFont typeface="Arial" panose="020B0604020202020204" pitchFamily="34" charset="0"/>
              <a:buChar char="•"/>
            </a:pPr>
            <a:r>
              <a:rPr lang="en-US" sz="2400" b="1"/>
              <a:t>Dialog with Buttons Bottom</a:t>
            </a:r>
            <a:r>
              <a:rPr lang="en-US" sz="2400"/>
              <a:t>: Mẫu này tạo một biểu mẫu với nút </a:t>
            </a:r>
            <a:r>
              <a:rPr lang="en-US" sz="2400" b="1"/>
              <a:t>OK </a:t>
            </a:r>
            <a:r>
              <a:rPr lang="en-US" sz="2400"/>
              <a:t>và</a:t>
            </a:r>
          </a:p>
          <a:p>
            <a:pPr marL="342900" indent="-342900" algn="just">
              <a:buFont typeface="Arial" panose="020B0604020202020204" pitchFamily="34" charset="0"/>
              <a:buChar char="•"/>
            </a:pPr>
            <a:r>
              <a:rPr lang="en-US" sz="2400" b="1"/>
              <a:t>Cancel </a:t>
            </a:r>
            <a:r>
              <a:rPr lang="en-US" sz="2400"/>
              <a:t>ở góc dưới bên phải.</a:t>
            </a:r>
          </a:p>
          <a:p>
            <a:pPr marL="342900" indent="-342900" algn="just">
              <a:buFont typeface="Arial" panose="020B0604020202020204" pitchFamily="34" charset="0"/>
              <a:buChar char="•"/>
            </a:pPr>
            <a:r>
              <a:rPr lang="en-US" sz="2400" b="1"/>
              <a:t>Dialog with Buttons Right</a:t>
            </a:r>
            <a:r>
              <a:rPr lang="en-US" sz="2400"/>
              <a:t>: Mẫu này tạo một biểu mẫu với nút </a:t>
            </a:r>
            <a:r>
              <a:rPr lang="en-US" sz="2400" b="1"/>
              <a:t>OK </a:t>
            </a:r>
            <a:r>
              <a:rPr lang="en-US" sz="2400"/>
              <a:t>và</a:t>
            </a:r>
          </a:p>
          <a:p>
            <a:pPr marL="342900" indent="-342900" algn="just">
              <a:buFont typeface="Arial" panose="020B0604020202020204" pitchFamily="34" charset="0"/>
              <a:buChar char="•"/>
            </a:pPr>
            <a:r>
              <a:rPr lang="en-US" sz="2400" b="1"/>
              <a:t>Cancel</a:t>
            </a:r>
            <a:r>
              <a:rPr lang="en-US" sz="2400"/>
              <a:t> ở góc trên bên phải.</a:t>
            </a:r>
          </a:p>
          <a:p>
            <a:pPr marL="342900" indent="-342900" algn="just">
              <a:buFont typeface="Arial" panose="020B0604020202020204" pitchFamily="34" charset="0"/>
              <a:buChar char="•"/>
            </a:pPr>
            <a:r>
              <a:rPr lang="en-US" sz="2400" b="1"/>
              <a:t>Dialog without Buttons</a:t>
            </a:r>
            <a:r>
              <a:rPr lang="vi-VN" sz="2400"/>
              <a:t>: Mẫu này tạo một biểu mẫu trống để bạn có thể đặt các widget. Các lớp </a:t>
            </a:r>
            <a:r>
              <a:rPr lang="en-US" sz="2400"/>
              <a:t>cha </a:t>
            </a:r>
            <a:r>
              <a:rPr lang="vi-VN" sz="2400"/>
              <a:t>cho các hộp thoại là Q</a:t>
            </a:r>
            <a:r>
              <a:rPr lang="en-US" sz="2400"/>
              <a:t>D</a:t>
            </a:r>
            <a:r>
              <a:rPr lang="vi-VN" sz="2400"/>
              <a:t>ialog.</a:t>
            </a:r>
          </a:p>
          <a:p>
            <a:pPr marL="342900" indent="-342900" algn="just">
              <a:buFont typeface="Arial" panose="020B0604020202020204" pitchFamily="34" charset="0"/>
              <a:buChar char="•"/>
            </a:pPr>
            <a:r>
              <a:rPr lang="en-US" sz="2400" b="1"/>
              <a:t>Main Window</a:t>
            </a:r>
            <a:r>
              <a:rPr lang="vi-VN" sz="2400"/>
              <a:t>: Mẫu này cung cấp một cửa sổ ứng dụng chính với thanh menu và thanh công cụ có thể được gỡ bỏ nếu không cần thiết.</a:t>
            </a:r>
          </a:p>
          <a:p>
            <a:pPr marL="342900" indent="-342900" algn="just">
              <a:buFont typeface="Arial" panose="020B0604020202020204" pitchFamily="34" charset="0"/>
              <a:buChar char="•"/>
            </a:pPr>
            <a:r>
              <a:rPr lang="en-US" sz="2400" b="1"/>
              <a:t>Widget</a:t>
            </a:r>
            <a:r>
              <a:rPr lang="vi-VN" sz="2400"/>
              <a:t>: Mẫu này tạo một biểu mẫu có siêu lớp là </a:t>
            </a:r>
            <a:r>
              <a:rPr lang="vi-VN" sz="2400" b="1"/>
              <a:t>QWidget</a:t>
            </a:r>
            <a:r>
              <a:rPr lang="vi-VN" sz="2400"/>
              <a:t> chứ không phải</a:t>
            </a:r>
            <a:r>
              <a:rPr lang="en-US" sz="2400"/>
              <a:t> </a:t>
            </a:r>
            <a:r>
              <a:rPr lang="vi-VN" sz="2400"/>
              <a:t>Q</a:t>
            </a:r>
            <a:r>
              <a:rPr lang="en-US" sz="2400"/>
              <a:t>D</a:t>
            </a:r>
            <a:r>
              <a:rPr lang="vi-VN" sz="2400"/>
              <a:t>ialog.</a:t>
            </a:r>
            <a:endParaRPr lang="en-US" sz="2400"/>
          </a:p>
        </p:txBody>
      </p:sp>
    </p:spTree>
    <p:extLst>
      <p:ext uri="{BB962C8B-B14F-4D97-AF65-F5344CB8AC3E}">
        <p14:creationId xmlns:p14="http://schemas.microsoft.com/office/powerpoint/2010/main" val="1703725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515B326-D5C6-4FCC-8102-8F0A1DF89388}"/>
              </a:ext>
            </a:extLst>
          </p:cNvPr>
          <p:cNvSpPr/>
          <p:nvPr/>
        </p:nvSpPr>
        <p:spPr>
          <a:xfrm>
            <a:off x="0" y="12680"/>
            <a:ext cx="9144000" cy="6894195"/>
          </a:xfrm>
          <a:prstGeom prst="rect">
            <a:avLst/>
          </a:prstGeom>
        </p:spPr>
        <p:txBody>
          <a:bodyPr wrap="square">
            <a:spAutoFit/>
          </a:bodyPr>
          <a:lstStyle/>
          <a:p>
            <a:pPr algn="just"/>
            <a:r>
              <a:rPr lang="en-US" sz="2600"/>
              <a:t>Mỗi ứng dụng GUI có một widget cấp cao nhất và các widget còn lại được gọi là con của nó. Widget cấp cao nhất có thể là </a:t>
            </a:r>
            <a:r>
              <a:rPr lang="en-US" sz="2600" b="1"/>
              <a:t>QDialog</a:t>
            </a:r>
            <a:r>
              <a:rPr lang="en-US" sz="2600"/>
              <a:t>, </a:t>
            </a:r>
            <a:r>
              <a:rPr lang="en-US" sz="2600" b="1"/>
              <a:t>QWidget</a:t>
            </a:r>
            <a:r>
              <a:rPr lang="en-US" sz="2600"/>
              <a:t> hoặc </a:t>
            </a:r>
            <a:r>
              <a:rPr lang="en-US" sz="2600" b="1"/>
              <a:t>QMainWindow</a:t>
            </a:r>
            <a:r>
              <a:rPr lang="en-US" sz="2600"/>
              <a:t>, tùy thuộc vào mẫu bạn yêu cầu. Nếu bạn muốn tạo một ứng dụng dựa trên mẫu hộp thoại, thì widget cấp cao nhất hoặc lớp đầu tiên mà bạn kế thừa sẽ là </a:t>
            </a:r>
            <a:r>
              <a:rPr lang="en-US" sz="2600" b="1"/>
              <a:t>QDialog</a:t>
            </a:r>
            <a:r>
              <a:rPr lang="en-US" sz="2600"/>
              <a:t>. Tương tự, để tạo một ứng dụng dựa trên mẫu Cửa sổ chính, widget cấp cao nhất sẽ là </a:t>
            </a:r>
            <a:r>
              <a:rPr lang="en-US" sz="2600" b="1"/>
              <a:t>QMainWindow </a:t>
            </a:r>
            <a:r>
              <a:rPr lang="en-US" sz="2600"/>
              <a:t>và để tạo ứng dụng dựa trên mẫu Widget, bạn cần kế thừa lớp </a:t>
            </a:r>
            <a:r>
              <a:rPr lang="en-US" sz="2600" b="1"/>
              <a:t>QWidget</a:t>
            </a:r>
            <a:r>
              <a:rPr lang="en-US" sz="2600"/>
              <a:t>. Như đã đề cập trước đây, phần còn lại của các widget được sử dụng cho giao diện người dùng được gọi là các widget con của các lớp.</a:t>
            </a:r>
          </a:p>
          <a:p>
            <a:pPr algn="just"/>
            <a:r>
              <a:rPr lang="en-US" sz="2600"/>
              <a:t>Qt Designer hiển thị một thanh menu và thanh công cụ ở trên cùng. Nó hiển thị một hộp </a:t>
            </a:r>
            <a:r>
              <a:rPr lang="en-US" sz="2600" b="1"/>
              <a:t>Widget</a:t>
            </a:r>
            <a:r>
              <a:rPr lang="en-US" sz="2600"/>
              <a:t> ở bên trái có chứa nhiều loại widget được sử dụng để phát triển các ứng dụng, được nhóm lại trong các phần. Tất cả bạn phải làm là kéo và thả các vật dụng bạn muốn từ biểu mẫu. Bạn có thể sắp xếp các widget theo bố cục, thiết lập diện mạo của chúng, cung cấp các thuộc tính ban đầu và kết nối tín hiệu (signal) của chúng với các vị trí (slot).</a:t>
            </a:r>
          </a:p>
        </p:txBody>
      </p:sp>
    </p:spTree>
    <p:extLst>
      <p:ext uri="{BB962C8B-B14F-4D97-AF65-F5344CB8AC3E}">
        <p14:creationId xmlns:p14="http://schemas.microsoft.com/office/powerpoint/2010/main" val="3178540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7089A-CE4E-4594-AD51-A349956779D1}"/>
              </a:ext>
            </a:extLst>
          </p:cNvPr>
          <p:cNvSpPr>
            <a:spLocks noGrp="1"/>
          </p:cNvSpPr>
          <p:nvPr>
            <p:ph type="title"/>
          </p:nvPr>
        </p:nvSpPr>
        <p:spPr/>
        <p:txBody>
          <a:bodyPr/>
          <a:lstStyle/>
          <a:p>
            <a:r>
              <a:rPr lang="en-US" b="1"/>
              <a:t>Hiển thị thông điệp chào mừng</a:t>
            </a:r>
          </a:p>
        </p:txBody>
      </p:sp>
      <p:sp>
        <p:nvSpPr>
          <p:cNvPr id="3" name="Content Placeholder 2">
            <a:extLst>
              <a:ext uri="{FF2B5EF4-FFF2-40B4-BE49-F238E27FC236}">
                <a16:creationId xmlns:a16="http://schemas.microsoft.com/office/drawing/2014/main" id="{003E941D-9C44-4279-9009-C6875D3DA4E5}"/>
              </a:ext>
            </a:extLst>
          </p:cNvPr>
          <p:cNvSpPr>
            <a:spLocks noGrp="1"/>
          </p:cNvSpPr>
          <p:nvPr>
            <p:ph idx="1"/>
          </p:nvPr>
        </p:nvSpPr>
        <p:spPr/>
        <p:txBody>
          <a:bodyPr>
            <a:normAutofit/>
          </a:bodyPr>
          <a:lstStyle/>
          <a:p>
            <a:pPr algn="just"/>
            <a:r>
              <a:rPr lang="vi-VN" sz="3200"/>
              <a:t>Trong công thức này, người dùng sẽ được nhắc nhập tên của mình theo sau bằng cách nhấp vào nút ấn. Khi nhấp vào nút, một thông báo chào mừng sẽ xuất hiện, "Xin chào", theo sau là tên được nhập bởi người dùng. Đối với công thức này, chúng ta cần sử dụng ba vật dụng</a:t>
            </a:r>
            <a:r>
              <a:rPr lang="en-US" sz="3200"/>
              <a:t> (widget) là</a:t>
            </a:r>
            <a:r>
              <a:rPr lang="vi-VN" sz="3200"/>
              <a:t> Nhãn</a:t>
            </a:r>
            <a:r>
              <a:rPr lang="en-US" sz="3200"/>
              <a:t> (</a:t>
            </a:r>
            <a:r>
              <a:rPr lang="en-US" sz="3200" b="1"/>
              <a:t>Label</a:t>
            </a:r>
            <a:r>
              <a:rPr lang="en-US" sz="3200"/>
              <a:t>)</a:t>
            </a:r>
            <a:r>
              <a:rPr lang="vi-VN" sz="3200"/>
              <a:t>, </a:t>
            </a:r>
            <a:r>
              <a:rPr lang="en-US" sz="3200"/>
              <a:t>Dòng </a:t>
            </a:r>
            <a:r>
              <a:rPr lang="vi-VN" sz="3200"/>
              <a:t>Chỉnh sửa </a:t>
            </a:r>
            <a:r>
              <a:rPr lang="en-US" sz="3200"/>
              <a:t>(</a:t>
            </a:r>
            <a:r>
              <a:rPr lang="en-US" sz="3200" b="1"/>
              <a:t>Line Edit</a:t>
            </a:r>
            <a:r>
              <a:rPr lang="en-US" sz="3200"/>
              <a:t>)</a:t>
            </a:r>
            <a:r>
              <a:rPr lang="vi-VN" sz="3200"/>
              <a:t> và Nút ấn</a:t>
            </a:r>
            <a:r>
              <a:rPr lang="en-US" sz="3200"/>
              <a:t> (</a:t>
            </a:r>
            <a:r>
              <a:rPr lang="en-US" sz="3200" b="1"/>
              <a:t>Push Button</a:t>
            </a:r>
            <a:r>
              <a:rPr lang="en-US" sz="3200"/>
              <a:t>)</a:t>
            </a:r>
            <a:r>
              <a:rPr lang="vi-VN" sz="3200"/>
              <a:t>. Chúng ta hãy hiểu từng vật dụng </a:t>
            </a:r>
            <a:r>
              <a:rPr lang="en-US" sz="3200"/>
              <a:t>(widget) </a:t>
            </a:r>
            <a:r>
              <a:rPr lang="vi-VN" sz="3200"/>
              <a:t>một.</a:t>
            </a:r>
            <a:endParaRPr lang="en-US" sz="3200"/>
          </a:p>
        </p:txBody>
      </p:sp>
    </p:spTree>
    <p:extLst>
      <p:ext uri="{BB962C8B-B14F-4D97-AF65-F5344CB8AC3E}">
        <p14:creationId xmlns:p14="http://schemas.microsoft.com/office/powerpoint/2010/main" val="4139019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2C554-717B-4D47-BB05-C1A15383F2A4}"/>
              </a:ext>
            </a:extLst>
          </p:cNvPr>
          <p:cNvSpPr>
            <a:spLocks noGrp="1"/>
          </p:cNvSpPr>
          <p:nvPr>
            <p:ph type="title"/>
          </p:nvPr>
        </p:nvSpPr>
        <p:spPr/>
        <p:txBody>
          <a:bodyPr>
            <a:normAutofit/>
          </a:bodyPr>
          <a:lstStyle/>
          <a:p>
            <a:r>
              <a:rPr lang="en-US" sz="4800" b="1">
                <a:solidFill>
                  <a:srgbClr val="FF0000"/>
                </a:solidFill>
              </a:rPr>
              <a:t>Label</a:t>
            </a:r>
            <a:r>
              <a:rPr lang="en-US" sz="4800" b="1"/>
              <a:t> widget</a:t>
            </a:r>
          </a:p>
        </p:txBody>
      </p:sp>
      <p:sp>
        <p:nvSpPr>
          <p:cNvPr id="3" name="Content Placeholder 2">
            <a:extLst>
              <a:ext uri="{FF2B5EF4-FFF2-40B4-BE49-F238E27FC236}">
                <a16:creationId xmlns:a16="http://schemas.microsoft.com/office/drawing/2014/main" id="{53E64BB4-3A14-4995-BBBF-2DEAD14840D8}"/>
              </a:ext>
            </a:extLst>
          </p:cNvPr>
          <p:cNvSpPr>
            <a:spLocks noGrp="1"/>
          </p:cNvSpPr>
          <p:nvPr>
            <p:ph idx="1"/>
          </p:nvPr>
        </p:nvSpPr>
        <p:spPr/>
        <p:txBody>
          <a:bodyPr>
            <a:normAutofit/>
          </a:bodyPr>
          <a:lstStyle/>
          <a:p>
            <a:r>
              <a:rPr lang="en-US"/>
              <a:t>L</a:t>
            </a:r>
            <a:r>
              <a:rPr lang="vi-VN"/>
              <a:t>à một </a:t>
            </a:r>
            <a:r>
              <a:rPr lang="en-US"/>
              <a:t>thể hiện (instance) </a:t>
            </a:r>
            <a:r>
              <a:rPr lang="vi-VN"/>
              <a:t>của lớp QLabel và được sử dụng để hiển thị thông báo và hình ảnh. Vì các </a:t>
            </a:r>
            <a:r>
              <a:rPr lang="en-US"/>
              <a:t>Label widget </a:t>
            </a:r>
            <a:r>
              <a:rPr lang="vi-VN"/>
              <a:t>chỉ hiển thị kết quả tính toán và không lấy bất kỳ đầu vào nào, nên chúng chỉ được sử dụng để cung cấp thông tin trên màn hình.</a:t>
            </a:r>
            <a:endParaRPr lang="en-US"/>
          </a:p>
          <a:p>
            <a:r>
              <a:rPr lang="en-US" u="sng"/>
              <a:t>C</a:t>
            </a:r>
            <a:r>
              <a:rPr lang="vi-VN" u="sng"/>
              <a:t>ác phương thức được cung cấp bởi lớp QLabel:</a:t>
            </a:r>
            <a:endParaRPr lang="en-US" u="sng"/>
          </a:p>
          <a:p>
            <a:pPr lvl="1"/>
            <a:r>
              <a:rPr lang="vi-VN" sz="2800"/>
              <a:t>setText(): gán văn bản cho </a:t>
            </a:r>
            <a:r>
              <a:rPr lang="en-US" sz="2800"/>
              <a:t>Label widget</a:t>
            </a:r>
            <a:endParaRPr lang="vi-VN" sz="2800"/>
          </a:p>
          <a:p>
            <a:pPr lvl="1"/>
            <a:r>
              <a:rPr lang="vi-VN" sz="2800"/>
              <a:t>setPixmap(): gán pixmap, một thể hiện của lớp QPixmap, cho </a:t>
            </a:r>
            <a:r>
              <a:rPr lang="en-US" sz="2800"/>
              <a:t>Label widget</a:t>
            </a:r>
            <a:endParaRPr lang="vi-VN" sz="2800"/>
          </a:p>
          <a:p>
            <a:pPr lvl="1"/>
            <a:r>
              <a:rPr lang="vi-VN" sz="2800"/>
              <a:t>setNum(): Phương thức này gán một giá trị nguyên hoặc </a:t>
            </a:r>
            <a:r>
              <a:rPr lang="en-US" sz="2800"/>
              <a:t>lẻ </a:t>
            </a:r>
            <a:r>
              <a:rPr lang="vi-VN" sz="2800"/>
              <a:t>cho </a:t>
            </a:r>
            <a:r>
              <a:rPr lang="en-US" sz="2800"/>
              <a:t>Label widget</a:t>
            </a:r>
            <a:endParaRPr lang="vi-VN" sz="2800"/>
          </a:p>
          <a:p>
            <a:pPr lvl="1"/>
            <a:r>
              <a:rPr lang="vi-VN" sz="2800"/>
              <a:t>clear(): Phương thức này xóa văn bản khỏi </a:t>
            </a:r>
            <a:r>
              <a:rPr lang="en-US" sz="2800"/>
              <a:t>Label widget</a:t>
            </a:r>
          </a:p>
        </p:txBody>
      </p:sp>
    </p:spTree>
    <p:extLst>
      <p:ext uri="{BB962C8B-B14F-4D97-AF65-F5344CB8AC3E}">
        <p14:creationId xmlns:p14="http://schemas.microsoft.com/office/powerpoint/2010/main" val="435598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AE95A2-C130-4471-A205-6AEECC924657}"/>
              </a:ext>
            </a:extLst>
          </p:cNvPr>
          <p:cNvSpPr>
            <a:spLocks noGrp="1"/>
          </p:cNvSpPr>
          <p:nvPr>
            <p:ph idx="1"/>
          </p:nvPr>
        </p:nvSpPr>
        <p:spPr/>
        <p:txBody>
          <a:bodyPr>
            <a:normAutofit/>
          </a:bodyPr>
          <a:lstStyle/>
          <a:p>
            <a:pPr algn="just"/>
            <a:r>
              <a:rPr lang="vi-VN" sz="3200"/>
              <a:t>Văn bản mặc định của QLabel là </a:t>
            </a:r>
            <a:r>
              <a:rPr lang="vi-VN" sz="3200" b="1"/>
              <a:t>TextLabel</a:t>
            </a:r>
            <a:r>
              <a:rPr lang="vi-VN" sz="3200"/>
              <a:t>. Đó là, khi thêm một lớp QLabel vào một biểu mẫu bằng cách kéo một </a:t>
            </a:r>
            <a:r>
              <a:rPr lang="en-US" sz="3200"/>
              <a:t>widget Label </a:t>
            </a:r>
            <a:r>
              <a:rPr lang="vi-VN" sz="3200"/>
              <a:t>và thả nó vào biểu mẫu, nó sẽ hiển thị TextLabel. Bên cạnh việc sử dụng setText(), bạn cũng có thể gán văn bản cho đối tượng QLabel đã chọn bằng cách đặt thuộc tính văn bản của nó trong cửa sổ </a:t>
            </a:r>
            <a:r>
              <a:rPr lang="en-US" sz="3200" b="1"/>
              <a:t>Property Editor</a:t>
            </a:r>
            <a:r>
              <a:rPr lang="vi-VN" sz="3200"/>
              <a:t>.</a:t>
            </a:r>
            <a:endParaRPr lang="en-US" sz="3200"/>
          </a:p>
        </p:txBody>
      </p:sp>
      <p:sp>
        <p:nvSpPr>
          <p:cNvPr id="4" name="Title 1">
            <a:extLst>
              <a:ext uri="{FF2B5EF4-FFF2-40B4-BE49-F238E27FC236}">
                <a16:creationId xmlns:a16="http://schemas.microsoft.com/office/drawing/2014/main" id="{6C68D748-13ED-48C1-9B38-1E34F4B7A46E}"/>
              </a:ext>
            </a:extLst>
          </p:cNvPr>
          <p:cNvSpPr>
            <a:spLocks noGrp="1"/>
          </p:cNvSpPr>
          <p:nvPr>
            <p:ph type="title"/>
          </p:nvPr>
        </p:nvSpPr>
        <p:spPr>
          <a:xfrm>
            <a:off x="22259" y="28244"/>
            <a:ext cx="9102490" cy="905407"/>
          </a:xfrm>
        </p:spPr>
        <p:txBody>
          <a:bodyPr>
            <a:normAutofit/>
          </a:bodyPr>
          <a:lstStyle/>
          <a:p>
            <a:r>
              <a:rPr lang="en-US" sz="4800" b="1">
                <a:solidFill>
                  <a:srgbClr val="FF0000"/>
                </a:solidFill>
              </a:rPr>
              <a:t>Label</a:t>
            </a:r>
            <a:r>
              <a:rPr lang="en-US" sz="4800" b="1"/>
              <a:t> widget (t.t)</a:t>
            </a:r>
          </a:p>
        </p:txBody>
      </p:sp>
    </p:spTree>
    <p:extLst>
      <p:ext uri="{BB962C8B-B14F-4D97-AF65-F5344CB8AC3E}">
        <p14:creationId xmlns:p14="http://schemas.microsoft.com/office/powerpoint/2010/main" val="3268109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327EE-4ACE-4FB4-ACC9-6995274620FB}"/>
              </a:ext>
            </a:extLst>
          </p:cNvPr>
          <p:cNvSpPr>
            <a:spLocks noGrp="1"/>
          </p:cNvSpPr>
          <p:nvPr>
            <p:ph type="title"/>
          </p:nvPr>
        </p:nvSpPr>
        <p:spPr/>
        <p:txBody>
          <a:bodyPr>
            <a:normAutofit/>
          </a:bodyPr>
          <a:lstStyle/>
          <a:p>
            <a:r>
              <a:rPr lang="en-US" sz="4800" b="1">
                <a:solidFill>
                  <a:srgbClr val="00B050"/>
                </a:solidFill>
              </a:rPr>
              <a:t>Line Edit </a:t>
            </a:r>
            <a:r>
              <a:rPr lang="en-US" sz="4800" b="1"/>
              <a:t>widget</a:t>
            </a:r>
          </a:p>
        </p:txBody>
      </p:sp>
      <p:sp>
        <p:nvSpPr>
          <p:cNvPr id="3" name="Content Placeholder 2">
            <a:extLst>
              <a:ext uri="{FF2B5EF4-FFF2-40B4-BE49-F238E27FC236}">
                <a16:creationId xmlns:a16="http://schemas.microsoft.com/office/drawing/2014/main" id="{A9BC8D38-50DB-4B73-AE10-24C8CB41D00C}"/>
              </a:ext>
            </a:extLst>
          </p:cNvPr>
          <p:cNvSpPr>
            <a:spLocks noGrp="1"/>
          </p:cNvSpPr>
          <p:nvPr>
            <p:ph idx="1"/>
          </p:nvPr>
        </p:nvSpPr>
        <p:spPr>
          <a:xfrm>
            <a:off x="22259" y="1020278"/>
            <a:ext cx="9102490" cy="5837722"/>
          </a:xfrm>
        </p:spPr>
        <p:txBody>
          <a:bodyPr>
            <a:normAutofit lnSpcReduction="10000"/>
          </a:bodyPr>
          <a:lstStyle/>
          <a:p>
            <a:r>
              <a:rPr lang="en-US"/>
              <a:t>Widget này </a:t>
            </a:r>
            <a:r>
              <a:rPr lang="vi-VN"/>
              <a:t>được sử dụng phổ biến để nhập dữ liệu một dòng</a:t>
            </a:r>
            <a:r>
              <a:rPr lang="en-US"/>
              <a:t> đ</a:t>
            </a:r>
            <a:r>
              <a:rPr lang="vi-VN"/>
              <a:t>ơ</a:t>
            </a:r>
            <a:r>
              <a:rPr lang="en-US"/>
              <a:t>n</a:t>
            </a:r>
            <a:r>
              <a:rPr lang="vi-VN"/>
              <a:t>. </a:t>
            </a:r>
            <a:r>
              <a:rPr lang="en-US"/>
              <a:t>Widget này </a:t>
            </a:r>
            <a:r>
              <a:rPr lang="vi-VN"/>
              <a:t>là một </a:t>
            </a:r>
            <a:r>
              <a:rPr lang="en-US"/>
              <a:t>thể hiện </a:t>
            </a:r>
            <a:r>
              <a:rPr lang="vi-VN"/>
              <a:t>của lớp </a:t>
            </a:r>
            <a:r>
              <a:rPr lang="vi-VN" b="1"/>
              <a:t>QLineEdit</a:t>
            </a:r>
            <a:r>
              <a:rPr lang="vi-VN"/>
              <a:t> và bạn không chỉ có thể nhập mà còn chỉnh sửa dữ liệu. Bên cạnh việc nhập dữ liệu, bạn có thể hoàn tác, làm lại, cắt và dán dữ liệu trong </a:t>
            </a:r>
            <a:r>
              <a:rPr lang="en-US"/>
              <a:t>widget này</a:t>
            </a:r>
            <a:r>
              <a:rPr lang="vi-VN"/>
              <a:t>.</a:t>
            </a:r>
            <a:endParaRPr lang="en-US"/>
          </a:p>
          <a:p>
            <a:r>
              <a:rPr lang="en-US" u="sng"/>
              <a:t>C</a:t>
            </a:r>
            <a:r>
              <a:rPr lang="vi-VN" u="sng"/>
              <a:t>ác phương thức được cung cấp bởi lớp QLineEdit</a:t>
            </a:r>
            <a:r>
              <a:rPr lang="en-US"/>
              <a:t>:</a:t>
            </a:r>
          </a:p>
          <a:p>
            <a:pPr lvl="1"/>
            <a:r>
              <a:rPr lang="vi-VN"/>
              <a:t>setEchoMode (): đặt chế độ echo. Đó là, nó xác định cách hiển thị nội dung </a:t>
            </a:r>
            <a:r>
              <a:rPr lang="en-US"/>
              <a:t>,</a:t>
            </a:r>
            <a:r>
              <a:rPr lang="vi-VN"/>
              <a:t> </a:t>
            </a:r>
            <a:r>
              <a:rPr lang="en-US"/>
              <a:t>c</a:t>
            </a:r>
            <a:r>
              <a:rPr lang="vi-VN"/>
              <a:t>ác tùy chọn có sẵn như sau:</a:t>
            </a:r>
          </a:p>
          <a:p>
            <a:pPr lvl="2"/>
            <a:r>
              <a:rPr lang="en-US"/>
              <a:t>Normal</a:t>
            </a:r>
            <a:r>
              <a:rPr lang="vi-VN"/>
              <a:t>: Đây là chế độ mặc định và nó hiển thị các ký tự theo cách chúng được nhập</a:t>
            </a:r>
          </a:p>
          <a:p>
            <a:pPr lvl="2"/>
            <a:r>
              <a:rPr lang="vi-VN"/>
              <a:t>NoEcho: không hiển thị bất cứ thứ gì</a:t>
            </a:r>
          </a:p>
          <a:p>
            <a:pPr lvl="2"/>
            <a:r>
              <a:rPr lang="en-US"/>
              <a:t>Password</a:t>
            </a:r>
            <a:r>
              <a:rPr lang="vi-VN"/>
              <a:t>: Tùy chọn này được sử dụng cho các trường mật khẩu, sẽ không có văn bản nào được hiển thị; thay vào đó, dấu hoa thị xuất hiện cho văn bản được nhập bởi người dùng</a:t>
            </a:r>
            <a:endParaRPr lang="en-US"/>
          </a:p>
          <a:p>
            <a:pPr lvl="2"/>
            <a:r>
              <a:rPr lang="en-US"/>
              <a:t>PasswordEchoOnEdit</a:t>
            </a:r>
            <a:r>
              <a:rPr lang="vi-VN"/>
              <a:t>: Nó hiển thị văn bản thực tế trong khi chỉnh sửa các trường mật khẩu, nếu không nó sẽ hiển thị dấu hoa thị cho văn bản</a:t>
            </a:r>
            <a:endParaRPr lang="en-US"/>
          </a:p>
        </p:txBody>
      </p:sp>
    </p:spTree>
    <p:extLst>
      <p:ext uri="{BB962C8B-B14F-4D97-AF65-F5344CB8AC3E}">
        <p14:creationId xmlns:p14="http://schemas.microsoft.com/office/powerpoint/2010/main" val="3789835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327EE-4ACE-4FB4-ACC9-6995274620FB}"/>
              </a:ext>
            </a:extLst>
          </p:cNvPr>
          <p:cNvSpPr>
            <a:spLocks noGrp="1"/>
          </p:cNvSpPr>
          <p:nvPr>
            <p:ph type="title"/>
          </p:nvPr>
        </p:nvSpPr>
        <p:spPr>
          <a:xfrm>
            <a:off x="22259" y="28245"/>
            <a:ext cx="9102490" cy="708356"/>
          </a:xfrm>
        </p:spPr>
        <p:txBody>
          <a:bodyPr>
            <a:normAutofit fontScale="90000"/>
          </a:bodyPr>
          <a:lstStyle/>
          <a:p>
            <a:r>
              <a:rPr lang="en-US" sz="4800" b="1">
                <a:solidFill>
                  <a:srgbClr val="00B050"/>
                </a:solidFill>
              </a:rPr>
              <a:t>Line Edit </a:t>
            </a:r>
            <a:r>
              <a:rPr lang="en-US" sz="4800" b="1"/>
              <a:t>widget (t.t)</a:t>
            </a:r>
          </a:p>
        </p:txBody>
      </p:sp>
      <p:sp>
        <p:nvSpPr>
          <p:cNvPr id="3" name="Content Placeholder 2">
            <a:extLst>
              <a:ext uri="{FF2B5EF4-FFF2-40B4-BE49-F238E27FC236}">
                <a16:creationId xmlns:a16="http://schemas.microsoft.com/office/drawing/2014/main" id="{A9BC8D38-50DB-4B73-AE10-24C8CB41D00C}"/>
              </a:ext>
            </a:extLst>
          </p:cNvPr>
          <p:cNvSpPr>
            <a:spLocks noGrp="1"/>
          </p:cNvSpPr>
          <p:nvPr>
            <p:ph idx="1"/>
          </p:nvPr>
        </p:nvSpPr>
        <p:spPr>
          <a:xfrm>
            <a:off x="22259" y="812800"/>
            <a:ext cx="9102490" cy="6045200"/>
          </a:xfrm>
        </p:spPr>
        <p:txBody>
          <a:bodyPr>
            <a:normAutofit fontScale="92500" lnSpcReduction="10000"/>
          </a:bodyPr>
          <a:lstStyle/>
          <a:p>
            <a:r>
              <a:rPr lang="en-US" u="sng"/>
              <a:t>C</a:t>
            </a:r>
            <a:r>
              <a:rPr lang="vi-VN" u="sng"/>
              <a:t>ác phương thức được cung cấp bởi lớp QLineEdit</a:t>
            </a:r>
            <a:r>
              <a:rPr lang="en-US"/>
              <a:t>:</a:t>
            </a:r>
          </a:p>
          <a:p>
            <a:pPr lvl="1"/>
            <a:r>
              <a:rPr lang="en-US" b="1"/>
              <a:t>maxLength</a:t>
            </a:r>
            <a:r>
              <a:rPr lang="vi-VN" b="1"/>
              <a:t>()</a:t>
            </a:r>
            <a:r>
              <a:rPr lang="vi-VN"/>
              <a:t>: Phương </a:t>
            </a:r>
            <a:r>
              <a:rPr lang="en-US"/>
              <a:t>thức </a:t>
            </a:r>
            <a:r>
              <a:rPr lang="vi-VN"/>
              <a:t>này được sử dụng để chỉ định độ dài tối đa của văn bản có thể được nhập trong </a:t>
            </a:r>
            <a:r>
              <a:rPr lang="en-US"/>
              <a:t>widget</a:t>
            </a:r>
            <a:r>
              <a:rPr lang="vi-VN"/>
              <a:t>.</a:t>
            </a:r>
          </a:p>
          <a:p>
            <a:pPr lvl="1"/>
            <a:r>
              <a:rPr lang="vi-VN" b="1"/>
              <a:t>setText()</a:t>
            </a:r>
            <a:r>
              <a:rPr lang="vi-VN"/>
              <a:t>: được sử dụng để gán văn bản cho </a:t>
            </a:r>
            <a:r>
              <a:rPr lang="en-US"/>
              <a:t>widget</a:t>
            </a:r>
            <a:r>
              <a:rPr lang="vi-VN"/>
              <a:t>. </a:t>
            </a:r>
            <a:endParaRPr lang="en-US"/>
          </a:p>
          <a:p>
            <a:pPr lvl="1"/>
            <a:r>
              <a:rPr lang="vi-VN" b="1"/>
              <a:t>text()</a:t>
            </a:r>
            <a:r>
              <a:rPr lang="vi-VN"/>
              <a:t>: truy cập vào văn bản được nhập. </a:t>
            </a:r>
            <a:endParaRPr lang="en-US"/>
          </a:p>
          <a:p>
            <a:pPr lvl="1"/>
            <a:r>
              <a:rPr lang="vi-VN" b="1"/>
              <a:t>clear()</a:t>
            </a:r>
            <a:r>
              <a:rPr lang="vi-VN"/>
              <a:t>: xóa hoặc xóa toàn bộ nội dung</a:t>
            </a:r>
          </a:p>
          <a:p>
            <a:pPr lvl="1"/>
            <a:r>
              <a:rPr lang="vi-VN" b="1"/>
              <a:t>setReadOnly ()</a:t>
            </a:r>
            <a:r>
              <a:rPr lang="vi-VN"/>
              <a:t>: Khi giá trị Boolean true được truyền cho phương thức này, nó sẽ làm chỉ đọc, nghĩa là không thể chỉnh sửa. Người dùng không thể thực hiện bất kỳ thay đổi nào đối với nội dung được hiển thị </a:t>
            </a:r>
            <a:r>
              <a:rPr lang="en-US"/>
              <a:t>và </a:t>
            </a:r>
            <a:r>
              <a:rPr lang="vi-VN"/>
              <a:t>chỉ có thể sao chép.</a:t>
            </a:r>
          </a:p>
          <a:p>
            <a:pPr lvl="1"/>
            <a:r>
              <a:rPr lang="vi-VN" b="1"/>
              <a:t>isReadOnly ()</a:t>
            </a:r>
            <a:r>
              <a:rPr lang="vi-VN"/>
              <a:t>: trả về giá trị Boolean đúng nếu</a:t>
            </a:r>
            <a:r>
              <a:rPr lang="en-US"/>
              <a:t> </a:t>
            </a:r>
            <a:r>
              <a:rPr lang="vi-VN"/>
              <a:t>widget ở chế độ chỉ đọc, nếu không nó sẽ trả về false.</a:t>
            </a:r>
          </a:p>
          <a:p>
            <a:pPr lvl="1"/>
            <a:r>
              <a:rPr lang="vi-VN" b="1"/>
              <a:t>setEnables()</a:t>
            </a:r>
            <a:r>
              <a:rPr lang="vi-VN"/>
              <a:t>: Theo mặc định, tiện ích Chỉnh sửa dòng được bật, nghĩa là người dùng có thể thay đổi nó. Nhưng nếu giá trị Boolean false được truyền cho phương thức này, nó sẽ vô hiệu hóa tiện ích Chỉnh sửa dòng để người dùng không thể chỉnh sửa nội dung của nó, mà chỉ có thể gán văn bản thông qua phương thức setText ().</a:t>
            </a:r>
          </a:p>
          <a:p>
            <a:pPr lvl="1"/>
            <a:r>
              <a:rPr lang="vi-VN" b="1"/>
              <a:t>setFocus()</a:t>
            </a:r>
            <a:r>
              <a:rPr lang="vi-VN"/>
              <a:t>: định vị con trỏ.</a:t>
            </a:r>
            <a:endParaRPr lang="en-US"/>
          </a:p>
        </p:txBody>
      </p:sp>
    </p:spTree>
    <p:extLst>
      <p:ext uri="{BB962C8B-B14F-4D97-AF65-F5344CB8AC3E}">
        <p14:creationId xmlns:p14="http://schemas.microsoft.com/office/powerpoint/2010/main" val="188156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CAF23-9AE6-46E7-9265-68FD95E2ECED}"/>
              </a:ext>
            </a:extLst>
          </p:cNvPr>
          <p:cNvSpPr>
            <a:spLocks noGrp="1"/>
          </p:cNvSpPr>
          <p:nvPr>
            <p:ph type="title"/>
          </p:nvPr>
        </p:nvSpPr>
        <p:spPr/>
        <p:txBody>
          <a:bodyPr/>
          <a:lstStyle/>
          <a:p>
            <a:r>
              <a:rPr lang="en-US" b="1">
                <a:solidFill>
                  <a:srgbClr val="00B0F0"/>
                </a:solidFill>
              </a:rPr>
              <a:t>Push Button </a:t>
            </a:r>
            <a:r>
              <a:rPr lang="en-US" b="1"/>
              <a:t>widget</a:t>
            </a:r>
          </a:p>
        </p:txBody>
      </p:sp>
      <p:sp>
        <p:nvSpPr>
          <p:cNvPr id="3" name="Content Placeholder 2">
            <a:extLst>
              <a:ext uri="{FF2B5EF4-FFF2-40B4-BE49-F238E27FC236}">
                <a16:creationId xmlns:a16="http://schemas.microsoft.com/office/drawing/2014/main" id="{E5F8FC3D-FB39-4187-98C1-0ECC00B72DB8}"/>
              </a:ext>
            </a:extLst>
          </p:cNvPr>
          <p:cNvSpPr>
            <a:spLocks noGrp="1"/>
          </p:cNvSpPr>
          <p:nvPr>
            <p:ph idx="1"/>
          </p:nvPr>
        </p:nvSpPr>
        <p:spPr>
          <a:xfrm>
            <a:off x="22259" y="914400"/>
            <a:ext cx="9102490" cy="5915357"/>
          </a:xfrm>
        </p:spPr>
        <p:txBody>
          <a:bodyPr>
            <a:normAutofit/>
          </a:bodyPr>
          <a:lstStyle/>
          <a:p>
            <a:r>
              <a:rPr lang="vi-VN"/>
              <a:t>Để hiển thị nút ấn trong ứng dụng, bạn cần tạo một thể hiện của lớp </a:t>
            </a:r>
            <a:r>
              <a:rPr lang="vi-VN" b="1"/>
              <a:t>QPushButton</a:t>
            </a:r>
            <a:r>
              <a:rPr lang="vi-VN"/>
              <a:t>. Khi gán văn bản cho các nút, bạn có thể tạo các phím tắt bằng cách đặt trước bất kỳ ký tự nào trong văn bản bằng dấu và. Ví dụ: nếu văn bản được gán cho nút ấn là Click Me, ký tự C sẽ được gạch chân để chỉ ra rằng đó là phím tắt và người dùng có thể chọn nút bằng cách nhấn Alt + C. Nút phát ra tín hiệu </a:t>
            </a:r>
            <a:r>
              <a:rPr lang="en-US" b="1"/>
              <a:t>clicked() </a:t>
            </a:r>
            <a:r>
              <a:rPr lang="vi-VN"/>
              <a:t>nếu nó được kích hoạt. Bên cạnh văn bản, một biểu tượng </a:t>
            </a:r>
            <a:r>
              <a:rPr lang="en-US"/>
              <a:t>(icon) </a:t>
            </a:r>
            <a:r>
              <a:rPr lang="vi-VN"/>
              <a:t>cũng có thể được hiển thị trong nút ấn. Các phương</a:t>
            </a:r>
            <a:r>
              <a:rPr lang="en-US"/>
              <a:t> thức</a:t>
            </a:r>
            <a:r>
              <a:rPr lang="vi-VN"/>
              <a:t> hiển thị văn bản và biểu tượng trong nút ấn như sau:</a:t>
            </a:r>
            <a:endParaRPr lang="en-US"/>
          </a:p>
          <a:p>
            <a:pPr lvl="1"/>
            <a:r>
              <a:rPr lang="vi-VN" b="1"/>
              <a:t>setText(): </a:t>
            </a:r>
            <a:r>
              <a:rPr lang="vi-VN"/>
              <a:t>sử dụng để gán văn bản cho nút ấn</a:t>
            </a:r>
          </a:p>
          <a:p>
            <a:pPr lvl="1"/>
            <a:r>
              <a:rPr lang="vi-VN" b="1"/>
              <a:t>setIcon(): </a:t>
            </a:r>
            <a:r>
              <a:rPr lang="vi-VN"/>
              <a:t>sử dụng để gán biểu tượng cho nút ấn</a:t>
            </a:r>
            <a:endParaRPr lang="en-US"/>
          </a:p>
        </p:txBody>
      </p:sp>
    </p:spTree>
    <p:extLst>
      <p:ext uri="{BB962C8B-B14F-4D97-AF65-F5344CB8AC3E}">
        <p14:creationId xmlns:p14="http://schemas.microsoft.com/office/powerpoint/2010/main" val="396806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D9123-1459-4168-B2FF-2BDEE89B95DF}"/>
              </a:ext>
            </a:extLst>
          </p:cNvPr>
          <p:cNvSpPr>
            <a:spLocks noGrp="1"/>
          </p:cNvSpPr>
          <p:nvPr>
            <p:ph type="title"/>
          </p:nvPr>
        </p:nvSpPr>
        <p:spPr>
          <a:xfrm>
            <a:off x="22259" y="28244"/>
            <a:ext cx="9102490" cy="720693"/>
          </a:xfrm>
        </p:spPr>
        <p:txBody>
          <a:bodyPr>
            <a:normAutofit/>
          </a:bodyPr>
          <a:lstStyle/>
          <a:p>
            <a:r>
              <a:rPr lang="en-US" b="1"/>
              <a:t>Ứng dụng demo</a:t>
            </a:r>
          </a:p>
        </p:txBody>
      </p:sp>
      <p:sp>
        <p:nvSpPr>
          <p:cNvPr id="3" name="Content Placeholder 2">
            <a:extLst>
              <a:ext uri="{FF2B5EF4-FFF2-40B4-BE49-F238E27FC236}">
                <a16:creationId xmlns:a16="http://schemas.microsoft.com/office/drawing/2014/main" id="{4A7A22F7-CD6C-4B50-A0BE-685A71A0B65E}"/>
              </a:ext>
            </a:extLst>
          </p:cNvPr>
          <p:cNvSpPr>
            <a:spLocks noGrp="1"/>
          </p:cNvSpPr>
          <p:nvPr>
            <p:ph idx="1"/>
          </p:nvPr>
        </p:nvSpPr>
        <p:spPr>
          <a:xfrm>
            <a:off x="22259" y="827314"/>
            <a:ext cx="9102490" cy="6002443"/>
          </a:xfrm>
        </p:spPr>
        <p:txBody>
          <a:bodyPr/>
          <a:lstStyle/>
          <a:p>
            <a:pPr marL="0" indent="0">
              <a:buNone/>
            </a:pPr>
            <a:r>
              <a:rPr lang="vi-VN"/>
              <a:t>Hãy tạo một ứng dụng mới dựa trên mẫu </a:t>
            </a:r>
            <a:r>
              <a:rPr lang="en-US" b="1"/>
              <a:t>Dialog without Buttons</a:t>
            </a:r>
            <a:r>
              <a:rPr lang="vi-VN"/>
              <a:t>. Như đã nói trước đó, ứng dụng này sẽ nhắc người dùng nhập tên và khi nhấp vào nút ấn sau khi nhập tên, ứng dụng có hiển thị thông báo xin chào cùng với tên đã nhập. </a:t>
            </a:r>
            <a:endParaRPr lang="en-US"/>
          </a:p>
        </p:txBody>
      </p:sp>
      <p:grpSp>
        <p:nvGrpSpPr>
          <p:cNvPr id="4" name="Group 2">
            <a:extLst>
              <a:ext uri="{FF2B5EF4-FFF2-40B4-BE49-F238E27FC236}">
                <a16:creationId xmlns:a16="http://schemas.microsoft.com/office/drawing/2014/main" id="{B3F7763F-D69C-466F-9875-7F80CBBFF902}"/>
              </a:ext>
            </a:extLst>
          </p:cNvPr>
          <p:cNvGrpSpPr>
            <a:grpSpLocks/>
          </p:cNvGrpSpPr>
          <p:nvPr/>
        </p:nvGrpSpPr>
        <p:grpSpPr bwMode="auto">
          <a:xfrm>
            <a:off x="2987040" y="2551611"/>
            <a:ext cx="6134701" cy="4278145"/>
            <a:chOff x="1134" y="289"/>
            <a:chExt cx="8533" cy="6169"/>
          </a:xfrm>
        </p:grpSpPr>
        <p:pic>
          <p:nvPicPr>
            <p:cNvPr id="1027" name="Picture 3">
              <a:extLst>
                <a:ext uri="{FF2B5EF4-FFF2-40B4-BE49-F238E27FC236}">
                  <a16:creationId xmlns:a16="http://schemas.microsoft.com/office/drawing/2014/main" id="{1412114F-2825-4853-AF55-FCA80710ED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3" y="309"/>
              <a:ext cx="8493" cy="6129"/>
            </a:xfrm>
            <a:prstGeom prst="rect">
              <a:avLst/>
            </a:prstGeom>
            <a:noFill/>
            <a:extLst>
              <a:ext uri="{909E8E84-426E-40DD-AFC4-6F175D3DCCD1}">
                <a14:hiddenFill xmlns:a14="http://schemas.microsoft.com/office/drawing/2010/main">
                  <a:solidFill>
                    <a:srgbClr val="FFFFFF"/>
                  </a:solidFill>
                </a14:hiddenFill>
              </a:ext>
            </a:extLst>
          </p:spPr>
        </p:pic>
        <p:sp>
          <p:nvSpPr>
            <p:cNvPr id="5" name="Line 4">
              <a:extLst>
                <a:ext uri="{FF2B5EF4-FFF2-40B4-BE49-F238E27FC236}">
                  <a16:creationId xmlns:a16="http://schemas.microsoft.com/office/drawing/2014/main" id="{7695BC14-2D8B-4A23-BA7F-7A4E339FA0CE}"/>
                </a:ext>
              </a:extLst>
            </p:cNvPr>
            <p:cNvSpPr>
              <a:spLocks noChangeShapeType="1"/>
            </p:cNvSpPr>
            <p:nvPr/>
          </p:nvSpPr>
          <p:spPr bwMode="auto">
            <a:xfrm>
              <a:off x="1144" y="299"/>
              <a:ext cx="851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Line 5">
              <a:extLst>
                <a:ext uri="{FF2B5EF4-FFF2-40B4-BE49-F238E27FC236}">
                  <a16:creationId xmlns:a16="http://schemas.microsoft.com/office/drawing/2014/main" id="{F9D10F15-11EE-45D0-A2B4-C2CDF10163DE}"/>
                </a:ext>
              </a:extLst>
            </p:cNvPr>
            <p:cNvSpPr>
              <a:spLocks noChangeShapeType="1"/>
            </p:cNvSpPr>
            <p:nvPr/>
          </p:nvSpPr>
          <p:spPr bwMode="auto">
            <a:xfrm>
              <a:off x="1144" y="299"/>
              <a:ext cx="0" cy="614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Line 6">
              <a:extLst>
                <a:ext uri="{FF2B5EF4-FFF2-40B4-BE49-F238E27FC236}">
                  <a16:creationId xmlns:a16="http://schemas.microsoft.com/office/drawing/2014/main" id="{D0671CAB-3C53-4816-9009-031E79B7847F}"/>
                </a:ext>
              </a:extLst>
            </p:cNvPr>
            <p:cNvSpPr>
              <a:spLocks noChangeShapeType="1"/>
            </p:cNvSpPr>
            <p:nvPr/>
          </p:nvSpPr>
          <p:spPr bwMode="auto">
            <a:xfrm>
              <a:off x="9656" y="299"/>
              <a:ext cx="0" cy="614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Line 7">
              <a:extLst>
                <a:ext uri="{FF2B5EF4-FFF2-40B4-BE49-F238E27FC236}">
                  <a16:creationId xmlns:a16="http://schemas.microsoft.com/office/drawing/2014/main" id="{0F0D199A-C822-420F-B08A-562A84B7006E}"/>
                </a:ext>
              </a:extLst>
            </p:cNvPr>
            <p:cNvSpPr>
              <a:spLocks noChangeShapeType="1"/>
            </p:cNvSpPr>
            <p:nvPr/>
          </p:nvSpPr>
          <p:spPr bwMode="auto">
            <a:xfrm>
              <a:off x="1144" y="6448"/>
              <a:ext cx="851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9" name="Picture 8">
            <a:extLst>
              <a:ext uri="{FF2B5EF4-FFF2-40B4-BE49-F238E27FC236}">
                <a16:creationId xmlns:a16="http://schemas.microsoft.com/office/drawing/2014/main" id="{7FF5A174-2343-42A8-B282-0882AD242B09}"/>
              </a:ext>
            </a:extLst>
          </p:cNvPr>
          <p:cNvPicPr>
            <a:picLocks noChangeAspect="1"/>
          </p:cNvPicPr>
          <p:nvPr/>
        </p:nvPicPr>
        <p:blipFill>
          <a:blip r:embed="rId3"/>
          <a:stretch>
            <a:fillRect/>
          </a:stretch>
        </p:blipFill>
        <p:spPr>
          <a:xfrm>
            <a:off x="37358" y="2882129"/>
            <a:ext cx="2784220" cy="1761147"/>
          </a:xfrm>
          <a:prstGeom prst="rect">
            <a:avLst/>
          </a:prstGeom>
        </p:spPr>
      </p:pic>
      <p:pic>
        <p:nvPicPr>
          <p:cNvPr id="10" name="Picture 9">
            <a:extLst>
              <a:ext uri="{FF2B5EF4-FFF2-40B4-BE49-F238E27FC236}">
                <a16:creationId xmlns:a16="http://schemas.microsoft.com/office/drawing/2014/main" id="{FF3BDE8F-872C-453C-B0E3-EFB7DE65C028}"/>
              </a:ext>
            </a:extLst>
          </p:cNvPr>
          <p:cNvPicPr>
            <a:picLocks noChangeAspect="1"/>
          </p:cNvPicPr>
          <p:nvPr/>
        </p:nvPicPr>
        <p:blipFill>
          <a:blip r:embed="rId4"/>
          <a:stretch>
            <a:fillRect/>
          </a:stretch>
        </p:blipFill>
        <p:spPr>
          <a:xfrm>
            <a:off x="30166" y="5050193"/>
            <a:ext cx="2791407" cy="1765693"/>
          </a:xfrm>
          <a:prstGeom prst="rect">
            <a:avLst/>
          </a:prstGeom>
        </p:spPr>
      </p:pic>
    </p:spTree>
    <p:extLst>
      <p:ext uri="{BB962C8B-B14F-4D97-AF65-F5344CB8AC3E}">
        <p14:creationId xmlns:p14="http://schemas.microsoft.com/office/powerpoint/2010/main" val="3233362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5F5218-C182-4DC2-88CF-87D972DC6B0E}"/>
              </a:ext>
            </a:extLst>
          </p:cNvPr>
          <p:cNvSpPr>
            <a:spLocks noGrp="1"/>
          </p:cNvSpPr>
          <p:nvPr>
            <p:ph idx="1"/>
          </p:nvPr>
        </p:nvSpPr>
        <p:spPr>
          <a:xfrm>
            <a:off x="22259" y="748938"/>
            <a:ext cx="9102490" cy="6080820"/>
          </a:xfrm>
        </p:spPr>
        <p:txBody>
          <a:bodyPr>
            <a:normAutofit/>
          </a:bodyPr>
          <a:lstStyle/>
          <a:p>
            <a:pPr marL="0" indent="0">
              <a:spcBef>
                <a:spcPts val="0"/>
              </a:spcBef>
              <a:buNone/>
            </a:pPr>
            <a:r>
              <a:rPr lang="vi-VN"/>
              <a:t>1. Kéo tiện ích </a:t>
            </a:r>
            <a:r>
              <a:rPr lang="en-US"/>
              <a:t>Label </a:t>
            </a:r>
            <a:r>
              <a:rPr lang="vi-VN"/>
              <a:t>vào </a:t>
            </a:r>
            <a:r>
              <a:rPr lang="en-US"/>
              <a:t>form</a:t>
            </a:r>
            <a:r>
              <a:rPr lang="vi-VN"/>
              <a:t>. Đặt thuộc tính </a:t>
            </a:r>
            <a:r>
              <a:rPr lang="en-US" b="1"/>
              <a:t>text</a:t>
            </a:r>
            <a:r>
              <a:rPr lang="en-US"/>
              <a:t> cho </a:t>
            </a:r>
            <a:r>
              <a:rPr lang="vi-VN"/>
              <a:t>nó </a:t>
            </a:r>
            <a:r>
              <a:rPr lang="en-US"/>
              <a:t>Enter your name</a:t>
            </a:r>
            <a:r>
              <a:rPr lang="vi-VN"/>
              <a:t>. Đặt thuộc tính </a:t>
            </a:r>
            <a:r>
              <a:rPr lang="vi-VN" b="1"/>
              <a:t>objectName</a:t>
            </a:r>
            <a:r>
              <a:rPr lang="vi-VN"/>
              <a:t> thành </a:t>
            </a:r>
            <a:r>
              <a:rPr lang="en-US">
                <a:latin typeface="Courier New" panose="02070309020205020404" pitchFamily="49" charset="0"/>
                <a:cs typeface="Courier New" panose="02070309020205020404" pitchFamily="49" charset="0"/>
              </a:rPr>
              <a:t>labelResponse</a:t>
            </a:r>
            <a:r>
              <a:rPr lang="vi-VN"/>
              <a:t>.</a:t>
            </a:r>
          </a:p>
          <a:p>
            <a:pPr marL="0" indent="0">
              <a:spcBef>
                <a:spcPts val="0"/>
              </a:spcBef>
              <a:buNone/>
            </a:pPr>
            <a:r>
              <a:rPr lang="vi-VN"/>
              <a:t>2. Kéo thêm một </a:t>
            </a:r>
            <a:r>
              <a:rPr lang="en-US"/>
              <a:t>Label vào form</a:t>
            </a:r>
            <a:r>
              <a:rPr lang="vi-VN"/>
              <a:t>. Không thay đổi </a:t>
            </a:r>
            <a:r>
              <a:rPr lang="en-US"/>
              <a:t>các </a:t>
            </a:r>
            <a:r>
              <a:rPr lang="vi-VN"/>
              <a:t>thuộc tính </a:t>
            </a:r>
            <a:r>
              <a:rPr lang="en-US"/>
              <a:t>mặc định</a:t>
            </a:r>
            <a:endParaRPr lang="vi-VN"/>
          </a:p>
          <a:p>
            <a:pPr marL="0" indent="0">
              <a:spcBef>
                <a:spcPts val="0"/>
              </a:spcBef>
              <a:buNone/>
            </a:pPr>
            <a:r>
              <a:rPr lang="vi-VN"/>
              <a:t>3. Kéo một </a:t>
            </a:r>
            <a:r>
              <a:rPr lang="en-US"/>
              <a:t>Line Edit vào form</a:t>
            </a:r>
            <a:r>
              <a:rPr lang="vi-VN"/>
              <a:t>. Đặt thuộc tính </a:t>
            </a:r>
            <a:r>
              <a:rPr lang="vi-VN" b="1"/>
              <a:t>objectName</a:t>
            </a:r>
            <a:r>
              <a:rPr lang="vi-VN"/>
              <a:t> của nó thành </a:t>
            </a:r>
            <a:r>
              <a:rPr lang="vi-VN">
                <a:latin typeface="Courier New" panose="02070309020205020404" pitchFamily="49" charset="0"/>
                <a:cs typeface="Courier New" panose="02070309020205020404" pitchFamily="49" charset="0"/>
              </a:rPr>
              <a:t>lineEditName</a:t>
            </a:r>
            <a:r>
              <a:rPr lang="vi-VN"/>
              <a:t>.</a:t>
            </a:r>
          </a:p>
          <a:p>
            <a:pPr marL="0" indent="0">
              <a:spcBef>
                <a:spcPts val="0"/>
              </a:spcBef>
              <a:buNone/>
            </a:pPr>
            <a:r>
              <a:rPr lang="vi-VN"/>
              <a:t>4. Kéo </a:t>
            </a:r>
            <a:r>
              <a:rPr lang="en-US" b="1"/>
              <a:t>Push Button </a:t>
            </a:r>
            <a:r>
              <a:rPr lang="en-US"/>
              <a:t>vào form</a:t>
            </a:r>
            <a:r>
              <a:rPr lang="vi-VN"/>
              <a:t>. Đặt thuộc tính </a:t>
            </a:r>
            <a:r>
              <a:rPr lang="en-US" b="1"/>
              <a:t>text</a:t>
            </a:r>
            <a:r>
              <a:rPr lang="en-US"/>
              <a:t> </a:t>
            </a:r>
            <a:r>
              <a:rPr lang="vi-VN"/>
              <a:t>của nó thành </a:t>
            </a:r>
            <a:r>
              <a:rPr lang="en-US">
                <a:latin typeface="Courier New" panose="02070309020205020404" pitchFamily="49" charset="0"/>
                <a:cs typeface="Courier New" panose="02070309020205020404" pitchFamily="49" charset="0"/>
              </a:rPr>
              <a:t>Click</a:t>
            </a:r>
            <a:r>
              <a:rPr lang="vi-VN"/>
              <a:t>. </a:t>
            </a:r>
          </a:p>
          <a:p>
            <a:pPr marL="0" indent="0">
              <a:spcBef>
                <a:spcPts val="0"/>
              </a:spcBef>
              <a:buNone/>
            </a:pPr>
            <a:r>
              <a:rPr lang="vi-VN"/>
              <a:t>5. Đặt thuộc tính </a:t>
            </a:r>
            <a:r>
              <a:rPr lang="vi-VN" b="1"/>
              <a:t>objectName </a:t>
            </a:r>
            <a:r>
              <a:rPr lang="vi-VN"/>
              <a:t>của tiện ích </a:t>
            </a:r>
            <a:r>
              <a:rPr lang="en-US" b="1"/>
              <a:t>Push Button </a:t>
            </a:r>
            <a:r>
              <a:rPr lang="vi-VN"/>
              <a:t>thành </a:t>
            </a:r>
            <a:r>
              <a:rPr lang="en-US"/>
              <a:t>ButtonClickMe</a:t>
            </a:r>
            <a:r>
              <a:rPr lang="vi-VN"/>
              <a:t>.</a:t>
            </a:r>
          </a:p>
          <a:p>
            <a:pPr marL="0" indent="0">
              <a:spcBef>
                <a:spcPts val="0"/>
              </a:spcBef>
              <a:buNone/>
            </a:pPr>
            <a:r>
              <a:rPr lang="vi-VN"/>
              <a:t>6. Lưu ứng dụng với tên </a:t>
            </a:r>
            <a:r>
              <a:rPr lang="vi-VN">
                <a:highlight>
                  <a:srgbClr val="FFFF00"/>
                </a:highlight>
              </a:rPr>
              <a:t>demoLineEdit.ui</a:t>
            </a:r>
            <a:r>
              <a:rPr lang="vi-VN"/>
              <a:t>. </a:t>
            </a:r>
            <a:endParaRPr lang="en-US"/>
          </a:p>
        </p:txBody>
      </p:sp>
      <p:sp>
        <p:nvSpPr>
          <p:cNvPr id="4" name="Title 1">
            <a:extLst>
              <a:ext uri="{FF2B5EF4-FFF2-40B4-BE49-F238E27FC236}">
                <a16:creationId xmlns:a16="http://schemas.microsoft.com/office/drawing/2014/main" id="{87E6D954-D1AC-4A89-8E9D-34361E50DD2C}"/>
              </a:ext>
            </a:extLst>
          </p:cNvPr>
          <p:cNvSpPr>
            <a:spLocks noGrp="1"/>
          </p:cNvSpPr>
          <p:nvPr>
            <p:ph type="title"/>
          </p:nvPr>
        </p:nvSpPr>
        <p:spPr>
          <a:xfrm>
            <a:off x="22259" y="28244"/>
            <a:ext cx="9102490" cy="720693"/>
          </a:xfrm>
        </p:spPr>
        <p:txBody>
          <a:bodyPr>
            <a:normAutofit/>
          </a:bodyPr>
          <a:lstStyle/>
          <a:p>
            <a:r>
              <a:rPr lang="en-US" b="1"/>
              <a:t>Ứng dụng demo (t.t)</a:t>
            </a:r>
          </a:p>
        </p:txBody>
      </p:sp>
      <p:sp>
        <p:nvSpPr>
          <p:cNvPr id="5" name="Rectangle 4">
            <a:extLst>
              <a:ext uri="{FF2B5EF4-FFF2-40B4-BE49-F238E27FC236}">
                <a16:creationId xmlns:a16="http://schemas.microsoft.com/office/drawing/2014/main" id="{B4F59036-7B95-46C1-81D4-75FC2977C6CF}"/>
              </a:ext>
            </a:extLst>
          </p:cNvPr>
          <p:cNvSpPr/>
          <p:nvPr/>
        </p:nvSpPr>
        <p:spPr>
          <a:xfrm>
            <a:off x="0" y="5462175"/>
            <a:ext cx="9144000" cy="1446550"/>
          </a:xfrm>
          <a:prstGeom prst="rect">
            <a:avLst/>
          </a:prstGeom>
          <a:solidFill>
            <a:schemeClr val="accent4">
              <a:lumMod val="20000"/>
              <a:lumOff val="80000"/>
            </a:schemeClr>
          </a:solidFill>
        </p:spPr>
        <p:txBody>
          <a:bodyPr wrap="square">
            <a:spAutoFit/>
          </a:bodyPr>
          <a:lstStyle/>
          <a:p>
            <a:pPr algn="just"/>
            <a:r>
              <a:rPr lang="en-US" sz="2200" i="1"/>
              <a:t>Giao diện người dùng tạo bằng Qt Designer được lưu trữ trong tệp .ui bao gồm tất cả thông tin của biểu mẫu: widget, bố cục, v.v. Tệp .ui là một tệp XML và bạn cần chuyển đổi nó thành mã Python. Bằng cách đó, bạn có thể duy trì một sự tách biệt rõ ràng giữa giao diện trực quan và hành vi được cài đặt trong mã.</a:t>
            </a:r>
          </a:p>
        </p:txBody>
      </p:sp>
    </p:spTree>
    <p:extLst>
      <p:ext uri="{BB962C8B-B14F-4D97-AF65-F5344CB8AC3E}">
        <p14:creationId xmlns:p14="http://schemas.microsoft.com/office/powerpoint/2010/main" val="3180800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C65D07-E5D3-42B7-8C79-6D37ED9A0C67}"/>
              </a:ext>
            </a:extLst>
          </p:cNvPr>
          <p:cNvSpPr>
            <a:spLocks noGrp="1"/>
          </p:cNvSpPr>
          <p:nvPr>
            <p:ph idx="1"/>
          </p:nvPr>
        </p:nvSpPr>
        <p:spPr>
          <a:xfrm>
            <a:off x="22259" y="748938"/>
            <a:ext cx="9102490" cy="2547967"/>
          </a:xfrm>
        </p:spPr>
        <p:txBody>
          <a:bodyPr>
            <a:noAutofit/>
          </a:bodyPr>
          <a:lstStyle/>
          <a:p>
            <a:pPr marL="0" indent="0">
              <a:buNone/>
            </a:pPr>
            <a:r>
              <a:rPr lang="vi-VN" sz="3000">
                <a:latin typeface="Calibri (Body)"/>
              </a:rPr>
              <a:t>7. Để sử dụng tệp .ui, trước tiên bạn cần chuyển đổi nó thành tập lệnh Python. Tiện ích lệnh sẽ sử dụng để chuyển đổi tệp .ui thành tập lệnh Python là </a:t>
            </a:r>
            <a:r>
              <a:rPr lang="vi-VN" sz="3000" b="1">
                <a:latin typeface="Calibri (Body)"/>
              </a:rPr>
              <a:t>pyuic5</a:t>
            </a:r>
            <a:r>
              <a:rPr lang="vi-VN" sz="3000">
                <a:latin typeface="Calibri (Body)"/>
              </a:rPr>
              <a:t>. Trong Windows, tiện ích pyuic5 được gói cùng với PyQt. Để thực hiện chuyển đổi, </a:t>
            </a:r>
            <a:r>
              <a:rPr lang="en-US" sz="3000">
                <a:latin typeface="Calibri (Body)"/>
              </a:rPr>
              <a:t>ta </a:t>
            </a:r>
            <a:r>
              <a:rPr lang="vi-VN" sz="3000">
                <a:latin typeface="Calibri (Body)"/>
              </a:rPr>
              <a:t>mở cửa sổ Dấu nhắc Lệnh và điều hướng đến thư mục lưu tệp và đưa ra lệnh sau:</a:t>
            </a:r>
            <a:endParaRPr lang="en-US" sz="3000">
              <a:latin typeface="Calibri (Body)"/>
            </a:endParaRPr>
          </a:p>
        </p:txBody>
      </p:sp>
      <p:sp>
        <p:nvSpPr>
          <p:cNvPr id="4" name="Title 1">
            <a:extLst>
              <a:ext uri="{FF2B5EF4-FFF2-40B4-BE49-F238E27FC236}">
                <a16:creationId xmlns:a16="http://schemas.microsoft.com/office/drawing/2014/main" id="{100BE58B-C6B1-42EB-8D20-A16C32B6D368}"/>
              </a:ext>
            </a:extLst>
          </p:cNvPr>
          <p:cNvSpPr>
            <a:spLocks noGrp="1"/>
          </p:cNvSpPr>
          <p:nvPr>
            <p:ph type="title"/>
          </p:nvPr>
        </p:nvSpPr>
        <p:spPr>
          <a:xfrm>
            <a:off x="22259" y="28244"/>
            <a:ext cx="9102490" cy="720693"/>
          </a:xfrm>
        </p:spPr>
        <p:txBody>
          <a:bodyPr>
            <a:normAutofit/>
          </a:bodyPr>
          <a:lstStyle/>
          <a:p>
            <a:r>
              <a:rPr lang="en-US" b="1"/>
              <a:t>Ứng dụng demo (t.t)</a:t>
            </a:r>
          </a:p>
        </p:txBody>
      </p:sp>
      <p:sp>
        <p:nvSpPr>
          <p:cNvPr id="5" name="Rectangle 4">
            <a:extLst>
              <a:ext uri="{FF2B5EF4-FFF2-40B4-BE49-F238E27FC236}">
                <a16:creationId xmlns:a16="http://schemas.microsoft.com/office/drawing/2014/main" id="{E72B5A75-5E1B-4DC7-B372-3BADEDE7C3D4}"/>
              </a:ext>
            </a:extLst>
          </p:cNvPr>
          <p:cNvSpPr/>
          <p:nvPr/>
        </p:nvSpPr>
        <p:spPr>
          <a:xfrm>
            <a:off x="0" y="3684401"/>
            <a:ext cx="9144000" cy="492443"/>
          </a:xfrm>
          <a:prstGeom prst="rect">
            <a:avLst/>
          </a:prstGeom>
          <a:solidFill>
            <a:schemeClr val="accent5">
              <a:lumMod val="20000"/>
              <a:lumOff val="80000"/>
            </a:schemeClr>
          </a:solidFill>
        </p:spPr>
        <p:txBody>
          <a:bodyPr wrap="square">
            <a:spAutoFit/>
          </a:bodyPr>
          <a:lstStyle/>
          <a:p>
            <a:r>
              <a:rPr lang="en-US" sz="2600" b="1">
                <a:latin typeface="Courier New" panose="02070309020205020404" pitchFamily="49" charset="0"/>
                <a:ea typeface="Palatino Linotype" panose="02040502050505030304" pitchFamily="18" charset="0"/>
                <a:cs typeface="Palatino Linotype" panose="02040502050505030304" pitchFamily="18" charset="0"/>
              </a:rPr>
              <a:t>d:\&gt;pyuic5 demoLineEdit.ui -o demoLineEdit.py</a:t>
            </a:r>
            <a:endParaRPr lang="en-US" sz="2600"/>
          </a:p>
        </p:txBody>
      </p:sp>
      <p:sp>
        <p:nvSpPr>
          <p:cNvPr id="6" name="Rectangle 5">
            <a:extLst>
              <a:ext uri="{FF2B5EF4-FFF2-40B4-BE49-F238E27FC236}">
                <a16:creationId xmlns:a16="http://schemas.microsoft.com/office/drawing/2014/main" id="{4A5AA068-02ED-4C50-8BF1-0D5D862C0E92}"/>
              </a:ext>
            </a:extLst>
          </p:cNvPr>
          <p:cNvSpPr/>
          <p:nvPr/>
        </p:nvSpPr>
        <p:spPr>
          <a:xfrm>
            <a:off x="22259" y="4564340"/>
            <a:ext cx="9124749" cy="1938992"/>
          </a:xfrm>
          <a:prstGeom prst="rect">
            <a:avLst/>
          </a:prstGeom>
        </p:spPr>
        <p:txBody>
          <a:bodyPr wrap="square">
            <a:spAutoFit/>
          </a:bodyPr>
          <a:lstStyle/>
          <a:p>
            <a:pPr algn="just"/>
            <a:r>
              <a:rPr lang="en-US" sz="3000">
                <a:latin typeface="Calibri (Body)"/>
              </a:rPr>
              <a:t>8. Xử lý mã trong tệp </a:t>
            </a:r>
            <a:r>
              <a:rPr lang="en-US" sz="3000" b="1">
                <a:latin typeface="Calibri (Body)"/>
              </a:rPr>
              <a:t>demoLineEdit.py</a:t>
            </a:r>
            <a:r>
              <a:rPr lang="en-US" sz="3000">
                <a:latin typeface="Calibri (Body)"/>
              </a:rPr>
              <a:t> nh</a:t>
            </a:r>
            <a:r>
              <a:rPr lang="vi-VN" sz="3000">
                <a:latin typeface="Calibri (Body)"/>
              </a:rPr>
              <a:t>ư</a:t>
            </a:r>
            <a:r>
              <a:rPr lang="en-US" sz="3000">
                <a:latin typeface="Calibri (Body)"/>
              </a:rPr>
              <a:t> tệp tiêu đề và import nó vào tệp sẽ gọi thiết kế giao diện người dùng.</a:t>
            </a:r>
          </a:p>
          <a:p>
            <a:pPr algn="just"/>
            <a:r>
              <a:rPr lang="vi-VN" sz="3000">
                <a:latin typeface="Calibri (Body)"/>
              </a:rPr>
              <a:t>9. Hãy tạo một tệp Python khác có tên </a:t>
            </a:r>
            <a:r>
              <a:rPr lang="vi-VN" sz="3000" b="1">
                <a:latin typeface="Calibri (Body)"/>
              </a:rPr>
              <a:t>callLineEdit.py</a:t>
            </a:r>
            <a:r>
              <a:rPr lang="vi-VN" sz="3000">
                <a:latin typeface="Calibri (Body)"/>
              </a:rPr>
              <a:t> và </a:t>
            </a:r>
            <a:r>
              <a:rPr lang="en-US" sz="3000">
                <a:latin typeface="Calibri (Body)"/>
              </a:rPr>
              <a:t>import </a:t>
            </a:r>
            <a:r>
              <a:rPr lang="vi-VN" sz="3000">
                <a:latin typeface="Calibri (Body)"/>
              </a:rPr>
              <a:t>mã </a:t>
            </a:r>
            <a:r>
              <a:rPr lang="vi-VN" sz="3000" b="1">
                <a:latin typeface="Calibri (Body)"/>
              </a:rPr>
              <a:t>demoLineEdit.py</a:t>
            </a:r>
            <a:r>
              <a:rPr lang="vi-VN" sz="3000">
                <a:latin typeface="Calibri (Body)"/>
              </a:rPr>
              <a:t> vào đó như sau:</a:t>
            </a:r>
            <a:endParaRPr lang="en-US" sz="3000">
              <a:latin typeface="Calibri (Body)"/>
            </a:endParaRPr>
          </a:p>
        </p:txBody>
      </p:sp>
    </p:spTree>
    <p:extLst>
      <p:ext uri="{BB962C8B-B14F-4D97-AF65-F5344CB8AC3E}">
        <p14:creationId xmlns:p14="http://schemas.microsoft.com/office/powerpoint/2010/main" val="2234598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5111150-A1B1-475F-B30B-A9BE04E8C468}"/>
              </a:ext>
            </a:extLst>
          </p:cNvPr>
          <p:cNvSpPr/>
          <p:nvPr/>
        </p:nvSpPr>
        <p:spPr>
          <a:xfrm>
            <a:off x="0" y="0"/>
            <a:ext cx="9109166" cy="7032694"/>
          </a:xfrm>
          <a:prstGeom prst="rect">
            <a:avLst/>
          </a:prstGeom>
        </p:spPr>
        <p:txBody>
          <a:bodyPr wrap="square">
            <a:spAutoFit/>
          </a:bodyPr>
          <a:lstStyle/>
          <a:p>
            <a:r>
              <a:rPr lang="en-US" sz="2100">
                <a:solidFill>
                  <a:srgbClr val="4B69C6"/>
                </a:solidFill>
                <a:latin typeface="Consolas" panose="020B0609020204030204" pitchFamily="49" charset="0"/>
              </a:rPr>
              <a:t>import</a:t>
            </a:r>
            <a:r>
              <a:rPr lang="en-US" sz="2100">
                <a:solidFill>
                  <a:srgbClr val="333333"/>
                </a:solidFill>
                <a:latin typeface="Consolas" panose="020B0609020204030204" pitchFamily="49" charset="0"/>
              </a:rPr>
              <a:t> sys</a:t>
            </a:r>
          </a:p>
          <a:p>
            <a:endParaRPr lang="en-US" sz="1200">
              <a:solidFill>
                <a:srgbClr val="4B69C6"/>
              </a:solidFill>
              <a:latin typeface="Consolas" panose="020B0609020204030204" pitchFamily="49" charset="0"/>
            </a:endParaRPr>
          </a:p>
          <a:p>
            <a:r>
              <a:rPr lang="en-US" sz="2100">
                <a:solidFill>
                  <a:srgbClr val="4B69C6"/>
                </a:solidFill>
                <a:latin typeface="Consolas" panose="020B0609020204030204" pitchFamily="49" charset="0"/>
              </a:rPr>
              <a:t>from</a:t>
            </a:r>
            <a:r>
              <a:rPr lang="en-US" sz="2100">
                <a:solidFill>
                  <a:srgbClr val="333333"/>
                </a:solidFill>
                <a:latin typeface="Consolas" panose="020B0609020204030204" pitchFamily="49" charset="0"/>
              </a:rPr>
              <a:t> PyQt5</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QtWidgets </a:t>
            </a:r>
            <a:r>
              <a:rPr lang="en-US" sz="2100">
                <a:solidFill>
                  <a:srgbClr val="4B69C6"/>
                </a:solidFill>
                <a:latin typeface="Consolas" panose="020B0609020204030204" pitchFamily="49" charset="0"/>
              </a:rPr>
              <a:t>import</a:t>
            </a:r>
            <a:r>
              <a:rPr lang="en-US" sz="2100">
                <a:solidFill>
                  <a:srgbClr val="333333"/>
                </a:solidFill>
                <a:latin typeface="Consolas" panose="020B0609020204030204" pitchFamily="49" charset="0"/>
              </a:rPr>
              <a:t> QDialog</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 QApplication</a:t>
            </a:r>
          </a:p>
          <a:p>
            <a:endParaRPr lang="en-US" sz="1200">
              <a:solidFill>
                <a:srgbClr val="4B69C6"/>
              </a:solidFill>
              <a:latin typeface="Consolas" panose="020B0609020204030204" pitchFamily="49" charset="0"/>
            </a:endParaRPr>
          </a:p>
          <a:p>
            <a:r>
              <a:rPr lang="en-US" sz="2100">
                <a:solidFill>
                  <a:srgbClr val="4B69C6"/>
                </a:solidFill>
                <a:highlight>
                  <a:srgbClr val="FFFF00"/>
                </a:highlight>
                <a:latin typeface="Consolas" panose="020B0609020204030204" pitchFamily="49" charset="0"/>
              </a:rPr>
              <a:t>from</a:t>
            </a:r>
            <a:r>
              <a:rPr lang="en-US" sz="2100">
                <a:solidFill>
                  <a:srgbClr val="333333"/>
                </a:solidFill>
                <a:highlight>
                  <a:srgbClr val="FFFF00"/>
                </a:highlight>
                <a:latin typeface="Consolas" panose="020B0609020204030204" pitchFamily="49" charset="0"/>
              </a:rPr>
              <a:t> demoLineEdit </a:t>
            </a:r>
            <a:r>
              <a:rPr lang="en-US" sz="2100">
                <a:solidFill>
                  <a:srgbClr val="4B69C6"/>
                </a:solidFill>
                <a:highlight>
                  <a:srgbClr val="FFFF00"/>
                </a:highlight>
                <a:latin typeface="Consolas" panose="020B0609020204030204" pitchFamily="49" charset="0"/>
              </a:rPr>
              <a:t>import</a:t>
            </a:r>
            <a:r>
              <a:rPr lang="en-US" sz="2100">
                <a:solidFill>
                  <a:srgbClr val="333333"/>
                </a:solidFill>
                <a:highlight>
                  <a:srgbClr val="FFFF00"/>
                </a:highlight>
                <a:latin typeface="Consolas" panose="020B0609020204030204" pitchFamily="49" charset="0"/>
              </a:rPr>
              <a:t> </a:t>
            </a:r>
            <a:r>
              <a:rPr lang="en-US" sz="2100">
                <a:solidFill>
                  <a:srgbClr val="777777"/>
                </a:solidFill>
                <a:highlight>
                  <a:srgbClr val="FFFF00"/>
                </a:highlight>
                <a:latin typeface="Consolas" panose="020B0609020204030204" pitchFamily="49" charset="0"/>
              </a:rPr>
              <a:t>*</a:t>
            </a:r>
          </a:p>
          <a:p>
            <a:endParaRPr lang="en-US" sz="1400">
              <a:solidFill>
                <a:srgbClr val="333333"/>
              </a:solidFill>
              <a:latin typeface="Consolas" panose="020B0609020204030204" pitchFamily="49" charset="0"/>
            </a:endParaRPr>
          </a:p>
          <a:p>
            <a:r>
              <a:rPr lang="en-US" sz="2100">
                <a:solidFill>
                  <a:srgbClr val="7A3E9D"/>
                </a:solidFill>
                <a:latin typeface="Consolas" panose="020B0609020204030204" pitchFamily="49" charset="0"/>
              </a:rPr>
              <a:t>class</a:t>
            </a:r>
            <a:r>
              <a:rPr lang="en-US" sz="2100">
                <a:solidFill>
                  <a:srgbClr val="333333"/>
                </a:solidFill>
                <a:latin typeface="Consolas" panose="020B0609020204030204" pitchFamily="49" charset="0"/>
              </a:rPr>
              <a:t> </a:t>
            </a:r>
            <a:r>
              <a:rPr lang="en-US" sz="2100" b="1">
                <a:solidFill>
                  <a:srgbClr val="7A3E9D"/>
                </a:solidFill>
                <a:latin typeface="Consolas" panose="020B0609020204030204" pitchFamily="49" charset="0"/>
              </a:rPr>
              <a:t>MyForm</a:t>
            </a:r>
            <a:r>
              <a:rPr lang="en-US" sz="2100">
                <a:solidFill>
                  <a:srgbClr val="777777"/>
                </a:solidFill>
                <a:latin typeface="Consolas" panose="020B0609020204030204" pitchFamily="49" charset="0"/>
              </a:rPr>
              <a:t>(</a:t>
            </a:r>
            <a:r>
              <a:rPr lang="en-US" sz="2100" b="1">
                <a:solidFill>
                  <a:srgbClr val="7A3E9D"/>
                </a:solidFill>
                <a:latin typeface="Consolas" panose="020B0609020204030204" pitchFamily="49" charset="0"/>
              </a:rPr>
              <a:t>QDialog</a:t>
            </a:r>
            <a:r>
              <a:rPr lang="en-US" sz="2100">
                <a:solidFill>
                  <a:srgbClr val="777777"/>
                </a:solidFill>
                <a:latin typeface="Consolas" panose="020B0609020204030204" pitchFamily="49" charset="0"/>
              </a:rPr>
              <a:t>):</a:t>
            </a:r>
            <a:endParaRPr lang="en-US" sz="2100">
              <a:solidFill>
                <a:srgbClr val="333333"/>
              </a:solidFill>
              <a:latin typeface="Consolas" panose="020B0609020204030204" pitchFamily="49" charset="0"/>
            </a:endParaRPr>
          </a:p>
          <a:p>
            <a:r>
              <a:rPr lang="en-US" sz="2100">
                <a:solidFill>
                  <a:srgbClr val="7A3E9D"/>
                </a:solidFill>
                <a:latin typeface="Consolas" panose="020B0609020204030204" pitchFamily="49" charset="0"/>
              </a:rPr>
              <a:t>  def</a:t>
            </a:r>
            <a:r>
              <a:rPr lang="en-US" sz="2100">
                <a:solidFill>
                  <a:srgbClr val="333333"/>
                </a:solidFill>
                <a:latin typeface="Consolas" panose="020B0609020204030204" pitchFamily="49" charset="0"/>
              </a:rPr>
              <a:t> </a:t>
            </a:r>
            <a:r>
              <a:rPr lang="en-US" sz="2100" b="1">
                <a:solidFill>
                  <a:srgbClr val="AA3731"/>
                </a:solidFill>
                <a:latin typeface="Consolas" panose="020B0609020204030204" pitchFamily="49" charset="0"/>
              </a:rPr>
              <a:t>__init__</a:t>
            </a:r>
            <a:r>
              <a:rPr lang="en-US" sz="2100">
                <a:solidFill>
                  <a:srgbClr val="777777"/>
                </a:solidFill>
                <a:latin typeface="Consolas" panose="020B0609020204030204" pitchFamily="49" charset="0"/>
              </a:rPr>
              <a:t>(</a:t>
            </a:r>
            <a:r>
              <a:rPr lang="en-US" sz="2100">
                <a:solidFill>
                  <a:srgbClr val="7A3E9D"/>
                </a:solidFill>
                <a:latin typeface="Consolas" panose="020B0609020204030204" pitchFamily="49" charset="0"/>
              </a:rPr>
              <a:t>self</a:t>
            </a:r>
            <a:r>
              <a:rPr lang="en-US" sz="2100">
                <a:solidFill>
                  <a:srgbClr val="777777"/>
                </a:solidFill>
                <a:latin typeface="Consolas" panose="020B0609020204030204" pitchFamily="49" charset="0"/>
              </a:rPr>
              <a:t>):</a:t>
            </a:r>
            <a:endParaRPr lang="en-US" sz="2100">
              <a:solidFill>
                <a:srgbClr val="333333"/>
              </a:solidFill>
              <a:latin typeface="Consolas" panose="020B0609020204030204" pitchFamily="49" charset="0"/>
            </a:endParaRPr>
          </a:p>
          <a:p>
            <a:r>
              <a:rPr lang="en-US" sz="2100">
                <a:solidFill>
                  <a:srgbClr val="7A3E9D"/>
                </a:solidFill>
                <a:latin typeface="Consolas" panose="020B0609020204030204" pitchFamily="49" charset="0"/>
              </a:rPr>
              <a:t>    super</a:t>
            </a:r>
            <a:r>
              <a:rPr lang="en-US" sz="2100">
                <a:solidFill>
                  <a:srgbClr val="777777"/>
                </a:solidFill>
                <a:latin typeface="Consolas" panose="020B0609020204030204" pitchFamily="49" charset="0"/>
              </a:rPr>
              <a:t>().</a:t>
            </a:r>
            <a:r>
              <a:rPr lang="en-US" sz="2100" b="1">
                <a:solidFill>
                  <a:srgbClr val="AA3731"/>
                </a:solidFill>
                <a:latin typeface="Consolas" panose="020B0609020204030204" pitchFamily="49" charset="0"/>
              </a:rPr>
              <a:t>__init__</a:t>
            </a:r>
            <a:r>
              <a:rPr lang="en-US" sz="2100">
                <a:solidFill>
                  <a:srgbClr val="777777"/>
                </a:solidFill>
                <a:latin typeface="Consolas" panose="020B0609020204030204" pitchFamily="49" charset="0"/>
              </a:rPr>
              <a:t>()</a:t>
            </a:r>
            <a:endParaRPr lang="en-US" sz="2100">
              <a:solidFill>
                <a:srgbClr val="333333"/>
              </a:solidFill>
              <a:latin typeface="Consolas" panose="020B0609020204030204" pitchFamily="49" charset="0"/>
            </a:endParaRPr>
          </a:p>
          <a:p>
            <a:r>
              <a:rPr lang="en-US" sz="2100">
                <a:solidFill>
                  <a:srgbClr val="9C5D27"/>
                </a:solidFill>
                <a:latin typeface="Consolas" panose="020B0609020204030204" pitchFamily="49" charset="0"/>
              </a:rPr>
              <a:t>    self</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ui </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 Ui_Dialog</a:t>
            </a:r>
            <a:r>
              <a:rPr lang="en-US" sz="2100">
                <a:solidFill>
                  <a:srgbClr val="777777"/>
                </a:solidFill>
                <a:latin typeface="Consolas" panose="020B0609020204030204" pitchFamily="49" charset="0"/>
              </a:rPr>
              <a:t>()</a:t>
            </a:r>
            <a:endParaRPr lang="en-US" sz="2100">
              <a:solidFill>
                <a:srgbClr val="333333"/>
              </a:solidFill>
              <a:latin typeface="Consolas" panose="020B0609020204030204" pitchFamily="49" charset="0"/>
            </a:endParaRPr>
          </a:p>
          <a:p>
            <a:r>
              <a:rPr lang="en-US" sz="2100">
                <a:solidFill>
                  <a:srgbClr val="9C5D27"/>
                </a:solidFill>
                <a:latin typeface="Consolas" panose="020B0609020204030204" pitchFamily="49" charset="0"/>
              </a:rPr>
              <a:t>    self</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ui</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setupUi</a:t>
            </a:r>
            <a:r>
              <a:rPr lang="en-US" sz="2100">
                <a:solidFill>
                  <a:srgbClr val="777777"/>
                </a:solidFill>
                <a:latin typeface="Consolas" panose="020B0609020204030204" pitchFamily="49" charset="0"/>
              </a:rPr>
              <a:t>(</a:t>
            </a:r>
            <a:r>
              <a:rPr lang="en-US" sz="2100">
                <a:solidFill>
                  <a:srgbClr val="9C5D27"/>
                </a:solidFill>
                <a:latin typeface="Consolas" panose="020B0609020204030204" pitchFamily="49" charset="0"/>
              </a:rPr>
              <a:t>self</a:t>
            </a:r>
            <a:r>
              <a:rPr lang="en-US" sz="2100">
                <a:solidFill>
                  <a:srgbClr val="777777"/>
                </a:solidFill>
                <a:latin typeface="Consolas" panose="020B0609020204030204" pitchFamily="49" charset="0"/>
              </a:rPr>
              <a:t>)</a:t>
            </a:r>
            <a:endParaRPr lang="en-US" sz="2100">
              <a:solidFill>
                <a:srgbClr val="333333"/>
              </a:solidFill>
              <a:latin typeface="Consolas" panose="020B0609020204030204" pitchFamily="49" charset="0"/>
            </a:endParaRPr>
          </a:p>
          <a:p>
            <a:r>
              <a:rPr lang="en-US" sz="2100">
                <a:solidFill>
                  <a:srgbClr val="9C5D27"/>
                </a:solidFill>
                <a:latin typeface="Consolas" panose="020B0609020204030204" pitchFamily="49" charset="0"/>
              </a:rPr>
              <a:t>    self</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ui</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ButtonClickMe</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clicked</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connect</a:t>
            </a:r>
            <a:r>
              <a:rPr lang="en-US" sz="2100">
                <a:solidFill>
                  <a:srgbClr val="777777"/>
                </a:solidFill>
                <a:latin typeface="Consolas" panose="020B0609020204030204" pitchFamily="49" charset="0"/>
              </a:rPr>
              <a:t>(</a:t>
            </a:r>
            <a:r>
              <a:rPr lang="en-US" sz="2100">
                <a:solidFill>
                  <a:srgbClr val="9C5D27"/>
                </a:solidFill>
                <a:latin typeface="Consolas" panose="020B0609020204030204" pitchFamily="49" charset="0"/>
              </a:rPr>
              <a:t>self</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dispmessage</a:t>
            </a:r>
            <a:r>
              <a:rPr lang="en-US" sz="2100">
                <a:solidFill>
                  <a:srgbClr val="777777"/>
                </a:solidFill>
                <a:latin typeface="Consolas" panose="020B0609020204030204" pitchFamily="49" charset="0"/>
              </a:rPr>
              <a:t>)</a:t>
            </a:r>
            <a:endParaRPr lang="en-US" sz="2100">
              <a:solidFill>
                <a:srgbClr val="333333"/>
              </a:solidFill>
              <a:latin typeface="Consolas" panose="020B0609020204030204" pitchFamily="49" charset="0"/>
            </a:endParaRPr>
          </a:p>
          <a:p>
            <a:r>
              <a:rPr lang="en-US" sz="2100">
                <a:solidFill>
                  <a:srgbClr val="9C5D27"/>
                </a:solidFill>
                <a:latin typeface="Consolas" panose="020B0609020204030204" pitchFamily="49" charset="0"/>
              </a:rPr>
              <a:t>    self</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show</a:t>
            </a:r>
            <a:r>
              <a:rPr lang="en-US" sz="2100">
                <a:solidFill>
                  <a:srgbClr val="777777"/>
                </a:solidFill>
                <a:latin typeface="Consolas" panose="020B0609020204030204" pitchFamily="49" charset="0"/>
              </a:rPr>
              <a:t>()</a:t>
            </a:r>
            <a:endParaRPr lang="en-US" sz="2100">
              <a:solidFill>
                <a:srgbClr val="333333"/>
              </a:solidFill>
              <a:latin typeface="Consolas" panose="020B0609020204030204" pitchFamily="49" charset="0"/>
            </a:endParaRPr>
          </a:p>
          <a:p>
            <a:br>
              <a:rPr lang="en-US" sz="1200">
                <a:solidFill>
                  <a:srgbClr val="333333"/>
                </a:solidFill>
                <a:latin typeface="Consolas" panose="020B0609020204030204" pitchFamily="49" charset="0"/>
              </a:rPr>
            </a:br>
            <a:r>
              <a:rPr lang="en-US" sz="2100">
                <a:solidFill>
                  <a:srgbClr val="333333"/>
                </a:solidFill>
                <a:latin typeface="Consolas" panose="020B0609020204030204" pitchFamily="49" charset="0"/>
              </a:rPr>
              <a:t>  </a:t>
            </a:r>
            <a:r>
              <a:rPr lang="en-US" sz="2100">
                <a:solidFill>
                  <a:srgbClr val="7A3E9D"/>
                </a:solidFill>
                <a:latin typeface="Consolas" panose="020B0609020204030204" pitchFamily="49" charset="0"/>
              </a:rPr>
              <a:t>def</a:t>
            </a:r>
            <a:r>
              <a:rPr lang="en-US" sz="2100">
                <a:solidFill>
                  <a:srgbClr val="333333"/>
                </a:solidFill>
                <a:latin typeface="Consolas" panose="020B0609020204030204" pitchFamily="49" charset="0"/>
              </a:rPr>
              <a:t> </a:t>
            </a:r>
            <a:r>
              <a:rPr lang="en-US" sz="2100" b="1">
                <a:solidFill>
                  <a:srgbClr val="AA3731"/>
                </a:solidFill>
                <a:latin typeface="Consolas" panose="020B0609020204030204" pitchFamily="49" charset="0"/>
              </a:rPr>
              <a:t>dispmessage</a:t>
            </a:r>
            <a:r>
              <a:rPr lang="en-US" sz="2100">
                <a:solidFill>
                  <a:srgbClr val="777777"/>
                </a:solidFill>
                <a:latin typeface="Consolas" panose="020B0609020204030204" pitchFamily="49" charset="0"/>
              </a:rPr>
              <a:t>(</a:t>
            </a:r>
            <a:r>
              <a:rPr lang="en-US" sz="2100">
                <a:solidFill>
                  <a:srgbClr val="7A3E9D"/>
                </a:solidFill>
                <a:latin typeface="Consolas" panose="020B0609020204030204" pitchFamily="49" charset="0"/>
              </a:rPr>
              <a:t>self</a:t>
            </a:r>
            <a:r>
              <a:rPr lang="en-US" sz="2100">
                <a:solidFill>
                  <a:srgbClr val="777777"/>
                </a:solidFill>
                <a:latin typeface="Consolas" panose="020B0609020204030204" pitchFamily="49" charset="0"/>
              </a:rPr>
              <a:t>):</a:t>
            </a:r>
            <a:endParaRPr lang="en-US" sz="2100">
              <a:solidFill>
                <a:srgbClr val="333333"/>
              </a:solidFill>
              <a:latin typeface="Consolas" panose="020B0609020204030204" pitchFamily="49" charset="0"/>
            </a:endParaRPr>
          </a:p>
          <a:p>
            <a:r>
              <a:rPr lang="en-US" sz="2100">
                <a:solidFill>
                  <a:srgbClr val="9C5D27"/>
                </a:solidFill>
                <a:latin typeface="Consolas" panose="020B0609020204030204" pitchFamily="49" charset="0"/>
              </a:rPr>
              <a:t>    self</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ui</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labelResponse</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setText</a:t>
            </a:r>
            <a:r>
              <a:rPr lang="en-US" sz="2100">
                <a:solidFill>
                  <a:srgbClr val="777777"/>
                </a:solidFill>
                <a:latin typeface="Consolas" panose="020B0609020204030204" pitchFamily="49" charset="0"/>
              </a:rPr>
              <a:t>(</a:t>
            </a:r>
          </a:p>
          <a:p>
            <a:pPr algn="r"/>
            <a:r>
              <a:rPr lang="en-US" sz="2100">
                <a:solidFill>
                  <a:srgbClr val="777777"/>
                </a:solidFill>
                <a:latin typeface="Consolas" panose="020B0609020204030204" pitchFamily="49" charset="0"/>
              </a:rPr>
              <a:t>"</a:t>
            </a:r>
            <a:r>
              <a:rPr lang="en-US" sz="2100">
                <a:solidFill>
                  <a:srgbClr val="448C27"/>
                </a:solidFill>
                <a:latin typeface="Consolas" panose="020B0609020204030204" pitchFamily="49" charset="0"/>
              </a:rPr>
              <a:t>Hello </a:t>
            </a:r>
            <a:r>
              <a:rPr lang="en-US" sz="2100">
                <a:solidFill>
                  <a:srgbClr val="777777"/>
                </a:solidFill>
                <a:latin typeface="Consolas" panose="020B0609020204030204" pitchFamily="49" charset="0"/>
              </a:rPr>
              <a:t>"+</a:t>
            </a:r>
            <a:r>
              <a:rPr lang="en-US" sz="2100">
                <a:solidFill>
                  <a:srgbClr val="9C5D27"/>
                </a:solidFill>
                <a:latin typeface="Consolas" panose="020B0609020204030204" pitchFamily="49" charset="0"/>
              </a:rPr>
              <a:t>self</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ui</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lineEditName</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text</a:t>
            </a:r>
            <a:r>
              <a:rPr lang="en-US" sz="2100">
                <a:solidFill>
                  <a:srgbClr val="777777"/>
                </a:solidFill>
                <a:latin typeface="Consolas" panose="020B0609020204030204" pitchFamily="49" charset="0"/>
              </a:rPr>
              <a:t>())</a:t>
            </a:r>
            <a:endParaRPr lang="en-US" sz="2100">
              <a:solidFill>
                <a:srgbClr val="333333"/>
              </a:solidFill>
              <a:latin typeface="Consolas" panose="020B0609020204030204" pitchFamily="49" charset="0"/>
            </a:endParaRPr>
          </a:p>
          <a:p>
            <a:br>
              <a:rPr lang="en-US" sz="1200">
                <a:solidFill>
                  <a:srgbClr val="333333"/>
                </a:solidFill>
                <a:latin typeface="Consolas" panose="020B0609020204030204" pitchFamily="49" charset="0"/>
              </a:rPr>
            </a:br>
            <a:r>
              <a:rPr lang="en-US" sz="2100">
                <a:solidFill>
                  <a:srgbClr val="4B69C6"/>
                </a:solidFill>
                <a:latin typeface="Consolas" panose="020B0609020204030204" pitchFamily="49" charset="0"/>
              </a:rPr>
              <a:t>if</a:t>
            </a:r>
            <a:r>
              <a:rPr lang="en-US" sz="2100">
                <a:solidFill>
                  <a:srgbClr val="333333"/>
                </a:solidFill>
                <a:latin typeface="Consolas" panose="020B0609020204030204" pitchFamily="49" charset="0"/>
              </a:rPr>
              <a:t> </a:t>
            </a:r>
            <a:r>
              <a:rPr lang="en-US" sz="2100">
                <a:solidFill>
                  <a:srgbClr val="7A3E9D"/>
                </a:solidFill>
                <a:latin typeface="Consolas" panose="020B0609020204030204" pitchFamily="49" charset="0"/>
              </a:rPr>
              <a:t>__name__</a:t>
            </a:r>
            <a:r>
              <a:rPr lang="en-US" sz="2100">
                <a:solidFill>
                  <a:srgbClr val="777777"/>
                </a:solidFill>
                <a:latin typeface="Consolas" panose="020B0609020204030204" pitchFamily="49" charset="0"/>
              </a:rPr>
              <a:t>=="</a:t>
            </a:r>
            <a:r>
              <a:rPr lang="en-US" sz="2100">
                <a:solidFill>
                  <a:srgbClr val="448C27"/>
                </a:solidFill>
                <a:latin typeface="Consolas" panose="020B0609020204030204" pitchFamily="49" charset="0"/>
              </a:rPr>
              <a:t>__main__</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 </a:t>
            </a:r>
          </a:p>
          <a:p>
            <a:r>
              <a:rPr lang="en-US" sz="2100">
                <a:solidFill>
                  <a:srgbClr val="333333"/>
                </a:solidFill>
                <a:latin typeface="Consolas" panose="020B0609020204030204" pitchFamily="49" charset="0"/>
              </a:rPr>
              <a:t>  app </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 QApplication</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sys</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argv</a:t>
            </a:r>
            <a:r>
              <a:rPr lang="en-US" sz="2100">
                <a:solidFill>
                  <a:srgbClr val="777777"/>
                </a:solidFill>
                <a:latin typeface="Consolas" panose="020B0609020204030204" pitchFamily="49" charset="0"/>
              </a:rPr>
              <a:t>)</a:t>
            </a:r>
            <a:endParaRPr lang="en-US" sz="2100">
              <a:solidFill>
                <a:srgbClr val="333333"/>
              </a:solidFill>
              <a:latin typeface="Consolas" panose="020B0609020204030204" pitchFamily="49" charset="0"/>
            </a:endParaRPr>
          </a:p>
          <a:p>
            <a:r>
              <a:rPr lang="en-US" sz="2100">
                <a:solidFill>
                  <a:srgbClr val="333333"/>
                </a:solidFill>
                <a:latin typeface="Consolas" panose="020B0609020204030204" pitchFamily="49" charset="0"/>
              </a:rPr>
              <a:t>  w </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 MyForm</a:t>
            </a:r>
            <a:r>
              <a:rPr lang="en-US" sz="2100">
                <a:solidFill>
                  <a:srgbClr val="777777"/>
                </a:solidFill>
                <a:latin typeface="Consolas" panose="020B0609020204030204" pitchFamily="49" charset="0"/>
              </a:rPr>
              <a:t>()</a:t>
            </a:r>
            <a:endParaRPr lang="en-US" sz="2100">
              <a:solidFill>
                <a:srgbClr val="333333"/>
              </a:solidFill>
              <a:latin typeface="Consolas" panose="020B0609020204030204" pitchFamily="49" charset="0"/>
            </a:endParaRPr>
          </a:p>
          <a:p>
            <a:r>
              <a:rPr lang="en-US" sz="2100">
                <a:solidFill>
                  <a:srgbClr val="333333"/>
                </a:solidFill>
                <a:latin typeface="Consolas" panose="020B0609020204030204" pitchFamily="49" charset="0"/>
              </a:rPr>
              <a:t>  w</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show</a:t>
            </a:r>
            <a:r>
              <a:rPr lang="en-US" sz="2100">
                <a:solidFill>
                  <a:srgbClr val="777777"/>
                </a:solidFill>
                <a:latin typeface="Consolas" panose="020B0609020204030204" pitchFamily="49" charset="0"/>
              </a:rPr>
              <a:t>()</a:t>
            </a:r>
            <a:endParaRPr lang="en-US" sz="2100">
              <a:solidFill>
                <a:srgbClr val="333333"/>
              </a:solidFill>
              <a:latin typeface="Consolas" panose="020B0609020204030204" pitchFamily="49" charset="0"/>
            </a:endParaRPr>
          </a:p>
          <a:p>
            <a:r>
              <a:rPr lang="en-US" sz="2100">
                <a:solidFill>
                  <a:srgbClr val="333333"/>
                </a:solidFill>
                <a:latin typeface="Consolas" panose="020B0609020204030204" pitchFamily="49" charset="0"/>
              </a:rPr>
              <a:t>  sys</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exit</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app</a:t>
            </a:r>
            <a:r>
              <a:rPr lang="en-US" sz="2100">
                <a:solidFill>
                  <a:srgbClr val="777777"/>
                </a:solidFill>
                <a:latin typeface="Consolas" panose="020B0609020204030204" pitchFamily="49" charset="0"/>
              </a:rPr>
              <a:t>.</a:t>
            </a:r>
            <a:r>
              <a:rPr lang="en-US" sz="2100">
                <a:solidFill>
                  <a:srgbClr val="333333"/>
                </a:solidFill>
                <a:latin typeface="Consolas" panose="020B0609020204030204" pitchFamily="49" charset="0"/>
              </a:rPr>
              <a:t>exec_</a:t>
            </a:r>
            <a:r>
              <a:rPr lang="en-US" sz="2100">
                <a:solidFill>
                  <a:srgbClr val="777777"/>
                </a:solidFill>
                <a:latin typeface="Consolas" panose="020B0609020204030204" pitchFamily="49" charset="0"/>
              </a:rPr>
              <a:t>())</a:t>
            </a:r>
            <a:endParaRPr lang="en-US" sz="2100" b="0">
              <a:solidFill>
                <a:srgbClr val="333333"/>
              </a:solidFill>
              <a:effectLst/>
              <a:latin typeface="Consolas" panose="020B0609020204030204" pitchFamily="49" charset="0"/>
            </a:endParaRPr>
          </a:p>
        </p:txBody>
      </p:sp>
    </p:spTree>
    <p:extLst>
      <p:ext uri="{BB962C8B-B14F-4D97-AF65-F5344CB8AC3E}">
        <p14:creationId xmlns:p14="http://schemas.microsoft.com/office/powerpoint/2010/main" val="18059160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0A474-060A-4FE1-9225-F6EA81C9DCCF}"/>
              </a:ext>
            </a:extLst>
          </p:cNvPr>
          <p:cNvSpPr>
            <a:spLocks noGrp="1"/>
          </p:cNvSpPr>
          <p:nvPr>
            <p:ph type="title"/>
          </p:nvPr>
        </p:nvSpPr>
        <p:spPr>
          <a:xfrm>
            <a:off x="22259" y="28245"/>
            <a:ext cx="9102490" cy="738110"/>
          </a:xfrm>
        </p:spPr>
        <p:txBody>
          <a:bodyPr>
            <a:normAutofit/>
          </a:bodyPr>
          <a:lstStyle/>
          <a:p>
            <a:r>
              <a:rPr lang="en-US" b="1"/>
              <a:t>Cách ch</a:t>
            </a:r>
            <a:r>
              <a:rPr lang="vi-VN" b="1"/>
              <a:t>ư</a:t>
            </a:r>
            <a:r>
              <a:rPr lang="en-US" b="1"/>
              <a:t>ơng trình hoạt động...</a:t>
            </a:r>
          </a:p>
        </p:txBody>
      </p:sp>
      <p:sp>
        <p:nvSpPr>
          <p:cNvPr id="3" name="Content Placeholder 2">
            <a:extLst>
              <a:ext uri="{FF2B5EF4-FFF2-40B4-BE49-F238E27FC236}">
                <a16:creationId xmlns:a16="http://schemas.microsoft.com/office/drawing/2014/main" id="{076A9F58-5D6D-40ED-8ACA-64E01B22966F}"/>
              </a:ext>
            </a:extLst>
          </p:cNvPr>
          <p:cNvSpPr>
            <a:spLocks noGrp="1"/>
          </p:cNvSpPr>
          <p:nvPr>
            <p:ph idx="1"/>
          </p:nvPr>
        </p:nvSpPr>
        <p:spPr>
          <a:xfrm>
            <a:off x="22259" y="766356"/>
            <a:ext cx="9102490" cy="6063402"/>
          </a:xfrm>
        </p:spPr>
        <p:txBody>
          <a:bodyPr>
            <a:normAutofit fontScale="92500"/>
          </a:bodyPr>
          <a:lstStyle/>
          <a:p>
            <a:r>
              <a:rPr lang="vi-VN" sz="3200"/>
              <a:t>Tệp demoLineEdit.py </a:t>
            </a:r>
            <a:r>
              <a:rPr lang="en-US" sz="3200"/>
              <a:t>có </a:t>
            </a:r>
            <a:r>
              <a:rPr lang="vi-VN" sz="3200"/>
              <a:t>lớp với tên của đối tượng cấp cao nhất được tạo, với </a:t>
            </a:r>
            <a:r>
              <a:rPr lang="vi-VN" sz="3200" b="1"/>
              <a:t>Ui_</a:t>
            </a:r>
            <a:r>
              <a:rPr lang="vi-VN" sz="3200"/>
              <a:t> được thêm trước. Vì đối tượng cấp cao nhất được sử dụng trong ứng dụng là </a:t>
            </a:r>
            <a:r>
              <a:rPr lang="en-US" sz="3200">
                <a:latin typeface="Courier New" panose="02070309020205020404" pitchFamily="49" charset="0"/>
                <a:cs typeface="Courier New" panose="02070309020205020404" pitchFamily="49" charset="0"/>
              </a:rPr>
              <a:t>Dialog</a:t>
            </a:r>
            <a:r>
              <a:rPr lang="vi-VN" sz="3200"/>
              <a:t>, nên lớp </a:t>
            </a:r>
            <a:r>
              <a:rPr lang="vi-VN" sz="3200">
                <a:latin typeface="Courier New" panose="02070309020205020404" pitchFamily="49" charset="0"/>
                <a:cs typeface="Courier New" panose="02070309020205020404" pitchFamily="49" charset="0"/>
              </a:rPr>
              <a:t>Ui_Dialog </a:t>
            </a:r>
            <a:r>
              <a:rPr lang="vi-VN" sz="3200"/>
              <a:t>được tạo và lưu trữ các thành phần giao diện của tiện ích. Lớp đó có hai phương thức, </a:t>
            </a:r>
            <a:r>
              <a:rPr lang="en-US" sz="3200"/>
              <a:t>setupUi</a:t>
            </a:r>
            <a:r>
              <a:rPr lang="vi-VN" sz="3200"/>
              <a:t>() và </a:t>
            </a:r>
            <a:r>
              <a:rPr lang="en-US" sz="3200"/>
              <a:t>retranslateUi</a:t>
            </a:r>
            <a:r>
              <a:rPr lang="vi-VN" sz="3200"/>
              <a:t>(). Phương thức setupUi () thiết lập các widget; nó tạo ra các widget sử dụng. Phương thức tạo các widget từng cái một và cũng đặt các thuộc tính của chúng. Phương thức setupUi() nhận một đối số duy nhất, đó là tiện ích cấp cao nhất trong đó giao diện người dùng (widget con) được tạo. Trong ứng dụng, nó là một </a:t>
            </a:r>
            <a:r>
              <a:rPr lang="en-US" sz="3200"/>
              <a:t>thể hiện </a:t>
            </a:r>
            <a:r>
              <a:rPr lang="vi-VN" sz="3200"/>
              <a:t>của </a:t>
            </a:r>
            <a:r>
              <a:rPr lang="vi-VN" sz="3200">
                <a:latin typeface="Courier New" panose="02070309020205020404" pitchFamily="49" charset="0"/>
                <a:cs typeface="Courier New" panose="02070309020205020404" pitchFamily="49" charset="0"/>
              </a:rPr>
              <a:t>Q</a:t>
            </a:r>
            <a:r>
              <a:rPr lang="en-US" sz="3200">
                <a:latin typeface="Courier New" panose="02070309020205020404" pitchFamily="49" charset="0"/>
                <a:cs typeface="Courier New" panose="02070309020205020404" pitchFamily="49" charset="0"/>
              </a:rPr>
              <a:t>D</a:t>
            </a:r>
            <a:r>
              <a:rPr lang="vi-VN" sz="3200">
                <a:latin typeface="Courier New" panose="02070309020205020404" pitchFamily="49" charset="0"/>
                <a:cs typeface="Courier New" panose="02070309020205020404" pitchFamily="49" charset="0"/>
              </a:rPr>
              <a:t>ialog</a:t>
            </a:r>
            <a:r>
              <a:rPr lang="vi-VN" sz="3200"/>
              <a:t>. Phương thức retanslateUi () </a:t>
            </a:r>
            <a:r>
              <a:rPr lang="en-US" sz="3200"/>
              <a:t>thông dịch </a:t>
            </a:r>
            <a:r>
              <a:rPr lang="vi-VN" sz="3200"/>
              <a:t>giao diện.</a:t>
            </a:r>
            <a:endParaRPr lang="en-US" sz="3200"/>
          </a:p>
        </p:txBody>
      </p:sp>
    </p:spTree>
    <p:extLst>
      <p:ext uri="{BB962C8B-B14F-4D97-AF65-F5344CB8AC3E}">
        <p14:creationId xmlns:p14="http://schemas.microsoft.com/office/powerpoint/2010/main" val="5780970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8210E3-2E9C-48CD-B82B-1A0DEE55D020}"/>
              </a:ext>
            </a:extLst>
          </p:cNvPr>
          <p:cNvSpPr>
            <a:spLocks noGrp="1"/>
          </p:cNvSpPr>
          <p:nvPr>
            <p:ph idx="1"/>
          </p:nvPr>
        </p:nvSpPr>
        <p:spPr>
          <a:xfrm>
            <a:off x="22259" y="766356"/>
            <a:ext cx="9102490" cy="6063402"/>
          </a:xfrm>
        </p:spPr>
        <p:txBody>
          <a:bodyPr>
            <a:normAutofit fontScale="85000" lnSpcReduction="10000"/>
          </a:bodyPr>
          <a:lstStyle/>
          <a:p>
            <a:pPr marL="0" indent="0">
              <a:buNone/>
            </a:pPr>
            <a:r>
              <a:rPr lang="en-US"/>
              <a:t>Những gì </a:t>
            </a:r>
            <a:r>
              <a:rPr lang="en-US">
                <a:latin typeface="Courier New" panose="02070309020205020404" pitchFamily="49" charset="0"/>
                <a:cs typeface="Courier New" panose="02070309020205020404" pitchFamily="49" charset="0"/>
              </a:rPr>
              <a:t>callLineEdit.py </a:t>
            </a:r>
            <a:r>
              <a:rPr lang="en-US"/>
              <a:t>thực hiện:</a:t>
            </a:r>
          </a:p>
          <a:p>
            <a:pPr marL="0" indent="0">
              <a:buNone/>
            </a:pPr>
            <a:r>
              <a:rPr lang="vi-VN"/>
              <a:t>1. Nó </a:t>
            </a:r>
            <a:r>
              <a:rPr lang="en-US"/>
              <a:t>import </a:t>
            </a:r>
            <a:r>
              <a:rPr lang="vi-VN"/>
              <a:t>các mô-đun cần thiết. </a:t>
            </a:r>
            <a:r>
              <a:rPr lang="vi-VN">
                <a:latin typeface="Courier New" panose="02070309020205020404" pitchFamily="49" charset="0"/>
                <a:cs typeface="Courier New" panose="02070309020205020404" pitchFamily="49" charset="0"/>
              </a:rPr>
              <a:t>QWidget</a:t>
            </a:r>
            <a:r>
              <a:rPr lang="vi-VN"/>
              <a:t> là lớp cơ sở của tất cả các đối tượng giao diện người dùng trong PyQt5.</a:t>
            </a:r>
          </a:p>
          <a:p>
            <a:pPr marL="0" indent="0">
              <a:buNone/>
            </a:pPr>
            <a:r>
              <a:rPr lang="vi-VN"/>
              <a:t>2. Nó tạo ra một lớp </a:t>
            </a:r>
            <a:r>
              <a:rPr lang="vi-VN">
                <a:latin typeface="Courier New" panose="02070309020205020404" pitchFamily="49" charset="0"/>
                <a:cs typeface="Courier New" panose="02070309020205020404" pitchFamily="49" charset="0"/>
              </a:rPr>
              <a:t>MyForm</a:t>
            </a:r>
            <a:r>
              <a:rPr lang="vi-VN"/>
              <a:t> mới kế thừa từ lớp cơ sở, </a:t>
            </a:r>
            <a:r>
              <a:rPr lang="vi-VN">
                <a:latin typeface="Courier New" panose="02070309020205020404" pitchFamily="49" charset="0"/>
                <a:cs typeface="Courier New" panose="02070309020205020404" pitchFamily="49" charset="0"/>
              </a:rPr>
              <a:t>Q</a:t>
            </a:r>
            <a:r>
              <a:rPr lang="en-US">
                <a:latin typeface="Courier New" panose="02070309020205020404" pitchFamily="49" charset="0"/>
                <a:cs typeface="Courier New" panose="02070309020205020404" pitchFamily="49" charset="0"/>
              </a:rPr>
              <a:t>D</a:t>
            </a:r>
            <a:r>
              <a:rPr lang="vi-VN">
                <a:latin typeface="Courier New" panose="02070309020205020404" pitchFamily="49" charset="0"/>
                <a:cs typeface="Courier New" panose="02070309020205020404" pitchFamily="49" charset="0"/>
              </a:rPr>
              <a:t>ialog</a:t>
            </a:r>
            <a:r>
              <a:rPr lang="vi-VN"/>
              <a:t>.</a:t>
            </a:r>
          </a:p>
          <a:p>
            <a:pPr marL="0" indent="0">
              <a:buNone/>
            </a:pPr>
            <a:r>
              <a:rPr lang="vi-VN"/>
              <a:t>3. Nó cung cấp hàm tạo mặc định cho </a:t>
            </a:r>
            <a:r>
              <a:rPr lang="vi-VN">
                <a:latin typeface="Courier New" panose="02070309020205020404" pitchFamily="49" charset="0"/>
                <a:cs typeface="Courier New" panose="02070309020205020404" pitchFamily="49" charset="0"/>
              </a:rPr>
              <a:t>Q</a:t>
            </a:r>
            <a:r>
              <a:rPr lang="en-US">
                <a:latin typeface="Courier New" panose="02070309020205020404" pitchFamily="49" charset="0"/>
                <a:cs typeface="Courier New" panose="02070309020205020404" pitchFamily="49" charset="0"/>
              </a:rPr>
              <a:t>D</a:t>
            </a:r>
            <a:r>
              <a:rPr lang="vi-VN">
                <a:latin typeface="Courier New" panose="02070309020205020404" pitchFamily="49" charset="0"/>
                <a:cs typeface="Courier New" panose="02070309020205020404" pitchFamily="49" charset="0"/>
              </a:rPr>
              <a:t>ialog</a:t>
            </a:r>
            <a:r>
              <a:rPr lang="vi-VN"/>
              <a:t>. Hàm tạo mặc định không có cha mẹ và một widget không có cha mẹ được gọi là cửa sổ.</a:t>
            </a:r>
            <a:endParaRPr lang="en-US"/>
          </a:p>
          <a:p>
            <a:pPr marL="0" indent="0">
              <a:buNone/>
            </a:pPr>
            <a:r>
              <a:rPr lang="vi-VN"/>
              <a:t>4. Xử lý sự kiện trong PyQt5 sử dụng tín hiệu</a:t>
            </a:r>
            <a:r>
              <a:rPr lang="en-US"/>
              <a:t> (signals)</a:t>
            </a:r>
            <a:r>
              <a:rPr lang="vi-VN"/>
              <a:t> và khe cắm</a:t>
            </a:r>
            <a:r>
              <a:rPr lang="en-US"/>
              <a:t> (slots)</a:t>
            </a:r>
            <a:r>
              <a:rPr lang="vi-VN"/>
              <a:t>. </a:t>
            </a:r>
            <a:r>
              <a:rPr lang="en-US"/>
              <a:t>Signal </a:t>
            </a:r>
            <a:r>
              <a:rPr lang="vi-VN"/>
              <a:t>là một sự kiện và </a:t>
            </a:r>
            <a:r>
              <a:rPr lang="en-US"/>
              <a:t>slot </a:t>
            </a:r>
            <a:r>
              <a:rPr lang="vi-VN"/>
              <a:t>là một phương thức được thực hiện khi xảy ra </a:t>
            </a:r>
            <a:r>
              <a:rPr lang="en-US"/>
              <a:t>signal</a:t>
            </a:r>
            <a:r>
              <a:rPr lang="vi-VN"/>
              <a:t>. </a:t>
            </a:r>
            <a:r>
              <a:rPr lang="vi-VN" u="sng"/>
              <a:t>Ví dụ</a:t>
            </a:r>
            <a:r>
              <a:rPr lang="vi-VN"/>
              <a:t>: khi bạn nhấp vào nút ấn, một sự kiện </a:t>
            </a:r>
            <a:r>
              <a:rPr lang="en-US" b="1"/>
              <a:t>clicked()</a:t>
            </a:r>
            <a:r>
              <a:rPr lang="vi-VN"/>
              <a:t>, còn được gọi là</a:t>
            </a:r>
            <a:r>
              <a:rPr lang="en-US"/>
              <a:t> </a:t>
            </a:r>
            <a:r>
              <a:rPr lang="vi-VN"/>
              <a:t>xảy ra</a:t>
            </a:r>
            <a:r>
              <a:rPr lang="en-US"/>
              <a:t> signal</a:t>
            </a:r>
            <a:r>
              <a:rPr lang="vi-VN"/>
              <a:t>. Phương thức </a:t>
            </a:r>
            <a:r>
              <a:rPr lang="vi-VN" b="1"/>
              <a:t>connect() </a:t>
            </a:r>
            <a:r>
              <a:rPr lang="vi-VN"/>
              <a:t>kết nối </a:t>
            </a:r>
            <a:r>
              <a:rPr lang="en-US"/>
              <a:t>signal </a:t>
            </a:r>
            <a:r>
              <a:rPr lang="vi-VN"/>
              <a:t>với các </a:t>
            </a:r>
            <a:r>
              <a:rPr lang="en-US"/>
              <a:t>slot</a:t>
            </a:r>
            <a:r>
              <a:rPr lang="vi-VN"/>
              <a:t>. Trong trường hợp này, </a:t>
            </a:r>
            <a:r>
              <a:rPr lang="en-US"/>
              <a:t>slot </a:t>
            </a:r>
            <a:r>
              <a:rPr lang="vi-VN"/>
              <a:t>là một phương thức: </a:t>
            </a:r>
            <a:r>
              <a:rPr lang="vi-VN" b="1"/>
              <a:t>dismessage()</a:t>
            </a:r>
            <a:r>
              <a:rPr lang="vi-VN"/>
              <a:t>. Đó là, khi người dùng nhấp vào nút ấn, phương thức dismessage() sẽ được gọi. clicked () là một sự kiện ở đây và một vòng xử lý sự kiện chờ đợi một sự kiện xảy ra và sau đó gửi nó để thực hiện một số nhiệm vụ. Vòng </a:t>
            </a:r>
            <a:r>
              <a:rPr lang="en-US"/>
              <a:t>lặp </a:t>
            </a:r>
            <a:r>
              <a:rPr lang="vi-VN"/>
              <a:t>xử lý sự kiện tiếp tục hoạt động cho đến khi phương thức </a:t>
            </a:r>
            <a:r>
              <a:rPr lang="vi-VN" b="1"/>
              <a:t>exit()</a:t>
            </a:r>
            <a:r>
              <a:rPr lang="vi-VN"/>
              <a:t> được gọi hoặc </a:t>
            </a:r>
            <a:r>
              <a:rPr lang="en-US"/>
              <a:t>widget </a:t>
            </a:r>
            <a:r>
              <a:rPr lang="vi-VN"/>
              <a:t>chính bị hủy.</a:t>
            </a:r>
            <a:endParaRPr lang="en-US"/>
          </a:p>
        </p:txBody>
      </p:sp>
      <p:sp>
        <p:nvSpPr>
          <p:cNvPr id="4" name="Title 1">
            <a:extLst>
              <a:ext uri="{FF2B5EF4-FFF2-40B4-BE49-F238E27FC236}">
                <a16:creationId xmlns:a16="http://schemas.microsoft.com/office/drawing/2014/main" id="{DB7A7E3C-01F2-4764-9014-9B9A8EBD31F3}"/>
              </a:ext>
            </a:extLst>
          </p:cNvPr>
          <p:cNvSpPr>
            <a:spLocks noGrp="1"/>
          </p:cNvSpPr>
          <p:nvPr>
            <p:ph type="title"/>
          </p:nvPr>
        </p:nvSpPr>
        <p:spPr>
          <a:xfrm>
            <a:off x="22259" y="28245"/>
            <a:ext cx="9102490" cy="738110"/>
          </a:xfrm>
        </p:spPr>
        <p:txBody>
          <a:bodyPr>
            <a:normAutofit/>
          </a:bodyPr>
          <a:lstStyle/>
          <a:p>
            <a:r>
              <a:rPr lang="en-US" b="1"/>
              <a:t>Cách ch</a:t>
            </a:r>
            <a:r>
              <a:rPr lang="vi-VN" b="1"/>
              <a:t>ư</a:t>
            </a:r>
            <a:r>
              <a:rPr lang="en-US" b="1"/>
              <a:t>ơng trình hoạt động... (t.t)</a:t>
            </a:r>
          </a:p>
        </p:txBody>
      </p:sp>
    </p:spTree>
    <p:extLst>
      <p:ext uri="{BB962C8B-B14F-4D97-AF65-F5344CB8AC3E}">
        <p14:creationId xmlns:p14="http://schemas.microsoft.com/office/powerpoint/2010/main" val="4099508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6EE990-FB4D-45C5-A29E-76676345EF46}"/>
              </a:ext>
            </a:extLst>
          </p:cNvPr>
          <p:cNvSpPr>
            <a:spLocks noGrp="1"/>
          </p:cNvSpPr>
          <p:nvPr>
            <p:ph idx="1"/>
          </p:nvPr>
        </p:nvSpPr>
        <p:spPr>
          <a:xfrm>
            <a:off x="22259" y="766356"/>
            <a:ext cx="9102490" cy="6063402"/>
          </a:xfrm>
        </p:spPr>
        <p:txBody>
          <a:bodyPr>
            <a:normAutofit lnSpcReduction="10000"/>
          </a:bodyPr>
          <a:lstStyle/>
          <a:p>
            <a:pPr marL="0" indent="0">
              <a:buNone/>
            </a:pPr>
            <a:r>
              <a:rPr lang="vi-VN"/>
              <a:t>5. Nó tạo một đối tượng ứng dụng với tên </a:t>
            </a:r>
            <a:r>
              <a:rPr lang="en-US" b="1"/>
              <a:t>app</a:t>
            </a:r>
            <a:r>
              <a:rPr lang="en-US"/>
              <a:t> </a:t>
            </a:r>
            <a:r>
              <a:rPr lang="vi-VN"/>
              <a:t>thông qua phương thức </a:t>
            </a:r>
            <a:r>
              <a:rPr lang="vi-VN" b="1"/>
              <a:t>QApplication()</a:t>
            </a:r>
            <a:r>
              <a:rPr lang="vi-VN"/>
              <a:t>. Mỗi ứng dụng PyQt5 phải tạo đối tượng ứng dụng </a:t>
            </a:r>
            <a:r>
              <a:rPr lang="vi-VN">
                <a:latin typeface="Courier New" panose="02070309020205020404" pitchFamily="49" charset="0"/>
                <a:cs typeface="Courier New" panose="02070309020205020404" pitchFamily="49" charset="0"/>
              </a:rPr>
              <a:t>sys.argv </a:t>
            </a:r>
            <a:r>
              <a:rPr lang="vi-VN"/>
              <a:t>chứa danh sách các đối số từ dòng lệnh và nó được truyền cho phương thức trong khi tạo đối tượng ứng dụng. Tham số </a:t>
            </a:r>
            <a:r>
              <a:rPr lang="vi-VN">
                <a:latin typeface="Courier New" panose="02070309020205020404" pitchFamily="49" charset="0"/>
                <a:cs typeface="Courier New" panose="02070309020205020404" pitchFamily="49" charset="0"/>
              </a:rPr>
              <a:t>sys.argv</a:t>
            </a:r>
            <a:r>
              <a:rPr lang="vi-VN"/>
              <a:t> giúp truyền và kiểm soát các thuộc tính khởi động của tập lệnh.</a:t>
            </a:r>
            <a:endParaRPr lang="en-US"/>
          </a:p>
          <a:p>
            <a:pPr marL="0" indent="0">
              <a:buNone/>
            </a:pPr>
            <a:r>
              <a:rPr lang="vi-VN"/>
              <a:t>6. Một thể hiện của lớp </a:t>
            </a:r>
            <a:r>
              <a:rPr lang="vi-VN" b="1">
                <a:latin typeface="Courier New" panose="02070309020205020404" pitchFamily="49" charset="0"/>
                <a:cs typeface="Courier New" panose="02070309020205020404" pitchFamily="49" charset="0"/>
              </a:rPr>
              <a:t>MyForm</a:t>
            </a:r>
            <a:r>
              <a:rPr lang="vi-VN"/>
              <a:t> được tạo với tên </a:t>
            </a:r>
            <a:r>
              <a:rPr lang="vi-VN" b="1"/>
              <a:t>w</a:t>
            </a:r>
            <a:r>
              <a:rPr lang="vi-VN"/>
              <a:t>.</a:t>
            </a:r>
          </a:p>
          <a:p>
            <a:pPr marL="0" indent="0">
              <a:buNone/>
            </a:pPr>
            <a:r>
              <a:rPr lang="vi-VN"/>
              <a:t>7. Phương thức show() sẽ hiển thị widget trên màn hình.</a:t>
            </a:r>
          </a:p>
          <a:p>
            <a:pPr marL="0" indent="0">
              <a:buNone/>
            </a:pPr>
            <a:r>
              <a:rPr lang="vi-VN"/>
              <a:t>8. Phương thức </a:t>
            </a:r>
            <a:r>
              <a:rPr lang="vi-VN">
                <a:latin typeface="Courier New" panose="02070309020205020404" pitchFamily="49" charset="0"/>
                <a:cs typeface="Courier New" panose="02070309020205020404" pitchFamily="49" charset="0"/>
              </a:rPr>
              <a:t>dismessage() </a:t>
            </a:r>
            <a:r>
              <a:rPr lang="vi-VN"/>
              <a:t>thực hiện xử lý sự kiện cho nút ấn. Nó hiển thị văn bản Hello, cùng với tên được nhập trong </a:t>
            </a:r>
            <a:r>
              <a:rPr lang="en-US"/>
              <a:t>widget </a:t>
            </a:r>
            <a:r>
              <a:rPr lang="en-US" b="1"/>
              <a:t>Line Edit</a:t>
            </a:r>
            <a:r>
              <a:rPr lang="vi-VN"/>
              <a:t>.</a:t>
            </a:r>
          </a:p>
          <a:p>
            <a:pPr marL="0" indent="0">
              <a:buNone/>
            </a:pPr>
            <a:r>
              <a:rPr lang="vi-VN"/>
              <a:t>9. Phương thức </a:t>
            </a:r>
            <a:r>
              <a:rPr lang="vi-VN" b="1"/>
              <a:t>sys.exit ()</a:t>
            </a:r>
            <a:r>
              <a:rPr lang="vi-VN"/>
              <a:t> đảm bảo thoát sạch</a:t>
            </a:r>
            <a:r>
              <a:rPr lang="en-US"/>
              <a:t> sẽ</a:t>
            </a:r>
            <a:r>
              <a:rPr lang="vi-VN"/>
              <a:t>, giải phóng tài nguyên bộ nhớ.</a:t>
            </a:r>
            <a:endParaRPr lang="en-US"/>
          </a:p>
        </p:txBody>
      </p:sp>
      <p:sp>
        <p:nvSpPr>
          <p:cNvPr id="4" name="Title 1">
            <a:extLst>
              <a:ext uri="{FF2B5EF4-FFF2-40B4-BE49-F238E27FC236}">
                <a16:creationId xmlns:a16="http://schemas.microsoft.com/office/drawing/2014/main" id="{515A2616-9F63-412B-A91E-073FAEB3A661}"/>
              </a:ext>
            </a:extLst>
          </p:cNvPr>
          <p:cNvSpPr>
            <a:spLocks noGrp="1"/>
          </p:cNvSpPr>
          <p:nvPr>
            <p:ph type="title"/>
          </p:nvPr>
        </p:nvSpPr>
        <p:spPr>
          <a:xfrm>
            <a:off x="22259" y="28245"/>
            <a:ext cx="9102490" cy="738110"/>
          </a:xfrm>
        </p:spPr>
        <p:txBody>
          <a:bodyPr>
            <a:normAutofit/>
          </a:bodyPr>
          <a:lstStyle/>
          <a:p>
            <a:r>
              <a:rPr lang="en-US" b="1"/>
              <a:t>Cách ch</a:t>
            </a:r>
            <a:r>
              <a:rPr lang="vi-VN" b="1"/>
              <a:t>ư</a:t>
            </a:r>
            <a:r>
              <a:rPr lang="en-US" b="1"/>
              <a:t>ơng trình hoạt động... (t.t)</a:t>
            </a:r>
          </a:p>
        </p:txBody>
      </p:sp>
    </p:spTree>
    <p:extLst>
      <p:ext uri="{BB962C8B-B14F-4D97-AF65-F5344CB8AC3E}">
        <p14:creationId xmlns:p14="http://schemas.microsoft.com/office/powerpoint/2010/main" val="1098351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05B5C3-56F6-4A8C-A311-83F4F889CA61}"/>
              </a:ext>
            </a:extLst>
          </p:cNvPr>
          <p:cNvSpPr>
            <a:spLocks noGrp="1"/>
          </p:cNvSpPr>
          <p:nvPr>
            <p:ph idx="1"/>
          </p:nvPr>
        </p:nvSpPr>
        <p:spPr>
          <a:xfrm>
            <a:off x="22259" y="766356"/>
            <a:ext cx="9102490" cy="6063402"/>
          </a:xfrm>
        </p:spPr>
        <p:txBody>
          <a:bodyPr/>
          <a:lstStyle/>
          <a:p>
            <a:r>
              <a:rPr lang="vi-VN"/>
              <a:t>Khi thực hiện chương trình trước đó, bạn nhận được một cửa sổ với các </a:t>
            </a:r>
            <a:r>
              <a:rPr lang="en-US"/>
              <a:t>widget </a:t>
            </a:r>
            <a:r>
              <a:rPr lang="en-US" b="1"/>
              <a:t>Line Edit </a:t>
            </a:r>
            <a:r>
              <a:rPr lang="vi-VN"/>
              <a:t>và </a:t>
            </a:r>
            <a:r>
              <a:rPr lang="en-US" b="1"/>
              <a:t>Push Button</a:t>
            </a:r>
            <a:r>
              <a:rPr lang="vi-VN"/>
              <a:t>. Khi chọn nút ấn, phương thức </a:t>
            </a:r>
            <a:r>
              <a:rPr lang="vi-VN">
                <a:latin typeface="Courier New" panose="02070309020205020404" pitchFamily="49" charset="0"/>
                <a:cs typeface="Courier New" panose="02070309020205020404" pitchFamily="49" charset="0"/>
              </a:rPr>
              <a:t>dismessage()</a:t>
            </a:r>
            <a:r>
              <a:rPr lang="vi-VN"/>
              <a:t> sẽ được thực thi, hiển thị thông báo </a:t>
            </a:r>
            <a:r>
              <a:rPr lang="vi-VN" b="1"/>
              <a:t>Hello</a:t>
            </a:r>
            <a:r>
              <a:rPr lang="vi-VN"/>
              <a:t> cùng với tên người dùng được nhập trong </a:t>
            </a:r>
            <a:r>
              <a:rPr lang="en-US"/>
              <a:t>widget </a:t>
            </a:r>
            <a:r>
              <a:rPr lang="en-US" b="1"/>
              <a:t>Line Edit</a:t>
            </a:r>
            <a:r>
              <a:rPr lang="en-US"/>
              <a:t>.</a:t>
            </a:r>
          </a:p>
        </p:txBody>
      </p:sp>
      <p:sp>
        <p:nvSpPr>
          <p:cNvPr id="4" name="Title 1">
            <a:extLst>
              <a:ext uri="{FF2B5EF4-FFF2-40B4-BE49-F238E27FC236}">
                <a16:creationId xmlns:a16="http://schemas.microsoft.com/office/drawing/2014/main" id="{684E7EEF-1652-4088-814A-9BD7689A83CF}"/>
              </a:ext>
            </a:extLst>
          </p:cNvPr>
          <p:cNvSpPr>
            <a:spLocks noGrp="1"/>
          </p:cNvSpPr>
          <p:nvPr>
            <p:ph type="title"/>
          </p:nvPr>
        </p:nvSpPr>
        <p:spPr>
          <a:xfrm>
            <a:off x="22259" y="28245"/>
            <a:ext cx="9102490" cy="738110"/>
          </a:xfrm>
        </p:spPr>
        <p:txBody>
          <a:bodyPr>
            <a:normAutofit/>
          </a:bodyPr>
          <a:lstStyle/>
          <a:p>
            <a:r>
              <a:rPr lang="en-US" b="1"/>
              <a:t>Cách ch</a:t>
            </a:r>
            <a:r>
              <a:rPr lang="vi-VN" b="1"/>
              <a:t>ư</a:t>
            </a:r>
            <a:r>
              <a:rPr lang="en-US" b="1"/>
              <a:t>ơng trình hoạt động... (t.t)</a:t>
            </a:r>
          </a:p>
        </p:txBody>
      </p:sp>
      <p:pic>
        <p:nvPicPr>
          <p:cNvPr id="5" name="image11.png">
            <a:extLst>
              <a:ext uri="{FF2B5EF4-FFF2-40B4-BE49-F238E27FC236}">
                <a16:creationId xmlns:a16="http://schemas.microsoft.com/office/drawing/2014/main" id="{4D2E2B2D-75C4-4236-AAF5-86264D86B297}"/>
              </a:ext>
            </a:extLst>
          </p:cNvPr>
          <p:cNvPicPr/>
          <p:nvPr/>
        </p:nvPicPr>
        <p:blipFill>
          <a:blip r:embed="rId2" cstate="print"/>
          <a:stretch>
            <a:fillRect/>
          </a:stretch>
        </p:blipFill>
        <p:spPr>
          <a:xfrm>
            <a:off x="41510" y="3225375"/>
            <a:ext cx="9102490" cy="3260091"/>
          </a:xfrm>
          <a:prstGeom prst="rect">
            <a:avLst/>
          </a:prstGeom>
        </p:spPr>
      </p:pic>
    </p:spTree>
    <p:extLst>
      <p:ext uri="{BB962C8B-B14F-4D97-AF65-F5344CB8AC3E}">
        <p14:creationId xmlns:p14="http://schemas.microsoft.com/office/powerpoint/2010/main" val="433934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7920C-9BE9-409A-8903-0F3B8F0D2494}"/>
              </a:ext>
            </a:extLst>
          </p:cNvPr>
          <p:cNvSpPr>
            <a:spLocks noGrp="1"/>
          </p:cNvSpPr>
          <p:nvPr>
            <p:ph type="title"/>
          </p:nvPr>
        </p:nvSpPr>
        <p:spPr/>
        <p:txBody>
          <a:bodyPr/>
          <a:lstStyle/>
          <a:p>
            <a:r>
              <a:rPr lang="en-US" b="1"/>
              <a:t>Sử dụng widget Radio Button</a:t>
            </a:r>
          </a:p>
        </p:txBody>
      </p:sp>
      <p:sp>
        <p:nvSpPr>
          <p:cNvPr id="3" name="Content Placeholder 2">
            <a:extLst>
              <a:ext uri="{FF2B5EF4-FFF2-40B4-BE49-F238E27FC236}">
                <a16:creationId xmlns:a16="http://schemas.microsoft.com/office/drawing/2014/main" id="{F6E1D559-C199-40AC-9461-8860A2B36C31}"/>
              </a:ext>
            </a:extLst>
          </p:cNvPr>
          <p:cNvSpPr>
            <a:spLocks noGrp="1"/>
          </p:cNvSpPr>
          <p:nvPr>
            <p:ph idx="1"/>
          </p:nvPr>
        </p:nvSpPr>
        <p:spPr>
          <a:xfrm>
            <a:off x="22259" y="933652"/>
            <a:ext cx="9102490" cy="5896106"/>
          </a:xfrm>
        </p:spPr>
        <p:txBody>
          <a:bodyPr>
            <a:normAutofit/>
          </a:bodyPr>
          <a:lstStyle/>
          <a:p>
            <a:r>
              <a:rPr lang="vi-VN" sz="3200"/>
              <a:t>Công thức này hiển thị một số loại chuyến bay nhất định thông qua </a:t>
            </a:r>
            <a:r>
              <a:rPr lang="vi-VN" sz="3200" b="1"/>
              <a:t>Radio </a:t>
            </a:r>
            <a:r>
              <a:rPr lang="en-US" sz="3200" b="1"/>
              <a:t>Button</a:t>
            </a:r>
            <a:r>
              <a:rPr lang="en-US" sz="3200"/>
              <a:t> </a:t>
            </a:r>
            <a:r>
              <a:rPr lang="vi-VN" sz="3200"/>
              <a:t>và khi người dùng chọn radio</a:t>
            </a:r>
            <a:r>
              <a:rPr lang="en-US" sz="3200"/>
              <a:t> button</a:t>
            </a:r>
            <a:r>
              <a:rPr lang="vi-VN" sz="3200"/>
              <a:t>, giá liên quan đến chuyến bay đó sẽ được hiển thị. Trước tiên chúng ta cần hiểu hoạt động của Radio</a:t>
            </a:r>
            <a:r>
              <a:rPr lang="en-US" sz="3200"/>
              <a:t> Button</a:t>
            </a:r>
            <a:r>
              <a:rPr lang="vi-VN" sz="3200"/>
              <a:t>.</a:t>
            </a:r>
            <a:endParaRPr lang="en-US" sz="3200"/>
          </a:p>
        </p:txBody>
      </p:sp>
    </p:spTree>
    <p:extLst>
      <p:ext uri="{BB962C8B-B14F-4D97-AF65-F5344CB8AC3E}">
        <p14:creationId xmlns:p14="http://schemas.microsoft.com/office/powerpoint/2010/main" val="22246468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95F24-C022-4355-8313-2F651B625217}"/>
              </a:ext>
            </a:extLst>
          </p:cNvPr>
          <p:cNvSpPr>
            <a:spLocks noGrp="1"/>
          </p:cNvSpPr>
          <p:nvPr>
            <p:ph type="title"/>
          </p:nvPr>
        </p:nvSpPr>
        <p:spPr>
          <a:xfrm>
            <a:off x="22259" y="28244"/>
            <a:ext cx="9102490" cy="807779"/>
          </a:xfrm>
        </p:spPr>
        <p:txBody>
          <a:bodyPr/>
          <a:lstStyle/>
          <a:p>
            <a:r>
              <a:rPr lang="en-US" b="1"/>
              <a:t>Radio Button</a:t>
            </a:r>
          </a:p>
        </p:txBody>
      </p:sp>
      <p:sp>
        <p:nvSpPr>
          <p:cNvPr id="3" name="Content Placeholder 2">
            <a:extLst>
              <a:ext uri="{FF2B5EF4-FFF2-40B4-BE49-F238E27FC236}">
                <a16:creationId xmlns:a16="http://schemas.microsoft.com/office/drawing/2014/main" id="{4EDB2ED6-7B11-413F-8E72-07D8F6B4D65A}"/>
              </a:ext>
            </a:extLst>
          </p:cNvPr>
          <p:cNvSpPr>
            <a:spLocks noGrp="1"/>
          </p:cNvSpPr>
          <p:nvPr>
            <p:ph idx="1"/>
          </p:nvPr>
        </p:nvSpPr>
        <p:spPr>
          <a:xfrm>
            <a:off x="22259" y="836022"/>
            <a:ext cx="9102490" cy="5993735"/>
          </a:xfrm>
        </p:spPr>
        <p:txBody>
          <a:bodyPr>
            <a:normAutofit/>
          </a:bodyPr>
          <a:lstStyle/>
          <a:p>
            <a:pPr marL="0" indent="0" algn="just">
              <a:buNone/>
            </a:pPr>
            <a:r>
              <a:rPr lang="en-US" sz="3200"/>
              <a:t>Th</a:t>
            </a:r>
            <a:r>
              <a:rPr lang="vi-VN" sz="3200"/>
              <a:t>ư</a:t>
            </a:r>
            <a:r>
              <a:rPr lang="en-US" sz="3200"/>
              <a:t>ờng dùng </a:t>
            </a:r>
            <a:r>
              <a:rPr lang="vi-VN" sz="3200"/>
              <a:t>phổ biến khi muốn người dùng chọn một tùy chọn trong số các tùy chọn khả dụng. Các tùy chọn như vậy được gọi là tùy chọn loại trừ lẫn nhau. Khi người dùng chọn một tùy chọn, tùy chọn đã chọn trước đó sẽ tự động được bỏ chọn. Các </a:t>
            </a:r>
            <a:r>
              <a:rPr lang="en-US" sz="3200"/>
              <a:t>widget Radio Button </a:t>
            </a:r>
            <a:r>
              <a:rPr lang="vi-VN" sz="3200"/>
              <a:t>là </a:t>
            </a:r>
            <a:r>
              <a:rPr lang="en-US" sz="3200"/>
              <a:t>thể hiện </a:t>
            </a:r>
            <a:r>
              <a:rPr lang="vi-VN" sz="3200"/>
              <a:t>của lớp </a:t>
            </a:r>
            <a:r>
              <a:rPr lang="vi-VN" sz="3200" b="1"/>
              <a:t>QRadioButton</a:t>
            </a:r>
            <a:r>
              <a:rPr lang="vi-VN" sz="3200"/>
              <a:t>. Mỗi nút radio có một nhãn văn bản liên quan. Nút radio có thể ở trạng thái được chọn (đã chọn) hoặc không được chọn (không được chọn). Nếu bạn muốn có hai hoặc nhiều bộ nút radio, trong đó mỗi bộ cho phép lựa chọn độc quyền một nút radio, hãy đặt chúng vào các nhóm nút khác nhau (</a:t>
            </a:r>
            <a:r>
              <a:rPr lang="en-US" sz="3200"/>
              <a:t>thể hiện </a:t>
            </a:r>
            <a:r>
              <a:rPr lang="vi-VN" sz="3200"/>
              <a:t>của QButtonroup). </a:t>
            </a:r>
            <a:endParaRPr lang="en-US" sz="3200"/>
          </a:p>
        </p:txBody>
      </p:sp>
    </p:spTree>
    <p:extLst>
      <p:ext uri="{BB962C8B-B14F-4D97-AF65-F5344CB8AC3E}">
        <p14:creationId xmlns:p14="http://schemas.microsoft.com/office/powerpoint/2010/main" val="8169710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5253A-BFC9-41D7-AB28-8440F95876D1}"/>
              </a:ext>
            </a:extLst>
          </p:cNvPr>
          <p:cNvSpPr>
            <a:spLocks noGrp="1"/>
          </p:cNvSpPr>
          <p:nvPr>
            <p:ph type="title"/>
          </p:nvPr>
        </p:nvSpPr>
        <p:spPr>
          <a:xfrm>
            <a:off x="22259" y="28244"/>
            <a:ext cx="9102490" cy="781653"/>
          </a:xfrm>
        </p:spPr>
        <p:txBody>
          <a:bodyPr/>
          <a:lstStyle/>
          <a:p>
            <a:r>
              <a:rPr lang="en-US" b="1"/>
              <a:t>Các ph</a:t>
            </a:r>
            <a:r>
              <a:rPr lang="vi-VN" b="1"/>
              <a:t>ư</a:t>
            </a:r>
            <a:r>
              <a:rPr lang="en-US" b="1"/>
              <a:t>ơng thức của Radio Button</a:t>
            </a:r>
          </a:p>
        </p:txBody>
      </p:sp>
      <p:sp>
        <p:nvSpPr>
          <p:cNvPr id="3" name="Content Placeholder 2">
            <a:extLst>
              <a:ext uri="{FF2B5EF4-FFF2-40B4-BE49-F238E27FC236}">
                <a16:creationId xmlns:a16="http://schemas.microsoft.com/office/drawing/2014/main" id="{C9B97D5E-40D7-426D-9A8D-58E48FCFEB7E}"/>
              </a:ext>
            </a:extLst>
          </p:cNvPr>
          <p:cNvSpPr>
            <a:spLocks noGrp="1"/>
          </p:cNvSpPr>
          <p:nvPr>
            <p:ph idx="1"/>
          </p:nvPr>
        </p:nvSpPr>
        <p:spPr>
          <a:xfrm>
            <a:off x="22259" y="809898"/>
            <a:ext cx="9102490" cy="6019860"/>
          </a:xfrm>
        </p:spPr>
        <p:txBody>
          <a:bodyPr/>
          <a:lstStyle/>
          <a:p>
            <a:pPr marL="0" indent="0">
              <a:buNone/>
            </a:pPr>
            <a:r>
              <a:rPr lang="vi-VN"/>
              <a:t>Lớp QRadioButton cung cấp các phương thức sau:</a:t>
            </a:r>
          </a:p>
          <a:p>
            <a:r>
              <a:rPr lang="vi-VN" b="1"/>
              <a:t>isChecked()</a:t>
            </a:r>
            <a:r>
              <a:rPr lang="vi-VN"/>
              <a:t>: Phương thức này trả về giá trị Boolean true nếu nút ở trạng thái được chọn.</a:t>
            </a:r>
          </a:p>
          <a:p>
            <a:r>
              <a:rPr lang="vi-VN" b="1"/>
              <a:t>setIcon()</a:t>
            </a:r>
            <a:r>
              <a:rPr lang="vi-VN"/>
              <a:t>: Phương thức này hiển thị một biểu tượng bằng nút radio.</a:t>
            </a:r>
          </a:p>
          <a:p>
            <a:r>
              <a:rPr lang="vi-VN" b="1"/>
              <a:t>setText()</a:t>
            </a:r>
            <a:r>
              <a:rPr lang="vi-VN"/>
              <a:t>: Phương thức này gán văn bản cho nút radio. Nếu bạn muốn chỉ định một phím tắt cho nút radio, hãy đặt trước ký tự ưa thích trong văn bản bằng ký hiệu (&amp;). Các ký tự tắt sẽ được gạch chân.</a:t>
            </a:r>
          </a:p>
          <a:p>
            <a:r>
              <a:rPr lang="vi-VN" b="1"/>
              <a:t>setChecked()</a:t>
            </a:r>
            <a:r>
              <a:rPr lang="vi-VN"/>
              <a:t>: Để làm cho bất kỳ nút radio nào xuất hiện được chọn theo mặc định, hãy chuyển giá trị Boolean đúng cho phương thức này.</a:t>
            </a:r>
            <a:endParaRPr lang="en-US"/>
          </a:p>
        </p:txBody>
      </p:sp>
    </p:spTree>
    <p:extLst>
      <p:ext uri="{BB962C8B-B14F-4D97-AF65-F5344CB8AC3E}">
        <p14:creationId xmlns:p14="http://schemas.microsoft.com/office/powerpoint/2010/main" val="14235268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2FB2E-D9DB-4EDE-958E-4EA942DDF109}"/>
              </a:ext>
            </a:extLst>
          </p:cNvPr>
          <p:cNvSpPr>
            <a:spLocks noGrp="1"/>
          </p:cNvSpPr>
          <p:nvPr>
            <p:ph type="title"/>
          </p:nvPr>
        </p:nvSpPr>
        <p:spPr>
          <a:xfrm>
            <a:off x="22259" y="28244"/>
            <a:ext cx="9102490" cy="755527"/>
          </a:xfrm>
        </p:spPr>
        <p:txBody>
          <a:bodyPr/>
          <a:lstStyle/>
          <a:p>
            <a:r>
              <a:rPr lang="en-US" b="1"/>
              <a:t>Mô tả tín hiệu (signal)</a:t>
            </a:r>
          </a:p>
        </p:txBody>
      </p:sp>
      <p:sp>
        <p:nvSpPr>
          <p:cNvPr id="3" name="Content Placeholder 2">
            <a:extLst>
              <a:ext uri="{FF2B5EF4-FFF2-40B4-BE49-F238E27FC236}">
                <a16:creationId xmlns:a16="http://schemas.microsoft.com/office/drawing/2014/main" id="{945C10EC-30DD-4CCC-8390-3D9CECADBBF5}"/>
              </a:ext>
            </a:extLst>
          </p:cNvPr>
          <p:cNvSpPr>
            <a:spLocks noGrp="1"/>
          </p:cNvSpPr>
          <p:nvPr>
            <p:ph idx="1"/>
          </p:nvPr>
        </p:nvSpPr>
        <p:spPr>
          <a:xfrm>
            <a:off x="22259" y="783771"/>
            <a:ext cx="9102490" cy="6045987"/>
          </a:xfrm>
        </p:spPr>
        <p:txBody>
          <a:bodyPr>
            <a:normAutofit fontScale="92500"/>
          </a:bodyPr>
          <a:lstStyle/>
          <a:p>
            <a:pPr marL="0" indent="0">
              <a:buNone/>
            </a:pPr>
            <a:r>
              <a:rPr lang="vi-VN"/>
              <a:t>Tín hiệu được phát ra bởi QRadioButton như sau:</a:t>
            </a:r>
          </a:p>
          <a:p>
            <a:r>
              <a:rPr lang="vi-VN" b="1"/>
              <a:t>toggled()</a:t>
            </a:r>
            <a:r>
              <a:rPr lang="vi-VN"/>
              <a:t>: Tín hiệu này được phát ra bất cứ khi nào nút thay đổi trạng thái từ được chọn sang không được </a:t>
            </a:r>
            <a:r>
              <a:rPr lang="en-US"/>
              <a:t>chọn </a:t>
            </a:r>
            <a:r>
              <a:rPr lang="vi-VN"/>
              <a:t>hoặc ngược lại</a:t>
            </a:r>
          </a:p>
          <a:p>
            <a:r>
              <a:rPr lang="vi-VN" b="1"/>
              <a:t>clicked()</a:t>
            </a:r>
            <a:r>
              <a:rPr lang="vi-VN"/>
              <a:t>: Tín hiệu này được phát ra khi một nút được kích hoạt (nghĩa là nhấn và nhả) hoặc khi phím tắt của nó</a:t>
            </a:r>
            <a:r>
              <a:rPr lang="en-US"/>
              <a:t> đ</a:t>
            </a:r>
            <a:r>
              <a:rPr lang="vi-VN"/>
              <a:t>ư</a:t>
            </a:r>
            <a:r>
              <a:rPr lang="en-US"/>
              <a:t>ợc nhấn</a:t>
            </a:r>
            <a:endParaRPr lang="vi-VN"/>
          </a:p>
          <a:p>
            <a:r>
              <a:rPr lang="vi-VN" b="1"/>
              <a:t>stateChanged()</a:t>
            </a:r>
            <a:r>
              <a:rPr lang="vi-VN"/>
              <a:t>: Tín hiệu này được phát ra khi nút radio thay đổi trạng thái từ được chọn sang không được kiểm tra hoặc ngược lại</a:t>
            </a:r>
            <a:endParaRPr lang="en-US"/>
          </a:p>
          <a:p>
            <a:pPr marL="0" indent="0">
              <a:buNone/>
            </a:pPr>
            <a:r>
              <a:rPr lang="vi-VN"/>
              <a:t>Để hiểu khái niệm về các nút radio, hãy tạo một ứng dụng yêu cầu người dùng chọn loại chuyến bay và hiển thị ba tùy chọn, Hạng nhất, Hạng thương gia và Hạng tiết kiệm, dưới dạng các nút radio. Khi chọn một tùy chọn thông qua nút radio, giá cho chuyến bay đó sẽ được hiển thị.</a:t>
            </a:r>
            <a:endParaRPr lang="en-US"/>
          </a:p>
        </p:txBody>
      </p:sp>
    </p:spTree>
    <p:extLst>
      <p:ext uri="{BB962C8B-B14F-4D97-AF65-F5344CB8AC3E}">
        <p14:creationId xmlns:p14="http://schemas.microsoft.com/office/powerpoint/2010/main" val="33980735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3B855-098E-4C49-9EB3-80341BF6157C}"/>
              </a:ext>
            </a:extLst>
          </p:cNvPr>
          <p:cNvSpPr>
            <a:spLocks noGrp="1"/>
          </p:cNvSpPr>
          <p:nvPr>
            <p:ph type="title"/>
          </p:nvPr>
        </p:nvSpPr>
        <p:spPr/>
        <p:txBody>
          <a:bodyPr/>
          <a:lstStyle/>
          <a:p>
            <a:r>
              <a:rPr lang="en-US"/>
              <a:t>Ch</a:t>
            </a:r>
            <a:r>
              <a:rPr lang="vi-VN"/>
              <a:t>ư</a:t>
            </a:r>
            <a:r>
              <a:rPr lang="en-US"/>
              <a:t>ơng trình demo Radio Button</a:t>
            </a:r>
          </a:p>
        </p:txBody>
      </p:sp>
      <p:grpSp>
        <p:nvGrpSpPr>
          <p:cNvPr id="4" name="Group 2">
            <a:extLst>
              <a:ext uri="{FF2B5EF4-FFF2-40B4-BE49-F238E27FC236}">
                <a16:creationId xmlns:a16="http://schemas.microsoft.com/office/drawing/2014/main" id="{DB1832E4-CD0F-4772-8490-D782FBBFBB87}"/>
              </a:ext>
            </a:extLst>
          </p:cNvPr>
          <p:cNvGrpSpPr>
            <a:grpSpLocks/>
          </p:cNvGrpSpPr>
          <p:nvPr/>
        </p:nvGrpSpPr>
        <p:grpSpPr bwMode="auto">
          <a:xfrm>
            <a:off x="232772" y="933650"/>
            <a:ext cx="8284211" cy="5641321"/>
            <a:chOff x="3153" y="243"/>
            <a:chExt cx="4495" cy="3010"/>
          </a:xfrm>
        </p:grpSpPr>
        <p:pic>
          <p:nvPicPr>
            <p:cNvPr id="1027" name="Picture 3">
              <a:extLst>
                <a:ext uri="{FF2B5EF4-FFF2-40B4-BE49-F238E27FC236}">
                  <a16:creationId xmlns:a16="http://schemas.microsoft.com/office/drawing/2014/main" id="{69FEACA7-5ED9-49FD-8E0D-3DEB5ACB9C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2" y="262"/>
              <a:ext cx="4455" cy="2970"/>
            </a:xfrm>
            <a:prstGeom prst="rect">
              <a:avLst/>
            </a:prstGeom>
            <a:noFill/>
            <a:extLst>
              <a:ext uri="{909E8E84-426E-40DD-AFC4-6F175D3DCCD1}">
                <a14:hiddenFill xmlns:a14="http://schemas.microsoft.com/office/drawing/2010/main">
                  <a:solidFill>
                    <a:srgbClr val="FFFFFF"/>
                  </a:solidFill>
                </a14:hiddenFill>
              </a:ext>
            </a:extLst>
          </p:spPr>
        </p:pic>
        <p:sp>
          <p:nvSpPr>
            <p:cNvPr id="5" name="Line 4">
              <a:extLst>
                <a:ext uri="{FF2B5EF4-FFF2-40B4-BE49-F238E27FC236}">
                  <a16:creationId xmlns:a16="http://schemas.microsoft.com/office/drawing/2014/main" id="{DF1E59C2-068F-46B1-8859-342EAD6037E6}"/>
                </a:ext>
              </a:extLst>
            </p:cNvPr>
            <p:cNvSpPr>
              <a:spLocks noChangeShapeType="1"/>
            </p:cNvSpPr>
            <p:nvPr/>
          </p:nvSpPr>
          <p:spPr bwMode="auto">
            <a:xfrm>
              <a:off x="3163" y="253"/>
              <a:ext cx="447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Line 5">
              <a:extLst>
                <a:ext uri="{FF2B5EF4-FFF2-40B4-BE49-F238E27FC236}">
                  <a16:creationId xmlns:a16="http://schemas.microsoft.com/office/drawing/2014/main" id="{D9BCCF0E-6F91-420E-AC42-B9449E0C3568}"/>
                </a:ext>
              </a:extLst>
            </p:cNvPr>
            <p:cNvSpPr>
              <a:spLocks noChangeShapeType="1"/>
            </p:cNvSpPr>
            <p:nvPr/>
          </p:nvSpPr>
          <p:spPr bwMode="auto">
            <a:xfrm>
              <a:off x="3163" y="253"/>
              <a:ext cx="0" cy="299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Line 6">
              <a:extLst>
                <a:ext uri="{FF2B5EF4-FFF2-40B4-BE49-F238E27FC236}">
                  <a16:creationId xmlns:a16="http://schemas.microsoft.com/office/drawing/2014/main" id="{E5FF09CE-9CE5-4875-BBDA-010AC545AFB0}"/>
                </a:ext>
              </a:extLst>
            </p:cNvPr>
            <p:cNvSpPr>
              <a:spLocks noChangeShapeType="1"/>
            </p:cNvSpPr>
            <p:nvPr/>
          </p:nvSpPr>
          <p:spPr bwMode="auto">
            <a:xfrm>
              <a:off x="7638" y="253"/>
              <a:ext cx="0" cy="299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Line 7">
              <a:extLst>
                <a:ext uri="{FF2B5EF4-FFF2-40B4-BE49-F238E27FC236}">
                  <a16:creationId xmlns:a16="http://schemas.microsoft.com/office/drawing/2014/main" id="{25381741-55F5-4CF8-8F13-E887161531D8}"/>
                </a:ext>
              </a:extLst>
            </p:cNvPr>
            <p:cNvSpPr>
              <a:spLocks noChangeShapeType="1"/>
            </p:cNvSpPr>
            <p:nvPr/>
          </p:nvSpPr>
          <p:spPr bwMode="auto">
            <a:xfrm>
              <a:off x="3163" y="3243"/>
              <a:ext cx="447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2034748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A0BF69-1AED-46A7-A5D3-D2B424CD3C54}"/>
              </a:ext>
            </a:extLst>
          </p:cNvPr>
          <p:cNvSpPr>
            <a:spLocks noGrp="1"/>
          </p:cNvSpPr>
          <p:nvPr>
            <p:ph idx="1"/>
          </p:nvPr>
        </p:nvSpPr>
        <p:spPr>
          <a:xfrm>
            <a:off x="22259" y="870858"/>
            <a:ext cx="9102490" cy="5958900"/>
          </a:xfrm>
        </p:spPr>
        <p:txBody>
          <a:bodyPr>
            <a:normAutofit fontScale="85000" lnSpcReduction="10000"/>
          </a:bodyPr>
          <a:lstStyle/>
          <a:p>
            <a:pPr marL="0" indent="0">
              <a:buNone/>
            </a:pPr>
            <a:r>
              <a:rPr lang="vi-VN"/>
              <a:t>Hãy tạo một ứng dụng mới dựa trên mẫu </a:t>
            </a:r>
            <a:r>
              <a:rPr lang="en-US" b="1"/>
              <a:t>Dialog without Buttons</a:t>
            </a:r>
            <a:r>
              <a:rPr lang="vi-VN"/>
              <a:t>. Ứng dụng này sẽ hiển thị các loại chuyến bay khác nhau cùng với giá tương ứng của chúng. Khi người dùng chọn loại chuyến bay, giá của nó sẽ được hiển thị trên màn hình:</a:t>
            </a:r>
            <a:endParaRPr lang="en-US"/>
          </a:p>
          <a:p>
            <a:pPr marL="0" indent="0">
              <a:buNone/>
            </a:pPr>
            <a:r>
              <a:rPr lang="vi-VN"/>
              <a:t>1. Kéo và thả </a:t>
            </a:r>
            <a:r>
              <a:rPr lang="en-US"/>
              <a:t>2 widget Label </a:t>
            </a:r>
            <a:r>
              <a:rPr lang="vi-VN"/>
              <a:t>và </a:t>
            </a:r>
            <a:r>
              <a:rPr lang="en-US"/>
              <a:t>3 widget </a:t>
            </a:r>
            <a:r>
              <a:rPr lang="vi-VN"/>
              <a:t>Radio </a:t>
            </a:r>
            <a:r>
              <a:rPr lang="en-US"/>
              <a:t>Button </a:t>
            </a:r>
            <a:r>
              <a:rPr lang="vi-VN"/>
              <a:t>vào </a:t>
            </a:r>
            <a:r>
              <a:rPr lang="en-US"/>
              <a:t>form</a:t>
            </a:r>
            <a:r>
              <a:rPr lang="vi-VN"/>
              <a:t>.</a:t>
            </a:r>
          </a:p>
          <a:p>
            <a:pPr marL="0" indent="0">
              <a:buNone/>
            </a:pPr>
            <a:r>
              <a:rPr lang="vi-VN"/>
              <a:t>2. Đặt thuộc tính văn bản của </a:t>
            </a:r>
            <a:r>
              <a:rPr lang="en-US"/>
              <a:t>widget Label </a:t>
            </a:r>
            <a:r>
              <a:rPr lang="vi-VN"/>
              <a:t>đầu tiên thành </a:t>
            </a:r>
            <a:r>
              <a:rPr lang="en-US"/>
              <a:t>Choose the flight type </a:t>
            </a:r>
            <a:r>
              <a:rPr lang="vi-VN"/>
              <a:t>và xóa thuộc tính </a:t>
            </a:r>
            <a:r>
              <a:rPr lang="en-US"/>
              <a:t>text của widget Label </a:t>
            </a:r>
            <a:r>
              <a:rPr lang="vi-VN"/>
              <a:t>thứ hai; nó sẽ được sử dụng để hiển thị giá của loại chuyến bay đã chọn.</a:t>
            </a:r>
          </a:p>
          <a:p>
            <a:pPr marL="0" indent="0">
              <a:buNone/>
            </a:pPr>
            <a:r>
              <a:rPr lang="vi-VN"/>
              <a:t>3. Đặt thuộc tính văn bản của </a:t>
            </a:r>
            <a:r>
              <a:rPr lang="en-US"/>
              <a:t>3 widget </a:t>
            </a:r>
            <a:r>
              <a:rPr lang="vi-VN"/>
              <a:t>Radio </a:t>
            </a:r>
            <a:r>
              <a:rPr lang="en-US"/>
              <a:t>Button </a:t>
            </a:r>
            <a:r>
              <a:rPr lang="vi-VN"/>
              <a:t>thành </a:t>
            </a:r>
            <a:r>
              <a:rPr lang="en-US"/>
              <a:t>First Class $150</a:t>
            </a:r>
            <a:r>
              <a:rPr lang="vi-VN"/>
              <a:t>, </a:t>
            </a:r>
            <a:r>
              <a:rPr lang="en-US"/>
              <a:t>Business Class $125</a:t>
            </a:r>
            <a:r>
              <a:rPr lang="vi-VN"/>
              <a:t> và </a:t>
            </a:r>
            <a:r>
              <a:rPr lang="en-US"/>
              <a:t>Economy Class $100</a:t>
            </a:r>
            <a:r>
              <a:rPr lang="vi-VN"/>
              <a:t>.</a:t>
            </a:r>
          </a:p>
          <a:p>
            <a:pPr marL="0" indent="0">
              <a:buNone/>
            </a:pPr>
            <a:r>
              <a:rPr lang="vi-VN"/>
              <a:t>4. Đặt thuộc tính </a:t>
            </a:r>
            <a:r>
              <a:rPr lang="vi-VN" b="1"/>
              <a:t>objectName</a:t>
            </a:r>
            <a:r>
              <a:rPr lang="vi-VN"/>
              <a:t> của </a:t>
            </a:r>
            <a:r>
              <a:rPr lang="en-US"/>
              <a:t>widget Label </a:t>
            </a:r>
            <a:r>
              <a:rPr lang="vi-VN"/>
              <a:t>thứ hai thành </a:t>
            </a:r>
            <a:r>
              <a:rPr lang="en-US">
                <a:latin typeface="Courier New" panose="02070309020205020404" pitchFamily="49" charset="0"/>
                <a:cs typeface="Courier New" panose="02070309020205020404" pitchFamily="49" charset="0"/>
              </a:rPr>
              <a:t>labelFare</a:t>
            </a:r>
            <a:r>
              <a:rPr lang="vi-VN"/>
              <a:t>. Tên đối tượng mặc định của ba nút radio là radioButton, radioButton_2 và radioButton_3. Thay đổi thuộc tính </a:t>
            </a:r>
            <a:r>
              <a:rPr lang="vi-VN" b="1"/>
              <a:t>objectName</a:t>
            </a:r>
            <a:r>
              <a:rPr lang="vi-VN"/>
              <a:t> của ba nút radio này thành </a:t>
            </a:r>
            <a:r>
              <a:rPr lang="vi-VN">
                <a:latin typeface="Courier New" panose="02070309020205020404" pitchFamily="49" charset="0"/>
                <a:cs typeface="Courier New" panose="02070309020205020404" pitchFamily="49" charset="0"/>
              </a:rPr>
              <a:t>radioButtonFirstClass</a:t>
            </a:r>
            <a:r>
              <a:rPr lang="vi-VN"/>
              <a:t>, </a:t>
            </a:r>
            <a:r>
              <a:rPr lang="vi-VN">
                <a:latin typeface="Courier New" panose="02070309020205020404" pitchFamily="49" charset="0"/>
                <a:cs typeface="Courier New" panose="02070309020205020404" pitchFamily="49" charset="0"/>
              </a:rPr>
              <a:t>radioButtonBusinessClass</a:t>
            </a:r>
            <a:r>
              <a:rPr lang="vi-VN"/>
              <a:t> và </a:t>
            </a:r>
            <a:r>
              <a:rPr lang="vi-VN">
                <a:latin typeface="Courier New" panose="02070309020205020404" pitchFamily="49" charset="0"/>
                <a:cs typeface="Courier New" panose="02070309020205020404" pitchFamily="49" charset="0"/>
              </a:rPr>
              <a:t>radioButtonEconomyClass</a:t>
            </a:r>
            <a:r>
              <a:rPr lang="vi-VN"/>
              <a:t>.</a:t>
            </a:r>
          </a:p>
          <a:p>
            <a:pPr marL="0" indent="0">
              <a:buNone/>
            </a:pPr>
            <a:r>
              <a:rPr lang="vi-VN"/>
              <a:t>5. Lưu ứng dụng với tên demoRadioButton1.ui.</a:t>
            </a:r>
            <a:endParaRPr lang="en-US"/>
          </a:p>
        </p:txBody>
      </p:sp>
      <p:sp>
        <p:nvSpPr>
          <p:cNvPr id="4" name="Title 1">
            <a:extLst>
              <a:ext uri="{FF2B5EF4-FFF2-40B4-BE49-F238E27FC236}">
                <a16:creationId xmlns:a16="http://schemas.microsoft.com/office/drawing/2014/main" id="{CE16A282-D1AE-41E1-B3AD-DD51D70AB3C2}"/>
              </a:ext>
            </a:extLst>
          </p:cNvPr>
          <p:cNvSpPr>
            <a:spLocks noGrp="1"/>
          </p:cNvSpPr>
          <p:nvPr>
            <p:ph type="title"/>
          </p:nvPr>
        </p:nvSpPr>
        <p:spPr>
          <a:xfrm>
            <a:off x="22259" y="28245"/>
            <a:ext cx="9102490" cy="738110"/>
          </a:xfrm>
        </p:spPr>
        <p:txBody>
          <a:bodyPr/>
          <a:lstStyle/>
          <a:p>
            <a:r>
              <a:rPr lang="en-US"/>
              <a:t>Ch</a:t>
            </a:r>
            <a:r>
              <a:rPr lang="vi-VN"/>
              <a:t>ư</a:t>
            </a:r>
            <a:r>
              <a:rPr lang="en-US"/>
              <a:t>ơng trình demo Radio Button (t.t)</a:t>
            </a:r>
          </a:p>
        </p:txBody>
      </p:sp>
    </p:spTree>
    <p:extLst>
      <p:ext uri="{BB962C8B-B14F-4D97-AF65-F5344CB8AC3E}">
        <p14:creationId xmlns:p14="http://schemas.microsoft.com/office/powerpoint/2010/main" val="12250847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0683B6-22C8-46BF-A97D-9FA56D5F3E41}"/>
              </a:ext>
            </a:extLst>
          </p:cNvPr>
          <p:cNvSpPr/>
          <p:nvPr/>
        </p:nvSpPr>
        <p:spPr>
          <a:xfrm>
            <a:off x="8709" y="0"/>
            <a:ext cx="9144000" cy="6894195"/>
          </a:xfrm>
          <a:prstGeom prst="rect">
            <a:avLst/>
          </a:prstGeom>
        </p:spPr>
        <p:txBody>
          <a:bodyPr wrap="square">
            <a:spAutoFit/>
          </a:bodyPr>
          <a:lstStyle/>
          <a:p>
            <a:r>
              <a:rPr lang="en-US" sz="1700">
                <a:solidFill>
                  <a:srgbClr val="4B69C6"/>
                </a:solidFill>
                <a:latin typeface="Consolas" panose="020B0609020204030204" pitchFamily="49" charset="0"/>
              </a:rPr>
              <a:t>import</a:t>
            </a:r>
            <a:r>
              <a:rPr lang="en-US" sz="1700">
                <a:solidFill>
                  <a:srgbClr val="333333"/>
                </a:solidFill>
                <a:latin typeface="Consolas" panose="020B0609020204030204" pitchFamily="49" charset="0"/>
              </a:rPr>
              <a:t> sys</a:t>
            </a:r>
            <a:br>
              <a:rPr lang="en-US" sz="1700">
                <a:solidFill>
                  <a:srgbClr val="333333"/>
                </a:solidFill>
                <a:latin typeface="Consolas" panose="020B0609020204030204" pitchFamily="49" charset="0"/>
              </a:rPr>
            </a:br>
            <a:r>
              <a:rPr lang="en-US" sz="1700">
                <a:solidFill>
                  <a:srgbClr val="4B69C6"/>
                </a:solidFill>
                <a:latin typeface="Consolas" panose="020B0609020204030204" pitchFamily="49" charset="0"/>
              </a:rPr>
              <a:t>from</a:t>
            </a:r>
            <a:r>
              <a:rPr lang="en-US" sz="1700">
                <a:solidFill>
                  <a:srgbClr val="333333"/>
                </a:solidFill>
                <a:latin typeface="Consolas" panose="020B0609020204030204" pitchFamily="49" charset="0"/>
              </a:rPr>
              <a:t> PyQt5</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QtWidgets </a:t>
            </a:r>
            <a:r>
              <a:rPr lang="en-US" sz="1700">
                <a:solidFill>
                  <a:srgbClr val="4B69C6"/>
                </a:solidFill>
                <a:latin typeface="Consolas" panose="020B0609020204030204" pitchFamily="49" charset="0"/>
              </a:rPr>
              <a:t>import</a:t>
            </a:r>
            <a:r>
              <a:rPr lang="en-US" sz="1700">
                <a:solidFill>
                  <a:srgbClr val="333333"/>
                </a:solidFill>
                <a:latin typeface="Consolas" panose="020B0609020204030204" pitchFamily="49" charset="0"/>
              </a:rPr>
              <a:t> QDialog</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QApplication</a:t>
            </a:r>
            <a:br>
              <a:rPr lang="en-US" sz="1700">
                <a:solidFill>
                  <a:srgbClr val="333333"/>
                </a:solidFill>
                <a:latin typeface="Consolas" panose="020B0609020204030204" pitchFamily="49" charset="0"/>
              </a:rPr>
            </a:br>
            <a:r>
              <a:rPr lang="en-US" sz="1700">
                <a:solidFill>
                  <a:srgbClr val="4B69C6"/>
                </a:solidFill>
                <a:latin typeface="Consolas" panose="020B0609020204030204" pitchFamily="49" charset="0"/>
              </a:rPr>
              <a:t>from</a:t>
            </a:r>
            <a:r>
              <a:rPr lang="en-US" sz="1700">
                <a:solidFill>
                  <a:srgbClr val="333333"/>
                </a:solidFill>
                <a:latin typeface="Consolas" panose="020B0609020204030204" pitchFamily="49" charset="0"/>
              </a:rPr>
              <a:t> demoRadioButton1 </a:t>
            </a:r>
            <a:r>
              <a:rPr lang="en-US" sz="1700">
                <a:solidFill>
                  <a:srgbClr val="4B69C6"/>
                </a:solidFill>
                <a:latin typeface="Consolas" panose="020B0609020204030204" pitchFamily="49" charset="0"/>
              </a:rPr>
              <a:t>import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a:t>
            </a:r>
            <a:br>
              <a:rPr lang="en-US" sz="1700">
                <a:solidFill>
                  <a:srgbClr val="333333"/>
                </a:solidFill>
                <a:latin typeface="Consolas" panose="020B0609020204030204" pitchFamily="49" charset="0"/>
              </a:rPr>
            </a:br>
            <a:r>
              <a:rPr lang="en-US" sz="1700">
                <a:solidFill>
                  <a:srgbClr val="7A3E9D"/>
                </a:solidFill>
                <a:latin typeface="Consolas" panose="020B0609020204030204" pitchFamily="49" charset="0"/>
              </a:rPr>
              <a:t>class</a:t>
            </a:r>
            <a:r>
              <a:rPr lang="en-US" sz="1700">
                <a:solidFill>
                  <a:srgbClr val="333333"/>
                </a:solidFill>
                <a:latin typeface="Consolas" panose="020B0609020204030204" pitchFamily="49" charset="0"/>
              </a:rPr>
              <a:t> </a:t>
            </a:r>
            <a:r>
              <a:rPr lang="en-US" sz="1700" b="1">
                <a:solidFill>
                  <a:srgbClr val="7A3E9D"/>
                </a:solidFill>
                <a:latin typeface="Consolas" panose="020B0609020204030204" pitchFamily="49" charset="0"/>
              </a:rPr>
              <a:t>MyForm</a:t>
            </a:r>
            <a:r>
              <a:rPr lang="en-US" sz="1700">
                <a:solidFill>
                  <a:srgbClr val="777777"/>
                </a:solidFill>
                <a:latin typeface="Consolas" panose="020B0609020204030204" pitchFamily="49" charset="0"/>
              </a:rPr>
              <a:t>(</a:t>
            </a:r>
            <a:r>
              <a:rPr lang="en-US" sz="1700" b="1">
                <a:solidFill>
                  <a:srgbClr val="7A3E9D"/>
                </a:solidFill>
                <a:latin typeface="Consolas" panose="020B0609020204030204" pitchFamily="49" charset="0"/>
              </a:rPr>
              <a:t>QDialog</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r>
              <a:rPr lang="en-US" sz="1700">
                <a:solidFill>
                  <a:srgbClr val="7A3E9D"/>
                </a:solidFill>
                <a:latin typeface="Consolas" panose="020B0609020204030204" pitchFamily="49" charset="0"/>
              </a:rPr>
              <a:t>  def</a:t>
            </a:r>
            <a:r>
              <a:rPr lang="en-US" sz="1700">
                <a:solidFill>
                  <a:srgbClr val="333333"/>
                </a:solidFill>
                <a:latin typeface="Consolas" panose="020B0609020204030204" pitchFamily="49" charset="0"/>
              </a:rPr>
              <a:t> </a:t>
            </a:r>
            <a:r>
              <a:rPr lang="en-US" sz="1700" b="1">
                <a:solidFill>
                  <a:srgbClr val="AA3731"/>
                </a:solidFill>
                <a:latin typeface="Consolas" panose="020B0609020204030204" pitchFamily="49" charset="0"/>
              </a:rPr>
              <a:t>__init__</a:t>
            </a:r>
            <a:r>
              <a:rPr lang="en-US" sz="1700">
                <a:solidFill>
                  <a:srgbClr val="777777"/>
                </a:solidFill>
                <a:latin typeface="Consolas" panose="020B0609020204030204" pitchFamily="49" charset="0"/>
              </a:rPr>
              <a:t>(</a:t>
            </a:r>
            <a:r>
              <a:rPr lang="en-US" sz="1700">
                <a:solidFill>
                  <a:srgbClr val="7A3E9D"/>
                </a:solidFill>
                <a:latin typeface="Consolas" panose="020B0609020204030204" pitchFamily="49" charset="0"/>
              </a:rPr>
              <a:t>self</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r>
              <a:rPr lang="en-US" sz="1700">
                <a:solidFill>
                  <a:srgbClr val="7A3E9D"/>
                </a:solidFill>
                <a:latin typeface="Consolas" panose="020B0609020204030204" pitchFamily="49" charset="0"/>
              </a:rPr>
              <a:t>    super</a:t>
            </a:r>
            <a:r>
              <a:rPr lang="en-US" sz="1700">
                <a:solidFill>
                  <a:srgbClr val="777777"/>
                </a:solidFill>
                <a:latin typeface="Consolas" panose="020B0609020204030204" pitchFamily="49" charset="0"/>
              </a:rPr>
              <a:t>().</a:t>
            </a:r>
            <a:r>
              <a:rPr lang="en-US" sz="1700" b="1">
                <a:solidFill>
                  <a:srgbClr val="AA3731"/>
                </a:solidFill>
                <a:latin typeface="Consolas" panose="020B0609020204030204" pitchFamily="49" charset="0"/>
              </a:rPr>
              <a:t>__init__</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r>
              <a:rPr lang="en-US" sz="1700">
                <a:solidFill>
                  <a:srgbClr val="9C5D27"/>
                </a:solidFill>
                <a:latin typeface="Consolas" panose="020B0609020204030204" pitchFamily="49" charset="0"/>
              </a:rPr>
              <a:t>    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Ui_Dialog</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r>
              <a:rPr lang="en-US" sz="1700">
                <a:solidFill>
                  <a:srgbClr val="9C5D27"/>
                </a:solidFill>
                <a:latin typeface="Consolas" panose="020B0609020204030204" pitchFamily="49" charset="0"/>
              </a:rPr>
              <a:t>    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setupUi</a:t>
            </a:r>
            <a:r>
              <a:rPr lang="en-US" sz="1700">
                <a:solidFill>
                  <a:srgbClr val="777777"/>
                </a:solidFill>
                <a:latin typeface="Consolas" panose="020B0609020204030204" pitchFamily="49" charset="0"/>
              </a:rPr>
              <a:t>(</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r>
              <a:rPr lang="en-US" sz="1700">
                <a:solidFill>
                  <a:srgbClr val="9C5D27"/>
                </a:solidFill>
                <a:latin typeface="Consolas" panose="020B0609020204030204" pitchFamily="49" charset="0"/>
              </a:rPr>
              <a:t>    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radioButtonFirstClass</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toggled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connect</a:t>
            </a:r>
            <a:r>
              <a:rPr lang="en-US" sz="1700">
                <a:solidFill>
                  <a:srgbClr val="777777"/>
                </a:solidFill>
                <a:latin typeface="Consolas" panose="020B0609020204030204" pitchFamily="49" charset="0"/>
              </a:rPr>
              <a:t>(</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dispFare</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r>
              <a:rPr lang="en-US" sz="1700">
                <a:solidFill>
                  <a:srgbClr val="9C5D27"/>
                </a:solidFill>
                <a:latin typeface="Consolas" panose="020B0609020204030204" pitchFamily="49" charset="0"/>
              </a:rPr>
              <a:t>    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radioButtonBusinessClass</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toggled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connect</a:t>
            </a:r>
            <a:r>
              <a:rPr lang="en-US" sz="1700">
                <a:solidFill>
                  <a:srgbClr val="777777"/>
                </a:solidFill>
                <a:latin typeface="Consolas" panose="020B0609020204030204" pitchFamily="49" charset="0"/>
              </a:rPr>
              <a:t>(</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dispFare</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r>
              <a:rPr lang="en-US" sz="1700">
                <a:solidFill>
                  <a:srgbClr val="9C5D27"/>
                </a:solidFill>
                <a:latin typeface="Consolas" panose="020B0609020204030204" pitchFamily="49" charset="0"/>
              </a:rPr>
              <a:t>    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radioButtonEconomyClass</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toggled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connect</a:t>
            </a:r>
            <a:r>
              <a:rPr lang="en-US" sz="1700">
                <a:solidFill>
                  <a:srgbClr val="777777"/>
                </a:solidFill>
                <a:latin typeface="Consolas" panose="020B0609020204030204" pitchFamily="49" charset="0"/>
              </a:rPr>
              <a:t>(</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dispFare</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r>
              <a:rPr lang="en-US" sz="1700">
                <a:solidFill>
                  <a:srgbClr val="9C5D27"/>
                </a:solidFill>
                <a:latin typeface="Consolas" panose="020B0609020204030204" pitchFamily="49" charset="0"/>
              </a:rPr>
              <a:t>    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show</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r>
              <a:rPr lang="en-US" sz="1700">
                <a:solidFill>
                  <a:srgbClr val="333333"/>
                </a:solidFill>
                <a:latin typeface="Consolas" panose="020B0609020204030204" pitchFamily="49" charset="0"/>
              </a:rPr>
              <a:t>  </a:t>
            </a:r>
            <a:r>
              <a:rPr lang="en-US" sz="1700">
                <a:solidFill>
                  <a:srgbClr val="7A3E9D"/>
                </a:solidFill>
                <a:latin typeface="Consolas" panose="020B0609020204030204" pitchFamily="49" charset="0"/>
              </a:rPr>
              <a:t>def</a:t>
            </a:r>
            <a:r>
              <a:rPr lang="en-US" sz="1700">
                <a:solidFill>
                  <a:srgbClr val="333333"/>
                </a:solidFill>
                <a:latin typeface="Consolas" panose="020B0609020204030204" pitchFamily="49" charset="0"/>
              </a:rPr>
              <a:t> </a:t>
            </a:r>
            <a:r>
              <a:rPr lang="en-US" sz="1700" b="1">
                <a:solidFill>
                  <a:srgbClr val="AA3731"/>
                </a:solidFill>
                <a:latin typeface="Consolas" panose="020B0609020204030204" pitchFamily="49" charset="0"/>
              </a:rPr>
              <a:t>dispFare</a:t>
            </a:r>
            <a:r>
              <a:rPr lang="en-US" sz="1700">
                <a:solidFill>
                  <a:srgbClr val="777777"/>
                </a:solidFill>
                <a:latin typeface="Consolas" panose="020B0609020204030204" pitchFamily="49" charset="0"/>
              </a:rPr>
              <a:t>(</a:t>
            </a:r>
            <a:r>
              <a:rPr lang="en-US" sz="1700">
                <a:solidFill>
                  <a:srgbClr val="7A3E9D"/>
                </a:solidFill>
                <a:latin typeface="Consolas" panose="020B0609020204030204" pitchFamily="49" charset="0"/>
              </a:rPr>
              <a:t>self</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r>
              <a:rPr lang="en-US" sz="1700">
                <a:solidFill>
                  <a:srgbClr val="333333"/>
                </a:solidFill>
                <a:latin typeface="Consolas" panose="020B0609020204030204" pitchFamily="49" charset="0"/>
              </a:rPr>
              <a:t>    fare</a:t>
            </a:r>
            <a:r>
              <a:rPr lang="en-US" sz="1700">
                <a:solidFill>
                  <a:srgbClr val="777777"/>
                </a:solidFill>
                <a:latin typeface="Consolas" panose="020B0609020204030204" pitchFamily="49" charset="0"/>
              </a:rPr>
              <a:t>=</a:t>
            </a:r>
            <a:r>
              <a:rPr lang="en-US" sz="1700">
                <a:solidFill>
                  <a:srgbClr val="9C5D27"/>
                </a:solidFill>
                <a:latin typeface="Consolas" panose="020B0609020204030204" pitchFamily="49" charset="0"/>
              </a:rPr>
              <a:t>0</a:t>
            </a:r>
            <a:endParaRPr lang="en-US" sz="1700">
              <a:solidFill>
                <a:srgbClr val="333333"/>
              </a:solidFill>
              <a:latin typeface="Consolas" panose="020B0609020204030204" pitchFamily="49" charset="0"/>
            </a:endParaRPr>
          </a:p>
          <a:p>
            <a:r>
              <a:rPr lang="en-US" sz="1700">
                <a:solidFill>
                  <a:srgbClr val="4B69C6"/>
                </a:solidFill>
                <a:latin typeface="Consolas" panose="020B0609020204030204" pitchFamily="49" charset="0"/>
              </a:rPr>
              <a:t>    if</a:t>
            </a:r>
            <a:r>
              <a:rPr lang="en-US" sz="1700">
                <a:solidFill>
                  <a:srgbClr val="333333"/>
                </a:solidFill>
                <a:latin typeface="Consolas" panose="020B0609020204030204" pitchFamily="49" charset="0"/>
              </a:rPr>
              <a:t> </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radioButtonFirstClass</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isChecked</a:t>
            </a:r>
            <a:r>
              <a:rPr lang="en-US" sz="1700">
                <a:solidFill>
                  <a:srgbClr val="777777"/>
                </a:solidFill>
                <a:latin typeface="Consolas" panose="020B0609020204030204" pitchFamily="49" charset="0"/>
              </a:rPr>
              <a:t>()==</a:t>
            </a:r>
            <a:r>
              <a:rPr lang="en-US" sz="1700">
                <a:solidFill>
                  <a:srgbClr val="9C5D27"/>
                </a:solidFill>
                <a:latin typeface="Consolas" panose="020B0609020204030204" pitchFamily="49" charset="0"/>
              </a:rPr>
              <a:t>True</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r>
              <a:rPr lang="en-US" sz="1700">
                <a:solidFill>
                  <a:srgbClr val="333333"/>
                </a:solidFill>
                <a:latin typeface="Consolas" panose="020B0609020204030204" pitchFamily="49" charset="0"/>
              </a:rPr>
              <a:t>      fare</a:t>
            </a:r>
            <a:r>
              <a:rPr lang="en-US" sz="1700">
                <a:solidFill>
                  <a:srgbClr val="777777"/>
                </a:solidFill>
                <a:latin typeface="Consolas" panose="020B0609020204030204" pitchFamily="49" charset="0"/>
              </a:rPr>
              <a:t>=</a:t>
            </a:r>
            <a:r>
              <a:rPr lang="en-US" sz="1700">
                <a:solidFill>
                  <a:srgbClr val="9C5D27"/>
                </a:solidFill>
                <a:latin typeface="Consolas" panose="020B0609020204030204" pitchFamily="49" charset="0"/>
              </a:rPr>
              <a:t>150</a:t>
            </a:r>
            <a:endParaRPr lang="en-US" sz="1700">
              <a:solidFill>
                <a:srgbClr val="333333"/>
              </a:solidFill>
              <a:latin typeface="Consolas" panose="020B0609020204030204" pitchFamily="49" charset="0"/>
            </a:endParaRPr>
          </a:p>
          <a:p>
            <a:r>
              <a:rPr lang="en-US" sz="1700">
                <a:solidFill>
                  <a:srgbClr val="4B69C6"/>
                </a:solidFill>
                <a:latin typeface="Consolas" panose="020B0609020204030204" pitchFamily="49" charset="0"/>
              </a:rPr>
              <a:t>    if</a:t>
            </a:r>
            <a:r>
              <a:rPr lang="en-US" sz="1700">
                <a:solidFill>
                  <a:srgbClr val="333333"/>
                </a:solidFill>
                <a:latin typeface="Consolas" panose="020B0609020204030204" pitchFamily="49" charset="0"/>
              </a:rPr>
              <a:t> </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radioButtonBusinessClass</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isChecked</a:t>
            </a:r>
            <a:r>
              <a:rPr lang="en-US" sz="1700">
                <a:solidFill>
                  <a:srgbClr val="777777"/>
                </a:solidFill>
                <a:latin typeface="Consolas" panose="020B0609020204030204" pitchFamily="49" charset="0"/>
              </a:rPr>
              <a:t>()==</a:t>
            </a:r>
            <a:r>
              <a:rPr lang="en-US" sz="1700">
                <a:solidFill>
                  <a:srgbClr val="9C5D27"/>
                </a:solidFill>
                <a:latin typeface="Consolas" panose="020B0609020204030204" pitchFamily="49" charset="0"/>
              </a:rPr>
              <a:t>True</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r>
              <a:rPr lang="en-US" sz="1700">
                <a:solidFill>
                  <a:srgbClr val="333333"/>
                </a:solidFill>
                <a:latin typeface="Consolas" panose="020B0609020204030204" pitchFamily="49" charset="0"/>
              </a:rPr>
              <a:t>      fare</a:t>
            </a:r>
            <a:r>
              <a:rPr lang="en-US" sz="1700">
                <a:solidFill>
                  <a:srgbClr val="777777"/>
                </a:solidFill>
                <a:latin typeface="Consolas" panose="020B0609020204030204" pitchFamily="49" charset="0"/>
              </a:rPr>
              <a:t>=</a:t>
            </a:r>
            <a:r>
              <a:rPr lang="en-US" sz="1700">
                <a:solidFill>
                  <a:srgbClr val="9C5D27"/>
                </a:solidFill>
                <a:latin typeface="Consolas" panose="020B0609020204030204" pitchFamily="49" charset="0"/>
              </a:rPr>
              <a:t>125</a:t>
            </a:r>
            <a:endParaRPr lang="en-US" sz="1700">
              <a:solidFill>
                <a:srgbClr val="333333"/>
              </a:solidFill>
              <a:latin typeface="Consolas" panose="020B0609020204030204" pitchFamily="49" charset="0"/>
            </a:endParaRPr>
          </a:p>
          <a:p>
            <a:r>
              <a:rPr lang="en-US" sz="1700">
                <a:solidFill>
                  <a:srgbClr val="4B69C6"/>
                </a:solidFill>
                <a:latin typeface="Consolas" panose="020B0609020204030204" pitchFamily="49" charset="0"/>
              </a:rPr>
              <a:t>    if</a:t>
            </a:r>
            <a:r>
              <a:rPr lang="en-US" sz="1700">
                <a:solidFill>
                  <a:srgbClr val="333333"/>
                </a:solidFill>
                <a:latin typeface="Consolas" panose="020B0609020204030204" pitchFamily="49" charset="0"/>
              </a:rPr>
              <a:t> </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radioButtonEconomyClass</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isChecked</a:t>
            </a:r>
            <a:r>
              <a:rPr lang="en-US" sz="1700">
                <a:solidFill>
                  <a:srgbClr val="777777"/>
                </a:solidFill>
                <a:latin typeface="Consolas" panose="020B0609020204030204" pitchFamily="49" charset="0"/>
              </a:rPr>
              <a:t>()==</a:t>
            </a:r>
            <a:r>
              <a:rPr lang="en-US" sz="1700">
                <a:solidFill>
                  <a:srgbClr val="9C5D27"/>
                </a:solidFill>
                <a:latin typeface="Consolas" panose="020B0609020204030204" pitchFamily="49" charset="0"/>
              </a:rPr>
              <a:t>True</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r>
              <a:rPr lang="en-US" sz="1700">
                <a:solidFill>
                  <a:srgbClr val="333333"/>
                </a:solidFill>
                <a:latin typeface="Consolas" panose="020B0609020204030204" pitchFamily="49" charset="0"/>
              </a:rPr>
              <a:t>      fare</a:t>
            </a:r>
            <a:r>
              <a:rPr lang="en-US" sz="1700">
                <a:solidFill>
                  <a:srgbClr val="777777"/>
                </a:solidFill>
                <a:latin typeface="Consolas" panose="020B0609020204030204" pitchFamily="49" charset="0"/>
              </a:rPr>
              <a:t>=</a:t>
            </a:r>
            <a:r>
              <a:rPr lang="en-US" sz="1700">
                <a:solidFill>
                  <a:srgbClr val="9C5D27"/>
                </a:solidFill>
                <a:latin typeface="Consolas" panose="020B0609020204030204" pitchFamily="49" charset="0"/>
              </a:rPr>
              <a:t>100</a:t>
            </a:r>
            <a:endParaRPr lang="en-US" sz="1700">
              <a:solidFill>
                <a:srgbClr val="333333"/>
              </a:solidFill>
              <a:latin typeface="Consolas" panose="020B0609020204030204" pitchFamily="49" charset="0"/>
            </a:endParaRPr>
          </a:p>
          <a:p>
            <a:r>
              <a:rPr lang="en-US" sz="1700">
                <a:solidFill>
                  <a:srgbClr val="9C5D27"/>
                </a:solidFill>
                <a:latin typeface="Consolas" panose="020B0609020204030204" pitchFamily="49" charset="0"/>
              </a:rPr>
              <a:t>      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labelFare</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setText</a:t>
            </a:r>
            <a:r>
              <a:rPr lang="en-US" sz="1700">
                <a:solidFill>
                  <a:srgbClr val="777777"/>
                </a:solidFill>
                <a:latin typeface="Consolas" panose="020B0609020204030204" pitchFamily="49" charset="0"/>
              </a:rPr>
              <a:t>("</a:t>
            </a:r>
            <a:r>
              <a:rPr lang="en-US" sz="1700">
                <a:solidFill>
                  <a:srgbClr val="448C27"/>
                </a:solidFill>
                <a:latin typeface="Consolas" panose="020B0609020204030204" pitchFamily="49" charset="0"/>
              </a:rPr>
              <a:t>Air Fare is </a:t>
            </a:r>
            <a:r>
              <a:rPr lang="en-US" sz="1700">
                <a:solidFill>
                  <a:srgbClr val="777777"/>
                </a:solidFill>
                <a:latin typeface="Consolas" panose="020B0609020204030204" pitchFamily="49" charset="0"/>
              </a:rPr>
              <a:t>"+</a:t>
            </a:r>
            <a:r>
              <a:rPr lang="en-US" sz="1700">
                <a:solidFill>
                  <a:srgbClr val="7A3E9D"/>
                </a:solidFill>
                <a:latin typeface="Consolas" panose="020B0609020204030204" pitchFamily="49" charset="0"/>
              </a:rPr>
              <a:t>str</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fare</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r>
              <a:rPr lang="en-US" sz="1700">
                <a:solidFill>
                  <a:srgbClr val="4B69C6"/>
                </a:solidFill>
                <a:latin typeface="Consolas" panose="020B0609020204030204" pitchFamily="49" charset="0"/>
              </a:rPr>
              <a:t>if</a:t>
            </a:r>
            <a:r>
              <a:rPr lang="en-US" sz="1700">
                <a:solidFill>
                  <a:srgbClr val="333333"/>
                </a:solidFill>
                <a:latin typeface="Consolas" panose="020B0609020204030204" pitchFamily="49" charset="0"/>
              </a:rPr>
              <a:t> </a:t>
            </a:r>
            <a:r>
              <a:rPr lang="en-US" sz="1700">
                <a:solidFill>
                  <a:srgbClr val="7A3E9D"/>
                </a:solidFill>
                <a:latin typeface="Consolas" panose="020B0609020204030204" pitchFamily="49" charset="0"/>
              </a:rPr>
              <a:t>__name__</a:t>
            </a:r>
            <a:r>
              <a:rPr lang="en-US" sz="1700">
                <a:solidFill>
                  <a:srgbClr val="777777"/>
                </a:solidFill>
                <a:latin typeface="Consolas" panose="020B0609020204030204" pitchFamily="49" charset="0"/>
              </a:rPr>
              <a:t>=="</a:t>
            </a:r>
            <a:r>
              <a:rPr lang="en-US" sz="1700">
                <a:solidFill>
                  <a:srgbClr val="448C27"/>
                </a:solidFill>
                <a:latin typeface="Consolas" panose="020B0609020204030204" pitchFamily="49" charset="0"/>
              </a:rPr>
              <a:t>__main__</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p>
          <a:p>
            <a:r>
              <a:rPr lang="en-US" sz="1700">
                <a:solidFill>
                  <a:srgbClr val="333333"/>
                </a:solidFill>
                <a:latin typeface="Consolas" panose="020B0609020204030204" pitchFamily="49" charset="0"/>
              </a:rPr>
              <a:t>  app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QApplication</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sys</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argv</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r>
              <a:rPr lang="en-US" sz="1700">
                <a:solidFill>
                  <a:srgbClr val="333333"/>
                </a:solidFill>
                <a:latin typeface="Consolas" panose="020B0609020204030204" pitchFamily="49" charset="0"/>
              </a:rPr>
              <a:t>  w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MyForm</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r>
              <a:rPr lang="en-US" sz="1700">
                <a:solidFill>
                  <a:srgbClr val="333333"/>
                </a:solidFill>
                <a:latin typeface="Consolas" panose="020B0609020204030204" pitchFamily="49" charset="0"/>
              </a:rPr>
              <a:t>  w</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show</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r>
              <a:rPr lang="en-US" sz="1700">
                <a:solidFill>
                  <a:srgbClr val="333333"/>
                </a:solidFill>
                <a:latin typeface="Consolas" panose="020B0609020204030204" pitchFamily="49" charset="0"/>
              </a:rPr>
              <a:t>  sys</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exit</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app</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exec_</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p:txBody>
      </p:sp>
    </p:spTree>
    <p:extLst>
      <p:ext uri="{BB962C8B-B14F-4D97-AF65-F5344CB8AC3E}">
        <p14:creationId xmlns:p14="http://schemas.microsoft.com/office/powerpoint/2010/main" val="19582935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D903B-D7B2-4CFC-BF62-8BF722DAE562}"/>
              </a:ext>
            </a:extLst>
          </p:cNvPr>
          <p:cNvSpPr>
            <a:spLocks noGrp="1"/>
          </p:cNvSpPr>
          <p:nvPr>
            <p:ph type="title"/>
          </p:nvPr>
        </p:nvSpPr>
        <p:spPr>
          <a:xfrm>
            <a:off x="22259" y="28244"/>
            <a:ext cx="9102490" cy="590065"/>
          </a:xfrm>
        </p:spPr>
        <p:txBody>
          <a:bodyPr>
            <a:noAutofit/>
          </a:bodyPr>
          <a:lstStyle/>
          <a:p>
            <a:r>
              <a:rPr lang="en-US" sz="3800" b="1"/>
              <a:t>Cách ch</a:t>
            </a:r>
            <a:r>
              <a:rPr lang="vi-VN" sz="3800" b="1"/>
              <a:t>ư</a:t>
            </a:r>
            <a:r>
              <a:rPr lang="en-US" sz="3800" b="1"/>
              <a:t>ơng trình Radio Button hoạt động...</a:t>
            </a:r>
          </a:p>
        </p:txBody>
      </p:sp>
      <p:sp>
        <p:nvSpPr>
          <p:cNvPr id="3" name="Content Placeholder 2">
            <a:extLst>
              <a:ext uri="{FF2B5EF4-FFF2-40B4-BE49-F238E27FC236}">
                <a16:creationId xmlns:a16="http://schemas.microsoft.com/office/drawing/2014/main" id="{5F3C3DBB-4405-4A84-A17F-89B80521BABF}"/>
              </a:ext>
            </a:extLst>
          </p:cNvPr>
          <p:cNvSpPr>
            <a:spLocks noGrp="1"/>
          </p:cNvSpPr>
          <p:nvPr>
            <p:ph idx="1"/>
          </p:nvPr>
        </p:nvSpPr>
        <p:spPr>
          <a:xfrm>
            <a:off x="22259" y="618310"/>
            <a:ext cx="9102490" cy="6211448"/>
          </a:xfrm>
        </p:spPr>
        <p:txBody>
          <a:bodyPr>
            <a:normAutofit/>
          </a:bodyPr>
          <a:lstStyle/>
          <a:p>
            <a:pPr algn="just"/>
            <a:r>
              <a:rPr lang="vi-VN" sz="2400"/>
              <a:t>Sự kiện </a:t>
            </a:r>
            <a:r>
              <a:rPr lang="vi-VN" sz="2400" b="1"/>
              <a:t>toggled() </a:t>
            </a:r>
            <a:r>
              <a:rPr lang="vi-VN" sz="2400"/>
              <a:t>của </a:t>
            </a:r>
            <a:r>
              <a:rPr lang="vi-VN" sz="2400" b="1"/>
              <a:t>Radio </a:t>
            </a:r>
            <a:r>
              <a:rPr lang="en-US" sz="2400" b="1"/>
              <a:t>Button </a:t>
            </a:r>
            <a:r>
              <a:rPr lang="vi-VN" sz="2400"/>
              <a:t>được kết nối với </a:t>
            </a:r>
            <a:r>
              <a:rPr lang="en-US" sz="2400"/>
              <a:t>hàm </a:t>
            </a:r>
            <a:r>
              <a:rPr lang="vi-VN" sz="2400" b="1">
                <a:latin typeface="Courier New" panose="02070309020205020404" pitchFamily="49" charset="0"/>
                <a:cs typeface="Courier New" panose="02070309020205020404" pitchFamily="49" charset="0"/>
              </a:rPr>
              <a:t>distFare()</a:t>
            </a:r>
            <a:r>
              <a:rPr lang="vi-VN" sz="2400"/>
              <a:t>, sẽ hiển thị giá của loại chuyến bay đã chọn. Trong hàm distFare(), </a:t>
            </a:r>
            <a:r>
              <a:rPr lang="en-US" sz="2400"/>
              <a:t>ta </a:t>
            </a:r>
            <a:r>
              <a:rPr lang="vi-VN" sz="2400"/>
              <a:t>kiểm tra trạng thái của các nút radio</a:t>
            </a:r>
            <a:r>
              <a:rPr lang="en-US" sz="2400"/>
              <a:t>,</a:t>
            </a:r>
            <a:r>
              <a:rPr lang="vi-VN" sz="2400"/>
              <a:t> nếu </a:t>
            </a:r>
            <a:r>
              <a:rPr lang="vi-VN" sz="2400">
                <a:latin typeface="Courier New" panose="02070309020205020404" pitchFamily="49" charset="0"/>
                <a:cs typeface="Courier New" panose="02070309020205020404" pitchFamily="49" charset="0"/>
              </a:rPr>
              <a:t>radioButtonFirstClass</a:t>
            </a:r>
            <a:r>
              <a:rPr lang="vi-VN" sz="2400"/>
              <a:t> được </a:t>
            </a:r>
            <a:r>
              <a:rPr lang="en-US" sz="2400"/>
              <a:t>thì </a:t>
            </a:r>
            <a:r>
              <a:rPr lang="vi-VN" sz="2400"/>
              <a:t>giá trị 50 được gán cho biến </a:t>
            </a:r>
            <a:r>
              <a:rPr lang="en-US" sz="2400"/>
              <a:t>fare</a:t>
            </a:r>
            <a:r>
              <a:rPr lang="vi-VN" sz="2400"/>
              <a:t>. Tương tự, nếu </a:t>
            </a:r>
            <a:r>
              <a:rPr lang="vi-VN" sz="2400">
                <a:latin typeface="Courier New" panose="02070309020205020404" pitchFamily="49" charset="0"/>
                <a:cs typeface="Courier New" panose="02070309020205020404" pitchFamily="49" charset="0"/>
              </a:rPr>
              <a:t>radioButtonBusinessClass</a:t>
            </a:r>
            <a:r>
              <a:rPr lang="vi-VN" sz="2400"/>
              <a:t> được chọn, giá trị 125 được gán cho biến </a:t>
            </a:r>
            <a:r>
              <a:rPr lang="en-US" sz="2400"/>
              <a:t>fare</a:t>
            </a:r>
            <a:r>
              <a:rPr lang="vi-VN" sz="2400"/>
              <a:t>. Tương tự, giá trị 100 được gán cho biến </a:t>
            </a:r>
            <a:r>
              <a:rPr lang="en-US" sz="2400"/>
              <a:t>fare </a:t>
            </a:r>
            <a:r>
              <a:rPr lang="vi-VN" sz="2400"/>
              <a:t>khi </a:t>
            </a:r>
            <a:r>
              <a:rPr lang="vi-VN" sz="2400">
                <a:latin typeface="Courier New" panose="02070309020205020404" pitchFamily="49" charset="0"/>
                <a:cs typeface="Courier New" panose="02070309020205020404" pitchFamily="49" charset="0"/>
              </a:rPr>
              <a:t>radioButtonEconomyClass </a:t>
            </a:r>
            <a:r>
              <a:rPr lang="vi-VN" sz="2400"/>
              <a:t>được chọn. Cuối cùng, giá trị trong biến </a:t>
            </a:r>
            <a:r>
              <a:rPr lang="en-US" sz="2400">
                <a:latin typeface="Courier New" panose="02070309020205020404" pitchFamily="49" charset="0"/>
                <a:cs typeface="Courier New" panose="02070309020205020404" pitchFamily="49" charset="0"/>
              </a:rPr>
              <a:t>fare</a:t>
            </a:r>
            <a:r>
              <a:rPr lang="en-US" sz="2400"/>
              <a:t> </a:t>
            </a:r>
            <a:r>
              <a:rPr lang="vi-VN" sz="2400"/>
              <a:t>được hiển thị qua </a:t>
            </a:r>
            <a:r>
              <a:rPr lang="en-US" sz="2400">
                <a:latin typeface="Courier New" panose="02070309020205020404" pitchFamily="49" charset="0"/>
                <a:cs typeface="Courier New" panose="02070309020205020404" pitchFamily="49" charset="0"/>
              </a:rPr>
              <a:t>labelFare</a:t>
            </a:r>
            <a:r>
              <a:rPr lang="vi-VN" sz="2400"/>
              <a:t>.</a:t>
            </a:r>
            <a:endParaRPr lang="en-US" sz="2400"/>
          </a:p>
        </p:txBody>
      </p:sp>
      <p:grpSp>
        <p:nvGrpSpPr>
          <p:cNvPr id="4" name="Group 2">
            <a:extLst>
              <a:ext uri="{FF2B5EF4-FFF2-40B4-BE49-F238E27FC236}">
                <a16:creationId xmlns:a16="http://schemas.microsoft.com/office/drawing/2014/main" id="{BC3329F1-6CD2-4878-B498-3516C4DB224B}"/>
              </a:ext>
            </a:extLst>
          </p:cNvPr>
          <p:cNvGrpSpPr>
            <a:grpSpLocks/>
          </p:cNvGrpSpPr>
          <p:nvPr/>
        </p:nvGrpSpPr>
        <p:grpSpPr bwMode="auto">
          <a:xfrm>
            <a:off x="4912665" y="3761014"/>
            <a:ext cx="4141528" cy="3068741"/>
            <a:chOff x="3160" y="250"/>
            <a:chExt cx="4480" cy="3040"/>
          </a:xfrm>
        </p:grpSpPr>
        <p:pic>
          <p:nvPicPr>
            <p:cNvPr id="1027" name="Picture 3">
              <a:extLst>
                <a:ext uri="{FF2B5EF4-FFF2-40B4-BE49-F238E27FC236}">
                  <a16:creationId xmlns:a16="http://schemas.microsoft.com/office/drawing/2014/main" id="{41A3C818-C47C-4967-AF6F-E6B15F9116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0" y="326"/>
              <a:ext cx="4440" cy="2943"/>
            </a:xfrm>
            <a:prstGeom prst="rect">
              <a:avLst/>
            </a:prstGeom>
            <a:noFill/>
            <a:extLst>
              <a:ext uri="{909E8E84-426E-40DD-AFC4-6F175D3DCCD1}">
                <a14:hiddenFill xmlns:a14="http://schemas.microsoft.com/office/drawing/2010/main">
                  <a:solidFill>
                    <a:srgbClr val="FFFFFF"/>
                  </a:solidFill>
                </a14:hiddenFill>
              </a:ext>
            </a:extLst>
          </p:spPr>
        </p:pic>
        <p:sp>
          <p:nvSpPr>
            <p:cNvPr id="5" name="Line 4">
              <a:extLst>
                <a:ext uri="{FF2B5EF4-FFF2-40B4-BE49-F238E27FC236}">
                  <a16:creationId xmlns:a16="http://schemas.microsoft.com/office/drawing/2014/main" id="{95CCAB59-C7E6-47C1-8AC8-97747836DF62}"/>
                </a:ext>
              </a:extLst>
            </p:cNvPr>
            <p:cNvSpPr>
              <a:spLocks noChangeShapeType="1"/>
            </p:cNvSpPr>
            <p:nvPr/>
          </p:nvSpPr>
          <p:spPr bwMode="auto">
            <a:xfrm>
              <a:off x="3170" y="260"/>
              <a:ext cx="446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Line 5">
              <a:extLst>
                <a:ext uri="{FF2B5EF4-FFF2-40B4-BE49-F238E27FC236}">
                  <a16:creationId xmlns:a16="http://schemas.microsoft.com/office/drawing/2014/main" id="{D22707A7-92DC-4DCC-BD88-95F8479AEE56}"/>
                </a:ext>
              </a:extLst>
            </p:cNvPr>
            <p:cNvSpPr>
              <a:spLocks noChangeShapeType="1"/>
            </p:cNvSpPr>
            <p:nvPr/>
          </p:nvSpPr>
          <p:spPr bwMode="auto">
            <a:xfrm>
              <a:off x="3170" y="260"/>
              <a:ext cx="0" cy="302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Line 6">
              <a:extLst>
                <a:ext uri="{FF2B5EF4-FFF2-40B4-BE49-F238E27FC236}">
                  <a16:creationId xmlns:a16="http://schemas.microsoft.com/office/drawing/2014/main" id="{E4453281-5D17-4C4E-A659-EE3247051BD8}"/>
                </a:ext>
              </a:extLst>
            </p:cNvPr>
            <p:cNvSpPr>
              <a:spLocks noChangeShapeType="1"/>
            </p:cNvSpPr>
            <p:nvPr/>
          </p:nvSpPr>
          <p:spPr bwMode="auto">
            <a:xfrm>
              <a:off x="7630" y="260"/>
              <a:ext cx="0" cy="302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Line 7">
              <a:extLst>
                <a:ext uri="{FF2B5EF4-FFF2-40B4-BE49-F238E27FC236}">
                  <a16:creationId xmlns:a16="http://schemas.microsoft.com/office/drawing/2014/main" id="{C301C5AD-4E22-4DB5-A2FA-88EA61511C25}"/>
                </a:ext>
              </a:extLst>
            </p:cNvPr>
            <p:cNvSpPr>
              <a:spLocks noChangeShapeType="1"/>
            </p:cNvSpPr>
            <p:nvPr/>
          </p:nvSpPr>
          <p:spPr bwMode="auto">
            <a:xfrm>
              <a:off x="3170" y="3280"/>
              <a:ext cx="446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0" name="Content Placeholder 2">
            <a:extLst>
              <a:ext uri="{FF2B5EF4-FFF2-40B4-BE49-F238E27FC236}">
                <a16:creationId xmlns:a16="http://schemas.microsoft.com/office/drawing/2014/main" id="{C2791766-CCE1-44B3-8316-9DA84B735121}"/>
              </a:ext>
            </a:extLst>
          </p:cNvPr>
          <p:cNvSpPr txBox="1">
            <a:spLocks/>
          </p:cNvSpPr>
          <p:nvPr/>
        </p:nvSpPr>
        <p:spPr>
          <a:xfrm>
            <a:off x="0" y="3761015"/>
            <a:ext cx="4890406" cy="30687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vi-VN" sz="2400"/>
              <a:t>Khi thực hiện chương trình trước đó, bạn nhận được một hộp thoại hiển thị ba loại chuyến bay và nhắc người dùng chọn loại mà họ muốn sử dụng để đi du lịch. Khi chọn loại chuyến bay, giá của loại chuyến bay đã chọn sẽ được hiển thị, như thể hiện trong ảnh chụp màn hình sau:</a:t>
            </a:r>
            <a:endParaRPr lang="en-US" sz="2400"/>
          </a:p>
        </p:txBody>
      </p:sp>
    </p:spTree>
    <p:extLst>
      <p:ext uri="{BB962C8B-B14F-4D97-AF65-F5344CB8AC3E}">
        <p14:creationId xmlns:p14="http://schemas.microsoft.com/office/powerpoint/2010/main" val="34845160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BEE04-05DF-4876-8D1B-17C736158B07}"/>
              </a:ext>
            </a:extLst>
          </p:cNvPr>
          <p:cNvSpPr>
            <a:spLocks noGrp="1"/>
          </p:cNvSpPr>
          <p:nvPr>
            <p:ph type="title"/>
          </p:nvPr>
        </p:nvSpPr>
        <p:spPr>
          <a:xfrm>
            <a:off x="22259" y="28245"/>
            <a:ext cx="9102490" cy="713404"/>
          </a:xfrm>
        </p:spPr>
        <p:txBody>
          <a:bodyPr/>
          <a:lstStyle/>
          <a:p>
            <a:r>
              <a:rPr lang="en-US" b="1"/>
              <a:t>Nhóm các Radio Button</a:t>
            </a:r>
          </a:p>
        </p:txBody>
      </p:sp>
      <p:grpSp>
        <p:nvGrpSpPr>
          <p:cNvPr id="4" name="Group 2">
            <a:extLst>
              <a:ext uri="{FF2B5EF4-FFF2-40B4-BE49-F238E27FC236}">
                <a16:creationId xmlns:a16="http://schemas.microsoft.com/office/drawing/2014/main" id="{1BB90B06-BB7F-4F8B-AD47-1A59DDC603CC}"/>
              </a:ext>
            </a:extLst>
          </p:cNvPr>
          <p:cNvGrpSpPr>
            <a:grpSpLocks/>
          </p:cNvGrpSpPr>
          <p:nvPr/>
        </p:nvGrpSpPr>
        <p:grpSpPr bwMode="auto">
          <a:xfrm>
            <a:off x="35580" y="741649"/>
            <a:ext cx="6471359" cy="4189055"/>
            <a:chOff x="2163" y="286"/>
            <a:chExt cx="6475" cy="4210"/>
          </a:xfrm>
        </p:grpSpPr>
        <p:pic>
          <p:nvPicPr>
            <p:cNvPr id="2051" name="Picture 3">
              <a:extLst>
                <a:ext uri="{FF2B5EF4-FFF2-40B4-BE49-F238E27FC236}">
                  <a16:creationId xmlns:a16="http://schemas.microsoft.com/office/drawing/2014/main" id="{98CDA6B2-8DF8-40B4-A7AE-BAA6DB0A71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2" y="306"/>
              <a:ext cx="6435" cy="4170"/>
            </a:xfrm>
            <a:prstGeom prst="rect">
              <a:avLst/>
            </a:prstGeom>
            <a:noFill/>
            <a:extLst>
              <a:ext uri="{909E8E84-426E-40DD-AFC4-6F175D3DCCD1}">
                <a14:hiddenFill xmlns:a14="http://schemas.microsoft.com/office/drawing/2010/main">
                  <a:solidFill>
                    <a:srgbClr val="FFFFFF"/>
                  </a:solidFill>
                </a14:hiddenFill>
              </a:ext>
            </a:extLst>
          </p:spPr>
        </p:pic>
        <p:sp>
          <p:nvSpPr>
            <p:cNvPr id="5" name="Line 4">
              <a:extLst>
                <a:ext uri="{FF2B5EF4-FFF2-40B4-BE49-F238E27FC236}">
                  <a16:creationId xmlns:a16="http://schemas.microsoft.com/office/drawing/2014/main" id="{BB460F03-3C17-4BAC-BB33-C6026A1A77B8}"/>
                </a:ext>
              </a:extLst>
            </p:cNvPr>
            <p:cNvSpPr>
              <a:spLocks noChangeShapeType="1"/>
            </p:cNvSpPr>
            <p:nvPr/>
          </p:nvSpPr>
          <p:spPr bwMode="auto">
            <a:xfrm>
              <a:off x="2173" y="296"/>
              <a:ext cx="645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Line 5">
              <a:extLst>
                <a:ext uri="{FF2B5EF4-FFF2-40B4-BE49-F238E27FC236}">
                  <a16:creationId xmlns:a16="http://schemas.microsoft.com/office/drawing/2014/main" id="{1729106E-77E4-4C7B-AF1B-8BF9FC34263B}"/>
                </a:ext>
              </a:extLst>
            </p:cNvPr>
            <p:cNvSpPr>
              <a:spLocks noChangeShapeType="1"/>
            </p:cNvSpPr>
            <p:nvPr/>
          </p:nvSpPr>
          <p:spPr bwMode="auto">
            <a:xfrm>
              <a:off x="2173" y="296"/>
              <a:ext cx="0" cy="419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Line 6">
              <a:extLst>
                <a:ext uri="{FF2B5EF4-FFF2-40B4-BE49-F238E27FC236}">
                  <a16:creationId xmlns:a16="http://schemas.microsoft.com/office/drawing/2014/main" id="{4D82F8BE-419B-4C26-A53F-72498190E147}"/>
                </a:ext>
              </a:extLst>
            </p:cNvPr>
            <p:cNvSpPr>
              <a:spLocks noChangeShapeType="1"/>
            </p:cNvSpPr>
            <p:nvPr/>
          </p:nvSpPr>
          <p:spPr bwMode="auto">
            <a:xfrm>
              <a:off x="8628" y="296"/>
              <a:ext cx="0" cy="419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Line 7">
              <a:extLst>
                <a:ext uri="{FF2B5EF4-FFF2-40B4-BE49-F238E27FC236}">
                  <a16:creationId xmlns:a16="http://schemas.microsoft.com/office/drawing/2014/main" id="{F9C32739-5372-47EE-8CA8-E43A781997E7}"/>
                </a:ext>
              </a:extLst>
            </p:cNvPr>
            <p:cNvSpPr>
              <a:spLocks noChangeShapeType="1"/>
            </p:cNvSpPr>
            <p:nvPr/>
          </p:nvSpPr>
          <p:spPr bwMode="auto">
            <a:xfrm>
              <a:off x="2173" y="4486"/>
              <a:ext cx="645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9" name="Rectangle 8">
            <a:extLst>
              <a:ext uri="{FF2B5EF4-FFF2-40B4-BE49-F238E27FC236}">
                <a16:creationId xmlns:a16="http://schemas.microsoft.com/office/drawing/2014/main" id="{8798F595-BF60-4977-A221-80C62B98ADF2}"/>
              </a:ext>
            </a:extLst>
          </p:cNvPr>
          <p:cNvSpPr/>
          <p:nvPr/>
        </p:nvSpPr>
        <p:spPr>
          <a:xfrm>
            <a:off x="6505938" y="713279"/>
            <a:ext cx="2609052" cy="5262979"/>
          </a:xfrm>
          <a:prstGeom prst="rect">
            <a:avLst/>
          </a:prstGeom>
        </p:spPr>
        <p:txBody>
          <a:bodyPr wrap="square">
            <a:spAutoFit/>
          </a:bodyPr>
          <a:lstStyle/>
          <a:p>
            <a:pPr algn="just"/>
            <a:r>
              <a:rPr lang="en-US" sz="2800" i="1"/>
              <a:t>Trong ứng dụng này, chúng ta sẽ học cách tạo hai nhóm nút radio. Người dùng có thể chọn các nút radio từ một trong hai nhóm và theo đó, kết quả hoặc văn bản sẽ xuất hiện trên màn hình.</a:t>
            </a:r>
          </a:p>
        </p:txBody>
      </p:sp>
      <p:sp>
        <p:nvSpPr>
          <p:cNvPr id="10" name="Rectangle 9">
            <a:extLst>
              <a:ext uri="{FF2B5EF4-FFF2-40B4-BE49-F238E27FC236}">
                <a16:creationId xmlns:a16="http://schemas.microsoft.com/office/drawing/2014/main" id="{63006E1C-5A49-4655-8AB1-3D2A75A12EE3}"/>
              </a:ext>
            </a:extLst>
          </p:cNvPr>
          <p:cNvSpPr/>
          <p:nvPr/>
        </p:nvSpPr>
        <p:spPr>
          <a:xfrm>
            <a:off x="0" y="4930704"/>
            <a:ext cx="6302828" cy="1938992"/>
          </a:xfrm>
          <a:prstGeom prst="rect">
            <a:avLst/>
          </a:prstGeom>
        </p:spPr>
        <p:txBody>
          <a:bodyPr wrap="square">
            <a:spAutoFit/>
          </a:bodyPr>
          <a:lstStyle/>
          <a:p>
            <a:pPr algn="just"/>
            <a:r>
              <a:rPr lang="vi-VN" sz="2400" i="1">
                <a:solidFill>
                  <a:srgbClr val="00B0F0"/>
                </a:solidFill>
                <a:latin typeface="Calibri" panose="020F0502020204030204" pitchFamily="34" charset="0"/>
                <a:cs typeface="Calibri" panose="020F0502020204030204" pitchFamily="34" charset="0"/>
              </a:rPr>
              <a:t>C</a:t>
            </a:r>
            <a:r>
              <a:rPr lang="en-US" sz="2400" i="1">
                <a:solidFill>
                  <a:srgbClr val="00B0F0"/>
                </a:solidFill>
                <a:latin typeface="Calibri" panose="020F0502020204030204" pitchFamily="34" charset="0"/>
                <a:cs typeface="Calibri" panose="020F0502020204030204" pitchFamily="34" charset="0"/>
              </a:rPr>
              <a:t>h</a:t>
            </a:r>
            <a:r>
              <a:rPr lang="vi-VN" sz="2400" i="1">
                <a:solidFill>
                  <a:srgbClr val="00B0F0"/>
                </a:solidFill>
                <a:latin typeface="Calibri" panose="020F0502020204030204" pitchFamily="34" charset="0"/>
                <a:cs typeface="Calibri" panose="020F0502020204030204" pitchFamily="34" charset="0"/>
              </a:rPr>
              <a:t>ư</a:t>
            </a:r>
            <a:r>
              <a:rPr lang="en-US" sz="2400" i="1">
                <a:solidFill>
                  <a:srgbClr val="00B0F0"/>
                </a:solidFill>
                <a:latin typeface="Calibri" panose="020F0502020204030204" pitchFamily="34" charset="0"/>
                <a:cs typeface="Calibri" panose="020F0502020204030204" pitchFamily="34" charset="0"/>
              </a:rPr>
              <a:t>ơng trình </a:t>
            </a:r>
            <a:r>
              <a:rPr lang="vi-VN" sz="2400" i="1">
                <a:solidFill>
                  <a:srgbClr val="00B0F0"/>
                </a:solidFill>
                <a:latin typeface="Calibri" panose="020F0502020204030204" pitchFamily="34" charset="0"/>
                <a:cs typeface="Calibri" panose="020F0502020204030204" pitchFamily="34" charset="0"/>
              </a:rPr>
              <a:t>hiển thị một hộp thoại hiển thị áo sơ mi có kích cỡ khác nhau và phương thức thanh toán khác nhau. Khi chọn cỡ áo và phương thức thanh toán, cỡ áo và phương thức thanh toán đã chọn sẽ được hiển thị trên màn hình. </a:t>
            </a:r>
            <a:endParaRPr lang="en-US" sz="2400" i="1">
              <a:solidFill>
                <a:srgbClr val="00B0F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782952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478709-12E0-4195-BAC5-DEB6AE1AB2C1}"/>
              </a:ext>
            </a:extLst>
          </p:cNvPr>
          <p:cNvSpPr>
            <a:spLocks noGrp="1"/>
          </p:cNvSpPr>
          <p:nvPr>
            <p:ph idx="1"/>
          </p:nvPr>
        </p:nvSpPr>
        <p:spPr>
          <a:xfrm>
            <a:off x="22259" y="767444"/>
            <a:ext cx="9102490" cy="6062314"/>
          </a:xfrm>
        </p:spPr>
        <p:txBody>
          <a:bodyPr>
            <a:normAutofit fontScale="92500" lnSpcReduction="20000"/>
          </a:bodyPr>
          <a:lstStyle/>
          <a:p>
            <a:pPr marL="0" indent="0">
              <a:buNone/>
            </a:pPr>
            <a:r>
              <a:rPr lang="vi-VN"/>
              <a:t>1. Tạo một ứng dụng mới dựa trên </a:t>
            </a:r>
            <a:r>
              <a:rPr lang="en-US"/>
              <a:t>mẫu </a:t>
            </a:r>
            <a:r>
              <a:rPr lang="en-US" b="1"/>
              <a:t>Dialog without Buttons</a:t>
            </a:r>
            <a:r>
              <a:rPr lang="vi-VN"/>
              <a:t>.</a:t>
            </a:r>
          </a:p>
          <a:p>
            <a:pPr marL="0" indent="0">
              <a:buNone/>
            </a:pPr>
            <a:r>
              <a:rPr lang="vi-VN"/>
              <a:t>từ bố cục hoặc nhóm.</a:t>
            </a:r>
          </a:p>
          <a:p>
            <a:pPr marL="0" indent="0">
              <a:buNone/>
            </a:pPr>
            <a:r>
              <a:rPr lang="en-US"/>
              <a:t>2</a:t>
            </a:r>
            <a:r>
              <a:rPr lang="vi-VN"/>
              <a:t>. Đặt thuộc tính </a:t>
            </a:r>
            <a:r>
              <a:rPr lang="en-US"/>
              <a:t>text là </a:t>
            </a:r>
            <a:r>
              <a:rPr lang="en-US">
                <a:latin typeface="Courier New" panose="02070309020205020404" pitchFamily="49" charset="0"/>
                <a:cs typeface="Courier New" panose="02070309020205020404" pitchFamily="49" charset="0"/>
              </a:rPr>
              <a:t>Choose your Shirt Size, Choose your payment method </a:t>
            </a:r>
            <a:r>
              <a:rPr lang="en-US"/>
              <a:t>cho các widget Label </a:t>
            </a:r>
            <a:r>
              <a:rPr lang="vi-VN"/>
              <a:t>.</a:t>
            </a:r>
          </a:p>
          <a:p>
            <a:pPr marL="0" indent="0">
              <a:buNone/>
            </a:pPr>
            <a:r>
              <a:rPr lang="en-US"/>
              <a:t>3</a:t>
            </a:r>
            <a:r>
              <a:rPr lang="vi-VN"/>
              <a:t>. Trong cửa sổ </a:t>
            </a:r>
            <a:r>
              <a:rPr lang="en-US" b="1"/>
              <a:t>Property Editor</a:t>
            </a:r>
            <a:r>
              <a:rPr lang="vi-VN"/>
              <a:t>, tăng kích thước phông chữ của tất cả các </a:t>
            </a:r>
            <a:r>
              <a:rPr lang="en-US"/>
              <a:t>widget </a:t>
            </a:r>
            <a:r>
              <a:rPr lang="vi-VN"/>
              <a:t>để tăng khả năng hiển thị của chúng trong ứng dụng.</a:t>
            </a:r>
          </a:p>
          <a:p>
            <a:pPr marL="0" indent="0">
              <a:buNone/>
            </a:pPr>
            <a:r>
              <a:rPr lang="en-US"/>
              <a:t>4</a:t>
            </a:r>
            <a:r>
              <a:rPr lang="vi-VN"/>
              <a:t>. Đặt thuộc tính </a:t>
            </a:r>
            <a:r>
              <a:rPr lang="en-US"/>
              <a:t>text </a:t>
            </a:r>
            <a:r>
              <a:rPr lang="vi-VN"/>
              <a:t>của bốn nút radio đầu tiên thành M, L, XL và XXL. Sắp xếp bốn nút radio này thành một bố cục dọc.</a:t>
            </a:r>
          </a:p>
          <a:p>
            <a:pPr marL="0" indent="0">
              <a:buNone/>
            </a:pPr>
            <a:r>
              <a:rPr lang="en-US"/>
              <a:t>5</a:t>
            </a:r>
            <a:r>
              <a:rPr lang="vi-VN"/>
              <a:t>. Đặt thuộc tính </a:t>
            </a:r>
            <a:r>
              <a:rPr lang="en-US"/>
              <a:t>text </a:t>
            </a:r>
            <a:r>
              <a:rPr lang="vi-VN"/>
              <a:t>của ba nút radio tiếp theo thành </a:t>
            </a:r>
            <a:r>
              <a:rPr lang="en-US"/>
              <a:t>Debit/Credit Card, NetBanking, Cash On Delivery</a:t>
            </a:r>
            <a:r>
              <a:rPr lang="vi-VN"/>
              <a:t>. Sắp xếp ba nút radio này thành bố cục dọc thứ hai. Hãy nhớ rằng, các bố trí dọc này giúp bằng cách nhóm các nút radio này.</a:t>
            </a:r>
          </a:p>
          <a:p>
            <a:pPr marL="0" indent="0">
              <a:buNone/>
            </a:pPr>
            <a:r>
              <a:rPr lang="en-US"/>
              <a:t>6</a:t>
            </a:r>
            <a:r>
              <a:rPr lang="vi-VN"/>
              <a:t>. Thay đổi tên đối tượng của bốn nút radio đầu tiên thành </a:t>
            </a:r>
            <a:r>
              <a:rPr lang="vi-VN">
                <a:latin typeface="Courier New" panose="02070309020205020404" pitchFamily="49" charset="0"/>
                <a:cs typeface="Courier New" panose="02070309020205020404" pitchFamily="49" charset="0"/>
              </a:rPr>
              <a:t>radioButtonMedium, radioButtonLarge, radioButtonXL </a:t>
            </a:r>
            <a:r>
              <a:rPr lang="vi-VN">
                <a:latin typeface="Calibri" panose="020F0502020204030204" pitchFamily="34" charset="0"/>
                <a:cs typeface="Calibri" panose="020F0502020204030204" pitchFamily="34" charset="0"/>
              </a:rPr>
              <a:t>và</a:t>
            </a:r>
            <a:r>
              <a:rPr lang="vi-VN">
                <a:latin typeface="Courier New" panose="02070309020205020404" pitchFamily="49" charset="0"/>
                <a:cs typeface="Courier New" panose="02070309020205020404" pitchFamily="49" charset="0"/>
              </a:rPr>
              <a:t> radioButtonXXL</a:t>
            </a:r>
            <a:r>
              <a:rPr lang="vi-VN"/>
              <a:t>.</a:t>
            </a:r>
            <a:endParaRPr lang="en-US"/>
          </a:p>
        </p:txBody>
      </p:sp>
      <p:sp>
        <p:nvSpPr>
          <p:cNvPr id="4" name="Title 1">
            <a:extLst>
              <a:ext uri="{FF2B5EF4-FFF2-40B4-BE49-F238E27FC236}">
                <a16:creationId xmlns:a16="http://schemas.microsoft.com/office/drawing/2014/main" id="{A3102022-3525-4BC9-BF68-97D31F273A8B}"/>
              </a:ext>
            </a:extLst>
          </p:cNvPr>
          <p:cNvSpPr>
            <a:spLocks noGrp="1"/>
          </p:cNvSpPr>
          <p:nvPr>
            <p:ph type="title"/>
          </p:nvPr>
        </p:nvSpPr>
        <p:spPr>
          <a:xfrm>
            <a:off x="22259" y="28244"/>
            <a:ext cx="9102490" cy="739199"/>
          </a:xfrm>
        </p:spPr>
        <p:txBody>
          <a:bodyPr>
            <a:normAutofit/>
          </a:bodyPr>
          <a:lstStyle/>
          <a:p>
            <a:r>
              <a:rPr lang="en-US" b="1"/>
              <a:t>Cài đặt ch</a:t>
            </a:r>
            <a:r>
              <a:rPr lang="vi-VN" b="1"/>
              <a:t>ư</a:t>
            </a:r>
            <a:r>
              <a:rPr lang="en-US" b="1"/>
              <a:t>ơng trình...</a:t>
            </a:r>
          </a:p>
        </p:txBody>
      </p:sp>
    </p:spTree>
    <p:extLst>
      <p:ext uri="{BB962C8B-B14F-4D97-AF65-F5344CB8AC3E}">
        <p14:creationId xmlns:p14="http://schemas.microsoft.com/office/powerpoint/2010/main" val="1797250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D00926-5076-4CB1-A329-926B83FA5B15}"/>
              </a:ext>
            </a:extLst>
          </p:cNvPr>
          <p:cNvSpPr>
            <a:spLocks noGrp="1"/>
          </p:cNvSpPr>
          <p:nvPr>
            <p:ph idx="1"/>
          </p:nvPr>
        </p:nvSpPr>
        <p:spPr>
          <a:xfrm>
            <a:off x="22259" y="767444"/>
            <a:ext cx="9102490" cy="6062314"/>
          </a:xfrm>
        </p:spPr>
        <p:txBody>
          <a:bodyPr>
            <a:normAutofit lnSpcReduction="10000"/>
          </a:bodyPr>
          <a:lstStyle/>
          <a:p>
            <a:pPr marL="0" indent="0">
              <a:buNone/>
            </a:pPr>
            <a:r>
              <a:rPr lang="en-US"/>
              <a:t>7</a:t>
            </a:r>
            <a:r>
              <a:rPr lang="vi-VN"/>
              <a:t>. Đặt thuộc tính </a:t>
            </a:r>
            <a:r>
              <a:rPr lang="vi-VN" b="1"/>
              <a:t>objectName</a:t>
            </a:r>
            <a:r>
              <a:rPr lang="vi-VN"/>
              <a:t> của bố trí VBoxLayout đầu tiên thành verticalLayout. Bố cục VBoxLayout sẽ được sử dụng để căn chỉnh các nút radio theo chiều dọc.</a:t>
            </a:r>
          </a:p>
          <a:p>
            <a:pPr marL="0" indent="0">
              <a:buNone/>
            </a:pPr>
            <a:r>
              <a:rPr lang="en-US"/>
              <a:t>8</a:t>
            </a:r>
            <a:r>
              <a:rPr lang="vi-VN"/>
              <a:t>. Thay đổi tên đối tượng của ba nút radio tiếp theo thành radioButtonDebitCard, radioButtonNetBanking và radioButtonCashOnDelivery.</a:t>
            </a:r>
          </a:p>
          <a:p>
            <a:pPr marL="0" indent="0">
              <a:buNone/>
            </a:pPr>
            <a:r>
              <a:rPr lang="en-US"/>
              <a:t>9</a:t>
            </a:r>
            <a:r>
              <a:rPr lang="vi-VN"/>
              <a:t>. Đặt thuộc tính objectName của đối tượng QVBoxLayout thứ hai thành</a:t>
            </a:r>
            <a:r>
              <a:rPr lang="en-US"/>
              <a:t> verticalLayout_2</a:t>
            </a:r>
            <a:r>
              <a:rPr lang="vi-VN"/>
              <a:t>.</a:t>
            </a:r>
          </a:p>
          <a:p>
            <a:pPr marL="0" indent="0">
              <a:buNone/>
            </a:pPr>
            <a:r>
              <a:rPr lang="vi-VN"/>
              <a:t>12. Đặt thuộc tính objectName của </a:t>
            </a:r>
            <a:r>
              <a:rPr lang="en-US"/>
              <a:t>widget Label </a:t>
            </a:r>
            <a:r>
              <a:rPr lang="vi-VN"/>
              <a:t>thành </a:t>
            </a:r>
            <a:r>
              <a:rPr lang="en-US"/>
              <a:t>labelSelected</a:t>
            </a:r>
            <a:r>
              <a:rPr lang="vi-VN"/>
              <a:t>. Thông qua </a:t>
            </a:r>
            <a:r>
              <a:rPr lang="en-US"/>
              <a:t>widget Label </a:t>
            </a:r>
            <a:r>
              <a:rPr lang="vi-VN"/>
              <a:t>này, kích thước áo và phương thức thanh toán đã chọn sẽ được hiển thị.</a:t>
            </a:r>
          </a:p>
          <a:p>
            <a:pPr marL="0" indent="0">
              <a:buNone/>
            </a:pPr>
            <a:r>
              <a:rPr lang="vi-VN"/>
              <a:t>13. Lưu ứng dụng với tên demoRadioButton2.ui.</a:t>
            </a:r>
            <a:r>
              <a:rPr lang="en-US"/>
              <a:t> </a:t>
            </a:r>
            <a:r>
              <a:rPr lang="vi-VN"/>
              <a:t>Tệp .ui (XML) sau đó được chuyển đổi thành mã Python thông qua tiện ích lệnh </a:t>
            </a:r>
            <a:r>
              <a:rPr lang="vi-VN" b="1"/>
              <a:t>pyuic5</a:t>
            </a:r>
            <a:r>
              <a:rPr lang="vi-VN"/>
              <a:t>. </a:t>
            </a:r>
            <a:endParaRPr lang="en-US"/>
          </a:p>
        </p:txBody>
      </p:sp>
      <p:sp>
        <p:nvSpPr>
          <p:cNvPr id="4" name="Title 1">
            <a:extLst>
              <a:ext uri="{FF2B5EF4-FFF2-40B4-BE49-F238E27FC236}">
                <a16:creationId xmlns:a16="http://schemas.microsoft.com/office/drawing/2014/main" id="{28BDD5E5-6964-4514-BE68-C9B48C822AD2}"/>
              </a:ext>
            </a:extLst>
          </p:cNvPr>
          <p:cNvSpPr>
            <a:spLocks noGrp="1"/>
          </p:cNvSpPr>
          <p:nvPr>
            <p:ph type="title"/>
          </p:nvPr>
        </p:nvSpPr>
        <p:spPr>
          <a:xfrm>
            <a:off x="22259" y="28244"/>
            <a:ext cx="9102490" cy="739199"/>
          </a:xfrm>
        </p:spPr>
        <p:txBody>
          <a:bodyPr>
            <a:normAutofit/>
          </a:bodyPr>
          <a:lstStyle/>
          <a:p>
            <a:r>
              <a:rPr lang="en-US" b="1"/>
              <a:t>Cài đặt ch</a:t>
            </a:r>
            <a:r>
              <a:rPr lang="vi-VN" b="1"/>
              <a:t>ư</a:t>
            </a:r>
            <a:r>
              <a:rPr lang="en-US" b="1"/>
              <a:t>ơng trình... (t.t)</a:t>
            </a:r>
          </a:p>
        </p:txBody>
      </p:sp>
    </p:spTree>
    <p:extLst>
      <p:ext uri="{BB962C8B-B14F-4D97-AF65-F5344CB8AC3E}">
        <p14:creationId xmlns:p14="http://schemas.microsoft.com/office/powerpoint/2010/main" val="30478840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9B42E-9E8D-4B80-B3FE-4A9DD54FFFED}"/>
              </a:ext>
            </a:extLst>
          </p:cNvPr>
          <p:cNvSpPr>
            <a:spLocks noGrp="1"/>
          </p:cNvSpPr>
          <p:nvPr>
            <p:ph type="title"/>
          </p:nvPr>
        </p:nvSpPr>
        <p:spPr>
          <a:xfrm>
            <a:off x="22259" y="28244"/>
            <a:ext cx="9102490" cy="788185"/>
          </a:xfrm>
        </p:spPr>
        <p:txBody>
          <a:bodyPr/>
          <a:lstStyle/>
          <a:p>
            <a:r>
              <a:rPr lang="en-US" b="1"/>
              <a:t>callRadioButton2.pyw</a:t>
            </a:r>
          </a:p>
        </p:txBody>
      </p:sp>
      <p:sp>
        <p:nvSpPr>
          <p:cNvPr id="6" name="Rectangle 5">
            <a:extLst>
              <a:ext uri="{FF2B5EF4-FFF2-40B4-BE49-F238E27FC236}">
                <a16:creationId xmlns:a16="http://schemas.microsoft.com/office/drawing/2014/main" id="{9A275F34-7CEA-45FE-B7B6-B9E75C0DFA07}"/>
              </a:ext>
            </a:extLst>
          </p:cNvPr>
          <p:cNvSpPr/>
          <p:nvPr/>
        </p:nvSpPr>
        <p:spPr>
          <a:xfrm>
            <a:off x="19251" y="709986"/>
            <a:ext cx="9121741" cy="5406737"/>
          </a:xfrm>
          <a:prstGeom prst="rect">
            <a:avLst/>
          </a:prstGeom>
        </p:spPr>
        <p:txBody>
          <a:bodyPr wrap="square">
            <a:spAutoFit/>
          </a:bodyPr>
          <a:lstStyle/>
          <a:p>
            <a:pPr>
              <a:lnSpc>
                <a:spcPct val="120000"/>
              </a:lnSpc>
            </a:pPr>
            <a:r>
              <a:rPr lang="en-US" sz="1700">
                <a:solidFill>
                  <a:srgbClr val="4B69C6"/>
                </a:solidFill>
                <a:latin typeface="Consolas" panose="020B0609020204030204" pitchFamily="49" charset="0"/>
              </a:rPr>
              <a:t>import</a:t>
            </a:r>
            <a:r>
              <a:rPr lang="en-US" sz="1700">
                <a:solidFill>
                  <a:srgbClr val="333333"/>
                </a:solidFill>
                <a:latin typeface="Consolas" panose="020B0609020204030204" pitchFamily="49" charset="0"/>
              </a:rPr>
              <a:t> sys</a:t>
            </a:r>
          </a:p>
          <a:p>
            <a:pPr>
              <a:lnSpc>
                <a:spcPct val="120000"/>
              </a:lnSpc>
            </a:pPr>
            <a:r>
              <a:rPr lang="en-US" sz="1700">
                <a:solidFill>
                  <a:srgbClr val="4B69C6"/>
                </a:solidFill>
                <a:latin typeface="Consolas" panose="020B0609020204030204" pitchFamily="49" charset="0"/>
              </a:rPr>
              <a:t>from</a:t>
            </a:r>
            <a:r>
              <a:rPr lang="en-US" sz="1700">
                <a:solidFill>
                  <a:srgbClr val="333333"/>
                </a:solidFill>
                <a:latin typeface="Consolas" panose="020B0609020204030204" pitchFamily="49" charset="0"/>
              </a:rPr>
              <a:t> PyQt5</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QtWidgets </a:t>
            </a:r>
            <a:r>
              <a:rPr lang="en-US" sz="1700">
                <a:solidFill>
                  <a:srgbClr val="4B69C6"/>
                </a:solidFill>
                <a:latin typeface="Consolas" panose="020B0609020204030204" pitchFamily="49" charset="0"/>
              </a:rPr>
              <a:t>import</a:t>
            </a:r>
            <a:r>
              <a:rPr lang="en-US" sz="1700">
                <a:solidFill>
                  <a:srgbClr val="333333"/>
                </a:solidFill>
                <a:latin typeface="Consolas" panose="020B0609020204030204" pitchFamily="49" charset="0"/>
              </a:rPr>
              <a:t> QDialog</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QApplication</a:t>
            </a:r>
          </a:p>
          <a:p>
            <a:pPr>
              <a:lnSpc>
                <a:spcPct val="120000"/>
              </a:lnSpc>
            </a:pPr>
            <a:r>
              <a:rPr lang="en-US" sz="1700">
                <a:solidFill>
                  <a:srgbClr val="4B69C6"/>
                </a:solidFill>
                <a:latin typeface="Consolas" panose="020B0609020204030204" pitchFamily="49" charset="0"/>
              </a:rPr>
              <a:t>from</a:t>
            </a:r>
            <a:r>
              <a:rPr lang="en-US" sz="1700">
                <a:solidFill>
                  <a:srgbClr val="333333"/>
                </a:solidFill>
                <a:latin typeface="Consolas" panose="020B0609020204030204" pitchFamily="49" charset="0"/>
              </a:rPr>
              <a:t> demoRadioButton2 </a:t>
            </a:r>
            <a:r>
              <a:rPr lang="en-US" sz="1700">
                <a:solidFill>
                  <a:srgbClr val="4B69C6"/>
                </a:solidFill>
                <a:latin typeface="Consolas" panose="020B0609020204030204" pitchFamily="49" charset="0"/>
              </a:rPr>
              <a:t>import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120000"/>
              </a:lnSpc>
            </a:pPr>
            <a:br>
              <a:rPr lang="en-US" sz="1700">
                <a:solidFill>
                  <a:srgbClr val="333333"/>
                </a:solidFill>
                <a:latin typeface="Consolas" panose="020B0609020204030204" pitchFamily="49" charset="0"/>
              </a:rPr>
            </a:br>
            <a:r>
              <a:rPr lang="en-US" sz="1700">
                <a:solidFill>
                  <a:srgbClr val="7A3E9D"/>
                </a:solidFill>
                <a:latin typeface="Consolas" panose="020B0609020204030204" pitchFamily="49" charset="0"/>
              </a:rPr>
              <a:t>class</a:t>
            </a:r>
            <a:r>
              <a:rPr lang="en-US" sz="1700">
                <a:solidFill>
                  <a:srgbClr val="333333"/>
                </a:solidFill>
                <a:latin typeface="Consolas" panose="020B0609020204030204" pitchFamily="49" charset="0"/>
              </a:rPr>
              <a:t> </a:t>
            </a:r>
            <a:r>
              <a:rPr lang="en-US" sz="1700" b="1">
                <a:solidFill>
                  <a:srgbClr val="7A3E9D"/>
                </a:solidFill>
                <a:latin typeface="Consolas" panose="020B0609020204030204" pitchFamily="49" charset="0"/>
              </a:rPr>
              <a:t>MyForm</a:t>
            </a:r>
            <a:r>
              <a:rPr lang="en-US" sz="1700">
                <a:solidFill>
                  <a:srgbClr val="777777"/>
                </a:solidFill>
                <a:latin typeface="Consolas" panose="020B0609020204030204" pitchFamily="49" charset="0"/>
              </a:rPr>
              <a:t>(</a:t>
            </a:r>
            <a:r>
              <a:rPr lang="en-US" sz="1700" b="1">
                <a:solidFill>
                  <a:srgbClr val="7A3E9D"/>
                </a:solidFill>
                <a:latin typeface="Consolas" panose="020B0609020204030204" pitchFamily="49" charset="0"/>
              </a:rPr>
              <a:t>QDialog</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120000"/>
              </a:lnSpc>
            </a:pPr>
            <a:r>
              <a:rPr lang="en-US" sz="1700">
                <a:solidFill>
                  <a:srgbClr val="7A3E9D"/>
                </a:solidFill>
                <a:latin typeface="Consolas" panose="020B0609020204030204" pitchFamily="49" charset="0"/>
              </a:rPr>
              <a:t>  def</a:t>
            </a:r>
            <a:r>
              <a:rPr lang="en-US" sz="1700">
                <a:solidFill>
                  <a:srgbClr val="333333"/>
                </a:solidFill>
                <a:latin typeface="Consolas" panose="020B0609020204030204" pitchFamily="49" charset="0"/>
              </a:rPr>
              <a:t> </a:t>
            </a:r>
            <a:r>
              <a:rPr lang="en-US" sz="1700" b="1">
                <a:solidFill>
                  <a:srgbClr val="AA3731"/>
                </a:solidFill>
                <a:latin typeface="Consolas" panose="020B0609020204030204" pitchFamily="49" charset="0"/>
              </a:rPr>
              <a:t>init</a:t>
            </a:r>
            <a:r>
              <a:rPr lang="en-US" sz="1700">
                <a:solidFill>
                  <a:srgbClr val="777777"/>
                </a:solidFill>
                <a:latin typeface="Consolas" panose="020B0609020204030204" pitchFamily="49" charset="0"/>
              </a:rPr>
              <a:t>(</a:t>
            </a:r>
            <a:r>
              <a:rPr lang="en-US" sz="1700">
                <a:solidFill>
                  <a:srgbClr val="7A3E9D"/>
                </a:solidFill>
                <a:latin typeface="Consolas" panose="020B0609020204030204" pitchFamily="49" charset="0"/>
              </a:rPr>
              <a:t>self</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120000"/>
              </a:lnSpc>
            </a:pPr>
            <a:r>
              <a:rPr lang="en-US" sz="1700">
                <a:solidFill>
                  <a:srgbClr val="7A3E9D"/>
                </a:solidFill>
                <a:latin typeface="Consolas" panose="020B0609020204030204" pitchFamily="49" charset="0"/>
              </a:rPr>
              <a:t>    super</a:t>
            </a:r>
            <a:r>
              <a:rPr lang="en-US" sz="1700">
                <a:solidFill>
                  <a:srgbClr val="777777"/>
                </a:solidFill>
                <a:latin typeface="Consolas" panose="020B0609020204030204" pitchFamily="49" charset="0"/>
              </a:rPr>
              <a:t>().</a:t>
            </a:r>
            <a:r>
              <a:rPr lang="en-US" sz="1700" b="1">
                <a:solidFill>
                  <a:srgbClr val="AA3731"/>
                </a:solidFill>
                <a:latin typeface="Consolas" panose="020B0609020204030204" pitchFamily="49" charset="0"/>
              </a:rPr>
              <a:t>__init__</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120000"/>
              </a:lnSpc>
            </a:pPr>
            <a:r>
              <a:rPr lang="en-US" sz="1700">
                <a:solidFill>
                  <a:srgbClr val="9C5D27"/>
                </a:solidFill>
                <a:latin typeface="Consolas" panose="020B0609020204030204" pitchFamily="49" charset="0"/>
              </a:rPr>
              <a:t>      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Ui_Dialog</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120000"/>
              </a:lnSpc>
            </a:pPr>
            <a:r>
              <a:rPr lang="en-US" sz="1700">
                <a:solidFill>
                  <a:srgbClr val="9C5D27"/>
                </a:solidFill>
                <a:latin typeface="Consolas" panose="020B0609020204030204" pitchFamily="49" charset="0"/>
              </a:rPr>
              <a:t>      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setupUi</a:t>
            </a:r>
            <a:r>
              <a:rPr lang="en-US" sz="1700">
                <a:solidFill>
                  <a:srgbClr val="777777"/>
                </a:solidFill>
                <a:latin typeface="Consolas" panose="020B0609020204030204" pitchFamily="49" charset="0"/>
              </a:rPr>
              <a:t>(</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120000"/>
              </a:lnSpc>
            </a:pPr>
            <a:r>
              <a:rPr lang="en-US" sz="1700">
                <a:solidFill>
                  <a:srgbClr val="9C5D27"/>
                </a:solidFill>
                <a:latin typeface="Consolas" panose="020B0609020204030204" pitchFamily="49" charset="0"/>
              </a:rPr>
              <a:t>      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radioButtonMedium</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toggled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connect</a:t>
            </a:r>
            <a:r>
              <a:rPr lang="en-US" sz="1700">
                <a:solidFill>
                  <a:srgbClr val="777777"/>
                </a:solidFill>
                <a:latin typeface="Consolas" panose="020B0609020204030204" pitchFamily="49" charset="0"/>
              </a:rPr>
              <a:t>(</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dispSelected</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120000"/>
              </a:lnSpc>
            </a:pPr>
            <a:r>
              <a:rPr lang="en-US" sz="1700">
                <a:solidFill>
                  <a:srgbClr val="9C5D27"/>
                </a:solidFill>
                <a:latin typeface="Consolas" panose="020B0609020204030204" pitchFamily="49" charset="0"/>
              </a:rPr>
              <a:t>      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radioButtonLarge</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toggled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connect</a:t>
            </a:r>
            <a:r>
              <a:rPr lang="en-US" sz="1700">
                <a:solidFill>
                  <a:srgbClr val="777777"/>
                </a:solidFill>
                <a:latin typeface="Consolas" panose="020B0609020204030204" pitchFamily="49" charset="0"/>
              </a:rPr>
              <a:t>(</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dispSelected</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120000"/>
              </a:lnSpc>
            </a:pPr>
            <a:r>
              <a:rPr lang="en-US" sz="1700">
                <a:solidFill>
                  <a:srgbClr val="9C5D27"/>
                </a:solidFill>
                <a:latin typeface="Consolas" panose="020B0609020204030204" pitchFamily="49" charset="0"/>
              </a:rPr>
              <a:t>      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radioButtonXL</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toggled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connect</a:t>
            </a:r>
            <a:r>
              <a:rPr lang="en-US" sz="1700">
                <a:solidFill>
                  <a:srgbClr val="777777"/>
                </a:solidFill>
                <a:latin typeface="Consolas" panose="020B0609020204030204" pitchFamily="49" charset="0"/>
              </a:rPr>
              <a:t>(</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dispSelected</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120000"/>
              </a:lnSpc>
            </a:pPr>
            <a:r>
              <a:rPr lang="en-US" sz="1700">
                <a:solidFill>
                  <a:srgbClr val="9C5D27"/>
                </a:solidFill>
                <a:latin typeface="Consolas" panose="020B0609020204030204" pitchFamily="49" charset="0"/>
              </a:rPr>
              <a:t>      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radioButtonXXL</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toggled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connect</a:t>
            </a:r>
            <a:r>
              <a:rPr lang="en-US" sz="1700">
                <a:solidFill>
                  <a:srgbClr val="777777"/>
                </a:solidFill>
                <a:latin typeface="Consolas" panose="020B0609020204030204" pitchFamily="49" charset="0"/>
              </a:rPr>
              <a:t>(</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dispSelected</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120000"/>
              </a:lnSpc>
            </a:pPr>
            <a:r>
              <a:rPr lang="en-US" sz="1700">
                <a:solidFill>
                  <a:srgbClr val="9C5D27"/>
                </a:solidFill>
                <a:latin typeface="Consolas" panose="020B0609020204030204" pitchFamily="49" charset="0"/>
              </a:rPr>
              <a:t>      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radioButtonDebitCard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toggled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connect</a:t>
            </a:r>
            <a:r>
              <a:rPr lang="en-US" sz="1700">
                <a:solidFill>
                  <a:srgbClr val="777777"/>
                </a:solidFill>
                <a:latin typeface="Consolas" panose="020B0609020204030204" pitchFamily="49" charset="0"/>
              </a:rPr>
              <a:t>(</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dispSelected</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120000"/>
              </a:lnSpc>
            </a:pPr>
            <a:r>
              <a:rPr lang="en-US" sz="1700">
                <a:solidFill>
                  <a:srgbClr val="9C5D27"/>
                </a:solidFill>
                <a:latin typeface="Consolas" panose="020B0609020204030204" pitchFamily="49" charset="0"/>
              </a:rPr>
              <a:t>      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radioButtonNetBanking</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toggled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connect</a:t>
            </a:r>
            <a:r>
              <a:rPr lang="en-US" sz="1700">
                <a:solidFill>
                  <a:srgbClr val="777777"/>
                </a:solidFill>
                <a:latin typeface="Consolas" panose="020B0609020204030204" pitchFamily="49" charset="0"/>
              </a:rPr>
              <a:t>(</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dispSelected</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120000"/>
              </a:lnSpc>
            </a:pPr>
            <a:r>
              <a:rPr lang="en-US" sz="1700">
                <a:solidFill>
                  <a:srgbClr val="9C5D27"/>
                </a:solidFill>
                <a:latin typeface="Consolas" panose="020B0609020204030204" pitchFamily="49" charset="0"/>
              </a:rPr>
              <a:t>      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radioButtonCashOnDelivery</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toggled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connect</a:t>
            </a:r>
            <a:r>
              <a:rPr lang="en-US" sz="1700">
                <a:solidFill>
                  <a:srgbClr val="777777"/>
                </a:solidFill>
                <a:latin typeface="Consolas" panose="020B0609020204030204" pitchFamily="49" charset="0"/>
              </a:rPr>
              <a:t>(</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dispSelected</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120000"/>
              </a:lnSpc>
            </a:pPr>
            <a:r>
              <a:rPr lang="en-US" sz="1700">
                <a:solidFill>
                  <a:srgbClr val="9C5D27"/>
                </a:solidFill>
                <a:latin typeface="Consolas" panose="020B0609020204030204" pitchFamily="49" charset="0"/>
              </a:rPr>
              <a:t>      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show</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p:txBody>
      </p:sp>
    </p:spTree>
    <p:extLst>
      <p:ext uri="{BB962C8B-B14F-4D97-AF65-F5344CB8AC3E}">
        <p14:creationId xmlns:p14="http://schemas.microsoft.com/office/powerpoint/2010/main" val="36870166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9B42E-9E8D-4B80-B3FE-4A9DD54FFFED}"/>
              </a:ext>
            </a:extLst>
          </p:cNvPr>
          <p:cNvSpPr>
            <a:spLocks noGrp="1"/>
          </p:cNvSpPr>
          <p:nvPr>
            <p:ph type="title"/>
          </p:nvPr>
        </p:nvSpPr>
        <p:spPr>
          <a:xfrm>
            <a:off x="22259" y="28245"/>
            <a:ext cx="9102490" cy="796348"/>
          </a:xfrm>
        </p:spPr>
        <p:txBody>
          <a:bodyPr>
            <a:normAutofit/>
          </a:bodyPr>
          <a:lstStyle/>
          <a:p>
            <a:r>
              <a:rPr lang="en-US" b="1"/>
              <a:t>callRadioButton2.pyw (t.t)</a:t>
            </a:r>
          </a:p>
        </p:txBody>
      </p:sp>
      <p:sp>
        <p:nvSpPr>
          <p:cNvPr id="6" name="Rectangle 5">
            <a:extLst>
              <a:ext uri="{FF2B5EF4-FFF2-40B4-BE49-F238E27FC236}">
                <a16:creationId xmlns:a16="http://schemas.microsoft.com/office/drawing/2014/main" id="{9A275F34-7CEA-45FE-B7B6-B9E75C0DFA07}"/>
              </a:ext>
            </a:extLst>
          </p:cNvPr>
          <p:cNvSpPr/>
          <p:nvPr/>
        </p:nvSpPr>
        <p:spPr>
          <a:xfrm>
            <a:off x="19251" y="709986"/>
            <a:ext cx="9121741" cy="6305572"/>
          </a:xfrm>
          <a:prstGeom prst="rect">
            <a:avLst/>
          </a:prstGeom>
        </p:spPr>
        <p:txBody>
          <a:bodyPr wrap="square">
            <a:spAutoFit/>
          </a:bodyPr>
          <a:lstStyle/>
          <a:p>
            <a:pPr>
              <a:lnSpc>
                <a:spcPct val="95000"/>
              </a:lnSpc>
            </a:pPr>
            <a:r>
              <a:rPr lang="en-US" sz="1700">
                <a:solidFill>
                  <a:srgbClr val="7A3E9D"/>
                </a:solidFill>
                <a:latin typeface="Consolas" panose="020B0609020204030204" pitchFamily="49" charset="0"/>
              </a:rPr>
              <a:t>  def</a:t>
            </a:r>
            <a:r>
              <a:rPr lang="en-US" sz="1700">
                <a:solidFill>
                  <a:srgbClr val="333333"/>
                </a:solidFill>
                <a:latin typeface="Consolas" panose="020B0609020204030204" pitchFamily="49" charset="0"/>
              </a:rPr>
              <a:t> </a:t>
            </a:r>
            <a:r>
              <a:rPr lang="en-US" sz="1700" b="1">
                <a:solidFill>
                  <a:srgbClr val="AA3731"/>
                </a:solidFill>
                <a:latin typeface="Consolas" panose="020B0609020204030204" pitchFamily="49" charset="0"/>
              </a:rPr>
              <a:t>dispSelected</a:t>
            </a:r>
            <a:r>
              <a:rPr lang="en-US" sz="1700">
                <a:solidFill>
                  <a:srgbClr val="777777"/>
                </a:solidFill>
                <a:latin typeface="Consolas" panose="020B0609020204030204" pitchFamily="49" charset="0"/>
              </a:rPr>
              <a:t>(</a:t>
            </a:r>
            <a:r>
              <a:rPr lang="en-US" sz="1700">
                <a:solidFill>
                  <a:srgbClr val="7A3E9D"/>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p>
          <a:p>
            <a:pPr>
              <a:lnSpc>
                <a:spcPct val="95000"/>
              </a:lnSpc>
            </a:pPr>
            <a:r>
              <a:rPr lang="en-US" sz="1700">
                <a:solidFill>
                  <a:srgbClr val="333333"/>
                </a:solidFill>
                <a:latin typeface="Consolas" panose="020B0609020204030204" pitchFamily="49" charset="0"/>
              </a:rPr>
              <a:t>    selected1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p>
          <a:p>
            <a:pPr>
              <a:lnSpc>
                <a:spcPct val="95000"/>
              </a:lnSpc>
            </a:pPr>
            <a:r>
              <a:rPr lang="en-US" sz="1700">
                <a:solidFill>
                  <a:srgbClr val="333333"/>
                </a:solidFill>
                <a:latin typeface="Consolas" panose="020B0609020204030204" pitchFamily="49" charset="0"/>
              </a:rPr>
              <a:t>    selected2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95000"/>
              </a:lnSpc>
            </a:pPr>
            <a:r>
              <a:rPr lang="en-US" sz="1700">
                <a:solidFill>
                  <a:srgbClr val="4B69C6"/>
                </a:solidFill>
                <a:latin typeface="Consolas" panose="020B0609020204030204" pitchFamily="49" charset="0"/>
              </a:rPr>
              <a:t>    if</a:t>
            </a:r>
            <a:r>
              <a:rPr lang="en-US" sz="1700">
                <a:solidFill>
                  <a:srgbClr val="333333"/>
                </a:solidFill>
                <a:latin typeface="Consolas" panose="020B0609020204030204" pitchFamily="49" charset="0"/>
              </a:rPr>
              <a:t> </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radioButtonMedium</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isChecked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9C5D27"/>
                </a:solidFill>
                <a:latin typeface="Consolas" panose="020B0609020204030204" pitchFamily="49" charset="0"/>
              </a:rPr>
              <a:t>True</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95000"/>
              </a:lnSpc>
            </a:pPr>
            <a:r>
              <a:rPr lang="en-US" sz="1700">
                <a:solidFill>
                  <a:srgbClr val="333333"/>
                </a:solidFill>
                <a:latin typeface="Consolas" panose="020B0609020204030204" pitchFamily="49" charset="0"/>
              </a:rPr>
              <a:t>      selected1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a:t>
            </a:r>
            <a:r>
              <a:rPr lang="en-US" sz="1700">
                <a:solidFill>
                  <a:srgbClr val="448C27"/>
                </a:solidFill>
                <a:latin typeface="Consolas" panose="020B0609020204030204" pitchFamily="49" charset="0"/>
              </a:rPr>
              <a:t>Medium</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95000"/>
              </a:lnSpc>
            </a:pPr>
            <a:r>
              <a:rPr lang="en-US" sz="1700">
                <a:solidFill>
                  <a:srgbClr val="4B69C6"/>
                </a:solidFill>
                <a:latin typeface="Consolas" panose="020B0609020204030204" pitchFamily="49" charset="0"/>
              </a:rPr>
              <a:t>    if</a:t>
            </a:r>
            <a:r>
              <a:rPr lang="en-US" sz="1700">
                <a:solidFill>
                  <a:srgbClr val="333333"/>
                </a:solidFill>
                <a:latin typeface="Consolas" panose="020B0609020204030204" pitchFamily="49" charset="0"/>
              </a:rPr>
              <a:t> </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radioButtonLarge</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isChecked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9C5D27"/>
                </a:solidFill>
                <a:latin typeface="Consolas" panose="020B0609020204030204" pitchFamily="49" charset="0"/>
              </a:rPr>
              <a:t>True</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95000"/>
              </a:lnSpc>
            </a:pPr>
            <a:r>
              <a:rPr lang="en-US" sz="1700">
                <a:solidFill>
                  <a:srgbClr val="333333"/>
                </a:solidFill>
                <a:latin typeface="Consolas" panose="020B0609020204030204" pitchFamily="49" charset="0"/>
              </a:rPr>
              <a:t>      selected1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a:t>
            </a:r>
            <a:r>
              <a:rPr lang="en-US" sz="1700">
                <a:solidFill>
                  <a:srgbClr val="448C27"/>
                </a:solidFill>
                <a:latin typeface="Consolas" panose="020B0609020204030204" pitchFamily="49" charset="0"/>
              </a:rPr>
              <a:t>Large</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95000"/>
              </a:lnSpc>
            </a:pPr>
            <a:r>
              <a:rPr lang="en-US" sz="1700">
                <a:solidFill>
                  <a:srgbClr val="4B69C6"/>
                </a:solidFill>
                <a:latin typeface="Consolas" panose="020B0609020204030204" pitchFamily="49" charset="0"/>
              </a:rPr>
              <a:t>    if</a:t>
            </a:r>
            <a:r>
              <a:rPr lang="en-US" sz="1700">
                <a:solidFill>
                  <a:srgbClr val="333333"/>
                </a:solidFill>
                <a:latin typeface="Consolas" panose="020B0609020204030204" pitchFamily="49" charset="0"/>
              </a:rPr>
              <a:t> </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radioButtonXL</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isChecked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9C5D27"/>
                </a:solidFill>
                <a:latin typeface="Consolas" panose="020B0609020204030204" pitchFamily="49" charset="0"/>
              </a:rPr>
              <a:t>True</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95000"/>
              </a:lnSpc>
            </a:pPr>
            <a:r>
              <a:rPr lang="en-US" sz="1700">
                <a:solidFill>
                  <a:srgbClr val="333333"/>
                </a:solidFill>
                <a:latin typeface="Consolas" panose="020B0609020204030204" pitchFamily="49" charset="0"/>
              </a:rPr>
              <a:t>      selected1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a:t>
            </a:r>
            <a:r>
              <a:rPr lang="en-US" sz="1700">
                <a:solidFill>
                  <a:srgbClr val="448C27"/>
                </a:solidFill>
                <a:latin typeface="Consolas" panose="020B0609020204030204" pitchFamily="49" charset="0"/>
              </a:rPr>
              <a:t>Extra Large</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95000"/>
              </a:lnSpc>
            </a:pPr>
            <a:r>
              <a:rPr lang="en-US" sz="1700">
                <a:solidFill>
                  <a:srgbClr val="4B69C6"/>
                </a:solidFill>
                <a:latin typeface="Consolas" panose="020B0609020204030204" pitchFamily="49" charset="0"/>
              </a:rPr>
              <a:t>    if</a:t>
            </a:r>
            <a:r>
              <a:rPr lang="en-US" sz="1700">
                <a:solidFill>
                  <a:srgbClr val="333333"/>
                </a:solidFill>
                <a:latin typeface="Consolas" panose="020B0609020204030204" pitchFamily="49" charset="0"/>
              </a:rPr>
              <a:t> </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radioButtonXXL</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isChecked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9C5D27"/>
                </a:solidFill>
                <a:latin typeface="Consolas" panose="020B0609020204030204" pitchFamily="49" charset="0"/>
              </a:rPr>
              <a:t>True</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95000"/>
              </a:lnSpc>
            </a:pPr>
            <a:r>
              <a:rPr lang="en-US" sz="1700">
                <a:solidFill>
                  <a:srgbClr val="333333"/>
                </a:solidFill>
                <a:latin typeface="Consolas" panose="020B0609020204030204" pitchFamily="49" charset="0"/>
              </a:rPr>
              <a:t>      selected1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a:t>
            </a:r>
            <a:r>
              <a:rPr lang="en-US" sz="1700">
                <a:solidFill>
                  <a:srgbClr val="448C27"/>
                </a:solidFill>
                <a:latin typeface="Consolas" panose="020B0609020204030204" pitchFamily="49" charset="0"/>
              </a:rPr>
              <a:t>Extra Extra Large</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95000"/>
              </a:lnSpc>
            </a:pPr>
            <a:r>
              <a:rPr lang="en-US" sz="1700">
                <a:solidFill>
                  <a:srgbClr val="4B69C6"/>
                </a:solidFill>
                <a:latin typeface="Consolas" panose="020B0609020204030204" pitchFamily="49" charset="0"/>
              </a:rPr>
              <a:t>    if</a:t>
            </a:r>
            <a:r>
              <a:rPr lang="en-US" sz="1700">
                <a:solidFill>
                  <a:srgbClr val="333333"/>
                </a:solidFill>
                <a:latin typeface="Consolas" panose="020B0609020204030204" pitchFamily="49" charset="0"/>
              </a:rPr>
              <a:t> </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radioButtonDebitCard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isChecked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9C5D27"/>
                </a:solidFill>
                <a:latin typeface="Consolas" panose="020B0609020204030204" pitchFamily="49" charset="0"/>
              </a:rPr>
              <a:t>True</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95000"/>
              </a:lnSpc>
            </a:pPr>
            <a:r>
              <a:rPr lang="en-US" sz="1700">
                <a:solidFill>
                  <a:srgbClr val="333333"/>
                </a:solidFill>
                <a:latin typeface="Consolas" panose="020B0609020204030204" pitchFamily="49" charset="0"/>
              </a:rPr>
              <a:t>      selected2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a:t>
            </a:r>
            <a:r>
              <a:rPr lang="en-US" sz="1700">
                <a:solidFill>
                  <a:srgbClr val="448C27"/>
                </a:solidFill>
                <a:latin typeface="Consolas" panose="020B0609020204030204" pitchFamily="49" charset="0"/>
              </a:rPr>
              <a:t>Debit/Credit Card</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95000"/>
              </a:lnSpc>
            </a:pPr>
            <a:r>
              <a:rPr lang="en-US" sz="1700">
                <a:solidFill>
                  <a:srgbClr val="4B69C6"/>
                </a:solidFill>
                <a:latin typeface="Consolas" panose="020B0609020204030204" pitchFamily="49" charset="0"/>
              </a:rPr>
              <a:t>    if</a:t>
            </a:r>
            <a:r>
              <a:rPr lang="en-US" sz="1700">
                <a:solidFill>
                  <a:srgbClr val="333333"/>
                </a:solidFill>
                <a:latin typeface="Consolas" panose="020B0609020204030204" pitchFamily="49" charset="0"/>
              </a:rPr>
              <a:t> </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radioButtonNetBanking</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isChecked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9C5D27"/>
                </a:solidFill>
                <a:latin typeface="Consolas" panose="020B0609020204030204" pitchFamily="49" charset="0"/>
              </a:rPr>
              <a:t>True</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95000"/>
              </a:lnSpc>
            </a:pPr>
            <a:r>
              <a:rPr lang="en-US" sz="1700">
                <a:solidFill>
                  <a:srgbClr val="333333"/>
                </a:solidFill>
                <a:latin typeface="Consolas" panose="020B0609020204030204" pitchFamily="49" charset="0"/>
              </a:rPr>
              <a:t>      selected2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a:t>
            </a:r>
            <a:r>
              <a:rPr lang="en-US" sz="1700">
                <a:solidFill>
                  <a:srgbClr val="448C27"/>
                </a:solidFill>
                <a:latin typeface="Consolas" panose="020B0609020204030204" pitchFamily="49" charset="0"/>
              </a:rPr>
              <a:t>NetBanking</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95000"/>
              </a:lnSpc>
            </a:pPr>
            <a:r>
              <a:rPr lang="en-US" sz="1700">
                <a:solidFill>
                  <a:srgbClr val="4B69C6"/>
                </a:solidFill>
                <a:latin typeface="Consolas" panose="020B0609020204030204" pitchFamily="49" charset="0"/>
              </a:rPr>
              <a:t>    if</a:t>
            </a:r>
            <a:r>
              <a:rPr lang="en-US" sz="1700">
                <a:solidFill>
                  <a:srgbClr val="333333"/>
                </a:solidFill>
                <a:latin typeface="Consolas" panose="020B0609020204030204" pitchFamily="49" charset="0"/>
              </a:rPr>
              <a:t> </a:t>
            </a:r>
            <a:r>
              <a:rPr lang="en-US" sz="1700">
                <a:solidFill>
                  <a:srgbClr val="9C5D27"/>
                </a:solidFill>
                <a:latin typeface="Consolas" panose="020B0609020204030204" pitchFamily="49" charset="0"/>
              </a:rPr>
              <a:t>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radioButtonCashOnDelivery</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isChecked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9C5D27"/>
                </a:solidFill>
                <a:latin typeface="Consolas" panose="020B0609020204030204" pitchFamily="49" charset="0"/>
              </a:rPr>
              <a:t>True</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95000"/>
              </a:lnSpc>
            </a:pPr>
            <a:r>
              <a:rPr lang="en-US" sz="1700">
                <a:solidFill>
                  <a:srgbClr val="333333"/>
                </a:solidFill>
                <a:latin typeface="Consolas" panose="020B0609020204030204" pitchFamily="49" charset="0"/>
              </a:rPr>
              <a:t>      selected2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a:t>
            </a:r>
            <a:r>
              <a:rPr lang="en-US" sz="1700">
                <a:solidFill>
                  <a:srgbClr val="448C27"/>
                </a:solidFill>
                <a:latin typeface="Consolas" panose="020B0609020204030204" pitchFamily="49" charset="0"/>
              </a:rPr>
              <a:t>Cash On Delivery</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95000"/>
              </a:lnSpc>
            </a:pPr>
            <a:r>
              <a:rPr lang="en-US" sz="1700">
                <a:solidFill>
                  <a:srgbClr val="9C5D27"/>
                </a:solidFill>
                <a:latin typeface="Consolas" panose="020B0609020204030204" pitchFamily="49" charset="0"/>
              </a:rPr>
              <a:t>    self</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ui</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labelSelected</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setText</a:t>
            </a:r>
            <a:r>
              <a:rPr lang="en-US" sz="1700">
                <a:solidFill>
                  <a:srgbClr val="777777"/>
                </a:solidFill>
                <a:latin typeface="Consolas" panose="020B0609020204030204" pitchFamily="49" charset="0"/>
              </a:rPr>
              <a:t>("</a:t>
            </a:r>
            <a:r>
              <a:rPr lang="en-US" sz="1700">
                <a:solidFill>
                  <a:srgbClr val="448C27"/>
                </a:solidFill>
                <a:latin typeface="Consolas" panose="020B0609020204030204" pitchFamily="49" charset="0"/>
              </a:rPr>
              <a:t>Chosen shirt size is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selected1</a:t>
            </a:r>
            <a:r>
              <a:rPr lang="en-US" sz="1700">
                <a:solidFill>
                  <a:srgbClr val="777777"/>
                </a:solidFill>
                <a:latin typeface="Consolas" panose="020B0609020204030204" pitchFamily="49" charset="0"/>
              </a:rPr>
              <a:t>+</a:t>
            </a:r>
          </a:p>
          <a:p>
            <a:pPr>
              <a:lnSpc>
                <a:spcPct val="95000"/>
              </a:lnSpc>
            </a:pPr>
            <a:r>
              <a:rPr lang="en-US" sz="1700">
                <a:solidFill>
                  <a:srgbClr val="777777"/>
                </a:solidFill>
                <a:latin typeface="Consolas" panose="020B0609020204030204" pitchFamily="49" charset="0"/>
              </a:rPr>
              <a:t>		"</a:t>
            </a:r>
            <a:r>
              <a:rPr lang="en-US" sz="1700">
                <a:solidFill>
                  <a:srgbClr val="448C27"/>
                </a:solidFill>
                <a:latin typeface="Consolas" panose="020B0609020204030204" pitchFamily="49" charset="0"/>
              </a:rPr>
              <a:t> and payment method as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selected2</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95000"/>
              </a:lnSpc>
            </a:pPr>
            <a:endParaRPr lang="en-US" sz="1050">
              <a:solidFill>
                <a:srgbClr val="4B69C6"/>
              </a:solidFill>
              <a:latin typeface="Consolas" panose="020B0609020204030204" pitchFamily="49" charset="0"/>
            </a:endParaRPr>
          </a:p>
          <a:p>
            <a:pPr>
              <a:lnSpc>
                <a:spcPct val="95000"/>
              </a:lnSpc>
            </a:pPr>
            <a:r>
              <a:rPr lang="en-US" sz="1700">
                <a:solidFill>
                  <a:srgbClr val="4B69C6"/>
                </a:solidFill>
                <a:latin typeface="Consolas" panose="020B0609020204030204" pitchFamily="49" charset="0"/>
              </a:rPr>
              <a:t>if</a:t>
            </a:r>
            <a:r>
              <a:rPr lang="en-US" sz="1700">
                <a:solidFill>
                  <a:srgbClr val="333333"/>
                </a:solidFill>
                <a:latin typeface="Consolas" panose="020B0609020204030204" pitchFamily="49" charset="0"/>
              </a:rPr>
              <a:t> __name__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r>
              <a:rPr lang="en-US" sz="1700">
                <a:solidFill>
                  <a:srgbClr val="777777"/>
                </a:solidFill>
                <a:latin typeface="Consolas" panose="020B0609020204030204" pitchFamily="49" charset="0"/>
              </a:rPr>
              <a:t>"__</a:t>
            </a:r>
            <a:r>
              <a:rPr lang="en-US" sz="1700">
                <a:solidFill>
                  <a:srgbClr val="448C27"/>
                </a:solidFill>
                <a:latin typeface="Consolas" panose="020B0609020204030204" pitchFamily="49" charset="0"/>
              </a:rPr>
              <a:t>main__</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95000"/>
              </a:lnSpc>
            </a:pPr>
            <a:r>
              <a:rPr lang="en-US" sz="1700">
                <a:solidFill>
                  <a:srgbClr val="333333"/>
                </a:solidFill>
                <a:latin typeface="Consolas" panose="020B0609020204030204" pitchFamily="49" charset="0"/>
              </a:rPr>
              <a:t>  app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QApplication</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sys</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argv</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p>
          <a:p>
            <a:pPr>
              <a:lnSpc>
                <a:spcPct val="95000"/>
              </a:lnSpc>
            </a:pPr>
            <a:r>
              <a:rPr lang="en-US" sz="1700">
                <a:solidFill>
                  <a:srgbClr val="333333"/>
                </a:solidFill>
                <a:latin typeface="Consolas" panose="020B0609020204030204" pitchFamily="49" charset="0"/>
              </a:rPr>
              <a:t>  w </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MyForm</a:t>
            </a:r>
            <a:r>
              <a:rPr lang="en-US" sz="1700">
                <a:solidFill>
                  <a:srgbClr val="777777"/>
                </a:solidFill>
                <a:latin typeface="Consolas" panose="020B0609020204030204" pitchFamily="49" charset="0"/>
              </a:rPr>
              <a:t>()</a:t>
            </a:r>
            <a:endParaRPr lang="en-US" sz="1700">
              <a:solidFill>
                <a:srgbClr val="333333"/>
              </a:solidFill>
              <a:latin typeface="Consolas" panose="020B0609020204030204" pitchFamily="49" charset="0"/>
            </a:endParaRPr>
          </a:p>
          <a:p>
            <a:pPr>
              <a:lnSpc>
                <a:spcPct val="95000"/>
              </a:lnSpc>
            </a:pPr>
            <a:r>
              <a:rPr lang="en-US" sz="1700">
                <a:solidFill>
                  <a:srgbClr val="333333"/>
                </a:solidFill>
                <a:latin typeface="Consolas" panose="020B0609020204030204" pitchFamily="49" charset="0"/>
              </a:rPr>
              <a:t>  w</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show</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 </a:t>
            </a:r>
          </a:p>
          <a:p>
            <a:pPr>
              <a:lnSpc>
                <a:spcPct val="95000"/>
              </a:lnSpc>
            </a:pPr>
            <a:r>
              <a:rPr lang="en-US" sz="1700">
                <a:solidFill>
                  <a:srgbClr val="333333"/>
                </a:solidFill>
                <a:latin typeface="Consolas" panose="020B0609020204030204" pitchFamily="49" charset="0"/>
              </a:rPr>
              <a:t>  sys</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exit</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app</a:t>
            </a:r>
            <a:r>
              <a:rPr lang="en-US" sz="1700">
                <a:solidFill>
                  <a:srgbClr val="777777"/>
                </a:solidFill>
                <a:latin typeface="Consolas" panose="020B0609020204030204" pitchFamily="49" charset="0"/>
              </a:rPr>
              <a:t>.</a:t>
            </a:r>
            <a:r>
              <a:rPr lang="en-US" sz="1700">
                <a:solidFill>
                  <a:srgbClr val="333333"/>
                </a:solidFill>
                <a:latin typeface="Consolas" panose="020B0609020204030204" pitchFamily="49" charset="0"/>
              </a:rPr>
              <a:t>exec_</a:t>
            </a:r>
            <a:r>
              <a:rPr lang="en-US" sz="1700">
                <a:solidFill>
                  <a:srgbClr val="777777"/>
                </a:solidFill>
                <a:latin typeface="Consolas" panose="020B0609020204030204" pitchFamily="49" charset="0"/>
              </a:rPr>
              <a:t>())</a:t>
            </a:r>
            <a:endParaRPr lang="en-US" sz="1700" b="0">
              <a:solidFill>
                <a:srgbClr val="333333"/>
              </a:solidFill>
              <a:effectLst/>
              <a:latin typeface="Consolas" panose="020B0609020204030204" pitchFamily="49" charset="0"/>
            </a:endParaRPr>
          </a:p>
        </p:txBody>
      </p:sp>
    </p:spTree>
    <p:extLst>
      <p:ext uri="{BB962C8B-B14F-4D97-AF65-F5344CB8AC3E}">
        <p14:creationId xmlns:p14="http://schemas.microsoft.com/office/powerpoint/2010/main" val="41557988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76090-FF93-4FEF-B1D5-885696AAD22C}"/>
              </a:ext>
            </a:extLst>
          </p:cNvPr>
          <p:cNvSpPr>
            <a:spLocks noGrp="1"/>
          </p:cNvSpPr>
          <p:nvPr>
            <p:ph type="title"/>
          </p:nvPr>
        </p:nvSpPr>
        <p:spPr>
          <a:xfrm>
            <a:off x="22259" y="28244"/>
            <a:ext cx="9102490" cy="739199"/>
          </a:xfrm>
        </p:spPr>
        <p:txBody>
          <a:bodyPr>
            <a:normAutofit/>
          </a:bodyPr>
          <a:lstStyle/>
          <a:p>
            <a:r>
              <a:rPr lang="en-US"/>
              <a:t>Cách ch</a:t>
            </a:r>
            <a:r>
              <a:rPr lang="vi-VN"/>
              <a:t>ư</a:t>
            </a:r>
            <a:r>
              <a:rPr lang="en-US"/>
              <a:t>ơng trình chạy thế nào...</a:t>
            </a:r>
          </a:p>
        </p:txBody>
      </p:sp>
      <p:sp>
        <p:nvSpPr>
          <p:cNvPr id="3" name="Content Placeholder 2">
            <a:extLst>
              <a:ext uri="{FF2B5EF4-FFF2-40B4-BE49-F238E27FC236}">
                <a16:creationId xmlns:a16="http://schemas.microsoft.com/office/drawing/2014/main" id="{5FDF6F1F-7C93-4C09-ADAD-C4F91AE910B3}"/>
              </a:ext>
            </a:extLst>
          </p:cNvPr>
          <p:cNvSpPr>
            <a:spLocks noGrp="1"/>
          </p:cNvSpPr>
          <p:nvPr>
            <p:ph idx="1"/>
          </p:nvPr>
        </p:nvSpPr>
        <p:spPr>
          <a:xfrm>
            <a:off x="22259" y="767443"/>
            <a:ext cx="9102490" cy="6062315"/>
          </a:xfrm>
        </p:spPr>
        <p:txBody>
          <a:bodyPr>
            <a:normAutofit/>
          </a:bodyPr>
          <a:lstStyle/>
          <a:p>
            <a:pPr algn="just"/>
            <a:r>
              <a:rPr lang="vi-VN" sz="2400"/>
              <a:t>Sự kiện </a:t>
            </a:r>
            <a:r>
              <a:rPr lang="en-US" sz="2400" b="1"/>
              <a:t>toggled()</a:t>
            </a:r>
            <a:r>
              <a:rPr lang="vi-VN" sz="2400"/>
              <a:t> của các radio được kết nối với </a:t>
            </a:r>
            <a:r>
              <a:rPr lang="en-US" sz="2400"/>
              <a:t>hàm </a:t>
            </a:r>
            <a:r>
              <a:rPr lang="en-US" sz="2400">
                <a:latin typeface="Courier New" panose="02070309020205020404" pitchFamily="49" charset="0"/>
                <a:cs typeface="Courier New" panose="02070309020205020404" pitchFamily="49" charset="0"/>
              </a:rPr>
              <a:t>dispSelected</a:t>
            </a:r>
            <a:r>
              <a:rPr lang="vi-VN" sz="2400">
                <a:latin typeface="Courier New" panose="02070309020205020404" pitchFamily="49" charset="0"/>
                <a:cs typeface="Courier New" panose="02070309020205020404" pitchFamily="49" charset="0"/>
              </a:rPr>
              <a:t>()</a:t>
            </a:r>
            <a:r>
              <a:rPr lang="vi-VN" sz="2400"/>
              <a:t> sẽ hiển thị kích thước áo sơ mi và phương thức thanh toán đã chọn. Trong hàm </a:t>
            </a:r>
            <a:r>
              <a:rPr lang="en-US" sz="2400">
                <a:latin typeface="Courier New" panose="02070309020205020404" pitchFamily="49" charset="0"/>
                <a:cs typeface="Courier New" panose="02070309020205020404" pitchFamily="49" charset="0"/>
              </a:rPr>
              <a:t>dispSelected</a:t>
            </a:r>
            <a:r>
              <a:rPr lang="vi-VN" sz="2400">
                <a:latin typeface="Courier New" panose="02070309020205020404" pitchFamily="49" charset="0"/>
                <a:cs typeface="Courier New" panose="02070309020205020404" pitchFamily="49" charset="0"/>
              </a:rPr>
              <a:t>()</a:t>
            </a:r>
            <a:r>
              <a:rPr lang="vi-VN" sz="2400"/>
              <a:t>, kiểm tra trạng thái của các nút radio để xem chúng có được </a:t>
            </a:r>
            <a:r>
              <a:rPr lang="en-US" sz="2400"/>
              <a:t>check chọn </a:t>
            </a:r>
            <a:r>
              <a:rPr lang="vi-VN" sz="2400"/>
              <a:t>hay không. </a:t>
            </a:r>
            <a:r>
              <a:rPr lang="en-US" sz="2400"/>
              <a:t>Biến selected1 sẽ chứa Medium, Large, Extra Large, Extra Extra Large</a:t>
            </a:r>
            <a:r>
              <a:rPr lang="vi-VN" sz="2400"/>
              <a:t>. Tương tự, </a:t>
            </a:r>
            <a:r>
              <a:rPr lang="en-US" sz="2400"/>
              <a:t>biến selected2 chứa </a:t>
            </a:r>
            <a:r>
              <a:rPr lang="en-US" sz="2400" b="1"/>
              <a:t>Debit/Credit Card</a:t>
            </a:r>
            <a:r>
              <a:rPr lang="en-US" sz="2400"/>
              <a:t>, </a:t>
            </a:r>
            <a:r>
              <a:rPr lang="en-US" sz="2400" b="1"/>
              <a:t>NetBanking</a:t>
            </a:r>
            <a:r>
              <a:rPr lang="en-US" sz="2400"/>
              <a:t>, </a:t>
            </a:r>
            <a:r>
              <a:rPr lang="en-US" sz="2400" b="1"/>
              <a:t>Cash On Delivery</a:t>
            </a:r>
            <a:r>
              <a:rPr lang="vi-VN" sz="2400"/>
              <a:t>. Cuối cùng, k</a:t>
            </a:r>
            <a:r>
              <a:rPr lang="en-US" sz="2400"/>
              <a:t>ết quả hiển thị ra labelSelected</a:t>
            </a:r>
            <a:r>
              <a:rPr lang="vi-VN" sz="2400"/>
              <a:t>. </a:t>
            </a:r>
            <a:endParaRPr lang="en-US" sz="2400"/>
          </a:p>
        </p:txBody>
      </p:sp>
      <p:grpSp>
        <p:nvGrpSpPr>
          <p:cNvPr id="4" name="Group 2">
            <a:extLst>
              <a:ext uri="{FF2B5EF4-FFF2-40B4-BE49-F238E27FC236}">
                <a16:creationId xmlns:a16="http://schemas.microsoft.com/office/drawing/2014/main" id="{F56FAECF-035A-4B2F-92F9-BCD6977F837B}"/>
              </a:ext>
            </a:extLst>
          </p:cNvPr>
          <p:cNvGrpSpPr>
            <a:grpSpLocks/>
          </p:cNvGrpSpPr>
          <p:nvPr/>
        </p:nvGrpSpPr>
        <p:grpSpPr bwMode="auto">
          <a:xfrm>
            <a:off x="2444749" y="3316000"/>
            <a:ext cx="6676992" cy="3513756"/>
            <a:chOff x="2050" y="262"/>
            <a:chExt cx="6700" cy="4195"/>
          </a:xfrm>
        </p:grpSpPr>
        <p:pic>
          <p:nvPicPr>
            <p:cNvPr id="3075" name="Picture 3">
              <a:extLst>
                <a:ext uri="{FF2B5EF4-FFF2-40B4-BE49-F238E27FC236}">
                  <a16:creationId xmlns:a16="http://schemas.microsoft.com/office/drawing/2014/main" id="{B077E026-AC35-4529-B7B4-AC4C9F50F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0" y="336"/>
              <a:ext cx="6660" cy="4101"/>
            </a:xfrm>
            <a:prstGeom prst="rect">
              <a:avLst/>
            </a:prstGeom>
            <a:noFill/>
            <a:extLst>
              <a:ext uri="{909E8E84-426E-40DD-AFC4-6F175D3DCCD1}">
                <a14:hiddenFill xmlns:a14="http://schemas.microsoft.com/office/drawing/2010/main">
                  <a:solidFill>
                    <a:srgbClr val="FFFFFF"/>
                  </a:solidFill>
                </a14:hiddenFill>
              </a:ext>
            </a:extLst>
          </p:spPr>
        </p:pic>
        <p:sp>
          <p:nvSpPr>
            <p:cNvPr id="5" name="Line 4">
              <a:extLst>
                <a:ext uri="{FF2B5EF4-FFF2-40B4-BE49-F238E27FC236}">
                  <a16:creationId xmlns:a16="http://schemas.microsoft.com/office/drawing/2014/main" id="{829366A6-2845-4BC5-8C24-59936769FE95}"/>
                </a:ext>
              </a:extLst>
            </p:cNvPr>
            <p:cNvSpPr>
              <a:spLocks noChangeShapeType="1"/>
            </p:cNvSpPr>
            <p:nvPr/>
          </p:nvSpPr>
          <p:spPr bwMode="auto">
            <a:xfrm>
              <a:off x="2060" y="272"/>
              <a:ext cx="668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Line 5">
              <a:extLst>
                <a:ext uri="{FF2B5EF4-FFF2-40B4-BE49-F238E27FC236}">
                  <a16:creationId xmlns:a16="http://schemas.microsoft.com/office/drawing/2014/main" id="{4C9F302F-4B7E-4A62-8483-2489CEA50361}"/>
                </a:ext>
              </a:extLst>
            </p:cNvPr>
            <p:cNvSpPr>
              <a:spLocks noChangeShapeType="1"/>
            </p:cNvSpPr>
            <p:nvPr/>
          </p:nvSpPr>
          <p:spPr bwMode="auto">
            <a:xfrm>
              <a:off x="2060" y="272"/>
              <a:ext cx="0" cy="417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Line 6">
              <a:extLst>
                <a:ext uri="{FF2B5EF4-FFF2-40B4-BE49-F238E27FC236}">
                  <a16:creationId xmlns:a16="http://schemas.microsoft.com/office/drawing/2014/main" id="{57341D81-EFC8-4487-8DAB-E899F92AC762}"/>
                </a:ext>
              </a:extLst>
            </p:cNvPr>
            <p:cNvSpPr>
              <a:spLocks noChangeShapeType="1"/>
            </p:cNvSpPr>
            <p:nvPr/>
          </p:nvSpPr>
          <p:spPr bwMode="auto">
            <a:xfrm>
              <a:off x="8740" y="272"/>
              <a:ext cx="0" cy="417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Line 7">
              <a:extLst>
                <a:ext uri="{FF2B5EF4-FFF2-40B4-BE49-F238E27FC236}">
                  <a16:creationId xmlns:a16="http://schemas.microsoft.com/office/drawing/2014/main" id="{6A2620D1-5FF7-4F6C-A6C5-7A027FBF159F}"/>
                </a:ext>
              </a:extLst>
            </p:cNvPr>
            <p:cNvSpPr>
              <a:spLocks noChangeShapeType="1"/>
            </p:cNvSpPr>
            <p:nvPr/>
          </p:nvSpPr>
          <p:spPr bwMode="auto">
            <a:xfrm>
              <a:off x="2060" y="4447"/>
              <a:ext cx="668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9665819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FAF7F-5079-4D94-B393-1333441A3B0A}"/>
              </a:ext>
            </a:extLst>
          </p:cNvPr>
          <p:cNvSpPr>
            <a:spLocks noGrp="1"/>
          </p:cNvSpPr>
          <p:nvPr>
            <p:ph type="title"/>
          </p:nvPr>
        </p:nvSpPr>
        <p:spPr>
          <a:xfrm>
            <a:off x="22259" y="28244"/>
            <a:ext cx="9102490" cy="905407"/>
          </a:xfrm>
        </p:spPr>
        <p:txBody>
          <a:bodyPr>
            <a:normAutofit/>
          </a:bodyPr>
          <a:lstStyle/>
          <a:p>
            <a:r>
              <a:rPr lang="en-US" sz="4800"/>
              <a:t>Hiển thị tùy chọn ở dạng </a:t>
            </a:r>
            <a:r>
              <a:rPr lang="en-US" sz="4800" b="1"/>
              <a:t>checkboxes</a:t>
            </a:r>
          </a:p>
        </p:txBody>
      </p:sp>
      <p:sp>
        <p:nvSpPr>
          <p:cNvPr id="3" name="Content Placeholder 2">
            <a:extLst>
              <a:ext uri="{FF2B5EF4-FFF2-40B4-BE49-F238E27FC236}">
                <a16:creationId xmlns:a16="http://schemas.microsoft.com/office/drawing/2014/main" id="{7FFDBAA6-9B2B-488C-9DFE-BCFCCFAA6160}"/>
              </a:ext>
            </a:extLst>
          </p:cNvPr>
          <p:cNvSpPr>
            <a:spLocks noGrp="1"/>
          </p:cNvSpPr>
          <p:nvPr>
            <p:ph idx="1"/>
          </p:nvPr>
        </p:nvSpPr>
        <p:spPr>
          <a:xfrm>
            <a:off x="22259" y="933652"/>
            <a:ext cx="9102490" cy="5896106"/>
          </a:xfrm>
        </p:spPr>
        <p:txBody>
          <a:bodyPr>
            <a:normAutofit lnSpcReduction="10000"/>
          </a:bodyPr>
          <a:lstStyle/>
          <a:p>
            <a:r>
              <a:rPr lang="vi-VN"/>
              <a:t>Trong khi tạo ứng dụng, bạn có thể gặp một tình huống mà bạn cần cung cấp một số tùy chọn để người dùng lựa chọn. Đó là, bạn muốn người dùng chọn một hoặc nhiều tùy chọn từ một nhóm tùy chọn. Trong những tình huống như vậy, bạn cần sử dụng các hộp kiểm</a:t>
            </a:r>
            <a:r>
              <a:rPr lang="en-US"/>
              <a:t> (checkbox)</a:t>
            </a:r>
            <a:r>
              <a:rPr lang="vi-VN"/>
              <a:t>. </a:t>
            </a:r>
            <a:endParaRPr lang="en-US"/>
          </a:p>
          <a:p>
            <a:r>
              <a:rPr lang="vi-VN"/>
              <a:t>Trong khi các radio </a:t>
            </a:r>
            <a:r>
              <a:rPr lang="en-US"/>
              <a:t>button </a:t>
            </a:r>
            <a:r>
              <a:rPr lang="vi-VN"/>
              <a:t>chỉ cho phép một tùy chọn được chọn trong một nhóm, các </a:t>
            </a:r>
            <a:r>
              <a:rPr lang="en-US"/>
              <a:t>checkbox </a:t>
            </a:r>
            <a:r>
              <a:rPr lang="vi-VN"/>
              <a:t>cho phép chọn nhiều hơn một tùy chọn. Nghĩa là, chọn một hộp kiểm sẽ không ảnh hưởng đến các hộp kiểm khác trong ứng dụng. Các hộp kiểm được hiển thị với nhãn </a:t>
            </a:r>
            <a:r>
              <a:rPr lang="en-US"/>
              <a:t>text </a:t>
            </a:r>
            <a:r>
              <a:rPr lang="vi-VN"/>
              <a:t>dưới dạng </a:t>
            </a:r>
            <a:r>
              <a:rPr lang="en-US"/>
              <a:t>thể hiện </a:t>
            </a:r>
            <a:r>
              <a:rPr lang="vi-VN"/>
              <a:t>của lớp </a:t>
            </a:r>
            <a:r>
              <a:rPr lang="vi-VN" b="1"/>
              <a:t>QCheckBox</a:t>
            </a:r>
            <a:r>
              <a:rPr lang="vi-VN"/>
              <a:t>. Một hộp kiểm có thể ở bất kỳ trạng thái nào trong ba trạng thái: </a:t>
            </a:r>
            <a:r>
              <a:rPr lang="en-US"/>
              <a:t>selected </a:t>
            </a:r>
            <a:r>
              <a:rPr lang="vi-VN"/>
              <a:t>(</a:t>
            </a:r>
            <a:r>
              <a:rPr lang="en-US"/>
              <a:t>checked</a:t>
            </a:r>
            <a:r>
              <a:rPr lang="vi-VN"/>
              <a:t>), </a:t>
            </a:r>
            <a:r>
              <a:rPr lang="en-US"/>
              <a:t>unselected </a:t>
            </a:r>
            <a:r>
              <a:rPr lang="vi-VN"/>
              <a:t>(</a:t>
            </a:r>
            <a:r>
              <a:rPr lang="en-US"/>
              <a:t>unchecked</a:t>
            </a:r>
            <a:r>
              <a:rPr lang="vi-VN"/>
              <a:t>) hoặc tristate (không thay đổi). Tristate là một trạng thái không thay đổi; người dùng không </a:t>
            </a:r>
            <a:r>
              <a:rPr lang="en-US"/>
              <a:t>chọn </a:t>
            </a:r>
            <a:r>
              <a:rPr lang="vi-VN"/>
              <a:t>hay bỏ chọn hộp kiểm.</a:t>
            </a:r>
            <a:endParaRPr lang="en-US"/>
          </a:p>
        </p:txBody>
      </p:sp>
    </p:spTree>
    <p:extLst>
      <p:ext uri="{BB962C8B-B14F-4D97-AF65-F5344CB8AC3E}">
        <p14:creationId xmlns:p14="http://schemas.microsoft.com/office/powerpoint/2010/main" val="12993841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7D859-5EFD-4DEB-BA9C-3E9CCF321105}"/>
              </a:ext>
            </a:extLst>
          </p:cNvPr>
          <p:cNvSpPr>
            <a:spLocks noGrp="1"/>
          </p:cNvSpPr>
          <p:nvPr>
            <p:ph type="title"/>
          </p:nvPr>
        </p:nvSpPr>
        <p:spPr>
          <a:xfrm>
            <a:off x="22259" y="28244"/>
            <a:ext cx="9102490" cy="788185"/>
          </a:xfrm>
        </p:spPr>
        <p:txBody>
          <a:bodyPr>
            <a:normAutofit fontScale="90000"/>
          </a:bodyPr>
          <a:lstStyle/>
          <a:p>
            <a:r>
              <a:rPr lang="en-US" sz="4800" b="1"/>
              <a:t>Các </a:t>
            </a:r>
            <a:r>
              <a:rPr lang="vi-VN" sz="4800">
                <a:latin typeface="Calibri" panose="020F0502020204030204" pitchFamily="34" charset="0"/>
                <a:cs typeface="Calibri" panose="020F0502020204030204" pitchFamily="34" charset="0"/>
              </a:rPr>
              <a:t>phương</a:t>
            </a:r>
            <a:r>
              <a:rPr lang="vi-VN" sz="4800" b="1">
                <a:latin typeface="Calibri" panose="020F0502020204030204" pitchFamily="34" charset="0"/>
                <a:cs typeface="Calibri" panose="020F0502020204030204" pitchFamily="34" charset="0"/>
              </a:rPr>
              <a:t> </a:t>
            </a:r>
            <a:r>
              <a:rPr lang="en-US" sz="4800" b="1"/>
              <a:t>thức của </a:t>
            </a:r>
            <a:r>
              <a:rPr lang="en-US" sz="5400" b="1"/>
              <a:t>checkbox</a:t>
            </a:r>
            <a:endParaRPr lang="en-US" sz="4800" b="1"/>
          </a:p>
        </p:txBody>
      </p:sp>
      <p:sp>
        <p:nvSpPr>
          <p:cNvPr id="3" name="Content Placeholder 2">
            <a:extLst>
              <a:ext uri="{FF2B5EF4-FFF2-40B4-BE49-F238E27FC236}">
                <a16:creationId xmlns:a16="http://schemas.microsoft.com/office/drawing/2014/main" id="{602CF797-9F29-4FDF-BFCC-525E91707D1F}"/>
              </a:ext>
            </a:extLst>
          </p:cNvPr>
          <p:cNvSpPr>
            <a:spLocks noGrp="1"/>
          </p:cNvSpPr>
          <p:nvPr>
            <p:ph idx="1"/>
          </p:nvPr>
        </p:nvSpPr>
        <p:spPr>
          <a:xfrm>
            <a:off x="22259" y="816430"/>
            <a:ext cx="9102490" cy="6013328"/>
          </a:xfrm>
        </p:spPr>
        <p:txBody>
          <a:bodyPr>
            <a:normAutofit fontScale="92500"/>
          </a:bodyPr>
          <a:lstStyle/>
          <a:p>
            <a:r>
              <a:rPr lang="vi-VN" b="1"/>
              <a:t>isChecked()</a:t>
            </a:r>
            <a:r>
              <a:rPr lang="vi-VN"/>
              <a:t>: Phương thức này trả về giá trị Boolean true nếu hộp kiểm được chọn và nếu không trả về false.</a:t>
            </a:r>
          </a:p>
          <a:p>
            <a:r>
              <a:rPr lang="vi-VN" b="1"/>
              <a:t>setTristate()</a:t>
            </a:r>
            <a:r>
              <a:rPr lang="vi-VN"/>
              <a:t>: Nếu bạn không muốn người dùng thay đổi trạng thái của hộp kiểm, bạn </a:t>
            </a:r>
            <a:r>
              <a:rPr lang="en-US"/>
              <a:t>truyền </a:t>
            </a:r>
            <a:r>
              <a:rPr lang="vi-VN"/>
              <a:t>giá trị Boolean </a:t>
            </a:r>
            <a:r>
              <a:rPr lang="en-US"/>
              <a:t>true </a:t>
            </a:r>
            <a:r>
              <a:rPr lang="vi-VN"/>
              <a:t>cho phương thức này. Người dùng sẽ không thể </a:t>
            </a:r>
            <a:r>
              <a:rPr lang="en-US"/>
              <a:t>chọn </a:t>
            </a:r>
            <a:r>
              <a:rPr lang="vi-VN"/>
              <a:t>hoặc bỏ chọn hộp kiểm.</a:t>
            </a:r>
          </a:p>
          <a:p>
            <a:r>
              <a:rPr lang="vi-VN" b="1"/>
              <a:t>setIcon()</a:t>
            </a:r>
            <a:r>
              <a:rPr lang="vi-VN"/>
              <a:t>: Phương thức này được sử dụng để hiển thị một biểu tượng với hộp kiểm. </a:t>
            </a:r>
            <a:endParaRPr lang="en-US"/>
          </a:p>
          <a:p>
            <a:r>
              <a:rPr lang="vi-VN" b="1"/>
              <a:t>setText()</a:t>
            </a:r>
            <a:r>
              <a:rPr lang="vi-VN"/>
              <a:t>: Phương thức này gán văn bản cho hộp kiểm. Để chỉ định một phím tắt cho hộp kiểm, hãy đặt trước ký tự ưa thích trong văn bản bằng dấu </a:t>
            </a:r>
            <a:r>
              <a:rPr lang="en-US"/>
              <a:t>"&amp;"</a:t>
            </a:r>
            <a:r>
              <a:rPr lang="vi-VN"/>
              <a:t>.</a:t>
            </a:r>
            <a:r>
              <a:rPr lang="en-US"/>
              <a:t> </a:t>
            </a:r>
            <a:r>
              <a:rPr lang="vi-VN"/>
              <a:t>Ký tự phím tắt sẽ xuất hiện dưới dạng gạch chân.</a:t>
            </a:r>
          </a:p>
          <a:p>
            <a:r>
              <a:rPr lang="vi-VN" b="1"/>
              <a:t>setChecked()</a:t>
            </a:r>
            <a:r>
              <a:rPr lang="vi-VN"/>
              <a:t>: Để làm cho hộp kiểm xuất hiện dưới dạng được kiểm tra theo mặc định, </a:t>
            </a:r>
            <a:r>
              <a:rPr lang="en-US"/>
              <a:t>truyền </a:t>
            </a:r>
            <a:r>
              <a:rPr lang="vi-VN"/>
              <a:t>giá trị Boolean </a:t>
            </a:r>
            <a:r>
              <a:rPr lang="en-US"/>
              <a:t>true </a:t>
            </a:r>
            <a:r>
              <a:rPr lang="vi-VN"/>
              <a:t>cho phương thức này.</a:t>
            </a:r>
            <a:endParaRPr lang="en-US"/>
          </a:p>
        </p:txBody>
      </p:sp>
    </p:spTree>
    <p:extLst>
      <p:ext uri="{BB962C8B-B14F-4D97-AF65-F5344CB8AC3E}">
        <p14:creationId xmlns:p14="http://schemas.microsoft.com/office/powerpoint/2010/main" val="39918595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5C23E-12F8-47FD-BF7C-BFD7D5DCF06E}"/>
              </a:ext>
            </a:extLst>
          </p:cNvPr>
          <p:cNvSpPr>
            <a:spLocks noGrp="1"/>
          </p:cNvSpPr>
          <p:nvPr>
            <p:ph type="title"/>
          </p:nvPr>
        </p:nvSpPr>
        <p:spPr>
          <a:xfrm>
            <a:off x="22259" y="28244"/>
            <a:ext cx="9102490" cy="788185"/>
          </a:xfrm>
        </p:spPr>
        <p:txBody>
          <a:bodyPr/>
          <a:lstStyle/>
          <a:p>
            <a:r>
              <a:rPr lang="en-US" b="1"/>
              <a:t>Mô tả tín hiệu phát ra bởi QCheckBox</a:t>
            </a:r>
          </a:p>
        </p:txBody>
      </p:sp>
      <p:sp>
        <p:nvSpPr>
          <p:cNvPr id="3" name="Content Placeholder 2">
            <a:extLst>
              <a:ext uri="{FF2B5EF4-FFF2-40B4-BE49-F238E27FC236}">
                <a16:creationId xmlns:a16="http://schemas.microsoft.com/office/drawing/2014/main" id="{99AB2836-6889-457C-9592-299A8644974F}"/>
              </a:ext>
            </a:extLst>
          </p:cNvPr>
          <p:cNvSpPr>
            <a:spLocks noGrp="1"/>
          </p:cNvSpPr>
          <p:nvPr>
            <p:ph idx="1"/>
          </p:nvPr>
        </p:nvSpPr>
        <p:spPr>
          <a:xfrm>
            <a:off x="22259" y="816430"/>
            <a:ext cx="9102490" cy="6013328"/>
          </a:xfrm>
        </p:spPr>
        <p:txBody>
          <a:bodyPr>
            <a:normAutofit fontScale="92500" lnSpcReduction="10000"/>
          </a:bodyPr>
          <a:lstStyle/>
          <a:p>
            <a:r>
              <a:rPr lang="vi-VN" b="1"/>
              <a:t>clicked()</a:t>
            </a:r>
            <a:r>
              <a:rPr lang="vi-VN"/>
              <a:t>: Tín hiệu này được phát ra khi hộp kiểm được kích hoạt (nghĩa là nhấn và nhả) hoặc khi nhấn phím tắt của nó</a:t>
            </a:r>
          </a:p>
          <a:p>
            <a:r>
              <a:rPr lang="vi-VN" b="1"/>
              <a:t>stateChanged()</a:t>
            </a:r>
            <a:r>
              <a:rPr lang="vi-VN"/>
              <a:t>: Tín hiệu này được phát ra mỗi khi hộp kiểm thay đổi trạng thái từ được chọn sang không được kiểm tra hoặc ngược lại</a:t>
            </a:r>
          </a:p>
          <a:p>
            <a:endParaRPr lang="vi-VN"/>
          </a:p>
          <a:p>
            <a:pPr marL="0" indent="0">
              <a:buNone/>
            </a:pPr>
            <a:r>
              <a:rPr lang="vi-VN"/>
              <a:t>Để hiểu </a:t>
            </a:r>
            <a:r>
              <a:rPr lang="en-US"/>
              <a:t>widget </a:t>
            </a:r>
            <a:r>
              <a:rPr lang="en-US" b="1"/>
              <a:t>Check Box</a:t>
            </a:r>
            <a:r>
              <a:rPr lang="vi-VN"/>
              <a:t>, hãy giả sử rằng bạn điều hành một nhà hàng nơi bán một số mặt hàng thực phẩm, chẳng hạn như pizza,</a:t>
            </a:r>
            <a:r>
              <a:rPr lang="en-US"/>
              <a:t> ...</a:t>
            </a:r>
            <a:r>
              <a:rPr lang="vi-VN"/>
              <a:t> Bánh pizza được bán cùng với các loại toppings khác nhau, chẳng hạn như phô mai thêm, ô liu thêm, và giá của mỗi loại topping cũng được đề cập với nó. Người dùng có thể chọn một chiếc bánh pizza thông thường với một hoặc nhiều mặt trên. Những gì bạn muốn là khi một topping được chọn, tổng giá của pizza, bao gồm cả topping được chọn, sẽ được hiển thị.</a:t>
            </a:r>
            <a:endParaRPr lang="en-US"/>
          </a:p>
        </p:txBody>
      </p:sp>
    </p:spTree>
    <p:extLst>
      <p:ext uri="{BB962C8B-B14F-4D97-AF65-F5344CB8AC3E}">
        <p14:creationId xmlns:p14="http://schemas.microsoft.com/office/powerpoint/2010/main" val="31254900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A0771-835C-41EB-B8D3-DF9847201C86}"/>
              </a:ext>
            </a:extLst>
          </p:cNvPr>
          <p:cNvSpPr>
            <a:spLocks noGrp="1"/>
          </p:cNvSpPr>
          <p:nvPr>
            <p:ph type="title"/>
          </p:nvPr>
        </p:nvSpPr>
        <p:spPr>
          <a:xfrm>
            <a:off x="22259" y="28244"/>
            <a:ext cx="9102490" cy="698377"/>
          </a:xfrm>
        </p:spPr>
        <p:txBody>
          <a:bodyPr>
            <a:normAutofit/>
          </a:bodyPr>
          <a:lstStyle/>
          <a:p>
            <a:r>
              <a:rPr lang="en-US"/>
              <a:t>Viết ch</a:t>
            </a:r>
            <a:r>
              <a:rPr lang="vi-VN"/>
              <a:t>ư</a:t>
            </a:r>
            <a:r>
              <a:rPr lang="en-US"/>
              <a:t>ơng trình với </a:t>
            </a:r>
            <a:r>
              <a:rPr lang="en-US" b="1"/>
              <a:t>checkbox</a:t>
            </a:r>
            <a:r>
              <a:rPr lang="en-US"/>
              <a:t>...</a:t>
            </a:r>
          </a:p>
        </p:txBody>
      </p:sp>
      <p:sp>
        <p:nvSpPr>
          <p:cNvPr id="3" name="Content Placeholder 2">
            <a:extLst>
              <a:ext uri="{FF2B5EF4-FFF2-40B4-BE49-F238E27FC236}">
                <a16:creationId xmlns:a16="http://schemas.microsoft.com/office/drawing/2014/main" id="{919734D3-B3DF-44DF-98D5-9C9D5A25D7F6}"/>
              </a:ext>
            </a:extLst>
          </p:cNvPr>
          <p:cNvSpPr>
            <a:spLocks noGrp="1"/>
          </p:cNvSpPr>
          <p:nvPr>
            <p:ph idx="1"/>
          </p:nvPr>
        </p:nvSpPr>
        <p:spPr>
          <a:xfrm>
            <a:off x="22259" y="710294"/>
            <a:ext cx="9102490" cy="6103136"/>
          </a:xfrm>
        </p:spPr>
        <p:txBody>
          <a:bodyPr>
            <a:noAutofit/>
          </a:bodyPr>
          <a:lstStyle/>
          <a:p>
            <a:pPr>
              <a:lnSpc>
                <a:spcPct val="100000"/>
              </a:lnSpc>
              <a:spcBef>
                <a:spcPts val="0"/>
              </a:spcBef>
            </a:pPr>
            <a:r>
              <a:rPr lang="vi-VN" sz="2200"/>
              <a:t>Trọng tâm của công thức này là để hiểu cách thức một hành động được bắt đầu khi trạng thái của </a:t>
            </a:r>
            <a:r>
              <a:rPr lang="en-US" sz="2200"/>
              <a:t>checkbox </a:t>
            </a:r>
            <a:r>
              <a:rPr lang="vi-VN" sz="2200"/>
              <a:t>thay đổi từ được chọn sang không được </a:t>
            </a:r>
            <a:r>
              <a:rPr lang="en-US" sz="2200"/>
              <a:t>chọn </a:t>
            </a:r>
            <a:r>
              <a:rPr lang="vi-VN" sz="2200"/>
              <a:t>hoặc ngược lại. Sau đây là quy trình từng bước để tạo một ứng dụng như vậy:</a:t>
            </a:r>
          </a:p>
          <a:p>
            <a:pPr marL="0" indent="0">
              <a:lnSpc>
                <a:spcPct val="100000"/>
              </a:lnSpc>
              <a:spcBef>
                <a:spcPts val="0"/>
              </a:spcBef>
              <a:buNone/>
            </a:pPr>
            <a:r>
              <a:rPr lang="vi-VN" sz="2200"/>
              <a:t>1. Bắt đầu </a:t>
            </a:r>
            <a:r>
              <a:rPr lang="en-US" sz="2200"/>
              <a:t>với </a:t>
            </a:r>
            <a:r>
              <a:rPr lang="vi-VN" sz="2200"/>
              <a:t>ứng dụng mới </a:t>
            </a:r>
            <a:r>
              <a:rPr lang="en-US" sz="2200" b="1"/>
              <a:t>Dialog without Buttons</a:t>
            </a:r>
            <a:r>
              <a:rPr lang="vi-VN" sz="2200"/>
              <a:t>.</a:t>
            </a:r>
          </a:p>
          <a:p>
            <a:pPr marL="0" indent="0">
              <a:lnSpc>
                <a:spcPct val="100000"/>
              </a:lnSpc>
              <a:spcBef>
                <a:spcPts val="0"/>
              </a:spcBef>
              <a:buNone/>
            </a:pPr>
            <a:r>
              <a:rPr lang="vi-VN" sz="2200"/>
              <a:t>2. Kéo và thả </a:t>
            </a:r>
            <a:r>
              <a:rPr lang="en-US" sz="2200"/>
              <a:t>widget Label </a:t>
            </a:r>
            <a:r>
              <a:rPr lang="vi-VN" sz="2200"/>
              <a:t>và ba tiện ích </a:t>
            </a:r>
            <a:r>
              <a:rPr lang="en-US" sz="2200"/>
              <a:t>Check Box </a:t>
            </a:r>
            <a:r>
              <a:rPr lang="vi-VN" sz="2200"/>
              <a:t>vào </a:t>
            </a:r>
            <a:r>
              <a:rPr lang="en-US" sz="2200"/>
              <a:t>form</a:t>
            </a:r>
            <a:r>
              <a:rPr lang="vi-VN" sz="2200"/>
              <a:t>.</a:t>
            </a:r>
          </a:p>
          <a:p>
            <a:pPr marL="0" indent="0">
              <a:lnSpc>
                <a:spcPct val="100000"/>
              </a:lnSpc>
              <a:spcBef>
                <a:spcPts val="0"/>
              </a:spcBef>
              <a:buNone/>
            </a:pPr>
            <a:r>
              <a:rPr lang="vi-VN" sz="2200"/>
              <a:t>3. Đặt thuộc tính </a:t>
            </a:r>
            <a:r>
              <a:rPr lang="en-US" sz="2200"/>
              <a:t>text </a:t>
            </a:r>
            <a:r>
              <a:rPr lang="vi-VN" sz="2200"/>
              <a:t>của hai </a:t>
            </a:r>
            <a:r>
              <a:rPr lang="en-US" sz="2200"/>
              <a:t>widget Label là Regular Pizza $10 </a:t>
            </a:r>
            <a:r>
              <a:rPr lang="vi-VN" sz="2200"/>
              <a:t>và</a:t>
            </a:r>
          </a:p>
          <a:p>
            <a:pPr marL="0" indent="0">
              <a:lnSpc>
                <a:spcPct val="100000"/>
              </a:lnSpc>
              <a:spcBef>
                <a:spcPts val="0"/>
              </a:spcBef>
              <a:buNone/>
            </a:pPr>
            <a:r>
              <a:rPr lang="en-US" sz="2200"/>
              <a:t>Select your extra toppings</a:t>
            </a:r>
            <a:r>
              <a:rPr lang="vi-VN" sz="2200"/>
              <a:t>.</a:t>
            </a:r>
          </a:p>
          <a:p>
            <a:pPr marL="0" indent="0">
              <a:lnSpc>
                <a:spcPct val="100000"/>
              </a:lnSpc>
              <a:spcBef>
                <a:spcPts val="0"/>
              </a:spcBef>
              <a:buNone/>
            </a:pPr>
            <a:r>
              <a:rPr lang="vi-VN" sz="2200"/>
              <a:t>4. Trong cửa sổ </a:t>
            </a:r>
            <a:r>
              <a:rPr lang="en-US" sz="2200" b="1"/>
              <a:t>Property Editor</a:t>
            </a:r>
            <a:r>
              <a:rPr lang="vi-VN" sz="2200"/>
              <a:t>, tăng kích thước phông chữ của cả ba nhãn và hộp kiểm để tăng khả năng hiển thị của chúng trong ứng dụng.</a:t>
            </a:r>
          </a:p>
          <a:p>
            <a:pPr marL="0" indent="0">
              <a:lnSpc>
                <a:spcPct val="100000"/>
              </a:lnSpc>
              <a:spcBef>
                <a:spcPts val="0"/>
              </a:spcBef>
              <a:buNone/>
            </a:pPr>
            <a:r>
              <a:rPr lang="vi-VN" sz="2200"/>
              <a:t>5. Đặt thuộc tính </a:t>
            </a:r>
            <a:r>
              <a:rPr lang="en-US" sz="2200"/>
              <a:t>text </a:t>
            </a:r>
            <a:r>
              <a:rPr lang="vi-VN" sz="2200"/>
              <a:t>của ba hộp kiểm thành </a:t>
            </a:r>
            <a:r>
              <a:rPr lang="vi-VN" sz="2200">
                <a:latin typeface="Courier New" panose="02070309020205020404" pitchFamily="49" charset="0"/>
                <a:cs typeface="Courier New" panose="02070309020205020404" pitchFamily="49" charset="0"/>
              </a:rPr>
              <a:t>Extra Cheese $1</a:t>
            </a:r>
            <a:r>
              <a:rPr lang="vi-VN" sz="2200"/>
              <a:t>, </a:t>
            </a:r>
            <a:r>
              <a:rPr lang="vi-VN" sz="2200">
                <a:latin typeface="Courier New" panose="02070309020205020404" pitchFamily="49" charset="0"/>
                <a:cs typeface="Courier New" panose="02070309020205020404" pitchFamily="49" charset="0"/>
              </a:rPr>
              <a:t>Extra Olives $1</a:t>
            </a:r>
            <a:r>
              <a:rPr lang="vi-VN" sz="2200"/>
              <a:t> và </a:t>
            </a:r>
            <a:r>
              <a:rPr lang="en-US" sz="2200">
                <a:latin typeface="Courier New" panose="02070309020205020404" pitchFamily="49" charset="0"/>
                <a:cs typeface="Courier New" panose="02070309020205020404" pitchFamily="49" charset="0"/>
              </a:rPr>
              <a:t>Extra Sausages $2</a:t>
            </a:r>
            <a:r>
              <a:rPr lang="vi-VN" sz="2200"/>
              <a:t>. Tên đối tượng mặc định của ba hộp kiểm tra là checkBox, checkBox_2 và checkBox_3.</a:t>
            </a:r>
          </a:p>
          <a:p>
            <a:pPr marL="0" indent="0">
              <a:lnSpc>
                <a:spcPct val="100000"/>
              </a:lnSpc>
              <a:spcBef>
                <a:spcPts val="0"/>
              </a:spcBef>
              <a:buNone/>
            </a:pPr>
            <a:r>
              <a:rPr lang="vi-VN" sz="2200"/>
              <a:t>6. Thay đổi thành </a:t>
            </a:r>
            <a:r>
              <a:rPr lang="vi-VN" sz="2200">
                <a:latin typeface="Consolas" panose="020B0609020204030204" pitchFamily="49" charset="0"/>
              </a:rPr>
              <a:t>checkBoxCheese</a:t>
            </a:r>
            <a:r>
              <a:rPr lang="vi-VN" sz="2200"/>
              <a:t>, </a:t>
            </a:r>
            <a:r>
              <a:rPr lang="vi-VN" sz="2200">
                <a:latin typeface="Consolas" panose="020B0609020204030204" pitchFamily="49" charset="0"/>
              </a:rPr>
              <a:t>checkBoxOlives</a:t>
            </a:r>
            <a:r>
              <a:rPr lang="vi-VN" sz="2200"/>
              <a:t> và </a:t>
            </a:r>
            <a:r>
              <a:rPr lang="vi-VN" sz="2200">
                <a:latin typeface="Consolas" panose="020B0609020204030204" pitchFamily="49" charset="0"/>
              </a:rPr>
              <a:t>checkBoxSausages</a:t>
            </a:r>
            <a:r>
              <a:rPr lang="vi-VN" sz="2200"/>
              <a:t> tương ứng.</a:t>
            </a:r>
          </a:p>
          <a:p>
            <a:pPr marL="0" indent="0">
              <a:lnSpc>
                <a:spcPct val="100000"/>
              </a:lnSpc>
              <a:spcBef>
                <a:spcPts val="0"/>
              </a:spcBef>
              <a:buNone/>
            </a:pPr>
            <a:r>
              <a:rPr lang="vi-VN" sz="2200"/>
              <a:t>7. Đặt thuộc tính </a:t>
            </a:r>
            <a:r>
              <a:rPr lang="vi-VN" sz="2200" b="1"/>
              <a:t>objectName</a:t>
            </a:r>
            <a:r>
              <a:rPr lang="vi-VN" sz="2200"/>
              <a:t> của </a:t>
            </a:r>
            <a:r>
              <a:rPr lang="en-US" sz="2200"/>
              <a:t>widget Label </a:t>
            </a:r>
            <a:r>
              <a:rPr lang="vi-VN" sz="2200"/>
              <a:t>thành </a:t>
            </a:r>
            <a:r>
              <a:rPr lang="en-US" sz="2200">
                <a:latin typeface="Courier New" panose="02070309020205020404" pitchFamily="49" charset="0"/>
                <a:cs typeface="Courier New" panose="02070309020205020404" pitchFamily="49" charset="0"/>
              </a:rPr>
              <a:t>label</a:t>
            </a:r>
            <a:r>
              <a:rPr lang="vi-VN" sz="2200">
                <a:latin typeface="Courier New" panose="02070309020205020404" pitchFamily="49" charset="0"/>
                <a:cs typeface="Courier New" panose="02070309020205020404" pitchFamily="49" charset="0"/>
              </a:rPr>
              <a:t>Amount</a:t>
            </a:r>
            <a:r>
              <a:rPr lang="vi-VN" sz="2200"/>
              <a:t>.</a:t>
            </a:r>
            <a:endParaRPr lang="en-US" sz="2200"/>
          </a:p>
          <a:p>
            <a:pPr marL="0" indent="0">
              <a:lnSpc>
                <a:spcPct val="100000"/>
              </a:lnSpc>
              <a:spcBef>
                <a:spcPts val="0"/>
              </a:spcBef>
              <a:buNone/>
            </a:pPr>
            <a:r>
              <a:rPr lang="vi-VN" sz="2200"/>
              <a:t>8. Lưu ứng dụng với tên </a:t>
            </a:r>
            <a:r>
              <a:rPr lang="vi-VN" sz="2200" b="1"/>
              <a:t>demoCheckBox1.ui</a:t>
            </a:r>
            <a:r>
              <a:rPr lang="en-US" sz="2200"/>
              <a:t>.</a:t>
            </a:r>
            <a:r>
              <a:rPr lang="en-US" sz="2400"/>
              <a:t> Sau đó được chuyển đổi thành mã Python thông qua tiện ích lệnh </a:t>
            </a:r>
            <a:r>
              <a:rPr lang="en-US" sz="2400" b="1">
                <a:solidFill>
                  <a:srgbClr val="FF0000"/>
                </a:solidFill>
              </a:rPr>
              <a:t>pyuic5</a:t>
            </a:r>
            <a:r>
              <a:rPr lang="en-US" sz="2400"/>
              <a:t>. </a:t>
            </a:r>
            <a:endParaRPr lang="en-US" sz="2200" b="1"/>
          </a:p>
        </p:txBody>
      </p:sp>
    </p:spTree>
    <p:extLst>
      <p:ext uri="{BB962C8B-B14F-4D97-AF65-F5344CB8AC3E}">
        <p14:creationId xmlns:p14="http://schemas.microsoft.com/office/powerpoint/2010/main" val="18776979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30F870-093C-49B9-873A-23364D492F2A}"/>
              </a:ext>
            </a:extLst>
          </p:cNvPr>
          <p:cNvSpPr>
            <a:spLocks noGrp="1"/>
          </p:cNvSpPr>
          <p:nvPr>
            <p:ph idx="1"/>
          </p:nvPr>
        </p:nvSpPr>
        <p:spPr>
          <a:xfrm>
            <a:off x="22259" y="685802"/>
            <a:ext cx="9102490" cy="6103136"/>
          </a:xfrm>
        </p:spPr>
        <p:txBody>
          <a:bodyPr/>
          <a:lstStyle/>
          <a:p>
            <a:r>
              <a:rPr lang="en-US"/>
              <a:t>Giao diện ch</a:t>
            </a:r>
            <a:r>
              <a:rPr lang="vi-VN"/>
              <a:t>ư</a:t>
            </a:r>
            <a:r>
              <a:rPr lang="en-US"/>
              <a:t>ơng trình nh</a:t>
            </a:r>
            <a:r>
              <a:rPr lang="vi-VN"/>
              <a:t>ư</a:t>
            </a:r>
            <a:r>
              <a:rPr lang="en-US"/>
              <a:t> sau</a:t>
            </a:r>
          </a:p>
        </p:txBody>
      </p:sp>
      <p:sp>
        <p:nvSpPr>
          <p:cNvPr id="4" name="Title 1">
            <a:extLst>
              <a:ext uri="{FF2B5EF4-FFF2-40B4-BE49-F238E27FC236}">
                <a16:creationId xmlns:a16="http://schemas.microsoft.com/office/drawing/2014/main" id="{31092BAB-02A9-49B4-B3F6-A979DAC0019D}"/>
              </a:ext>
            </a:extLst>
          </p:cNvPr>
          <p:cNvSpPr>
            <a:spLocks noGrp="1"/>
          </p:cNvSpPr>
          <p:nvPr>
            <p:ph type="title"/>
          </p:nvPr>
        </p:nvSpPr>
        <p:spPr>
          <a:xfrm>
            <a:off x="22259" y="28244"/>
            <a:ext cx="9102490" cy="698377"/>
          </a:xfrm>
        </p:spPr>
        <p:txBody>
          <a:bodyPr>
            <a:normAutofit/>
          </a:bodyPr>
          <a:lstStyle/>
          <a:p>
            <a:r>
              <a:rPr lang="en-US"/>
              <a:t>Viết ch</a:t>
            </a:r>
            <a:r>
              <a:rPr lang="vi-VN"/>
              <a:t>ư</a:t>
            </a:r>
            <a:r>
              <a:rPr lang="en-US"/>
              <a:t>ơng trình với </a:t>
            </a:r>
            <a:r>
              <a:rPr lang="en-US" b="1"/>
              <a:t>checkbox</a:t>
            </a:r>
            <a:r>
              <a:rPr lang="en-US"/>
              <a:t>...</a:t>
            </a:r>
          </a:p>
        </p:txBody>
      </p:sp>
      <p:grpSp>
        <p:nvGrpSpPr>
          <p:cNvPr id="5" name="Group 2">
            <a:extLst>
              <a:ext uri="{FF2B5EF4-FFF2-40B4-BE49-F238E27FC236}">
                <a16:creationId xmlns:a16="http://schemas.microsoft.com/office/drawing/2014/main" id="{9648F72B-F6D9-4D25-BBD6-B3857B05C5EE}"/>
              </a:ext>
            </a:extLst>
          </p:cNvPr>
          <p:cNvGrpSpPr>
            <a:grpSpLocks/>
          </p:cNvGrpSpPr>
          <p:nvPr/>
        </p:nvGrpSpPr>
        <p:grpSpPr bwMode="auto">
          <a:xfrm>
            <a:off x="169635" y="1198336"/>
            <a:ext cx="7145565" cy="3977821"/>
            <a:chOff x="2913" y="289"/>
            <a:chExt cx="4975" cy="2905"/>
          </a:xfrm>
        </p:grpSpPr>
        <p:pic>
          <p:nvPicPr>
            <p:cNvPr id="1027" name="Picture 3">
              <a:extLst>
                <a:ext uri="{FF2B5EF4-FFF2-40B4-BE49-F238E27FC236}">
                  <a16:creationId xmlns:a16="http://schemas.microsoft.com/office/drawing/2014/main" id="{F8AA1782-FE1B-4692-8E24-276F35482E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2" y="309"/>
              <a:ext cx="4935" cy="2865"/>
            </a:xfrm>
            <a:prstGeom prst="rect">
              <a:avLst/>
            </a:prstGeom>
            <a:noFill/>
            <a:extLst>
              <a:ext uri="{909E8E84-426E-40DD-AFC4-6F175D3DCCD1}">
                <a14:hiddenFill xmlns:a14="http://schemas.microsoft.com/office/drawing/2010/main">
                  <a:solidFill>
                    <a:srgbClr val="FFFFFF"/>
                  </a:solidFill>
                </a14:hiddenFill>
              </a:ext>
            </a:extLst>
          </p:spPr>
        </p:pic>
        <p:sp>
          <p:nvSpPr>
            <p:cNvPr id="6" name="Line 4">
              <a:extLst>
                <a:ext uri="{FF2B5EF4-FFF2-40B4-BE49-F238E27FC236}">
                  <a16:creationId xmlns:a16="http://schemas.microsoft.com/office/drawing/2014/main" id="{D58122AD-E580-4F61-BF43-D9BB1066597F}"/>
                </a:ext>
              </a:extLst>
            </p:cNvPr>
            <p:cNvSpPr>
              <a:spLocks noChangeShapeType="1"/>
            </p:cNvSpPr>
            <p:nvPr/>
          </p:nvSpPr>
          <p:spPr bwMode="auto">
            <a:xfrm>
              <a:off x="2923" y="299"/>
              <a:ext cx="495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Line 5">
              <a:extLst>
                <a:ext uri="{FF2B5EF4-FFF2-40B4-BE49-F238E27FC236}">
                  <a16:creationId xmlns:a16="http://schemas.microsoft.com/office/drawing/2014/main" id="{13FF5412-9D9B-46D8-ABA1-3A98159A801A}"/>
                </a:ext>
              </a:extLst>
            </p:cNvPr>
            <p:cNvSpPr>
              <a:spLocks noChangeShapeType="1"/>
            </p:cNvSpPr>
            <p:nvPr/>
          </p:nvSpPr>
          <p:spPr bwMode="auto">
            <a:xfrm>
              <a:off x="2923" y="299"/>
              <a:ext cx="0" cy="288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Line 6">
              <a:extLst>
                <a:ext uri="{FF2B5EF4-FFF2-40B4-BE49-F238E27FC236}">
                  <a16:creationId xmlns:a16="http://schemas.microsoft.com/office/drawing/2014/main" id="{61C9EA66-AD8F-4D3B-9E25-F136620A63B0}"/>
                </a:ext>
              </a:extLst>
            </p:cNvPr>
            <p:cNvSpPr>
              <a:spLocks noChangeShapeType="1"/>
            </p:cNvSpPr>
            <p:nvPr/>
          </p:nvSpPr>
          <p:spPr bwMode="auto">
            <a:xfrm>
              <a:off x="7878" y="299"/>
              <a:ext cx="0" cy="288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Line 7">
              <a:extLst>
                <a:ext uri="{FF2B5EF4-FFF2-40B4-BE49-F238E27FC236}">
                  <a16:creationId xmlns:a16="http://schemas.microsoft.com/office/drawing/2014/main" id="{BDA7BFE7-0382-4EF8-96FA-1C7AA1C2042C}"/>
                </a:ext>
              </a:extLst>
            </p:cNvPr>
            <p:cNvSpPr>
              <a:spLocks noChangeShapeType="1"/>
            </p:cNvSpPr>
            <p:nvPr/>
          </p:nvSpPr>
          <p:spPr bwMode="auto">
            <a:xfrm>
              <a:off x="2923" y="3184"/>
              <a:ext cx="495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0" name="Rectangle 9">
            <a:extLst>
              <a:ext uri="{FF2B5EF4-FFF2-40B4-BE49-F238E27FC236}">
                <a16:creationId xmlns:a16="http://schemas.microsoft.com/office/drawing/2014/main" id="{82E3CEA8-D04B-44E0-A5E1-3B94BB8D94CF}"/>
              </a:ext>
            </a:extLst>
          </p:cNvPr>
          <p:cNvSpPr/>
          <p:nvPr/>
        </p:nvSpPr>
        <p:spPr>
          <a:xfrm>
            <a:off x="0" y="5206164"/>
            <a:ext cx="9121739" cy="1569660"/>
          </a:xfrm>
          <a:prstGeom prst="rect">
            <a:avLst/>
          </a:prstGeom>
        </p:spPr>
        <p:txBody>
          <a:bodyPr wrap="square">
            <a:spAutoFit/>
          </a:bodyPr>
          <a:lstStyle/>
          <a:p>
            <a:pPr algn="just"/>
            <a:r>
              <a:rPr lang="en-US" sz="2400"/>
              <a:t>9. Import demoCheckBox1.py, dưới dạng tệp tiêu đề trong chương trình để gọi thiết kế giao diện người dùng và viết mã để tính tổng chi phí của pizza thông thường, cùng với toppings được chọn, thông qua widget Label khi người dùng chọn hoặc bỏ chọn bất kỳ hộp kiểm nào</a:t>
            </a:r>
          </a:p>
        </p:txBody>
      </p:sp>
    </p:spTree>
    <p:extLst>
      <p:ext uri="{BB962C8B-B14F-4D97-AF65-F5344CB8AC3E}">
        <p14:creationId xmlns:p14="http://schemas.microsoft.com/office/powerpoint/2010/main" val="40445094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CCFF1-B0D6-406F-85DB-8DC464EBDBC3}"/>
              </a:ext>
            </a:extLst>
          </p:cNvPr>
          <p:cNvSpPr>
            <a:spLocks noGrp="1"/>
          </p:cNvSpPr>
          <p:nvPr>
            <p:ph type="title"/>
          </p:nvPr>
        </p:nvSpPr>
        <p:spPr>
          <a:xfrm>
            <a:off x="22259" y="28245"/>
            <a:ext cx="9102490" cy="738306"/>
          </a:xfrm>
        </p:spPr>
        <p:txBody>
          <a:bodyPr>
            <a:normAutofit/>
          </a:bodyPr>
          <a:lstStyle/>
          <a:p>
            <a:r>
              <a:rPr lang="en-US" sz="4000" b="1"/>
              <a:t>callCheckBox1.pyw</a:t>
            </a:r>
          </a:p>
        </p:txBody>
      </p:sp>
      <p:sp>
        <p:nvSpPr>
          <p:cNvPr id="4" name="Rectangle 3">
            <a:extLst>
              <a:ext uri="{FF2B5EF4-FFF2-40B4-BE49-F238E27FC236}">
                <a16:creationId xmlns:a16="http://schemas.microsoft.com/office/drawing/2014/main" id="{34AEEEB9-C696-4A02-BCE5-24AA6BD16948}"/>
              </a:ext>
            </a:extLst>
          </p:cNvPr>
          <p:cNvSpPr/>
          <p:nvPr/>
        </p:nvSpPr>
        <p:spPr>
          <a:xfrm>
            <a:off x="-689" y="668579"/>
            <a:ext cx="9102490" cy="6151684"/>
          </a:xfrm>
          <a:prstGeom prst="rect">
            <a:avLst/>
          </a:prstGeom>
        </p:spPr>
        <p:txBody>
          <a:bodyPr wrap="square">
            <a:spAutoFit/>
          </a:bodyPr>
          <a:lstStyle/>
          <a:p>
            <a:pPr>
              <a:lnSpc>
                <a:spcPct val="90000"/>
              </a:lnSpc>
            </a:pPr>
            <a:r>
              <a:rPr lang="en-US" sz="1750">
                <a:solidFill>
                  <a:srgbClr val="4B69C6"/>
                </a:solidFill>
                <a:latin typeface="Consolas" panose="020B0609020204030204" pitchFamily="49" charset="0"/>
              </a:rPr>
              <a:t>import</a:t>
            </a:r>
            <a:r>
              <a:rPr lang="en-US" sz="1750">
                <a:solidFill>
                  <a:srgbClr val="333333"/>
                </a:solidFill>
                <a:latin typeface="Consolas" panose="020B0609020204030204" pitchFamily="49" charset="0"/>
              </a:rPr>
              <a:t> sys</a:t>
            </a:r>
          </a:p>
          <a:p>
            <a:pPr>
              <a:lnSpc>
                <a:spcPct val="90000"/>
              </a:lnSpc>
            </a:pPr>
            <a:r>
              <a:rPr lang="en-US" sz="1750">
                <a:solidFill>
                  <a:srgbClr val="4B69C6"/>
                </a:solidFill>
                <a:latin typeface="Consolas" panose="020B0609020204030204" pitchFamily="49" charset="0"/>
              </a:rPr>
              <a:t>from</a:t>
            </a:r>
            <a:r>
              <a:rPr lang="en-US" sz="1750">
                <a:solidFill>
                  <a:srgbClr val="333333"/>
                </a:solidFill>
                <a:latin typeface="Consolas" panose="020B0609020204030204" pitchFamily="49" charset="0"/>
              </a:rPr>
              <a:t> PyQt5</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QtWidgets </a:t>
            </a:r>
            <a:r>
              <a:rPr lang="en-US" sz="1750">
                <a:solidFill>
                  <a:srgbClr val="4B69C6"/>
                </a:solidFill>
                <a:latin typeface="Consolas" panose="020B0609020204030204" pitchFamily="49" charset="0"/>
              </a:rPr>
              <a:t>import</a:t>
            </a:r>
            <a:r>
              <a:rPr lang="en-US" sz="1750">
                <a:solidFill>
                  <a:srgbClr val="333333"/>
                </a:solidFill>
                <a:latin typeface="Consolas" panose="020B0609020204030204" pitchFamily="49" charset="0"/>
              </a:rPr>
              <a:t> QDialog</a:t>
            </a:r>
          </a:p>
          <a:p>
            <a:pPr>
              <a:lnSpc>
                <a:spcPct val="90000"/>
              </a:lnSpc>
            </a:pPr>
            <a:r>
              <a:rPr lang="en-US" sz="1750">
                <a:solidFill>
                  <a:srgbClr val="4B69C6"/>
                </a:solidFill>
                <a:latin typeface="Consolas" panose="020B0609020204030204" pitchFamily="49" charset="0"/>
              </a:rPr>
              <a:t>from</a:t>
            </a:r>
            <a:r>
              <a:rPr lang="en-US" sz="1750">
                <a:solidFill>
                  <a:srgbClr val="333333"/>
                </a:solidFill>
                <a:latin typeface="Consolas" panose="020B0609020204030204" pitchFamily="49" charset="0"/>
              </a:rPr>
              <a:t> PyQt5</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QtWidgets </a:t>
            </a:r>
            <a:r>
              <a:rPr lang="en-US" sz="1750">
                <a:solidFill>
                  <a:srgbClr val="4B69C6"/>
                </a:solidFill>
                <a:latin typeface="Consolas" panose="020B0609020204030204" pitchFamily="49" charset="0"/>
              </a:rPr>
              <a:t>import</a:t>
            </a:r>
            <a:r>
              <a:rPr lang="en-US" sz="1750">
                <a:solidFill>
                  <a:srgbClr val="333333"/>
                </a:solidFill>
                <a:latin typeface="Consolas" panose="020B0609020204030204" pitchFamily="49" charset="0"/>
              </a:rPr>
              <a:t> QApplication</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QWidget</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QPushButton</a:t>
            </a:r>
          </a:p>
          <a:p>
            <a:pPr>
              <a:lnSpc>
                <a:spcPct val="90000"/>
              </a:lnSpc>
            </a:pPr>
            <a:r>
              <a:rPr lang="en-US" sz="1750">
                <a:solidFill>
                  <a:srgbClr val="4B69C6"/>
                </a:solidFill>
                <a:latin typeface="Consolas" panose="020B0609020204030204" pitchFamily="49" charset="0"/>
              </a:rPr>
              <a:t>from</a:t>
            </a:r>
            <a:r>
              <a:rPr lang="en-US" sz="1750">
                <a:solidFill>
                  <a:srgbClr val="333333"/>
                </a:solidFill>
                <a:latin typeface="Consolas" panose="020B0609020204030204" pitchFamily="49" charset="0"/>
              </a:rPr>
              <a:t> demoCheckBox1 </a:t>
            </a:r>
            <a:r>
              <a:rPr lang="en-US" sz="1750">
                <a:solidFill>
                  <a:srgbClr val="4B69C6"/>
                </a:solidFill>
                <a:latin typeface="Consolas" panose="020B0609020204030204" pitchFamily="49" charset="0"/>
              </a:rPr>
              <a:t>import</a:t>
            </a:r>
            <a:r>
              <a:rPr lang="en-US" sz="1750">
                <a:solidFill>
                  <a:srgbClr val="333333"/>
                </a:solidFill>
                <a:latin typeface="Consolas" panose="020B0609020204030204" pitchFamily="49" charset="0"/>
              </a:rPr>
              <a:t> </a:t>
            </a:r>
            <a:r>
              <a:rPr lang="en-US" sz="1750">
                <a:solidFill>
                  <a:srgbClr val="777777"/>
                </a:solidFill>
                <a:latin typeface="Consolas" panose="020B0609020204030204" pitchFamily="49" charset="0"/>
              </a:rPr>
              <a:t>*</a:t>
            </a:r>
            <a:br>
              <a:rPr lang="en-US" sz="1750">
                <a:solidFill>
                  <a:srgbClr val="333333"/>
                </a:solidFill>
                <a:latin typeface="Consolas" panose="020B0609020204030204" pitchFamily="49" charset="0"/>
              </a:rPr>
            </a:br>
            <a:r>
              <a:rPr lang="en-US" sz="1750">
                <a:solidFill>
                  <a:srgbClr val="7A3E9D"/>
                </a:solidFill>
                <a:latin typeface="Consolas" panose="020B0609020204030204" pitchFamily="49" charset="0"/>
              </a:rPr>
              <a:t>class</a:t>
            </a:r>
            <a:r>
              <a:rPr lang="en-US" sz="1750">
                <a:solidFill>
                  <a:srgbClr val="333333"/>
                </a:solidFill>
                <a:latin typeface="Consolas" panose="020B0609020204030204" pitchFamily="49" charset="0"/>
              </a:rPr>
              <a:t> </a:t>
            </a:r>
            <a:r>
              <a:rPr lang="en-US" sz="1750" b="1">
                <a:solidFill>
                  <a:srgbClr val="7A3E9D"/>
                </a:solidFill>
                <a:latin typeface="Consolas" panose="020B0609020204030204" pitchFamily="49" charset="0"/>
              </a:rPr>
              <a:t>MyForm</a:t>
            </a:r>
            <a:r>
              <a:rPr lang="en-US" sz="1750">
                <a:solidFill>
                  <a:srgbClr val="777777"/>
                </a:solidFill>
                <a:latin typeface="Consolas" panose="020B0609020204030204" pitchFamily="49" charset="0"/>
              </a:rPr>
              <a:t>(</a:t>
            </a:r>
            <a:r>
              <a:rPr lang="en-US" sz="1750" b="1">
                <a:solidFill>
                  <a:srgbClr val="7A3E9D"/>
                </a:solidFill>
                <a:latin typeface="Consolas" panose="020B0609020204030204" pitchFamily="49" charset="0"/>
              </a:rPr>
              <a:t>QDialog</a:t>
            </a:r>
            <a:r>
              <a:rPr lang="en-US" sz="1750">
                <a:solidFill>
                  <a:srgbClr val="777777"/>
                </a:solidFill>
                <a:latin typeface="Consolas" panose="020B0609020204030204" pitchFamily="49" charset="0"/>
              </a:rPr>
              <a:t>):</a:t>
            </a:r>
            <a:endParaRPr lang="en-US" sz="1750">
              <a:solidFill>
                <a:srgbClr val="333333"/>
              </a:solidFill>
              <a:latin typeface="Consolas" panose="020B0609020204030204" pitchFamily="49" charset="0"/>
            </a:endParaRPr>
          </a:p>
          <a:p>
            <a:pPr>
              <a:lnSpc>
                <a:spcPct val="90000"/>
              </a:lnSpc>
            </a:pPr>
            <a:r>
              <a:rPr lang="en-US" sz="1750">
                <a:solidFill>
                  <a:srgbClr val="7A3E9D"/>
                </a:solidFill>
                <a:latin typeface="Consolas" panose="020B0609020204030204" pitchFamily="49" charset="0"/>
              </a:rPr>
              <a:t>  def</a:t>
            </a:r>
            <a:r>
              <a:rPr lang="en-US" sz="1750">
                <a:solidFill>
                  <a:srgbClr val="333333"/>
                </a:solidFill>
                <a:latin typeface="Consolas" panose="020B0609020204030204" pitchFamily="49" charset="0"/>
              </a:rPr>
              <a:t> </a:t>
            </a:r>
            <a:r>
              <a:rPr lang="en-US" sz="1750" b="1">
                <a:solidFill>
                  <a:srgbClr val="AA3731"/>
                </a:solidFill>
                <a:latin typeface="Consolas" panose="020B0609020204030204" pitchFamily="49" charset="0"/>
              </a:rPr>
              <a:t>init</a:t>
            </a:r>
            <a:r>
              <a:rPr lang="en-US" sz="1750">
                <a:solidFill>
                  <a:srgbClr val="777777"/>
                </a:solidFill>
                <a:latin typeface="Consolas" panose="020B0609020204030204" pitchFamily="49" charset="0"/>
              </a:rPr>
              <a:t>(</a:t>
            </a:r>
            <a:r>
              <a:rPr lang="en-US" sz="1750">
                <a:solidFill>
                  <a:srgbClr val="7A3E9D"/>
                </a:solidFill>
                <a:latin typeface="Consolas" panose="020B0609020204030204" pitchFamily="49" charset="0"/>
              </a:rPr>
              <a:t>self</a:t>
            </a:r>
            <a:r>
              <a:rPr lang="en-US" sz="1750">
                <a:solidFill>
                  <a:srgbClr val="777777"/>
                </a:solidFill>
                <a:latin typeface="Consolas" panose="020B0609020204030204" pitchFamily="49" charset="0"/>
              </a:rPr>
              <a:t>):</a:t>
            </a:r>
            <a:endParaRPr lang="en-US" sz="1750">
              <a:solidFill>
                <a:srgbClr val="333333"/>
              </a:solidFill>
              <a:latin typeface="Consolas" panose="020B0609020204030204" pitchFamily="49" charset="0"/>
            </a:endParaRPr>
          </a:p>
          <a:p>
            <a:pPr>
              <a:lnSpc>
                <a:spcPct val="90000"/>
              </a:lnSpc>
            </a:pPr>
            <a:r>
              <a:rPr lang="en-US" sz="1750">
                <a:solidFill>
                  <a:srgbClr val="7A3E9D"/>
                </a:solidFill>
                <a:latin typeface="Consolas" panose="020B0609020204030204" pitchFamily="49" charset="0"/>
              </a:rPr>
              <a:t>    super</a:t>
            </a:r>
            <a:r>
              <a:rPr lang="en-US" sz="1750">
                <a:solidFill>
                  <a:srgbClr val="777777"/>
                </a:solidFill>
                <a:latin typeface="Consolas" panose="020B0609020204030204" pitchFamily="49" charset="0"/>
              </a:rPr>
              <a:t>().</a:t>
            </a:r>
            <a:r>
              <a:rPr lang="en-US" sz="1750" b="1">
                <a:solidFill>
                  <a:srgbClr val="AA3731"/>
                </a:solidFill>
                <a:latin typeface="Consolas" panose="020B0609020204030204" pitchFamily="49" charset="0"/>
              </a:rPr>
              <a:t>__init__</a:t>
            </a:r>
            <a:r>
              <a:rPr lang="en-US" sz="1750">
                <a:solidFill>
                  <a:srgbClr val="777777"/>
                </a:solidFill>
                <a:latin typeface="Consolas" panose="020B0609020204030204" pitchFamily="49" charset="0"/>
              </a:rPr>
              <a:t>()</a:t>
            </a:r>
            <a:endParaRPr lang="en-US" sz="1750">
              <a:solidFill>
                <a:srgbClr val="333333"/>
              </a:solidFill>
              <a:latin typeface="Consolas" panose="020B0609020204030204" pitchFamily="49" charset="0"/>
            </a:endParaRPr>
          </a:p>
          <a:p>
            <a:pPr>
              <a:lnSpc>
                <a:spcPct val="90000"/>
              </a:lnSpc>
            </a:pPr>
            <a:r>
              <a:rPr lang="en-US" sz="1750">
                <a:solidFill>
                  <a:srgbClr val="9C5D27"/>
                </a:solidFill>
                <a:latin typeface="Consolas" panose="020B0609020204030204" pitchFamily="49" charset="0"/>
              </a:rPr>
              <a:t>    self</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ui </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Ui_Dialog</a:t>
            </a:r>
            <a:r>
              <a:rPr lang="en-US" sz="1750">
                <a:solidFill>
                  <a:srgbClr val="777777"/>
                </a:solidFill>
                <a:latin typeface="Consolas" panose="020B0609020204030204" pitchFamily="49" charset="0"/>
              </a:rPr>
              <a:t>()</a:t>
            </a:r>
            <a:endParaRPr lang="en-US" sz="1750">
              <a:solidFill>
                <a:srgbClr val="333333"/>
              </a:solidFill>
              <a:latin typeface="Consolas" panose="020B0609020204030204" pitchFamily="49" charset="0"/>
            </a:endParaRPr>
          </a:p>
          <a:p>
            <a:pPr>
              <a:lnSpc>
                <a:spcPct val="90000"/>
              </a:lnSpc>
            </a:pPr>
            <a:r>
              <a:rPr lang="en-US" sz="1750">
                <a:solidFill>
                  <a:srgbClr val="9C5D27"/>
                </a:solidFill>
                <a:latin typeface="Consolas" panose="020B0609020204030204" pitchFamily="49" charset="0"/>
              </a:rPr>
              <a:t>    self</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ui</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setupUi</a:t>
            </a:r>
            <a:r>
              <a:rPr lang="en-US" sz="1750">
                <a:solidFill>
                  <a:srgbClr val="777777"/>
                </a:solidFill>
                <a:latin typeface="Consolas" panose="020B0609020204030204" pitchFamily="49" charset="0"/>
              </a:rPr>
              <a:t>(</a:t>
            </a:r>
            <a:r>
              <a:rPr lang="en-US" sz="1750">
                <a:solidFill>
                  <a:srgbClr val="9C5D27"/>
                </a:solidFill>
                <a:latin typeface="Consolas" panose="020B0609020204030204" pitchFamily="49" charset="0"/>
              </a:rPr>
              <a:t>self</a:t>
            </a:r>
            <a:r>
              <a:rPr lang="en-US" sz="1750">
                <a:solidFill>
                  <a:srgbClr val="777777"/>
                </a:solidFill>
                <a:latin typeface="Consolas" panose="020B0609020204030204" pitchFamily="49" charset="0"/>
              </a:rPr>
              <a:t>)</a:t>
            </a:r>
            <a:endParaRPr lang="en-US" sz="1750">
              <a:solidFill>
                <a:srgbClr val="333333"/>
              </a:solidFill>
              <a:latin typeface="Consolas" panose="020B0609020204030204" pitchFamily="49" charset="0"/>
            </a:endParaRPr>
          </a:p>
          <a:p>
            <a:pPr>
              <a:lnSpc>
                <a:spcPct val="90000"/>
              </a:lnSpc>
            </a:pPr>
            <a:r>
              <a:rPr lang="en-US" sz="1750">
                <a:solidFill>
                  <a:srgbClr val="9C5D27"/>
                </a:solidFill>
                <a:latin typeface="Consolas" panose="020B0609020204030204" pitchFamily="49" charset="0"/>
              </a:rPr>
              <a:t>    self</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ui</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checkBoxCheese</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stateChanged</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connect</a:t>
            </a:r>
            <a:r>
              <a:rPr lang="en-US" sz="1750">
                <a:solidFill>
                  <a:srgbClr val="777777"/>
                </a:solidFill>
                <a:latin typeface="Consolas" panose="020B0609020204030204" pitchFamily="49" charset="0"/>
              </a:rPr>
              <a:t>(</a:t>
            </a:r>
            <a:r>
              <a:rPr lang="en-US" sz="1750">
                <a:solidFill>
                  <a:srgbClr val="9C5D27"/>
                </a:solidFill>
                <a:latin typeface="Consolas" panose="020B0609020204030204" pitchFamily="49" charset="0"/>
              </a:rPr>
              <a:t>self</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dispAmount</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a:t>
            </a:r>
          </a:p>
          <a:p>
            <a:pPr>
              <a:lnSpc>
                <a:spcPct val="90000"/>
              </a:lnSpc>
            </a:pPr>
            <a:r>
              <a:rPr lang="en-US" sz="1750">
                <a:solidFill>
                  <a:srgbClr val="9C5D27"/>
                </a:solidFill>
                <a:latin typeface="Consolas" panose="020B0609020204030204" pitchFamily="49" charset="0"/>
              </a:rPr>
              <a:t>    self</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ui</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checkBoxOlives</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stateChanged</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connect</a:t>
            </a:r>
            <a:r>
              <a:rPr lang="en-US" sz="1750">
                <a:solidFill>
                  <a:srgbClr val="777777"/>
                </a:solidFill>
                <a:latin typeface="Consolas" panose="020B0609020204030204" pitchFamily="49" charset="0"/>
              </a:rPr>
              <a:t>(</a:t>
            </a:r>
            <a:r>
              <a:rPr lang="en-US" sz="1750">
                <a:solidFill>
                  <a:srgbClr val="9C5D27"/>
                </a:solidFill>
                <a:latin typeface="Consolas" panose="020B0609020204030204" pitchFamily="49" charset="0"/>
              </a:rPr>
              <a:t>self</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dispAmount</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a:t>
            </a:r>
          </a:p>
          <a:p>
            <a:pPr>
              <a:lnSpc>
                <a:spcPct val="90000"/>
              </a:lnSpc>
            </a:pPr>
            <a:r>
              <a:rPr lang="en-US" sz="1750">
                <a:solidFill>
                  <a:srgbClr val="9C5D27"/>
                </a:solidFill>
                <a:latin typeface="Consolas" panose="020B0609020204030204" pitchFamily="49" charset="0"/>
              </a:rPr>
              <a:t>    self</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ui</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checkBoxSausages</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stateChanged</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connect</a:t>
            </a:r>
            <a:r>
              <a:rPr lang="en-US" sz="1750">
                <a:solidFill>
                  <a:srgbClr val="777777"/>
                </a:solidFill>
                <a:latin typeface="Consolas" panose="020B0609020204030204" pitchFamily="49" charset="0"/>
              </a:rPr>
              <a:t>(</a:t>
            </a:r>
            <a:r>
              <a:rPr lang="en-US" sz="1750">
                <a:solidFill>
                  <a:srgbClr val="9C5D27"/>
                </a:solidFill>
                <a:latin typeface="Consolas" panose="020B0609020204030204" pitchFamily="49" charset="0"/>
              </a:rPr>
              <a:t>self</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dispAmount</a:t>
            </a:r>
            <a:r>
              <a:rPr lang="en-US" sz="1750">
                <a:solidFill>
                  <a:srgbClr val="777777"/>
                </a:solidFill>
                <a:latin typeface="Consolas" panose="020B0609020204030204" pitchFamily="49" charset="0"/>
              </a:rPr>
              <a:t>)</a:t>
            </a:r>
            <a:endParaRPr lang="en-US" sz="1750">
              <a:solidFill>
                <a:srgbClr val="333333"/>
              </a:solidFill>
              <a:latin typeface="Consolas" panose="020B0609020204030204" pitchFamily="49" charset="0"/>
            </a:endParaRPr>
          </a:p>
          <a:p>
            <a:pPr>
              <a:lnSpc>
                <a:spcPct val="90000"/>
              </a:lnSpc>
            </a:pPr>
            <a:r>
              <a:rPr lang="en-US" sz="1750">
                <a:solidFill>
                  <a:srgbClr val="9C5D27"/>
                </a:solidFill>
                <a:latin typeface="Consolas" panose="020B0609020204030204" pitchFamily="49" charset="0"/>
              </a:rPr>
              <a:t>    self</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show</a:t>
            </a:r>
            <a:r>
              <a:rPr lang="en-US" sz="1750">
                <a:solidFill>
                  <a:srgbClr val="777777"/>
                </a:solidFill>
                <a:latin typeface="Consolas" panose="020B0609020204030204" pitchFamily="49" charset="0"/>
              </a:rPr>
              <a:t>()</a:t>
            </a:r>
            <a:br>
              <a:rPr lang="en-US" sz="1750">
                <a:solidFill>
                  <a:srgbClr val="333333"/>
                </a:solidFill>
                <a:latin typeface="Consolas" panose="020B0609020204030204" pitchFamily="49" charset="0"/>
              </a:rPr>
            </a:br>
            <a:r>
              <a:rPr lang="en-US" sz="1750">
                <a:solidFill>
                  <a:srgbClr val="333333"/>
                </a:solidFill>
                <a:latin typeface="Consolas" panose="020B0609020204030204" pitchFamily="49" charset="0"/>
              </a:rPr>
              <a:t>  </a:t>
            </a:r>
            <a:r>
              <a:rPr lang="en-US" sz="1750">
                <a:solidFill>
                  <a:srgbClr val="7A3E9D"/>
                </a:solidFill>
                <a:latin typeface="Consolas" panose="020B0609020204030204" pitchFamily="49" charset="0"/>
              </a:rPr>
              <a:t>def</a:t>
            </a:r>
            <a:r>
              <a:rPr lang="en-US" sz="1750">
                <a:solidFill>
                  <a:srgbClr val="333333"/>
                </a:solidFill>
                <a:latin typeface="Consolas" panose="020B0609020204030204" pitchFamily="49" charset="0"/>
              </a:rPr>
              <a:t> </a:t>
            </a:r>
            <a:r>
              <a:rPr lang="en-US" sz="1750" b="1">
                <a:solidFill>
                  <a:srgbClr val="AA3731"/>
                </a:solidFill>
                <a:latin typeface="Consolas" panose="020B0609020204030204" pitchFamily="49" charset="0"/>
              </a:rPr>
              <a:t>dispAmount</a:t>
            </a:r>
            <a:r>
              <a:rPr lang="en-US" sz="1750">
                <a:solidFill>
                  <a:srgbClr val="777777"/>
                </a:solidFill>
                <a:latin typeface="Consolas" panose="020B0609020204030204" pitchFamily="49" charset="0"/>
              </a:rPr>
              <a:t>(</a:t>
            </a:r>
            <a:r>
              <a:rPr lang="en-US" sz="1750">
                <a:solidFill>
                  <a:srgbClr val="7A3E9D"/>
                </a:solidFill>
                <a:latin typeface="Consolas" panose="020B0609020204030204" pitchFamily="49" charset="0"/>
              </a:rPr>
              <a:t>self</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a:t>
            </a:r>
          </a:p>
          <a:p>
            <a:pPr>
              <a:lnSpc>
                <a:spcPct val="90000"/>
              </a:lnSpc>
            </a:pPr>
            <a:r>
              <a:rPr lang="en-US" sz="1750">
                <a:solidFill>
                  <a:srgbClr val="333333"/>
                </a:solidFill>
                <a:latin typeface="Consolas" panose="020B0609020204030204" pitchFamily="49" charset="0"/>
              </a:rPr>
              <a:t>    amount </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a:t>
            </a:r>
            <a:r>
              <a:rPr lang="en-US" sz="1750">
                <a:solidFill>
                  <a:srgbClr val="9C5D27"/>
                </a:solidFill>
                <a:latin typeface="Consolas" panose="020B0609020204030204" pitchFamily="49" charset="0"/>
              </a:rPr>
              <a:t>10</a:t>
            </a:r>
            <a:endParaRPr lang="en-US" sz="1750">
              <a:solidFill>
                <a:srgbClr val="333333"/>
              </a:solidFill>
              <a:latin typeface="Consolas" panose="020B0609020204030204" pitchFamily="49" charset="0"/>
            </a:endParaRPr>
          </a:p>
          <a:p>
            <a:pPr>
              <a:lnSpc>
                <a:spcPct val="90000"/>
              </a:lnSpc>
            </a:pPr>
            <a:r>
              <a:rPr lang="en-US" sz="1750">
                <a:solidFill>
                  <a:srgbClr val="4B69C6"/>
                </a:solidFill>
                <a:latin typeface="Consolas" panose="020B0609020204030204" pitchFamily="49" charset="0"/>
              </a:rPr>
              <a:t>    if</a:t>
            </a:r>
            <a:r>
              <a:rPr lang="en-US" sz="1750">
                <a:solidFill>
                  <a:srgbClr val="333333"/>
                </a:solidFill>
                <a:latin typeface="Consolas" panose="020B0609020204030204" pitchFamily="49" charset="0"/>
              </a:rPr>
              <a:t> </a:t>
            </a:r>
            <a:r>
              <a:rPr lang="en-US" sz="1750">
                <a:solidFill>
                  <a:srgbClr val="9C5D27"/>
                </a:solidFill>
                <a:latin typeface="Consolas" panose="020B0609020204030204" pitchFamily="49" charset="0"/>
              </a:rPr>
              <a:t>self</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ui</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checkBoxCheese</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isChecked</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a:t>
            </a:r>
            <a:r>
              <a:rPr lang="en-US" sz="1750">
                <a:solidFill>
                  <a:srgbClr val="9C5D27"/>
                </a:solidFill>
                <a:latin typeface="Consolas" panose="020B0609020204030204" pitchFamily="49" charset="0"/>
              </a:rPr>
              <a:t>True</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amount </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amount</a:t>
            </a:r>
            <a:r>
              <a:rPr lang="en-US" sz="1750">
                <a:solidFill>
                  <a:srgbClr val="777777"/>
                </a:solidFill>
                <a:latin typeface="Consolas" panose="020B0609020204030204" pitchFamily="49" charset="0"/>
              </a:rPr>
              <a:t>+</a:t>
            </a:r>
            <a:r>
              <a:rPr lang="en-US" sz="1750">
                <a:solidFill>
                  <a:srgbClr val="9C5D27"/>
                </a:solidFill>
                <a:latin typeface="Consolas" panose="020B0609020204030204" pitchFamily="49" charset="0"/>
              </a:rPr>
              <a:t>1</a:t>
            </a:r>
            <a:endParaRPr lang="en-US" sz="1750">
              <a:solidFill>
                <a:srgbClr val="333333"/>
              </a:solidFill>
              <a:latin typeface="Consolas" panose="020B0609020204030204" pitchFamily="49" charset="0"/>
            </a:endParaRPr>
          </a:p>
          <a:p>
            <a:pPr>
              <a:lnSpc>
                <a:spcPct val="90000"/>
              </a:lnSpc>
            </a:pPr>
            <a:r>
              <a:rPr lang="en-US" sz="1750">
                <a:solidFill>
                  <a:srgbClr val="4B69C6"/>
                </a:solidFill>
                <a:latin typeface="Consolas" panose="020B0609020204030204" pitchFamily="49" charset="0"/>
              </a:rPr>
              <a:t>    if</a:t>
            </a:r>
            <a:r>
              <a:rPr lang="en-US" sz="1750">
                <a:solidFill>
                  <a:srgbClr val="333333"/>
                </a:solidFill>
                <a:latin typeface="Consolas" panose="020B0609020204030204" pitchFamily="49" charset="0"/>
              </a:rPr>
              <a:t> </a:t>
            </a:r>
            <a:r>
              <a:rPr lang="en-US" sz="1750">
                <a:solidFill>
                  <a:srgbClr val="9C5D27"/>
                </a:solidFill>
                <a:latin typeface="Consolas" panose="020B0609020204030204" pitchFamily="49" charset="0"/>
              </a:rPr>
              <a:t>self</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ui</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checkBoxOlives</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isChecked</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a:t>
            </a:r>
            <a:r>
              <a:rPr lang="en-US" sz="1750">
                <a:solidFill>
                  <a:srgbClr val="9C5D27"/>
                </a:solidFill>
                <a:latin typeface="Consolas" panose="020B0609020204030204" pitchFamily="49" charset="0"/>
              </a:rPr>
              <a:t>True</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amount </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amount</a:t>
            </a:r>
            <a:r>
              <a:rPr lang="en-US" sz="1750">
                <a:solidFill>
                  <a:srgbClr val="777777"/>
                </a:solidFill>
                <a:latin typeface="Consolas" panose="020B0609020204030204" pitchFamily="49" charset="0"/>
              </a:rPr>
              <a:t>+</a:t>
            </a:r>
            <a:r>
              <a:rPr lang="en-US" sz="1750">
                <a:solidFill>
                  <a:srgbClr val="9C5D27"/>
                </a:solidFill>
                <a:latin typeface="Consolas" panose="020B0609020204030204" pitchFamily="49" charset="0"/>
              </a:rPr>
              <a:t>1</a:t>
            </a:r>
            <a:endParaRPr lang="en-US" sz="1750">
              <a:solidFill>
                <a:srgbClr val="333333"/>
              </a:solidFill>
              <a:latin typeface="Consolas" panose="020B0609020204030204" pitchFamily="49" charset="0"/>
            </a:endParaRPr>
          </a:p>
          <a:p>
            <a:pPr>
              <a:lnSpc>
                <a:spcPct val="90000"/>
              </a:lnSpc>
            </a:pPr>
            <a:r>
              <a:rPr lang="en-US" sz="1750">
                <a:solidFill>
                  <a:srgbClr val="4B69C6"/>
                </a:solidFill>
                <a:latin typeface="Consolas" panose="020B0609020204030204" pitchFamily="49" charset="0"/>
              </a:rPr>
              <a:t>    if</a:t>
            </a:r>
            <a:r>
              <a:rPr lang="en-US" sz="1750">
                <a:solidFill>
                  <a:srgbClr val="333333"/>
                </a:solidFill>
                <a:latin typeface="Consolas" panose="020B0609020204030204" pitchFamily="49" charset="0"/>
              </a:rPr>
              <a:t> </a:t>
            </a:r>
            <a:r>
              <a:rPr lang="en-US" sz="1750">
                <a:solidFill>
                  <a:srgbClr val="9C5D27"/>
                </a:solidFill>
                <a:latin typeface="Consolas" panose="020B0609020204030204" pitchFamily="49" charset="0"/>
              </a:rPr>
              <a:t>self</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ui</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checkBoxSausages</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isChecked</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a:t>
            </a:r>
            <a:r>
              <a:rPr lang="en-US" sz="1750">
                <a:solidFill>
                  <a:srgbClr val="9C5D27"/>
                </a:solidFill>
                <a:latin typeface="Consolas" panose="020B0609020204030204" pitchFamily="49" charset="0"/>
              </a:rPr>
              <a:t>True</a:t>
            </a:r>
            <a:r>
              <a:rPr lang="en-US" sz="1750">
                <a:solidFill>
                  <a:srgbClr val="777777"/>
                </a:solidFill>
                <a:latin typeface="Consolas" panose="020B0609020204030204" pitchFamily="49" charset="0"/>
              </a:rPr>
              <a:t>: </a:t>
            </a:r>
            <a:r>
              <a:rPr lang="en-US" sz="1750">
                <a:solidFill>
                  <a:srgbClr val="333333"/>
                </a:solidFill>
                <a:latin typeface="Consolas" panose="020B0609020204030204" pitchFamily="49" charset="0"/>
              </a:rPr>
              <a:t>amount </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amount</a:t>
            </a:r>
            <a:r>
              <a:rPr lang="en-US" sz="1750">
                <a:solidFill>
                  <a:srgbClr val="777777"/>
                </a:solidFill>
                <a:latin typeface="Consolas" panose="020B0609020204030204" pitchFamily="49" charset="0"/>
              </a:rPr>
              <a:t>+</a:t>
            </a:r>
            <a:r>
              <a:rPr lang="en-US" sz="1750">
                <a:solidFill>
                  <a:srgbClr val="9C5D27"/>
                </a:solidFill>
                <a:latin typeface="Consolas" panose="020B0609020204030204" pitchFamily="49" charset="0"/>
              </a:rPr>
              <a:t>2</a:t>
            </a:r>
            <a:endParaRPr lang="en-US" sz="1750">
              <a:solidFill>
                <a:srgbClr val="333333"/>
              </a:solidFill>
              <a:latin typeface="Consolas" panose="020B0609020204030204" pitchFamily="49" charset="0"/>
            </a:endParaRPr>
          </a:p>
          <a:p>
            <a:pPr>
              <a:lnSpc>
                <a:spcPct val="90000"/>
              </a:lnSpc>
            </a:pPr>
            <a:r>
              <a:rPr lang="en-US" sz="1750">
                <a:solidFill>
                  <a:srgbClr val="9C5D27"/>
                </a:solidFill>
                <a:latin typeface="Consolas" panose="020B0609020204030204" pitchFamily="49" charset="0"/>
              </a:rPr>
              <a:t>    self</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ui</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labelAmount</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setText</a:t>
            </a:r>
            <a:r>
              <a:rPr lang="en-US" sz="1750">
                <a:solidFill>
                  <a:srgbClr val="777777"/>
                </a:solidFill>
                <a:latin typeface="Consolas" panose="020B0609020204030204" pitchFamily="49" charset="0"/>
              </a:rPr>
              <a:t>("</a:t>
            </a:r>
            <a:r>
              <a:rPr lang="en-US" sz="1750">
                <a:solidFill>
                  <a:srgbClr val="448C27"/>
                </a:solidFill>
                <a:latin typeface="Consolas" panose="020B0609020204030204" pitchFamily="49" charset="0"/>
              </a:rPr>
              <a:t>Total amount for pizza is </a:t>
            </a:r>
            <a:r>
              <a:rPr lang="en-US" sz="1750">
                <a:solidFill>
                  <a:srgbClr val="777777"/>
                </a:solidFill>
                <a:latin typeface="Consolas" panose="020B0609020204030204" pitchFamily="49" charset="0"/>
              </a:rPr>
              <a:t>" + 		</a:t>
            </a:r>
          </a:p>
          <a:p>
            <a:pPr algn="r">
              <a:lnSpc>
                <a:spcPct val="90000"/>
              </a:lnSpc>
            </a:pPr>
            <a:r>
              <a:rPr lang="en-US" sz="1750">
                <a:solidFill>
                  <a:srgbClr val="777777"/>
                </a:solidFill>
                <a:latin typeface="Consolas" panose="020B0609020204030204" pitchFamily="49" charset="0"/>
              </a:rPr>
              <a:t>									</a:t>
            </a:r>
            <a:r>
              <a:rPr lang="en-US" sz="1750">
                <a:solidFill>
                  <a:srgbClr val="7A3E9D"/>
                </a:solidFill>
                <a:latin typeface="Consolas" panose="020B0609020204030204" pitchFamily="49" charset="0"/>
              </a:rPr>
              <a:t>str</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amount</a:t>
            </a:r>
            <a:r>
              <a:rPr lang="en-US" sz="1750">
                <a:solidFill>
                  <a:srgbClr val="777777"/>
                </a:solidFill>
                <a:latin typeface="Consolas" panose="020B0609020204030204" pitchFamily="49" charset="0"/>
              </a:rPr>
              <a:t>))</a:t>
            </a:r>
            <a:endParaRPr lang="en-US" sz="1750">
              <a:solidFill>
                <a:srgbClr val="333333"/>
              </a:solidFill>
              <a:latin typeface="Consolas" panose="020B0609020204030204" pitchFamily="49" charset="0"/>
            </a:endParaRPr>
          </a:p>
          <a:p>
            <a:pPr>
              <a:lnSpc>
                <a:spcPct val="90000"/>
              </a:lnSpc>
            </a:pPr>
            <a:r>
              <a:rPr lang="en-US" sz="1750">
                <a:solidFill>
                  <a:srgbClr val="4B69C6"/>
                </a:solidFill>
                <a:latin typeface="Consolas" panose="020B0609020204030204" pitchFamily="49" charset="0"/>
              </a:rPr>
              <a:t>if</a:t>
            </a:r>
            <a:r>
              <a:rPr lang="en-US" sz="1750">
                <a:solidFill>
                  <a:srgbClr val="333333"/>
                </a:solidFill>
                <a:latin typeface="Consolas" panose="020B0609020204030204" pitchFamily="49" charset="0"/>
              </a:rPr>
              <a:t> __name__ </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a:t>
            </a:r>
            <a:r>
              <a:rPr lang="en-US" sz="1750">
                <a:solidFill>
                  <a:srgbClr val="777777"/>
                </a:solidFill>
                <a:latin typeface="Consolas" panose="020B0609020204030204" pitchFamily="49" charset="0"/>
              </a:rPr>
              <a:t>"</a:t>
            </a:r>
            <a:r>
              <a:rPr lang="en-US" sz="1750">
                <a:solidFill>
                  <a:srgbClr val="448C27"/>
                </a:solidFill>
                <a:latin typeface="Consolas" panose="020B0609020204030204" pitchFamily="49" charset="0"/>
              </a:rPr>
              <a:t>__main__</a:t>
            </a:r>
            <a:r>
              <a:rPr lang="en-US" sz="1750">
                <a:solidFill>
                  <a:srgbClr val="777777"/>
                </a:solidFill>
                <a:latin typeface="Consolas" panose="020B0609020204030204" pitchFamily="49" charset="0"/>
              </a:rPr>
              <a:t>":</a:t>
            </a:r>
            <a:endParaRPr lang="en-US" sz="1750">
              <a:solidFill>
                <a:srgbClr val="333333"/>
              </a:solidFill>
              <a:latin typeface="Consolas" panose="020B0609020204030204" pitchFamily="49" charset="0"/>
            </a:endParaRPr>
          </a:p>
          <a:p>
            <a:pPr>
              <a:lnSpc>
                <a:spcPct val="90000"/>
              </a:lnSpc>
            </a:pPr>
            <a:r>
              <a:rPr lang="en-US" sz="1750">
                <a:solidFill>
                  <a:srgbClr val="333333"/>
                </a:solidFill>
                <a:latin typeface="Consolas" panose="020B0609020204030204" pitchFamily="49" charset="0"/>
              </a:rPr>
              <a:t>  app </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QApplication</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sys</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argv</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a:t>
            </a:r>
          </a:p>
          <a:p>
            <a:pPr>
              <a:lnSpc>
                <a:spcPct val="90000"/>
              </a:lnSpc>
            </a:pPr>
            <a:r>
              <a:rPr lang="en-US" sz="1750">
                <a:solidFill>
                  <a:srgbClr val="333333"/>
                </a:solidFill>
                <a:latin typeface="Consolas" panose="020B0609020204030204" pitchFamily="49" charset="0"/>
              </a:rPr>
              <a:t>  w </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MyForm</a:t>
            </a:r>
            <a:r>
              <a:rPr lang="en-US" sz="1750">
                <a:solidFill>
                  <a:srgbClr val="777777"/>
                </a:solidFill>
                <a:latin typeface="Consolas" panose="020B0609020204030204" pitchFamily="49" charset="0"/>
              </a:rPr>
              <a:t>()</a:t>
            </a:r>
            <a:endParaRPr lang="en-US" sz="1750">
              <a:solidFill>
                <a:srgbClr val="333333"/>
              </a:solidFill>
              <a:latin typeface="Consolas" panose="020B0609020204030204" pitchFamily="49" charset="0"/>
            </a:endParaRPr>
          </a:p>
          <a:p>
            <a:pPr>
              <a:lnSpc>
                <a:spcPct val="90000"/>
              </a:lnSpc>
            </a:pPr>
            <a:r>
              <a:rPr lang="en-US" sz="1750">
                <a:solidFill>
                  <a:srgbClr val="333333"/>
                </a:solidFill>
                <a:latin typeface="Consolas" panose="020B0609020204030204" pitchFamily="49" charset="0"/>
              </a:rPr>
              <a:t>  w</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show</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 </a:t>
            </a:r>
          </a:p>
          <a:p>
            <a:pPr>
              <a:lnSpc>
                <a:spcPct val="90000"/>
              </a:lnSpc>
            </a:pPr>
            <a:r>
              <a:rPr lang="en-US" sz="1750">
                <a:solidFill>
                  <a:srgbClr val="333333"/>
                </a:solidFill>
                <a:latin typeface="Consolas" panose="020B0609020204030204" pitchFamily="49" charset="0"/>
              </a:rPr>
              <a:t>  sys</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exit</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app</a:t>
            </a:r>
            <a:r>
              <a:rPr lang="en-US" sz="1750">
                <a:solidFill>
                  <a:srgbClr val="777777"/>
                </a:solidFill>
                <a:latin typeface="Consolas" panose="020B0609020204030204" pitchFamily="49" charset="0"/>
              </a:rPr>
              <a:t>.</a:t>
            </a:r>
            <a:r>
              <a:rPr lang="en-US" sz="1750">
                <a:solidFill>
                  <a:srgbClr val="333333"/>
                </a:solidFill>
                <a:latin typeface="Consolas" panose="020B0609020204030204" pitchFamily="49" charset="0"/>
              </a:rPr>
              <a:t>exec_</a:t>
            </a:r>
            <a:r>
              <a:rPr lang="en-US" sz="1750">
                <a:solidFill>
                  <a:srgbClr val="777777"/>
                </a:solidFill>
                <a:latin typeface="Consolas" panose="020B0609020204030204" pitchFamily="49" charset="0"/>
              </a:rPr>
              <a:t>())</a:t>
            </a:r>
            <a:endParaRPr lang="en-US" sz="1750" b="0">
              <a:solidFill>
                <a:srgbClr val="333333"/>
              </a:solidFill>
              <a:effectLst/>
              <a:latin typeface="Consolas" panose="020B0609020204030204" pitchFamily="49" charset="0"/>
            </a:endParaRPr>
          </a:p>
        </p:txBody>
      </p:sp>
    </p:spTree>
    <p:extLst>
      <p:ext uri="{BB962C8B-B14F-4D97-AF65-F5344CB8AC3E}">
        <p14:creationId xmlns:p14="http://schemas.microsoft.com/office/powerpoint/2010/main" val="5623391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8591D-9480-4A35-9185-B79B4B9A24B6}"/>
              </a:ext>
            </a:extLst>
          </p:cNvPr>
          <p:cNvSpPr>
            <a:spLocks noGrp="1"/>
          </p:cNvSpPr>
          <p:nvPr>
            <p:ph type="title"/>
          </p:nvPr>
        </p:nvSpPr>
        <p:spPr>
          <a:xfrm>
            <a:off x="22259" y="28244"/>
            <a:ext cx="9102490" cy="633063"/>
          </a:xfrm>
        </p:spPr>
        <p:txBody>
          <a:bodyPr>
            <a:normAutofit fontScale="90000"/>
          </a:bodyPr>
          <a:lstStyle/>
          <a:p>
            <a:r>
              <a:rPr lang="en-US"/>
              <a:t>Cách ch</a:t>
            </a:r>
            <a:r>
              <a:rPr lang="vi-VN"/>
              <a:t>ư</a:t>
            </a:r>
            <a:r>
              <a:rPr lang="en-US"/>
              <a:t>ơng trình checkbox chạy...</a:t>
            </a:r>
          </a:p>
        </p:txBody>
      </p:sp>
      <p:sp>
        <p:nvSpPr>
          <p:cNvPr id="3" name="Content Placeholder 2">
            <a:extLst>
              <a:ext uri="{FF2B5EF4-FFF2-40B4-BE49-F238E27FC236}">
                <a16:creationId xmlns:a16="http://schemas.microsoft.com/office/drawing/2014/main" id="{744AE08C-E318-46FD-959A-693038D1371E}"/>
              </a:ext>
            </a:extLst>
          </p:cNvPr>
          <p:cNvSpPr>
            <a:spLocks noGrp="1"/>
          </p:cNvSpPr>
          <p:nvPr>
            <p:ph idx="1"/>
          </p:nvPr>
        </p:nvSpPr>
        <p:spPr>
          <a:xfrm>
            <a:off x="22259" y="661308"/>
            <a:ext cx="9102490" cy="6168450"/>
          </a:xfrm>
        </p:spPr>
        <p:txBody>
          <a:bodyPr>
            <a:normAutofit/>
          </a:bodyPr>
          <a:lstStyle/>
          <a:p>
            <a:pPr marL="0" indent="0" algn="just">
              <a:buNone/>
            </a:pPr>
            <a:r>
              <a:rPr lang="vi-VN" sz="2400"/>
              <a:t>Sự kiện hộp kiểm </a:t>
            </a:r>
            <a:r>
              <a:rPr lang="vi-VN" sz="2400" b="1"/>
              <a:t>stateChanged()</a:t>
            </a:r>
            <a:r>
              <a:rPr lang="vi-VN" sz="2400"/>
              <a:t> được kết nối với hàm </a:t>
            </a:r>
            <a:r>
              <a:rPr lang="vi-VN" sz="2400">
                <a:latin typeface="Courier New" panose="02070309020205020404" pitchFamily="49" charset="0"/>
                <a:cs typeface="Courier New" panose="02070309020205020404" pitchFamily="49" charset="0"/>
              </a:rPr>
              <a:t>distAmount</a:t>
            </a:r>
            <a:r>
              <a:rPr lang="vi-VN" sz="2400"/>
              <a:t>, sẽ tính toán chi phí của pizza cùng với </a:t>
            </a:r>
            <a:r>
              <a:rPr lang="en-US" sz="2400"/>
              <a:t>toppings </a:t>
            </a:r>
            <a:r>
              <a:rPr lang="vi-VN" sz="2400"/>
              <a:t>được chọn. </a:t>
            </a:r>
            <a:r>
              <a:rPr lang="en-US" sz="2400"/>
              <a:t>B</a:t>
            </a:r>
            <a:r>
              <a:rPr lang="vi-VN" sz="2400"/>
              <a:t>ên trong</a:t>
            </a:r>
            <a:r>
              <a:rPr lang="en-US" sz="2400"/>
              <a:t> h</a:t>
            </a:r>
            <a:r>
              <a:rPr lang="vi-VN" sz="2400"/>
              <a:t>àm </a:t>
            </a:r>
            <a:r>
              <a:rPr lang="vi-VN" sz="2400">
                <a:latin typeface="Consolas" panose="020B0609020204030204" pitchFamily="49" charset="0"/>
              </a:rPr>
              <a:t>disAmount</a:t>
            </a:r>
            <a:r>
              <a:rPr lang="vi-VN" sz="2400"/>
              <a:t>, </a:t>
            </a:r>
            <a:r>
              <a:rPr lang="en-US" sz="2400"/>
              <a:t>sẽ </a:t>
            </a:r>
            <a:r>
              <a:rPr lang="vi-VN" sz="2400"/>
              <a:t>kiểm tra trạng thái của các hộp kiểm để tìm hiểu xem chúng có </a:t>
            </a:r>
            <a:r>
              <a:rPr lang="en-US" sz="2400"/>
              <a:t>được chọn hay không</a:t>
            </a:r>
            <a:r>
              <a:rPr lang="vi-VN" sz="2400"/>
              <a:t>. Chi phí của </a:t>
            </a:r>
            <a:r>
              <a:rPr lang="en-US" sz="2400"/>
              <a:t>toppings các checkbox </a:t>
            </a:r>
            <a:r>
              <a:rPr lang="vi-VN" sz="2400"/>
              <a:t>được thêm vào và được lưu trữ trong biến </a:t>
            </a:r>
            <a:r>
              <a:rPr lang="en-US" sz="2400">
                <a:latin typeface="Courier New" panose="02070309020205020404" pitchFamily="49" charset="0"/>
                <a:cs typeface="Courier New" panose="02070309020205020404" pitchFamily="49" charset="0"/>
              </a:rPr>
              <a:t>amount</a:t>
            </a:r>
            <a:r>
              <a:rPr lang="en-US" sz="2400"/>
              <a:t>, và </a:t>
            </a:r>
            <a:r>
              <a:rPr lang="vi-VN" sz="2400"/>
              <a:t>hiển thị thông qua </a:t>
            </a:r>
            <a:r>
              <a:rPr lang="en-US" sz="2400">
                <a:latin typeface="Consolas" panose="020B0609020204030204" pitchFamily="49" charset="0"/>
              </a:rPr>
              <a:t>label</a:t>
            </a:r>
            <a:r>
              <a:rPr lang="vi-VN" sz="2400">
                <a:latin typeface="Consolas" panose="020B0609020204030204" pitchFamily="49" charset="0"/>
              </a:rPr>
              <a:t>Amount</a:t>
            </a:r>
            <a:r>
              <a:rPr lang="vi-VN" sz="2400"/>
              <a:t>. Khi chạy ứng dụng, bạn nhận được một hộp thoại nhắc chọn </a:t>
            </a:r>
            <a:r>
              <a:rPr lang="en-US" sz="2400"/>
              <a:t>toppings </a:t>
            </a:r>
            <a:r>
              <a:rPr lang="vi-VN" sz="2400"/>
              <a:t>mà muốn thêm vào bánh pizza. </a:t>
            </a:r>
            <a:endParaRPr lang="en-US" sz="2400"/>
          </a:p>
        </p:txBody>
      </p:sp>
      <p:grpSp>
        <p:nvGrpSpPr>
          <p:cNvPr id="4" name="Group 2">
            <a:extLst>
              <a:ext uri="{FF2B5EF4-FFF2-40B4-BE49-F238E27FC236}">
                <a16:creationId xmlns:a16="http://schemas.microsoft.com/office/drawing/2014/main" id="{699FE7A9-AC41-4706-B967-0B4C1C4EDC34}"/>
              </a:ext>
            </a:extLst>
          </p:cNvPr>
          <p:cNvGrpSpPr>
            <a:grpSpLocks/>
          </p:cNvGrpSpPr>
          <p:nvPr/>
        </p:nvGrpSpPr>
        <p:grpSpPr bwMode="auto">
          <a:xfrm>
            <a:off x="19250" y="3429000"/>
            <a:ext cx="9102490" cy="3400756"/>
            <a:chOff x="1134" y="247"/>
            <a:chExt cx="8533" cy="2522"/>
          </a:xfrm>
        </p:grpSpPr>
        <p:pic>
          <p:nvPicPr>
            <p:cNvPr id="2051" name="Picture 3">
              <a:extLst>
                <a:ext uri="{FF2B5EF4-FFF2-40B4-BE49-F238E27FC236}">
                  <a16:creationId xmlns:a16="http://schemas.microsoft.com/office/drawing/2014/main" id="{C77DAC41-FA7C-46A7-9559-F671C16FC4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3" y="324"/>
              <a:ext cx="8493" cy="2424"/>
            </a:xfrm>
            <a:prstGeom prst="rect">
              <a:avLst/>
            </a:prstGeom>
            <a:noFill/>
            <a:extLst>
              <a:ext uri="{909E8E84-426E-40DD-AFC4-6F175D3DCCD1}">
                <a14:hiddenFill xmlns:a14="http://schemas.microsoft.com/office/drawing/2010/main">
                  <a:solidFill>
                    <a:srgbClr val="FFFFFF"/>
                  </a:solidFill>
                </a14:hiddenFill>
              </a:ext>
            </a:extLst>
          </p:spPr>
        </p:pic>
        <p:sp>
          <p:nvSpPr>
            <p:cNvPr id="5" name="Line 4">
              <a:extLst>
                <a:ext uri="{FF2B5EF4-FFF2-40B4-BE49-F238E27FC236}">
                  <a16:creationId xmlns:a16="http://schemas.microsoft.com/office/drawing/2014/main" id="{86FC2D32-7979-4440-9354-8A0AB3BAF067}"/>
                </a:ext>
              </a:extLst>
            </p:cNvPr>
            <p:cNvSpPr>
              <a:spLocks noChangeShapeType="1"/>
            </p:cNvSpPr>
            <p:nvPr/>
          </p:nvSpPr>
          <p:spPr bwMode="auto">
            <a:xfrm>
              <a:off x="1144" y="257"/>
              <a:ext cx="851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Line 5">
              <a:extLst>
                <a:ext uri="{FF2B5EF4-FFF2-40B4-BE49-F238E27FC236}">
                  <a16:creationId xmlns:a16="http://schemas.microsoft.com/office/drawing/2014/main" id="{3190B69C-2516-42E4-B6A0-8B71ED882915}"/>
                </a:ext>
              </a:extLst>
            </p:cNvPr>
            <p:cNvSpPr>
              <a:spLocks noChangeShapeType="1"/>
            </p:cNvSpPr>
            <p:nvPr/>
          </p:nvSpPr>
          <p:spPr bwMode="auto">
            <a:xfrm>
              <a:off x="1144" y="257"/>
              <a:ext cx="0" cy="250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Line 6">
              <a:extLst>
                <a:ext uri="{FF2B5EF4-FFF2-40B4-BE49-F238E27FC236}">
                  <a16:creationId xmlns:a16="http://schemas.microsoft.com/office/drawing/2014/main" id="{BC2ED598-C3F7-4C13-936C-D48681D91605}"/>
                </a:ext>
              </a:extLst>
            </p:cNvPr>
            <p:cNvSpPr>
              <a:spLocks noChangeShapeType="1"/>
            </p:cNvSpPr>
            <p:nvPr/>
          </p:nvSpPr>
          <p:spPr bwMode="auto">
            <a:xfrm>
              <a:off x="9656" y="257"/>
              <a:ext cx="0" cy="250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Line 7">
              <a:extLst>
                <a:ext uri="{FF2B5EF4-FFF2-40B4-BE49-F238E27FC236}">
                  <a16:creationId xmlns:a16="http://schemas.microsoft.com/office/drawing/2014/main" id="{E0B33CA1-2108-4621-9FBC-2D643DE06EE4}"/>
                </a:ext>
              </a:extLst>
            </p:cNvPr>
            <p:cNvSpPr>
              <a:spLocks noChangeShapeType="1"/>
            </p:cNvSpPr>
            <p:nvPr/>
          </p:nvSpPr>
          <p:spPr bwMode="auto">
            <a:xfrm>
              <a:off x="1144" y="2758"/>
              <a:ext cx="851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9501271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64A3B-D07E-4A26-8025-AE5D4BE92B3C}"/>
              </a:ext>
            </a:extLst>
          </p:cNvPr>
          <p:cNvSpPr>
            <a:spLocks noGrp="1"/>
          </p:cNvSpPr>
          <p:nvPr>
            <p:ph type="title"/>
          </p:nvPr>
        </p:nvSpPr>
        <p:spPr>
          <a:xfrm>
            <a:off x="22259" y="28244"/>
            <a:ext cx="9102490" cy="747363"/>
          </a:xfrm>
        </p:spPr>
        <p:txBody>
          <a:bodyPr>
            <a:normAutofit fontScale="90000"/>
          </a:bodyPr>
          <a:lstStyle/>
          <a:p>
            <a:r>
              <a:rPr lang="en-US" sz="4800" b="1"/>
              <a:t>Ứng dụng với hai nhóm checkbox</a:t>
            </a:r>
          </a:p>
        </p:txBody>
      </p:sp>
      <p:sp>
        <p:nvSpPr>
          <p:cNvPr id="3" name="Content Placeholder 2">
            <a:extLst>
              <a:ext uri="{FF2B5EF4-FFF2-40B4-BE49-F238E27FC236}">
                <a16:creationId xmlns:a16="http://schemas.microsoft.com/office/drawing/2014/main" id="{632A8351-AA5E-495F-AE2F-7F488150FB73}"/>
              </a:ext>
            </a:extLst>
          </p:cNvPr>
          <p:cNvSpPr>
            <a:spLocks noGrp="1"/>
          </p:cNvSpPr>
          <p:nvPr>
            <p:ph idx="1"/>
          </p:nvPr>
        </p:nvSpPr>
        <p:spPr>
          <a:xfrm>
            <a:off x="22259" y="775608"/>
            <a:ext cx="9102490" cy="6054150"/>
          </a:xfrm>
        </p:spPr>
        <p:txBody>
          <a:bodyPr/>
          <a:lstStyle/>
          <a:p>
            <a:pPr marL="0" indent="0" algn="just">
              <a:buNone/>
            </a:pPr>
            <a:r>
              <a:rPr lang="vi-VN"/>
              <a:t>Chúng tôi sẽ thử hiển thị một thực đơn của một nhà hàng nơi phục vụ các loại kem và đồ uống khác nhau. Chúng t</a:t>
            </a:r>
            <a:r>
              <a:rPr lang="en-US"/>
              <a:t>a</a:t>
            </a:r>
            <a:r>
              <a:rPr lang="vi-VN"/>
              <a:t> sẽ tạo ra hai nhóm hộp kiểm, một trong số các loại kem và một loại đồ uống khác. Nhóm kem hiển thị bốn hộp kiểm hiển thị bốn loại kem khác nhau, chip sô cô la bạc hà, bột bánh quy, v.v., cùng với giá của chúng. Nhóm đồ uống hiển thị ba hộp kiểm, cà phê, soda, vv, cùng với giá của chúng. Người dùng có thể chọn bất kỳ số lượng hộp kiểm từ một trong hai nhóm. Khi người dùng chọn bất kỳ loại kem hoặc đồ uống nào, tổng giá của các loại kem và đồ uống được chọn sẽ được hiển thị.</a:t>
            </a:r>
            <a:endParaRPr lang="en-US"/>
          </a:p>
        </p:txBody>
      </p:sp>
    </p:spTree>
    <p:extLst>
      <p:ext uri="{BB962C8B-B14F-4D97-AF65-F5344CB8AC3E}">
        <p14:creationId xmlns:p14="http://schemas.microsoft.com/office/powerpoint/2010/main" val="18154614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88EE2-6A27-49EF-9A9B-C9018EAFDAAA}"/>
              </a:ext>
            </a:extLst>
          </p:cNvPr>
          <p:cNvSpPr>
            <a:spLocks noGrp="1"/>
          </p:cNvSpPr>
          <p:nvPr>
            <p:ph type="title"/>
          </p:nvPr>
        </p:nvSpPr>
        <p:spPr>
          <a:xfrm>
            <a:off x="22259" y="28244"/>
            <a:ext cx="9102490" cy="747363"/>
          </a:xfrm>
        </p:spPr>
        <p:txBody>
          <a:bodyPr/>
          <a:lstStyle/>
          <a:p>
            <a:r>
              <a:rPr lang="en-US"/>
              <a:t>Các b</a:t>
            </a:r>
            <a:r>
              <a:rPr lang="vi-VN"/>
              <a:t>ư</a:t>
            </a:r>
            <a:r>
              <a:rPr lang="en-US"/>
              <a:t>ớc tạo ứng dụng...</a:t>
            </a:r>
          </a:p>
        </p:txBody>
      </p:sp>
      <p:sp>
        <p:nvSpPr>
          <p:cNvPr id="3" name="Content Placeholder 2">
            <a:extLst>
              <a:ext uri="{FF2B5EF4-FFF2-40B4-BE49-F238E27FC236}">
                <a16:creationId xmlns:a16="http://schemas.microsoft.com/office/drawing/2014/main" id="{078E0518-007A-40EA-8050-63BFB4C446DB}"/>
              </a:ext>
            </a:extLst>
          </p:cNvPr>
          <p:cNvSpPr>
            <a:spLocks noGrp="1"/>
          </p:cNvSpPr>
          <p:nvPr>
            <p:ph idx="1"/>
          </p:nvPr>
        </p:nvSpPr>
        <p:spPr>
          <a:xfrm>
            <a:off x="22259" y="938892"/>
            <a:ext cx="9102490" cy="5923521"/>
          </a:xfrm>
        </p:spPr>
        <p:txBody>
          <a:bodyPr>
            <a:normAutofit fontScale="92500" lnSpcReduction="20000"/>
          </a:bodyPr>
          <a:lstStyle/>
          <a:p>
            <a:pPr marL="0" indent="0">
              <a:buNone/>
            </a:pPr>
            <a:r>
              <a:rPr lang="vi-VN"/>
              <a:t>1. Tạo một ứng dụng mới dựa trên </a:t>
            </a:r>
            <a:r>
              <a:rPr lang="en-US" b="1"/>
              <a:t>Dialog without Buttons</a:t>
            </a:r>
            <a:r>
              <a:rPr lang="vi-VN"/>
              <a:t>.</a:t>
            </a:r>
          </a:p>
          <a:p>
            <a:pPr marL="0" indent="0">
              <a:buNone/>
            </a:pPr>
            <a:r>
              <a:rPr lang="vi-VN"/>
              <a:t>2. Kéo và thả bốn tiện ích </a:t>
            </a:r>
            <a:r>
              <a:rPr lang="en-US"/>
              <a:t>Label</a:t>
            </a:r>
            <a:r>
              <a:rPr lang="vi-VN"/>
              <a:t>, bảy tiện ích </a:t>
            </a:r>
            <a:r>
              <a:rPr lang="en-US" b="1"/>
              <a:t>Check Box </a:t>
            </a:r>
            <a:r>
              <a:rPr lang="vi-VN"/>
              <a:t>và hai tiện ích </a:t>
            </a:r>
            <a:r>
              <a:rPr lang="en-US" b="1"/>
              <a:t>Group Box </a:t>
            </a:r>
            <a:r>
              <a:rPr lang="vi-VN"/>
              <a:t>vào biểu mẫu.</a:t>
            </a:r>
          </a:p>
          <a:p>
            <a:pPr marL="0" indent="0">
              <a:buNone/>
            </a:pPr>
            <a:r>
              <a:rPr lang="vi-VN"/>
              <a:t>3. Đặt thuộc tính </a:t>
            </a:r>
            <a:r>
              <a:rPr lang="en-US"/>
              <a:t>text </a:t>
            </a:r>
            <a:r>
              <a:rPr lang="vi-VN"/>
              <a:t>của ba tiện ích </a:t>
            </a:r>
            <a:r>
              <a:rPr lang="en-US"/>
              <a:t>Label </a:t>
            </a:r>
            <a:r>
              <a:rPr lang="vi-VN"/>
              <a:t>đầu tiên thành </a:t>
            </a:r>
            <a:r>
              <a:rPr lang="en-US">
                <a:latin typeface="Courier New" panose="02070309020205020404" pitchFamily="49" charset="0"/>
                <a:cs typeface="Courier New" panose="02070309020205020404" pitchFamily="49" charset="0"/>
              </a:rPr>
              <a:t>Menu</a:t>
            </a:r>
            <a:r>
              <a:rPr lang="en-US"/>
              <a:t>, </a:t>
            </a:r>
            <a:r>
              <a:rPr lang="en-US">
                <a:latin typeface="Courier New" panose="02070309020205020404" pitchFamily="49" charset="0"/>
                <a:cs typeface="Courier New" panose="02070309020205020404" pitchFamily="49" charset="0"/>
              </a:rPr>
              <a:t>Select your IceCream</a:t>
            </a:r>
            <a:r>
              <a:rPr lang="en-US"/>
              <a:t>, </a:t>
            </a:r>
            <a:r>
              <a:rPr lang="en-US">
                <a:latin typeface="Courier New" panose="02070309020205020404" pitchFamily="49" charset="0"/>
                <a:cs typeface="Courier New" panose="02070309020205020404" pitchFamily="49" charset="0"/>
              </a:rPr>
              <a:t>Select your drink</a:t>
            </a:r>
            <a:r>
              <a:rPr lang="vi-VN"/>
              <a:t>.</a:t>
            </a:r>
          </a:p>
          <a:p>
            <a:pPr marL="0" indent="0">
              <a:buNone/>
            </a:pPr>
            <a:r>
              <a:rPr lang="vi-VN"/>
              <a:t>4. Xóa thuộc tính </a:t>
            </a:r>
            <a:r>
              <a:rPr lang="en-US"/>
              <a:t>text </a:t>
            </a:r>
            <a:r>
              <a:rPr lang="vi-VN"/>
              <a:t>của tiện ích </a:t>
            </a:r>
            <a:r>
              <a:rPr lang="en-US"/>
              <a:t>Label </a:t>
            </a:r>
            <a:r>
              <a:rPr lang="vi-VN"/>
              <a:t>thứ tư vì chúng t</a:t>
            </a:r>
            <a:r>
              <a:rPr lang="en-US"/>
              <a:t>a</a:t>
            </a:r>
            <a:r>
              <a:rPr lang="vi-VN"/>
              <a:t> sẽ hiển thị tổng số lượng kem và đồ uống đã chọn thông qua mã</a:t>
            </a:r>
            <a:r>
              <a:rPr lang="en-US"/>
              <a:t> lệnh</a:t>
            </a:r>
            <a:r>
              <a:rPr lang="vi-VN"/>
              <a:t>.</a:t>
            </a:r>
          </a:p>
          <a:p>
            <a:pPr marL="0" indent="0">
              <a:buNone/>
            </a:pPr>
            <a:r>
              <a:rPr lang="vi-VN"/>
              <a:t>5. Thông qua </a:t>
            </a:r>
            <a:r>
              <a:rPr lang="en-US" b="1"/>
              <a:t>Property Editor</a:t>
            </a:r>
            <a:r>
              <a:rPr lang="vi-VN"/>
              <a:t>, tăng kích thước phông chữ của tất cả các tiện ích để tăng khả năng hiển thị của chúng trong ứng dụng.</a:t>
            </a:r>
          </a:p>
          <a:p>
            <a:pPr marL="0" indent="0">
              <a:buNone/>
            </a:pPr>
            <a:r>
              <a:rPr lang="vi-VN"/>
              <a:t>6. Đặt thuộc tính </a:t>
            </a:r>
            <a:r>
              <a:rPr lang="en-US"/>
              <a:t>text </a:t>
            </a:r>
            <a:r>
              <a:rPr lang="vi-VN"/>
              <a:t>của bốn hộp kiểm đầu tiên thành </a:t>
            </a:r>
            <a:r>
              <a:rPr lang="en-US">
                <a:latin typeface="Courier New" panose="02070309020205020404" pitchFamily="49" charset="0"/>
                <a:cs typeface="Courier New" panose="02070309020205020404" pitchFamily="49" charset="0"/>
              </a:rPr>
              <a:t>Mint Choclate Chips $4, Cookie Dough $2, Choclate Almond $3, Rocky Road $5</a:t>
            </a:r>
            <a:r>
              <a:rPr lang="vi-VN"/>
              <a:t>. Đặt bốn hộp kiểm tra vào hộp nhóm đầu tiên.</a:t>
            </a:r>
          </a:p>
          <a:p>
            <a:pPr marL="0" lvl="0" indent="0">
              <a:buNone/>
            </a:pPr>
            <a:r>
              <a:rPr lang="vi-VN"/>
              <a:t>7. Đặt thuộc tính </a:t>
            </a:r>
            <a:r>
              <a:rPr lang="en-US"/>
              <a:t>text </a:t>
            </a:r>
            <a:r>
              <a:rPr lang="vi-VN"/>
              <a:t>của ba hộp kiểm tiếp theo thành </a:t>
            </a:r>
            <a:r>
              <a:rPr lang="en-US">
                <a:latin typeface="Courier New" panose="02070309020205020404" pitchFamily="49" charset="0"/>
                <a:cs typeface="Courier New" panose="02070309020205020404" pitchFamily="49" charset="0"/>
              </a:rPr>
              <a:t>Coffee $2, Soda $3, Tea $1</a:t>
            </a:r>
            <a:r>
              <a:rPr lang="vi-VN"/>
              <a:t>. Đặt ba hộp kiểm vào </a:t>
            </a:r>
            <a:r>
              <a:rPr lang="en-US"/>
              <a:t>group box </a:t>
            </a:r>
            <a:r>
              <a:rPr lang="vi-VN"/>
              <a:t>thứ hai.</a:t>
            </a:r>
            <a:endParaRPr lang="en-US"/>
          </a:p>
        </p:txBody>
      </p:sp>
    </p:spTree>
    <p:extLst>
      <p:ext uri="{BB962C8B-B14F-4D97-AF65-F5344CB8AC3E}">
        <p14:creationId xmlns:p14="http://schemas.microsoft.com/office/powerpoint/2010/main" val="910624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BA76E2-560A-498F-8442-42B407D390D3}"/>
              </a:ext>
            </a:extLst>
          </p:cNvPr>
          <p:cNvSpPr>
            <a:spLocks noGrp="1"/>
          </p:cNvSpPr>
          <p:nvPr>
            <p:ph idx="1"/>
          </p:nvPr>
        </p:nvSpPr>
        <p:spPr>
          <a:xfrm>
            <a:off x="22259" y="979714"/>
            <a:ext cx="9102490" cy="5850044"/>
          </a:xfrm>
        </p:spPr>
        <p:txBody>
          <a:bodyPr>
            <a:normAutofit lnSpcReduction="10000"/>
          </a:bodyPr>
          <a:lstStyle/>
          <a:p>
            <a:pPr marL="0" indent="0" algn="just">
              <a:spcBef>
                <a:spcPts val="0"/>
              </a:spcBef>
              <a:buNone/>
            </a:pPr>
            <a:r>
              <a:rPr lang="vi-VN"/>
              <a:t>8. Thay đổi tên đối tượng của bốn hộp kiểm đầu tiên thành </a:t>
            </a:r>
            <a:r>
              <a:rPr lang="en-US">
                <a:latin typeface="Courier New" panose="02070309020205020404" pitchFamily="49" charset="0"/>
                <a:cs typeface="Courier New" panose="02070309020205020404" pitchFamily="49" charset="0"/>
              </a:rPr>
              <a:t>checkBoxChoclateChips, checkBoxCookieDough, checkBoxChoclateAlmond, checkBoxRockyRoad</a:t>
            </a:r>
            <a:r>
              <a:rPr lang="en-US"/>
              <a:t>.</a:t>
            </a:r>
            <a:endParaRPr lang="vi-VN"/>
          </a:p>
          <a:p>
            <a:pPr marL="0" indent="0" algn="just">
              <a:spcBef>
                <a:spcPts val="0"/>
              </a:spcBef>
              <a:buNone/>
            </a:pPr>
            <a:r>
              <a:rPr lang="vi-VN"/>
              <a:t>9. Đặt thuộc tính </a:t>
            </a:r>
            <a:r>
              <a:rPr lang="vi-VN" b="1"/>
              <a:t>objectName</a:t>
            </a:r>
            <a:r>
              <a:rPr lang="vi-VN"/>
              <a:t> của hộp nhóm đầu tiên thành </a:t>
            </a:r>
            <a:r>
              <a:rPr lang="vi-VN">
                <a:latin typeface="Courier New" panose="02070309020205020404" pitchFamily="49" charset="0"/>
                <a:cs typeface="Courier New" panose="02070309020205020404" pitchFamily="49" charset="0"/>
              </a:rPr>
              <a:t>groupBoxIceCreams</a:t>
            </a:r>
            <a:r>
              <a:rPr lang="vi-VN"/>
              <a:t>.</a:t>
            </a:r>
          </a:p>
          <a:p>
            <a:pPr marL="0" indent="0" algn="just">
              <a:spcBef>
                <a:spcPts val="0"/>
              </a:spcBef>
              <a:buNone/>
            </a:pPr>
            <a:r>
              <a:rPr lang="vi-VN"/>
              <a:t>10. Thay đổi thuộc tính </a:t>
            </a:r>
            <a:r>
              <a:rPr lang="vi-VN" b="1"/>
              <a:t>objectName</a:t>
            </a:r>
            <a:r>
              <a:rPr lang="vi-VN"/>
              <a:t> của ba hộp kiểm tiếp theo thành</a:t>
            </a:r>
            <a:r>
              <a:rPr lang="en-US"/>
              <a:t> </a:t>
            </a:r>
            <a:r>
              <a:rPr lang="en-US">
                <a:latin typeface="Courier New" panose="02070309020205020404" pitchFamily="49" charset="0"/>
                <a:cs typeface="Courier New" panose="02070309020205020404" pitchFamily="49" charset="0"/>
              </a:rPr>
              <a:t>checkBoxCoffee, checkBoxSoda, checkBoxTea</a:t>
            </a:r>
            <a:r>
              <a:rPr lang="vi-VN"/>
              <a:t>.</a:t>
            </a:r>
          </a:p>
          <a:p>
            <a:pPr marL="0" indent="0" algn="just">
              <a:spcBef>
                <a:spcPts val="0"/>
              </a:spcBef>
              <a:buNone/>
            </a:pPr>
            <a:r>
              <a:rPr lang="vi-VN"/>
              <a:t>11. Đặt thuộc tính </a:t>
            </a:r>
            <a:r>
              <a:rPr lang="vi-VN" b="1"/>
              <a:t>objectName</a:t>
            </a:r>
            <a:r>
              <a:rPr lang="vi-VN"/>
              <a:t> của hộp nhóm thứ hai thành </a:t>
            </a:r>
            <a:r>
              <a:rPr lang="vi-VN">
                <a:latin typeface="Courier New" panose="02070309020205020404" pitchFamily="49" charset="0"/>
                <a:cs typeface="Courier New" panose="02070309020205020404" pitchFamily="49" charset="0"/>
              </a:rPr>
              <a:t>groupBoxDrinks</a:t>
            </a:r>
            <a:r>
              <a:rPr lang="vi-VN"/>
              <a:t>.</a:t>
            </a:r>
          </a:p>
          <a:p>
            <a:pPr marL="0" indent="0" algn="just">
              <a:spcBef>
                <a:spcPts val="0"/>
              </a:spcBef>
              <a:buNone/>
            </a:pPr>
            <a:r>
              <a:rPr lang="vi-VN"/>
              <a:t>12. Đặt thuộc tính </a:t>
            </a:r>
            <a:r>
              <a:rPr lang="vi-VN" b="1"/>
              <a:t>objectName</a:t>
            </a:r>
            <a:r>
              <a:rPr lang="vi-VN"/>
              <a:t> của tiện ích </a:t>
            </a:r>
            <a:r>
              <a:rPr lang="en-US"/>
              <a:t>Label </a:t>
            </a:r>
            <a:r>
              <a:rPr lang="vi-VN"/>
              <a:t>thứ tư thành </a:t>
            </a:r>
            <a:r>
              <a:rPr lang="en-US">
                <a:latin typeface="Courier New" panose="02070309020205020404" pitchFamily="49" charset="0"/>
                <a:cs typeface="Courier New" panose="02070309020205020404" pitchFamily="49" charset="0"/>
              </a:rPr>
              <a:t>label</a:t>
            </a:r>
            <a:r>
              <a:rPr lang="vi-VN">
                <a:latin typeface="Courier New" panose="02070309020205020404" pitchFamily="49" charset="0"/>
                <a:cs typeface="Courier New" panose="02070309020205020404" pitchFamily="49" charset="0"/>
              </a:rPr>
              <a:t>Amount</a:t>
            </a:r>
            <a:r>
              <a:rPr lang="vi-VN"/>
              <a:t>.</a:t>
            </a:r>
          </a:p>
          <a:p>
            <a:pPr marL="0" indent="0" algn="just">
              <a:spcBef>
                <a:spcPts val="0"/>
              </a:spcBef>
              <a:buNone/>
            </a:pPr>
            <a:r>
              <a:rPr lang="vi-VN"/>
              <a:t>13. Lưu ứng dụng với tên demoCheckBox2.ui. Thông qua tiện ích </a:t>
            </a:r>
            <a:r>
              <a:rPr lang="en-US"/>
              <a:t>Label </a:t>
            </a:r>
            <a:r>
              <a:rPr lang="vi-VN"/>
              <a:t>này, tổng số lượng kem và đồ uống được chọn sẽ được hiển thị</a:t>
            </a:r>
            <a:endParaRPr lang="en-US"/>
          </a:p>
        </p:txBody>
      </p:sp>
      <p:sp>
        <p:nvSpPr>
          <p:cNvPr id="4" name="Title 1">
            <a:extLst>
              <a:ext uri="{FF2B5EF4-FFF2-40B4-BE49-F238E27FC236}">
                <a16:creationId xmlns:a16="http://schemas.microsoft.com/office/drawing/2014/main" id="{F07F119C-4966-48E4-964E-2AB983F46B3D}"/>
              </a:ext>
            </a:extLst>
          </p:cNvPr>
          <p:cNvSpPr>
            <a:spLocks noGrp="1"/>
          </p:cNvSpPr>
          <p:nvPr>
            <p:ph type="title"/>
          </p:nvPr>
        </p:nvSpPr>
        <p:spPr>
          <a:xfrm>
            <a:off x="22259" y="28244"/>
            <a:ext cx="9102490" cy="747363"/>
          </a:xfrm>
        </p:spPr>
        <p:txBody>
          <a:bodyPr/>
          <a:lstStyle/>
          <a:p>
            <a:r>
              <a:rPr lang="en-US"/>
              <a:t>Các b</a:t>
            </a:r>
            <a:r>
              <a:rPr lang="vi-VN"/>
              <a:t>ư</a:t>
            </a:r>
            <a:r>
              <a:rPr lang="en-US"/>
              <a:t>ớc tạo ứng dụng... (t.t)</a:t>
            </a:r>
          </a:p>
        </p:txBody>
      </p:sp>
    </p:spTree>
    <p:extLst>
      <p:ext uri="{BB962C8B-B14F-4D97-AF65-F5344CB8AC3E}">
        <p14:creationId xmlns:p14="http://schemas.microsoft.com/office/powerpoint/2010/main" val="24553168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0711F221-C828-4606-83A4-23EF234D5880}"/>
              </a:ext>
            </a:extLst>
          </p:cNvPr>
          <p:cNvGrpSpPr>
            <a:grpSpLocks/>
          </p:cNvGrpSpPr>
          <p:nvPr/>
        </p:nvGrpSpPr>
        <p:grpSpPr bwMode="auto">
          <a:xfrm>
            <a:off x="169638" y="702129"/>
            <a:ext cx="8835570" cy="4408715"/>
            <a:chOff x="2253" y="294"/>
            <a:chExt cx="6295" cy="5440"/>
          </a:xfrm>
        </p:grpSpPr>
        <p:pic>
          <p:nvPicPr>
            <p:cNvPr id="3075" name="Picture 3">
              <a:extLst>
                <a:ext uri="{FF2B5EF4-FFF2-40B4-BE49-F238E27FC236}">
                  <a16:creationId xmlns:a16="http://schemas.microsoft.com/office/drawing/2014/main" id="{ABA6488D-A608-4960-B321-3D4E8C6F38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2" y="313"/>
              <a:ext cx="6255" cy="5400"/>
            </a:xfrm>
            <a:prstGeom prst="rect">
              <a:avLst/>
            </a:prstGeom>
            <a:noFill/>
            <a:extLst>
              <a:ext uri="{909E8E84-426E-40DD-AFC4-6F175D3DCCD1}">
                <a14:hiddenFill xmlns:a14="http://schemas.microsoft.com/office/drawing/2010/main">
                  <a:solidFill>
                    <a:srgbClr val="FFFFFF"/>
                  </a:solidFill>
                </a14:hiddenFill>
              </a:ext>
            </a:extLst>
          </p:spPr>
        </p:pic>
        <p:sp>
          <p:nvSpPr>
            <p:cNvPr id="5" name="Line 4">
              <a:extLst>
                <a:ext uri="{FF2B5EF4-FFF2-40B4-BE49-F238E27FC236}">
                  <a16:creationId xmlns:a16="http://schemas.microsoft.com/office/drawing/2014/main" id="{1622DD83-86BE-4285-9139-B99C0D20BC25}"/>
                </a:ext>
              </a:extLst>
            </p:cNvPr>
            <p:cNvSpPr>
              <a:spLocks noChangeShapeType="1"/>
            </p:cNvSpPr>
            <p:nvPr/>
          </p:nvSpPr>
          <p:spPr bwMode="auto">
            <a:xfrm>
              <a:off x="2263" y="304"/>
              <a:ext cx="627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Line 5">
              <a:extLst>
                <a:ext uri="{FF2B5EF4-FFF2-40B4-BE49-F238E27FC236}">
                  <a16:creationId xmlns:a16="http://schemas.microsoft.com/office/drawing/2014/main" id="{CE391787-DAD4-4880-AA3F-C7A8D369E290}"/>
                </a:ext>
              </a:extLst>
            </p:cNvPr>
            <p:cNvSpPr>
              <a:spLocks noChangeShapeType="1"/>
            </p:cNvSpPr>
            <p:nvPr/>
          </p:nvSpPr>
          <p:spPr bwMode="auto">
            <a:xfrm>
              <a:off x="2263" y="304"/>
              <a:ext cx="0" cy="542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Line 6">
              <a:extLst>
                <a:ext uri="{FF2B5EF4-FFF2-40B4-BE49-F238E27FC236}">
                  <a16:creationId xmlns:a16="http://schemas.microsoft.com/office/drawing/2014/main" id="{7E3A14A4-8627-4DA6-8058-14396436E9DF}"/>
                </a:ext>
              </a:extLst>
            </p:cNvPr>
            <p:cNvSpPr>
              <a:spLocks noChangeShapeType="1"/>
            </p:cNvSpPr>
            <p:nvPr/>
          </p:nvSpPr>
          <p:spPr bwMode="auto">
            <a:xfrm>
              <a:off x="8538" y="304"/>
              <a:ext cx="0" cy="542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Line 7">
              <a:extLst>
                <a:ext uri="{FF2B5EF4-FFF2-40B4-BE49-F238E27FC236}">
                  <a16:creationId xmlns:a16="http://schemas.microsoft.com/office/drawing/2014/main" id="{E4339646-4D63-4ACC-B888-280174BCC15B}"/>
                </a:ext>
              </a:extLst>
            </p:cNvPr>
            <p:cNvSpPr>
              <a:spLocks noChangeShapeType="1"/>
            </p:cNvSpPr>
            <p:nvPr/>
          </p:nvSpPr>
          <p:spPr bwMode="auto">
            <a:xfrm>
              <a:off x="2263" y="5724"/>
              <a:ext cx="627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0" name="Title 1">
            <a:extLst>
              <a:ext uri="{FF2B5EF4-FFF2-40B4-BE49-F238E27FC236}">
                <a16:creationId xmlns:a16="http://schemas.microsoft.com/office/drawing/2014/main" id="{49257F79-46B7-4905-BB5A-C7E5AB971748}"/>
              </a:ext>
            </a:extLst>
          </p:cNvPr>
          <p:cNvSpPr>
            <a:spLocks noGrp="1"/>
          </p:cNvSpPr>
          <p:nvPr>
            <p:ph type="title"/>
          </p:nvPr>
        </p:nvSpPr>
        <p:spPr>
          <a:xfrm>
            <a:off x="22259" y="28244"/>
            <a:ext cx="9102490" cy="747363"/>
          </a:xfrm>
        </p:spPr>
        <p:txBody>
          <a:bodyPr/>
          <a:lstStyle/>
          <a:p>
            <a:r>
              <a:rPr lang="en-US"/>
              <a:t>Các b</a:t>
            </a:r>
            <a:r>
              <a:rPr lang="vi-VN"/>
              <a:t>ư</a:t>
            </a:r>
            <a:r>
              <a:rPr lang="en-US"/>
              <a:t>ớc tạo ứng dụng... (t.t)</a:t>
            </a:r>
          </a:p>
        </p:txBody>
      </p:sp>
      <p:sp>
        <p:nvSpPr>
          <p:cNvPr id="9" name="Rectangle 8">
            <a:extLst>
              <a:ext uri="{FF2B5EF4-FFF2-40B4-BE49-F238E27FC236}">
                <a16:creationId xmlns:a16="http://schemas.microsoft.com/office/drawing/2014/main" id="{8291FBCB-8414-4ACD-8BE7-AF3249EA8576}"/>
              </a:ext>
            </a:extLst>
          </p:cNvPr>
          <p:cNvSpPr/>
          <p:nvPr/>
        </p:nvSpPr>
        <p:spPr>
          <a:xfrm>
            <a:off x="-19250" y="5094154"/>
            <a:ext cx="9143999" cy="1785104"/>
          </a:xfrm>
          <a:prstGeom prst="rect">
            <a:avLst/>
          </a:prstGeom>
        </p:spPr>
        <p:txBody>
          <a:bodyPr wrap="square">
            <a:spAutoFit/>
          </a:bodyPr>
          <a:lstStyle/>
          <a:p>
            <a:r>
              <a:rPr lang="en-US" sz="2200"/>
              <a:t>Dùng tiện ích pyuic5 chuyển Tệp </a:t>
            </a:r>
            <a:r>
              <a:rPr lang="vi-VN" sz="2200"/>
              <a:t>demoCheckBox2.ui</a:t>
            </a:r>
            <a:r>
              <a:rPr lang="en-US" sz="2200"/>
              <a:t> (XML) thành mã Python. </a:t>
            </a:r>
          </a:p>
          <a:p>
            <a:r>
              <a:rPr lang="vi-VN" sz="2200"/>
              <a:t>14. </a:t>
            </a:r>
            <a:r>
              <a:rPr lang="en-US" sz="2200"/>
              <a:t>Sau đó import </a:t>
            </a:r>
            <a:r>
              <a:rPr lang="vi-VN" sz="2200"/>
              <a:t>demoCheckBox2.py làm tệp tiêu đề trong chương trình để gọi thiết kế giao diện người dùng và viết mã để tính tổng chi phí cho kem và đồ uống thông qua tiện ích </a:t>
            </a:r>
            <a:r>
              <a:rPr lang="en-US" sz="2200"/>
              <a:t>Label </a:t>
            </a:r>
            <a:r>
              <a:rPr lang="vi-VN" sz="2200"/>
              <a:t>khi người dùng chọn hoặc bỏ chọn bất kỳ hộp kiểm nào .</a:t>
            </a:r>
            <a:endParaRPr lang="en-US" sz="2200"/>
          </a:p>
        </p:txBody>
      </p:sp>
    </p:spTree>
    <p:extLst>
      <p:ext uri="{BB962C8B-B14F-4D97-AF65-F5344CB8AC3E}">
        <p14:creationId xmlns:p14="http://schemas.microsoft.com/office/powerpoint/2010/main" val="3218350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9430DC2-D071-4E0F-96CE-41E14AB8F31F}"/>
              </a:ext>
            </a:extLst>
          </p:cNvPr>
          <p:cNvSpPr/>
          <p:nvPr/>
        </p:nvSpPr>
        <p:spPr>
          <a:xfrm>
            <a:off x="0" y="0"/>
            <a:ext cx="9144000" cy="6700745"/>
          </a:xfrm>
          <a:prstGeom prst="rect">
            <a:avLst/>
          </a:prstGeom>
        </p:spPr>
        <p:txBody>
          <a:bodyPr wrap="square">
            <a:spAutoFit/>
          </a:bodyPr>
          <a:lstStyle/>
          <a:p>
            <a:pPr>
              <a:lnSpc>
                <a:spcPct val="150000"/>
              </a:lnSpc>
            </a:pPr>
            <a:r>
              <a:rPr lang="en-US" sz="1600">
                <a:solidFill>
                  <a:srgbClr val="4B69C6"/>
                </a:solidFill>
                <a:latin typeface="Consolas" panose="020B0609020204030204" pitchFamily="49" charset="0"/>
              </a:rPr>
              <a:t>import</a:t>
            </a:r>
            <a:r>
              <a:rPr lang="en-US" sz="1600">
                <a:solidFill>
                  <a:srgbClr val="333333"/>
                </a:solidFill>
                <a:latin typeface="Consolas" panose="020B0609020204030204" pitchFamily="49" charset="0"/>
              </a:rPr>
              <a:t> sys</a:t>
            </a:r>
          </a:p>
          <a:p>
            <a:pPr>
              <a:lnSpc>
                <a:spcPct val="150000"/>
              </a:lnSpc>
            </a:pPr>
            <a:r>
              <a:rPr lang="en-US" sz="1600">
                <a:solidFill>
                  <a:srgbClr val="4B69C6"/>
                </a:solidFill>
                <a:latin typeface="Consolas" panose="020B0609020204030204" pitchFamily="49" charset="0"/>
              </a:rPr>
              <a:t>from</a:t>
            </a:r>
            <a:r>
              <a:rPr lang="en-US" sz="1600">
                <a:solidFill>
                  <a:srgbClr val="333333"/>
                </a:solidFill>
                <a:latin typeface="Consolas" panose="020B0609020204030204" pitchFamily="49" charset="0"/>
              </a:rPr>
              <a:t> PyQt5</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QtWidgets </a:t>
            </a:r>
            <a:r>
              <a:rPr lang="en-US" sz="1600">
                <a:solidFill>
                  <a:srgbClr val="4B69C6"/>
                </a:solidFill>
                <a:latin typeface="Consolas" panose="020B0609020204030204" pitchFamily="49" charset="0"/>
              </a:rPr>
              <a:t>import</a:t>
            </a:r>
            <a:r>
              <a:rPr lang="en-US" sz="1600">
                <a:solidFill>
                  <a:srgbClr val="333333"/>
                </a:solidFill>
                <a:latin typeface="Consolas" panose="020B0609020204030204" pitchFamily="49" charset="0"/>
              </a:rPr>
              <a:t> QDialog</a:t>
            </a:r>
          </a:p>
          <a:p>
            <a:pPr>
              <a:lnSpc>
                <a:spcPct val="150000"/>
              </a:lnSpc>
            </a:pPr>
            <a:r>
              <a:rPr lang="en-US" sz="1600">
                <a:solidFill>
                  <a:srgbClr val="4B69C6"/>
                </a:solidFill>
                <a:latin typeface="Consolas" panose="020B0609020204030204" pitchFamily="49" charset="0"/>
              </a:rPr>
              <a:t>from</a:t>
            </a:r>
            <a:r>
              <a:rPr lang="en-US" sz="1600">
                <a:solidFill>
                  <a:srgbClr val="333333"/>
                </a:solidFill>
                <a:latin typeface="Consolas" panose="020B0609020204030204" pitchFamily="49" charset="0"/>
              </a:rPr>
              <a:t> PyQt5</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QtWidgets </a:t>
            </a:r>
            <a:r>
              <a:rPr lang="en-US" sz="1600">
                <a:solidFill>
                  <a:srgbClr val="4B69C6"/>
                </a:solidFill>
                <a:latin typeface="Consolas" panose="020B0609020204030204" pitchFamily="49" charset="0"/>
              </a:rPr>
              <a:t>import</a:t>
            </a:r>
            <a:r>
              <a:rPr lang="en-US" sz="1600">
                <a:solidFill>
                  <a:srgbClr val="333333"/>
                </a:solidFill>
                <a:latin typeface="Consolas" panose="020B0609020204030204" pitchFamily="49" charset="0"/>
              </a:rPr>
              <a:t> QApplication</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QWidget</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QPushButton </a:t>
            </a:r>
          </a:p>
          <a:p>
            <a:pPr>
              <a:lnSpc>
                <a:spcPct val="150000"/>
              </a:lnSpc>
            </a:pPr>
            <a:r>
              <a:rPr lang="en-US" sz="1600">
                <a:solidFill>
                  <a:srgbClr val="4B69C6"/>
                </a:solidFill>
                <a:latin typeface="Consolas" panose="020B0609020204030204" pitchFamily="49" charset="0"/>
              </a:rPr>
              <a:t>from</a:t>
            </a:r>
            <a:r>
              <a:rPr lang="en-US" sz="1600">
                <a:solidFill>
                  <a:srgbClr val="333333"/>
                </a:solidFill>
                <a:latin typeface="Consolas" panose="020B0609020204030204" pitchFamily="49" charset="0"/>
              </a:rPr>
              <a:t> demoCheckBox2 </a:t>
            </a:r>
            <a:r>
              <a:rPr lang="en-US" sz="1600">
                <a:solidFill>
                  <a:srgbClr val="4B69C6"/>
                </a:solidFill>
                <a:latin typeface="Consolas" panose="020B0609020204030204" pitchFamily="49" charset="0"/>
              </a:rPr>
              <a:t>import</a:t>
            </a:r>
            <a:r>
              <a:rPr lang="en-US" sz="1600">
                <a:solidFill>
                  <a:srgbClr val="333333"/>
                </a:solidFill>
                <a:latin typeface="Consolas" panose="020B0609020204030204" pitchFamily="49" charset="0"/>
              </a:rPr>
              <a:t> </a:t>
            </a:r>
            <a:r>
              <a:rPr lang="en-US" sz="1600">
                <a:solidFill>
                  <a:srgbClr val="777777"/>
                </a:solidFill>
                <a:latin typeface="Consolas" panose="020B0609020204030204" pitchFamily="49" charset="0"/>
              </a:rPr>
              <a:t>*</a:t>
            </a:r>
          </a:p>
          <a:p>
            <a:pPr>
              <a:lnSpc>
                <a:spcPct val="150000"/>
              </a:lnSpc>
            </a:pPr>
            <a:endParaRPr lang="en-US" sz="1600">
              <a:solidFill>
                <a:srgbClr val="333333"/>
              </a:solidFill>
              <a:latin typeface="Consolas" panose="020B0609020204030204" pitchFamily="49" charset="0"/>
            </a:endParaRPr>
          </a:p>
          <a:p>
            <a:pPr>
              <a:lnSpc>
                <a:spcPct val="150000"/>
              </a:lnSpc>
            </a:pPr>
            <a:r>
              <a:rPr lang="en-US" sz="1600">
                <a:solidFill>
                  <a:srgbClr val="7A3E9D"/>
                </a:solidFill>
                <a:latin typeface="Consolas" panose="020B0609020204030204" pitchFamily="49" charset="0"/>
              </a:rPr>
              <a:t>class</a:t>
            </a:r>
            <a:r>
              <a:rPr lang="en-US" sz="1600">
                <a:solidFill>
                  <a:srgbClr val="333333"/>
                </a:solidFill>
                <a:latin typeface="Consolas" panose="020B0609020204030204" pitchFamily="49" charset="0"/>
              </a:rPr>
              <a:t> </a:t>
            </a:r>
            <a:r>
              <a:rPr lang="en-US" sz="1600" b="1">
                <a:solidFill>
                  <a:srgbClr val="7A3E9D"/>
                </a:solidFill>
                <a:latin typeface="Consolas" panose="020B0609020204030204" pitchFamily="49" charset="0"/>
              </a:rPr>
              <a:t>MyForm</a:t>
            </a:r>
            <a:r>
              <a:rPr lang="en-US" sz="1600">
                <a:solidFill>
                  <a:srgbClr val="777777"/>
                </a:solidFill>
                <a:latin typeface="Consolas" panose="020B0609020204030204" pitchFamily="49" charset="0"/>
              </a:rPr>
              <a:t>(</a:t>
            </a:r>
            <a:r>
              <a:rPr lang="en-US" sz="1600" b="1">
                <a:solidFill>
                  <a:srgbClr val="7A3E9D"/>
                </a:solidFill>
                <a:latin typeface="Consolas" panose="020B0609020204030204" pitchFamily="49" charset="0"/>
              </a:rPr>
              <a:t>QDialog</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p>
          <a:p>
            <a:pPr>
              <a:lnSpc>
                <a:spcPct val="150000"/>
              </a:lnSpc>
            </a:pPr>
            <a:r>
              <a:rPr lang="en-US" sz="1600">
                <a:solidFill>
                  <a:srgbClr val="7A3E9D"/>
                </a:solidFill>
                <a:latin typeface="Consolas" panose="020B0609020204030204" pitchFamily="49" charset="0"/>
              </a:rPr>
              <a:t>  def</a:t>
            </a:r>
            <a:r>
              <a:rPr lang="en-US" sz="1600">
                <a:solidFill>
                  <a:srgbClr val="333333"/>
                </a:solidFill>
                <a:latin typeface="Consolas" panose="020B0609020204030204" pitchFamily="49" charset="0"/>
              </a:rPr>
              <a:t> </a:t>
            </a:r>
            <a:r>
              <a:rPr lang="en-US" sz="1600" b="1">
                <a:solidFill>
                  <a:srgbClr val="AA3731"/>
                </a:solidFill>
                <a:latin typeface="Consolas" panose="020B0609020204030204" pitchFamily="49" charset="0"/>
              </a:rPr>
              <a:t>init</a:t>
            </a:r>
            <a:r>
              <a:rPr lang="en-US" sz="1600">
                <a:solidFill>
                  <a:srgbClr val="777777"/>
                </a:solidFill>
                <a:latin typeface="Consolas" panose="020B0609020204030204" pitchFamily="49" charset="0"/>
              </a:rPr>
              <a:t>(</a:t>
            </a:r>
            <a:r>
              <a:rPr lang="en-US" sz="1600">
                <a:solidFill>
                  <a:srgbClr val="7A3E9D"/>
                </a:solidFill>
                <a:latin typeface="Consolas" panose="020B0609020204030204" pitchFamily="49" charset="0"/>
              </a:rPr>
              <a:t>self</a:t>
            </a:r>
            <a:r>
              <a:rPr lang="en-US" sz="1600">
                <a:solidFill>
                  <a:srgbClr val="777777"/>
                </a:solidFill>
                <a:latin typeface="Consolas" panose="020B0609020204030204" pitchFamily="49" charset="0"/>
              </a:rPr>
              <a:t>):</a:t>
            </a:r>
            <a:endParaRPr lang="en-US" sz="1600">
              <a:solidFill>
                <a:srgbClr val="333333"/>
              </a:solidFill>
              <a:latin typeface="Consolas" panose="020B0609020204030204" pitchFamily="49" charset="0"/>
            </a:endParaRPr>
          </a:p>
          <a:p>
            <a:pPr>
              <a:lnSpc>
                <a:spcPct val="150000"/>
              </a:lnSpc>
            </a:pPr>
            <a:r>
              <a:rPr lang="en-US" sz="1600">
                <a:solidFill>
                  <a:srgbClr val="7A3E9D"/>
                </a:solidFill>
                <a:latin typeface="Consolas" panose="020B0609020204030204" pitchFamily="49" charset="0"/>
              </a:rPr>
              <a:t>    super</a:t>
            </a:r>
            <a:r>
              <a:rPr lang="en-US" sz="1600">
                <a:solidFill>
                  <a:srgbClr val="777777"/>
                </a:solidFill>
                <a:latin typeface="Consolas" panose="020B0609020204030204" pitchFamily="49" charset="0"/>
              </a:rPr>
              <a:t>().</a:t>
            </a:r>
            <a:r>
              <a:rPr lang="en-US" sz="1600" b="1">
                <a:solidFill>
                  <a:srgbClr val="AA3731"/>
                </a:solidFill>
                <a:latin typeface="Consolas" panose="020B0609020204030204" pitchFamily="49" charset="0"/>
              </a:rPr>
              <a:t>__init__</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p>
          <a:p>
            <a:pPr>
              <a:lnSpc>
                <a:spcPct val="150000"/>
              </a:lnSpc>
            </a:pPr>
            <a:r>
              <a:rPr lang="en-US" sz="1600">
                <a:solidFill>
                  <a:srgbClr val="9C5D27"/>
                </a:solidFill>
                <a:latin typeface="Consolas" panose="020B0609020204030204" pitchFamily="49" charset="0"/>
              </a:rPr>
              <a:t>    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ui </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Ui_Dialog</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p>
          <a:p>
            <a:pPr>
              <a:lnSpc>
                <a:spcPct val="150000"/>
              </a:lnSpc>
            </a:pPr>
            <a:r>
              <a:rPr lang="en-US" sz="1600">
                <a:solidFill>
                  <a:srgbClr val="9C5D27"/>
                </a:solidFill>
                <a:latin typeface="Consolas" panose="020B0609020204030204" pitchFamily="49" charset="0"/>
              </a:rPr>
              <a:t>    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ui</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setupUi</a:t>
            </a:r>
            <a:r>
              <a:rPr lang="en-US" sz="1600">
                <a:solidFill>
                  <a:srgbClr val="777777"/>
                </a:solidFill>
                <a:latin typeface="Consolas" panose="020B0609020204030204" pitchFamily="49" charset="0"/>
              </a:rPr>
              <a:t>(</a:t>
            </a:r>
            <a:r>
              <a:rPr lang="en-US" sz="1600">
                <a:solidFill>
                  <a:srgbClr val="9C5D27"/>
                </a:solidFill>
                <a:latin typeface="Consolas" panose="020B0609020204030204" pitchFamily="49" charset="0"/>
              </a:rPr>
              <a:t>self</a:t>
            </a:r>
            <a:r>
              <a:rPr lang="en-US" sz="1600">
                <a:solidFill>
                  <a:srgbClr val="777777"/>
                </a:solidFill>
                <a:latin typeface="Consolas" panose="020B0609020204030204" pitchFamily="49" charset="0"/>
              </a:rPr>
              <a:t>)</a:t>
            </a:r>
            <a:endParaRPr lang="en-US" sz="1600">
              <a:solidFill>
                <a:srgbClr val="333333"/>
              </a:solidFill>
              <a:latin typeface="Consolas" panose="020B0609020204030204" pitchFamily="49" charset="0"/>
            </a:endParaRPr>
          </a:p>
          <a:p>
            <a:pPr>
              <a:lnSpc>
                <a:spcPct val="150000"/>
              </a:lnSpc>
            </a:pPr>
            <a:r>
              <a:rPr lang="en-US" sz="1600">
                <a:solidFill>
                  <a:srgbClr val="9C5D27"/>
                </a:solidFill>
                <a:latin typeface="Consolas" panose="020B0609020204030204" pitchFamily="49" charset="0"/>
              </a:rPr>
              <a:t>    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ui</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checkBoxChoclateAlmond</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stateChanged</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connect</a:t>
            </a:r>
            <a:r>
              <a:rPr lang="en-US" sz="1600">
                <a:solidFill>
                  <a:srgbClr val="777777"/>
                </a:solidFill>
                <a:latin typeface="Consolas" panose="020B0609020204030204" pitchFamily="49" charset="0"/>
              </a:rPr>
              <a:t>(</a:t>
            </a:r>
            <a:r>
              <a:rPr lang="en-US" sz="1600">
                <a:solidFill>
                  <a:srgbClr val="9C5D27"/>
                </a:solidFill>
                <a:latin typeface="Consolas" panose="020B0609020204030204" pitchFamily="49" charset="0"/>
              </a:rPr>
              <a:t>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dispAmount</a:t>
            </a:r>
            <a:r>
              <a:rPr lang="en-US" sz="1600">
                <a:solidFill>
                  <a:srgbClr val="777777"/>
                </a:solidFill>
                <a:latin typeface="Consolas" panose="020B0609020204030204" pitchFamily="49" charset="0"/>
              </a:rPr>
              <a:t>)</a:t>
            </a:r>
            <a:endParaRPr lang="en-US" sz="1600">
              <a:solidFill>
                <a:srgbClr val="333333"/>
              </a:solidFill>
              <a:latin typeface="Consolas" panose="020B0609020204030204" pitchFamily="49" charset="0"/>
            </a:endParaRPr>
          </a:p>
          <a:p>
            <a:pPr>
              <a:lnSpc>
                <a:spcPct val="150000"/>
              </a:lnSpc>
            </a:pPr>
            <a:r>
              <a:rPr lang="en-US" sz="1600">
                <a:solidFill>
                  <a:srgbClr val="9C5D27"/>
                </a:solidFill>
                <a:latin typeface="Consolas" panose="020B0609020204030204" pitchFamily="49" charset="0"/>
              </a:rPr>
              <a:t>    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ui</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checkBoxChoclateChips</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stateChanged</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connect</a:t>
            </a:r>
            <a:r>
              <a:rPr lang="en-US" sz="1600">
                <a:solidFill>
                  <a:srgbClr val="777777"/>
                </a:solidFill>
                <a:latin typeface="Consolas" panose="020B0609020204030204" pitchFamily="49" charset="0"/>
              </a:rPr>
              <a:t>(</a:t>
            </a:r>
            <a:r>
              <a:rPr lang="en-US" sz="1600">
                <a:solidFill>
                  <a:srgbClr val="9C5D27"/>
                </a:solidFill>
                <a:latin typeface="Consolas" panose="020B0609020204030204" pitchFamily="49" charset="0"/>
              </a:rPr>
              <a:t>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dispAmount</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p>
          <a:p>
            <a:pPr>
              <a:lnSpc>
                <a:spcPct val="150000"/>
              </a:lnSpc>
            </a:pPr>
            <a:r>
              <a:rPr lang="en-US" sz="1600">
                <a:solidFill>
                  <a:srgbClr val="9C5D27"/>
                </a:solidFill>
                <a:latin typeface="Consolas" panose="020B0609020204030204" pitchFamily="49" charset="0"/>
              </a:rPr>
              <a:t>    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ui</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checkBoxCookieDough</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stateChanged</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connect</a:t>
            </a:r>
            <a:r>
              <a:rPr lang="en-US" sz="1600">
                <a:solidFill>
                  <a:srgbClr val="777777"/>
                </a:solidFill>
                <a:latin typeface="Consolas" panose="020B0609020204030204" pitchFamily="49" charset="0"/>
              </a:rPr>
              <a:t>(</a:t>
            </a:r>
            <a:r>
              <a:rPr lang="en-US" sz="1600">
                <a:solidFill>
                  <a:srgbClr val="9C5D27"/>
                </a:solidFill>
                <a:latin typeface="Consolas" panose="020B0609020204030204" pitchFamily="49" charset="0"/>
              </a:rPr>
              <a:t>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dispAmount</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p>
          <a:p>
            <a:pPr>
              <a:lnSpc>
                <a:spcPct val="150000"/>
              </a:lnSpc>
            </a:pPr>
            <a:r>
              <a:rPr lang="en-US" sz="1600">
                <a:solidFill>
                  <a:srgbClr val="9C5D27"/>
                </a:solidFill>
                <a:latin typeface="Consolas" panose="020B0609020204030204" pitchFamily="49" charset="0"/>
              </a:rPr>
              <a:t>    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ui</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checkBoxRockyRoad</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stateChanged</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connect</a:t>
            </a:r>
            <a:r>
              <a:rPr lang="en-US" sz="1600">
                <a:solidFill>
                  <a:srgbClr val="777777"/>
                </a:solidFill>
                <a:latin typeface="Consolas" panose="020B0609020204030204" pitchFamily="49" charset="0"/>
              </a:rPr>
              <a:t>(</a:t>
            </a:r>
            <a:r>
              <a:rPr lang="en-US" sz="1600">
                <a:solidFill>
                  <a:srgbClr val="9C5D27"/>
                </a:solidFill>
                <a:latin typeface="Consolas" panose="020B0609020204030204" pitchFamily="49" charset="0"/>
              </a:rPr>
              <a:t>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dispAmount</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p>
          <a:p>
            <a:pPr>
              <a:lnSpc>
                <a:spcPct val="150000"/>
              </a:lnSpc>
            </a:pPr>
            <a:r>
              <a:rPr lang="en-US" sz="1600">
                <a:solidFill>
                  <a:srgbClr val="9C5D27"/>
                </a:solidFill>
                <a:latin typeface="Consolas" panose="020B0609020204030204" pitchFamily="49" charset="0"/>
              </a:rPr>
              <a:t>    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ui</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checkBoxCoffee</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stateChanged</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connect</a:t>
            </a:r>
            <a:r>
              <a:rPr lang="en-US" sz="1600">
                <a:solidFill>
                  <a:srgbClr val="777777"/>
                </a:solidFill>
                <a:latin typeface="Consolas" panose="020B0609020204030204" pitchFamily="49" charset="0"/>
              </a:rPr>
              <a:t>(</a:t>
            </a:r>
            <a:r>
              <a:rPr lang="en-US" sz="1600">
                <a:solidFill>
                  <a:srgbClr val="9C5D27"/>
                </a:solidFill>
                <a:latin typeface="Consolas" panose="020B0609020204030204" pitchFamily="49" charset="0"/>
              </a:rPr>
              <a:t>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dispAmount</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p>
          <a:p>
            <a:pPr>
              <a:lnSpc>
                <a:spcPct val="150000"/>
              </a:lnSpc>
            </a:pPr>
            <a:r>
              <a:rPr lang="en-US" sz="1600">
                <a:solidFill>
                  <a:srgbClr val="9C5D27"/>
                </a:solidFill>
                <a:latin typeface="Consolas" panose="020B0609020204030204" pitchFamily="49" charset="0"/>
              </a:rPr>
              <a:t>    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ui</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checkBoxSoda</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stateChanged</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connect</a:t>
            </a:r>
            <a:r>
              <a:rPr lang="en-US" sz="1600">
                <a:solidFill>
                  <a:srgbClr val="777777"/>
                </a:solidFill>
                <a:latin typeface="Consolas" panose="020B0609020204030204" pitchFamily="49" charset="0"/>
              </a:rPr>
              <a:t>(</a:t>
            </a:r>
            <a:r>
              <a:rPr lang="en-US" sz="1600">
                <a:solidFill>
                  <a:srgbClr val="9C5D27"/>
                </a:solidFill>
                <a:latin typeface="Consolas" panose="020B0609020204030204" pitchFamily="49" charset="0"/>
              </a:rPr>
              <a:t>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dispAmount</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p>
          <a:p>
            <a:pPr>
              <a:lnSpc>
                <a:spcPct val="150000"/>
              </a:lnSpc>
            </a:pPr>
            <a:r>
              <a:rPr lang="en-US" sz="1600">
                <a:solidFill>
                  <a:srgbClr val="9C5D27"/>
                </a:solidFill>
                <a:latin typeface="Consolas" panose="020B0609020204030204" pitchFamily="49" charset="0"/>
              </a:rPr>
              <a:t>    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ui</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checkBoxTea</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stateChanged</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connect</a:t>
            </a:r>
            <a:r>
              <a:rPr lang="en-US" sz="1600">
                <a:solidFill>
                  <a:srgbClr val="777777"/>
                </a:solidFill>
                <a:latin typeface="Consolas" panose="020B0609020204030204" pitchFamily="49" charset="0"/>
              </a:rPr>
              <a:t>(</a:t>
            </a:r>
            <a:r>
              <a:rPr lang="en-US" sz="1600">
                <a:solidFill>
                  <a:srgbClr val="9C5D27"/>
                </a:solidFill>
                <a:latin typeface="Consolas" panose="020B0609020204030204" pitchFamily="49" charset="0"/>
              </a:rPr>
              <a:t>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dispAmount</a:t>
            </a:r>
            <a:r>
              <a:rPr lang="en-US" sz="1600">
                <a:solidFill>
                  <a:srgbClr val="777777"/>
                </a:solidFill>
                <a:latin typeface="Consolas" panose="020B0609020204030204" pitchFamily="49" charset="0"/>
              </a:rPr>
              <a:t>)</a:t>
            </a:r>
            <a:endParaRPr lang="en-US" sz="1600">
              <a:solidFill>
                <a:srgbClr val="333333"/>
              </a:solidFill>
              <a:latin typeface="Consolas" panose="020B0609020204030204" pitchFamily="49" charset="0"/>
            </a:endParaRPr>
          </a:p>
          <a:p>
            <a:pPr>
              <a:lnSpc>
                <a:spcPct val="150000"/>
              </a:lnSpc>
            </a:pPr>
            <a:r>
              <a:rPr lang="en-US" sz="1600">
                <a:solidFill>
                  <a:srgbClr val="9C5D27"/>
                </a:solidFill>
                <a:latin typeface="Consolas" panose="020B0609020204030204" pitchFamily="49" charset="0"/>
              </a:rPr>
              <a:t>    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show</a:t>
            </a:r>
            <a:r>
              <a:rPr lang="en-US" sz="1600">
                <a:solidFill>
                  <a:srgbClr val="777777"/>
                </a:solidFill>
                <a:latin typeface="Consolas" panose="020B0609020204030204" pitchFamily="49" charset="0"/>
              </a:rPr>
              <a:t>()</a:t>
            </a:r>
            <a:endParaRPr lang="en-US" sz="1600">
              <a:solidFill>
                <a:srgbClr val="333333"/>
              </a:solidFill>
              <a:latin typeface="Consolas" panose="020B0609020204030204" pitchFamily="49" charset="0"/>
            </a:endParaRPr>
          </a:p>
        </p:txBody>
      </p:sp>
    </p:spTree>
    <p:extLst>
      <p:ext uri="{BB962C8B-B14F-4D97-AF65-F5344CB8AC3E}">
        <p14:creationId xmlns:p14="http://schemas.microsoft.com/office/powerpoint/2010/main" val="14789903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9430DC2-D071-4E0F-96CE-41E14AB8F31F}"/>
              </a:ext>
            </a:extLst>
          </p:cNvPr>
          <p:cNvSpPr/>
          <p:nvPr/>
        </p:nvSpPr>
        <p:spPr>
          <a:xfrm>
            <a:off x="0" y="0"/>
            <a:ext cx="9144000" cy="5962081"/>
          </a:xfrm>
          <a:prstGeom prst="rect">
            <a:avLst/>
          </a:prstGeom>
        </p:spPr>
        <p:txBody>
          <a:bodyPr wrap="square">
            <a:spAutoFit/>
          </a:bodyPr>
          <a:lstStyle/>
          <a:p>
            <a:pPr>
              <a:lnSpc>
                <a:spcPct val="150000"/>
              </a:lnSpc>
            </a:pPr>
            <a:r>
              <a:rPr lang="en-US" sz="1600">
                <a:solidFill>
                  <a:srgbClr val="7A3E9D"/>
                </a:solidFill>
                <a:latin typeface="Consolas" panose="020B0609020204030204" pitchFamily="49" charset="0"/>
              </a:rPr>
              <a:t>def</a:t>
            </a:r>
            <a:r>
              <a:rPr lang="en-US" sz="1600">
                <a:solidFill>
                  <a:srgbClr val="333333"/>
                </a:solidFill>
                <a:latin typeface="Consolas" panose="020B0609020204030204" pitchFamily="49" charset="0"/>
              </a:rPr>
              <a:t> </a:t>
            </a:r>
            <a:r>
              <a:rPr lang="en-US" sz="1600" b="1">
                <a:solidFill>
                  <a:srgbClr val="AA3731"/>
                </a:solidFill>
                <a:latin typeface="Consolas" panose="020B0609020204030204" pitchFamily="49" charset="0"/>
              </a:rPr>
              <a:t>dispAmount</a:t>
            </a:r>
            <a:r>
              <a:rPr lang="en-US" sz="1600">
                <a:solidFill>
                  <a:srgbClr val="777777"/>
                </a:solidFill>
                <a:latin typeface="Consolas" panose="020B0609020204030204" pitchFamily="49" charset="0"/>
              </a:rPr>
              <a:t>(</a:t>
            </a:r>
            <a:r>
              <a:rPr lang="en-US" sz="1600">
                <a:solidFill>
                  <a:srgbClr val="7A3E9D"/>
                </a:solidFill>
                <a:latin typeface="Consolas" panose="020B0609020204030204" pitchFamily="49" charset="0"/>
              </a:rPr>
              <a:t>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p>
          <a:p>
            <a:pPr>
              <a:lnSpc>
                <a:spcPct val="150000"/>
              </a:lnSpc>
            </a:pPr>
            <a:r>
              <a:rPr lang="en-US" sz="1600">
                <a:solidFill>
                  <a:srgbClr val="333333"/>
                </a:solidFill>
                <a:latin typeface="Consolas" panose="020B0609020204030204" pitchFamily="49" charset="0"/>
              </a:rPr>
              <a:t>    amount </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r>
              <a:rPr lang="en-US" sz="1600">
                <a:solidFill>
                  <a:srgbClr val="9C5D27"/>
                </a:solidFill>
                <a:latin typeface="Consolas" panose="020B0609020204030204" pitchFamily="49" charset="0"/>
              </a:rPr>
              <a:t>0</a:t>
            </a:r>
            <a:endParaRPr lang="en-US" sz="1600">
              <a:solidFill>
                <a:srgbClr val="333333"/>
              </a:solidFill>
              <a:latin typeface="Consolas" panose="020B0609020204030204" pitchFamily="49" charset="0"/>
            </a:endParaRPr>
          </a:p>
          <a:p>
            <a:pPr>
              <a:lnSpc>
                <a:spcPct val="150000"/>
              </a:lnSpc>
            </a:pPr>
            <a:r>
              <a:rPr lang="en-US" sz="1600">
                <a:solidFill>
                  <a:srgbClr val="4B69C6"/>
                </a:solidFill>
                <a:latin typeface="Consolas" panose="020B0609020204030204" pitchFamily="49" charset="0"/>
              </a:rPr>
              <a:t>    if</a:t>
            </a:r>
            <a:r>
              <a:rPr lang="en-US" sz="1600">
                <a:solidFill>
                  <a:srgbClr val="333333"/>
                </a:solidFill>
                <a:latin typeface="Consolas" panose="020B0609020204030204" pitchFamily="49" charset="0"/>
              </a:rPr>
              <a:t> </a:t>
            </a:r>
            <a:r>
              <a:rPr lang="en-US" sz="1600">
                <a:solidFill>
                  <a:srgbClr val="9C5D27"/>
                </a:solidFill>
                <a:latin typeface="Consolas" panose="020B0609020204030204" pitchFamily="49" charset="0"/>
              </a:rPr>
              <a:t>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ui</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checkBoxChoclateAlmond</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isChecked</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r>
              <a:rPr lang="en-US" sz="1600">
                <a:solidFill>
                  <a:srgbClr val="9C5D27"/>
                </a:solidFill>
                <a:latin typeface="Consolas" panose="020B0609020204030204" pitchFamily="49" charset="0"/>
              </a:rPr>
              <a:t>True</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amount </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amount</a:t>
            </a:r>
            <a:r>
              <a:rPr lang="en-US" sz="1600">
                <a:solidFill>
                  <a:srgbClr val="777777"/>
                </a:solidFill>
                <a:latin typeface="Consolas" panose="020B0609020204030204" pitchFamily="49" charset="0"/>
              </a:rPr>
              <a:t>+</a:t>
            </a:r>
            <a:r>
              <a:rPr lang="en-US" sz="1600">
                <a:solidFill>
                  <a:srgbClr val="9C5D27"/>
                </a:solidFill>
                <a:latin typeface="Consolas" panose="020B0609020204030204" pitchFamily="49" charset="0"/>
              </a:rPr>
              <a:t>3</a:t>
            </a:r>
            <a:endParaRPr lang="en-US" sz="1600">
              <a:solidFill>
                <a:srgbClr val="333333"/>
              </a:solidFill>
              <a:latin typeface="Consolas" panose="020B0609020204030204" pitchFamily="49" charset="0"/>
            </a:endParaRPr>
          </a:p>
          <a:p>
            <a:pPr>
              <a:lnSpc>
                <a:spcPct val="150000"/>
              </a:lnSpc>
            </a:pPr>
            <a:r>
              <a:rPr lang="en-US" sz="1600">
                <a:solidFill>
                  <a:srgbClr val="4B69C6"/>
                </a:solidFill>
                <a:latin typeface="Consolas" panose="020B0609020204030204" pitchFamily="49" charset="0"/>
              </a:rPr>
              <a:t>    if</a:t>
            </a:r>
            <a:r>
              <a:rPr lang="en-US" sz="1600">
                <a:solidFill>
                  <a:srgbClr val="333333"/>
                </a:solidFill>
                <a:latin typeface="Consolas" panose="020B0609020204030204" pitchFamily="49" charset="0"/>
              </a:rPr>
              <a:t> </a:t>
            </a:r>
            <a:r>
              <a:rPr lang="en-US" sz="1600">
                <a:solidFill>
                  <a:srgbClr val="9C5D27"/>
                </a:solidFill>
                <a:latin typeface="Consolas" panose="020B0609020204030204" pitchFamily="49" charset="0"/>
              </a:rPr>
              <a:t>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ui</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checkBoxChoclateChips</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isChecked</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r>
              <a:rPr lang="en-US" sz="1600">
                <a:solidFill>
                  <a:srgbClr val="9C5D27"/>
                </a:solidFill>
                <a:latin typeface="Consolas" panose="020B0609020204030204" pitchFamily="49" charset="0"/>
              </a:rPr>
              <a:t>True</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amount </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amount</a:t>
            </a:r>
            <a:r>
              <a:rPr lang="en-US" sz="1600">
                <a:solidFill>
                  <a:srgbClr val="777777"/>
                </a:solidFill>
                <a:latin typeface="Consolas" panose="020B0609020204030204" pitchFamily="49" charset="0"/>
              </a:rPr>
              <a:t>+</a:t>
            </a:r>
            <a:r>
              <a:rPr lang="en-US" sz="1600">
                <a:solidFill>
                  <a:srgbClr val="9C5D27"/>
                </a:solidFill>
                <a:latin typeface="Consolas" panose="020B0609020204030204" pitchFamily="49" charset="0"/>
              </a:rPr>
              <a:t>4</a:t>
            </a:r>
            <a:endParaRPr lang="en-US" sz="1600">
              <a:solidFill>
                <a:srgbClr val="333333"/>
              </a:solidFill>
              <a:latin typeface="Consolas" panose="020B0609020204030204" pitchFamily="49" charset="0"/>
            </a:endParaRPr>
          </a:p>
          <a:p>
            <a:pPr>
              <a:lnSpc>
                <a:spcPct val="150000"/>
              </a:lnSpc>
            </a:pPr>
            <a:r>
              <a:rPr lang="en-US" sz="1600">
                <a:solidFill>
                  <a:srgbClr val="4B69C6"/>
                </a:solidFill>
                <a:latin typeface="Consolas" panose="020B0609020204030204" pitchFamily="49" charset="0"/>
              </a:rPr>
              <a:t>    if</a:t>
            </a:r>
            <a:r>
              <a:rPr lang="en-US" sz="1600">
                <a:solidFill>
                  <a:srgbClr val="333333"/>
                </a:solidFill>
                <a:latin typeface="Consolas" panose="020B0609020204030204" pitchFamily="49" charset="0"/>
              </a:rPr>
              <a:t> </a:t>
            </a:r>
            <a:r>
              <a:rPr lang="en-US" sz="1600">
                <a:solidFill>
                  <a:srgbClr val="9C5D27"/>
                </a:solidFill>
                <a:latin typeface="Consolas" panose="020B0609020204030204" pitchFamily="49" charset="0"/>
              </a:rPr>
              <a:t>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ui</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checkBoxCookieDough</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isChecked</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r>
              <a:rPr lang="en-US" sz="1600">
                <a:solidFill>
                  <a:srgbClr val="9C5D27"/>
                </a:solidFill>
                <a:latin typeface="Consolas" panose="020B0609020204030204" pitchFamily="49" charset="0"/>
              </a:rPr>
              <a:t>True</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amount </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amount</a:t>
            </a:r>
            <a:r>
              <a:rPr lang="en-US" sz="1600">
                <a:solidFill>
                  <a:srgbClr val="777777"/>
                </a:solidFill>
                <a:latin typeface="Consolas" panose="020B0609020204030204" pitchFamily="49" charset="0"/>
              </a:rPr>
              <a:t>+</a:t>
            </a:r>
            <a:r>
              <a:rPr lang="en-US" sz="1600">
                <a:solidFill>
                  <a:srgbClr val="9C5D27"/>
                </a:solidFill>
                <a:latin typeface="Consolas" panose="020B0609020204030204" pitchFamily="49" charset="0"/>
              </a:rPr>
              <a:t>2</a:t>
            </a:r>
            <a:endParaRPr lang="en-US" sz="1600">
              <a:solidFill>
                <a:srgbClr val="333333"/>
              </a:solidFill>
              <a:latin typeface="Consolas" panose="020B0609020204030204" pitchFamily="49" charset="0"/>
            </a:endParaRPr>
          </a:p>
          <a:p>
            <a:pPr>
              <a:lnSpc>
                <a:spcPct val="150000"/>
              </a:lnSpc>
            </a:pPr>
            <a:r>
              <a:rPr lang="en-US" sz="1600">
                <a:solidFill>
                  <a:srgbClr val="4B69C6"/>
                </a:solidFill>
                <a:latin typeface="Consolas" panose="020B0609020204030204" pitchFamily="49" charset="0"/>
              </a:rPr>
              <a:t>    if</a:t>
            </a:r>
            <a:r>
              <a:rPr lang="en-US" sz="1600">
                <a:solidFill>
                  <a:srgbClr val="333333"/>
                </a:solidFill>
                <a:latin typeface="Consolas" panose="020B0609020204030204" pitchFamily="49" charset="0"/>
              </a:rPr>
              <a:t> </a:t>
            </a:r>
            <a:r>
              <a:rPr lang="en-US" sz="1600">
                <a:solidFill>
                  <a:srgbClr val="9C5D27"/>
                </a:solidFill>
                <a:latin typeface="Consolas" panose="020B0609020204030204" pitchFamily="49" charset="0"/>
              </a:rPr>
              <a:t>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ui</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checkBoxRockyRoad</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isChecked</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r>
              <a:rPr lang="en-US" sz="1600">
                <a:solidFill>
                  <a:srgbClr val="9C5D27"/>
                </a:solidFill>
                <a:latin typeface="Consolas" panose="020B0609020204030204" pitchFamily="49" charset="0"/>
              </a:rPr>
              <a:t>True</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amount </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amount</a:t>
            </a:r>
            <a:r>
              <a:rPr lang="en-US" sz="1600">
                <a:solidFill>
                  <a:srgbClr val="777777"/>
                </a:solidFill>
                <a:latin typeface="Consolas" panose="020B0609020204030204" pitchFamily="49" charset="0"/>
              </a:rPr>
              <a:t>+</a:t>
            </a:r>
            <a:r>
              <a:rPr lang="en-US" sz="1600">
                <a:solidFill>
                  <a:srgbClr val="9C5D27"/>
                </a:solidFill>
                <a:latin typeface="Consolas" panose="020B0609020204030204" pitchFamily="49" charset="0"/>
              </a:rPr>
              <a:t>5</a:t>
            </a:r>
            <a:endParaRPr lang="en-US" sz="1600">
              <a:solidFill>
                <a:srgbClr val="333333"/>
              </a:solidFill>
              <a:latin typeface="Consolas" panose="020B0609020204030204" pitchFamily="49" charset="0"/>
            </a:endParaRPr>
          </a:p>
          <a:p>
            <a:pPr>
              <a:lnSpc>
                <a:spcPct val="150000"/>
              </a:lnSpc>
            </a:pPr>
            <a:r>
              <a:rPr lang="en-US" sz="1600">
                <a:solidFill>
                  <a:srgbClr val="4B69C6"/>
                </a:solidFill>
                <a:latin typeface="Consolas" panose="020B0609020204030204" pitchFamily="49" charset="0"/>
              </a:rPr>
              <a:t>    if</a:t>
            </a:r>
            <a:r>
              <a:rPr lang="en-US" sz="1600">
                <a:solidFill>
                  <a:srgbClr val="333333"/>
                </a:solidFill>
                <a:latin typeface="Consolas" panose="020B0609020204030204" pitchFamily="49" charset="0"/>
              </a:rPr>
              <a:t> </a:t>
            </a:r>
            <a:r>
              <a:rPr lang="en-US" sz="1600">
                <a:solidFill>
                  <a:srgbClr val="9C5D27"/>
                </a:solidFill>
                <a:latin typeface="Consolas" panose="020B0609020204030204" pitchFamily="49" charset="0"/>
              </a:rPr>
              <a:t>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ui</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checkBoxCoffee</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isChecked</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r>
              <a:rPr lang="en-US" sz="1600">
                <a:solidFill>
                  <a:srgbClr val="9C5D27"/>
                </a:solidFill>
                <a:latin typeface="Consolas" panose="020B0609020204030204" pitchFamily="49" charset="0"/>
              </a:rPr>
              <a:t>True</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amount </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amount</a:t>
            </a:r>
            <a:r>
              <a:rPr lang="en-US" sz="1600">
                <a:solidFill>
                  <a:srgbClr val="777777"/>
                </a:solidFill>
                <a:latin typeface="Consolas" panose="020B0609020204030204" pitchFamily="49" charset="0"/>
              </a:rPr>
              <a:t>+</a:t>
            </a:r>
            <a:r>
              <a:rPr lang="en-US" sz="1600">
                <a:solidFill>
                  <a:srgbClr val="9C5D27"/>
                </a:solidFill>
                <a:latin typeface="Consolas" panose="020B0609020204030204" pitchFamily="49" charset="0"/>
              </a:rPr>
              <a:t>2</a:t>
            </a:r>
            <a:endParaRPr lang="en-US" sz="1600">
              <a:solidFill>
                <a:srgbClr val="333333"/>
              </a:solidFill>
              <a:latin typeface="Consolas" panose="020B0609020204030204" pitchFamily="49" charset="0"/>
            </a:endParaRPr>
          </a:p>
          <a:p>
            <a:pPr>
              <a:lnSpc>
                <a:spcPct val="150000"/>
              </a:lnSpc>
            </a:pPr>
            <a:r>
              <a:rPr lang="en-US" sz="1600">
                <a:solidFill>
                  <a:srgbClr val="4B69C6"/>
                </a:solidFill>
                <a:latin typeface="Consolas" panose="020B0609020204030204" pitchFamily="49" charset="0"/>
              </a:rPr>
              <a:t>    if</a:t>
            </a:r>
            <a:r>
              <a:rPr lang="en-US" sz="1600">
                <a:solidFill>
                  <a:srgbClr val="333333"/>
                </a:solidFill>
                <a:latin typeface="Consolas" panose="020B0609020204030204" pitchFamily="49" charset="0"/>
              </a:rPr>
              <a:t> </a:t>
            </a:r>
            <a:r>
              <a:rPr lang="en-US" sz="1600">
                <a:solidFill>
                  <a:srgbClr val="9C5D27"/>
                </a:solidFill>
                <a:latin typeface="Consolas" panose="020B0609020204030204" pitchFamily="49" charset="0"/>
              </a:rPr>
              <a:t>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ui</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checkBoxSoda</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isChecked</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r>
              <a:rPr lang="en-US" sz="1600">
                <a:solidFill>
                  <a:srgbClr val="9C5D27"/>
                </a:solidFill>
                <a:latin typeface="Consolas" panose="020B0609020204030204" pitchFamily="49" charset="0"/>
              </a:rPr>
              <a:t>True</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amount </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amount</a:t>
            </a:r>
            <a:r>
              <a:rPr lang="en-US" sz="1600">
                <a:solidFill>
                  <a:srgbClr val="777777"/>
                </a:solidFill>
                <a:latin typeface="Consolas" panose="020B0609020204030204" pitchFamily="49" charset="0"/>
              </a:rPr>
              <a:t>+</a:t>
            </a:r>
            <a:r>
              <a:rPr lang="en-US" sz="1600">
                <a:solidFill>
                  <a:srgbClr val="9C5D27"/>
                </a:solidFill>
                <a:latin typeface="Consolas" panose="020B0609020204030204" pitchFamily="49" charset="0"/>
              </a:rPr>
              <a:t>3</a:t>
            </a:r>
            <a:endParaRPr lang="en-US" sz="1600">
              <a:solidFill>
                <a:srgbClr val="333333"/>
              </a:solidFill>
              <a:latin typeface="Consolas" panose="020B0609020204030204" pitchFamily="49" charset="0"/>
            </a:endParaRPr>
          </a:p>
          <a:p>
            <a:pPr>
              <a:lnSpc>
                <a:spcPct val="150000"/>
              </a:lnSpc>
            </a:pPr>
            <a:r>
              <a:rPr lang="en-US" sz="1600">
                <a:solidFill>
                  <a:srgbClr val="4B69C6"/>
                </a:solidFill>
                <a:latin typeface="Consolas" panose="020B0609020204030204" pitchFamily="49" charset="0"/>
              </a:rPr>
              <a:t>    if</a:t>
            </a:r>
            <a:r>
              <a:rPr lang="en-US" sz="1600">
                <a:solidFill>
                  <a:srgbClr val="333333"/>
                </a:solidFill>
                <a:latin typeface="Consolas" panose="020B0609020204030204" pitchFamily="49" charset="0"/>
              </a:rPr>
              <a:t> </a:t>
            </a:r>
            <a:r>
              <a:rPr lang="en-US" sz="1600">
                <a:solidFill>
                  <a:srgbClr val="9C5D27"/>
                </a:solidFill>
                <a:latin typeface="Consolas" panose="020B0609020204030204" pitchFamily="49" charset="0"/>
              </a:rPr>
              <a:t>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ui</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checkBoxTea</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isChecked</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r>
              <a:rPr lang="en-US" sz="1600">
                <a:solidFill>
                  <a:srgbClr val="9C5D27"/>
                </a:solidFill>
                <a:latin typeface="Consolas" panose="020B0609020204030204" pitchFamily="49" charset="0"/>
              </a:rPr>
              <a:t>True</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amount </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amount</a:t>
            </a:r>
            <a:r>
              <a:rPr lang="en-US" sz="1600">
                <a:solidFill>
                  <a:srgbClr val="777777"/>
                </a:solidFill>
                <a:latin typeface="Consolas" panose="020B0609020204030204" pitchFamily="49" charset="0"/>
              </a:rPr>
              <a:t>+</a:t>
            </a:r>
            <a:r>
              <a:rPr lang="en-US" sz="1600">
                <a:solidFill>
                  <a:srgbClr val="9C5D27"/>
                </a:solidFill>
                <a:latin typeface="Consolas" panose="020B0609020204030204" pitchFamily="49" charset="0"/>
              </a:rPr>
              <a:t>1</a:t>
            </a:r>
            <a:endParaRPr lang="en-US" sz="1600">
              <a:solidFill>
                <a:srgbClr val="333333"/>
              </a:solidFill>
              <a:latin typeface="Consolas" panose="020B0609020204030204" pitchFamily="49" charset="0"/>
            </a:endParaRPr>
          </a:p>
          <a:p>
            <a:pPr>
              <a:lnSpc>
                <a:spcPct val="150000"/>
              </a:lnSpc>
            </a:pPr>
            <a:r>
              <a:rPr lang="en-US" sz="1600">
                <a:solidFill>
                  <a:srgbClr val="9C5D27"/>
                </a:solidFill>
                <a:latin typeface="Consolas" panose="020B0609020204030204" pitchFamily="49" charset="0"/>
              </a:rPr>
              <a:t>    self</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ui</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labelAmount</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setText</a:t>
            </a:r>
            <a:r>
              <a:rPr lang="en-US" sz="1600">
                <a:solidFill>
                  <a:srgbClr val="777777"/>
                </a:solidFill>
                <a:latin typeface="Consolas" panose="020B0609020204030204" pitchFamily="49" charset="0"/>
              </a:rPr>
              <a:t>("</a:t>
            </a:r>
            <a:r>
              <a:rPr lang="en-US" sz="1600">
                <a:solidFill>
                  <a:srgbClr val="448C27"/>
                </a:solidFill>
                <a:latin typeface="Consolas" panose="020B0609020204030204" pitchFamily="49" charset="0"/>
              </a:rPr>
              <a:t>Total amount is $</a:t>
            </a:r>
            <a:r>
              <a:rPr lang="en-US" sz="1600">
                <a:solidFill>
                  <a:srgbClr val="777777"/>
                </a:solidFill>
                <a:latin typeface="Consolas" panose="020B0609020204030204" pitchFamily="49" charset="0"/>
              </a:rPr>
              <a:t>"+</a:t>
            </a:r>
            <a:r>
              <a:rPr lang="en-US" sz="1600">
                <a:solidFill>
                  <a:srgbClr val="7A3E9D"/>
                </a:solidFill>
                <a:latin typeface="Consolas" panose="020B0609020204030204" pitchFamily="49" charset="0"/>
              </a:rPr>
              <a:t>str</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amount</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p>
          <a:p>
            <a:pPr>
              <a:lnSpc>
                <a:spcPct val="150000"/>
              </a:lnSpc>
            </a:pPr>
            <a:br>
              <a:rPr lang="en-US" sz="1600">
                <a:solidFill>
                  <a:srgbClr val="333333"/>
                </a:solidFill>
                <a:latin typeface="Consolas" panose="020B0609020204030204" pitchFamily="49" charset="0"/>
              </a:rPr>
            </a:br>
            <a:r>
              <a:rPr lang="en-US" sz="1600">
                <a:solidFill>
                  <a:srgbClr val="4B69C6"/>
                </a:solidFill>
                <a:latin typeface="Consolas" panose="020B0609020204030204" pitchFamily="49" charset="0"/>
              </a:rPr>
              <a:t>if</a:t>
            </a:r>
            <a:r>
              <a:rPr lang="en-US" sz="1600">
                <a:solidFill>
                  <a:srgbClr val="333333"/>
                </a:solidFill>
                <a:latin typeface="Consolas" panose="020B0609020204030204" pitchFamily="49" charset="0"/>
              </a:rPr>
              <a:t> </a:t>
            </a:r>
            <a:r>
              <a:rPr lang="en-US" sz="1600">
                <a:solidFill>
                  <a:srgbClr val="7A3E9D"/>
                </a:solidFill>
                <a:latin typeface="Consolas" panose="020B0609020204030204" pitchFamily="49" charset="0"/>
              </a:rPr>
              <a:t>__name__</a:t>
            </a:r>
            <a:r>
              <a:rPr lang="en-US" sz="1600">
                <a:solidFill>
                  <a:srgbClr val="333333"/>
                </a:solidFill>
                <a:latin typeface="Consolas" panose="020B0609020204030204" pitchFamily="49" charset="0"/>
              </a:rPr>
              <a:t> </a:t>
            </a:r>
            <a:r>
              <a:rPr lang="en-US" sz="1600">
                <a:solidFill>
                  <a:srgbClr val="777777"/>
                </a:solidFill>
                <a:latin typeface="Consolas" panose="020B0609020204030204" pitchFamily="49" charset="0"/>
              </a:rPr>
              <a:t>=="</a:t>
            </a:r>
            <a:r>
              <a:rPr lang="en-US" sz="1600">
                <a:solidFill>
                  <a:srgbClr val="448C27"/>
                </a:solidFill>
                <a:latin typeface="Consolas" panose="020B0609020204030204" pitchFamily="49" charset="0"/>
              </a:rPr>
              <a:t>__main__</a:t>
            </a:r>
            <a:r>
              <a:rPr lang="en-US" sz="1600">
                <a:solidFill>
                  <a:srgbClr val="777777"/>
                </a:solidFill>
                <a:latin typeface="Consolas" panose="020B0609020204030204" pitchFamily="49" charset="0"/>
              </a:rPr>
              <a:t>":</a:t>
            </a:r>
            <a:endParaRPr lang="en-US" sz="1600">
              <a:solidFill>
                <a:srgbClr val="333333"/>
              </a:solidFill>
              <a:latin typeface="Consolas" panose="020B0609020204030204" pitchFamily="49" charset="0"/>
            </a:endParaRPr>
          </a:p>
          <a:p>
            <a:pPr>
              <a:lnSpc>
                <a:spcPct val="150000"/>
              </a:lnSpc>
            </a:pPr>
            <a:r>
              <a:rPr lang="en-US" sz="1600">
                <a:solidFill>
                  <a:srgbClr val="333333"/>
                </a:solidFill>
                <a:latin typeface="Consolas" panose="020B0609020204030204" pitchFamily="49" charset="0"/>
              </a:rPr>
              <a:t>  app</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QApplication</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sys</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argv</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p>
          <a:p>
            <a:pPr>
              <a:lnSpc>
                <a:spcPct val="150000"/>
              </a:lnSpc>
            </a:pPr>
            <a:r>
              <a:rPr lang="en-US" sz="1600">
                <a:solidFill>
                  <a:srgbClr val="333333"/>
                </a:solidFill>
                <a:latin typeface="Consolas" panose="020B0609020204030204" pitchFamily="49" charset="0"/>
              </a:rPr>
              <a:t>  w</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MyForm</a:t>
            </a:r>
            <a:r>
              <a:rPr lang="en-US" sz="1600">
                <a:solidFill>
                  <a:srgbClr val="777777"/>
                </a:solidFill>
                <a:latin typeface="Consolas" panose="020B0609020204030204" pitchFamily="49" charset="0"/>
              </a:rPr>
              <a:t>()</a:t>
            </a:r>
            <a:endParaRPr lang="en-US" sz="1600">
              <a:solidFill>
                <a:srgbClr val="333333"/>
              </a:solidFill>
              <a:latin typeface="Consolas" panose="020B0609020204030204" pitchFamily="49" charset="0"/>
            </a:endParaRPr>
          </a:p>
          <a:p>
            <a:pPr>
              <a:lnSpc>
                <a:spcPct val="150000"/>
              </a:lnSpc>
            </a:pPr>
            <a:r>
              <a:rPr lang="en-US" sz="1600">
                <a:solidFill>
                  <a:srgbClr val="333333"/>
                </a:solidFill>
                <a:latin typeface="Consolas" panose="020B0609020204030204" pitchFamily="49" charset="0"/>
              </a:rPr>
              <a:t>  w</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show</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 </a:t>
            </a:r>
          </a:p>
          <a:p>
            <a:pPr>
              <a:lnSpc>
                <a:spcPct val="150000"/>
              </a:lnSpc>
            </a:pPr>
            <a:r>
              <a:rPr lang="en-US" sz="1600">
                <a:solidFill>
                  <a:srgbClr val="333333"/>
                </a:solidFill>
                <a:latin typeface="Consolas" panose="020B0609020204030204" pitchFamily="49" charset="0"/>
              </a:rPr>
              <a:t>  sys</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exit</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app</a:t>
            </a:r>
            <a:r>
              <a:rPr lang="en-US" sz="1600">
                <a:solidFill>
                  <a:srgbClr val="777777"/>
                </a:solidFill>
                <a:latin typeface="Consolas" panose="020B0609020204030204" pitchFamily="49" charset="0"/>
              </a:rPr>
              <a:t>.</a:t>
            </a:r>
            <a:r>
              <a:rPr lang="en-US" sz="1600">
                <a:solidFill>
                  <a:srgbClr val="333333"/>
                </a:solidFill>
                <a:latin typeface="Consolas" panose="020B0609020204030204" pitchFamily="49" charset="0"/>
              </a:rPr>
              <a:t>exec_</a:t>
            </a:r>
            <a:r>
              <a:rPr lang="en-US" sz="1600">
                <a:solidFill>
                  <a:srgbClr val="777777"/>
                </a:solidFill>
                <a:latin typeface="Consolas" panose="020B0609020204030204" pitchFamily="49" charset="0"/>
              </a:rPr>
              <a:t>())</a:t>
            </a:r>
            <a:endParaRPr lang="en-US" sz="1600" b="0">
              <a:solidFill>
                <a:srgbClr val="333333"/>
              </a:solidFill>
              <a:effectLst/>
              <a:latin typeface="Consolas" panose="020B0609020204030204" pitchFamily="49" charset="0"/>
            </a:endParaRPr>
          </a:p>
        </p:txBody>
      </p:sp>
    </p:spTree>
    <p:extLst>
      <p:ext uri="{BB962C8B-B14F-4D97-AF65-F5344CB8AC3E}">
        <p14:creationId xmlns:p14="http://schemas.microsoft.com/office/powerpoint/2010/main" val="18052096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1A4CC-8A14-4A21-9985-2BE86F94BFB0}"/>
              </a:ext>
            </a:extLst>
          </p:cNvPr>
          <p:cNvSpPr>
            <a:spLocks noGrp="1"/>
          </p:cNvSpPr>
          <p:nvPr>
            <p:ph type="title"/>
          </p:nvPr>
        </p:nvSpPr>
        <p:spPr>
          <a:xfrm>
            <a:off x="22259" y="28245"/>
            <a:ext cx="9102490" cy="771856"/>
          </a:xfrm>
        </p:spPr>
        <p:txBody>
          <a:bodyPr/>
          <a:lstStyle/>
          <a:p>
            <a:r>
              <a:rPr lang="en-US"/>
              <a:t>Cách hoạt động của ch</a:t>
            </a:r>
            <a:r>
              <a:rPr lang="vi-VN"/>
              <a:t>ư</a:t>
            </a:r>
            <a:r>
              <a:rPr lang="en-US"/>
              <a:t>ơng trình...</a:t>
            </a:r>
          </a:p>
        </p:txBody>
      </p:sp>
      <p:sp>
        <p:nvSpPr>
          <p:cNvPr id="3" name="Content Placeholder 2">
            <a:extLst>
              <a:ext uri="{FF2B5EF4-FFF2-40B4-BE49-F238E27FC236}">
                <a16:creationId xmlns:a16="http://schemas.microsoft.com/office/drawing/2014/main" id="{2E30E592-EB6A-46FA-A6A8-EC28F3098FDE}"/>
              </a:ext>
            </a:extLst>
          </p:cNvPr>
          <p:cNvSpPr>
            <a:spLocks noGrp="1"/>
          </p:cNvSpPr>
          <p:nvPr>
            <p:ph idx="1"/>
          </p:nvPr>
        </p:nvSpPr>
        <p:spPr>
          <a:xfrm>
            <a:off x="22259" y="800102"/>
            <a:ext cx="9102490" cy="6029656"/>
          </a:xfrm>
        </p:spPr>
        <p:txBody>
          <a:bodyPr>
            <a:normAutofit/>
          </a:bodyPr>
          <a:lstStyle/>
          <a:p>
            <a:r>
              <a:rPr lang="vi-VN"/>
              <a:t>Sự kiện </a:t>
            </a:r>
            <a:r>
              <a:rPr lang="vi-VN" b="1"/>
              <a:t>stateChanged()</a:t>
            </a:r>
            <a:r>
              <a:rPr lang="vi-VN"/>
              <a:t> của tất cả các hộp kiểm được kết nối với hàm </a:t>
            </a:r>
            <a:r>
              <a:rPr lang="vi-VN">
                <a:latin typeface="Courier New" panose="02070309020205020404" pitchFamily="49" charset="0"/>
                <a:cs typeface="Courier New" panose="02070309020205020404" pitchFamily="49" charset="0"/>
              </a:rPr>
              <a:t>distAmount</a:t>
            </a:r>
            <a:r>
              <a:rPr lang="vi-VN"/>
              <a:t>, sẽ tính toán chi phí của các loại kem và đồ uống đã chọn. </a:t>
            </a:r>
            <a:r>
              <a:rPr lang="en-US"/>
              <a:t>B</a:t>
            </a:r>
            <a:r>
              <a:rPr lang="vi-VN"/>
              <a:t>ên trong</a:t>
            </a:r>
            <a:r>
              <a:rPr lang="en-US"/>
              <a:t> h</a:t>
            </a:r>
            <a:r>
              <a:rPr lang="vi-VN"/>
              <a:t>àm </a:t>
            </a:r>
            <a:r>
              <a:rPr lang="vi-VN">
                <a:latin typeface="Consolas" panose="020B0609020204030204" pitchFamily="49" charset="0"/>
              </a:rPr>
              <a:t>disAmount</a:t>
            </a:r>
            <a:r>
              <a:rPr lang="vi-VN"/>
              <a:t>, bạn kiểm tra trạng thái của các hộp kiểm để tìm hiểu xem chúng có</a:t>
            </a:r>
            <a:r>
              <a:rPr lang="en-US"/>
              <a:t> đ</a:t>
            </a:r>
            <a:r>
              <a:rPr lang="vi-VN"/>
              <a:t>ư</a:t>
            </a:r>
            <a:r>
              <a:rPr lang="en-US"/>
              <a:t>ợc chọn </a:t>
            </a:r>
            <a:r>
              <a:rPr lang="vi-VN"/>
              <a:t>hoặc không. Chi phí của kem và đồ uống </a:t>
            </a:r>
            <a:r>
              <a:rPr lang="en-US"/>
              <a:t>được check </a:t>
            </a:r>
            <a:r>
              <a:rPr lang="vi-VN"/>
              <a:t>được thêm vào và được lưu trữ trong biến </a:t>
            </a:r>
            <a:r>
              <a:rPr lang="en-US" b="1">
                <a:latin typeface="Consolas" panose="020B0609020204030204" pitchFamily="49" charset="0"/>
              </a:rPr>
              <a:t>amount</a:t>
            </a:r>
            <a:r>
              <a:rPr lang="vi-VN"/>
              <a:t>. Cuối cùng, biến </a:t>
            </a:r>
            <a:r>
              <a:rPr lang="en-US" b="1">
                <a:latin typeface="Consolas" panose="020B0609020204030204" pitchFamily="49" charset="0"/>
              </a:rPr>
              <a:t>amount</a:t>
            </a:r>
            <a:r>
              <a:rPr lang="en-US"/>
              <a:t> </a:t>
            </a:r>
            <a:r>
              <a:rPr lang="vi-VN"/>
              <a:t>được hiển thị thông qua tiện ích </a:t>
            </a:r>
            <a:r>
              <a:rPr lang="en-US"/>
              <a:t>label</a:t>
            </a:r>
            <a:r>
              <a:rPr lang="vi-VN"/>
              <a:t>Amount. Khi chạy ứng dụng, bạn nhận được một hộp thoại nhắc bạn chọn kem hoặc đồ uống mà bạn muốn đặt hàng.</a:t>
            </a:r>
          </a:p>
          <a:p>
            <a:r>
              <a:rPr lang="vi-VN"/>
              <a:t>Khi chọn kem hoặc đồ uống, tổng số lượng các mặt hàng được chọn sẽ được hiển thị</a:t>
            </a:r>
            <a:r>
              <a:rPr lang="en-US"/>
              <a:t> vào label cuối cùng để biết </a:t>
            </a:r>
            <a:r>
              <a:rPr lang="en-US" b="1"/>
              <a:t>Total amount </a:t>
            </a:r>
            <a:r>
              <a:rPr lang="en-US"/>
              <a:t>là bao nhiêu</a:t>
            </a:r>
            <a:r>
              <a:rPr lang="vi-VN"/>
              <a:t>:</a:t>
            </a:r>
            <a:endParaRPr lang="en-US"/>
          </a:p>
        </p:txBody>
      </p:sp>
    </p:spTree>
    <p:extLst>
      <p:ext uri="{BB962C8B-B14F-4D97-AF65-F5344CB8AC3E}">
        <p14:creationId xmlns:p14="http://schemas.microsoft.com/office/powerpoint/2010/main" val="836217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244BE646-E418-40BD-9064-F10A6F7794AB}"/>
              </a:ext>
            </a:extLst>
          </p:cNvPr>
          <p:cNvGrpSpPr>
            <a:grpSpLocks/>
          </p:cNvGrpSpPr>
          <p:nvPr/>
        </p:nvGrpSpPr>
        <p:grpSpPr bwMode="auto">
          <a:xfrm>
            <a:off x="303891" y="933450"/>
            <a:ext cx="8570687" cy="5769429"/>
            <a:chOff x="2463" y="249"/>
            <a:chExt cx="5770" cy="5095"/>
          </a:xfrm>
        </p:grpSpPr>
        <p:pic>
          <p:nvPicPr>
            <p:cNvPr id="4099" name="Picture 3">
              <a:extLst>
                <a:ext uri="{FF2B5EF4-FFF2-40B4-BE49-F238E27FC236}">
                  <a16:creationId xmlns:a16="http://schemas.microsoft.com/office/drawing/2014/main" id="{920A5AFF-05F5-4540-B28F-9856648016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2" y="268"/>
              <a:ext cx="5730" cy="5055"/>
            </a:xfrm>
            <a:prstGeom prst="rect">
              <a:avLst/>
            </a:prstGeom>
            <a:noFill/>
            <a:extLst>
              <a:ext uri="{909E8E84-426E-40DD-AFC4-6F175D3DCCD1}">
                <a14:hiddenFill xmlns:a14="http://schemas.microsoft.com/office/drawing/2010/main">
                  <a:solidFill>
                    <a:srgbClr val="FFFFFF"/>
                  </a:solidFill>
                </a14:hiddenFill>
              </a:ext>
            </a:extLst>
          </p:spPr>
        </p:pic>
        <p:sp>
          <p:nvSpPr>
            <p:cNvPr id="5" name="Line 4">
              <a:extLst>
                <a:ext uri="{FF2B5EF4-FFF2-40B4-BE49-F238E27FC236}">
                  <a16:creationId xmlns:a16="http://schemas.microsoft.com/office/drawing/2014/main" id="{44B0FFFE-3932-4998-B69F-861D5E1BB01C}"/>
                </a:ext>
              </a:extLst>
            </p:cNvPr>
            <p:cNvSpPr>
              <a:spLocks noChangeShapeType="1"/>
            </p:cNvSpPr>
            <p:nvPr/>
          </p:nvSpPr>
          <p:spPr bwMode="auto">
            <a:xfrm>
              <a:off x="2473" y="259"/>
              <a:ext cx="575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Line 5">
              <a:extLst>
                <a:ext uri="{FF2B5EF4-FFF2-40B4-BE49-F238E27FC236}">
                  <a16:creationId xmlns:a16="http://schemas.microsoft.com/office/drawing/2014/main" id="{52F6AA61-B573-4D3C-82BF-E6A43BBED96A}"/>
                </a:ext>
              </a:extLst>
            </p:cNvPr>
            <p:cNvSpPr>
              <a:spLocks noChangeShapeType="1"/>
            </p:cNvSpPr>
            <p:nvPr/>
          </p:nvSpPr>
          <p:spPr bwMode="auto">
            <a:xfrm>
              <a:off x="2473" y="259"/>
              <a:ext cx="0" cy="507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Line 6">
              <a:extLst>
                <a:ext uri="{FF2B5EF4-FFF2-40B4-BE49-F238E27FC236}">
                  <a16:creationId xmlns:a16="http://schemas.microsoft.com/office/drawing/2014/main" id="{A2FE1BB1-5D44-4DBE-B083-CAEDFBFBE0DD}"/>
                </a:ext>
              </a:extLst>
            </p:cNvPr>
            <p:cNvSpPr>
              <a:spLocks noChangeShapeType="1"/>
            </p:cNvSpPr>
            <p:nvPr/>
          </p:nvSpPr>
          <p:spPr bwMode="auto">
            <a:xfrm>
              <a:off x="8223" y="259"/>
              <a:ext cx="0" cy="507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Line 7">
              <a:extLst>
                <a:ext uri="{FF2B5EF4-FFF2-40B4-BE49-F238E27FC236}">
                  <a16:creationId xmlns:a16="http://schemas.microsoft.com/office/drawing/2014/main" id="{35D09AA9-436A-440A-86BE-BA48CB1E1DC3}"/>
                </a:ext>
              </a:extLst>
            </p:cNvPr>
            <p:cNvSpPr>
              <a:spLocks noChangeShapeType="1"/>
            </p:cNvSpPr>
            <p:nvPr/>
          </p:nvSpPr>
          <p:spPr bwMode="auto">
            <a:xfrm>
              <a:off x="2473" y="5334"/>
              <a:ext cx="575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0" name="Title 1">
            <a:extLst>
              <a:ext uri="{FF2B5EF4-FFF2-40B4-BE49-F238E27FC236}">
                <a16:creationId xmlns:a16="http://schemas.microsoft.com/office/drawing/2014/main" id="{5E64FE3D-6AFE-490A-8263-3CED7D2EC26D}"/>
              </a:ext>
            </a:extLst>
          </p:cNvPr>
          <p:cNvSpPr>
            <a:spLocks noGrp="1"/>
          </p:cNvSpPr>
          <p:nvPr>
            <p:ph type="title"/>
          </p:nvPr>
        </p:nvSpPr>
        <p:spPr>
          <a:xfrm>
            <a:off x="22225" y="28575"/>
            <a:ext cx="9102725" cy="904875"/>
          </a:xfrm>
        </p:spPr>
        <p:txBody>
          <a:bodyPr/>
          <a:lstStyle/>
          <a:p>
            <a:r>
              <a:rPr lang="en-US"/>
              <a:t>Cách hoạt động của ch</a:t>
            </a:r>
            <a:r>
              <a:rPr lang="vi-VN"/>
              <a:t>ư</a:t>
            </a:r>
            <a:r>
              <a:rPr lang="en-US"/>
              <a:t>ơng trình... (t.t)</a:t>
            </a:r>
          </a:p>
        </p:txBody>
      </p:sp>
    </p:spTree>
    <p:extLst>
      <p:ext uri="{BB962C8B-B14F-4D97-AF65-F5344CB8AC3E}">
        <p14:creationId xmlns:p14="http://schemas.microsoft.com/office/powerpoint/2010/main" val="388299592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394</TotalTime>
  <Words>6808</Words>
  <Application>Microsoft Office PowerPoint</Application>
  <PresentationFormat>On-screen Show (4:3)</PresentationFormat>
  <Paragraphs>342</Paragraphs>
  <Slides>52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Arial</vt:lpstr>
      <vt:lpstr>Calibri</vt:lpstr>
      <vt:lpstr>Calibri (Body)</vt:lpstr>
      <vt:lpstr>Calibri Light</vt:lpstr>
      <vt:lpstr>Consolas</vt:lpstr>
      <vt:lpstr>Courier New</vt:lpstr>
      <vt:lpstr>Times New Roman</vt:lpstr>
      <vt:lpstr>Office Theme</vt:lpstr>
      <vt:lpstr>Tạo giao diện người dùng với các thành phần Qt</vt:lpstr>
      <vt:lpstr>Nội dung</vt:lpstr>
      <vt:lpstr>Giới thiệu</vt:lpstr>
      <vt:lpstr>PyQt</vt:lpstr>
      <vt:lpstr>Hộp thoại (dialog) có hai loại sau</vt:lpstr>
      <vt:lpstr>Các cách tạo ứng dụng GUI</vt:lpstr>
      <vt:lpstr>Khi mở Qt Designer yêu cầu chọn một mẫu cho ứng dụng mới</vt:lpstr>
      <vt:lpstr>PowerPoint Presentation</vt:lpstr>
      <vt:lpstr>PowerPoint Presentation</vt:lpstr>
      <vt:lpstr>Hiển thị thông điệp chào mừng</vt:lpstr>
      <vt:lpstr>Label widget</vt:lpstr>
      <vt:lpstr>Label widget (t.t)</vt:lpstr>
      <vt:lpstr>Line Edit widget</vt:lpstr>
      <vt:lpstr>Line Edit widget (t.t)</vt:lpstr>
      <vt:lpstr>Push Button widget</vt:lpstr>
      <vt:lpstr>Ứng dụng demo</vt:lpstr>
      <vt:lpstr>Ứng dụng demo (t.t)</vt:lpstr>
      <vt:lpstr>Ứng dụng demo (t.t)</vt:lpstr>
      <vt:lpstr>PowerPoint Presentation</vt:lpstr>
      <vt:lpstr>Cách chương trình hoạt động...</vt:lpstr>
      <vt:lpstr>Cách chương trình hoạt động... (t.t)</vt:lpstr>
      <vt:lpstr>Cách chương trình hoạt động... (t.t)</vt:lpstr>
      <vt:lpstr>Cách chương trình hoạt động... (t.t)</vt:lpstr>
      <vt:lpstr>Sử dụng widget Radio Button</vt:lpstr>
      <vt:lpstr>Radio Button</vt:lpstr>
      <vt:lpstr>Các phương thức của Radio Button</vt:lpstr>
      <vt:lpstr>Mô tả tín hiệu (signal)</vt:lpstr>
      <vt:lpstr>Chương trình demo Radio Button</vt:lpstr>
      <vt:lpstr>Chương trình demo Radio Button (t.t)</vt:lpstr>
      <vt:lpstr>PowerPoint Presentation</vt:lpstr>
      <vt:lpstr>Cách chương trình Radio Button hoạt động...</vt:lpstr>
      <vt:lpstr>Nhóm các Radio Button</vt:lpstr>
      <vt:lpstr>Cài đặt chương trình...</vt:lpstr>
      <vt:lpstr>Cài đặt chương trình... (t.t)</vt:lpstr>
      <vt:lpstr>callRadioButton2.pyw</vt:lpstr>
      <vt:lpstr>callRadioButton2.pyw (t.t)</vt:lpstr>
      <vt:lpstr>Cách chương trình chạy thế nào...</vt:lpstr>
      <vt:lpstr>Hiển thị tùy chọn ở dạng checkboxes</vt:lpstr>
      <vt:lpstr>Các phương thức của checkbox</vt:lpstr>
      <vt:lpstr>Mô tả tín hiệu phát ra bởi QCheckBox</vt:lpstr>
      <vt:lpstr>Viết chương trình với checkbox...</vt:lpstr>
      <vt:lpstr>Viết chương trình với checkbox...</vt:lpstr>
      <vt:lpstr>callCheckBox1.pyw</vt:lpstr>
      <vt:lpstr>Cách chương trình checkbox chạy...</vt:lpstr>
      <vt:lpstr>Ứng dụng với hai nhóm checkbox</vt:lpstr>
      <vt:lpstr>Các bước tạo ứng dụng...</vt:lpstr>
      <vt:lpstr>Các bước tạo ứng dụng... (t.t)</vt:lpstr>
      <vt:lpstr>Các bước tạo ứng dụng... (t.t)</vt:lpstr>
      <vt:lpstr>PowerPoint Presentation</vt:lpstr>
      <vt:lpstr>PowerPoint Presentation</vt:lpstr>
      <vt:lpstr>Cách hoạt động của chương trình...</vt:lpstr>
      <vt:lpstr>Cách hoạt động của chương trình... (t.t)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Tạo giao diện người dùng với các thành phần Qt</dc:title>
  <dc:creator>bruce shelby</dc:creator>
  <cp:lastModifiedBy>bruce shelby</cp:lastModifiedBy>
  <cp:revision>405</cp:revision>
  <dcterms:created xsi:type="dcterms:W3CDTF">2019-07-31T07:44:13Z</dcterms:created>
  <dcterms:modified xsi:type="dcterms:W3CDTF">2019-08-06T08:34:53Z</dcterms:modified>
</cp:coreProperties>
</file>