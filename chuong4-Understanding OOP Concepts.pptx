
<file path=[Content_Types].xml><?xml version="1.0" encoding="utf-8"?>
<Types xmlns="http://schemas.openxmlformats.org/package/2006/content-types">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5C59D34-11D3-4DA4-83EF-24D8FD6300F5}">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 id="298"/>
          </p14:sldIdLst>
        </p14:section>
        <p14:section name="Radio Button" id="{1A23179E-0E45-4F2B-9B2B-53C376ECD7B0}">
          <p14:sldIdLst/>
        </p14:section>
        <p14:section name="checkboxes" id="{A00EFFBC-94E6-4C6A-A3F4-16754BAD0FC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85451" autoAdjust="0"/>
  </p:normalViewPr>
  <p:slideViewPr>
    <p:cSldViewPr snapToGrid="0">
      <p:cViewPr varScale="1">
        <p:scale>
          <a:sx n="69" d="100"/>
          <a:sy n="69" d="100"/>
        </p:scale>
        <p:origin x="135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A2B099-58B4-4AB1-94B8-C1C58CCB9DA3}" type="datetimeFigureOut">
              <a:rPr lang="en-US" smtClean="0"/>
              <a:t>11/12/2019</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B18AA1-6D54-4DFE-8137-C54D164A4B2B}" type="slidenum">
              <a:rPr lang="en-US" smtClean="0"/>
              <a:t>‹#›</a:t>
            </a:fld>
            <a:endParaRPr lang="en-US"/>
          </a:p>
        </p:txBody>
      </p:sp>
    </p:spTree>
    <p:extLst>
      <p:ext uri="{BB962C8B-B14F-4D97-AF65-F5344CB8AC3E}">
        <p14:creationId xmlns:p14="http://schemas.microsoft.com/office/powerpoint/2010/main" val="14805927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11/12/2019</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39202508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11/12/2019</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40644733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11/12/2019</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1788480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11/12/2019</a:t>
            </a:fld>
            <a:endParaRPr lang="en-US"/>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33943140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11/12/2019</a:t>
            </a:fld>
            <a:endParaRPr lang="en-US"/>
          </a:p>
        </p:txBody>
      </p:sp>
      <p:sp>
        <p:nvSpPr>
          <p:cNvPr id="8" name="Footer Placeholder 7"/>
          <p:cNvSpPr>
            <a:spLocks noGrp="1"/>
          </p:cNvSpPr>
          <p:nvPr>
            <p:ph type="ftr" sz="quarter" idx="11"/>
          </p:nvPr>
        </p:nvSpPr>
        <p:spPr>
          <a:xfrm>
            <a:off x="3028950" y="6356351"/>
            <a:ext cx="30861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38028925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11/12/2019</a:t>
            </a:fld>
            <a:endParaRPr lang="en-US"/>
          </a:p>
        </p:txBody>
      </p:sp>
      <p:sp>
        <p:nvSpPr>
          <p:cNvPr id="4" name="Footer Placeholder 3"/>
          <p:cNvSpPr>
            <a:spLocks noGrp="1"/>
          </p:cNvSpPr>
          <p:nvPr>
            <p:ph type="ftr" sz="quarter" idx="11"/>
          </p:nvPr>
        </p:nvSpPr>
        <p:spPr>
          <a:xfrm>
            <a:off x="3028950" y="6356351"/>
            <a:ext cx="30861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33572175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11/12/2019</a:t>
            </a:fld>
            <a:endParaRPr lang="en-US"/>
          </a:p>
        </p:txBody>
      </p:sp>
      <p:sp>
        <p:nvSpPr>
          <p:cNvPr id="3" name="Footer Placeholder 2"/>
          <p:cNvSpPr>
            <a:spLocks noGrp="1"/>
          </p:cNvSpPr>
          <p:nvPr>
            <p:ph type="ftr" sz="quarter" idx="11"/>
          </p:nvPr>
        </p:nvSpPr>
        <p:spPr>
          <a:xfrm>
            <a:off x="3028950" y="6356351"/>
            <a:ext cx="30861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27244887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11/12/2019</a:t>
            </a:fld>
            <a:endParaRPr lang="en-US"/>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3915917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11/12/2019</a:t>
            </a:fld>
            <a:endParaRPr lang="en-US"/>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1148185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11/12/2019</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34349336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11/12/2019</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17069325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259" y="28244"/>
            <a:ext cx="9102490" cy="90540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259" y="1020278"/>
            <a:ext cx="9102490" cy="580947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810505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tmp"/><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tmp"/><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tmp"/><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tmp"/><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tmp"/><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tmp"/><Relationship Id="rId2" Type="http://schemas.openxmlformats.org/officeDocument/2006/relationships/image" Target="../media/image7.tmp"/><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tmp"/><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tmp"/><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tmp"/><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tmp"/><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tmp"/><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4.tmp"/><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5.tmp"/><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6.tmp"/><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7.tmp"/><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8.tmp"/><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465AF-1E9D-4F47-A457-BB8E06933EF4}"/>
              </a:ext>
            </a:extLst>
          </p:cNvPr>
          <p:cNvSpPr>
            <a:spLocks noGrp="1"/>
          </p:cNvSpPr>
          <p:nvPr>
            <p:ph type="ctrTitle"/>
          </p:nvPr>
        </p:nvSpPr>
        <p:spPr>
          <a:xfrm>
            <a:off x="685800" y="1122363"/>
            <a:ext cx="8216660" cy="2387600"/>
          </a:xfrm>
        </p:spPr>
        <p:txBody>
          <a:bodyPr>
            <a:normAutofit/>
          </a:bodyPr>
          <a:lstStyle/>
          <a:p>
            <a:r>
              <a:rPr lang="en-US">
                <a:latin typeface="Times New Roman" panose="02020603050405020304" pitchFamily="18" charset="0"/>
                <a:cs typeface="Times New Roman" panose="02020603050405020304" pitchFamily="18" charset="0"/>
              </a:rPr>
              <a:t>UNDERSTANDING OOP CONCEPTS</a:t>
            </a:r>
            <a:endParaRPr lang="en-US"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DAD84004-3706-4DD2-91FA-FF80F7B22CB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594278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958F1-071A-4A8D-8390-AD8C3E95F272}"/>
              </a:ext>
            </a:extLst>
          </p:cNvPr>
          <p:cNvSpPr>
            <a:spLocks noGrp="1"/>
          </p:cNvSpPr>
          <p:nvPr>
            <p:ph type="title"/>
          </p:nvPr>
        </p:nvSpPr>
        <p:spPr/>
        <p:txBody>
          <a:bodyPr/>
          <a:lstStyle/>
          <a:p>
            <a:r>
              <a:rPr lang="en-US" dirty="0" err="1">
                <a:latin typeface="Times New Roman" panose="02020603050405020304" pitchFamily="18" charset="0"/>
                <a:cs typeface="Times New Roman" panose="02020603050405020304" pitchFamily="18" charset="0"/>
              </a:rPr>
              <a:t>Nội</a:t>
            </a:r>
            <a:r>
              <a:rPr lang="en-US" dirty="0">
                <a:latin typeface="Times New Roman" panose="02020603050405020304" pitchFamily="18" charset="0"/>
                <a:cs typeface="Times New Roman" panose="02020603050405020304" pitchFamily="18" charset="0"/>
              </a:rPr>
              <a:t> dung</a:t>
            </a:r>
          </a:p>
        </p:txBody>
      </p:sp>
      <p:sp>
        <p:nvSpPr>
          <p:cNvPr id="3" name="Content Placeholder 2">
            <a:extLst>
              <a:ext uri="{FF2B5EF4-FFF2-40B4-BE49-F238E27FC236}">
                <a16:creationId xmlns:a16="http://schemas.microsoft.com/office/drawing/2014/main" id="{BE9A2F4A-DFA5-41F5-BD92-39E9675D4196}"/>
              </a:ext>
            </a:extLst>
          </p:cNvPr>
          <p:cNvSpPr>
            <a:spLocks noGrp="1"/>
          </p:cNvSpPr>
          <p:nvPr>
            <p:ph idx="1"/>
          </p:nvPr>
        </p:nvSpPr>
        <p:spPr>
          <a:xfrm>
            <a:off x="0" y="729333"/>
            <a:ext cx="9102490" cy="5809479"/>
          </a:xfrm>
        </p:spPr>
        <p:txBody>
          <a:bodyPr>
            <a:noAutofit/>
          </a:bodyPr>
          <a:lstStyle/>
          <a:p>
            <a:pPr marL="0" indent="0">
              <a:buNone/>
            </a:pPr>
            <a:r>
              <a:rPr lang="en-US" sz="3200" dirty="0" err="1">
                <a:latin typeface="Times New Roman" panose="02020603050405020304" pitchFamily="18" charset="0"/>
                <a:cs typeface="Times New Roman" panose="02020603050405020304" pitchFamily="18" charset="0"/>
              </a:rPr>
              <a:t>Chúng</a:t>
            </a:r>
            <a:r>
              <a:rPr lang="en-US" sz="3200" dirty="0">
                <a:latin typeface="Times New Roman" panose="02020603050405020304" pitchFamily="18" charset="0"/>
                <a:cs typeface="Times New Roman" panose="02020603050405020304" pitchFamily="18" charset="0"/>
              </a:rPr>
              <a:t> </a:t>
            </a:r>
            <a:r>
              <a:rPr lang="vi-VN" sz="3200" dirty="0">
                <a:latin typeface="Times New Roman" panose="02020603050405020304" pitchFamily="18" charset="0"/>
                <a:cs typeface="Times New Roman" panose="02020603050405020304" pitchFamily="18" charset="0"/>
              </a:rPr>
              <a:t>ta sẽ</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tìm</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hiểu</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nội</a:t>
            </a:r>
            <a:r>
              <a:rPr lang="en-US" sz="3200" dirty="0">
                <a:latin typeface="Times New Roman" panose="02020603050405020304" pitchFamily="18" charset="0"/>
                <a:cs typeface="Times New Roman" panose="02020603050405020304" pitchFamily="18" charset="0"/>
              </a:rPr>
              <a:t> dung </a:t>
            </a:r>
            <a:r>
              <a:rPr lang="en-US" sz="3200" dirty="0" err="1">
                <a:latin typeface="Times New Roman" panose="02020603050405020304" pitchFamily="18" charset="0"/>
                <a:cs typeface="Times New Roman" panose="02020603050405020304" pitchFamily="18" charset="0"/>
              </a:rPr>
              <a:t>nh</a:t>
            </a:r>
            <a:r>
              <a:rPr lang="vi-VN" sz="3200" dirty="0">
                <a:latin typeface="Times New Roman" panose="02020603050405020304" pitchFamily="18" charset="0"/>
                <a:cs typeface="Times New Roman" panose="02020603050405020304" pitchFamily="18" charset="0"/>
              </a:rPr>
              <a:t>ư</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sau</a:t>
            </a:r>
            <a:r>
              <a:rPr lang="vi-VN" sz="3200" dirty="0">
                <a:latin typeface="Times New Roman" panose="02020603050405020304" pitchFamily="18" charset="0"/>
                <a:cs typeface="Times New Roman" panose="02020603050405020304" pitchFamily="18" charset="0"/>
              </a:rPr>
              <a:t>:</a:t>
            </a:r>
          </a:p>
          <a:p>
            <a:r>
              <a:rPr lang="vi-VN" sz="3200">
                <a:latin typeface="+mj-lt"/>
              </a:rPr>
              <a:t>Lập trình hướng đối tượng</a:t>
            </a:r>
            <a:endParaRPr lang="en-US" sz="3200">
              <a:latin typeface="+mj-lt"/>
            </a:endParaRPr>
          </a:p>
          <a:p>
            <a:r>
              <a:rPr lang="vi-VN" sz="3200">
                <a:latin typeface="+mj-lt"/>
              </a:rPr>
              <a:t>Sử dụng các lớp trong GUI</a:t>
            </a:r>
            <a:endParaRPr lang="en-US" sz="3200">
              <a:latin typeface="+mj-lt"/>
            </a:endParaRPr>
          </a:p>
          <a:p>
            <a:r>
              <a:rPr lang="vi-VN" sz="3200">
                <a:latin typeface="+mj-lt"/>
              </a:rPr>
              <a:t>Sử dụng thừa kế đơn</a:t>
            </a:r>
            <a:endParaRPr lang="en-US" sz="3200">
              <a:latin typeface="+mj-lt"/>
            </a:endParaRPr>
          </a:p>
          <a:p>
            <a:r>
              <a:rPr lang="vi-VN" sz="3200">
                <a:latin typeface="+mj-lt"/>
              </a:rPr>
              <a:t>Sử dụng thừa kế đa cấp</a:t>
            </a:r>
            <a:endParaRPr lang="en-US" sz="3200">
              <a:latin typeface="+mj-lt"/>
            </a:endParaRPr>
          </a:p>
          <a:p>
            <a:r>
              <a:rPr lang="vi-VN" sz="3200">
                <a:latin typeface="+mj-lt"/>
              </a:rPr>
              <a:t>Sử dụng nhiều kế thừa</a:t>
            </a:r>
          </a:p>
        </p:txBody>
      </p:sp>
    </p:spTree>
    <p:extLst>
      <p:ext uri="{BB962C8B-B14F-4D97-AF65-F5344CB8AC3E}">
        <p14:creationId xmlns:p14="http://schemas.microsoft.com/office/powerpoint/2010/main" val="21750240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lstStyle/>
          <a:p>
            <a:r>
              <a:rPr lang="vi-VN"/>
              <a:t>Lập Trình Hướng Đối Tượng</a:t>
            </a:r>
            <a:endParaRPr lang="en-US">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22259" y="862149"/>
            <a:ext cx="9102490" cy="5967608"/>
          </a:xfrm>
        </p:spPr>
        <p:txBody>
          <a:bodyPr>
            <a:noAutofit/>
          </a:bodyPr>
          <a:lstStyle/>
          <a:p>
            <a:pPr algn="just"/>
            <a:r>
              <a:rPr lang="en-US" sz="3200">
                <a:latin typeface="Times New Roman" panose="02020603050405020304" pitchFamily="18" charset="0"/>
                <a:cs typeface="Times New Roman" panose="02020603050405020304" pitchFamily="18" charset="0"/>
              </a:rPr>
              <a:t>P</a:t>
            </a:r>
            <a:r>
              <a:rPr lang="vi-VN" sz="3200">
                <a:latin typeface="Times New Roman" panose="02020603050405020304" pitchFamily="18" charset="0"/>
                <a:cs typeface="Times New Roman" panose="02020603050405020304" pitchFamily="18" charset="0"/>
              </a:rPr>
              <a:t>ython hỗ trợ lập trình hướng đối tượng (OOP). OOP hỗ trợ tái sử dụng; nghĩa là, </a:t>
            </a:r>
            <a:r>
              <a:rPr lang="en-US" sz="3200">
                <a:latin typeface="Times New Roman" panose="02020603050405020304" pitchFamily="18" charset="0"/>
                <a:cs typeface="Times New Roman" panose="02020603050405020304" pitchFamily="18" charset="0"/>
              </a:rPr>
              <a:t>code</a:t>
            </a:r>
            <a:r>
              <a:rPr lang="vi-VN" sz="3200">
                <a:latin typeface="Times New Roman" panose="02020603050405020304" pitchFamily="18" charset="0"/>
                <a:cs typeface="Times New Roman" panose="02020603050405020304" pitchFamily="18" charset="0"/>
              </a:rPr>
              <a:t> được viết trước đó có thể được sử dụng lại để tạo các ứng dụng lớn, thay vì bắt đầu từ đầu. Thuật ngữ đối tượng trong OOP đề cập đến một biến hoặc thể hiện của một lớp, trong đó một lớp là một mẫu hoặc bản thiết kế của một cấu trúc bao gồm các phương thức và biến. Các biến trong lớp được gọi là </a:t>
            </a:r>
            <a:r>
              <a:rPr lang="en-US" sz="3200" b="1">
                <a:latin typeface="Times New Roman" panose="02020603050405020304" pitchFamily="18" charset="0"/>
                <a:cs typeface="Times New Roman" panose="02020603050405020304" pitchFamily="18" charset="0"/>
              </a:rPr>
              <a:t>data members </a:t>
            </a:r>
            <a:r>
              <a:rPr lang="en-US" sz="3200">
                <a:latin typeface="Times New Roman" panose="02020603050405020304" pitchFamily="18" charset="0"/>
                <a:cs typeface="Times New Roman" panose="02020603050405020304" pitchFamily="18" charset="0"/>
              </a:rPr>
              <a:t>(</a:t>
            </a:r>
            <a:r>
              <a:rPr lang="vi-VN" sz="3200">
                <a:latin typeface="Times New Roman" panose="02020603050405020304" pitchFamily="18" charset="0"/>
                <a:cs typeface="Times New Roman" panose="02020603050405020304" pitchFamily="18" charset="0"/>
              </a:rPr>
              <a:t>thành viên dữ liệu</a:t>
            </a:r>
            <a:r>
              <a:rPr lang="en-US" sz="3200">
                <a:latin typeface="Times New Roman" panose="02020603050405020304" pitchFamily="18" charset="0"/>
                <a:cs typeface="Times New Roman" panose="02020603050405020304" pitchFamily="18" charset="0"/>
              </a:rPr>
              <a:t>)</a:t>
            </a:r>
            <a:r>
              <a:rPr lang="vi-VN" sz="3200">
                <a:latin typeface="Times New Roman" panose="02020603050405020304" pitchFamily="18" charset="0"/>
                <a:cs typeface="Times New Roman" panose="02020603050405020304" pitchFamily="18" charset="0"/>
              </a:rPr>
              <a:t> và các phương thức được gọi là</a:t>
            </a:r>
            <a:r>
              <a:rPr lang="en-US" sz="3200">
                <a:latin typeface="Times New Roman" panose="02020603050405020304" pitchFamily="18" charset="0"/>
                <a:cs typeface="Times New Roman" panose="02020603050405020304" pitchFamily="18" charset="0"/>
              </a:rPr>
              <a:t> </a:t>
            </a:r>
            <a:r>
              <a:rPr lang="en-US" sz="3200" b="1">
                <a:latin typeface="Times New Roman" panose="02020603050405020304" pitchFamily="18" charset="0"/>
                <a:cs typeface="Times New Roman" panose="02020603050405020304" pitchFamily="18" charset="0"/>
              </a:rPr>
              <a:t>member functions</a:t>
            </a:r>
            <a:r>
              <a:rPr lang="vi-VN" sz="3200">
                <a:latin typeface="Times New Roman" panose="02020603050405020304" pitchFamily="18" charset="0"/>
                <a:cs typeface="Times New Roman" panose="02020603050405020304" pitchFamily="18" charset="0"/>
              </a:rPr>
              <a:t> </a:t>
            </a:r>
            <a:r>
              <a:rPr lang="en-US" sz="3200">
                <a:latin typeface="Times New Roman" panose="02020603050405020304" pitchFamily="18" charset="0"/>
                <a:cs typeface="Times New Roman" panose="02020603050405020304" pitchFamily="18" charset="0"/>
              </a:rPr>
              <a:t>(</a:t>
            </a:r>
            <a:r>
              <a:rPr lang="vi-VN" sz="3200">
                <a:latin typeface="Times New Roman" panose="02020603050405020304" pitchFamily="18" charset="0"/>
                <a:cs typeface="Times New Roman" panose="02020603050405020304" pitchFamily="18" charset="0"/>
              </a:rPr>
              <a:t>hàm thành viên</a:t>
            </a:r>
            <a:r>
              <a:rPr lang="en-US" sz="3200">
                <a:latin typeface="Times New Roman" panose="02020603050405020304" pitchFamily="18" charset="0"/>
                <a:cs typeface="Times New Roman" panose="02020603050405020304" pitchFamily="18" charset="0"/>
              </a:rPr>
              <a:t>)</a:t>
            </a:r>
            <a:r>
              <a:rPr lang="vi-VN" sz="3200">
                <a:latin typeface="Times New Roman" panose="02020603050405020304" pitchFamily="18" charset="0"/>
                <a:cs typeface="Times New Roman" panose="02020603050405020304" pitchFamily="18" charset="0"/>
              </a:rPr>
              <a:t>. Khi các </a:t>
            </a:r>
            <a:r>
              <a:rPr lang="en-US" sz="3200">
                <a:latin typeface="Times New Roman" panose="02020603050405020304" pitchFamily="18" charset="0"/>
                <a:cs typeface="Times New Roman" panose="02020603050405020304" pitchFamily="18" charset="0"/>
              </a:rPr>
              <a:t>thực thể</a:t>
            </a:r>
            <a:r>
              <a:rPr lang="vi-VN" sz="3200">
                <a:latin typeface="Times New Roman" panose="02020603050405020304" pitchFamily="18" charset="0"/>
                <a:cs typeface="Times New Roman" panose="02020603050405020304" pitchFamily="18" charset="0"/>
              </a:rPr>
              <a:t> hoặc đối tượng của một lớp được tạo ra, các đối tượng sẽ tự động truy cập vào các thành viên và phương thức dữ liệu.</a:t>
            </a:r>
            <a:endParaRPr lang="en-US"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1017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lstStyle/>
          <a:p>
            <a:r>
              <a:rPr lang="vi-VN"/>
              <a:t>Lập Trình Hướng Đối Tượng</a:t>
            </a:r>
            <a:endParaRPr lang="en-US">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22259" y="862149"/>
            <a:ext cx="9102490" cy="5967608"/>
          </a:xfrm>
        </p:spPr>
        <p:txBody>
          <a:bodyPr>
            <a:noAutofit/>
          </a:bodyPr>
          <a:lstStyle/>
          <a:p>
            <a:pPr algn="just"/>
            <a:r>
              <a:rPr lang="vi-VN" sz="3200">
                <a:latin typeface="+mj-lt"/>
              </a:rPr>
              <a:t>Sau đây là cú pháp để tạo một lớp:</a:t>
            </a:r>
            <a:endParaRPr lang="en-US" sz="3200">
              <a:latin typeface="+mj-lt"/>
            </a:endParaRPr>
          </a:p>
          <a:p>
            <a:pPr marL="0" indent="0">
              <a:buNone/>
            </a:pPr>
            <a:r>
              <a:rPr lang="en-US" sz="3200" i="1">
                <a:latin typeface="Times New Roman" panose="02020603050405020304" pitchFamily="18" charset="0"/>
                <a:cs typeface="Times New Roman" panose="02020603050405020304" pitchFamily="18" charset="0"/>
              </a:rPr>
              <a:t>class class_name(base_classes):</a:t>
            </a:r>
          </a:p>
          <a:p>
            <a:pPr marL="0" indent="0">
              <a:buNone/>
            </a:pPr>
            <a:r>
              <a:rPr lang="en-US" sz="3200" i="1">
                <a:latin typeface="Times New Roman" panose="02020603050405020304" pitchFamily="18" charset="0"/>
                <a:cs typeface="Times New Roman" panose="02020603050405020304" pitchFamily="18" charset="0"/>
              </a:rPr>
              <a:t>statement(s)</a:t>
            </a:r>
          </a:p>
          <a:p>
            <a:pPr marL="0" indent="0">
              <a:buNone/>
            </a:pPr>
            <a:r>
              <a:rPr lang="en-US" sz="3200" b="1" i="1" u="sng">
                <a:latin typeface="Times New Roman" panose="02020603050405020304" pitchFamily="18" charset="0"/>
                <a:cs typeface="Times New Roman" panose="02020603050405020304" pitchFamily="18" charset="0"/>
              </a:rPr>
              <a:t>Ví dụ:</a:t>
            </a:r>
          </a:p>
          <a:p>
            <a:pPr marL="0" indent="0">
              <a:buNone/>
            </a:pPr>
            <a:r>
              <a:rPr lang="en-US" sz="3200">
                <a:latin typeface="Times New Roman" panose="02020603050405020304" pitchFamily="18" charset="0"/>
                <a:cs typeface="Times New Roman" panose="02020603050405020304" pitchFamily="18" charset="0"/>
              </a:rPr>
              <a:t>class Student:</a:t>
            </a:r>
          </a:p>
          <a:p>
            <a:pPr marL="0" indent="0">
              <a:buNone/>
            </a:pPr>
            <a:r>
              <a:rPr lang="en-US" sz="3200">
                <a:latin typeface="Times New Roman" panose="02020603050405020304" pitchFamily="18" charset="0"/>
                <a:cs typeface="Times New Roman" panose="02020603050405020304" pitchFamily="18" charset="0"/>
              </a:rPr>
              <a:t>name = ""</a:t>
            </a:r>
          </a:p>
          <a:p>
            <a:pPr marL="0" indent="0">
              <a:buNone/>
            </a:pPr>
            <a:r>
              <a:rPr lang="en-US" sz="3200">
                <a:latin typeface="Times New Roman" panose="02020603050405020304" pitchFamily="18" charset="0"/>
                <a:cs typeface="Times New Roman" panose="02020603050405020304" pitchFamily="18" charset="0"/>
              </a:rPr>
              <a:t>def __init__(self, name):</a:t>
            </a:r>
          </a:p>
          <a:p>
            <a:pPr marL="0" indent="0">
              <a:buNone/>
            </a:pPr>
            <a:r>
              <a:rPr lang="en-US" sz="3200">
                <a:latin typeface="Times New Roman" panose="02020603050405020304" pitchFamily="18" charset="0"/>
                <a:cs typeface="Times New Roman" panose="02020603050405020304" pitchFamily="18" charset="0"/>
              </a:rPr>
              <a:t>self.name = name</a:t>
            </a:r>
          </a:p>
          <a:p>
            <a:pPr marL="0" indent="0">
              <a:buNone/>
            </a:pPr>
            <a:r>
              <a:rPr lang="en-US" sz="3200">
                <a:latin typeface="Times New Roman" panose="02020603050405020304" pitchFamily="18" charset="0"/>
                <a:cs typeface="Times New Roman" panose="02020603050405020304" pitchFamily="18" charset="0"/>
              </a:rPr>
              <a:t>def printName(self):</a:t>
            </a:r>
          </a:p>
          <a:p>
            <a:pPr marL="0" indent="0">
              <a:buNone/>
            </a:pPr>
            <a:r>
              <a:rPr lang="en-US" sz="3200">
                <a:latin typeface="Times New Roman" panose="02020603050405020304" pitchFamily="18" charset="0"/>
                <a:cs typeface="Times New Roman" panose="02020603050405020304" pitchFamily="18" charset="0"/>
              </a:rPr>
              <a:t>return self.name</a:t>
            </a:r>
            <a:endParaRPr lang="en-US" sz="3200" i="1">
              <a:latin typeface="Times New Roman" panose="02020603050405020304" pitchFamily="18" charset="0"/>
              <a:cs typeface="Times New Roman" panose="02020603050405020304" pitchFamily="18" charset="0"/>
            </a:endParaRPr>
          </a:p>
          <a:p>
            <a:pPr marL="0" indent="0">
              <a:buNone/>
            </a:pP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62897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normAutofit fontScale="90000"/>
          </a:bodyPr>
          <a:lstStyle/>
          <a:p>
            <a:r>
              <a:rPr lang="vi-VN"/>
              <a:t>Sử Dụng Các Thuộc Tính Lớp Tích Hợp</a:t>
            </a:r>
            <a:endParaRPr lang="en-US">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22259" y="862149"/>
            <a:ext cx="9102490" cy="5967608"/>
          </a:xfrm>
        </p:spPr>
        <p:txBody>
          <a:bodyPr>
            <a:noAutofit/>
          </a:bodyPr>
          <a:lstStyle/>
          <a:p>
            <a:pPr algn="just"/>
            <a:r>
              <a:rPr lang="vi-VN" sz="3200">
                <a:latin typeface="+mj-lt"/>
              </a:rPr>
              <a:t>Một câu lệnh lớp tự động gán các giá trị nhất định cho các thuộc tính lớp cố định. Các thuộc tính lớp này có thể được sử dụng để tìm nạp thông tin về lớp. Danh sách các thuộc tính lớp như sau:</a:t>
            </a:r>
            <a:br>
              <a:rPr lang="vi-VN" sz="3200">
                <a:latin typeface="+mj-lt"/>
              </a:rPr>
            </a:br>
            <a:r>
              <a:rPr lang="vi-VN" sz="3200" b="1">
                <a:latin typeface="+mj-lt"/>
              </a:rPr>
              <a:t>__name__:</a:t>
            </a:r>
            <a:r>
              <a:rPr lang="vi-VN" sz="3200">
                <a:latin typeface="+mj-lt"/>
              </a:rPr>
              <a:t> Thuộc tính này thể hiện tên lớp được sử dụng trong câu lệnh lớp</a:t>
            </a:r>
            <a:endParaRPr lang="en-US" sz="3200">
              <a:latin typeface="+mj-lt"/>
            </a:endParaRPr>
          </a:p>
          <a:p>
            <a:pPr marL="0" indent="0" algn="just">
              <a:buNone/>
            </a:pPr>
            <a:r>
              <a:rPr lang="vi-VN" sz="3200" b="1">
                <a:latin typeface="+mj-lt"/>
              </a:rPr>
              <a:t>__base__: </a:t>
            </a:r>
            <a:r>
              <a:rPr lang="vi-VN" sz="3200">
                <a:latin typeface="+mj-lt"/>
              </a:rPr>
              <a:t>Thuộc tính này đại diện cho các tên lớp cơ sở được đề cập trong câu lệnh lớp</a:t>
            </a:r>
            <a:endParaRPr lang="en-US" sz="3200">
              <a:latin typeface="+mj-lt"/>
            </a:endParaRPr>
          </a:p>
          <a:p>
            <a:pPr marL="0" indent="0" algn="just">
              <a:buNone/>
            </a:pPr>
            <a:r>
              <a:rPr lang="vi-VN" sz="3200" b="1">
                <a:latin typeface="+mj-lt"/>
              </a:rPr>
              <a:t>__dict__: </a:t>
            </a:r>
            <a:r>
              <a:rPr lang="vi-VN" sz="3200">
                <a:latin typeface="+mj-lt"/>
              </a:rPr>
              <a:t>Đối tượng từ điển đại diện cho các thuộc tính lớp khác</a:t>
            </a:r>
            <a:endParaRPr lang="en-US" sz="3200">
              <a:latin typeface="+mj-lt"/>
            </a:endParaRPr>
          </a:p>
          <a:p>
            <a:pPr marL="0" indent="0" algn="just">
              <a:buNone/>
            </a:pPr>
            <a:r>
              <a:rPr lang="vi-VN" sz="3200" b="1">
                <a:latin typeface="+mj-lt"/>
              </a:rPr>
              <a:t>__module__: </a:t>
            </a:r>
            <a:r>
              <a:rPr lang="vi-VN" sz="3200">
                <a:latin typeface="+mj-lt"/>
              </a:rPr>
              <a:t>Thuộc tính này đại diện cho tên mô-đun trong đó lớp được xác định</a:t>
            </a:r>
            <a:endParaRPr lang="en-US" sz="3200" dirty="0">
              <a:latin typeface="+mj-lt"/>
              <a:cs typeface="Times New Roman" panose="02020603050405020304" pitchFamily="18" charset="0"/>
            </a:endParaRPr>
          </a:p>
        </p:txBody>
      </p:sp>
    </p:spTree>
    <p:extLst>
      <p:ext uri="{BB962C8B-B14F-4D97-AF65-F5344CB8AC3E}">
        <p14:creationId xmlns:p14="http://schemas.microsoft.com/office/powerpoint/2010/main" val="24316490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normAutofit fontScale="90000"/>
          </a:bodyPr>
          <a:lstStyle/>
          <a:p>
            <a:r>
              <a:rPr lang="vi-VN"/>
              <a:t>Sử Dụng Các Thuộc Tính Lớp Tích Hợp</a:t>
            </a:r>
            <a:endParaRPr lang="en-US">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22259" y="862149"/>
            <a:ext cx="9102490" cy="5967608"/>
          </a:xfrm>
        </p:spPr>
        <p:txBody>
          <a:bodyPr>
            <a:noAutofit/>
          </a:bodyPr>
          <a:lstStyle/>
          <a:p>
            <a:pPr algn="just"/>
            <a:r>
              <a:rPr lang="vi-VN" sz="3200">
                <a:latin typeface="+mj-lt"/>
              </a:rPr>
              <a:t>Một lớp có thể có bất kỳ số lượng phương thức và mỗi phương thức có thể có bất kỳ số lượng tham số nào. Một tham số đầu tiên bắt buộc luôn được xác định trong một phương thức và tham số đầu tiên đó thường được đặt tên là </a:t>
            </a:r>
            <a:r>
              <a:rPr lang="en-US" sz="3200" b="1" i="1">
                <a:latin typeface="Times New Roman" panose="02020603050405020304" pitchFamily="18" charset="0"/>
                <a:cs typeface="Times New Roman" panose="02020603050405020304" pitchFamily="18" charset="0"/>
              </a:rPr>
              <a:t>self</a:t>
            </a:r>
            <a:r>
              <a:rPr lang="vi-VN" sz="3200">
                <a:latin typeface="+mj-lt"/>
              </a:rPr>
              <a:t> (mặc dù bạn có thể đặt bất kỳ tên nào cho tham số này). Tham số </a:t>
            </a:r>
            <a:r>
              <a:rPr lang="vi-VN" sz="3200" b="1" i="1">
                <a:latin typeface="+mj-lt"/>
              </a:rPr>
              <a:t>self</a:t>
            </a:r>
            <a:r>
              <a:rPr lang="vi-VN" sz="3200">
                <a:latin typeface="+mj-lt"/>
              </a:rPr>
              <a:t> tham chiếu đến thể hiện của lớp gọi phương thức. Cú pháp để xác định các phương thức trong một lớp như sau:</a:t>
            </a:r>
            <a:endParaRPr lang="en-US" sz="3200">
              <a:latin typeface="+mj-lt"/>
            </a:endParaRPr>
          </a:p>
          <a:p>
            <a:pPr marL="0" indent="0">
              <a:buNone/>
            </a:pPr>
            <a:r>
              <a:rPr lang="en-US" sz="3200">
                <a:latin typeface="Times New Roman" panose="02020603050405020304" pitchFamily="18" charset="0"/>
                <a:cs typeface="Times New Roman" panose="02020603050405020304" pitchFamily="18" charset="0"/>
              </a:rPr>
              <a:t>class class_name(base_classes):</a:t>
            </a:r>
          </a:p>
          <a:p>
            <a:pPr marL="0" indent="0">
              <a:buNone/>
            </a:pPr>
            <a:r>
              <a:rPr lang="en-US" sz="3200">
                <a:latin typeface="Times New Roman" panose="02020603050405020304" pitchFamily="18" charset="0"/>
                <a:cs typeface="Times New Roman" panose="02020603050405020304" pitchFamily="18" charset="0"/>
              </a:rPr>
              <a:t>	Syntax:</a:t>
            </a:r>
          </a:p>
          <a:p>
            <a:pPr marL="0" indent="0">
              <a:buNone/>
            </a:pPr>
            <a:r>
              <a:rPr lang="en-US" sz="3200">
                <a:latin typeface="Times New Roman" panose="02020603050405020304" pitchFamily="18" charset="0"/>
                <a:cs typeface="Times New Roman" panose="02020603050405020304" pitchFamily="18" charset="0"/>
              </a:rPr>
              <a:t>		variable(s)</a:t>
            </a:r>
          </a:p>
          <a:p>
            <a:pPr marL="0" indent="0">
              <a:buNone/>
            </a:pPr>
            <a:r>
              <a:rPr lang="en-US" sz="3200">
                <a:latin typeface="Times New Roman" panose="02020603050405020304" pitchFamily="18" charset="0"/>
                <a:cs typeface="Times New Roman" panose="02020603050405020304" pitchFamily="18" charset="0"/>
              </a:rPr>
              <a:t>	def method 1(self):</a:t>
            </a:r>
          </a:p>
          <a:p>
            <a:pPr marL="0" indent="0">
              <a:buNone/>
            </a:pPr>
            <a:r>
              <a:rPr lang="en-US" sz="3200">
                <a:latin typeface="Times New Roman" panose="02020603050405020304" pitchFamily="18" charset="0"/>
                <a:cs typeface="Times New Roman" panose="02020603050405020304" pitchFamily="18" charset="0"/>
              </a:rPr>
              <a:t>		</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57092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normAutofit fontScale="90000"/>
          </a:bodyPr>
          <a:lstStyle/>
          <a:p>
            <a:r>
              <a:rPr lang="vi-VN"/>
              <a:t>Sử Dụng Các Thuộc Tính Lớp Tích Hợp</a:t>
            </a:r>
            <a:endParaRPr lang="en-US">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22259" y="862149"/>
            <a:ext cx="9102490" cy="5967608"/>
          </a:xfrm>
        </p:spPr>
        <p:txBody>
          <a:bodyPr>
            <a:noAutofit/>
          </a:bodyPr>
          <a:lstStyle/>
          <a:p>
            <a:pPr marL="0" indent="0">
              <a:buNone/>
            </a:pPr>
            <a:r>
              <a:rPr lang="en-US">
                <a:latin typeface="Times New Roman" panose="02020603050405020304" pitchFamily="18" charset="0"/>
                <a:cs typeface="Times New Roman" panose="02020603050405020304" pitchFamily="18" charset="0"/>
              </a:rPr>
              <a:t>	 statement(s)</a:t>
            </a:r>
          </a:p>
          <a:p>
            <a:pPr marL="0" indent="0">
              <a:buNone/>
            </a:pPr>
            <a:r>
              <a:rPr lang="en-US">
                <a:latin typeface="Times New Roman" panose="02020603050405020304" pitchFamily="18" charset="0"/>
                <a:cs typeface="Times New Roman" panose="02020603050405020304" pitchFamily="18" charset="0"/>
              </a:rPr>
              <a:t>[def method n(self):</a:t>
            </a:r>
          </a:p>
          <a:p>
            <a:pPr marL="0" indent="0">
              <a:buNone/>
            </a:pPr>
            <a:r>
              <a:rPr lang="en-US">
                <a:latin typeface="Times New Roman" panose="02020603050405020304" pitchFamily="18" charset="0"/>
                <a:cs typeface="Times New Roman" panose="02020603050405020304" pitchFamily="18" charset="0"/>
              </a:rPr>
              <a:t>	statement(s)]</a:t>
            </a:r>
          </a:p>
          <a:p>
            <a:pPr marL="0" indent="0" algn="just">
              <a:buNone/>
            </a:pPr>
            <a:r>
              <a:rPr lang="vi-VN" sz="3200">
                <a:latin typeface="+mj-lt"/>
              </a:rPr>
              <a:t>Một lớp có thể có hai loại data member sau:</a:t>
            </a:r>
            <a:br>
              <a:rPr lang="vi-VN" sz="3200">
                <a:latin typeface="+mj-lt"/>
              </a:rPr>
            </a:br>
            <a:r>
              <a:rPr lang="vi-VN" sz="3200" b="1">
                <a:latin typeface="+mj-lt"/>
              </a:rPr>
              <a:t>Class variable </a:t>
            </a:r>
            <a:r>
              <a:rPr lang="vi-VN" sz="3200">
                <a:latin typeface="+mj-lt"/>
              </a:rPr>
              <a:t>: Đây là các biến có thể chia sẻ được bởi tất cả các thể hiện và các thay đổi được thực hiện cho các biến này</a:t>
            </a:r>
            <a:r>
              <a:rPr lang="en-US" sz="3200">
                <a:latin typeface="+mj-lt"/>
              </a:rPr>
              <a:t>,</a:t>
            </a:r>
            <a:r>
              <a:rPr lang="vi-VN" sz="3200">
                <a:latin typeface="+mj-lt"/>
              </a:rPr>
              <a:t> bởi bất kỳ một thể hiện nào cũng có thể được nhìn thấy bởi các thể hiện khác. Đây là các data members được định nghĩa bên ngoài bất kỳ phương thức nào của lớp.</a:t>
            </a:r>
            <a:endParaRPr lang="en-US" sz="3200">
              <a:latin typeface="+mj-lt"/>
            </a:endParaRPr>
          </a:p>
          <a:p>
            <a:pPr marL="0" indent="0" algn="just">
              <a:buNone/>
            </a:pPr>
            <a:r>
              <a:rPr lang="vi-VN" sz="3200" b="1">
                <a:latin typeface="+mj-lt"/>
              </a:rPr>
              <a:t>Instance variable </a:t>
            </a:r>
            <a:r>
              <a:rPr lang="vi-VN" sz="3200">
                <a:latin typeface="+mj-lt"/>
              </a:rPr>
              <a:t>: Các biến này, được xác định bên trong một phương thức, chỉ thuộc về thể hiện hiện tại của đối tượng và được gọi là biến thể hiện. Các thay</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220562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normAutofit fontScale="90000"/>
          </a:bodyPr>
          <a:lstStyle/>
          <a:p>
            <a:r>
              <a:rPr lang="vi-VN"/>
              <a:t>Sử Dụng Các Thuộc Tính Lớp Tích Hợp</a:t>
            </a:r>
            <a:endParaRPr lang="en-US">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22259" y="862149"/>
            <a:ext cx="9102490" cy="5967608"/>
          </a:xfrm>
        </p:spPr>
        <p:txBody>
          <a:bodyPr>
            <a:noAutofit/>
          </a:bodyPr>
          <a:lstStyle/>
          <a:p>
            <a:pPr marL="0" indent="0" algn="just">
              <a:buNone/>
            </a:pPr>
            <a:r>
              <a:rPr lang="en-US" sz="3200">
                <a:latin typeface="Times New Roman" panose="02020603050405020304" pitchFamily="18" charset="0"/>
                <a:cs typeface="Times New Roman" panose="02020603050405020304" pitchFamily="18" charset="0"/>
              </a:rPr>
              <a:t> đổi </a:t>
            </a:r>
            <a:r>
              <a:rPr lang="vi-VN" sz="3200">
                <a:latin typeface="Times New Roman" panose="02020603050405020304" pitchFamily="18" charset="0"/>
                <a:cs typeface="Times New Roman" panose="02020603050405020304" pitchFamily="18" charset="0"/>
              </a:rPr>
              <a:t>được thực hiện cho các biến đối tượng bởi bất kỳ trường hợp nào được giới hạn trong trường hợp cụ thể đó và không ảnh hưởng đến thể hiện các biến của các trường hợp khác.</a:t>
            </a:r>
            <a:endParaRPr lang="en-US" sz="32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72691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normAutofit/>
          </a:bodyPr>
          <a:lstStyle/>
          <a:p>
            <a:r>
              <a:rPr lang="vi-VN"/>
              <a:t>Sử Dụng Các Lớp Trong GUI</a:t>
            </a:r>
            <a:endParaRPr lang="en-US">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22259" y="862149"/>
            <a:ext cx="9102490" cy="5967608"/>
          </a:xfrm>
        </p:spPr>
        <p:txBody>
          <a:bodyPr>
            <a:noAutofit/>
          </a:bodyPr>
          <a:lstStyle/>
          <a:p>
            <a:pPr algn="just"/>
            <a:r>
              <a:rPr lang="vi-VN" sz="3200">
                <a:latin typeface="+mj-lt"/>
              </a:rPr>
              <a:t>Dữ liệu nhận được từ người dùng thông qua GUI có thể được xử lý trực tiếp bằng cách sử dụng các biến đơn giản và dữ liệu được xử lý chỉ có thể được hiển thị thông qua các biến. Nhưng để giữ dữ liệu ở định dạng có cấu trúc và nhận được lợi ích của OOP, chúng ta sẽ học cách giữ dữ liệu ở dạng các lớp. Nghĩa là, dữ liệu được người dùng truy cập thông qua GUI có thể được gán cho các biến lớp, được xử lý và hiển thị thông qua các phương thức lớp.</a:t>
            </a:r>
            <a:endParaRPr lang="en-US" sz="3200">
              <a:latin typeface="+mj-lt"/>
            </a:endParaRPr>
          </a:p>
          <a:p>
            <a:pPr algn="just"/>
            <a:r>
              <a:rPr lang="vi-VN" sz="3200">
                <a:latin typeface="+mj-lt"/>
              </a:rPr>
              <a:t>Hãy tạo một ứng dụng sẽ nhắc người dùng nhập tên và khi nhấp vào nút ấn sau khi nhập tên, ứng dụng sẽ hiển thị thông báo xin chào cùng với tên đã nhập. Tên được nhập bởi người dùng sẽ được gán cho một</a:t>
            </a:r>
            <a:endParaRPr lang="en-US" sz="3200">
              <a:latin typeface="+mj-lt"/>
              <a:cs typeface="Times New Roman" panose="02020603050405020304" pitchFamily="18" charset="0"/>
            </a:endParaRPr>
          </a:p>
        </p:txBody>
      </p:sp>
    </p:spTree>
    <p:extLst>
      <p:ext uri="{BB962C8B-B14F-4D97-AF65-F5344CB8AC3E}">
        <p14:creationId xmlns:p14="http://schemas.microsoft.com/office/powerpoint/2010/main" val="13126428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normAutofit/>
          </a:bodyPr>
          <a:lstStyle/>
          <a:p>
            <a:r>
              <a:rPr lang="vi-VN"/>
              <a:t>Sử Dụng Các Lớp Trong GUI</a:t>
            </a:r>
            <a:endParaRPr lang="en-US">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22259" y="862149"/>
            <a:ext cx="9102490" cy="5967608"/>
          </a:xfrm>
        </p:spPr>
        <p:txBody>
          <a:bodyPr>
            <a:noAutofit/>
          </a:bodyPr>
          <a:lstStyle/>
          <a:p>
            <a:pPr marL="234950" indent="0" algn="just">
              <a:buNone/>
            </a:pPr>
            <a:r>
              <a:rPr lang="vi-VN" sz="3200">
                <a:latin typeface="+mj-lt"/>
              </a:rPr>
              <a:t>biến lớp và thông điệp hello cũng sẽ được tạo bằng cách gọi phương thức lớp của lớp.</a:t>
            </a:r>
            <a:endParaRPr lang="en-US" sz="3200">
              <a:latin typeface="+mj-lt"/>
            </a:endParaRPr>
          </a:p>
          <a:p>
            <a:pPr algn="just"/>
            <a:r>
              <a:rPr lang="vi-VN" sz="3200">
                <a:latin typeface="+mj-lt"/>
              </a:rPr>
              <a:t>Để hiểu cách dữ liệu được nhập bởi người dùng được gán cho biến lớp và cách thông báo được hiển thị có thể được truy cập thông qua các phương thức lớp. Hãy tạo một ứng dụng mới dựa trên Dialog without Buttons và làm theo các bước sau:</a:t>
            </a:r>
            <a:endParaRPr lang="en-US" sz="3200">
              <a:latin typeface="+mj-lt"/>
            </a:endParaRPr>
          </a:p>
          <a:p>
            <a:pPr marL="514350" indent="-514350" algn="just">
              <a:buAutoNum type="arabicPeriod"/>
            </a:pPr>
            <a:r>
              <a:rPr lang="vi-VN" sz="3200">
                <a:latin typeface="+mj-lt"/>
              </a:rPr>
              <a:t>Kéo và thả hai tiện ích Label, một Line Edit và một tiện ích Push Button vào form.</a:t>
            </a:r>
            <a:endParaRPr lang="en-US" sz="3200">
              <a:latin typeface="+mj-lt"/>
            </a:endParaRPr>
          </a:p>
          <a:p>
            <a:pPr marL="514350" indent="-514350" algn="just">
              <a:buAutoNum type="arabicPeriod"/>
            </a:pPr>
            <a:r>
              <a:rPr lang="vi-VN" sz="3200">
                <a:latin typeface="+mj-lt"/>
              </a:rPr>
              <a:t>Đặt thuộc tính text của tiện ích Label đầu tiên thành </a:t>
            </a:r>
            <a:r>
              <a:rPr lang="vi-VN" sz="3200" i="1">
                <a:latin typeface="+mj-lt"/>
              </a:rPr>
              <a:t>Enter your name</a:t>
            </a:r>
            <a:r>
              <a:rPr lang="vi-VN" sz="3200">
                <a:latin typeface="+mj-lt"/>
              </a:rPr>
              <a:t>.</a:t>
            </a:r>
            <a:endParaRPr lang="en-US" sz="3200">
              <a:latin typeface="+mj-lt"/>
            </a:endParaRPr>
          </a:p>
          <a:p>
            <a:pPr marL="0" indent="0" algn="just">
              <a:buNone/>
            </a:pPr>
            <a:endParaRPr lang="en-US" sz="3200">
              <a:latin typeface="+mj-lt"/>
              <a:cs typeface="Times New Roman" panose="02020603050405020304" pitchFamily="18" charset="0"/>
            </a:endParaRPr>
          </a:p>
        </p:txBody>
      </p:sp>
    </p:spTree>
    <p:extLst>
      <p:ext uri="{BB962C8B-B14F-4D97-AF65-F5344CB8AC3E}">
        <p14:creationId xmlns:p14="http://schemas.microsoft.com/office/powerpoint/2010/main" val="5964082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normAutofit/>
          </a:bodyPr>
          <a:lstStyle/>
          <a:p>
            <a:r>
              <a:rPr lang="vi-VN"/>
              <a:t>Sử Dụng Các Lớp Trong GUI</a:t>
            </a:r>
            <a:endParaRPr lang="en-US">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22259" y="862149"/>
            <a:ext cx="9102490" cy="5967608"/>
          </a:xfrm>
        </p:spPr>
        <p:txBody>
          <a:bodyPr>
            <a:noAutofit/>
          </a:bodyPr>
          <a:lstStyle/>
          <a:p>
            <a:pPr marL="0" indent="0" algn="just">
              <a:buNone/>
            </a:pPr>
            <a:r>
              <a:rPr lang="vi-VN" sz="3200">
                <a:latin typeface="+mj-lt"/>
              </a:rPr>
              <a:t>Chúng ta không thay đổi thuộc tính text của tiện ích Label thứ hai và giữ thuộc tính text của nó thành giá trị mặc định của TextLabel. Điều này là do thuộc tính text của nó sẽ được đặt thông qua mã để hiển thị thông báo xin chào.</a:t>
            </a:r>
            <a:endParaRPr lang="en-US" sz="3200">
              <a:latin typeface="+mj-lt"/>
            </a:endParaRPr>
          </a:p>
          <a:p>
            <a:pPr marL="0" indent="0" algn="just">
              <a:buNone/>
            </a:pPr>
            <a:r>
              <a:rPr lang="vi-VN" sz="3200">
                <a:latin typeface="+mj-lt"/>
              </a:rPr>
              <a:t>3. Đặt thuộc tính text của tiện ích Push Button thành </a:t>
            </a:r>
            <a:r>
              <a:rPr lang="vi-VN" sz="3200" i="1">
                <a:latin typeface="+mj-lt"/>
              </a:rPr>
              <a:t>Click</a:t>
            </a:r>
            <a:r>
              <a:rPr lang="vi-VN" sz="3200">
                <a:latin typeface="+mj-lt"/>
              </a:rPr>
              <a:t>.</a:t>
            </a:r>
            <a:endParaRPr lang="en-US" sz="3200">
              <a:latin typeface="+mj-lt"/>
            </a:endParaRPr>
          </a:p>
          <a:p>
            <a:pPr marL="0" indent="0" algn="just">
              <a:buNone/>
            </a:pPr>
            <a:r>
              <a:rPr lang="vi-VN" sz="3200">
                <a:latin typeface="+mj-lt"/>
              </a:rPr>
              <a:t>4. Đặt thuộc tính objectName của tiện ích Line Edit thành lineEditName.</a:t>
            </a:r>
            <a:endParaRPr lang="en-US" sz="3200">
              <a:latin typeface="+mj-lt"/>
            </a:endParaRPr>
          </a:p>
          <a:p>
            <a:pPr marL="0" indent="0" algn="just">
              <a:buNone/>
            </a:pPr>
            <a:r>
              <a:rPr lang="vi-VN" sz="3200">
                <a:latin typeface="+mj-lt"/>
              </a:rPr>
              <a:t>5. Đặt thuộc tính objectName của tiện ích Label thành labelResponse.</a:t>
            </a:r>
            <a:endParaRPr lang="en-US" sz="3200">
              <a:latin typeface="+mj-lt"/>
            </a:endParaRPr>
          </a:p>
          <a:p>
            <a:pPr marL="0" indent="0" algn="just">
              <a:buNone/>
            </a:pPr>
            <a:endParaRPr lang="en-US" sz="3200">
              <a:latin typeface="+mj-lt"/>
              <a:cs typeface="Times New Roman" panose="02020603050405020304" pitchFamily="18" charset="0"/>
            </a:endParaRPr>
          </a:p>
        </p:txBody>
      </p:sp>
    </p:spTree>
    <p:extLst>
      <p:ext uri="{BB962C8B-B14F-4D97-AF65-F5344CB8AC3E}">
        <p14:creationId xmlns:p14="http://schemas.microsoft.com/office/powerpoint/2010/main" val="24128871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normAutofit/>
          </a:bodyPr>
          <a:lstStyle/>
          <a:p>
            <a:r>
              <a:rPr lang="vi-VN"/>
              <a:t>Sử Dụng Các Lớp Trong GUI</a:t>
            </a:r>
            <a:endParaRPr lang="en-US">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22259" y="862149"/>
            <a:ext cx="9102490" cy="5967608"/>
          </a:xfrm>
        </p:spPr>
        <p:txBody>
          <a:bodyPr>
            <a:noAutofit/>
          </a:bodyPr>
          <a:lstStyle/>
          <a:p>
            <a:pPr marL="0" indent="0" algn="just">
              <a:buNone/>
            </a:pPr>
            <a:r>
              <a:rPr lang="vi-VN" sz="3200">
                <a:latin typeface="+mj-lt"/>
              </a:rPr>
              <a:t>6. Đặt thuộc tính objectName của tiện ích Push Button thành ButtonClickMe.</a:t>
            </a:r>
            <a:endParaRPr lang="en-US" sz="3200">
              <a:latin typeface="+mj-lt"/>
            </a:endParaRPr>
          </a:p>
          <a:p>
            <a:pPr marL="0" indent="0" algn="just">
              <a:buNone/>
            </a:pPr>
            <a:r>
              <a:rPr lang="vi-VN" sz="3200">
                <a:latin typeface="+mj-lt"/>
              </a:rPr>
              <a:t>7. Lưu ứng dụng với tên LineEditClass.ui. Ứng dụng sẽ xuất hiện như trong ảnh chụp màn hình sau:</a:t>
            </a:r>
            <a:endParaRPr lang="en-US" sz="3200">
              <a:latin typeface="+mj-lt"/>
            </a:endParaRPr>
          </a:p>
          <a:p>
            <a:pPr marL="0" indent="0" algn="just">
              <a:buNone/>
            </a:pPr>
            <a:endParaRPr lang="en-US" sz="3200">
              <a:latin typeface="+mj-lt"/>
            </a:endParaRPr>
          </a:p>
          <a:p>
            <a:pPr marL="0" indent="0" algn="just">
              <a:buNone/>
            </a:pPr>
            <a:endParaRPr lang="en-US" sz="3200">
              <a:latin typeface="+mj-lt"/>
            </a:endParaRPr>
          </a:p>
          <a:p>
            <a:pPr marL="0" indent="0" algn="just">
              <a:buNone/>
            </a:pPr>
            <a:endParaRPr lang="en-US" sz="3200">
              <a:latin typeface="+mj-lt"/>
            </a:endParaRPr>
          </a:p>
          <a:p>
            <a:pPr marL="0" indent="0" algn="just">
              <a:buNone/>
            </a:pPr>
            <a:endParaRPr lang="en-US" sz="3200">
              <a:latin typeface="+mj-lt"/>
            </a:endParaRPr>
          </a:p>
          <a:p>
            <a:pPr marL="0" indent="0" algn="just">
              <a:buNone/>
            </a:pPr>
            <a:r>
              <a:rPr lang="vi-VN" sz="3200">
                <a:latin typeface="+mj-lt"/>
              </a:rPr>
              <a:t>Giao diện người dùng được tạo bằng Qt Designer được lưu trữ trong file .ui, đây là file XML và cần được chuyển đổi thành code Python.</a:t>
            </a:r>
            <a:endParaRPr lang="en-US" sz="3200">
              <a:latin typeface="+mj-lt"/>
              <a:cs typeface="Times New Roman" panose="02020603050405020304" pitchFamily="18" charset="0"/>
            </a:endParaRPr>
          </a:p>
        </p:txBody>
      </p:sp>
      <p:pic>
        <p:nvPicPr>
          <p:cNvPr id="5" name="Picture 4" descr="sách Qt5-Python-GUI-Programming-Cookbook.pdf - Adobe Acrobat Reader DC">
            <a:extLst>
              <a:ext uri="{FF2B5EF4-FFF2-40B4-BE49-F238E27FC236}">
                <a16:creationId xmlns:a16="http://schemas.microsoft.com/office/drawing/2014/main" id="{20817F46-65F5-4C2E-8E68-33AD21BE8459}"/>
              </a:ext>
            </a:extLst>
          </p:cNvPr>
          <p:cNvPicPr>
            <a:picLocks noChangeAspect="1"/>
          </p:cNvPicPr>
          <p:nvPr/>
        </p:nvPicPr>
        <p:blipFill rotWithShape="1">
          <a:blip r:embed="rId2">
            <a:extLst>
              <a:ext uri="{28A0092B-C50C-407E-A947-70E740481C1C}">
                <a14:useLocalDpi xmlns:a14="http://schemas.microsoft.com/office/drawing/2010/main" val="0"/>
              </a:ext>
            </a:extLst>
          </a:blip>
          <a:srcRect l="26363" t="36350" r="41061" b="26499"/>
          <a:stretch/>
        </p:blipFill>
        <p:spPr>
          <a:xfrm>
            <a:off x="2410691" y="2812473"/>
            <a:ext cx="4225636" cy="2092035"/>
          </a:xfrm>
          <a:prstGeom prst="rect">
            <a:avLst/>
          </a:prstGeom>
        </p:spPr>
      </p:pic>
    </p:spTree>
    <p:extLst>
      <p:ext uri="{BB962C8B-B14F-4D97-AF65-F5344CB8AC3E}">
        <p14:creationId xmlns:p14="http://schemas.microsoft.com/office/powerpoint/2010/main" val="11355559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normAutofit/>
          </a:bodyPr>
          <a:lstStyle/>
          <a:p>
            <a:r>
              <a:rPr lang="vi-VN"/>
              <a:t>Sử Dụng Các Lớp Trong GUI</a:t>
            </a:r>
            <a:endParaRPr lang="en-US">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22259" y="862149"/>
            <a:ext cx="9102490" cy="5967608"/>
          </a:xfrm>
        </p:spPr>
        <p:txBody>
          <a:bodyPr>
            <a:noAutofit/>
          </a:bodyPr>
          <a:lstStyle/>
          <a:p>
            <a:pPr marL="0" indent="0" algn="just">
              <a:buNone/>
            </a:pPr>
            <a:r>
              <a:rPr lang="vi-VN" sz="3200">
                <a:latin typeface="+mj-lt"/>
              </a:rPr>
              <a:t>8. Để thực hiện chuyển đổi, bạn cần mở cửa sổ Command Prompt, </a:t>
            </a:r>
            <a:r>
              <a:rPr lang="en-US" sz="3200">
                <a:latin typeface="Times New Roman" panose="02020603050405020304" pitchFamily="18" charset="0"/>
                <a:cs typeface="Times New Roman" panose="02020603050405020304" pitchFamily="18" charset="0"/>
              </a:rPr>
              <a:t>dẫn</a:t>
            </a:r>
            <a:r>
              <a:rPr lang="en-US" sz="3200">
                <a:latin typeface="+mj-lt"/>
              </a:rPr>
              <a:t> </a:t>
            </a:r>
            <a:r>
              <a:rPr lang="vi-VN" sz="3200">
                <a:latin typeface="+mj-lt"/>
              </a:rPr>
              <a:t>đến thư mục lưu file và đưa ra dòng lệnh sau:</a:t>
            </a:r>
            <a:endParaRPr lang="en-US" sz="3200">
              <a:latin typeface="+mj-lt"/>
            </a:endParaRPr>
          </a:p>
          <a:p>
            <a:pPr marL="0" indent="0" algn="just">
              <a:buNone/>
            </a:pPr>
            <a:r>
              <a:rPr lang="en-US" b="1" i="1">
                <a:latin typeface="Times New Roman" panose="02020603050405020304" pitchFamily="18" charset="0"/>
                <a:cs typeface="Times New Roman" panose="02020603050405020304" pitchFamily="18" charset="0"/>
              </a:rPr>
              <a:t>C:\Pythonbook\PyQt5&gt;pyuic5 LineEdit.uiClass -o LineEditClass.py</a:t>
            </a:r>
            <a:endParaRPr lang="vi-VN" i="1">
              <a:latin typeface="Times New Roman" panose="02020603050405020304" pitchFamily="18" charset="0"/>
              <a:cs typeface="Times New Roman" panose="02020603050405020304" pitchFamily="18" charset="0"/>
            </a:endParaRPr>
          </a:p>
          <a:p>
            <a:pPr marL="0" indent="0" algn="just">
              <a:buNone/>
            </a:pPr>
            <a:r>
              <a:rPr lang="vi-VN" sz="3200">
                <a:latin typeface="+mj-lt"/>
              </a:rPr>
              <a:t>9. Xử lý code trước đó dưới dạng file tiêu đề và nhập code vào file mà bạn sẽ gọi thiết kế giao diện người dùng của nó.</a:t>
            </a:r>
            <a:endParaRPr lang="en-US" sz="3200">
              <a:latin typeface="+mj-lt"/>
            </a:endParaRPr>
          </a:p>
          <a:p>
            <a:pPr marL="0" indent="0" algn="just">
              <a:buNone/>
            </a:pPr>
            <a:r>
              <a:rPr lang="vi-VN" sz="3200">
                <a:latin typeface="+mj-lt"/>
              </a:rPr>
              <a:t>10. Tạo một file Python khác có tên callLineEditClass.pyw và nhập code LineEditClass.py vào đó:</a:t>
            </a:r>
            <a:endParaRPr lang="en-US" sz="3200">
              <a:latin typeface="+mj-lt"/>
              <a:cs typeface="Times New Roman" panose="02020603050405020304" pitchFamily="18" charset="0"/>
            </a:endParaRPr>
          </a:p>
        </p:txBody>
      </p:sp>
    </p:spTree>
    <p:extLst>
      <p:ext uri="{BB962C8B-B14F-4D97-AF65-F5344CB8AC3E}">
        <p14:creationId xmlns:p14="http://schemas.microsoft.com/office/powerpoint/2010/main" val="38705915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normAutofit/>
          </a:bodyPr>
          <a:lstStyle/>
          <a:p>
            <a:r>
              <a:rPr lang="vi-VN"/>
              <a:t>Sử Dụng Các Lớp Trong GUI</a:t>
            </a:r>
            <a:endParaRPr lang="en-US">
              <a:latin typeface="Times New Roman" panose="02020603050405020304" pitchFamily="18" charset="0"/>
              <a:cs typeface="Times New Roman" panose="02020603050405020304" pitchFamily="18" charset="0"/>
            </a:endParaRPr>
          </a:p>
        </p:txBody>
      </p:sp>
      <p:pic>
        <p:nvPicPr>
          <p:cNvPr id="5" name="Content Placeholder 4" descr="sách Qt5-Python-GUI-Programming-Cookbook.pdf - Adobe Acrobat Reader DC">
            <a:extLst>
              <a:ext uri="{FF2B5EF4-FFF2-40B4-BE49-F238E27FC236}">
                <a16:creationId xmlns:a16="http://schemas.microsoft.com/office/drawing/2014/main" id="{C7B04526-E131-4D57-9B34-22AF533CA0BA}"/>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20151" t="34853" r="37232" b="41964"/>
          <a:stretch/>
        </p:blipFill>
        <p:spPr>
          <a:xfrm>
            <a:off x="471054" y="1014549"/>
            <a:ext cx="7232073" cy="4471851"/>
          </a:xfrm>
        </p:spPr>
      </p:pic>
    </p:spTree>
    <p:extLst>
      <p:ext uri="{BB962C8B-B14F-4D97-AF65-F5344CB8AC3E}">
        <p14:creationId xmlns:p14="http://schemas.microsoft.com/office/powerpoint/2010/main" val="22559400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normAutofit/>
          </a:bodyPr>
          <a:lstStyle/>
          <a:p>
            <a:r>
              <a:rPr lang="vi-VN"/>
              <a:t>Sử Dụng Các Lớp Trong GUI</a:t>
            </a:r>
            <a:endParaRPr lang="en-US">
              <a:latin typeface="Times New Roman" panose="02020603050405020304" pitchFamily="18" charset="0"/>
              <a:cs typeface="Times New Roman" panose="02020603050405020304" pitchFamily="18" charset="0"/>
            </a:endParaRPr>
          </a:p>
        </p:txBody>
      </p:sp>
      <p:pic>
        <p:nvPicPr>
          <p:cNvPr id="7" name="Content Placeholder 6" descr="sách Qt5-Python-GUI-Programming-Cookbook.pdf - Adobe Acrobat Reader DC">
            <a:extLst>
              <a:ext uri="{FF2B5EF4-FFF2-40B4-BE49-F238E27FC236}">
                <a16:creationId xmlns:a16="http://schemas.microsoft.com/office/drawing/2014/main" id="{3F8A9DE8-461F-4DA4-961F-4055BCB26E13}"/>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20607" t="36625" r="28405" b="13616"/>
          <a:stretch/>
        </p:blipFill>
        <p:spPr>
          <a:xfrm>
            <a:off x="623455" y="990600"/>
            <a:ext cx="7897089" cy="5465618"/>
          </a:xfrm>
        </p:spPr>
      </p:pic>
    </p:spTree>
    <p:extLst>
      <p:ext uri="{BB962C8B-B14F-4D97-AF65-F5344CB8AC3E}">
        <p14:creationId xmlns:p14="http://schemas.microsoft.com/office/powerpoint/2010/main" val="6834368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normAutofit/>
          </a:bodyPr>
          <a:lstStyle/>
          <a:p>
            <a:r>
              <a:rPr lang="vi-VN"/>
              <a:t>Sử Dụng Thừa Kế Đơn</a:t>
            </a:r>
            <a:endParaRPr lang="en-US">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C84C4AFE-BC01-40CF-B23A-FC3047DDCE27}"/>
              </a:ext>
            </a:extLst>
          </p:cNvPr>
          <p:cNvSpPr>
            <a:spLocks noGrp="1"/>
          </p:cNvSpPr>
          <p:nvPr>
            <p:ph idx="1"/>
          </p:nvPr>
        </p:nvSpPr>
        <p:spPr/>
        <p:txBody>
          <a:bodyPr>
            <a:normAutofit fontScale="92500" lnSpcReduction="20000"/>
          </a:bodyPr>
          <a:lstStyle/>
          <a:p>
            <a:pPr algn="just"/>
            <a:r>
              <a:rPr lang="vi-VN" sz="3200">
                <a:latin typeface="+mj-lt"/>
              </a:rPr>
              <a:t>Kế thừa đơn là loại thừa kế đơn giản nhất, trong đó một lớp được lấy từ một lớp đơn khác, như thể hiện trong sơ đồ sau:</a:t>
            </a:r>
            <a:endParaRPr lang="en-US" sz="3200">
              <a:latin typeface="+mj-lt"/>
            </a:endParaRPr>
          </a:p>
          <a:p>
            <a:pPr algn="just"/>
            <a:endParaRPr lang="en-US" sz="3200">
              <a:latin typeface="+mj-lt"/>
            </a:endParaRPr>
          </a:p>
          <a:p>
            <a:pPr algn="just"/>
            <a:endParaRPr lang="en-US" sz="3200">
              <a:latin typeface="+mj-lt"/>
            </a:endParaRPr>
          </a:p>
          <a:p>
            <a:pPr algn="just"/>
            <a:endParaRPr lang="en-US" sz="3200">
              <a:latin typeface="+mj-lt"/>
            </a:endParaRPr>
          </a:p>
          <a:p>
            <a:pPr algn="just"/>
            <a:endParaRPr lang="en-US" sz="3200">
              <a:latin typeface="+mj-lt"/>
            </a:endParaRPr>
          </a:p>
          <a:p>
            <a:pPr algn="just"/>
            <a:r>
              <a:rPr lang="vi-VN" sz="3500">
                <a:latin typeface="+mj-lt"/>
              </a:rPr>
              <a:t>Lớp B kế thừa lớp A. Ở đây, lớp A sẽ được gọi là siêu lớp hoặc lớp cơ sở và lớp B sẽ được gọi là lớp dẫn xuất hoặc lớp con.</a:t>
            </a:r>
            <a:endParaRPr lang="en-US" sz="3500">
              <a:latin typeface="+mj-lt"/>
            </a:endParaRPr>
          </a:p>
          <a:p>
            <a:pPr algn="just"/>
            <a:r>
              <a:rPr lang="vi-VN" sz="3500">
                <a:latin typeface="+mj-lt"/>
              </a:rPr>
              <a:t>Câu lệnh sau định nghĩa kế thừa đơn trong đó lớp Marks kế thừa lớp Student:</a:t>
            </a:r>
            <a:endParaRPr lang="en-US" sz="3500">
              <a:latin typeface="+mj-lt"/>
            </a:endParaRPr>
          </a:p>
          <a:p>
            <a:pPr marL="0" indent="0" algn="ctr">
              <a:buNone/>
            </a:pPr>
            <a:r>
              <a:rPr lang="vi-VN" sz="3500" b="1" i="1">
                <a:latin typeface="+mj-lt"/>
              </a:rPr>
              <a:t>class Marks(Student):</a:t>
            </a:r>
            <a:endParaRPr lang="en-US" sz="3500" b="1" i="1">
              <a:latin typeface="+mj-lt"/>
            </a:endParaRPr>
          </a:p>
        </p:txBody>
      </p:sp>
      <p:pic>
        <p:nvPicPr>
          <p:cNvPr id="6" name="Picture 5" descr="sách Qt5-Python-GUI-Programming-Cookbook.pdf - Adobe Acrobat Reader DC">
            <a:extLst>
              <a:ext uri="{FF2B5EF4-FFF2-40B4-BE49-F238E27FC236}">
                <a16:creationId xmlns:a16="http://schemas.microsoft.com/office/drawing/2014/main" id="{D94E6B3E-0191-4A97-A31D-1E84B23962BE}"/>
              </a:ext>
            </a:extLst>
          </p:cNvPr>
          <p:cNvPicPr>
            <a:picLocks noChangeAspect="1"/>
          </p:cNvPicPr>
          <p:nvPr/>
        </p:nvPicPr>
        <p:blipFill rotWithShape="1">
          <a:blip r:embed="rId2">
            <a:extLst>
              <a:ext uri="{28A0092B-C50C-407E-A947-70E740481C1C}">
                <a14:useLocalDpi xmlns:a14="http://schemas.microsoft.com/office/drawing/2010/main" val="0"/>
              </a:ext>
            </a:extLst>
          </a:blip>
          <a:srcRect l="40151" t="32971" r="54243" b="54082"/>
          <a:stretch/>
        </p:blipFill>
        <p:spPr>
          <a:xfrm>
            <a:off x="3380508" y="1842654"/>
            <a:ext cx="1191492" cy="1482436"/>
          </a:xfrm>
          <a:prstGeom prst="rect">
            <a:avLst/>
          </a:prstGeom>
        </p:spPr>
      </p:pic>
    </p:spTree>
    <p:extLst>
      <p:ext uri="{BB962C8B-B14F-4D97-AF65-F5344CB8AC3E}">
        <p14:creationId xmlns:p14="http://schemas.microsoft.com/office/powerpoint/2010/main" val="15347439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normAutofit/>
          </a:bodyPr>
          <a:lstStyle/>
          <a:p>
            <a:r>
              <a:rPr lang="vi-VN"/>
              <a:t>Sử Dụng Thừa Kế Đơn</a:t>
            </a:r>
            <a:endParaRPr lang="en-US">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C84C4AFE-BC01-40CF-B23A-FC3047DDCE27}"/>
              </a:ext>
            </a:extLst>
          </p:cNvPr>
          <p:cNvSpPr>
            <a:spLocks noGrp="1"/>
          </p:cNvSpPr>
          <p:nvPr>
            <p:ph idx="1"/>
          </p:nvPr>
        </p:nvSpPr>
        <p:spPr/>
        <p:txBody>
          <a:bodyPr>
            <a:normAutofit/>
          </a:bodyPr>
          <a:lstStyle/>
          <a:p>
            <a:pPr algn="just"/>
            <a:r>
              <a:rPr lang="vi-VN" sz="3200">
                <a:latin typeface="+mj-lt"/>
              </a:rPr>
              <a:t>Để hiểu khái niệm thừa kế đơn thông qua một ví dụ đang chạy, hãy tạo một ứng dụng sẽ nhắc người dùng nhập code, name và history</a:t>
            </a:r>
            <a:r>
              <a:rPr lang="en-US" sz="3200">
                <a:latin typeface="+mj-lt"/>
              </a:rPr>
              <a:t>,</a:t>
            </a:r>
            <a:r>
              <a:rPr lang="vi-VN" sz="3200">
                <a:latin typeface="+mj-lt"/>
              </a:rPr>
              <a:t> geography marks của một Student</a:t>
            </a:r>
            <a:r>
              <a:rPr lang="vi-VN" sz="3200"/>
              <a:t> </a:t>
            </a:r>
            <a:r>
              <a:rPr lang="vi-VN" sz="3200">
                <a:latin typeface="+mj-lt"/>
              </a:rPr>
              <a:t>và sẽ hiển thị chúng khi nhấp vào nút.</a:t>
            </a:r>
            <a:endParaRPr lang="en-US" sz="3200">
              <a:latin typeface="+mj-lt"/>
            </a:endParaRPr>
          </a:p>
          <a:p>
            <a:pPr algn="just"/>
            <a:r>
              <a:rPr lang="vi-VN" sz="3200">
                <a:latin typeface="+mj-lt"/>
              </a:rPr>
              <a:t>Code và name được nhập bởi người dùng sẽ được gán cho các thành viên của lớp có tên là Student. Các history và geography sẽ được gán cho các thành viên của lớp khác gọi là Marks. Để truy cập code</a:t>
            </a:r>
            <a:r>
              <a:rPr lang="en-US" sz="3200">
                <a:latin typeface="+mj-lt"/>
              </a:rPr>
              <a:t> </a:t>
            </a:r>
            <a:r>
              <a:rPr lang="en-US" sz="3200">
                <a:latin typeface="Times New Roman" panose="02020603050405020304" pitchFamily="18" charset="0"/>
                <a:cs typeface="Times New Roman" panose="02020603050405020304" pitchFamily="18" charset="0"/>
              </a:rPr>
              <a:t>và</a:t>
            </a:r>
            <a:r>
              <a:rPr lang="vi-VN" sz="3200">
                <a:latin typeface="+mj-lt"/>
              </a:rPr>
              <a:t> name , cùng với các history và geography, lớp Marks sẽ kế thừa lớp Student. Sử dụng tính kế thừa, thể hiện của lớp Marks sẽ truy cập và hiển thị code và name của lớp Student.</a:t>
            </a:r>
            <a:endParaRPr lang="en-US" sz="3500" b="1" i="1">
              <a:latin typeface="+mj-lt"/>
            </a:endParaRPr>
          </a:p>
        </p:txBody>
      </p:sp>
    </p:spTree>
    <p:extLst>
      <p:ext uri="{BB962C8B-B14F-4D97-AF65-F5344CB8AC3E}">
        <p14:creationId xmlns:p14="http://schemas.microsoft.com/office/powerpoint/2010/main" val="17446989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normAutofit/>
          </a:bodyPr>
          <a:lstStyle/>
          <a:p>
            <a:r>
              <a:rPr lang="vi-VN"/>
              <a:t>Sử Dụng Thừa Kế Đơn</a:t>
            </a:r>
            <a:endParaRPr lang="en-US">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C84C4AFE-BC01-40CF-B23A-FC3047DDCE27}"/>
              </a:ext>
            </a:extLst>
          </p:cNvPr>
          <p:cNvSpPr>
            <a:spLocks noGrp="1"/>
          </p:cNvSpPr>
          <p:nvPr>
            <p:ph idx="1"/>
          </p:nvPr>
        </p:nvSpPr>
        <p:spPr/>
        <p:txBody>
          <a:bodyPr>
            <a:noAutofit/>
          </a:bodyPr>
          <a:lstStyle/>
          <a:p>
            <a:pPr algn="just"/>
            <a:r>
              <a:rPr lang="vi-VN" sz="3200">
                <a:latin typeface="+mj-lt"/>
              </a:rPr>
              <a:t>Khởi chạy Qt Designer và tạo một ứng dụng mới dựa trên mẫu Dialog without Buttons bằng cách thực hiện các bước sau:</a:t>
            </a:r>
            <a:endParaRPr lang="en-US" sz="3200">
              <a:latin typeface="+mj-lt"/>
            </a:endParaRPr>
          </a:p>
          <a:p>
            <a:pPr marL="514350" indent="-514350" algn="just">
              <a:buAutoNum type="arabicPeriod"/>
            </a:pPr>
            <a:r>
              <a:rPr lang="vi-VN" sz="3200">
                <a:latin typeface="+mj-lt"/>
              </a:rPr>
              <a:t>Trong ứng dụng, kéo và thả năm tiện ích Label, bốn tiện ích Line Edit và một tiện ích Push Button vào form.</a:t>
            </a:r>
            <a:endParaRPr lang="en-US" sz="3200">
              <a:latin typeface="+mj-lt"/>
            </a:endParaRPr>
          </a:p>
          <a:p>
            <a:pPr marL="514350" indent="-514350" algn="just">
              <a:buAutoNum type="arabicPeriod"/>
            </a:pPr>
            <a:r>
              <a:rPr lang="vi-VN" sz="3200">
                <a:latin typeface="+mj-lt"/>
              </a:rPr>
              <a:t>Đặt thuộc tính text của bốn tiện ích Label thành Mã Student</a:t>
            </a:r>
            <a:r>
              <a:rPr lang="en-US" sz="3200">
                <a:latin typeface="+mj-lt"/>
              </a:rPr>
              <a:t> </a:t>
            </a:r>
            <a:r>
              <a:rPr lang="en-US" sz="3200">
                <a:latin typeface="Times New Roman" panose="02020603050405020304" pitchFamily="18" charset="0"/>
                <a:cs typeface="Times New Roman" panose="02020603050405020304" pitchFamily="18" charset="0"/>
              </a:rPr>
              <a:t>Code</a:t>
            </a:r>
            <a:r>
              <a:rPr lang="vi-VN" sz="3200">
                <a:latin typeface="+mj-lt"/>
              </a:rPr>
              <a:t>, Student</a:t>
            </a:r>
            <a:r>
              <a:rPr lang="en-US" sz="3200">
                <a:latin typeface="+mj-lt"/>
              </a:rPr>
              <a:t> </a:t>
            </a:r>
            <a:r>
              <a:rPr lang="en-US" sz="3200">
                <a:latin typeface="Times New Roman" panose="02020603050405020304" pitchFamily="18" charset="0"/>
                <a:cs typeface="Times New Roman" panose="02020603050405020304" pitchFamily="18" charset="0"/>
              </a:rPr>
              <a:t>Name</a:t>
            </a:r>
            <a:r>
              <a:rPr lang="vi-VN" sz="3200">
                <a:latin typeface="+mj-lt"/>
              </a:rPr>
              <a:t>, History Marks và Geography Marks.</a:t>
            </a:r>
            <a:endParaRPr lang="en-US" sz="3200">
              <a:latin typeface="+mj-lt"/>
            </a:endParaRPr>
          </a:p>
          <a:p>
            <a:pPr marL="514350" indent="-514350" algn="just">
              <a:buAutoNum type="arabicPeriod"/>
            </a:pPr>
            <a:r>
              <a:rPr lang="vi-VN" sz="3200">
                <a:latin typeface="+mj-lt"/>
              </a:rPr>
              <a:t>Xóa thuộc tính text của tiện ích Label thứ năm, vì thuộc tính text của nó sẽ được đặt thông qua Code</a:t>
            </a:r>
            <a:r>
              <a:rPr lang="en-US" sz="3200">
                <a:latin typeface="+mj-lt"/>
              </a:rPr>
              <a:t> </a:t>
            </a:r>
            <a:r>
              <a:rPr lang="vi-VN" sz="3200">
                <a:latin typeface="+mj-lt"/>
              </a:rPr>
              <a:t> để hiển thị Code, Name và history</a:t>
            </a:r>
            <a:r>
              <a:rPr lang="en-US" sz="3200">
                <a:latin typeface="+mj-lt"/>
              </a:rPr>
              <a:t>,</a:t>
            </a:r>
            <a:r>
              <a:rPr lang="vi-VN" sz="3200">
                <a:latin typeface="+mj-lt"/>
              </a:rPr>
              <a:t> các geography marks.</a:t>
            </a:r>
            <a:endParaRPr lang="en-US" sz="3200" b="1" i="1">
              <a:latin typeface="+mj-lt"/>
            </a:endParaRPr>
          </a:p>
        </p:txBody>
      </p:sp>
    </p:spTree>
    <p:extLst>
      <p:ext uri="{BB962C8B-B14F-4D97-AF65-F5344CB8AC3E}">
        <p14:creationId xmlns:p14="http://schemas.microsoft.com/office/powerpoint/2010/main" val="20815898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normAutofit/>
          </a:bodyPr>
          <a:lstStyle/>
          <a:p>
            <a:r>
              <a:rPr lang="vi-VN"/>
              <a:t>Sử Dụng Thừa Kế Đơn</a:t>
            </a:r>
            <a:endParaRPr lang="en-US">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C84C4AFE-BC01-40CF-B23A-FC3047DDCE27}"/>
              </a:ext>
            </a:extLst>
          </p:cNvPr>
          <p:cNvSpPr>
            <a:spLocks noGrp="1"/>
          </p:cNvSpPr>
          <p:nvPr>
            <p:ph idx="1"/>
          </p:nvPr>
        </p:nvSpPr>
        <p:spPr/>
        <p:txBody>
          <a:bodyPr>
            <a:noAutofit/>
          </a:bodyPr>
          <a:lstStyle/>
          <a:p>
            <a:pPr marL="0" indent="0" algn="just">
              <a:buNone/>
            </a:pPr>
            <a:r>
              <a:rPr lang="vi-VN" sz="3200">
                <a:latin typeface="+mj-lt"/>
              </a:rPr>
              <a:t>4. Đặt thuộc tính text của tiện ích Push Button thành </a:t>
            </a:r>
            <a:r>
              <a:rPr lang="vi-VN" sz="3200" b="1" i="1">
                <a:latin typeface="+mj-lt"/>
              </a:rPr>
              <a:t>Click</a:t>
            </a:r>
            <a:r>
              <a:rPr lang="vi-VN" sz="3200">
                <a:latin typeface="+mj-lt"/>
              </a:rPr>
              <a:t>.</a:t>
            </a:r>
            <a:endParaRPr lang="en-US" sz="3200">
              <a:latin typeface="+mj-lt"/>
            </a:endParaRPr>
          </a:p>
          <a:p>
            <a:pPr marL="0" indent="0" algn="just">
              <a:buNone/>
            </a:pPr>
            <a:r>
              <a:rPr lang="vi-VN" sz="3200">
                <a:latin typeface="+mj-lt"/>
              </a:rPr>
              <a:t>5. Đặt thuộc tính objectName của bốn tiện ích Line Edit thành lineEditCode, lineEditName, lineEditHistoryMarks và lineEditGeographyMarks.</a:t>
            </a:r>
            <a:endParaRPr lang="en-US" sz="3200">
              <a:latin typeface="+mj-lt"/>
            </a:endParaRPr>
          </a:p>
          <a:p>
            <a:pPr marL="0" indent="0" algn="just">
              <a:buNone/>
            </a:pPr>
            <a:r>
              <a:rPr lang="vi-VN" sz="3200">
                <a:latin typeface="+mj-lt"/>
              </a:rPr>
              <a:t>6. Đặt thuộc tính objectName của tiện ích Label thành labelResponse và thuộc tính objectName của tiện ích Push Button thành ButtonClickMe.</a:t>
            </a:r>
            <a:endParaRPr lang="en-US" sz="3200">
              <a:latin typeface="+mj-lt"/>
            </a:endParaRPr>
          </a:p>
          <a:p>
            <a:pPr marL="0" indent="0" algn="just">
              <a:buNone/>
            </a:pPr>
            <a:r>
              <a:rPr lang="vi-VN" sz="3200">
                <a:latin typeface="+mj-lt"/>
              </a:rPr>
              <a:t>7. Lưu ứng dụng với tên demoSimpleInherribution.ui. Ứng dụng sẽ xuất hiện như trong ảnh chụp màn hình sau:</a:t>
            </a:r>
            <a:endParaRPr lang="en-US" sz="3200" b="1" i="1">
              <a:latin typeface="+mj-lt"/>
            </a:endParaRPr>
          </a:p>
        </p:txBody>
      </p:sp>
    </p:spTree>
    <p:extLst>
      <p:ext uri="{BB962C8B-B14F-4D97-AF65-F5344CB8AC3E}">
        <p14:creationId xmlns:p14="http://schemas.microsoft.com/office/powerpoint/2010/main" val="19394151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normAutofit/>
          </a:bodyPr>
          <a:lstStyle/>
          <a:p>
            <a:r>
              <a:rPr lang="vi-VN"/>
              <a:t>Sử Dụng Thừa Kế Đơn</a:t>
            </a:r>
            <a:endParaRPr lang="en-US">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842BD678-DC2A-47C9-AC75-531CAFF8F51B}"/>
              </a:ext>
            </a:extLst>
          </p:cNvPr>
          <p:cNvSpPr>
            <a:spLocks noGrp="1"/>
          </p:cNvSpPr>
          <p:nvPr>
            <p:ph idx="1"/>
          </p:nvPr>
        </p:nvSpPr>
        <p:spPr/>
        <p:txBody>
          <a:bodyPr>
            <a:normAutofit fontScale="85000" lnSpcReduction="20000"/>
          </a:bodyPr>
          <a:lstStyle/>
          <a:p>
            <a:pPr marL="0" indent="0">
              <a:buNone/>
            </a:pPr>
            <a:endParaRPr lang="en-US"/>
          </a:p>
          <a:p>
            <a:pPr marL="0" indent="0">
              <a:buNone/>
            </a:pPr>
            <a:endParaRPr lang="en-US"/>
          </a:p>
          <a:p>
            <a:pPr marL="0" indent="0">
              <a:buNone/>
            </a:pPr>
            <a:endParaRPr lang="en-US"/>
          </a:p>
          <a:p>
            <a:pPr marL="0" indent="0">
              <a:buNone/>
            </a:pPr>
            <a:endParaRPr lang="en-US"/>
          </a:p>
          <a:p>
            <a:pPr marL="0" indent="0">
              <a:buNone/>
            </a:pPr>
            <a:endParaRPr lang="en-US"/>
          </a:p>
          <a:p>
            <a:pPr marL="0" indent="0">
              <a:buNone/>
            </a:pPr>
            <a:endParaRPr lang="en-US"/>
          </a:p>
          <a:p>
            <a:pPr marL="0" indent="0">
              <a:buNone/>
            </a:pPr>
            <a:endParaRPr lang="en-US"/>
          </a:p>
          <a:p>
            <a:pPr marL="0" indent="0">
              <a:buNone/>
            </a:pPr>
            <a:endParaRPr lang="en-US"/>
          </a:p>
          <a:p>
            <a:pPr marL="0" indent="0" algn="just">
              <a:buNone/>
            </a:pPr>
            <a:r>
              <a:rPr lang="vi-VN" sz="3800">
                <a:latin typeface="+mj-lt"/>
              </a:rPr>
              <a:t>File giao diện người dùng, demoSimpleInherribution.ui, là file</a:t>
            </a:r>
            <a:r>
              <a:rPr lang="en-US" sz="3800">
                <a:latin typeface="+mj-lt"/>
              </a:rPr>
              <a:t> </a:t>
            </a:r>
            <a:r>
              <a:rPr lang="vi-VN" sz="3800">
                <a:latin typeface="+mj-lt"/>
              </a:rPr>
              <a:t>XML và được chuyển đổi thành code Python bằng tiện ích pyuic5. Code trước sẽ được sử dụng làm file tiêu đề và sẽ được nhập vào file kịch bản Python khác, sẽ gọi thiết kế giao diện người dùng được xác định trong file demoSimpleInherribution.py.</a:t>
            </a:r>
            <a:endParaRPr lang="en-US" sz="3800">
              <a:latin typeface="+mj-lt"/>
            </a:endParaRPr>
          </a:p>
          <a:p>
            <a:pPr marL="0" indent="0" algn="just">
              <a:buNone/>
            </a:pPr>
            <a:endParaRPr lang="en-US" sz="3800"/>
          </a:p>
        </p:txBody>
      </p:sp>
      <p:pic>
        <p:nvPicPr>
          <p:cNvPr id="7" name="Content Placeholder 4" descr="sách Qt5-Python-GUI-Programming-Cookbook.pdf - Adobe Acrobat Reader DC">
            <a:extLst>
              <a:ext uri="{FF2B5EF4-FFF2-40B4-BE49-F238E27FC236}">
                <a16:creationId xmlns:a16="http://schemas.microsoft.com/office/drawing/2014/main" id="{9460E450-6645-4D61-AD1D-AD04BD172ED9}"/>
              </a:ext>
            </a:extLst>
          </p:cNvPr>
          <p:cNvPicPr>
            <a:picLocks noChangeAspect="1"/>
          </p:cNvPicPr>
          <p:nvPr/>
        </p:nvPicPr>
        <p:blipFill rotWithShape="1">
          <a:blip r:embed="rId2">
            <a:extLst>
              <a:ext uri="{28A0092B-C50C-407E-A947-70E740481C1C}">
                <a14:useLocalDpi xmlns:a14="http://schemas.microsoft.com/office/drawing/2010/main" val="0"/>
              </a:ext>
            </a:extLst>
          </a:blip>
          <a:srcRect l="23956" t="28992" r="38754" b="16726"/>
          <a:stretch/>
        </p:blipFill>
        <p:spPr>
          <a:xfrm>
            <a:off x="2064327" y="952204"/>
            <a:ext cx="3394364" cy="2660074"/>
          </a:xfrm>
          <a:prstGeom prst="rect">
            <a:avLst/>
          </a:prstGeom>
        </p:spPr>
      </p:pic>
    </p:spTree>
    <p:extLst>
      <p:ext uri="{BB962C8B-B14F-4D97-AF65-F5344CB8AC3E}">
        <p14:creationId xmlns:p14="http://schemas.microsoft.com/office/powerpoint/2010/main" val="41206854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normAutofit/>
          </a:bodyPr>
          <a:lstStyle/>
          <a:p>
            <a:r>
              <a:rPr lang="vi-VN"/>
              <a:t>Sử Dụng Thừa Kế Đơn</a:t>
            </a:r>
            <a:endParaRPr lang="en-US">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842BD678-DC2A-47C9-AC75-531CAFF8F51B}"/>
              </a:ext>
            </a:extLst>
          </p:cNvPr>
          <p:cNvSpPr>
            <a:spLocks noGrp="1"/>
          </p:cNvSpPr>
          <p:nvPr>
            <p:ph idx="1"/>
          </p:nvPr>
        </p:nvSpPr>
        <p:spPr/>
        <p:txBody>
          <a:bodyPr>
            <a:normAutofit/>
          </a:bodyPr>
          <a:lstStyle/>
          <a:p>
            <a:pPr marL="0" indent="0" algn="just">
              <a:buNone/>
            </a:pPr>
            <a:r>
              <a:rPr lang="vi-VN" sz="3200">
                <a:latin typeface="+mj-lt"/>
              </a:rPr>
              <a:t>8. Tạo một file Python khác với tên callSimpleInherribution.pyw và nhập code demoSimpleInherribution.py vào nó. Code trong tập lệnh Python</a:t>
            </a:r>
            <a:r>
              <a:rPr lang="en-US" sz="3200">
                <a:latin typeface="+mj-lt"/>
              </a:rPr>
              <a:t> </a:t>
            </a:r>
            <a:r>
              <a:rPr lang="vi-VN" sz="3200">
                <a:latin typeface="+mj-lt"/>
              </a:rPr>
              <a:t> callSimpleInherribution.pyw, như </a:t>
            </a:r>
            <a:r>
              <a:rPr lang="en-US" sz="3200">
                <a:latin typeface="Times New Roman" panose="02020603050405020304" pitchFamily="18" charset="0"/>
                <a:cs typeface="Times New Roman" panose="02020603050405020304" pitchFamily="18" charset="0"/>
              </a:rPr>
              <a:t>sau</a:t>
            </a:r>
            <a:r>
              <a:rPr lang="vi-VN" sz="3200">
                <a:latin typeface="+mj-lt"/>
              </a:rPr>
              <a:t>:</a:t>
            </a:r>
            <a:endParaRPr lang="en-US" sz="3200">
              <a:latin typeface="+mj-lt"/>
            </a:endParaRPr>
          </a:p>
          <a:p>
            <a:endParaRPr lang="en-US"/>
          </a:p>
        </p:txBody>
      </p:sp>
      <p:pic>
        <p:nvPicPr>
          <p:cNvPr id="4" name="Picture 3" descr="sách Qt5-Python-GUI-Programming-Cookbook.pdf - Adobe Acrobat Reader DC">
            <a:extLst>
              <a:ext uri="{FF2B5EF4-FFF2-40B4-BE49-F238E27FC236}">
                <a16:creationId xmlns:a16="http://schemas.microsoft.com/office/drawing/2014/main" id="{13322D3F-22FA-4242-8F4A-A657F336D4B1}"/>
              </a:ext>
            </a:extLst>
          </p:cNvPr>
          <p:cNvPicPr>
            <a:picLocks noChangeAspect="1"/>
          </p:cNvPicPr>
          <p:nvPr/>
        </p:nvPicPr>
        <p:blipFill rotWithShape="1">
          <a:blip r:embed="rId2">
            <a:extLst>
              <a:ext uri="{28A0092B-C50C-407E-A947-70E740481C1C}">
                <a14:useLocalDpi xmlns:a14="http://schemas.microsoft.com/office/drawing/2010/main" val="0"/>
              </a:ext>
            </a:extLst>
          </a:blip>
          <a:srcRect l="19546" t="18338" r="38030" b="12427"/>
          <a:stretch/>
        </p:blipFill>
        <p:spPr>
          <a:xfrm>
            <a:off x="692727" y="2895600"/>
            <a:ext cx="7467600" cy="3782291"/>
          </a:xfrm>
          <a:prstGeom prst="rect">
            <a:avLst/>
          </a:prstGeom>
        </p:spPr>
      </p:pic>
    </p:spTree>
    <p:extLst>
      <p:ext uri="{BB962C8B-B14F-4D97-AF65-F5344CB8AC3E}">
        <p14:creationId xmlns:p14="http://schemas.microsoft.com/office/powerpoint/2010/main" val="38542882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normAutofit/>
          </a:bodyPr>
          <a:lstStyle/>
          <a:p>
            <a:r>
              <a:rPr lang="vi-VN"/>
              <a:t>Sử Dụng Thừa Kế Đơn</a:t>
            </a:r>
            <a:endParaRPr lang="en-US">
              <a:latin typeface="Times New Roman" panose="02020603050405020304" pitchFamily="18" charset="0"/>
              <a:cs typeface="Times New Roman" panose="02020603050405020304" pitchFamily="18" charset="0"/>
            </a:endParaRPr>
          </a:p>
        </p:txBody>
      </p:sp>
      <p:pic>
        <p:nvPicPr>
          <p:cNvPr id="5" name="Content Placeholder 4" descr="sách Qt5-Python-GUI-Programming-Cookbook.pdf - Adobe Acrobat Reader DC">
            <a:extLst>
              <a:ext uri="{FF2B5EF4-FFF2-40B4-BE49-F238E27FC236}">
                <a16:creationId xmlns:a16="http://schemas.microsoft.com/office/drawing/2014/main" id="{ACF2FEC8-D9FB-49DB-9C40-F3DEC7FE04C7}"/>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20151" t="22772" r="29622" b="48108"/>
          <a:stretch/>
        </p:blipFill>
        <p:spPr>
          <a:xfrm>
            <a:off x="471054" y="862147"/>
            <a:ext cx="7509163" cy="2566852"/>
          </a:xfrm>
        </p:spPr>
      </p:pic>
      <p:pic>
        <p:nvPicPr>
          <p:cNvPr id="8" name="Picture 7" descr="sách Qt5-Python-GUI-Programming-Cookbook.pdf - Adobe Acrobat Reader DC">
            <a:extLst>
              <a:ext uri="{FF2B5EF4-FFF2-40B4-BE49-F238E27FC236}">
                <a16:creationId xmlns:a16="http://schemas.microsoft.com/office/drawing/2014/main" id="{5E5D7B1B-4D6C-4EE2-9A83-F0775C61CD86}"/>
              </a:ext>
            </a:extLst>
          </p:cNvPr>
          <p:cNvPicPr>
            <a:picLocks noChangeAspect="1"/>
          </p:cNvPicPr>
          <p:nvPr/>
        </p:nvPicPr>
        <p:blipFill rotWithShape="1">
          <a:blip r:embed="rId3">
            <a:extLst>
              <a:ext uri="{28A0092B-C50C-407E-A947-70E740481C1C}">
                <a14:useLocalDpi xmlns:a14="http://schemas.microsoft.com/office/drawing/2010/main" val="0"/>
              </a:ext>
            </a:extLst>
          </a:blip>
          <a:srcRect l="21364" t="44793" r="28787" b="23404"/>
          <a:stretch/>
        </p:blipFill>
        <p:spPr>
          <a:xfrm>
            <a:off x="609600" y="3428999"/>
            <a:ext cx="7772400" cy="3325091"/>
          </a:xfrm>
          <a:prstGeom prst="rect">
            <a:avLst/>
          </a:prstGeom>
        </p:spPr>
      </p:pic>
    </p:spTree>
    <p:extLst>
      <p:ext uri="{BB962C8B-B14F-4D97-AF65-F5344CB8AC3E}">
        <p14:creationId xmlns:p14="http://schemas.microsoft.com/office/powerpoint/2010/main" val="13095280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normAutofit/>
          </a:bodyPr>
          <a:lstStyle/>
          <a:p>
            <a:r>
              <a:rPr lang="vi-VN"/>
              <a:t>Sử Dụng Thừa Kế Đa Cấp</a:t>
            </a:r>
            <a:endParaRPr lang="en-US">
              <a:latin typeface="Times New Roman" panose="02020603050405020304" pitchFamily="18" charset="0"/>
              <a:cs typeface="Times New Roman" panose="02020603050405020304" pitchFamily="18" charset="0"/>
            </a:endParaRPr>
          </a:p>
        </p:txBody>
      </p:sp>
      <p:sp>
        <p:nvSpPr>
          <p:cNvPr id="7" name="Content Placeholder 6">
            <a:extLst>
              <a:ext uri="{FF2B5EF4-FFF2-40B4-BE49-F238E27FC236}">
                <a16:creationId xmlns:a16="http://schemas.microsoft.com/office/drawing/2014/main" id="{17A348A7-B456-41EA-9366-738C2D5EA411}"/>
              </a:ext>
            </a:extLst>
          </p:cNvPr>
          <p:cNvSpPr>
            <a:spLocks noGrp="1"/>
          </p:cNvSpPr>
          <p:nvPr>
            <p:ph idx="1"/>
          </p:nvPr>
        </p:nvSpPr>
        <p:spPr/>
        <p:txBody>
          <a:bodyPr>
            <a:normAutofit/>
          </a:bodyPr>
          <a:lstStyle/>
          <a:p>
            <a:pPr algn="just"/>
            <a:r>
              <a:rPr lang="vi-VN" sz="3200">
                <a:latin typeface="+mj-lt"/>
              </a:rPr>
              <a:t>Kế thừa đa cấp là nơi một lớp kế thừa một lớp đơn khác. Lần lượt lớp kế thừa được kế thừa bởi lớp thứ ba, như thể hiện trong sơ đồ sau:</a:t>
            </a:r>
            <a:endParaRPr lang="en-US" sz="3200">
              <a:latin typeface="+mj-lt"/>
            </a:endParaRPr>
          </a:p>
          <a:p>
            <a:pPr algn="just"/>
            <a:endParaRPr lang="en-US" sz="3200">
              <a:latin typeface="+mj-lt"/>
            </a:endParaRPr>
          </a:p>
          <a:p>
            <a:pPr algn="just"/>
            <a:endParaRPr lang="en-US" sz="3200">
              <a:latin typeface="+mj-lt"/>
            </a:endParaRPr>
          </a:p>
          <a:p>
            <a:pPr algn="just"/>
            <a:r>
              <a:rPr lang="vi-VN" sz="3200">
                <a:latin typeface="+mj-lt"/>
              </a:rPr>
              <a:t>Trong sơ đồ trước, bạn có thể thấy rằng lớp B kế thừa lớp A và lớp C lần lượt kế thừa lớp B.</a:t>
            </a:r>
            <a:br>
              <a:rPr lang="vi-VN" sz="3200">
                <a:latin typeface="+mj-lt"/>
              </a:rPr>
            </a:br>
            <a:r>
              <a:rPr lang="vi-VN" sz="3200">
                <a:latin typeface="+mj-lt"/>
              </a:rPr>
              <a:t>Câu lệnh sau định nghĩa thừa kế đa cấp, trong đó lớp </a:t>
            </a:r>
            <a:r>
              <a:rPr lang="vi-VN" sz="3200" i="1">
                <a:latin typeface="+mj-lt"/>
              </a:rPr>
              <a:t>Result</a:t>
            </a:r>
            <a:r>
              <a:rPr lang="en-US" sz="3200">
                <a:latin typeface="+mj-lt"/>
              </a:rPr>
              <a:t> </a:t>
            </a:r>
            <a:r>
              <a:rPr lang="vi-VN" sz="3200">
                <a:latin typeface="+mj-lt"/>
              </a:rPr>
              <a:t>kế thừa lớp </a:t>
            </a:r>
            <a:r>
              <a:rPr lang="vi-VN" sz="3200" i="1">
                <a:latin typeface="+mj-lt"/>
              </a:rPr>
              <a:t>Marks</a:t>
            </a:r>
            <a:r>
              <a:rPr lang="vi-VN" sz="3200">
                <a:latin typeface="+mj-lt"/>
              </a:rPr>
              <a:t> và lớp </a:t>
            </a:r>
            <a:r>
              <a:rPr lang="vi-VN" sz="3200" i="1">
                <a:latin typeface="+mj-lt"/>
              </a:rPr>
              <a:t>Marks</a:t>
            </a:r>
            <a:r>
              <a:rPr lang="vi-VN" sz="3200">
                <a:latin typeface="+mj-lt"/>
              </a:rPr>
              <a:t> lần lượt kế thừa lớp Student:</a:t>
            </a:r>
            <a:endParaRPr lang="en-US" sz="3200">
              <a:latin typeface="+mj-lt"/>
            </a:endParaRPr>
          </a:p>
        </p:txBody>
      </p:sp>
      <p:pic>
        <p:nvPicPr>
          <p:cNvPr id="12" name="Picture 11" descr="sách Qt5-Python-GUI-Programming-Cookbook.pdf - Adobe Acrobat Reader DC">
            <a:extLst>
              <a:ext uri="{FF2B5EF4-FFF2-40B4-BE49-F238E27FC236}">
                <a16:creationId xmlns:a16="http://schemas.microsoft.com/office/drawing/2014/main" id="{353CA56F-DC46-44A7-91DA-D3A48CC52661}"/>
              </a:ext>
            </a:extLst>
          </p:cNvPr>
          <p:cNvPicPr>
            <a:picLocks noChangeAspect="1"/>
          </p:cNvPicPr>
          <p:nvPr/>
        </p:nvPicPr>
        <p:blipFill rotWithShape="1">
          <a:blip r:embed="rId2">
            <a:extLst>
              <a:ext uri="{28A0092B-C50C-407E-A947-70E740481C1C}">
                <a14:useLocalDpi xmlns:a14="http://schemas.microsoft.com/office/drawing/2010/main" val="0"/>
              </a:ext>
            </a:extLst>
          </a:blip>
          <a:srcRect l="40000" t="25373" r="54546" b="54644"/>
          <a:stretch/>
        </p:blipFill>
        <p:spPr>
          <a:xfrm>
            <a:off x="5888182" y="2064327"/>
            <a:ext cx="1579418" cy="1537855"/>
          </a:xfrm>
          <a:prstGeom prst="rect">
            <a:avLst/>
          </a:prstGeom>
        </p:spPr>
      </p:pic>
    </p:spTree>
    <p:extLst>
      <p:ext uri="{BB962C8B-B14F-4D97-AF65-F5344CB8AC3E}">
        <p14:creationId xmlns:p14="http://schemas.microsoft.com/office/powerpoint/2010/main" val="27480701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normAutofit/>
          </a:bodyPr>
          <a:lstStyle/>
          <a:p>
            <a:r>
              <a:rPr lang="vi-VN"/>
              <a:t>Sử Dụng Thừa Kế Đa Cấp</a:t>
            </a:r>
            <a:endParaRPr lang="en-US">
              <a:latin typeface="Times New Roman" panose="02020603050405020304" pitchFamily="18" charset="0"/>
              <a:cs typeface="Times New Roman" panose="02020603050405020304" pitchFamily="18" charset="0"/>
            </a:endParaRPr>
          </a:p>
        </p:txBody>
      </p:sp>
      <p:sp>
        <p:nvSpPr>
          <p:cNvPr id="7" name="Content Placeholder 6">
            <a:extLst>
              <a:ext uri="{FF2B5EF4-FFF2-40B4-BE49-F238E27FC236}">
                <a16:creationId xmlns:a16="http://schemas.microsoft.com/office/drawing/2014/main" id="{17A348A7-B456-41EA-9366-738C2D5EA411}"/>
              </a:ext>
            </a:extLst>
          </p:cNvPr>
          <p:cNvSpPr>
            <a:spLocks noGrp="1"/>
          </p:cNvSpPr>
          <p:nvPr>
            <p:ph idx="1"/>
          </p:nvPr>
        </p:nvSpPr>
        <p:spPr/>
        <p:txBody>
          <a:bodyPr>
            <a:normAutofit/>
          </a:bodyPr>
          <a:lstStyle/>
          <a:p>
            <a:pPr marL="0" indent="0">
              <a:buNone/>
            </a:pPr>
            <a:r>
              <a:rPr lang="en-US" sz="3200" b="1" i="1">
                <a:latin typeface="Times New Roman" panose="02020603050405020304" pitchFamily="18" charset="0"/>
                <a:cs typeface="Times New Roman" panose="02020603050405020304" pitchFamily="18" charset="0"/>
              </a:rPr>
              <a:t>class Student:</a:t>
            </a:r>
          </a:p>
          <a:p>
            <a:pPr marL="0" indent="0">
              <a:buNone/>
            </a:pPr>
            <a:r>
              <a:rPr lang="en-US" sz="3200" b="1" i="1">
                <a:latin typeface="Times New Roman" panose="02020603050405020304" pitchFamily="18" charset="0"/>
                <a:cs typeface="Times New Roman" panose="02020603050405020304" pitchFamily="18" charset="0"/>
              </a:rPr>
              <a:t>	class Marks(Student):</a:t>
            </a:r>
          </a:p>
          <a:p>
            <a:pPr marL="0" indent="0">
              <a:buNone/>
            </a:pPr>
            <a:r>
              <a:rPr lang="en-US" sz="3200" b="1" i="1">
                <a:latin typeface="Times New Roman" panose="02020603050405020304" pitchFamily="18" charset="0"/>
                <a:cs typeface="Times New Roman" panose="02020603050405020304" pitchFamily="18" charset="0"/>
              </a:rPr>
              <a:t>		class Result(Marks):</a:t>
            </a:r>
          </a:p>
          <a:p>
            <a:pPr marL="0" indent="0" algn="just">
              <a:buNone/>
            </a:pPr>
            <a:r>
              <a:rPr lang="vi-VN" sz="3200">
                <a:latin typeface="+mj-lt"/>
              </a:rPr>
              <a:t>Để hiểu khái niệm thừa kế đa cấp, hãy tạo một ứng dụng sẽ nhắc người dùng nhập </a:t>
            </a:r>
            <a:r>
              <a:rPr lang="en-US" sz="3200">
                <a:latin typeface="Times New Roman" panose="02020603050405020304" pitchFamily="18" charset="0"/>
                <a:cs typeface="Times New Roman" panose="02020603050405020304" pitchFamily="18" charset="0"/>
              </a:rPr>
              <a:t>c</a:t>
            </a:r>
            <a:r>
              <a:rPr lang="vi-VN" sz="3200">
                <a:latin typeface="+mj-lt"/>
              </a:rPr>
              <a:t>ode, name, history marks</a:t>
            </a:r>
            <a:r>
              <a:rPr lang="en-US" sz="3200">
                <a:latin typeface="+mj-lt"/>
              </a:rPr>
              <a:t> </a:t>
            </a:r>
            <a:r>
              <a:rPr lang="vi-VN" sz="3200">
                <a:latin typeface="+mj-lt"/>
              </a:rPr>
              <a:t>và geography marks</a:t>
            </a:r>
            <a:r>
              <a:rPr lang="en-US" sz="3200">
                <a:latin typeface="+mj-lt"/>
              </a:rPr>
              <a:t> </a:t>
            </a:r>
            <a:r>
              <a:rPr lang="vi-VN" sz="3200">
                <a:latin typeface="+mj-lt"/>
              </a:rPr>
              <a:t>của một sinh </a:t>
            </a:r>
            <a:r>
              <a:rPr lang="en-US" sz="3200">
                <a:latin typeface="Times New Roman" panose="02020603050405020304" pitchFamily="18" charset="0"/>
                <a:cs typeface="Times New Roman" panose="02020603050405020304" pitchFamily="18" charset="0"/>
              </a:rPr>
              <a:t>viên</a:t>
            </a:r>
            <a:r>
              <a:rPr lang="en-US" sz="3200">
                <a:latin typeface="+mj-lt"/>
              </a:rPr>
              <a:t> </a:t>
            </a:r>
            <a:r>
              <a:rPr lang="vi-VN" sz="3200">
                <a:latin typeface="+mj-lt"/>
              </a:rPr>
              <a:t>và sẽ hiển thị tổng số điểm và tỷ lệ phần trăm khi nhấp vào nút. Tổng số điểm sẽ là tổng số của history marks</a:t>
            </a:r>
            <a:r>
              <a:rPr lang="en-US" sz="3200">
                <a:latin typeface="+mj-lt"/>
              </a:rPr>
              <a:t> </a:t>
            </a:r>
            <a:r>
              <a:rPr lang="vi-VN" sz="3200">
                <a:latin typeface="+mj-lt"/>
              </a:rPr>
              <a:t>và geography marks. Giả sử điểm tối đa là 100, công thức tính tỷ lệ phần trăm là: tổng số điểm / 200 * 100.</a:t>
            </a:r>
          </a:p>
          <a:p>
            <a:pPr marL="0" indent="0">
              <a:buNone/>
            </a:pPr>
            <a:endParaRPr lang="en-US" sz="32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054413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normAutofit/>
          </a:bodyPr>
          <a:lstStyle/>
          <a:p>
            <a:r>
              <a:rPr lang="vi-VN"/>
              <a:t>Sử Dụng Thừa Kế Đa Cấp</a:t>
            </a:r>
            <a:endParaRPr lang="en-US">
              <a:latin typeface="Times New Roman" panose="02020603050405020304" pitchFamily="18" charset="0"/>
              <a:cs typeface="Times New Roman" panose="02020603050405020304" pitchFamily="18" charset="0"/>
            </a:endParaRPr>
          </a:p>
        </p:txBody>
      </p:sp>
      <p:sp>
        <p:nvSpPr>
          <p:cNvPr id="7" name="Content Placeholder 6">
            <a:extLst>
              <a:ext uri="{FF2B5EF4-FFF2-40B4-BE49-F238E27FC236}">
                <a16:creationId xmlns:a16="http://schemas.microsoft.com/office/drawing/2014/main" id="{17A348A7-B456-41EA-9366-738C2D5EA411}"/>
              </a:ext>
            </a:extLst>
          </p:cNvPr>
          <p:cNvSpPr>
            <a:spLocks noGrp="1"/>
          </p:cNvSpPr>
          <p:nvPr>
            <p:ph idx="1"/>
          </p:nvPr>
        </p:nvSpPr>
        <p:spPr>
          <a:xfrm>
            <a:off x="0" y="862149"/>
            <a:ext cx="9102490" cy="5809479"/>
          </a:xfrm>
        </p:spPr>
        <p:txBody>
          <a:bodyPr>
            <a:noAutofit/>
          </a:bodyPr>
          <a:lstStyle/>
          <a:p>
            <a:pPr algn="just"/>
            <a:r>
              <a:rPr lang="vi-VN" sz="3200">
                <a:latin typeface="+mj-lt"/>
              </a:rPr>
              <a:t>Code và name được nhập bởi người dùng sẽ được gán cho các thành viên của lớp có tên là Student. Các history</a:t>
            </a:r>
            <a:r>
              <a:rPr lang="en-US" sz="3200">
                <a:latin typeface="+mj-lt"/>
              </a:rPr>
              <a:t> </a:t>
            </a:r>
            <a:r>
              <a:rPr lang="vi-VN" sz="3200">
                <a:latin typeface="+mj-lt"/>
              </a:rPr>
              <a:t>và geography</a:t>
            </a:r>
            <a:r>
              <a:rPr lang="en-US" sz="3200">
                <a:latin typeface="+mj-lt"/>
              </a:rPr>
              <a:t> </a:t>
            </a:r>
            <a:r>
              <a:rPr lang="vi-VN" sz="3200">
                <a:latin typeface="+mj-lt"/>
              </a:rPr>
              <a:t>sẽ được gán cho các thành viên của lớp khác gọi là Marks. Để truy cập code và name cùng với history và geography, lớp Marks sẽ kế thừa lớp Student. Sử dụng sự kế thừa đa cấp này, thể hiện của lớp Marks sẽ truy cập code và name của lớp Student. Để tính tổng điểm và tỷ lệ phần trăm, một lớp nữa được sử dụng, được gọi là lớp Result. Lớp Result sẽ kế thừa lớp Marks. Do đó, thể hiện của lớp Result có thể truy cập vào các thành viên của lớp Marks, cũng như các lớp của lớp Student. Lớp Result có hai thành viên lớp, TotalMarks và percentage. </a:t>
            </a:r>
            <a:endParaRPr lang="en-US" sz="3200">
              <a:latin typeface="+mj-lt"/>
              <a:cs typeface="Times New Roman" panose="02020603050405020304" pitchFamily="18" charset="0"/>
            </a:endParaRPr>
          </a:p>
        </p:txBody>
      </p:sp>
    </p:spTree>
    <p:extLst>
      <p:ext uri="{BB962C8B-B14F-4D97-AF65-F5344CB8AC3E}">
        <p14:creationId xmlns:p14="http://schemas.microsoft.com/office/powerpoint/2010/main" val="13752235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normAutofit/>
          </a:bodyPr>
          <a:lstStyle/>
          <a:p>
            <a:r>
              <a:rPr lang="vi-VN"/>
              <a:t>Sử Dụng Thừa Kế Đa Cấp</a:t>
            </a:r>
            <a:endParaRPr lang="en-US">
              <a:latin typeface="Times New Roman" panose="02020603050405020304" pitchFamily="18" charset="0"/>
              <a:cs typeface="Times New Roman" panose="02020603050405020304" pitchFamily="18" charset="0"/>
            </a:endParaRPr>
          </a:p>
        </p:txBody>
      </p:sp>
      <p:sp>
        <p:nvSpPr>
          <p:cNvPr id="7" name="Content Placeholder 6">
            <a:extLst>
              <a:ext uri="{FF2B5EF4-FFF2-40B4-BE49-F238E27FC236}">
                <a16:creationId xmlns:a16="http://schemas.microsoft.com/office/drawing/2014/main" id="{17A348A7-B456-41EA-9366-738C2D5EA411}"/>
              </a:ext>
            </a:extLst>
          </p:cNvPr>
          <p:cNvSpPr>
            <a:spLocks noGrp="1"/>
          </p:cNvSpPr>
          <p:nvPr>
            <p:ph idx="1"/>
          </p:nvPr>
        </p:nvSpPr>
        <p:spPr>
          <a:xfrm>
            <a:off x="0" y="862149"/>
            <a:ext cx="9102490" cy="5809479"/>
          </a:xfrm>
        </p:spPr>
        <p:txBody>
          <a:bodyPr>
            <a:noAutofit/>
          </a:bodyPr>
          <a:lstStyle/>
          <a:p>
            <a:pPr algn="just"/>
            <a:r>
              <a:rPr lang="vi-VN" sz="3200">
                <a:latin typeface="+mj-lt"/>
              </a:rPr>
              <a:t>Thành viên lớp TotalMarks sẽ được chỉ định tổng của historyMarks và geographyMarks thành viên của lớp Marks. Percentage thành viên sẽ được chỉ định percentage có được trên cơ sở history</a:t>
            </a:r>
            <a:r>
              <a:rPr lang="en-US" sz="3200">
                <a:latin typeface="+mj-lt"/>
              </a:rPr>
              <a:t> </a:t>
            </a:r>
            <a:r>
              <a:rPr lang="vi-VN" sz="3200">
                <a:latin typeface="+mj-lt"/>
              </a:rPr>
              <a:t>và geography.</a:t>
            </a:r>
            <a:endParaRPr lang="en-US" sz="3200">
              <a:latin typeface="+mj-lt"/>
            </a:endParaRPr>
          </a:p>
          <a:p>
            <a:pPr algn="just"/>
            <a:r>
              <a:rPr lang="vi-VN" sz="3200">
                <a:latin typeface="+mj-lt"/>
              </a:rPr>
              <a:t>Trong tất cả, có ba lớp được đặt tên là Student, Marks và Result, trong đó lớp Result sẽ kế thừa lớp Marks và lớp Marks sẽ lần lượt kế thừa lớp Student. Do đó, các thành viên của lớp Result có thể truy cập vào các thành viên của lớp Marks cũng như những thành viên của lớp Student. Dưới đây là quy trình từng bước để tạo ứng dụng này:</a:t>
            </a:r>
            <a:endParaRPr lang="en-US" sz="3200">
              <a:latin typeface="+mj-lt"/>
              <a:cs typeface="Times New Roman" panose="02020603050405020304" pitchFamily="18" charset="0"/>
            </a:endParaRPr>
          </a:p>
        </p:txBody>
      </p:sp>
    </p:spTree>
    <p:extLst>
      <p:ext uri="{BB962C8B-B14F-4D97-AF65-F5344CB8AC3E}">
        <p14:creationId xmlns:p14="http://schemas.microsoft.com/office/powerpoint/2010/main" val="6834939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normAutofit/>
          </a:bodyPr>
          <a:lstStyle/>
          <a:p>
            <a:r>
              <a:rPr lang="vi-VN"/>
              <a:t>Sử Dụng Thừa Kế Đa Cấp</a:t>
            </a:r>
            <a:endParaRPr lang="en-US">
              <a:latin typeface="Times New Roman" panose="02020603050405020304" pitchFamily="18" charset="0"/>
              <a:cs typeface="Times New Roman" panose="02020603050405020304" pitchFamily="18" charset="0"/>
            </a:endParaRPr>
          </a:p>
        </p:txBody>
      </p:sp>
      <p:sp>
        <p:nvSpPr>
          <p:cNvPr id="7" name="Content Placeholder 6">
            <a:extLst>
              <a:ext uri="{FF2B5EF4-FFF2-40B4-BE49-F238E27FC236}">
                <a16:creationId xmlns:a16="http://schemas.microsoft.com/office/drawing/2014/main" id="{17A348A7-B456-41EA-9366-738C2D5EA411}"/>
              </a:ext>
            </a:extLst>
          </p:cNvPr>
          <p:cNvSpPr>
            <a:spLocks noGrp="1"/>
          </p:cNvSpPr>
          <p:nvPr>
            <p:ph idx="1"/>
          </p:nvPr>
        </p:nvSpPr>
        <p:spPr>
          <a:xfrm>
            <a:off x="0" y="668185"/>
            <a:ext cx="9102490" cy="5809479"/>
          </a:xfrm>
        </p:spPr>
        <p:txBody>
          <a:bodyPr>
            <a:noAutofit/>
          </a:bodyPr>
          <a:lstStyle/>
          <a:p>
            <a:pPr marL="514350" indent="-514350" algn="just">
              <a:buAutoNum type="arabicPeriod"/>
            </a:pPr>
            <a:r>
              <a:rPr lang="vi-VN" sz="3200">
                <a:latin typeface="+mj-lt"/>
              </a:rPr>
              <a:t>Khởi chạy Qt Designer và tạo một ứng dụng mới dựa trên mẫu Dialog without</a:t>
            </a:r>
            <a:r>
              <a:rPr lang="en-US" sz="3200">
                <a:latin typeface="+mj-lt"/>
              </a:rPr>
              <a:t> </a:t>
            </a:r>
            <a:r>
              <a:rPr lang="vi-VN" sz="3200">
                <a:latin typeface="+mj-lt"/>
              </a:rPr>
              <a:t>Buttons.</a:t>
            </a:r>
            <a:endParaRPr lang="en-US" sz="3200">
              <a:latin typeface="+mj-lt"/>
            </a:endParaRPr>
          </a:p>
          <a:p>
            <a:pPr marL="514350" indent="-514350" algn="just">
              <a:buAutoNum type="arabicPeriod"/>
            </a:pPr>
            <a:r>
              <a:rPr lang="vi-VN" sz="3200">
                <a:latin typeface="+mj-lt"/>
              </a:rPr>
              <a:t>Kéo và thả sáu tiện ích Label, sáu tiện ích Line Edit và một tiện ích Push Button vào form.</a:t>
            </a:r>
            <a:endParaRPr lang="en-US" sz="3200">
              <a:latin typeface="+mj-lt"/>
            </a:endParaRPr>
          </a:p>
          <a:p>
            <a:pPr marL="514350" indent="-514350" algn="just">
              <a:buAutoNum type="arabicPeriod"/>
            </a:pPr>
            <a:r>
              <a:rPr lang="vi-VN" sz="3200">
                <a:latin typeface="+mj-lt"/>
              </a:rPr>
              <a:t>Đặt thuộc tính text của sáu tiện ích Label thành </a:t>
            </a:r>
            <a:r>
              <a:rPr lang="en-US" sz="3200" i="1">
                <a:latin typeface="Times New Roman" panose="02020603050405020304" pitchFamily="18" charset="0"/>
                <a:cs typeface="Times New Roman" panose="02020603050405020304" pitchFamily="18" charset="0"/>
              </a:rPr>
              <a:t>Student Code, Student Name,History Marks, Geography Marks, Total, Percentage</a:t>
            </a:r>
            <a:r>
              <a:rPr lang="vi-VN" sz="3200" i="1">
                <a:latin typeface="Times New Roman" panose="02020603050405020304" pitchFamily="18" charset="0"/>
                <a:cs typeface="Times New Roman" panose="02020603050405020304" pitchFamily="18" charset="0"/>
              </a:rPr>
              <a:t>.</a:t>
            </a:r>
            <a:endParaRPr lang="en-US" sz="3200" i="1">
              <a:latin typeface="Times New Roman" panose="02020603050405020304" pitchFamily="18" charset="0"/>
              <a:cs typeface="Times New Roman" panose="02020603050405020304" pitchFamily="18" charset="0"/>
            </a:endParaRPr>
          </a:p>
          <a:p>
            <a:pPr marL="514350" indent="-514350" algn="just">
              <a:buAutoNum type="arabicPeriod"/>
            </a:pPr>
            <a:r>
              <a:rPr lang="vi-VN" sz="3200">
                <a:latin typeface="+mj-lt"/>
              </a:rPr>
              <a:t>Đặt thuộc tính text của tiện ích Push Button thành Click</a:t>
            </a:r>
            <a:r>
              <a:rPr lang="en-US" sz="3200">
                <a:latin typeface="+mj-lt"/>
              </a:rPr>
              <a:t>.</a:t>
            </a:r>
          </a:p>
          <a:p>
            <a:pPr marL="514350" indent="-514350" algn="just">
              <a:buAutoNum type="arabicPeriod"/>
            </a:pPr>
            <a:r>
              <a:rPr lang="vi-VN" sz="3200">
                <a:latin typeface="+mj-lt"/>
              </a:rPr>
              <a:t>Đặt thuộc tính objectName của sáu tiện ích Line Edit thành lineEditCode, lineEditName, lineEditHistoryMarks, lineEditGeographyMarks, lineEditTotal và lineEditPercentage.</a:t>
            </a:r>
            <a:endParaRPr lang="en-US" sz="3200">
              <a:latin typeface="+mj-lt"/>
              <a:cs typeface="Times New Roman" panose="02020603050405020304" pitchFamily="18" charset="0"/>
            </a:endParaRPr>
          </a:p>
        </p:txBody>
      </p:sp>
    </p:spTree>
    <p:extLst>
      <p:ext uri="{BB962C8B-B14F-4D97-AF65-F5344CB8AC3E}">
        <p14:creationId xmlns:p14="http://schemas.microsoft.com/office/powerpoint/2010/main" val="3298194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normAutofit/>
          </a:bodyPr>
          <a:lstStyle/>
          <a:p>
            <a:r>
              <a:rPr lang="vi-VN"/>
              <a:t>Sử Dụng Thừa Kế Đa Cấp</a:t>
            </a:r>
            <a:endParaRPr lang="en-US">
              <a:latin typeface="Times New Roman" panose="02020603050405020304" pitchFamily="18" charset="0"/>
              <a:cs typeface="Times New Roman" panose="02020603050405020304" pitchFamily="18" charset="0"/>
            </a:endParaRPr>
          </a:p>
        </p:txBody>
      </p:sp>
      <p:sp>
        <p:nvSpPr>
          <p:cNvPr id="7" name="Content Placeholder 6">
            <a:extLst>
              <a:ext uri="{FF2B5EF4-FFF2-40B4-BE49-F238E27FC236}">
                <a16:creationId xmlns:a16="http://schemas.microsoft.com/office/drawing/2014/main" id="{17A348A7-B456-41EA-9366-738C2D5EA411}"/>
              </a:ext>
            </a:extLst>
          </p:cNvPr>
          <p:cNvSpPr>
            <a:spLocks noGrp="1"/>
          </p:cNvSpPr>
          <p:nvPr>
            <p:ph idx="1"/>
          </p:nvPr>
        </p:nvSpPr>
        <p:spPr>
          <a:xfrm>
            <a:off x="0" y="862149"/>
            <a:ext cx="9102490" cy="5809479"/>
          </a:xfrm>
        </p:spPr>
        <p:txBody>
          <a:bodyPr>
            <a:noAutofit/>
          </a:bodyPr>
          <a:lstStyle/>
          <a:p>
            <a:pPr marL="0" indent="0" algn="just">
              <a:buNone/>
            </a:pPr>
            <a:r>
              <a:rPr lang="vi-VN" sz="3200">
                <a:latin typeface="+mj-lt"/>
              </a:rPr>
              <a:t>6. Đặt thuộc tính objectName của tiện ích Push Button thành ButtonClickMe.</a:t>
            </a:r>
            <a:endParaRPr lang="en-US" sz="3200">
              <a:latin typeface="+mj-lt"/>
            </a:endParaRPr>
          </a:p>
          <a:p>
            <a:pPr marL="0" indent="0" algn="just">
              <a:buNone/>
            </a:pPr>
            <a:r>
              <a:rPr lang="vi-VN" sz="3200">
                <a:latin typeface="+mj-lt"/>
              </a:rPr>
              <a:t>7. Vô hiệu hóa các hộp lineEditTotal và lineEditPercentage bằng cách bỏ chọn thuộc tính </a:t>
            </a:r>
            <a:r>
              <a:rPr lang="vi-VN" sz="3200" b="1">
                <a:latin typeface="+mj-lt"/>
              </a:rPr>
              <a:t>Enable</a:t>
            </a:r>
            <a:r>
              <a:rPr lang="vi-VN" sz="3200">
                <a:latin typeface="+mj-lt"/>
              </a:rPr>
              <a:t> từ cửa sổ Property Editor. Các widget lineEditTotal và lineEditPercentage bị vô hiệu hóa vì các giá trị trong các hộp này sẽ được gán thông qua mã và chúng tôi không muốn người dùng thay đổi giá trị của chúng.</a:t>
            </a:r>
            <a:endParaRPr lang="en-US" sz="3200">
              <a:latin typeface="+mj-lt"/>
            </a:endParaRPr>
          </a:p>
          <a:p>
            <a:pPr marL="0" indent="0" algn="just">
              <a:buNone/>
            </a:pPr>
            <a:r>
              <a:rPr lang="vi-VN" sz="3200">
                <a:latin typeface="+mj-lt"/>
              </a:rPr>
              <a:t>8. Lưu ứng dụng với tên demoMultilevelInherribution.ui. Ứng dụng sẽ xuất hiện như trong ảnh chụp màn hình sau:</a:t>
            </a:r>
            <a:endParaRPr lang="en-US" sz="3200">
              <a:latin typeface="+mj-lt"/>
              <a:cs typeface="Times New Roman" panose="02020603050405020304" pitchFamily="18" charset="0"/>
            </a:endParaRPr>
          </a:p>
        </p:txBody>
      </p:sp>
    </p:spTree>
    <p:extLst>
      <p:ext uri="{BB962C8B-B14F-4D97-AF65-F5344CB8AC3E}">
        <p14:creationId xmlns:p14="http://schemas.microsoft.com/office/powerpoint/2010/main" val="15039849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normAutofit/>
          </a:bodyPr>
          <a:lstStyle/>
          <a:p>
            <a:r>
              <a:rPr lang="vi-VN"/>
              <a:t>Sử Dụng Thừa Kế Đa Cấp</a:t>
            </a:r>
            <a:endParaRPr lang="en-US">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B7BFA469-ED78-472F-9598-7A8B62C15098}"/>
              </a:ext>
            </a:extLst>
          </p:cNvPr>
          <p:cNvSpPr>
            <a:spLocks noGrp="1"/>
          </p:cNvSpPr>
          <p:nvPr>
            <p:ph idx="1"/>
          </p:nvPr>
        </p:nvSpPr>
        <p:spPr/>
        <p:txBody>
          <a:bodyPr>
            <a:normAutofit fontScale="92500" lnSpcReduction="10000"/>
          </a:bodyPr>
          <a:lstStyle/>
          <a:p>
            <a:pPr marL="0" indent="0">
              <a:buNone/>
            </a:pPr>
            <a:endParaRPr lang="en-US"/>
          </a:p>
          <a:p>
            <a:pPr marL="0" indent="0">
              <a:buNone/>
            </a:pPr>
            <a:endParaRPr lang="en-US"/>
          </a:p>
          <a:p>
            <a:pPr marL="0" indent="0">
              <a:buNone/>
            </a:pPr>
            <a:endParaRPr lang="en-US"/>
          </a:p>
          <a:p>
            <a:pPr marL="0" indent="0">
              <a:buNone/>
            </a:pPr>
            <a:endParaRPr lang="en-US"/>
          </a:p>
          <a:p>
            <a:pPr marL="0" indent="0">
              <a:buNone/>
            </a:pPr>
            <a:endParaRPr lang="en-US"/>
          </a:p>
          <a:p>
            <a:pPr marL="0" indent="0">
              <a:buNone/>
            </a:pPr>
            <a:endParaRPr lang="en-US"/>
          </a:p>
          <a:p>
            <a:pPr marL="0" indent="0" algn="just">
              <a:buNone/>
            </a:pPr>
            <a:r>
              <a:rPr lang="en-US" sz="3200">
                <a:latin typeface="Times New Roman" panose="02020603050405020304" pitchFamily="18" charset="0"/>
                <a:cs typeface="Times New Roman" panose="02020603050405020304" pitchFamily="18" charset="0"/>
              </a:rPr>
              <a:t>File</a:t>
            </a:r>
            <a:r>
              <a:rPr lang="vi-VN" sz="3200">
                <a:latin typeface="+mj-lt"/>
              </a:rPr>
              <a:t> giao diện người dùng, demoMultilevelInherribution.ui, là một file XML và được chuyển đổi thành code Python bằng cách sử dụng tiện ích pyuic5. File demoMultilevelInherribution.py sẽ được sử dụng làm file tiêu đề và sẽ được nhập vào một file Python khác, sẽ sử dụng GUI được tạo trong demoMultilevelInherribution.py.</a:t>
            </a:r>
            <a:endParaRPr lang="en-US" sz="3200">
              <a:latin typeface="+mj-lt"/>
            </a:endParaRPr>
          </a:p>
        </p:txBody>
      </p:sp>
      <p:pic>
        <p:nvPicPr>
          <p:cNvPr id="9" name="Picture 8" descr="sách Qt5-Python-GUI-Programming-Cookbook.pdf - Adobe Acrobat Reader DC">
            <a:extLst>
              <a:ext uri="{FF2B5EF4-FFF2-40B4-BE49-F238E27FC236}">
                <a16:creationId xmlns:a16="http://schemas.microsoft.com/office/drawing/2014/main" id="{4712F998-6D73-4688-920A-BE29E0C41CB5}"/>
              </a:ext>
            </a:extLst>
          </p:cNvPr>
          <p:cNvPicPr>
            <a:picLocks noChangeAspect="1"/>
          </p:cNvPicPr>
          <p:nvPr/>
        </p:nvPicPr>
        <p:blipFill rotWithShape="1">
          <a:blip r:embed="rId2">
            <a:extLst>
              <a:ext uri="{28A0092B-C50C-407E-A947-70E740481C1C}">
                <a14:useLocalDpi xmlns:a14="http://schemas.microsoft.com/office/drawing/2010/main" val="0"/>
              </a:ext>
            </a:extLst>
          </a:blip>
          <a:srcRect l="26818" t="29877" r="41060" b="15242"/>
          <a:stretch/>
        </p:blipFill>
        <p:spPr>
          <a:xfrm>
            <a:off x="2535383" y="1020278"/>
            <a:ext cx="2937164" cy="2701637"/>
          </a:xfrm>
          <a:prstGeom prst="rect">
            <a:avLst/>
          </a:prstGeom>
        </p:spPr>
      </p:pic>
    </p:spTree>
    <p:extLst>
      <p:ext uri="{BB962C8B-B14F-4D97-AF65-F5344CB8AC3E}">
        <p14:creationId xmlns:p14="http://schemas.microsoft.com/office/powerpoint/2010/main" val="1118146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normAutofit/>
          </a:bodyPr>
          <a:lstStyle/>
          <a:p>
            <a:r>
              <a:rPr lang="vi-VN"/>
              <a:t>Sử Dụng Thừa Kế Đa Cấp</a:t>
            </a:r>
            <a:endParaRPr lang="en-US">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B7BFA469-ED78-472F-9598-7A8B62C15098}"/>
              </a:ext>
            </a:extLst>
          </p:cNvPr>
          <p:cNvSpPr>
            <a:spLocks noGrp="1"/>
          </p:cNvSpPr>
          <p:nvPr>
            <p:ph idx="1"/>
          </p:nvPr>
        </p:nvSpPr>
        <p:spPr/>
        <p:txBody>
          <a:bodyPr>
            <a:normAutofit/>
          </a:bodyPr>
          <a:lstStyle/>
          <a:p>
            <a:pPr marL="0" indent="0" algn="just">
              <a:buNone/>
            </a:pPr>
            <a:r>
              <a:rPr lang="vi-VN"/>
              <a:t>9. </a:t>
            </a:r>
            <a:r>
              <a:rPr lang="vi-VN" sz="3200">
                <a:latin typeface="+mj-lt"/>
              </a:rPr>
              <a:t>Tạo một file Python khác với tên callMultilevelInherribution.pyw và nhập code demoMultilevelInherribution.py vào nó. Code trong tập lệnh Python</a:t>
            </a:r>
            <a:r>
              <a:rPr lang="en-US" sz="3200">
                <a:latin typeface="+mj-lt"/>
              </a:rPr>
              <a:t> </a:t>
            </a:r>
            <a:r>
              <a:rPr lang="en-US" sz="3200">
                <a:latin typeface="Times New Roman" panose="02020603050405020304" pitchFamily="18" charset="0"/>
                <a:cs typeface="Times New Roman" panose="02020603050405020304" pitchFamily="18" charset="0"/>
              </a:rPr>
              <a:t>là</a:t>
            </a:r>
            <a:r>
              <a:rPr lang="vi-VN" sz="3200">
                <a:latin typeface="+mj-lt"/>
              </a:rPr>
              <a:t> callMultilevelInherribution.pyw, như được hiển thị ở đây:</a:t>
            </a:r>
            <a:endParaRPr lang="en-US" sz="3200">
              <a:latin typeface="+mj-lt"/>
            </a:endParaRPr>
          </a:p>
          <a:p>
            <a:endParaRPr lang="en-US"/>
          </a:p>
        </p:txBody>
      </p:sp>
      <p:pic>
        <p:nvPicPr>
          <p:cNvPr id="4" name="Picture 3" descr="sách Qt5-Python-GUI-Programming-Cookbook.pdf - Adobe Acrobat Reader DC">
            <a:extLst>
              <a:ext uri="{FF2B5EF4-FFF2-40B4-BE49-F238E27FC236}">
                <a16:creationId xmlns:a16="http://schemas.microsoft.com/office/drawing/2014/main" id="{3F25C567-A476-43FE-9C80-87058900E952}"/>
              </a:ext>
            </a:extLst>
          </p:cNvPr>
          <p:cNvPicPr>
            <a:picLocks noChangeAspect="1"/>
          </p:cNvPicPr>
          <p:nvPr/>
        </p:nvPicPr>
        <p:blipFill rotWithShape="1">
          <a:blip r:embed="rId2">
            <a:extLst>
              <a:ext uri="{28A0092B-C50C-407E-A947-70E740481C1C}">
                <a14:useLocalDpi xmlns:a14="http://schemas.microsoft.com/office/drawing/2010/main" val="0"/>
              </a:ext>
            </a:extLst>
          </a:blip>
          <a:srcRect l="20303" t="43105" r="37879" b="21996"/>
          <a:stretch/>
        </p:blipFill>
        <p:spPr>
          <a:xfrm>
            <a:off x="526473" y="3200399"/>
            <a:ext cx="8285018" cy="3380509"/>
          </a:xfrm>
          <a:prstGeom prst="rect">
            <a:avLst/>
          </a:prstGeom>
        </p:spPr>
      </p:pic>
    </p:spTree>
    <p:extLst>
      <p:ext uri="{BB962C8B-B14F-4D97-AF65-F5344CB8AC3E}">
        <p14:creationId xmlns:p14="http://schemas.microsoft.com/office/powerpoint/2010/main" val="13450111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normAutofit/>
          </a:bodyPr>
          <a:lstStyle/>
          <a:p>
            <a:r>
              <a:rPr lang="vi-VN"/>
              <a:t>Sử Dụng Thừa Kế Đa Cấp</a:t>
            </a:r>
            <a:endParaRPr lang="en-US">
              <a:latin typeface="Times New Roman" panose="02020603050405020304" pitchFamily="18" charset="0"/>
              <a:cs typeface="Times New Roman" panose="02020603050405020304" pitchFamily="18" charset="0"/>
            </a:endParaRPr>
          </a:p>
        </p:txBody>
      </p:sp>
      <p:pic>
        <p:nvPicPr>
          <p:cNvPr id="6" name="Content Placeholder 5" descr="sách Qt5-Python-GUI-Programming-Cookbook.pdf - Adobe Acrobat Reader DC">
            <a:extLst>
              <a:ext uri="{FF2B5EF4-FFF2-40B4-BE49-F238E27FC236}">
                <a16:creationId xmlns:a16="http://schemas.microsoft.com/office/drawing/2014/main" id="{8FB29C41-46E1-4E02-AE3C-254047DFE568}"/>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20912" t="18814" r="35558" b="5134"/>
          <a:stretch/>
        </p:blipFill>
        <p:spPr>
          <a:xfrm>
            <a:off x="609600" y="862149"/>
            <a:ext cx="8326582" cy="5552506"/>
          </a:xfrm>
        </p:spPr>
      </p:pic>
    </p:spTree>
    <p:extLst>
      <p:ext uri="{BB962C8B-B14F-4D97-AF65-F5344CB8AC3E}">
        <p14:creationId xmlns:p14="http://schemas.microsoft.com/office/powerpoint/2010/main" val="14189868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normAutofit/>
          </a:bodyPr>
          <a:lstStyle/>
          <a:p>
            <a:r>
              <a:rPr lang="vi-VN"/>
              <a:t>Sử Dụng Thừa Kế Đa Cấp</a:t>
            </a:r>
            <a:endParaRPr lang="en-US">
              <a:latin typeface="Times New Roman" panose="02020603050405020304" pitchFamily="18" charset="0"/>
              <a:cs typeface="Times New Roman" panose="02020603050405020304" pitchFamily="18" charset="0"/>
            </a:endParaRPr>
          </a:p>
        </p:txBody>
      </p:sp>
      <p:pic>
        <p:nvPicPr>
          <p:cNvPr id="7" name="Content Placeholder 6" descr="sách Qt5-Python-GUI-Programming-Cookbook.pdf - Adobe Acrobat Reader DC">
            <a:extLst>
              <a:ext uri="{FF2B5EF4-FFF2-40B4-BE49-F238E27FC236}">
                <a16:creationId xmlns:a16="http://schemas.microsoft.com/office/drawing/2014/main" id="{AB9C9BB4-F4C6-41BE-B930-5013D5EBAD61}"/>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21064" t="23620" r="29623" b="16443"/>
          <a:stretch/>
        </p:blipFill>
        <p:spPr>
          <a:xfrm>
            <a:off x="498764" y="997527"/>
            <a:ext cx="8146472" cy="5527963"/>
          </a:xfrm>
        </p:spPr>
      </p:pic>
    </p:spTree>
    <p:extLst>
      <p:ext uri="{BB962C8B-B14F-4D97-AF65-F5344CB8AC3E}">
        <p14:creationId xmlns:p14="http://schemas.microsoft.com/office/powerpoint/2010/main" val="30828750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normAutofit/>
          </a:bodyPr>
          <a:lstStyle/>
          <a:p>
            <a:r>
              <a:rPr lang="vi-VN"/>
              <a:t>Sử Dụng Nhiều Kế Thừa</a:t>
            </a:r>
            <a:endParaRPr lang="en-US">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A05207F5-9277-4B70-8029-F15634F01215}"/>
              </a:ext>
            </a:extLst>
          </p:cNvPr>
          <p:cNvSpPr>
            <a:spLocks noGrp="1"/>
          </p:cNvSpPr>
          <p:nvPr>
            <p:ph idx="1"/>
          </p:nvPr>
        </p:nvSpPr>
        <p:spPr/>
        <p:txBody>
          <a:bodyPr>
            <a:normAutofit/>
          </a:bodyPr>
          <a:lstStyle/>
          <a:p>
            <a:pPr algn="just"/>
            <a:r>
              <a:rPr lang="vi-VN" sz="3200">
                <a:latin typeface="+mj-lt"/>
              </a:rPr>
              <a:t>Đa kế thừa là nơi một lớp kế thừa hai hoặc nhiều lớp, như thể hiện trong sơ đồ sau:</a:t>
            </a:r>
            <a:endParaRPr lang="en-US" sz="3200">
              <a:latin typeface="+mj-lt"/>
            </a:endParaRPr>
          </a:p>
          <a:p>
            <a:pPr algn="just"/>
            <a:endParaRPr lang="en-US" sz="3200">
              <a:latin typeface="+mj-lt"/>
            </a:endParaRPr>
          </a:p>
          <a:p>
            <a:pPr algn="just"/>
            <a:endParaRPr lang="en-US" sz="3200">
              <a:latin typeface="+mj-lt"/>
            </a:endParaRPr>
          </a:p>
          <a:p>
            <a:pPr algn="just"/>
            <a:endParaRPr lang="en-US" sz="3200">
              <a:latin typeface="+mj-lt"/>
            </a:endParaRPr>
          </a:p>
          <a:p>
            <a:pPr algn="just"/>
            <a:r>
              <a:rPr lang="vi-VN" sz="3200">
                <a:latin typeface="+mj-lt"/>
              </a:rPr>
              <a:t>Lớp C kế thừa cả lớp</a:t>
            </a:r>
            <a:r>
              <a:rPr lang="en-US" sz="3200">
                <a:latin typeface="+mj-lt"/>
              </a:rPr>
              <a:t> </a:t>
            </a:r>
            <a:r>
              <a:rPr lang="vi-VN" sz="3200">
                <a:latin typeface="+mj-lt"/>
              </a:rPr>
              <a:t>A và lớp B.</a:t>
            </a:r>
            <a:endParaRPr lang="en-US" sz="3200">
              <a:latin typeface="+mj-lt"/>
            </a:endParaRPr>
          </a:p>
          <a:p>
            <a:pPr algn="just"/>
            <a:r>
              <a:rPr lang="vi-VN" sz="3200">
                <a:latin typeface="+mj-lt"/>
              </a:rPr>
              <a:t>Câu lệnh sau định nghĩa thừa kế đa cấp</a:t>
            </a:r>
            <a:r>
              <a:rPr lang="en-US" sz="3200">
                <a:latin typeface="+mj-lt"/>
              </a:rPr>
              <a:t>,</a:t>
            </a:r>
            <a:r>
              <a:rPr lang="vi-VN" sz="3200">
                <a:latin typeface="+mj-lt"/>
              </a:rPr>
              <a:t> trong đó lớp Result</a:t>
            </a:r>
            <a:r>
              <a:rPr lang="en-US" sz="3200">
                <a:latin typeface="+mj-lt"/>
              </a:rPr>
              <a:t> </a:t>
            </a:r>
            <a:r>
              <a:rPr lang="vi-VN" sz="3200">
                <a:latin typeface="+mj-lt"/>
              </a:rPr>
              <a:t>kế thừa lớp Marks và lớp Marks lần lượt kế thừa lớp Student:</a:t>
            </a:r>
            <a:endParaRPr lang="en-US" sz="3200">
              <a:latin typeface="+mj-lt"/>
            </a:endParaRPr>
          </a:p>
        </p:txBody>
      </p:sp>
      <p:pic>
        <p:nvPicPr>
          <p:cNvPr id="6" name="Picture 5" descr="sách Qt5-Python-GUI-Programming-Cookbook.pdf - Adobe Acrobat Reader DC">
            <a:extLst>
              <a:ext uri="{FF2B5EF4-FFF2-40B4-BE49-F238E27FC236}">
                <a16:creationId xmlns:a16="http://schemas.microsoft.com/office/drawing/2014/main" id="{53604F93-1C48-4D91-B71D-8290682ECC8F}"/>
              </a:ext>
            </a:extLst>
          </p:cNvPr>
          <p:cNvPicPr>
            <a:picLocks noChangeAspect="1"/>
          </p:cNvPicPr>
          <p:nvPr/>
        </p:nvPicPr>
        <p:blipFill rotWithShape="1">
          <a:blip r:embed="rId2">
            <a:extLst>
              <a:ext uri="{28A0092B-C50C-407E-A947-70E740481C1C}">
                <a14:useLocalDpi xmlns:a14="http://schemas.microsoft.com/office/drawing/2010/main" val="0"/>
              </a:ext>
            </a:extLst>
          </a:blip>
          <a:srcRect l="37576" t="29314" r="51970" b="53746"/>
          <a:stretch/>
        </p:blipFill>
        <p:spPr>
          <a:xfrm>
            <a:off x="3366653" y="1898073"/>
            <a:ext cx="2313711" cy="1884218"/>
          </a:xfrm>
          <a:prstGeom prst="rect">
            <a:avLst/>
          </a:prstGeom>
        </p:spPr>
      </p:pic>
    </p:spTree>
    <p:extLst>
      <p:ext uri="{BB962C8B-B14F-4D97-AF65-F5344CB8AC3E}">
        <p14:creationId xmlns:p14="http://schemas.microsoft.com/office/powerpoint/2010/main" val="11315825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normAutofit/>
          </a:bodyPr>
          <a:lstStyle/>
          <a:p>
            <a:r>
              <a:rPr lang="vi-VN"/>
              <a:t>Sử Dụng Nhiều Kế Thừa</a:t>
            </a:r>
            <a:endParaRPr lang="en-US">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A05207F5-9277-4B70-8029-F15634F01215}"/>
              </a:ext>
            </a:extLst>
          </p:cNvPr>
          <p:cNvSpPr>
            <a:spLocks noGrp="1"/>
          </p:cNvSpPr>
          <p:nvPr>
            <p:ph idx="1"/>
          </p:nvPr>
        </p:nvSpPr>
        <p:spPr/>
        <p:txBody>
          <a:bodyPr>
            <a:normAutofit/>
          </a:bodyPr>
          <a:lstStyle/>
          <a:p>
            <a:pPr marL="0" indent="0">
              <a:buNone/>
            </a:pPr>
            <a:r>
              <a:rPr lang="en-US" sz="3200" i="1">
                <a:latin typeface="Times New Roman" panose="02020603050405020304" pitchFamily="18" charset="0"/>
                <a:cs typeface="Times New Roman" panose="02020603050405020304" pitchFamily="18" charset="0"/>
              </a:rPr>
              <a:t>class Student:</a:t>
            </a:r>
          </a:p>
          <a:p>
            <a:pPr marL="0" indent="0">
              <a:buNone/>
            </a:pPr>
            <a:r>
              <a:rPr lang="en-US" sz="3200" i="1">
                <a:latin typeface="Times New Roman" panose="02020603050405020304" pitchFamily="18" charset="0"/>
                <a:cs typeface="Times New Roman" panose="02020603050405020304" pitchFamily="18" charset="0"/>
              </a:rPr>
              <a:t>	class Marks:</a:t>
            </a:r>
          </a:p>
          <a:p>
            <a:pPr marL="0" indent="0">
              <a:buNone/>
            </a:pPr>
            <a:r>
              <a:rPr lang="en-US" sz="3200" i="1">
                <a:latin typeface="Times New Roman" panose="02020603050405020304" pitchFamily="18" charset="0"/>
                <a:cs typeface="Times New Roman" panose="02020603050405020304" pitchFamily="18" charset="0"/>
              </a:rPr>
              <a:t>		class Result(Student, Marks):</a:t>
            </a:r>
          </a:p>
          <a:p>
            <a:pPr marL="0" indent="0" algn="just">
              <a:buNone/>
            </a:pPr>
            <a:r>
              <a:rPr lang="vi-VN" sz="3200">
                <a:latin typeface="+mj-lt"/>
              </a:rPr>
              <a:t>Để hiểu khái niệm thừa kế đa cấp trên thực tế, hãy tạo một ứng dụng sẽ nhắc người dùng nhập code, name, history marks</a:t>
            </a:r>
            <a:r>
              <a:rPr lang="en-US" sz="3200">
                <a:latin typeface="+mj-lt"/>
              </a:rPr>
              <a:t> </a:t>
            </a:r>
            <a:r>
              <a:rPr lang="vi-VN" sz="3200">
                <a:latin typeface="+mj-lt"/>
              </a:rPr>
              <a:t>và geography marks của một student và sẽ hiển thị tổng số điểm và tỷ lệ phần trăm khi nhấp vào nút. Tổng số điểm sẽ là tổng số của  history marks</a:t>
            </a:r>
            <a:r>
              <a:rPr lang="en-US" sz="3200">
                <a:latin typeface="+mj-lt"/>
              </a:rPr>
              <a:t> </a:t>
            </a:r>
            <a:r>
              <a:rPr lang="vi-VN" sz="3200">
                <a:latin typeface="+mj-lt"/>
              </a:rPr>
              <a:t>và geography marks. Giả sử điểm tối đa cho mỗi điểm là 100, công thức tính tỷ lệ phần trăm là: tổng số điểm / 200 * 100.</a:t>
            </a:r>
            <a:endParaRPr lang="en-US" sz="3200" i="1">
              <a:latin typeface="+mj-lt"/>
              <a:cs typeface="Times New Roman" panose="02020603050405020304" pitchFamily="18" charset="0"/>
            </a:endParaRPr>
          </a:p>
        </p:txBody>
      </p:sp>
    </p:spTree>
    <p:extLst>
      <p:ext uri="{BB962C8B-B14F-4D97-AF65-F5344CB8AC3E}">
        <p14:creationId xmlns:p14="http://schemas.microsoft.com/office/powerpoint/2010/main" val="28196642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normAutofit/>
          </a:bodyPr>
          <a:lstStyle/>
          <a:p>
            <a:r>
              <a:rPr lang="vi-VN"/>
              <a:t>Sử Dụng Nhiều Kế Thừa</a:t>
            </a:r>
            <a:endParaRPr lang="en-US">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A05207F5-9277-4B70-8029-F15634F01215}"/>
              </a:ext>
            </a:extLst>
          </p:cNvPr>
          <p:cNvSpPr>
            <a:spLocks noGrp="1"/>
          </p:cNvSpPr>
          <p:nvPr>
            <p:ph idx="1"/>
          </p:nvPr>
        </p:nvSpPr>
        <p:spPr/>
        <p:txBody>
          <a:bodyPr>
            <a:noAutofit/>
          </a:bodyPr>
          <a:lstStyle/>
          <a:p>
            <a:pPr algn="just"/>
            <a:r>
              <a:rPr lang="vi-VN" sz="3200">
                <a:latin typeface="+mj-lt"/>
              </a:rPr>
              <a:t>Code và name được nhập bởi người dùng sẽ được gán cho các thành viên của lớp có tên là Student. Các history và geography</a:t>
            </a:r>
            <a:r>
              <a:rPr lang="en-US" sz="3200">
                <a:latin typeface="+mj-lt"/>
              </a:rPr>
              <a:t> </a:t>
            </a:r>
            <a:r>
              <a:rPr lang="vi-VN" sz="3200">
                <a:latin typeface="+mj-lt"/>
              </a:rPr>
              <a:t>sẽ được gán cho các thành viên của lớp khác gọi là Marks.</a:t>
            </a:r>
            <a:endParaRPr lang="en-US" sz="3200">
              <a:latin typeface="+mj-lt"/>
            </a:endParaRPr>
          </a:p>
          <a:p>
            <a:pPr algn="just"/>
            <a:r>
              <a:rPr lang="vi-VN" sz="3200">
                <a:latin typeface="+mj-lt"/>
              </a:rPr>
              <a:t>Để truy cập code</a:t>
            </a:r>
            <a:r>
              <a:rPr lang="en-US" sz="3200">
                <a:latin typeface="+mj-lt"/>
              </a:rPr>
              <a:t>, </a:t>
            </a:r>
            <a:r>
              <a:rPr lang="en-US" sz="3200">
                <a:latin typeface="Times New Roman" panose="02020603050405020304" pitchFamily="18" charset="0"/>
                <a:cs typeface="Times New Roman" panose="02020603050405020304" pitchFamily="18" charset="0"/>
              </a:rPr>
              <a:t>name,  history </a:t>
            </a:r>
            <a:r>
              <a:rPr lang="vi-VN" sz="3200">
                <a:latin typeface="+mj-lt"/>
              </a:rPr>
              <a:t>và </a:t>
            </a:r>
            <a:r>
              <a:rPr lang="en-US" sz="3200">
                <a:latin typeface="+mj-lt"/>
              </a:rPr>
              <a:t> </a:t>
            </a:r>
            <a:r>
              <a:rPr lang="en-US" sz="3200">
                <a:latin typeface="Times New Roman" panose="02020603050405020304" pitchFamily="18" charset="0"/>
                <a:cs typeface="Times New Roman" panose="02020603050405020304" pitchFamily="18" charset="0"/>
              </a:rPr>
              <a:t>geography marks </a:t>
            </a:r>
            <a:r>
              <a:rPr lang="vi-VN" sz="3200">
                <a:latin typeface="+mj-lt"/>
              </a:rPr>
              <a:t>lớp Result  sẽ kế thừa cả hai lớp</a:t>
            </a:r>
            <a:r>
              <a:rPr lang="en-US" sz="3200">
                <a:latin typeface="+mj-lt"/>
              </a:rPr>
              <a:t> </a:t>
            </a:r>
            <a:r>
              <a:rPr lang="vi-VN" sz="3200">
                <a:latin typeface="+mj-lt"/>
              </a:rPr>
              <a:t>Student</a:t>
            </a:r>
            <a:r>
              <a:rPr lang="en-US" sz="3200">
                <a:latin typeface="+mj-lt"/>
              </a:rPr>
              <a:t> </a:t>
            </a:r>
            <a:r>
              <a:rPr lang="vi-VN" sz="3200">
                <a:latin typeface="+mj-lt"/>
              </a:rPr>
              <a:t>cũng như lớp Marks. </a:t>
            </a:r>
            <a:r>
              <a:rPr lang="en-US" sz="3200">
                <a:latin typeface="Times New Roman" panose="02020603050405020304" pitchFamily="18" charset="0"/>
                <a:cs typeface="Times New Roman" panose="02020603050405020304" pitchFamily="18" charset="0"/>
              </a:rPr>
              <a:t>S</a:t>
            </a:r>
            <a:r>
              <a:rPr lang="vi-VN" sz="3200">
                <a:latin typeface="+mj-lt"/>
              </a:rPr>
              <a:t>ử dụng nhiều kế thừa này, thể hiện của lớp Result</a:t>
            </a:r>
            <a:r>
              <a:rPr lang="en-US" sz="3200">
                <a:latin typeface="+mj-lt"/>
              </a:rPr>
              <a:t> </a:t>
            </a:r>
            <a:r>
              <a:rPr lang="vi-VN" sz="3200">
                <a:latin typeface="+mj-lt"/>
              </a:rPr>
              <a:t>có thể truy cập code và name của lớp Student, cũng như các biến lớp historyMarks và geographyMarks của lớp Marks. Nói cách khác, bằng cách sử dụng nhiều kế thừa, thể hiện của lớp Result</a:t>
            </a:r>
            <a:r>
              <a:rPr lang="en-US" sz="3200">
                <a:latin typeface="+mj-lt"/>
              </a:rPr>
              <a:t> </a:t>
            </a:r>
            <a:r>
              <a:rPr lang="vi-VN" sz="3200">
                <a:latin typeface="+mj-lt"/>
              </a:rPr>
              <a:t>có thể truy cập các thành viên lớp của lớp Marks, cũng như các lớp của lớp Student. Lớp Result</a:t>
            </a:r>
            <a:endParaRPr lang="en-US" sz="3200" i="1">
              <a:latin typeface="+mj-lt"/>
              <a:cs typeface="Times New Roman" panose="02020603050405020304" pitchFamily="18" charset="0"/>
            </a:endParaRPr>
          </a:p>
        </p:txBody>
      </p:sp>
    </p:spTree>
    <p:extLst>
      <p:ext uri="{BB962C8B-B14F-4D97-AF65-F5344CB8AC3E}">
        <p14:creationId xmlns:p14="http://schemas.microsoft.com/office/powerpoint/2010/main" val="6424851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normAutofit/>
          </a:bodyPr>
          <a:lstStyle/>
          <a:p>
            <a:r>
              <a:rPr lang="vi-VN"/>
              <a:t>Sử Dụng Nhiều Kế Thừa</a:t>
            </a:r>
            <a:endParaRPr lang="en-US">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A05207F5-9277-4B70-8029-F15634F01215}"/>
              </a:ext>
            </a:extLst>
          </p:cNvPr>
          <p:cNvSpPr>
            <a:spLocks noGrp="1"/>
          </p:cNvSpPr>
          <p:nvPr>
            <p:ph idx="1"/>
          </p:nvPr>
        </p:nvSpPr>
        <p:spPr/>
        <p:txBody>
          <a:bodyPr>
            <a:noAutofit/>
          </a:bodyPr>
          <a:lstStyle/>
          <a:p>
            <a:pPr marL="166688" indent="0" algn="just">
              <a:buNone/>
            </a:pPr>
            <a:r>
              <a:rPr lang="vi-VN" sz="3200">
                <a:latin typeface="+mj-lt"/>
              </a:rPr>
              <a:t>có hai thành viên lớp, TotalMarks và tỷ lệ phần trăm. Thành viên của lớp TotalMarks sẽ được chỉ định tổng của historyMarks và geographyMarks thành viên của lớp Marks. Tỷ lệ thành viên sẽ được chỉ định tỷ lệ phần trăm có được trên cơ sở history</a:t>
            </a:r>
            <a:r>
              <a:rPr lang="en-US" sz="3200">
                <a:latin typeface="+mj-lt"/>
              </a:rPr>
              <a:t> </a:t>
            </a:r>
            <a:r>
              <a:rPr lang="vi-VN" sz="3200">
                <a:latin typeface="+mj-lt"/>
              </a:rPr>
              <a:t>và geography marks.</a:t>
            </a:r>
            <a:endParaRPr lang="en-US" sz="3200">
              <a:latin typeface="+mj-lt"/>
            </a:endParaRPr>
          </a:p>
          <a:p>
            <a:pPr algn="just"/>
            <a:r>
              <a:rPr lang="vi-VN" sz="3200">
                <a:latin typeface="+mj-lt"/>
              </a:rPr>
              <a:t>Chúng ta hãy hiểu thông qua quy trình từng bước cách áp dụng kế thừa đa cấp cho ba lớp, Student, Marks</a:t>
            </a:r>
            <a:r>
              <a:rPr lang="en-US" sz="3200">
                <a:latin typeface="+mj-lt"/>
              </a:rPr>
              <a:t> </a:t>
            </a:r>
            <a:r>
              <a:rPr lang="vi-VN" sz="3200">
                <a:latin typeface="+mj-lt"/>
              </a:rPr>
              <a:t>và Result. Lớp Result</a:t>
            </a:r>
            <a:r>
              <a:rPr lang="en-US" sz="3200">
                <a:latin typeface="+mj-lt"/>
              </a:rPr>
              <a:t> </a:t>
            </a:r>
            <a:r>
              <a:rPr lang="vi-VN" sz="3200">
                <a:latin typeface="+mj-lt"/>
              </a:rPr>
              <a:t>sẽ kế thừa cả hai lớp, Student</a:t>
            </a:r>
            <a:r>
              <a:rPr lang="en-US" sz="3200">
                <a:latin typeface="+mj-lt"/>
              </a:rPr>
              <a:t> </a:t>
            </a:r>
            <a:r>
              <a:rPr lang="vi-VN" sz="3200">
                <a:latin typeface="+mj-lt"/>
              </a:rPr>
              <a:t>và Marks. Các bước này giải thích cách các thành viên của lớp Result</a:t>
            </a:r>
            <a:r>
              <a:rPr lang="en-US" sz="3200">
                <a:latin typeface="+mj-lt"/>
              </a:rPr>
              <a:t> </a:t>
            </a:r>
            <a:r>
              <a:rPr lang="vi-VN" sz="3200">
                <a:latin typeface="+mj-lt"/>
              </a:rPr>
              <a:t>có thể truy cập vào các thành viên của lớp Student</a:t>
            </a:r>
            <a:r>
              <a:rPr lang="en-US" sz="3200">
                <a:latin typeface="+mj-lt"/>
              </a:rPr>
              <a:t> </a:t>
            </a:r>
            <a:r>
              <a:rPr lang="vi-VN" sz="3200">
                <a:latin typeface="+mj-lt"/>
              </a:rPr>
              <a:t>và Marks</a:t>
            </a:r>
            <a:r>
              <a:rPr lang="en-US" sz="3200">
                <a:latin typeface="+mj-lt"/>
              </a:rPr>
              <a:t> </a:t>
            </a:r>
            <a:r>
              <a:rPr lang="vi-VN" sz="3200">
                <a:latin typeface="+mj-lt"/>
              </a:rPr>
              <a:t>thông qua kế thừa đa cấp:</a:t>
            </a:r>
            <a:endParaRPr lang="en-US" sz="3200" i="1">
              <a:latin typeface="+mj-lt"/>
              <a:cs typeface="Times New Roman" panose="02020603050405020304" pitchFamily="18" charset="0"/>
            </a:endParaRPr>
          </a:p>
        </p:txBody>
      </p:sp>
    </p:spTree>
    <p:extLst>
      <p:ext uri="{BB962C8B-B14F-4D97-AF65-F5344CB8AC3E}">
        <p14:creationId xmlns:p14="http://schemas.microsoft.com/office/powerpoint/2010/main" val="40334970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normAutofit/>
          </a:bodyPr>
          <a:lstStyle/>
          <a:p>
            <a:r>
              <a:rPr lang="vi-VN"/>
              <a:t>Sử Dụng Nhiều Kế Thừa</a:t>
            </a:r>
            <a:endParaRPr lang="en-US">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A05207F5-9277-4B70-8029-F15634F01215}"/>
              </a:ext>
            </a:extLst>
          </p:cNvPr>
          <p:cNvSpPr>
            <a:spLocks noGrp="1"/>
          </p:cNvSpPr>
          <p:nvPr>
            <p:ph idx="1"/>
          </p:nvPr>
        </p:nvSpPr>
        <p:spPr/>
        <p:txBody>
          <a:bodyPr>
            <a:noAutofit/>
          </a:bodyPr>
          <a:lstStyle/>
          <a:p>
            <a:pPr marL="681038" indent="-514350" algn="just">
              <a:buAutoNum type="arabicPeriod"/>
            </a:pPr>
            <a:r>
              <a:rPr lang="vi-VN" sz="3200">
                <a:latin typeface="+mj-lt"/>
              </a:rPr>
              <a:t>Khởi chạy Qt Designer và tạo một ứng dụng mới dựa trên mẫu Dialog without Buttons.</a:t>
            </a:r>
            <a:endParaRPr lang="en-US" sz="3200">
              <a:latin typeface="+mj-lt"/>
            </a:endParaRPr>
          </a:p>
          <a:p>
            <a:pPr marL="681038" indent="-514350" algn="just">
              <a:buAutoNum type="arabicPeriod"/>
            </a:pPr>
            <a:r>
              <a:rPr lang="vi-VN" sz="3200">
                <a:latin typeface="+mj-lt"/>
              </a:rPr>
              <a:t>Trong ứng dụng, kéo và thả sáu tiện ích Label, sáu tiện ích Line Edit</a:t>
            </a:r>
            <a:r>
              <a:rPr lang="en-US" sz="3200">
                <a:latin typeface="+mj-lt"/>
              </a:rPr>
              <a:t> </a:t>
            </a:r>
            <a:r>
              <a:rPr lang="vi-VN" sz="3200">
                <a:latin typeface="+mj-lt"/>
              </a:rPr>
              <a:t>và một tiện ích Push Button vào form.</a:t>
            </a:r>
            <a:endParaRPr lang="en-US" sz="3200">
              <a:latin typeface="+mj-lt"/>
            </a:endParaRPr>
          </a:p>
          <a:p>
            <a:pPr marL="681038" indent="-514350" algn="just">
              <a:buAutoNum type="arabicPeriod"/>
            </a:pPr>
            <a:r>
              <a:rPr lang="vi-VN" sz="3200">
                <a:latin typeface="+mj-lt"/>
              </a:rPr>
              <a:t>Đặt thuộc tính text</a:t>
            </a:r>
            <a:r>
              <a:rPr lang="en-US" sz="3200">
                <a:latin typeface="+mj-lt"/>
              </a:rPr>
              <a:t> </a:t>
            </a:r>
            <a:r>
              <a:rPr lang="vi-VN" sz="3200">
                <a:latin typeface="+mj-lt"/>
              </a:rPr>
              <a:t>của sáu tiện ích Label thành </a:t>
            </a:r>
            <a:r>
              <a:rPr lang="en-US" sz="3200">
                <a:latin typeface="+mj-lt"/>
              </a:rPr>
              <a:t> </a:t>
            </a:r>
            <a:r>
              <a:rPr lang="en-US" sz="3200">
                <a:latin typeface="Times New Roman" panose="02020603050405020304" pitchFamily="18" charset="0"/>
                <a:cs typeface="Times New Roman" panose="02020603050405020304" pitchFamily="18" charset="0"/>
              </a:rPr>
              <a:t>Student Code, Student Name, History Marks, Geography Marks, Total, and Percentage</a:t>
            </a:r>
            <a:r>
              <a:rPr lang="vi-VN" sz="3200">
                <a:latin typeface="Times New Roman" panose="02020603050405020304" pitchFamily="18" charset="0"/>
                <a:cs typeface="Times New Roman" panose="02020603050405020304" pitchFamily="18" charset="0"/>
              </a:rPr>
              <a:t>.</a:t>
            </a:r>
            <a:endParaRPr lang="en-US" sz="3200">
              <a:latin typeface="Times New Roman" panose="02020603050405020304" pitchFamily="18" charset="0"/>
              <a:cs typeface="Times New Roman" panose="02020603050405020304" pitchFamily="18" charset="0"/>
            </a:endParaRPr>
          </a:p>
          <a:p>
            <a:pPr marL="681038" indent="-514350" algn="just">
              <a:buAutoNum type="arabicPeriod"/>
            </a:pPr>
            <a:r>
              <a:rPr lang="vi-VN" sz="3200">
                <a:latin typeface="+mj-lt"/>
              </a:rPr>
              <a:t>Đặt thuộc tính text</a:t>
            </a:r>
            <a:r>
              <a:rPr lang="en-US" sz="3200">
                <a:latin typeface="+mj-lt"/>
              </a:rPr>
              <a:t> </a:t>
            </a:r>
            <a:r>
              <a:rPr lang="vi-VN" sz="3200">
                <a:latin typeface="+mj-lt"/>
              </a:rPr>
              <a:t>của tiện ích Push Button</a:t>
            </a:r>
            <a:r>
              <a:rPr lang="en-US" sz="3200">
                <a:latin typeface="+mj-lt"/>
              </a:rPr>
              <a:t> </a:t>
            </a:r>
            <a:r>
              <a:rPr lang="vi-VN" sz="3200">
                <a:latin typeface="+mj-lt"/>
              </a:rPr>
              <a:t>thành </a:t>
            </a:r>
            <a:r>
              <a:rPr lang="vi-VN" sz="3200" b="1" i="1">
                <a:latin typeface="+mj-lt"/>
              </a:rPr>
              <a:t>Click</a:t>
            </a:r>
            <a:r>
              <a:rPr lang="vi-VN" sz="3200">
                <a:latin typeface="+mj-lt"/>
              </a:rPr>
              <a:t>.</a:t>
            </a:r>
            <a:endParaRPr lang="en-US" sz="3200">
              <a:latin typeface="+mj-lt"/>
            </a:endParaRPr>
          </a:p>
        </p:txBody>
      </p:sp>
    </p:spTree>
    <p:extLst>
      <p:ext uri="{BB962C8B-B14F-4D97-AF65-F5344CB8AC3E}">
        <p14:creationId xmlns:p14="http://schemas.microsoft.com/office/powerpoint/2010/main" val="9550344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normAutofit/>
          </a:bodyPr>
          <a:lstStyle/>
          <a:p>
            <a:r>
              <a:rPr lang="vi-VN"/>
              <a:t>Sử Dụng Nhiều Kế Thừa</a:t>
            </a:r>
            <a:endParaRPr lang="en-US">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A05207F5-9277-4B70-8029-F15634F01215}"/>
              </a:ext>
            </a:extLst>
          </p:cNvPr>
          <p:cNvSpPr>
            <a:spLocks noGrp="1"/>
          </p:cNvSpPr>
          <p:nvPr>
            <p:ph idx="1"/>
          </p:nvPr>
        </p:nvSpPr>
        <p:spPr/>
        <p:txBody>
          <a:bodyPr>
            <a:noAutofit/>
          </a:bodyPr>
          <a:lstStyle/>
          <a:p>
            <a:pPr marL="166688" indent="0" algn="just">
              <a:buNone/>
            </a:pPr>
            <a:r>
              <a:rPr lang="en-US" sz="3200">
                <a:latin typeface="Times New Roman" panose="02020603050405020304" pitchFamily="18" charset="0"/>
                <a:cs typeface="Times New Roman" panose="02020603050405020304" pitchFamily="18" charset="0"/>
              </a:rPr>
              <a:t>5. </a:t>
            </a:r>
            <a:r>
              <a:rPr lang="vi-VN" sz="3200">
                <a:latin typeface="Times New Roman" panose="02020603050405020304" pitchFamily="18" charset="0"/>
                <a:cs typeface="Times New Roman" panose="02020603050405020304" pitchFamily="18" charset="0"/>
              </a:rPr>
              <a:t>Đặt thuộc tính objectName của sáu tiện ích </a:t>
            </a:r>
            <a:r>
              <a:rPr lang="en-US" sz="3200">
                <a:latin typeface="Times New Roman" panose="02020603050405020304" pitchFamily="18" charset="0"/>
                <a:cs typeface="Times New Roman" panose="02020603050405020304" pitchFamily="18" charset="0"/>
              </a:rPr>
              <a:t>L</a:t>
            </a:r>
            <a:r>
              <a:rPr lang="vi-VN" sz="3200">
                <a:latin typeface="Times New Roman" panose="02020603050405020304" pitchFamily="18" charset="0"/>
                <a:cs typeface="Times New Roman" panose="02020603050405020304" pitchFamily="18" charset="0"/>
              </a:rPr>
              <a:t>ine Edit</a:t>
            </a:r>
            <a:r>
              <a:rPr lang="en-US" sz="3200">
                <a:latin typeface="Times New Roman" panose="02020603050405020304" pitchFamily="18" charset="0"/>
                <a:cs typeface="Times New Roman" panose="02020603050405020304" pitchFamily="18" charset="0"/>
              </a:rPr>
              <a:t> </a:t>
            </a:r>
            <a:r>
              <a:rPr lang="vi-VN" sz="3200">
                <a:latin typeface="Times New Roman" panose="02020603050405020304" pitchFamily="18" charset="0"/>
                <a:cs typeface="Times New Roman" panose="02020603050405020304" pitchFamily="18" charset="0"/>
              </a:rPr>
              <a:t>thành lineEditCode, lineEditName, lineEditHistoryMarks, lineEditGeographyMarks, lineEditTotal và lineEditPercentage.</a:t>
            </a:r>
            <a:endParaRPr lang="en-US" sz="3200">
              <a:latin typeface="Times New Roman" panose="02020603050405020304" pitchFamily="18" charset="0"/>
              <a:cs typeface="Times New Roman" panose="02020603050405020304" pitchFamily="18" charset="0"/>
            </a:endParaRPr>
          </a:p>
          <a:p>
            <a:pPr marL="166688" indent="0" algn="just">
              <a:buNone/>
            </a:pPr>
            <a:r>
              <a:rPr lang="vi-VN" sz="3200">
                <a:latin typeface="Times New Roman" panose="02020603050405020304" pitchFamily="18" charset="0"/>
                <a:cs typeface="Times New Roman" panose="02020603050405020304" pitchFamily="18" charset="0"/>
              </a:rPr>
              <a:t>6. Đặt thuộc tính objectName của tiện ích Push Button</a:t>
            </a:r>
            <a:r>
              <a:rPr lang="en-US" sz="3200">
                <a:latin typeface="Times New Roman" panose="02020603050405020304" pitchFamily="18" charset="0"/>
                <a:cs typeface="Times New Roman" panose="02020603050405020304" pitchFamily="18" charset="0"/>
              </a:rPr>
              <a:t> </a:t>
            </a:r>
            <a:r>
              <a:rPr lang="vi-VN" sz="3200">
                <a:latin typeface="Times New Roman" panose="02020603050405020304" pitchFamily="18" charset="0"/>
                <a:cs typeface="Times New Roman" panose="02020603050405020304" pitchFamily="18" charset="0"/>
              </a:rPr>
              <a:t>thành ButtonClickMe.</a:t>
            </a:r>
            <a:endParaRPr lang="en-US" sz="3200">
              <a:latin typeface="Times New Roman" panose="02020603050405020304" pitchFamily="18" charset="0"/>
              <a:cs typeface="Times New Roman" panose="02020603050405020304" pitchFamily="18" charset="0"/>
            </a:endParaRPr>
          </a:p>
          <a:p>
            <a:pPr marL="166688" indent="0" algn="just">
              <a:buNone/>
            </a:pPr>
            <a:r>
              <a:rPr lang="vi-VN" sz="3200">
                <a:latin typeface="Times New Roman" panose="02020603050405020304" pitchFamily="18" charset="0"/>
                <a:cs typeface="Times New Roman" panose="02020603050405020304" pitchFamily="18" charset="0"/>
              </a:rPr>
              <a:t>7. Vô hiệu hóa các hộp lineEditTotal và lineEditPercentage bằng cách bỏ chọn thuộc tính </a:t>
            </a:r>
            <a:r>
              <a:rPr lang="vi-VN" sz="3200" b="1">
                <a:latin typeface="Times New Roman" panose="02020603050405020304" pitchFamily="18" charset="0"/>
                <a:cs typeface="Times New Roman" panose="02020603050405020304" pitchFamily="18" charset="0"/>
              </a:rPr>
              <a:t>Enable</a:t>
            </a:r>
            <a:r>
              <a:rPr lang="vi-VN" sz="3200">
                <a:latin typeface="Times New Roman" panose="02020603050405020304" pitchFamily="18" charset="0"/>
                <a:cs typeface="Times New Roman" panose="02020603050405020304" pitchFamily="18" charset="0"/>
              </a:rPr>
              <a:t> từ cửa sổ Property Editor. Các hộp lineEditTotal và lineEditPercentage bị vô hiệu hóa vì các giá trị trong các hộp này sẽ được gán thông qua code và chúng t</a:t>
            </a:r>
            <a:r>
              <a:rPr lang="en-US" sz="3200">
                <a:latin typeface="Times New Roman" panose="02020603050405020304" pitchFamily="18" charset="0"/>
                <a:cs typeface="Times New Roman" panose="02020603050405020304" pitchFamily="18" charset="0"/>
              </a:rPr>
              <a:t>a</a:t>
            </a:r>
            <a:r>
              <a:rPr lang="vi-VN" sz="3200">
                <a:latin typeface="Times New Roman" panose="02020603050405020304" pitchFamily="18" charset="0"/>
                <a:cs typeface="Times New Roman" panose="02020603050405020304" pitchFamily="18" charset="0"/>
              </a:rPr>
              <a:t> không muốn người dùng thay đổi giá trị của chúng.</a:t>
            </a:r>
            <a:endParaRPr lang="en-US" sz="32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647085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normAutofit/>
          </a:bodyPr>
          <a:lstStyle/>
          <a:p>
            <a:r>
              <a:rPr lang="vi-VN"/>
              <a:t>Sử Dụng Nhiều Kế Thừa</a:t>
            </a:r>
            <a:endParaRPr lang="en-US">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A05207F5-9277-4B70-8029-F15634F01215}"/>
              </a:ext>
            </a:extLst>
          </p:cNvPr>
          <p:cNvSpPr>
            <a:spLocks noGrp="1"/>
          </p:cNvSpPr>
          <p:nvPr>
            <p:ph idx="1"/>
          </p:nvPr>
        </p:nvSpPr>
        <p:spPr>
          <a:xfrm>
            <a:off x="41510" y="905260"/>
            <a:ext cx="9102490" cy="5809479"/>
          </a:xfrm>
        </p:spPr>
        <p:txBody>
          <a:bodyPr>
            <a:noAutofit/>
          </a:bodyPr>
          <a:lstStyle/>
          <a:p>
            <a:pPr marL="166688" indent="0" algn="just">
              <a:buNone/>
            </a:pPr>
            <a:r>
              <a:rPr lang="vi-VN" sz="3200">
                <a:latin typeface="Times New Roman" panose="02020603050405020304" pitchFamily="18" charset="0"/>
                <a:cs typeface="Times New Roman" panose="02020603050405020304" pitchFamily="18" charset="0"/>
              </a:rPr>
              <a:t>8. Lưu ứng dụng với tên demoMult MônInherribution.ui. Ứng dụng sẽ xuất hiện như trong ảnh chụp màn hình sau:</a:t>
            </a:r>
            <a:endParaRPr lang="en-US" sz="3200">
              <a:latin typeface="Times New Roman" panose="02020603050405020304" pitchFamily="18" charset="0"/>
              <a:cs typeface="Times New Roman" panose="02020603050405020304" pitchFamily="18" charset="0"/>
            </a:endParaRPr>
          </a:p>
          <a:p>
            <a:pPr marL="166688" indent="0" algn="just">
              <a:buNone/>
            </a:pPr>
            <a:endParaRPr lang="en-US" sz="3200">
              <a:latin typeface="Times New Roman" panose="02020603050405020304" pitchFamily="18" charset="0"/>
              <a:cs typeface="Times New Roman" panose="02020603050405020304" pitchFamily="18" charset="0"/>
            </a:endParaRPr>
          </a:p>
          <a:p>
            <a:pPr marL="166688" indent="0" algn="just">
              <a:buNone/>
            </a:pPr>
            <a:endParaRPr lang="en-US" sz="3200">
              <a:latin typeface="Times New Roman" panose="02020603050405020304" pitchFamily="18" charset="0"/>
              <a:cs typeface="Times New Roman" panose="02020603050405020304" pitchFamily="18" charset="0"/>
            </a:endParaRPr>
          </a:p>
          <a:p>
            <a:pPr marL="166688" indent="0" algn="just">
              <a:buNone/>
            </a:pPr>
            <a:endParaRPr lang="en-US" sz="3200">
              <a:latin typeface="Times New Roman" panose="02020603050405020304" pitchFamily="18" charset="0"/>
              <a:cs typeface="Times New Roman" panose="02020603050405020304" pitchFamily="18" charset="0"/>
            </a:endParaRPr>
          </a:p>
          <a:p>
            <a:pPr marL="166688" indent="0" algn="just">
              <a:buNone/>
            </a:pPr>
            <a:endParaRPr lang="en-US" sz="3200">
              <a:latin typeface="Times New Roman" panose="02020603050405020304" pitchFamily="18" charset="0"/>
              <a:cs typeface="Times New Roman" panose="02020603050405020304" pitchFamily="18" charset="0"/>
            </a:endParaRPr>
          </a:p>
          <a:p>
            <a:pPr marL="166688" indent="0" algn="just">
              <a:buNone/>
            </a:pPr>
            <a:endParaRPr lang="en-US" sz="3200">
              <a:latin typeface="Times New Roman" panose="02020603050405020304" pitchFamily="18" charset="0"/>
              <a:cs typeface="Times New Roman" panose="02020603050405020304" pitchFamily="18" charset="0"/>
            </a:endParaRPr>
          </a:p>
        </p:txBody>
      </p:sp>
      <p:pic>
        <p:nvPicPr>
          <p:cNvPr id="5" name="Picture 4" descr="sách Qt5-Python-GUI-Programming-Cookbook.pdf - Adobe Acrobat Reader DC">
            <a:extLst>
              <a:ext uri="{FF2B5EF4-FFF2-40B4-BE49-F238E27FC236}">
                <a16:creationId xmlns:a16="http://schemas.microsoft.com/office/drawing/2014/main" id="{8719D3A0-5C9A-4779-9FFE-84697A214786}"/>
              </a:ext>
            </a:extLst>
          </p:cNvPr>
          <p:cNvPicPr>
            <a:picLocks noChangeAspect="1"/>
          </p:cNvPicPr>
          <p:nvPr/>
        </p:nvPicPr>
        <p:blipFill rotWithShape="1">
          <a:blip r:embed="rId2">
            <a:extLst>
              <a:ext uri="{28A0092B-C50C-407E-A947-70E740481C1C}">
                <a14:useLocalDpi xmlns:a14="http://schemas.microsoft.com/office/drawing/2010/main" val="0"/>
              </a:ext>
            </a:extLst>
          </a:blip>
          <a:srcRect l="26212" t="35506" r="40454" b="8768"/>
          <a:stretch/>
        </p:blipFill>
        <p:spPr>
          <a:xfrm>
            <a:off x="2424545" y="2438400"/>
            <a:ext cx="4447309" cy="3514340"/>
          </a:xfrm>
          <a:prstGeom prst="rect">
            <a:avLst/>
          </a:prstGeom>
        </p:spPr>
      </p:pic>
    </p:spTree>
    <p:extLst>
      <p:ext uri="{BB962C8B-B14F-4D97-AF65-F5344CB8AC3E}">
        <p14:creationId xmlns:p14="http://schemas.microsoft.com/office/powerpoint/2010/main" val="7873561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normAutofit/>
          </a:bodyPr>
          <a:lstStyle/>
          <a:p>
            <a:r>
              <a:rPr lang="vi-VN"/>
              <a:t>Sử Dụng Nhiều Kế Thừa</a:t>
            </a:r>
            <a:endParaRPr lang="en-US">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A05207F5-9277-4B70-8029-F15634F01215}"/>
              </a:ext>
            </a:extLst>
          </p:cNvPr>
          <p:cNvSpPr>
            <a:spLocks noGrp="1"/>
          </p:cNvSpPr>
          <p:nvPr>
            <p:ph idx="1"/>
          </p:nvPr>
        </p:nvSpPr>
        <p:spPr>
          <a:xfrm>
            <a:off x="41510" y="905260"/>
            <a:ext cx="9102490" cy="5809479"/>
          </a:xfrm>
        </p:spPr>
        <p:txBody>
          <a:bodyPr>
            <a:noAutofit/>
          </a:bodyPr>
          <a:lstStyle/>
          <a:p>
            <a:pPr marL="166688" indent="0" algn="just">
              <a:buNone/>
            </a:pPr>
            <a:r>
              <a:rPr lang="vi-VN" sz="3200">
                <a:latin typeface="+mj-lt"/>
              </a:rPr>
              <a:t>File giao diện người dùng demoMult MônInherribution .ui là một file XML và được chuyển đổi thành code Python bằng tiện ích pyuic5. File demoMult MônInherribution.py sẽ được sử dụng làm file tiêu đề và sẽ được nhập vào một tập lệnh Python khác, sẽ gọi GUI được tạo trong file demoMult MônInherribution.py.</a:t>
            </a:r>
            <a:endParaRPr lang="en-US" sz="3200">
              <a:latin typeface="+mj-lt"/>
            </a:endParaRPr>
          </a:p>
          <a:p>
            <a:pPr marL="166688" indent="0" algn="just">
              <a:buNone/>
            </a:pPr>
            <a:r>
              <a:rPr lang="vi-VN" sz="3200">
                <a:latin typeface="+mj-lt"/>
              </a:rPr>
              <a:t>9. Tạo một file Python khác với tên callMult MônInherribution.pyw và nhập code demoMult MônInherribution.py vào đó:</a:t>
            </a:r>
            <a:endParaRPr lang="en-US" sz="3200">
              <a:latin typeface="+mj-lt"/>
              <a:cs typeface="Times New Roman" panose="02020603050405020304" pitchFamily="18" charset="0"/>
            </a:endParaRPr>
          </a:p>
        </p:txBody>
      </p:sp>
    </p:spTree>
    <p:extLst>
      <p:ext uri="{BB962C8B-B14F-4D97-AF65-F5344CB8AC3E}">
        <p14:creationId xmlns:p14="http://schemas.microsoft.com/office/powerpoint/2010/main" val="13645165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normAutofit/>
          </a:bodyPr>
          <a:lstStyle/>
          <a:p>
            <a:r>
              <a:rPr lang="vi-VN"/>
              <a:t>Sử Dụng Nhiều Kế Thừa</a:t>
            </a:r>
            <a:endParaRPr lang="en-US">
              <a:latin typeface="Times New Roman" panose="02020603050405020304" pitchFamily="18" charset="0"/>
              <a:cs typeface="Times New Roman" panose="02020603050405020304" pitchFamily="18" charset="0"/>
            </a:endParaRPr>
          </a:p>
        </p:txBody>
      </p:sp>
      <p:pic>
        <p:nvPicPr>
          <p:cNvPr id="5" name="Content Placeholder 4" descr="sách Qt5-Python-GUI-Programming-Cookbook.pdf - Adobe Acrobat Reader DC">
            <a:extLst>
              <a:ext uri="{FF2B5EF4-FFF2-40B4-BE49-F238E27FC236}">
                <a16:creationId xmlns:a16="http://schemas.microsoft.com/office/drawing/2014/main" id="{0AC0BAAB-B4E2-48A9-BA5A-E57AE7F611A6}"/>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20246" t="19749" r="33789" b="14660"/>
          <a:stretch/>
        </p:blipFill>
        <p:spPr>
          <a:xfrm>
            <a:off x="387927" y="862149"/>
            <a:ext cx="8506691" cy="5704906"/>
          </a:xfrm>
        </p:spPr>
      </p:pic>
    </p:spTree>
    <p:extLst>
      <p:ext uri="{BB962C8B-B14F-4D97-AF65-F5344CB8AC3E}">
        <p14:creationId xmlns:p14="http://schemas.microsoft.com/office/powerpoint/2010/main" val="3490590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normAutofit/>
          </a:bodyPr>
          <a:lstStyle/>
          <a:p>
            <a:r>
              <a:rPr lang="vi-VN"/>
              <a:t>Sử Dụng Nhiều Kế Thừa</a:t>
            </a:r>
            <a:endParaRPr lang="en-US">
              <a:latin typeface="Times New Roman" panose="02020603050405020304" pitchFamily="18" charset="0"/>
              <a:cs typeface="Times New Roman" panose="02020603050405020304" pitchFamily="18" charset="0"/>
            </a:endParaRPr>
          </a:p>
        </p:txBody>
      </p:sp>
      <p:pic>
        <p:nvPicPr>
          <p:cNvPr id="7" name="Content Placeholder 6" descr="sách Qt5-Python-GUI-Programming-Cookbook.pdf - Adobe Acrobat Reader DC">
            <a:extLst>
              <a:ext uri="{FF2B5EF4-FFF2-40B4-BE49-F238E27FC236}">
                <a16:creationId xmlns:a16="http://schemas.microsoft.com/office/drawing/2014/main" id="{E4CF5CDA-5C4D-4357-90BA-9AEE3C73889E}"/>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9542" t="19945" r="28709" b="17008"/>
          <a:stretch/>
        </p:blipFill>
        <p:spPr>
          <a:xfrm>
            <a:off x="471054" y="862149"/>
            <a:ext cx="8478982" cy="5677196"/>
          </a:xfrm>
        </p:spPr>
      </p:pic>
    </p:spTree>
    <p:extLst>
      <p:ext uri="{BB962C8B-B14F-4D97-AF65-F5344CB8AC3E}">
        <p14:creationId xmlns:p14="http://schemas.microsoft.com/office/powerpoint/2010/main" val="34138744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normAutofit/>
          </a:bodyPr>
          <a:lstStyle/>
          <a:p>
            <a:r>
              <a:rPr lang="vi-VN"/>
              <a:t>Sử Dụng Nhiều Kế Thừa</a:t>
            </a:r>
            <a:endParaRPr lang="en-US">
              <a:latin typeface="Times New Roman" panose="02020603050405020304" pitchFamily="18" charset="0"/>
              <a:cs typeface="Times New Roman" panose="02020603050405020304" pitchFamily="18" charset="0"/>
            </a:endParaRPr>
          </a:p>
        </p:txBody>
      </p:sp>
      <p:pic>
        <p:nvPicPr>
          <p:cNvPr id="6" name="Content Placeholder 5" descr="sách Qt5-Python-GUI-Programming-Cookbook.pdf - Adobe Acrobat Reader DC">
            <a:extLst>
              <a:ext uri="{FF2B5EF4-FFF2-40B4-BE49-F238E27FC236}">
                <a16:creationId xmlns:a16="http://schemas.microsoft.com/office/drawing/2014/main" id="{F3D53E4A-4530-4C46-A6B7-594FFCB133E9}"/>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20607" t="28709" r="33428" b="32841"/>
          <a:stretch/>
        </p:blipFill>
        <p:spPr>
          <a:xfrm>
            <a:off x="387928" y="862149"/>
            <a:ext cx="8451272" cy="4901342"/>
          </a:xfrm>
        </p:spPr>
      </p:pic>
    </p:spTree>
    <p:extLst>
      <p:ext uri="{BB962C8B-B14F-4D97-AF65-F5344CB8AC3E}">
        <p14:creationId xmlns:p14="http://schemas.microsoft.com/office/powerpoint/2010/main" val="404750786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7517</TotalTime>
  <Words>3417</Words>
  <Application>Microsoft Office PowerPoint</Application>
  <PresentationFormat>On-screen Show (4:3)</PresentationFormat>
  <Paragraphs>179</Paragraphs>
  <Slides>43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43</vt:i4>
      </vt:variant>
    </vt:vector>
  </HeadingPairs>
  <TitlesOfParts>
    <vt:vector size="48" baseType="lpstr">
      <vt:lpstr>Arial</vt:lpstr>
      <vt:lpstr>Calibri</vt:lpstr>
      <vt:lpstr>Calibri Light</vt:lpstr>
      <vt:lpstr>Times New Roman</vt:lpstr>
      <vt:lpstr>Office Theme</vt:lpstr>
      <vt:lpstr>UNDERSTANDING OOP CONCEPTS</vt:lpstr>
      <vt:lpstr>Nội dung</vt:lpstr>
      <vt:lpstr>Lập Trình Hướng Đối Tượng</vt:lpstr>
      <vt:lpstr>Lập Trình Hướng Đối Tượng</vt:lpstr>
      <vt:lpstr>Sử Dụng Các Thuộc Tính Lớp Tích Hợp</vt:lpstr>
      <vt:lpstr>Sử Dụng Các Thuộc Tính Lớp Tích Hợp</vt:lpstr>
      <vt:lpstr>Sử Dụng Các Thuộc Tính Lớp Tích Hợp</vt:lpstr>
      <vt:lpstr>Sử Dụng Các Thuộc Tính Lớp Tích Hợp</vt:lpstr>
      <vt:lpstr>Sử Dụng Các Lớp Trong GUI</vt:lpstr>
      <vt:lpstr>Sử Dụng Các Lớp Trong GUI</vt:lpstr>
      <vt:lpstr>Sử Dụng Các Lớp Trong GUI</vt:lpstr>
      <vt:lpstr>Sử Dụng Các Lớp Trong GUI</vt:lpstr>
      <vt:lpstr>Sử Dụng Các Lớp Trong GUI</vt:lpstr>
      <vt:lpstr>Sử Dụng Các Lớp Trong GUI</vt:lpstr>
      <vt:lpstr>Sử Dụng Các Lớp Trong GUI</vt:lpstr>
      <vt:lpstr>Sử Dụng Thừa Kế Đơn</vt:lpstr>
      <vt:lpstr>Sử Dụng Thừa Kế Đơn</vt:lpstr>
      <vt:lpstr>Sử Dụng Thừa Kế Đơn</vt:lpstr>
      <vt:lpstr>Sử Dụng Thừa Kế Đơn</vt:lpstr>
      <vt:lpstr>Sử Dụng Thừa Kế Đơn</vt:lpstr>
      <vt:lpstr>Sử Dụng Thừa Kế Đơn</vt:lpstr>
      <vt:lpstr>Sử Dụng Thừa Kế Đơn</vt:lpstr>
      <vt:lpstr>Sử Dụng Thừa Kế Đa Cấp</vt:lpstr>
      <vt:lpstr>Sử Dụng Thừa Kế Đa Cấp</vt:lpstr>
      <vt:lpstr>Sử Dụng Thừa Kế Đa Cấp</vt:lpstr>
      <vt:lpstr>Sử Dụng Thừa Kế Đa Cấp</vt:lpstr>
      <vt:lpstr>Sử Dụng Thừa Kế Đa Cấp</vt:lpstr>
      <vt:lpstr>Sử Dụng Thừa Kế Đa Cấp</vt:lpstr>
      <vt:lpstr>Sử Dụng Thừa Kế Đa Cấp</vt:lpstr>
      <vt:lpstr>Sử Dụng Thừa Kế Đa Cấp</vt:lpstr>
      <vt:lpstr>Sử Dụng Thừa Kế Đa Cấp</vt:lpstr>
      <vt:lpstr>Sử Dụng Thừa Kế Đa Cấp</vt:lpstr>
      <vt:lpstr>Sử Dụng Nhiều Kế Thừa</vt:lpstr>
      <vt:lpstr>Sử Dụng Nhiều Kế Thừa</vt:lpstr>
      <vt:lpstr>Sử Dụng Nhiều Kế Thừa</vt:lpstr>
      <vt:lpstr>Sử Dụng Nhiều Kế Thừa</vt:lpstr>
      <vt:lpstr>Sử Dụng Nhiều Kế Thừa</vt:lpstr>
      <vt:lpstr>Sử Dụng Nhiều Kế Thừa</vt:lpstr>
      <vt:lpstr>Sử Dụng Nhiều Kế Thừa</vt:lpstr>
      <vt:lpstr>Sử Dụng Nhiều Kế Thừa</vt:lpstr>
      <vt:lpstr>Sử Dụng Nhiều Kế Thừa</vt:lpstr>
      <vt:lpstr>Sử Dụng Nhiều Kế Thừa</vt:lpstr>
      <vt:lpstr>Sử Dụng Nhiều Kế Thừa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Tạo giao diện người dùng với các thành phần Qt</dc:title>
  <dc:creator>bruce shelby</dc:creator>
  <cp:lastModifiedBy>Hung</cp:lastModifiedBy>
  <cp:revision>845</cp:revision>
  <dcterms:created xsi:type="dcterms:W3CDTF">2019-07-31T07:44:13Z</dcterms:created>
  <dcterms:modified xsi:type="dcterms:W3CDTF">2019-11-13T18:51:22Z</dcterms:modified>
</cp:coreProperties>
</file>