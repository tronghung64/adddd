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61" r:id="rId6"/>
    <p:sldId id="258"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44" autoAdjust="0"/>
    <p:restoredTop sz="94878" autoAdjust="0"/>
  </p:normalViewPr>
  <p:slideViewPr>
    <p:cSldViewPr snapToGrid="0">
      <p:cViewPr varScale="1">
        <p:scale>
          <a:sx n="78" d="100"/>
          <a:sy n="78" d="100"/>
        </p:scale>
        <p:origin x="98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08/08/2019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20250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08/08/2019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4064473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08/08/2019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8848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08/08/2019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94314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08/08/2019</a:t>
            </a:fld>
            <a:endParaRPr lang="en-US"/>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802892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08/08/2019</a:t>
            </a:fld>
            <a:endParaRPr 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57217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08/08/2019</a:t>
            </a:fld>
            <a:endParaRPr lang="en-US"/>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2724488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08/08/2019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15917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08/08/2019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14818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08/08/2019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434933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08/08/2019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06932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59" y="28244"/>
            <a:ext cx="9102490" cy="90540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259" y="1020278"/>
            <a:ext cx="9102490" cy="58094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10505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465AF-1E9D-4F47-A457-BB8E06933EF4}"/>
              </a:ext>
            </a:extLst>
          </p:cNvPr>
          <p:cNvSpPr>
            <a:spLocks noGrp="1"/>
          </p:cNvSpPr>
          <p:nvPr>
            <p:ph type="ctrTitle"/>
          </p:nvPr>
        </p:nvSpPr>
        <p:spPr/>
        <p:txBody>
          <a:bodyPr>
            <a:normAutofit fontScale="90000"/>
          </a:bodyPr>
          <a:lstStyle/>
          <a:p>
            <a:r>
              <a:rPr lang="vi-VN"/>
              <a:t>Xử lý sự kiện </a:t>
            </a:r>
            <a:br>
              <a:rPr lang="en-US"/>
            </a:br>
            <a:r>
              <a:rPr lang="vi-VN"/>
              <a:t>Signals</a:t>
            </a:r>
            <a:r>
              <a:rPr lang="en-US"/>
              <a:t> (tín hiệu)</a:t>
            </a:r>
            <a:r>
              <a:rPr lang="vi-VN"/>
              <a:t> </a:t>
            </a:r>
            <a:r>
              <a:rPr lang="en-US"/>
              <a:t>và</a:t>
            </a:r>
            <a:r>
              <a:rPr lang="vi-VN"/>
              <a:t> Slots</a:t>
            </a:r>
            <a:r>
              <a:rPr lang="en-US"/>
              <a:t> (khe cắm)</a:t>
            </a:r>
          </a:p>
        </p:txBody>
      </p:sp>
      <p:sp>
        <p:nvSpPr>
          <p:cNvPr id="3" name="Subtitle 2">
            <a:extLst>
              <a:ext uri="{FF2B5EF4-FFF2-40B4-BE49-F238E27FC236}">
                <a16:creationId xmlns:a16="http://schemas.microsoft.com/office/drawing/2014/main" id="{DAD84004-3706-4DD2-91FA-FF80F7B22CB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9427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42849-2C44-4A5B-BBC0-174A58162A23}"/>
              </a:ext>
            </a:extLst>
          </p:cNvPr>
          <p:cNvSpPr>
            <a:spLocks noGrp="1"/>
          </p:cNvSpPr>
          <p:nvPr>
            <p:ph type="title"/>
          </p:nvPr>
        </p:nvSpPr>
        <p:spPr/>
        <p:txBody>
          <a:bodyPr/>
          <a:lstStyle/>
          <a:p>
            <a:r>
              <a:rPr lang="en-US"/>
              <a:t>Nội dung</a:t>
            </a:r>
          </a:p>
        </p:txBody>
      </p:sp>
      <p:sp>
        <p:nvSpPr>
          <p:cNvPr id="3" name="Content Placeholder 2">
            <a:extLst>
              <a:ext uri="{FF2B5EF4-FFF2-40B4-BE49-F238E27FC236}">
                <a16:creationId xmlns:a16="http://schemas.microsoft.com/office/drawing/2014/main" id="{0F04A338-85AB-49A2-B0B6-DDFB259358F0}"/>
              </a:ext>
            </a:extLst>
          </p:cNvPr>
          <p:cNvSpPr>
            <a:spLocks noGrp="1"/>
          </p:cNvSpPr>
          <p:nvPr>
            <p:ph idx="1"/>
          </p:nvPr>
        </p:nvSpPr>
        <p:spPr/>
        <p:txBody>
          <a:bodyPr>
            <a:normAutofit fontScale="92500" lnSpcReduction="20000"/>
          </a:bodyPr>
          <a:lstStyle/>
          <a:p>
            <a:r>
              <a:rPr lang="vi-VN"/>
              <a:t>Sử dụng Trình chỉnh sửa </a:t>
            </a:r>
            <a:r>
              <a:rPr lang="en-US"/>
              <a:t>signal </a:t>
            </a:r>
            <a:r>
              <a:rPr lang="vi-VN"/>
              <a:t>/ </a:t>
            </a:r>
            <a:r>
              <a:rPr lang="en-US"/>
              <a:t>slot</a:t>
            </a:r>
            <a:endParaRPr lang="vi-VN"/>
          </a:p>
          <a:p>
            <a:r>
              <a:rPr lang="vi-VN"/>
              <a:t>Sao chép và dán văn bản từ một </a:t>
            </a:r>
            <a:r>
              <a:rPr lang="en-US"/>
              <a:t>widget Line Edit </a:t>
            </a:r>
            <a:r>
              <a:rPr lang="vi-VN"/>
              <a:t>sang một loại khác </a:t>
            </a:r>
            <a:endParaRPr lang="en-US"/>
          </a:p>
          <a:p>
            <a:r>
              <a:rPr lang="vi-VN"/>
              <a:t>Chuyển đổi dữ liệu và tạo một máy tính nhỏ</a:t>
            </a:r>
          </a:p>
          <a:p>
            <a:r>
              <a:rPr lang="vi-VN"/>
              <a:t>Sử dụng </a:t>
            </a:r>
            <a:r>
              <a:rPr lang="en-US"/>
              <a:t>widget Spin Box </a:t>
            </a:r>
          </a:p>
          <a:p>
            <a:r>
              <a:rPr lang="vi-VN"/>
              <a:t>Sử dụng thanh cuộn và thanh trượt </a:t>
            </a:r>
            <a:endParaRPr lang="en-US"/>
          </a:p>
          <a:p>
            <a:r>
              <a:rPr lang="vi-VN"/>
              <a:t>Sử dụng </a:t>
            </a:r>
            <a:r>
              <a:rPr lang="en-US"/>
              <a:t>widget List</a:t>
            </a:r>
            <a:endParaRPr lang="vi-VN"/>
          </a:p>
          <a:p>
            <a:r>
              <a:rPr lang="vi-VN"/>
              <a:t>Chọn nhiều mục danh sách từ một </a:t>
            </a:r>
            <a:r>
              <a:rPr lang="en-US"/>
              <a:t>w</a:t>
            </a:r>
            <a:r>
              <a:rPr lang="vi-VN"/>
              <a:t>idget </a:t>
            </a:r>
            <a:r>
              <a:rPr lang="en-US"/>
              <a:t>List </a:t>
            </a:r>
            <a:r>
              <a:rPr lang="vi-VN"/>
              <a:t>và hiển thị chúng trong một mục khác</a:t>
            </a:r>
          </a:p>
          <a:p>
            <a:r>
              <a:rPr lang="vi-VN"/>
              <a:t>Thêm các mục vào </a:t>
            </a:r>
            <a:r>
              <a:rPr lang="en-US"/>
              <a:t>widget List</a:t>
            </a:r>
          </a:p>
          <a:p>
            <a:r>
              <a:rPr lang="vi-VN"/>
              <a:t>Thực hiện các thao tác trong </a:t>
            </a:r>
            <a:r>
              <a:rPr lang="en-US"/>
              <a:t>widget List </a:t>
            </a:r>
          </a:p>
          <a:p>
            <a:r>
              <a:rPr lang="en-US"/>
              <a:t>S</a:t>
            </a:r>
            <a:r>
              <a:rPr lang="vi-VN"/>
              <a:t>ử dụng </a:t>
            </a:r>
            <a:r>
              <a:rPr lang="en-US"/>
              <a:t>widget Combo Box</a:t>
            </a:r>
            <a:endParaRPr lang="vi-VN"/>
          </a:p>
          <a:p>
            <a:r>
              <a:rPr lang="vi-VN"/>
              <a:t>Sử dụng </a:t>
            </a:r>
            <a:r>
              <a:rPr lang="en-US"/>
              <a:t>widget Font </a:t>
            </a:r>
            <a:r>
              <a:rPr lang="vi-VN"/>
              <a:t>Combo </a:t>
            </a:r>
            <a:r>
              <a:rPr lang="en-US"/>
              <a:t>Box</a:t>
            </a:r>
          </a:p>
          <a:p>
            <a:r>
              <a:rPr lang="vi-VN"/>
              <a:t>Sử dụng </a:t>
            </a:r>
            <a:r>
              <a:rPr lang="en-US"/>
              <a:t>widget Progress Bar</a:t>
            </a:r>
          </a:p>
        </p:txBody>
      </p:sp>
    </p:spTree>
    <p:extLst>
      <p:ext uri="{BB962C8B-B14F-4D97-AF65-F5344CB8AC3E}">
        <p14:creationId xmlns:p14="http://schemas.microsoft.com/office/powerpoint/2010/main" val="3865144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21504-7F7D-42A0-93E9-D51EDB8391CC}"/>
              </a:ext>
            </a:extLst>
          </p:cNvPr>
          <p:cNvSpPr>
            <a:spLocks noGrp="1"/>
          </p:cNvSpPr>
          <p:nvPr>
            <p:ph type="title"/>
          </p:nvPr>
        </p:nvSpPr>
        <p:spPr/>
        <p:txBody>
          <a:bodyPr>
            <a:normAutofit/>
          </a:bodyPr>
          <a:lstStyle/>
          <a:p>
            <a:r>
              <a:rPr lang="en-US" sz="4800" b="1"/>
              <a:t>Giới thiệu</a:t>
            </a:r>
          </a:p>
        </p:txBody>
      </p:sp>
      <p:sp>
        <p:nvSpPr>
          <p:cNvPr id="3" name="Content Placeholder 2">
            <a:extLst>
              <a:ext uri="{FF2B5EF4-FFF2-40B4-BE49-F238E27FC236}">
                <a16:creationId xmlns:a16="http://schemas.microsoft.com/office/drawing/2014/main" id="{DE2CD8F9-A812-48D9-ADBD-68BDC2B83DA5}"/>
              </a:ext>
            </a:extLst>
          </p:cNvPr>
          <p:cNvSpPr>
            <a:spLocks noGrp="1"/>
          </p:cNvSpPr>
          <p:nvPr>
            <p:ph idx="1"/>
          </p:nvPr>
        </p:nvSpPr>
        <p:spPr/>
        <p:txBody>
          <a:bodyPr>
            <a:normAutofit/>
          </a:bodyPr>
          <a:lstStyle/>
          <a:p>
            <a:pPr marL="0" indent="0">
              <a:buNone/>
            </a:pPr>
            <a:r>
              <a:rPr lang="vi-VN" sz="3200"/>
              <a:t>Xử lý sự kiện là một cơ chế quan trọng trong mọi ứng dụng. Ứng dụng không chỉ nhận ra sự kiện mà còn phải thực hiện hành động tương ứng để phục vụ sự kiện. Hành động được thực hiện trên bất kỳ sự kiện nào sẽ quyết định tiến trình của ứng dụng. Mỗi ngôn ngữ lập trình có một kỹ thuật khác nhau để xử lý hoặc nghe các sự kiện. Hãy xem cách Python xử lý các sự kiện của nó.</a:t>
            </a:r>
            <a:endParaRPr lang="en-US" sz="3200"/>
          </a:p>
        </p:txBody>
      </p:sp>
    </p:spTree>
    <p:extLst>
      <p:ext uri="{BB962C8B-B14F-4D97-AF65-F5344CB8AC3E}">
        <p14:creationId xmlns:p14="http://schemas.microsoft.com/office/powerpoint/2010/main" val="2251197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C32F4-821A-4E34-B9F1-57FC01ED499B}"/>
              </a:ext>
            </a:extLst>
          </p:cNvPr>
          <p:cNvSpPr>
            <a:spLocks noGrp="1"/>
          </p:cNvSpPr>
          <p:nvPr>
            <p:ph type="title"/>
          </p:nvPr>
        </p:nvSpPr>
        <p:spPr>
          <a:xfrm>
            <a:off x="22259" y="28244"/>
            <a:ext cx="9102490" cy="788185"/>
          </a:xfrm>
        </p:spPr>
        <p:txBody>
          <a:bodyPr>
            <a:normAutofit/>
          </a:bodyPr>
          <a:lstStyle/>
          <a:p>
            <a:r>
              <a:rPr lang="en-US" sz="4800"/>
              <a:t>Sử dụng </a:t>
            </a:r>
            <a:r>
              <a:rPr lang="en-US" sz="4800" b="1"/>
              <a:t>Signal/Slot Editor</a:t>
            </a:r>
          </a:p>
        </p:txBody>
      </p:sp>
      <p:sp>
        <p:nvSpPr>
          <p:cNvPr id="3" name="Content Placeholder 2">
            <a:extLst>
              <a:ext uri="{FF2B5EF4-FFF2-40B4-BE49-F238E27FC236}">
                <a16:creationId xmlns:a16="http://schemas.microsoft.com/office/drawing/2014/main" id="{2AF186F1-1A52-4A77-8583-8973DB6E9B89}"/>
              </a:ext>
            </a:extLst>
          </p:cNvPr>
          <p:cNvSpPr>
            <a:spLocks noGrp="1"/>
          </p:cNvSpPr>
          <p:nvPr>
            <p:ph idx="1"/>
          </p:nvPr>
        </p:nvSpPr>
        <p:spPr>
          <a:xfrm>
            <a:off x="22259" y="816430"/>
            <a:ext cx="9102490" cy="6013328"/>
          </a:xfrm>
        </p:spPr>
        <p:txBody>
          <a:bodyPr>
            <a:normAutofit/>
          </a:bodyPr>
          <a:lstStyle/>
          <a:p>
            <a:r>
              <a:rPr lang="vi-VN"/>
              <a:t>Trong PyQt, cơ chế xử lý sự kiện còn được gọi là </a:t>
            </a:r>
            <a:r>
              <a:rPr lang="en-US" b="1"/>
              <a:t>signal-</a:t>
            </a:r>
            <a:r>
              <a:rPr lang="vi-VN" b="1"/>
              <a:t>tín hiệu</a:t>
            </a:r>
            <a:r>
              <a:rPr lang="vi-VN"/>
              <a:t> và </a:t>
            </a:r>
            <a:r>
              <a:rPr lang="en-US" b="1"/>
              <a:t>slot-</a:t>
            </a:r>
            <a:r>
              <a:rPr lang="vi-VN" b="1"/>
              <a:t>khe cắm</a:t>
            </a:r>
            <a:r>
              <a:rPr lang="vi-VN"/>
              <a:t>. Một sự kiện có thể ở dạng nhấp hoặc nhấp đúp vào tiện ích hoặc nhấn phím </a:t>
            </a:r>
            <a:r>
              <a:rPr lang="vi-VN" i="1"/>
              <a:t>Enter</a:t>
            </a:r>
            <a:r>
              <a:rPr lang="vi-VN"/>
              <a:t> hoặc chọn tùy chọn từ nút radio, hộp kiểm, v.v. Mọi widget đều phát ra tín hiệu khi bất kỳ sự kiện nào được áp dụng trên nó và, tín hiệu đó cần được kết nối với một phương thức, còn được gọi là khe</a:t>
            </a:r>
            <a:r>
              <a:rPr lang="en-US"/>
              <a:t>-slot</a:t>
            </a:r>
            <a:r>
              <a:rPr lang="vi-VN"/>
              <a:t>. Một </a:t>
            </a:r>
            <a:r>
              <a:rPr lang="en-US"/>
              <a:t>slot </a:t>
            </a:r>
            <a:r>
              <a:rPr lang="vi-VN"/>
              <a:t>đề cập đến phương thức chứa mã </a:t>
            </a:r>
            <a:r>
              <a:rPr lang="en-US"/>
              <a:t>lệnh </a:t>
            </a:r>
            <a:r>
              <a:rPr lang="vi-VN"/>
              <a:t>mà bạn muốn được thực thi khi xuất hiện </a:t>
            </a:r>
            <a:r>
              <a:rPr lang="en-US"/>
              <a:t>signal</a:t>
            </a:r>
            <a:r>
              <a:rPr lang="vi-VN"/>
              <a:t>. Hầu hết các </a:t>
            </a:r>
            <a:r>
              <a:rPr lang="en-US"/>
              <a:t>widget </a:t>
            </a:r>
            <a:r>
              <a:rPr lang="vi-VN"/>
              <a:t>có các </a:t>
            </a:r>
            <a:r>
              <a:rPr lang="en-US"/>
              <a:t>slot </a:t>
            </a:r>
            <a:r>
              <a:rPr lang="vi-VN"/>
              <a:t>được xác định trước; bạn không phải viết mã để kết nối tín hiệu được xác định trước với vị trí được xác định trước.</a:t>
            </a:r>
          </a:p>
          <a:p>
            <a:r>
              <a:rPr lang="vi-VN"/>
              <a:t>Bạn thậm chí có thể chỉnh sửa </a:t>
            </a:r>
            <a:r>
              <a:rPr lang="en-US"/>
              <a:t>signal</a:t>
            </a:r>
            <a:r>
              <a:rPr lang="vi-VN"/>
              <a:t>/</a:t>
            </a:r>
            <a:r>
              <a:rPr lang="en-US"/>
              <a:t>slot</a:t>
            </a:r>
            <a:r>
              <a:rPr lang="vi-VN"/>
              <a:t> bằng cách </a:t>
            </a:r>
            <a:r>
              <a:rPr lang="en-US"/>
              <a:t>dùng công cụ </a:t>
            </a:r>
            <a:r>
              <a:rPr lang="en-US" b="1"/>
              <a:t>Edit </a:t>
            </a:r>
            <a:r>
              <a:rPr lang="en-US"/>
              <a:t>| </a:t>
            </a:r>
            <a:r>
              <a:rPr lang="en-US" b="1"/>
              <a:t>Edit Signals/Slots </a:t>
            </a:r>
            <a:r>
              <a:rPr lang="vi-VN"/>
              <a:t>trên thanh công cụ.</a:t>
            </a:r>
            <a:endParaRPr lang="en-US"/>
          </a:p>
        </p:txBody>
      </p:sp>
    </p:spTree>
    <p:extLst>
      <p:ext uri="{BB962C8B-B14F-4D97-AF65-F5344CB8AC3E}">
        <p14:creationId xmlns:p14="http://schemas.microsoft.com/office/powerpoint/2010/main" val="774482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5F91E-F0AE-4E80-8335-F735B7137E00}"/>
              </a:ext>
            </a:extLst>
          </p:cNvPr>
          <p:cNvSpPr>
            <a:spLocks noGrp="1"/>
          </p:cNvSpPr>
          <p:nvPr>
            <p:ph type="title"/>
          </p:nvPr>
        </p:nvSpPr>
        <p:spPr>
          <a:xfrm>
            <a:off x="22259" y="28245"/>
            <a:ext cx="9102490" cy="722870"/>
          </a:xfrm>
        </p:spPr>
        <p:txBody>
          <a:bodyPr/>
          <a:lstStyle/>
          <a:p>
            <a:r>
              <a:rPr lang="en-US"/>
              <a:t>Làm thế nào để cài đặt nó...</a:t>
            </a:r>
          </a:p>
        </p:txBody>
      </p:sp>
      <p:sp>
        <p:nvSpPr>
          <p:cNvPr id="3" name="Content Placeholder 2">
            <a:extLst>
              <a:ext uri="{FF2B5EF4-FFF2-40B4-BE49-F238E27FC236}">
                <a16:creationId xmlns:a16="http://schemas.microsoft.com/office/drawing/2014/main" id="{D37B8D45-5020-4180-8989-BC1710036841}"/>
              </a:ext>
            </a:extLst>
          </p:cNvPr>
          <p:cNvSpPr>
            <a:spLocks noGrp="1"/>
          </p:cNvSpPr>
          <p:nvPr>
            <p:ph idx="1"/>
          </p:nvPr>
        </p:nvSpPr>
        <p:spPr>
          <a:xfrm>
            <a:off x="22259" y="685803"/>
            <a:ext cx="9102490" cy="6078643"/>
          </a:xfrm>
        </p:spPr>
        <p:txBody>
          <a:bodyPr>
            <a:noAutofit/>
          </a:bodyPr>
          <a:lstStyle/>
          <a:p>
            <a:pPr marL="0" indent="0">
              <a:lnSpc>
                <a:spcPct val="100000"/>
              </a:lnSpc>
              <a:spcBef>
                <a:spcPts val="0"/>
              </a:spcBef>
              <a:buNone/>
            </a:pPr>
            <a:r>
              <a:rPr lang="vi-VN" sz="2500"/>
              <a:t>Để chỉnh sửa </a:t>
            </a:r>
            <a:r>
              <a:rPr lang="en-US" sz="2500"/>
              <a:t>signale </a:t>
            </a:r>
            <a:r>
              <a:rPr lang="vi-VN" sz="2500"/>
              <a:t>và </a:t>
            </a:r>
            <a:r>
              <a:rPr lang="en-US" sz="2500"/>
              <a:t>slot </a:t>
            </a:r>
            <a:r>
              <a:rPr lang="vi-VN" sz="2500"/>
              <a:t>của các </a:t>
            </a:r>
            <a:r>
              <a:rPr lang="en-US" sz="2500"/>
              <a:t>widget </a:t>
            </a:r>
            <a:r>
              <a:rPr lang="vi-VN" sz="2500"/>
              <a:t>khác nhau được đặt trên </a:t>
            </a:r>
            <a:r>
              <a:rPr lang="en-US" sz="2500"/>
              <a:t>form</a:t>
            </a:r>
            <a:r>
              <a:rPr lang="vi-VN" sz="2500"/>
              <a:t>, </a:t>
            </a:r>
            <a:r>
              <a:rPr lang="en-US" sz="2500"/>
              <a:t>ta </a:t>
            </a:r>
            <a:r>
              <a:rPr lang="vi-VN" sz="2500"/>
              <a:t>cần chuyển sang chế độ chỉnh sửa bằng cách thực hiện các bước sau:</a:t>
            </a:r>
          </a:p>
          <a:p>
            <a:pPr marL="0" indent="0">
              <a:lnSpc>
                <a:spcPct val="100000"/>
              </a:lnSpc>
              <a:spcBef>
                <a:spcPts val="0"/>
              </a:spcBef>
              <a:buNone/>
            </a:pPr>
            <a:r>
              <a:rPr lang="vi-VN" sz="2500"/>
              <a:t>1. </a:t>
            </a:r>
            <a:r>
              <a:rPr lang="en-US" sz="2500"/>
              <a:t>N</a:t>
            </a:r>
            <a:r>
              <a:rPr lang="vi-VN" sz="2500"/>
              <a:t>hấn phím F4, điều hướng đến </a:t>
            </a:r>
            <a:r>
              <a:rPr lang="en-US" sz="2500" b="1"/>
              <a:t>Edit </a:t>
            </a:r>
            <a:r>
              <a:rPr lang="en-US" sz="2500"/>
              <a:t>| </a:t>
            </a:r>
            <a:r>
              <a:rPr lang="en-US" sz="2500" b="1"/>
              <a:t>Edit Signals/Slots </a:t>
            </a:r>
            <a:r>
              <a:rPr lang="vi-VN" sz="2500"/>
              <a:t>hoặc chọn biểu tượng </a:t>
            </a:r>
            <a:r>
              <a:rPr lang="en-US" sz="2500" b="1"/>
              <a:t>Edit Signals/Slots </a:t>
            </a:r>
            <a:r>
              <a:rPr lang="vi-VN" sz="2500"/>
              <a:t>từ thanh công cụ. Chế độ hiển thị tất cả các </a:t>
            </a:r>
            <a:r>
              <a:rPr lang="en-US" sz="2500"/>
              <a:t>signal và slot </a:t>
            </a:r>
            <a:r>
              <a:rPr lang="vi-VN" sz="2500"/>
              <a:t>kết nối cắm dưới dạng mũi tên, biểu thị kết nối của một tiện ích với khe tương ứng.</a:t>
            </a:r>
          </a:p>
          <a:p>
            <a:pPr marL="0" indent="0">
              <a:lnSpc>
                <a:spcPct val="100000"/>
              </a:lnSpc>
              <a:spcBef>
                <a:spcPts val="0"/>
              </a:spcBef>
              <a:buNone/>
            </a:pPr>
            <a:r>
              <a:rPr lang="vi-VN" sz="2500"/>
              <a:t>2. Để thiết lập </a:t>
            </a:r>
            <a:r>
              <a:rPr lang="en-US" sz="2500"/>
              <a:t>signal và slot </a:t>
            </a:r>
            <a:r>
              <a:rPr lang="vi-VN" sz="2500"/>
              <a:t>kết nối giữa hai </a:t>
            </a:r>
            <a:r>
              <a:rPr lang="en-US" sz="2500"/>
              <a:t>widget </a:t>
            </a:r>
            <a:r>
              <a:rPr lang="vi-VN" sz="2500"/>
              <a:t>trong một </a:t>
            </a:r>
            <a:r>
              <a:rPr lang="en-US" sz="2500"/>
              <a:t>form</a:t>
            </a:r>
            <a:r>
              <a:rPr lang="vi-VN" sz="2500"/>
              <a:t>, </a:t>
            </a:r>
            <a:r>
              <a:rPr lang="en-US" sz="2500"/>
              <a:t>ta </a:t>
            </a:r>
            <a:r>
              <a:rPr lang="vi-VN" sz="2500"/>
              <a:t>chọn một </a:t>
            </a:r>
            <a:r>
              <a:rPr lang="en-US" sz="2500"/>
              <a:t>widget </a:t>
            </a:r>
            <a:r>
              <a:rPr lang="vi-VN" sz="2500"/>
              <a:t>bằng cách nhấp chuột trái vào </a:t>
            </a:r>
            <a:r>
              <a:rPr lang="en-US" sz="2500"/>
              <a:t>widget</a:t>
            </a:r>
            <a:r>
              <a:rPr lang="vi-VN" sz="2500"/>
              <a:t>, kéo chuột về phía một </a:t>
            </a:r>
            <a:r>
              <a:rPr lang="en-US" sz="2500"/>
              <a:t>widget </a:t>
            </a:r>
            <a:r>
              <a:rPr lang="vi-VN" sz="2500"/>
              <a:t>khác mà bạn muốn kết nối và thả nút chuột qua nó.</a:t>
            </a:r>
          </a:p>
          <a:p>
            <a:pPr marL="0" indent="0">
              <a:lnSpc>
                <a:spcPct val="100000"/>
              </a:lnSpc>
              <a:spcBef>
                <a:spcPts val="0"/>
              </a:spcBef>
              <a:buNone/>
            </a:pPr>
            <a:r>
              <a:rPr lang="vi-VN" sz="2500"/>
              <a:t>3. Để hủy kết nối trong khi kéo chuột, chỉ cần nhấn phím Esc.</a:t>
            </a:r>
          </a:p>
          <a:p>
            <a:pPr marL="0" indent="0">
              <a:lnSpc>
                <a:spcPct val="100000"/>
              </a:lnSpc>
              <a:spcBef>
                <a:spcPts val="0"/>
              </a:spcBef>
              <a:buNone/>
            </a:pPr>
            <a:r>
              <a:rPr lang="vi-VN" sz="2500"/>
              <a:t>4. Khi thả chuột qua </a:t>
            </a:r>
            <a:r>
              <a:rPr lang="en-US" sz="2500"/>
              <a:t>widget </a:t>
            </a:r>
            <a:r>
              <a:rPr lang="vi-VN" sz="2500"/>
              <a:t>đích, </a:t>
            </a:r>
            <a:r>
              <a:rPr lang="en-US" sz="2500" b="1"/>
              <a:t>Connection Dialog </a:t>
            </a:r>
            <a:r>
              <a:rPr lang="vi-VN" sz="2500"/>
              <a:t>xuất hiện, nhắc bạn chọn </a:t>
            </a:r>
            <a:r>
              <a:rPr lang="en-US" sz="2500"/>
              <a:t>signal </a:t>
            </a:r>
            <a:r>
              <a:rPr lang="vi-VN" sz="2500"/>
              <a:t>từ </a:t>
            </a:r>
            <a:r>
              <a:rPr lang="en-US" sz="2500"/>
              <a:t>widget </a:t>
            </a:r>
            <a:r>
              <a:rPr lang="vi-VN" sz="2500"/>
              <a:t>nguồn và </a:t>
            </a:r>
            <a:r>
              <a:rPr lang="en-US" sz="2500"/>
              <a:t>slot </a:t>
            </a:r>
            <a:r>
              <a:rPr lang="vi-VN" sz="2500"/>
              <a:t>từ </a:t>
            </a:r>
            <a:r>
              <a:rPr lang="en-US" sz="2500"/>
              <a:t>widget </a:t>
            </a:r>
            <a:r>
              <a:rPr lang="vi-VN" sz="2500"/>
              <a:t>đích.</a:t>
            </a:r>
          </a:p>
          <a:p>
            <a:pPr marL="0" indent="0">
              <a:lnSpc>
                <a:spcPct val="100000"/>
              </a:lnSpc>
              <a:spcBef>
                <a:spcPts val="0"/>
              </a:spcBef>
              <a:buNone/>
            </a:pPr>
            <a:r>
              <a:rPr lang="vi-VN" sz="2500"/>
              <a:t>5. Sau khi chọn </a:t>
            </a:r>
            <a:r>
              <a:rPr lang="en-US" sz="2500"/>
              <a:t>signal </a:t>
            </a:r>
            <a:r>
              <a:rPr lang="vi-VN" sz="2500"/>
              <a:t>và </a:t>
            </a:r>
            <a:r>
              <a:rPr lang="en-US" sz="2500"/>
              <a:t>slot </a:t>
            </a:r>
            <a:r>
              <a:rPr lang="vi-VN" sz="2500"/>
              <a:t>tương ứng, chọn OK để thiết lập kết nối </a:t>
            </a:r>
            <a:r>
              <a:rPr lang="en-US" sz="2500"/>
              <a:t>signal </a:t>
            </a:r>
            <a:r>
              <a:rPr lang="vi-VN" sz="2500"/>
              <a:t>và </a:t>
            </a:r>
            <a:r>
              <a:rPr lang="en-US" sz="2500"/>
              <a:t>slot</a:t>
            </a:r>
            <a:r>
              <a:rPr lang="vi-VN" sz="2500"/>
              <a:t>.</a:t>
            </a:r>
            <a:endParaRPr lang="en-US" sz="2500"/>
          </a:p>
        </p:txBody>
      </p:sp>
    </p:spTree>
    <p:extLst>
      <p:ext uri="{BB962C8B-B14F-4D97-AF65-F5344CB8AC3E}">
        <p14:creationId xmlns:p14="http://schemas.microsoft.com/office/powerpoint/2010/main" val="3143321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456AE4-F389-49B2-A333-4CCDC461280F}"/>
              </a:ext>
            </a:extLst>
          </p:cNvPr>
          <p:cNvSpPr>
            <a:spLocks noGrp="1"/>
          </p:cNvSpPr>
          <p:nvPr>
            <p:ph idx="1"/>
          </p:nvPr>
        </p:nvSpPr>
        <p:spPr>
          <a:xfrm>
            <a:off x="22259" y="702132"/>
            <a:ext cx="9102490" cy="6078642"/>
          </a:xfrm>
        </p:spPr>
        <p:txBody>
          <a:bodyPr/>
          <a:lstStyle/>
          <a:p>
            <a:pPr marL="0" indent="0">
              <a:buNone/>
            </a:pPr>
            <a:r>
              <a:rPr lang="en-US"/>
              <a:t>Ảnh chụp màn hình sau đây cho thấy việc kéo </a:t>
            </a:r>
            <a:r>
              <a:rPr lang="en-US" b="1"/>
              <a:t>Push Button</a:t>
            </a:r>
            <a:r>
              <a:rPr lang="en-US"/>
              <a:t> lên widget </a:t>
            </a:r>
            <a:r>
              <a:rPr lang="en-US" b="1"/>
              <a:t>Line Edit</a:t>
            </a:r>
            <a:r>
              <a:rPr lang="en-US"/>
              <a:t>:</a:t>
            </a:r>
          </a:p>
          <a:p>
            <a:pPr marL="0" indent="0">
              <a:buNone/>
            </a:pPr>
            <a:endParaRPr lang="en-US"/>
          </a:p>
        </p:txBody>
      </p:sp>
      <p:sp>
        <p:nvSpPr>
          <p:cNvPr id="4" name="Title 1">
            <a:extLst>
              <a:ext uri="{FF2B5EF4-FFF2-40B4-BE49-F238E27FC236}">
                <a16:creationId xmlns:a16="http://schemas.microsoft.com/office/drawing/2014/main" id="{9849D3F4-C811-48CB-9B7C-4113C79B1AEA}"/>
              </a:ext>
            </a:extLst>
          </p:cNvPr>
          <p:cNvSpPr>
            <a:spLocks noGrp="1"/>
          </p:cNvSpPr>
          <p:nvPr>
            <p:ph type="title"/>
          </p:nvPr>
        </p:nvSpPr>
        <p:spPr>
          <a:xfrm>
            <a:off x="22259" y="28245"/>
            <a:ext cx="9102490" cy="722870"/>
          </a:xfrm>
        </p:spPr>
        <p:txBody>
          <a:bodyPr/>
          <a:lstStyle/>
          <a:p>
            <a:r>
              <a:rPr lang="en-US"/>
              <a:t>Làm thế nào để cài đặt nó... (t.t)</a:t>
            </a:r>
          </a:p>
        </p:txBody>
      </p:sp>
      <p:grpSp>
        <p:nvGrpSpPr>
          <p:cNvPr id="5" name="Group 2">
            <a:extLst>
              <a:ext uri="{FF2B5EF4-FFF2-40B4-BE49-F238E27FC236}">
                <a16:creationId xmlns:a16="http://schemas.microsoft.com/office/drawing/2014/main" id="{1A9DD008-6676-4996-AB09-C12F3F01DDF3}"/>
              </a:ext>
            </a:extLst>
          </p:cNvPr>
          <p:cNvGrpSpPr>
            <a:grpSpLocks/>
          </p:cNvGrpSpPr>
          <p:nvPr/>
        </p:nvGrpSpPr>
        <p:grpSpPr bwMode="auto">
          <a:xfrm>
            <a:off x="123482" y="1515179"/>
            <a:ext cx="3713201" cy="3234622"/>
            <a:chOff x="3130" y="244"/>
            <a:chExt cx="4540" cy="3835"/>
          </a:xfrm>
        </p:grpSpPr>
        <p:pic>
          <p:nvPicPr>
            <p:cNvPr id="1027" name="Picture 3">
              <a:extLst>
                <a:ext uri="{FF2B5EF4-FFF2-40B4-BE49-F238E27FC236}">
                  <a16:creationId xmlns:a16="http://schemas.microsoft.com/office/drawing/2014/main" id="{6ACA0ED1-362E-4BAB-8478-1640B356B3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0" y="264"/>
              <a:ext cx="4500" cy="3795"/>
            </a:xfrm>
            <a:prstGeom prst="rect">
              <a:avLst/>
            </a:prstGeom>
            <a:noFill/>
            <a:extLst>
              <a:ext uri="{909E8E84-426E-40DD-AFC4-6F175D3DCCD1}">
                <a14:hiddenFill xmlns:a14="http://schemas.microsoft.com/office/drawing/2010/main">
                  <a:solidFill>
                    <a:srgbClr val="FFFFFF"/>
                  </a:solidFill>
                </a14:hiddenFill>
              </a:ext>
            </a:extLst>
          </p:spPr>
        </p:pic>
        <p:sp>
          <p:nvSpPr>
            <p:cNvPr id="6" name="Line 4">
              <a:extLst>
                <a:ext uri="{FF2B5EF4-FFF2-40B4-BE49-F238E27FC236}">
                  <a16:creationId xmlns:a16="http://schemas.microsoft.com/office/drawing/2014/main" id="{A39D8BF8-F805-4BD3-9E92-1DDA0C340640}"/>
                </a:ext>
              </a:extLst>
            </p:cNvPr>
            <p:cNvSpPr>
              <a:spLocks noChangeShapeType="1"/>
            </p:cNvSpPr>
            <p:nvPr/>
          </p:nvSpPr>
          <p:spPr bwMode="auto">
            <a:xfrm>
              <a:off x="3140" y="254"/>
              <a:ext cx="452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Line 5">
              <a:extLst>
                <a:ext uri="{FF2B5EF4-FFF2-40B4-BE49-F238E27FC236}">
                  <a16:creationId xmlns:a16="http://schemas.microsoft.com/office/drawing/2014/main" id="{75C457B3-B32A-48CC-8731-6A95C5DACC1A}"/>
                </a:ext>
              </a:extLst>
            </p:cNvPr>
            <p:cNvSpPr>
              <a:spLocks noChangeShapeType="1"/>
            </p:cNvSpPr>
            <p:nvPr/>
          </p:nvSpPr>
          <p:spPr bwMode="auto">
            <a:xfrm>
              <a:off x="3140" y="254"/>
              <a:ext cx="0" cy="381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Line 6">
              <a:extLst>
                <a:ext uri="{FF2B5EF4-FFF2-40B4-BE49-F238E27FC236}">
                  <a16:creationId xmlns:a16="http://schemas.microsoft.com/office/drawing/2014/main" id="{9084D118-C78C-4664-A315-DED2A64EA76E}"/>
                </a:ext>
              </a:extLst>
            </p:cNvPr>
            <p:cNvSpPr>
              <a:spLocks noChangeShapeType="1"/>
            </p:cNvSpPr>
            <p:nvPr/>
          </p:nvSpPr>
          <p:spPr bwMode="auto">
            <a:xfrm>
              <a:off x="7660" y="254"/>
              <a:ext cx="0" cy="381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Line 7">
              <a:extLst>
                <a:ext uri="{FF2B5EF4-FFF2-40B4-BE49-F238E27FC236}">
                  <a16:creationId xmlns:a16="http://schemas.microsoft.com/office/drawing/2014/main" id="{8DB04BE1-2E19-4D19-AA0A-EDC55FEE35EE}"/>
                </a:ext>
              </a:extLst>
            </p:cNvPr>
            <p:cNvSpPr>
              <a:spLocks noChangeShapeType="1"/>
            </p:cNvSpPr>
            <p:nvPr/>
          </p:nvSpPr>
          <p:spPr bwMode="auto">
            <a:xfrm>
              <a:off x="3140" y="4069"/>
              <a:ext cx="452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0" name="Rectangle 9">
            <a:extLst>
              <a:ext uri="{FF2B5EF4-FFF2-40B4-BE49-F238E27FC236}">
                <a16:creationId xmlns:a16="http://schemas.microsoft.com/office/drawing/2014/main" id="{EB8FFB5E-D21A-4EE9-B815-368C1A625B12}"/>
              </a:ext>
            </a:extLst>
          </p:cNvPr>
          <p:cNvSpPr/>
          <p:nvPr/>
        </p:nvSpPr>
        <p:spPr>
          <a:xfrm>
            <a:off x="3937906" y="1515178"/>
            <a:ext cx="5183836" cy="1200329"/>
          </a:xfrm>
          <a:prstGeom prst="rect">
            <a:avLst/>
          </a:prstGeom>
        </p:spPr>
        <p:txBody>
          <a:bodyPr wrap="square">
            <a:spAutoFit/>
          </a:bodyPr>
          <a:lstStyle/>
          <a:p>
            <a:r>
              <a:rPr lang="en-US" sz="2400"/>
              <a:t>6. Khi nhả nút chuột trên widget </a:t>
            </a:r>
            <a:r>
              <a:rPr lang="en-US" sz="2400" b="1"/>
              <a:t>Line Edit</a:t>
            </a:r>
            <a:r>
              <a:rPr lang="en-US" sz="2400"/>
              <a:t>, ta sẽ nhận được danh sách các signal và slot xác định trước, như sau:</a:t>
            </a:r>
          </a:p>
        </p:txBody>
      </p:sp>
      <p:grpSp>
        <p:nvGrpSpPr>
          <p:cNvPr id="11" name="Group 8">
            <a:extLst>
              <a:ext uri="{FF2B5EF4-FFF2-40B4-BE49-F238E27FC236}">
                <a16:creationId xmlns:a16="http://schemas.microsoft.com/office/drawing/2014/main" id="{12FCDB91-47B4-4DEB-9C63-1CB7D64C80AD}"/>
              </a:ext>
            </a:extLst>
          </p:cNvPr>
          <p:cNvGrpSpPr>
            <a:grpSpLocks/>
          </p:cNvGrpSpPr>
          <p:nvPr/>
        </p:nvGrpSpPr>
        <p:grpSpPr bwMode="auto">
          <a:xfrm>
            <a:off x="3957718" y="2756643"/>
            <a:ext cx="5110082" cy="4042090"/>
            <a:chOff x="1765" y="294"/>
            <a:chExt cx="7270" cy="4840"/>
          </a:xfrm>
        </p:grpSpPr>
        <p:pic>
          <p:nvPicPr>
            <p:cNvPr id="1033" name="Picture 9">
              <a:extLst>
                <a:ext uri="{FF2B5EF4-FFF2-40B4-BE49-F238E27FC236}">
                  <a16:creationId xmlns:a16="http://schemas.microsoft.com/office/drawing/2014/main" id="{ADC7CF27-7012-4C96-BD47-C64CDE568B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5" y="375"/>
              <a:ext cx="7230" cy="4738"/>
            </a:xfrm>
            <a:prstGeom prst="rect">
              <a:avLst/>
            </a:prstGeom>
            <a:noFill/>
            <a:extLst>
              <a:ext uri="{909E8E84-426E-40DD-AFC4-6F175D3DCCD1}">
                <a14:hiddenFill xmlns:a14="http://schemas.microsoft.com/office/drawing/2010/main">
                  <a:solidFill>
                    <a:srgbClr val="FFFFFF"/>
                  </a:solidFill>
                </a14:hiddenFill>
              </a:ext>
            </a:extLst>
          </p:spPr>
        </p:pic>
        <p:sp>
          <p:nvSpPr>
            <p:cNvPr id="12" name="Line 10">
              <a:extLst>
                <a:ext uri="{FF2B5EF4-FFF2-40B4-BE49-F238E27FC236}">
                  <a16:creationId xmlns:a16="http://schemas.microsoft.com/office/drawing/2014/main" id="{81B83169-0469-4401-A2CA-D035685FA2A8}"/>
                </a:ext>
              </a:extLst>
            </p:cNvPr>
            <p:cNvSpPr>
              <a:spLocks noChangeShapeType="1"/>
            </p:cNvSpPr>
            <p:nvPr/>
          </p:nvSpPr>
          <p:spPr bwMode="auto">
            <a:xfrm>
              <a:off x="1775" y="304"/>
              <a:ext cx="725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Line 11">
              <a:extLst>
                <a:ext uri="{FF2B5EF4-FFF2-40B4-BE49-F238E27FC236}">
                  <a16:creationId xmlns:a16="http://schemas.microsoft.com/office/drawing/2014/main" id="{D01E2CDF-0572-40ED-97EE-F68BE8859BD5}"/>
                </a:ext>
              </a:extLst>
            </p:cNvPr>
            <p:cNvSpPr>
              <a:spLocks noChangeShapeType="1"/>
            </p:cNvSpPr>
            <p:nvPr/>
          </p:nvSpPr>
          <p:spPr bwMode="auto">
            <a:xfrm>
              <a:off x="1775" y="304"/>
              <a:ext cx="0" cy="482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Line 12">
              <a:extLst>
                <a:ext uri="{FF2B5EF4-FFF2-40B4-BE49-F238E27FC236}">
                  <a16:creationId xmlns:a16="http://schemas.microsoft.com/office/drawing/2014/main" id="{7148A3F2-B83B-4B7E-A179-AF262A9D4A15}"/>
                </a:ext>
              </a:extLst>
            </p:cNvPr>
            <p:cNvSpPr>
              <a:spLocks noChangeShapeType="1"/>
            </p:cNvSpPr>
            <p:nvPr/>
          </p:nvSpPr>
          <p:spPr bwMode="auto">
            <a:xfrm>
              <a:off x="9025" y="304"/>
              <a:ext cx="0" cy="482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Line 13">
              <a:extLst>
                <a:ext uri="{FF2B5EF4-FFF2-40B4-BE49-F238E27FC236}">
                  <a16:creationId xmlns:a16="http://schemas.microsoft.com/office/drawing/2014/main" id="{DC1D7D6E-6383-4573-9907-757D18C50DE4}"/>
                </a:ext>
              </a:extLst>
            </p:cNvPr>
            <p:cNvSpPr>
              <a:spLocks noChangeShapeType="1"/>
            </p:cNvSpPr>
            <p:nvPr/>
          </p:nvSpPr>
          <p:spPr bwMode="auto">
            <a:xfrm>
              <a:off x="1775" y="5124"/>
              <a:ext cx="725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770469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11159D-45C9-4477-9C5B-A81648F3AC92}"/>
              </a:ext>
            </a:extLst>
          </p:cNvPr>
          <p:cNvSpPr>
            <a:spLocks noGrp="1"/>
          </p:cNvSpPr>
          <p:nvPr>
            <p:ph idx="1"/>
          </p:nvPr>
        </p:nvSpPr>
        <p:spPr>
          <a:xfrm>
            <a:off x="22259" y="751116"/>
            <a:ext cx="9102490" cy="6078642"/>
          </a:xfrm>
        </p:spPr>
        <p:txBody>
          <a:bodyPr>
            <a:normAutofit lnSpcReduction="10000"/>
          </a:bodyPr>
          <a:lstStyle/>
          <a:p>
            <a:pPr marL="0" indent="0">
              <a:buNone/>
            </a:pPr>
            <a:r>
              <a:rPr lang="vi-VN" sz="2400"/>
              <a:t>7. Khi được kết nối, </a:t>
            </a:r>
            <a:r>
              <a:rPr lang="en-US" sz="2400"/>
              <a:t>signal </a:t>
            </a:r>
            <a:r>
              <a:rPr lang="vi-VN" sz="2400"/>
              <a:t>và </a:t>
            </a:r>
            <a:r>
              <a:rPr lang="en-US" sz="2400"/>
              <a:t>slot </a:t>
            </a:r>
            <a:r>
              <a:rPr lang="vi-VN" sz="2400"/>
              <a:t>được chọn sẽ xuất hiện dưới dạng nhãn trong mũi tên, kết nối hai </a:t>
            </a:r>
            <a:r>
              <a:rPr lang="en-US" sz="2400"/>
              <a:t>widget</a:t>
            </a:r>
            <a:r>
              <a:rPr lang="vi-VN" sz="2400"/>
              <a:t>.</a:t>
            </a:r>
          </a:p>
          <a:p>
            <a:pPr marL="0" indent="0">
              <a:buNone/>
            </a:pPr>
            <a:r>
              <a:rPr lang="vi-VN" sz="2400"/>
              <a:t>8. Để sửa đổi kết nối </a:t>
            </a:r>
            <a:r>
              <a:rPr lang="en-US" sz="2400"/>
              <a:t>signal </a:t>
            </a:r>
            <a:r>
              <a:rPr lang="vi-VN" sz="2400"/>
              <a:t>và </a:t>
            </a:r>
            <a:r>
              <a:rPr lang="en-US" sz="2400"/>
              <a:t>slot</a:t>
            </a:r>
            <a:r>
              <a:rPr lang="vi-VN" sz="2400"/>
              <a:t>, bấm đúp vào đường dẫn kết nối hoặc một trong các nhãn của nó để hiển thị hộp thoại </a:t>
            </a:r>
            <a:r>
              <a:rPr lang="en-US" sz="2400" b="1"/>
              <a:t>Configure Connection</a:t>
            </a:r>
            <a:r>
              <a:rPr lang="vi-VN" sz="2400"/>
              <a:t>.</a:t>
            </a:r>
          </a:p>
          <a:p>
            <a:pPr marL="0" indent="0">
              <a:buNone/>
            </a:pPr>
            <a:r>
              <a:rPr lang="vi-VN" sz="2400"/>
              <a:t>9. Từ hộp thoại </a:t>
            </a:r>
            <a:r>
              <a:rPr lang="en-US" sz="2400" b="1"/>
              <a:t>Configure Connection</a:t>
            </a:r>
            <a:r>
              <a:rPr lang="vi-VN" sz="2400"/>
              <a:t>, </a:t>
            </a:r>
            <a:r>
              <a:rPr lang="en-US" sz="2400"/>
              <a:t>ta </a:t>
            </a:r>
            <a:r>
              <a:rPr lang="vi-VN" sz="2400"/>
              <a:t>có thể chỉnh sửa </a:t>
            </a:r>
            <a:r>
              <a:rPr lang="en-US" sz="2400"/>
              <a:t>signal </a:t>
            </a:r>
            <a:r>
              <a:rPr lang="vi-VN" sz="2400"/>
              <a:t>hoặc </a:t>
            </a:r>
            <a:r>
              <a:rPr lang="en-US" sz="2400"/>
              <a:t>slot </a:t>
            </a:r>
            <a:r>
              <a:rPr lang="vi-VN" sz="2400"/>
              <a:t>theo ý muốn.</a:t>
            </a:r>
          </a:p>
          <a:p>
            <a:pPr marL="0" indent="0">
              <a:buNone/>
            </a:pPr>
            <a:r>
              <a:rPr lang="vi-VN" sz="2400"/>
              <a:t>10. Để xóa </a:t>
            </a:r>
            <a:r>
              <a:rPr lang="en-US" sz="2400"/>
              <a:t>kết nối signal và slot</a:t>
            </a:r>
            <a:r>
              <a:rPr lang="vi-VN" sz="2400"/>
              <a:t>, chọn mũi tên của nó trên </a:t>
            </a:r>
            <a:r>
              <a:rPr lang="en-US" sz="2400"/>
              <a:t>form </a:t>
            </a:r>
            <a:r>
              <a:rPr lang="vi-VN" sz="2400"/>
              <a:t>và nhấn nút</a:t>
            </a:r>
            <a:r>
              <a:rPr lang="en-US" sz="2400"/>
              <a:t> p</a:t>
            </a:r>
            <a:r>
              <a:rPr lang="vi-VN" sz="2400"/>
              <a:t>hím </a:t>
            </a:r>
            <a:r>
              <a:rPr lang="en-US" sz="2400" i="1"/>
              <a:t>Delete</a:t>
            </a:r>
            <a:r>
              <a:rPr lang="vi-VN" sz="2400"/>
              <a:t>.</a:t>
            </a:r>
            <a:endParaRPr lang="en-US" sz="2400"/>
          </a:p>
          <a:p>
            <a:pPr marL="0" indent="0">
              <a:buNone/>
            </a:pPr>
            <a:r>
              <a:rPr lang="vi-VN" sz="2400"/>
              <a:t>Kết nối </a:t>
            </a:r>
            <a:r>
              <a:rPr lang="en-US" sz="2400"/>
              <a:t>signal </a:t>
            </a:r>
            <a:r>
              <a:rPr lang="vi-VN" sz="2400"/>
              <a:t>và </a:t>
            </a:r>
            <a:r>
              <a:rPr lang="en-US" sz="2400"/>
              <a:t>slot </a:t>
            </a:r>
            <a:r>
              <a:rPr lang="vi-VN" sz="2400"/>
              <a:t>cũng có thể được thiết lập giữa bất kỳ widget và </a:t>
            </a:r>
            <a:r>
              <a:rPr lang="en-US" sz="2400"/>
              <a:t>form</a:t>
            </a:r>
            <a:r>
              <a:rPr lang="vi-VN" sz="2400"/>
              <a:t>. Để làm như vậy, </a:t>
            </a:r>
            <a:r>
              <a:rPr lang="en-US" sz="2400"/>
              <a:t>ta </a:t>
            </a:r>
            <a:r>
              <a:rPr lang="vi-VN" sz="2400"/>
              <a:t>thực hiện các bước sau:</a:t>
            </a:r>
            <a:endParaRPr lang="en-US" sz="2400"/>
          </a:p>
          <a:p>
            <a:pPr marL="0" indent="0">
              <a:buNone/>
            </a:pPr>
            <a:r>
              <a:rPr lang="vi-VN" sz="2400"/>
              <a:t>1. Chọn </a:t>
            </a:r>
            <a:r>
              <a:rPr lang="en-US" sz="2400"/>
              <a:t>widget</a:t>
            </a:r>
            <a:r>
              <a:rPr lang="vi-VN" sz="2400"/>
              <a:t>, kéo chuột và nhả nút chuột trên </a:t>
            </a:r>
            <a:r>
              <a:rPr lang="en-US" sz="2400"/>
              <a:t>form</a:t>
            </a:r>
            <a:r>
              <a:rPr lang="vi-VN" sz="2400"/>
              <a:t>. Điểm cuối của kết nối thay đổi thành biểu tượng </a:t>
            </a:r>
            <a:r>
              <a:rPr lang="en-US" sz="2400"/>
              <a:t>nối đất </a:t>
            </a:r>
            <a:r>
              <a:rPr lang="vi-VN" sz="2400"/>
              <a:t>điện, biểu thị rằng kết nối đã được thiết lập với </a:t>
            </a:r>
            <a:r>
              <a:rPr lang="en-US" sz="2400"/>
              <a:t>form</a:t>
            </a:r>
            <a:r>
              <a:rPr lang="vi-VN" sz="2400"/>
              <a:t>.</a:t>
            </a:r>
          </a:p>
          <a:p>
            <a:pPr marL="0" indent="0">
              <a:buNone/>
            </a:pPr>
            <a:r>
              <a:rPr lang="vi-VN" sz="2400"/>
              <a:t>2. Để thoát khỏi chế độ chỉnh sửa </a:t>
            </a:r>
            <a:r>
              <a:rPr lang="en-US" sz="2400"/>
              <a:t>signal </a:t>
            </a:r>
            <a:r>
              <a:rPr lang="vi-VN" sz="2400"/>
              <a:t>và </a:t>
            </a:r>
            <a:r>
              <a:rPr lang="en-US" sz="2400"/>
              <a:t>slot</a:t>
            </a:r>
            <a:r>
              <a:rPr lang="vi-VN" sz="2400"/>
              <a:t>, hãy điều hướng đến </a:t>
            </a:r>
            <a:r>
              <a:rPr lang="en-US" b="1"/>
              <a:t>Edit | Edit Widgets </a:t>
            </a:r>
            <a:r>
              <a:rPr lang="vi-VN" sz="2400"/>
              <a:t>hoặc nhấn phím F3.</a:t>
            </a:r>
            <a:endParaRPr lang="en-US" sz="2400"/>
          </a:p>
        </p:txBody>
      </p:sp>
      <p:sp>
        <p:nvSpPr>
          <p:cNvPr id="4" name="Title 1">
            <a:extLst>
              <a:ext uri="{FF2B5EF4-FFF2-40B4-BE49-F238E27FC236}">
                <a16:creationId xmlns:a16="http://schemas.microsoft.com/office/drawing/2014/main" id="{2AB11AC4-82A7-495D-828C-1983D8C2A124}"/>
              </a:ext>
            </a:extLst>
          </p:cNvPr>
          <p:cNvSpPr>
            <a:spLocks noGrp="1"/>
          </p:cNvSpPr>
          <p:nvPr>
            <p:ph type="title"/>
          </p:nvPr>
        </p:nvSpPr>
        <p:spPr>
          <a:xfrm>
            <a:off x="22259" y="28245"/>
            <a:ext cx="9102490" cy="722870"/>
          </a:xfrm>
        </p:spPr>
        <p:txBody>
          <a:bodyPr/>
          <a:lstStyle/>
          <a:p>
            <a:r>
              <a:rPr lang="en-US"/>
              <a:t>Làm thế nào để cài đặt nó... (t.t)</a:t>
            </a:r>
          </a:p>
        </p:txBody>
      </p:sp>
    </p:spTree>
    <p:extLst>
      <p:ext uri="{BB962C8B-B14F-4D97-AF65-F5344CB8AC3E}">
        <p14:creationId xmlns:p14="http://schemas.microsoft.com/office/powerpoint/2010/main" val="2644109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63021-0273-4740-8006-66EA7DFA1327}"/>
              </a:ext>
            </a:extLst>
          </p:cNvPr>
          <p:cNvSpPr>
            <a:spLocks noGrp="1"/>
          </p:cNvSpPr>
          <p:nvPr>
            <p:ph type="title"/>
          </p:nvPr>
        </p:nvSpPr>
        <p:spPr>
          <a:xfrm>
            <a:off x="22259" y="28244"/>
            <a:ext cx="9102490" cy="1237220"/>
          </a:xfrm>
        </p:spPr>
        <p:txBody>
          <a:bodyPr>
            <a:noAutofit/>
          </a:bodyPr>
          <a:lstStyle/>
          <a:p>
            <a:r>
              <a:rPr lang="en-US" b="1"/>
              <a:t>Sao chép và dán văn bản từ một widget Line Edit sang widget khác</a:t>
            </a:r>
          </a:p>
        </p:txBody>
      </p:sp>
      <p:sp>
        <p:nvSpPr>
          <p:cNvPr id="3" name="Content Placeholder 2">
            <a:extLst>
              <a:ext uri="{FF2B5EF4-FFF2-40B4-BE49-F238E27FC236}">
                <a16:creationId xmlns:a16="http://schemas.microsoft.com/office/drawing/2014/main" id="{16C468C3-F193-4FA6-BEB4-268AA4F7E930}"/>
              </a:ext>
            </a:extLst>
          </p:cNvPr>
          <p:cNvSpPr>
            <a:spLocks noGrp="1"/>
          </p:cNvSpPr>
          <p:nvPr>
            <p:ph idx="1"/>
          </p:nvPr>
        </p:nvSpPr>
        <p:spPr>
          <a:xfrm>
            <a:off x="22259" y="1412421"/>
            <a:ext cx="9102490" cy="5417336"/>
          </a:xfrm>
        </p:spPr>
        <p:txBody>
          <a:bodyPr/>
          <a:lstStyle/>
          <a:p>
            <a:pPr marL="0" indent="0">
              <a:buNone/>
            </a:pPr>
            <a:r>
              <a:rPr lang="vi-VN"/>
              <a:t>Công thức này sẽ khiến bạn hiểu cách một sự kiện được thực hiện trên một </a:t>
            </a:r>
            <a:r>
              <a:rPr lang="en-US"/>
              <a:t>widget </a:t>
            </a:r>
            <a:r>
              <a:rPr lang="vi-VN"/>
              <a:t>gọi một hành động được xác định trước trên </a:t>
            </a:r>
            <a:r>
              <a:rPr lang="en-US"/>
              <a:t>widget </a:t>
            </a:r>
            <a:r>
              <a:rPr lang="vi-VN"/>
              <a:t>được liên kết. Vì chúng t</a:t>
            </a:r>
            <a:r>
              <a:rPr lang="en-US"/>
              <a:t>a</a:t>
            </a:r>
            <a:r>
              <a:rPr lang="vi-VN"/>
              <a:t> muốn sao chép nội dung từ một </a:t>
            </a:r>
            <a:r>
              <a:rPr lang="en-US"/>
              <a:t>widget Line Edit </a:t>
            </a:r>
            <a:r>
              <a:rPr lang="vi-VN"/>
              <a:t>khi nhấp vào nút ấn, chúng t</a:t>
            </a:r>
            <a:r>
              <a:rPr lang="en-US"/>
              <a:t>a</a:t>
            </a:r>
            <a:r>
              <a:rPr lang="vi-VN"/>
              <a:t> cần gọi phương thức </a:t>
            </a:r>
            <a:r>
              <a:rPr lang="vi-VN">
                <a:latin typeface="Courier New" panose="02070309020205020404" pitchFamily="49" charset="0"/>
                <a:cs typeface="Courier New" panose="02070309020205020404" pitchFamily="49" charset="0"/>
              </a:rPr>
              <a:t>selectAll()</a:t>
            </a:r>
            <a:r>
              <a:rPr lang="vi-VN"/>
              <a:t> khi xảy ra sự kiện </a:t>
            </a:r>
            <a:r>
              <a:rPr lang="en-US" b="1"/>
              <a:t>pressed()</a:t>
            </a:r>
            <a:r>
              <a:rPr lang="vi-VN"/>
              <a:t> trên nút ấn. Ngoài ra, chúng ta cần gọi phương thức </a:t>
            </a:r>
            <a:r>
              <a:rPr lang="vi-VN">
                <a:latin typeface="Courier New" panose="02070309020205020404" pitchFamily="49" charset="0"/>
                <a:cs typeface="Courier New" panose="02070309020205020404" pitchFamily="49" charset="0"/>
              </a:rPr>
              <a:t>copy()</a:t>
            </a:r>
            <a:r>
              <a:rPr lang="vi-VN"/>
              <a:t> khi xảy ra sự kiện </a:t>
            </a:r>
            <a:r>
              <a:rPr lang="en-US" b="1"/>
              <a:t>released() </a:t>
            </a:r>
            <a:r>
              <a:rPr lang="vi-VN"/>
              <a:t>trên nút ấn. Để dán nội dung trong </a:t>
            </a:r>
            <a:r>
              <a:rPr lang="en-US"/>
              <a:t>clipboard </a:t>
            </a:r>
            <a:r>
              <a:rPr lang="vi-VN"/>
              <a:t>vào tiện ích </a:t>
            </a:r>
            <a:r>
              <a:rPr lang="en-US"/>
              <a:t>Line Edit </a:t>
            </a:r>
            <a:r>
              <a:rPr lang="vi-VN"/>
              <a:t>khác khi nhấp vào nút ấn khác, chúng ta cần gọi phương thức </a:t>
            </a:r>
            <a:r>
              <a:rPr lang="vi-VN">
                <a:latin typeface="Courier New" panose="02070309020205020404" pitchFamily="49" charset="0"/>
                <a:cs typeface="Courier New" panose="02070309020205020404" pitchFamily="49" charset="0"/>
              </a:rPr>
              <a:t>paste()</a:t>
            </a:r>
            <a:r>
              <a:rPr lang="vi-VN"/>
              <a:t> khi xảy ra sự kiện </a:t>
            </a:r>
            <a:r>
              <a:rPr lang="en-US" b="1"/>
              <a:t>clicked()</a:t>
            </a:r>
            <a:r>
              <a:rPr lang="vi-VN"/>
              <a:t> trên nút ấn khác.</a:t>
            </a:r>
            <a:endParaRPr lang="en-US"/>
          </a:p>
        </p:txBody>
      </p:sp>
    </p:spTree>
    <p:extLst>
      <p:ext uri="{BB962C8B-B14F-4D97-AF65-F5344CB8AC3E}">
        <p14:creationId xmlns:p14="http://schemas.microsoft.com/office/powerpoint/2010/main" val="2015583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0F1DF-E1D0-4A2A-9FCA-17110711BDE4}"/>
              </a:ext>
            </a:extLst>
          </p:cNvPr>
          <p:cNvSpPr>
            <a:spLocks noGrp="1"/>
          </p:cNvSpPr>
          <p:nvPr>
            <p:ph type="title"/>
          </p:nvPr>
        </p:nvSpPr>
        <p:spPr>
          <a:xfrm>
            <a:off x="22259" y="28245"/>
            <a:ext cx="9102490" cy="771856"/>
          </a:xfrm>
        </p:spPr>
        <p:txBody>
          <a:bodyPr>
            <a:normAutofit/>
          </a:bodyPr>
          <a:lstStyle/>
          <a:p>
            <a:r>
              <a:rPr lang="en-US" sz="4800" b="1"/>
              <a:t>Thực hành...</a:t>
            </a:r>
          </a:p>
        </p:txBody>
      </p:sp>
      <p:sp>
        <p:nvSpPr>
          <p:cNvPr id="3" name="Content Placeholder 2">
            <a:extLst>
              <a:ext uri="{FF2B5EF4-FFF2-40B4-BE49-F238E27FC236}">
                <a16:creationId xmlns:a16="http://schemas.microsoft.com/office/drawing/2014/main" id="{B3CF67A7-DA39-4C0D-9108-A15D8C42CD26}"/>
              </a:ext>
            </a:extLst>
          </p:cNvPr>
          <p:cNvSpPr>
            <a:spLocks noGrp="1"/>
          </p:cNvSpPr>
          <p:nvPr>
            <p:ph idx="1"/>
          </p:nvPr>
        </p:nvSpPr>
        <p:spPr>
          <a:xfrm>
            <a:off x="22259" y="800102"/>
            <a:ext cx="9102490" cy="6029656"/>
          </a:xfrm>
        </p:spPr>
        <p:txBody>
          <a:bodyPr>
            <a:normAutofit lnSpcReduction="10000"/>
          </a:bodyPr>
          <a:lstStyle/>
          <a:p>
            <a:pPr marL="0" indent="0">
              <a:buNone/>
            </a:pPr>
            <a:r>
              <a:rPr lang="en-US"/>
              <a:t>T</a:t>
            </a:r>
            <a:r>
              <a:rPr lang="vi-VN"/>
              <a:t>ạo một ứng dụng bao gồm hai </a:t>
            </a:r>
            <a:r>
              <a:rPr lang="en-US"/>
              <a:t>widget </a:t>
            </a:r>
            <a:r>
              <a:rPr lang="en-US" b="1"/>
              <a:t>Line Edit </a:t>
            </a:r>
            <a:r>
              <a:rPr lang="vi-VN"/>
              <a:t>và </a:t>
            </a:r>
            <a:r>
              <a:rPr lang="en-US" b="1"/>
              <a:t>Push Button</a:t>
            </a:r>
            <a:r>
              <a:rPr lang="vi-VN"/>
              <a:t>. Khi nhấp vào nút ấn đầu tiên, văn bản trong </a:t>
            </a:r>
            <a:r>
              <a:rPr lang="en-US" b="1"/>
              <a:t>Line Edit </a:t>
            </a:r>
            <a:r>
              <a:rPr lang="vi-VN"/>
              <a:t>sẽ được sao chép và khi nhấp vào nút ấn thứ hai, văn bản được sao chép từ </a:t>
            </a:r>
            <a:r>
              <a:rPr lang="en-US"/>
              <a:t>widget </a:t>
            </a:r>
            <a:r>
              <a:rPr lang="en-US" b="1"/>
              <a:t>Line Edit </a:t>
            </a:r>
            <a:r>
              <a:rPr lang="vi-VN"/>
              <a:t>sẽ được dán vào </a:t>
            </a:r>
            <a:r>
              <a:rPr lang="en-US"/>
              <a:t>widget </a:t>
            </a:r>
            <a:r>
              <a:rPr lang="en-US" b="1"/>
              <a:t>Line Edit </a:t>
            </a:r>
            <a:r>
              <a:rPr lang="vi-VN"/>
              <a:t>thứ hai.</a:t>
            </a:r>
          </a:p>
          <a:p>
            <a:pPr marL="0" indent="0">
              <a:buNone/>
            </a:pPr>
            <a:r>
              <a:rPr lang="vi-VN"/>
              <a:t>Hãy tạo một ứng dụng mới dựa trên mẫu </a:t>
            </a:r>
            <a:r>
              <a:rPr lang="en-US" b="1"/>
              <a:t>Dialog without Buttons </a:t>
            </a:r>
            <a:r>
              <a:rPr lang="vi-VN"/>
              <a:t>bằng cách thực hiện các bước sau:</a:t>
            </a:r>
          </a:p>
          <a:p>
            <a:pPr marL="514350" indent="-514350">
              <a:buAutoNum type="arabicPeriod"/>
            </a:pPr>
            <a:r>
              <a:rPr lang="vi-VN"/>
              <a:t>Bắt đầu bằng cách thêm </a:t>
            </a:r>
            <a:r>
              <a:rPr lang="vi-VN">
                <a:latin typeface="Consolas" panose="020B0609020204030204" pitchFamily="49" charset="0"/>
              </a:rPr>
              <a:t>QLineEdit </a:t>
            </a:r>
            <a:r>
              <a:rPr lang="vi-VN"/>
              <a:t>và </a:t>
            </a:r>
            <a:r>
              <a:rPr lang="vi-VN">
                <a:latin typeface="Consolas" panose="020B0609020204030204" pitchFamily="49" charset="0"/>
              </a:rPr>
              <a:t>QPushButton</a:t>
            </a:r>
            <a:r>
              <a:rPr lang="vi-VN"/>
              <a:t> vào </a:t>
            </a:r>
            <a:r>
              <a:rPr lang="en-US"/>
              <a:t>form </a:t>
            </a:r>
            <a:r>
              <a:rPr lang="vi-VN"/>
              <a:t>bằng cách kéo và thả các </a:t>
            </a:r>
            <a:r>
              <a:rPr lang="en-US"/>
              <a:t>widget Line Edit </a:t>
            </a:r>
            <a:r>
              <a:rPr lang="vi-VN"/>
              <a:t>và </a:t>
            </a:r>
            <a:r>
              <a:rPr lang="en-US"/>
              <a:t>Push Button </a:t>
            </a:r>
            <a:r>
              <a:rPr lang="vi-VN"/>
              <a:t>từ hộp </a:t>
            </a:r>
            <a:r>
              <a:rPr lang="en-US"/>
              <a:t>Widget </a:t>
            </a:r>
            <a:r>
              <a:rPr lang="vi-VN"/>
              <a:t>trên biểu mẫu.</a:t>
            </a:r>
            <a:r>
              <a:rPr lang="en-US"/>
              <a:t> (</a:t>
            </a:r>
            <a:r>
              <a:rPr lang="vi-VN"/>
              <a:t>Để xem trước một </a:t>
            </a:r>
            <a:r>
              <a:rPr lang="en-US"/>
              <a:t>form </a:t>
            </a:r>
            <a:r>
              <a:rPr lang="vi-VN"/>
              <a:t>trong khi chỉnh sửa, chọn </a:t>
            </a:r>
            <a:r>
              <a:rPr lang="en-US"/>
              <a:t>Form</a:t>
            </a:r>
            <a:r>
              <a:rPr lang="vi-VN"/>
              <a:t>, Preview hoặc sử dụng Ctrl + R</a:t>
            </a:r>
            <a:r>
              <a:rPr lang="en-US"/>
              <a:t>)</a:t>
            </a:r>
          </a:p>
          <a:p>
            <a:pPr marL="514350" indent="-514350">
              <a:buAutoNum type="arabicPeriod"/>
            </a:pPr>
            <a:r>
              <a:rPr lang="vi-VN"/>
              <a:t>Để sao chép văn bản của </a:t>
            </a:r>
            <a:r>
              <a:rPr lang="en-US"/>
              <a:t>widget </a:t>
            </a:r>
            <a:r>
              <a:rPr lang="en-US" b="1"/>
              <a:t>Line Edit </a:t>
            </a:r>
            <a:r>
              <a:rPr lang="vi-VN"/>
              <a:t>khi người dùng chọn nút ấn trên </a:t>
            </a:r>
            <a:r>
              <a:rPr lang="en-US"/>
              <a:t>form</a:t>
            </a:r>
            <a:r>
              <a:rPr lang="vi-VN"/>
              <a:t>, bạn cần kết nối </a:t>
            </a:r>
            <a:r>
              <a:rPr lang="en-US"/>
              <a:t>signal </a:t>
            </a:r>
            <a:r>
              <a:rPr lang="vi-VN"/>
              <a:t>của nút ấn với </a:t>
            </a:r>
            <a:r>
              <a:rPr lang="en-US"/>
              <a:t>slot của </a:t>
            </a:r>
            <a:r>
              <a:rPr lang="en-US" b="1"/>
              <a:t>Line Edit</a:t>
            </a:r>
            <a:r>
              <a:rPr lang="vi-VN"/>
              <a:t>. </a:t>
            </a:r>
            <a:r>
              <a:rPr lang="en-US"/>
              <a:t>Ta thực hiện nh</a:t>
            </a:r>
            <a:r>
              <a:rPr lang="vi-VN"/>
              <a:t>ư</a:t>
            </a:r>
            <a:r>
              <a:rPr lang="en-US"/>
              <a:t> sau</a:t>
            </a:r>
          </a:p>
        </p:txBody>
      </p:sp>
    </p:spTree>
    <p:extLst>
      <p:ext uri="{BB962C8B-B14F-4D97-AF65-F5344CB8AC3E}">
        <p14:creationId xmlns:p14="http://schemas.microsoft.com/office/powerpoint/2010/main" val="2031358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31A0D4-91D5-429F-876E-789D790BD0CA}"/>
              </a:ext>
            </a:extLst>
          </p:cNvPr>
          <p:cNvSpPr>
            <a:spLocks noGrp="1"/>
          </p:cNvSpPr>
          <p:nvPr>
            <p:ph idx="1"/>
          </p:nvPr>
        </p:nvSpPr>
        <p:spPr>
          <a:xfrm>
            <a:off x="22259" y="0"/>
            <a:ext cx="9102490" cy="6829759"/>
          </a:xfrm>
        </p:spPr>
        <p:txBody>
          <a:bodyPr>
            <a:normAutofit/>
          </a:bodyPr>
          <a:lstStyle/>
          <a:p>
            <a:pPr marL="0" indent="0">
              <a:spcBef>
                <a:spcPts val="0"/>
              </a:spcBef>
              <a:buNone/>
            </a:pPr>
            <a:r>
              <a:rPr lang="vi-VN" sz="2400"/>
              <a:t>Ban đầu, </a:t>
            </a:r>
            <a:r>
              <a:rPr lang="en-US" sz="2400"/>
              <a:t>form </a:t>
            </a:r>
            <a:r>
              <a:rPr lang="vi-VN" sz="2400"/>
              <a:t>ở chế độ chỉnh sửa tiện ích và áp dụng kết nối </a:t>
            </a:r>
            <a:r>
              <a:rPr lang="en-US" sz="2400"/>
              <a:t>signal </a:t>
            </a:r>
            <a:r>
              <a:rPr lang="vi-VN" sz="2400"/>
              <a:t>và </a:t>
            </a:r>
            <a:r>
              <a:rPr lang="en-US" sz="2400"/>
              <a:t>slot</a:t>
            </a:r>
            <a:r>
              <a:rPr lang="vi-VN" sz="2400"/>
              <a:t>, trước tiên bạn cần chuyển sang chế độ chỉnh sửa tín hiệu và vị trí:</a:t>
            </a:r>
          </a:p>
          <a:p>
            <a:pPr marL="0" indent="0">
              <a:spcBef>
                <a:spcPts val="0"/>
              </a:spcBef>
              <a:buNone/>
            </a:pPr>
            <a:r>
              <a:rPr lang="vi-VN" sz="2400"/>
              <a:t>1. Chọn biểu tượng </a:t>
            </a:r>
            <a:r>
              <a:rPr lang="en-US" sz="2400" b="1"/>
              <a:t>Edit Signals/Slots </a:t>
            </a:r>
            <a:r>
              <a:rPr lang="vi-VN" sz="2400"/>
              <a:t>từ thanh công cụ để chuyển sang chế độ chỉnh sửa </a:t>
            </a:r>
            <a:r>
              <a:rPr lang="en-US" sz="2400"/>
              <a:t>signal </a:t>
            </a:r>
            <a:r>
              <a:rPr lang="vi-VN" sz="2400"/>
              <a:t>và </a:t>
            </a:r>
            <a:r>
              <a:rPr lang="en-US" sz="2400"/>
              <a:t>slot</a:t>
            </a:r>
            <a:r>
              <a:rPr lang="vi-VN" sz="2400"/>
              <a:t>.</a:t>
            </a:r>
          </a:p>
          <a:p>
            <a:pPr marL="0" indent="0">
              <a:spcBef>
                <a:spcPts val="0"/>
              </a:spcBef>
              <a:buNone/>
            </a:pPr>
            <a:r>
              <a:rPr lang="vi-VN" sz="2400"/>
              <a:t>2. Trên biểu mẫu, chọn nút ấn, kéo chuột vào </a:t>
            </a:r>
            <a:r>
              <a:rPr lang="en-US" sz="2400"/>
              <a:t>widget </a:t>
            </a:r>
            <a:r>
              <a:rPr lang="en-US" sz="2400" b="1"/>
              <a:t>Line Edit </a:t>
            </a:r>
            <a:r>
              <a:rPr lang="vi-VN" sz="2400"/>
              <a:t>và nhả nút chuột. Hộp thoại </a:t>
            </a:r>
            <a:r>
              <a:rPr lang="en-US" sz="2400" b="1"/>
              <a:t>Configure Connection </a:t>
            </a:r>
            <a:r>
              <a:rPr lang="vi-VN" sz="2400"/>
              <a:t>sẽ bật lên, cho phép thiết lập kết nối </a:t>
            </a:r>
            <a:r>
              <a:rPr lang="en-US" sz="2400"/>
              <a:t>signal </a:t>
            </a:r>
            <a:r>
              <a:rPr lang="vi-VN" sz="2400"/>
              <a:t>và </a:t>
            </a:r>
            <a:r>
              <a:rPr lang="en-US" sz="2400"/>
              <a:t>slot </a:t>
            </a:r>
            <a:r>
              <a:rPr lang="vi-VN" sz="2400"/>
              <a:t>giữa </a:t>
            </a:r>
            <a:r>
              <a:rPr lang="en-US" sz="2400" b="1"/>
              <a:t>Push Button </a:t>
            </a:r>
            <a:r>
              <a:rPr lang="vi-VN" sz="2400"/>
              <a:t>và </a:t>
            </a:r>
            <a:r>
              <a:rPr lang="en-US" sz="2400" b="1"/>
              <a:t>Line Edit</a:t>
            </a:r>
            <a:r>
              <a:rPr lang="vi-VN" sz="2400"/>
              <a:t>, như trong ảnh chụp màn hình sau:</a:t>
            </a:r>
            <a:endParaRPr lang="en-US" sz="2400"/>
          </a:p>
        </p:txBody>
      </p:sp>
      <p:grpSp>
        <p:nvGrpSpPr>
          <p:cNvPr id="4" name="Group 2">
            <a:extLst>
              <a:ext uri="{FF2B5EF4-FFF2-40B4-BE49-F238E27FC236}">
                <a16:creationId xmlns:a16="http://schemas.microsoft.com/office/drawing/2014/main" id="{D4CDFF85-3D97-4E51-9B69-828E5E08EE4C}"/>
              </a:ext>
            </a:extLst>
          </p:cNvPr>
          <p:cNvGrpSpPr>
            <a:grpSpLocks/>
          </p:cNvGrpSpPr>
          <p:nvPr/>
        </p:nvGrpSpPr>
        <p:grpSpPr bwMode="auto">
          <a:xfrm>
            <a:off x="3028951" y="3126923"/>
            <a:ext cx="6085568" cy="3695474"/>
            <a:chOff x="1263" y="296"/>
            <a:chExt cx="8275" cy="5545"/>
          </a:xfrm>
        </p:grpSpPr>
        <p:pic>
          <p:nvPicPr>
            <p:cNvPr id="2051" name="Picture 3">
              <a:extLst>
                <a:ext uri="{FF2B5EF4-FFF2-40B4-BE49-F238E27FC236}">
                  <a16:creationId xmlns:a16="http://schemas.microsoft.com/office/drawing/2014/main" id="{62489646-D40D-4863-B17E-3A9C79D1B0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2" y="386"/>
              <a:ext cx="8235" cy="5435"/>
            </a:xfrm>
            <a:prstGeom prst="rect">
              <a:avLst/>
            </a:prstGeom>
            <a:noFill/>
            <a:extLst>
              <a:ext uri="{909E8E84-426E-40DD-AFC4-6F175D3DCCD1}">
                <a14:hiddenFill xmlns:a14="http://schemas.microsoft.com/office/drawing/2010/main">
                  <a:solidFill>
                    <a:srgbClr val="FFFFFF"/>
                  </a:solidFill>
                </a14:hiddenFill>
              </a:ext>
            </a:extLst>
          </p:spPr>
        </p:pic>
        <p:sp>
          <p:nvSpPr>
            <p:cNvPr id="5" name="Line 4">
              <a:extLst>
                <a:ext uri="{FF2B5EF4-FFF2-40B4-BE49-F238E27FC236}">
                  <a16:creationId xmlns:a16="http://schemas.microsoft.com/office/drawing/2014/main" id="{951B4C27-C67B-4212-A380-A7B148A71444}"/>
                </a:ext>
              </a:extLst>
            </p:cNvPr>
            <p:cNvSpPr>
              <a:spLocks noChangeShapeType="1"/>
            </p:cNvSpPr>
            <p:nvPr/>
          </p:nvSpPr>
          <p:spPr bwMode="auto">
            <a:xfrm>
              <a:off x="1273" y="306"/>
              <a:ext cx="825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Line 5">
              <a:extLst>
                <a:ext uri="{FF2B5EF4-FFF2-40B4-BE49-F238E27FC236}">
                  <a16:creationId xmlns:a16="http://schemas.microsoft.com/office/drawing/2014/main" id="{A193F023-0956-48F3-ACB2-71B14100523A}"/>
                </a:ext>
              </a:extLst>
            </p:cNvPr>
            <p:cNvSpPr>
              <a:spLocks noChangeShapeType="1"/>
            </p:cNvSpPr>
            <p:nvPr/>
          </p:nvSpPr>
          <p:spPr bwMode="auto">
            <a:xfrm>
              <a:off x="1273" y="306"/>
              <a:ext cx="0" cy="55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Line 6">
              <a:extLst>
                <a:ext uri="{FF2B5EF4-FFF2-40B4-BE49-F238E27FC236}">
                  <a16:creationId xmlns:a16="http://schemas.microsoft.com/office/drawing/2014/main" id="{BC1AF904-AF36-4F0D-8CF0-23890F3CDDB4}"/>
                </a:ext>
              </a:extLst>
            </p:cNvPr>
            <p:cNvSpPr>
              <a:spLocks noChangeShapeType="1"/>
            </p:cNvSpPr>
            <p:nvPr/>
          </p:nvSpPr>
          <p:spPr bwMode="auto">
            <a:xfrm>
              <a:off x="9528" y="306"/>
              <a:ext cx="0" cy="55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Line 7">
              <a:extLst>
                <a:ext uri="{FF2B5EF4-FFF2-40B4-BE49-F238E27FC236}">
                  <a16:creationId xmlns:a16="http://schemas.microsoft.com/office/drawing/2014/main" id="{28E324BD-CBD8-4661-ACBF-100E1A03E4C3}"/>
                </a:ext>
              </a:extLst>
            </p:cNvPr>
            <p:cNvSpPr>
              <a:spLocks noChangeShapeType="1"/>
            </p:cNvSpPr>
            <p:nvPr/>
          </p:nvSpPr>
          <p:spPr bwMode="auto">
            <a:xfrm>
              <a:off x="1273" y="5831"/>
              <a:ext cx="825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1" name="Rectangle 10">
            <a:extLst>
              <a:ext uri="{FF2B5EF4-FFF2-40B4-BE49-F238E27FC236}">
                <a16:creationId xmlns:a16="http://schemas.microsoft.com/office/drawing/2014/main" id="{1F6F4945-92F6-423A-8E8B-A63CA5E45F2B}"/>
              </a:ext>
            </a:extLst>
          </p:cNvPr>
          <p:cNvSpPr/>
          <p:nvPr/>
        </p:nvSpPr>
        <p:spPr>
          <a:xfrm>
            <a:off x="1" y="3042575"/>
            <a:ext cx="2547256" cy="3046988"/>
          </a:xfrm>
          <a:prstGeom prst="rect">
            <a:avLst/>
          </a:prstGeom>
        </p:spPr>
        <p:txBody>
          <a:bodyPr wrap="square">
            <a:spAutoFit/>
          </a:bodyPr>
          <a:lstStyle/>
          <a:p>
            <a:r>
              <a:rPr lang="en-US" sz="2400"/>
              <a:t>3. Chọn sự kiện </a:t>
            </a:r>
            <a:r>
              <a:rPr lang="en-US" sz="2400" b="1"/>
              <a:t>pressed() </a:t>
            </a:r>
            <a:r>
              <a:rPr lang="en-US" sz="2400"/>
              <a:t>hoặc tín hiệu từ tab </a:t>
            </a:r>
            <a:r>
              <a:rPr lang="en-US" sz="2400" b="1"/>
              <a:t>pushButton (QPushButton)</a:t>
            </a:r>
            <a:r>
              <a:rPr lang="en-US" sz="2400"/>
              <a:t> và slot </a:t>
            </a:r>
            <a:r>
              <a:rPr lang="en-US" sz="2400" b="1"/>
              <a:t>selectAll()</a:t>
            </a:r>
            <a:r>
              <a:rPr lang="en-US" sz="2400"/>
              <a:t> cho tab </a:t>
            </a:r>
            <a:r>
              <a:rPr lang="en-US" sz="2400" b="1"/>
              <a:t>lineEdit (QLineEdit)</a:t>
            </a:r>
            <a:r>
              <a:rPr lang="en-US" sz="2400"/>
              <a:t>.</a:t>
            </a:r>
          </a:p>
        </p:txBody>
      </p:sp>
    </p:spTree>
    <p:extLst>
      <p:ext uri="{BB962C8B-B14F-4D97-AF65-F5344CB8AC3E}">
        <p14:creationId xmlns:p14="http://schemas.microsoft.com/office/powerpoint/2010/main" val="3981392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F6F4945-92F6-423A-8E8B-A63CA5E45F2B}"/>
              </a:ext>
            </a:extLst>
          </p:cNvPr>
          <p:cNvSpPr/>
          <p:nvPr/>
        </p:nvSpPr>
        <p:spPr>
          <a:xfrm>
            <a:off x="1" y="0"/>
            <a:ext cx="3086100" cy="2800767"/>
          </a:xfrm>
          <a:prstGeom prst="rect">
            <a:avLst/>
          </a:prstGeom>
        </p:spPr>
        <p:txBody>
          <a:bodyPr wrap="square">
            <a:spAutoFit/>
          </a:bodyPr>
          <a:lstStyle/>
          <a:p>
            <a:pPr algn="just"/>
            <a:r>
              <a:rPr lang="en-US" sz="2200"/>
              <a:t>Signal được kết nối của widget </a:t>
            </a:r>
            <a:r>
              <a:rPr lang="en-US" sz="2200" b="1"/>
              <a:t>Push Button </a:t>
            </a:r>
            <a:r>
              <a:rPr lang="en-US" sz="2200"/>
              <a:t>với slot </a:t>
            </a:r>
            <a:r>
              <a:rPr lang="en-US" sz="2200" b="1"/>
              <a:t>Line Edit </a:t>
            </a:r>
            <a:r>
              <a:rPr lang="en-US" sz="2200"/>
              <a:t>sẽ xuất hiện dưới dạng một mũi tên, biểu thị kết nối tín hiệu và khe giữa hai tiện ích, như được hiển thị trong ảnh chụp màn hình sau:</a:t>
            </a:r>
          </a:p>
        </p:txBody>
      </p:sp>
      <p:sp>
        <p:nvSpPr>
          <p:cNvPr id="10" name="Rectangle 7">
            <a:extLst>
              <a:ext uri="{FF2B5EF4-FFF2-40B4-BE49-F238E27FC236}">
                <a16:creationId xmlns:a16="http://schemas.microsoft.com/office/drawing/2014/main" id="{CCD7A0D4-F3AA-4DAA-B5E2-68D15BD0DA0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2" name="Group 1">
            <a:extLst>
              <a:ext uri="{FF2B5EF4-FFF2-40B4-BE49-F238E27FC236}">
                <a16:creationId xmlns:a16="http://schemas.microsoft.com/office/drawing/2014/main" id="{2B0B713C-1495-4A95-A6B4-F6EFBB6C7FFA}"/>
              </a:ext>
            </a:extLst>
          </p:cNvPr>
          <p:cNvGrpSpPr>
            <a:grpSpLocks/>
          </p:cNvGrpSpPr>
          <p:nvPr/>
        </p:nvGrpSpPr>
        <p:grpSpPr bwMode="auto">
          <a:xfrm>
            <a:off x="3216729" y="37793"/>
            <a:ext cx="5927272" cy="2697244"/>
            <a:chOff x="0" y="0"/>
            <a:chExt cx="4585" cy="3250"/>
          </a:xfrm>
        </p:grpSpPr>
        <p:pic>
          <p:nvPicPr>
            <p:cNvPr id="3078" name="Picture 6">
              <a:extLst>
                <a:ext uri="{FF2B5EF4-FFF2-40B4-BE49-F238E27FC236}">
                  <a16:creationId xmlns:a16="http://schemas.microsoft.com/office/drawing/2014/main" id="{C5397649-E233-4385-B156-32A5D081AA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 y="20"/>
              <a:ext cx="4545" cy="321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a:extLst>
                <a:ext uri="{FF2B5EF4-FFF2-40B4-BE49-F238E27FC236}">
                  <a16:creationId xmlns:a16="http://schemas.microsoft.com/office/drawing/2014/main" id="{7AC929D7-4904-40BE-A758-560DB317B299}"/>
                </a:ext>
              </a:extLst>
            </p:cNvPr>
            <p:cNvSpPr>
              <a:spLocks noChangeShapeType="1"/>
            </p:cNvSpPr>
            <p:nvPr/>
          </p:nvSpPr>
          <p:spPr bwMode="auto">
            <a:xfrm>
              <a:off x="10" y="10"/>
              <a:ext cx="456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Line 4">
              <a:extLst>
                <a:ext uri="{FF2B5EF4-FFF2-40B4-BE49-F238E27FC236}">
                  <a16:creationId xmlns:a16="http://schemas.microsoft.com/office/drawing/2014/main" id="{B656EF7B-D72E-4BD4-9D29-6C494D676099}"/>
                </a:ext>
              </a:extLst>
            </p:cNvPr>
            <p:cNvSpPr>
              <a:spLocks noChangeShapeType="1"/>
            </p:cNvSpPr>
            <p:nvPr/>
          </p:nvSpPr>
          <p:spPr bwMode="auto">
            <a:xfrm>
              <a:off x="10" y="10"/>
              <a:ext cx="0" cy="323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Line 3">
              <a:extLst>
                <a:ext uri="{FF2B5EF4-FFF2-40B4-BE49-F238E27FC236}">
                  <a16:creationId xmlns:a16="http://schemas.microsoft.com/office/drawing/2014/main" id="{01925283-7729-4A75-A2B4-879B960467D6}"/>
                </a:ext>
              </a:extLst>
            </p:cNvPr>
            <p:cNvSpPr>
              <a:spLocks noChangeShapeType="1"/>
            </p:cNvSpPr>
            <p:nvPr/>
          </p:nvSpPr>
          <p:spPr bwMode="auto">
            <a:xfrm>
              <a:off x="4575" y="10"/>
              <a:ext cx="0" cy="323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Line 2">
              <a:extLst>
                <a:ext uri="{FF2B5EF4-FFF2-40B4-BE49-F238E27FC236}">
                  <a16:creationId xmlns:a16="http://schemas.microsoft.com/office/drawing/2014/main" id="{82F9C690-37A6-41D3-8B30-50C37BB4132A}"/>
                </a:ext>
              </a:extLst>
            </p:cNvPr>
            <p:cNvSpPr>
              <a:spLocks noChangeShapeType="1"/>
            </p:cNvSpPr>
            <p:nvPr/>
          </p:nvSpPr>
          <p:spPr bwMode="auto">
            <a:xfrm>
              <a:off x="10" y="3240"/>
              <a:ext cx="456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7" name="Rectangle 16">
            <a:extLst>
              <a:ext uri="{FF2B5EF4-FFF2-40B4-BE49-F238E27FC236}">
                <a16:creationId xmlns:a16="http://schemas.microsoft.com/office/drawing/2014/main" id="{9E73A700-6D56-41DB-8526-4D05FA4CFC42}"/>
              </a:ext>
            </a:extLst>
          </p:cNvPr>
          <p:cNvSpPr/>
          <p:nvPr/>
        </p:nvSpPr>
        <p:spPr>
          <a:xfrm>
            <a:off x="8165" y="3124706"/>
            <a:ext cx="4457695" cy="3785652"/>
          </a:xfrm>
          <a:prstGeom prst="rect">
            <a:avLst/>
          </a:prstGeom>
        </p:spPr>
        <p:txBody>
          <a:bodyPr wrap="square">
            <a:spAutoFit/>
          </a:bodyPr>
          <a:lstStyle/>
          <a:p>
            <a:pPr algn="just"/>
            <a:r>
              <a:rPr lang="en-US" sz="2000" i="1"/>
              <a:t>4. Đặt thuộc tính text của widget </a:t>
            </a:r>
            <a:r>
              <a:rPr lang="en-US" sz="2000" b="1" i="1"/>
              <a:t>Push Button </a:t>
            </a:r>
            <a:r>
              <a:rPr lang="en-US" sz="2000" i="1"/>
              <a:t>thành Copy để thể hiện sự thật rằng nó sẽ sao chép văn bản đã nhập trong widget </a:t>
            </a:r>
            <a:r>
              <a:rPr lang="en-US" sz="2000" b="1" i="1"/>
              <a:t>Line Edit</a:t>
            </a:r>
            <a:r>
              <a:rPr lang="en-US" sz="2000" i="1"/>
              <a:t>.</a:t>
            </a:r>
          </a:p>
          <a:p>
            <a:pPr algn="just"/>
            <a:r>
              <a:rPr lang="en-US" sz="2000" i="1"/>
              <a:t>5. Tiếp theo, chúng ta sẽ lặp lại quy trình nhấp vào nút ấn và kéo nó vào tiện ích </a:t>
            </a:r>
            <a:r>
              <a:rPr lang="en-US" sz="2000" b="1" i="1"/>
              <a:t>Line Edit </a:t>
            </a:r>
            <a:r>
              <a:rPr lang="en-US" sz="2000" i="1"/>
              <a:t>để kết nối tín hiệu </a:t>
            </a:r>
            <a:r>
              <a:rPr lang="en-US" sz="2000" b="1" i="1"/>
              <a:t>released() </a:t>
            </a:r>
            <a:r>
              <a:rPr lang="en-US" sz="2000" i="1"/>
              <a:t>của nút ấn với slot </a:t>
            </a:r>
            <a:r>
              <a:rPr lang="en-US" sz="2000" b="1" i="1"/>
              <a:t>copy() </a:t>
            </a:r>
            <a:r>
              <a:rPr lang="en-US" sz="2000" i="1"/>
              <a:t>của widget </a:t>
            </a:r>
            <a:r>
              <a:rPr lang="en-US" sz="2000" b="1" i="1"/>
              <a:t>Line Edit</a:t>
            </a:r>
            <a:r>
              <a:rPr lang="en-US" sz="2000" i="1"/>
              <a:t>. Trên form, sẽ thấy một mũi tên khác, đại diện cho signal và slot thứ hai kết nối được thiết lập giữa hai widget, như được hiển thị nh</a:t>
            </a:r>
            <a:r>
              <a:rPr lang="vi-VN" sz="2000" i="1"/>
              <a:t>ư</a:t>
            </a:r>
            <a:r>
              <a:rPr lang="en-US" sz="2000" i="1"/>
              <a:t> hình bên.</a:t>
            </a:r>
          </a:p>
        </p:txBody>
      </p:sp>
      <p:grpSp>
        <p:nvGrpSpPr>
          <p:cNvPr id="18" name="Group 8">
            <a:extLst>
              <a:ext uri="{FF2B5EF4-FFF2-40B4-BE49-F238E27FC236}">
                <a16:creationId xmlns:a16="http://schemas.microsoft.com/office/drawing/2014/main" id="{BCFB9173-535D-426A-8666-74B7892B5F1E}"/>
              </a:ext>
            </a:extLst>
          </p:cNvPr>
          <p:cNvGrpSpPr>
            <a:grpSpLocks/>
          </p:cNvGrpSpPr>
          <p:nvPr/>
        </p:nvGrpSpPr>
        <p:grpSpPr bwMode="auto">
          <a:xfrm>
            <a:off x="4465860" y="3165525"/>
            <a:ext cx="4653497" cy="3636215"/>
            <a:chOff x="3115" y="294"/>
            <a:chExt cx="4570" cy="3220"/>
          </a:xfrm>
        </p:grpSpPr>
        <p:pic>
          <p:nvPicPr>
            <p:cNvPr id="3081" name="Picture 9">
              <a:extLst>
                <a:ext uri="{FF2B5EF4-FFF2-40B4-BE49-F238E27FC236}">
                  <a16:creationId xmlns:a16="http://schemas.microsoft.com/office/drawing/2014/main" id="{5A6F21E8-1F60-4BC2-974C-DE0CEAD621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5" y="313"/>
              <a:ext cx="4530" cy="3180"/>
            </a:xfrm>
            <a:prstGeom prst="rect">
              <a:avLst/>
            </a:prstGeom>
            <a:noFill/>
            <a:extLst>
              <a:ext uri="{909E8E84-426E-40DD-AFC4-6F175D3DCCD1}">
                <a14:hiddenFill xmlns:a14="http://schemas.microsoft.com/office/drawing/2010/main">
                  <a:solidFill>
                    <a:srgbClr val="FFFFFF"/>
                  </a:solidFill>
                </a14:hiddenFill>
              </a:ext>
            </a:extLst>
          </p:spPr>
        </p:pic>
        <p:sp>
          <p:nvSpPr>
            <p:cNvPr id="19" name="Line 10">
              <a:extLst>
                <a:ext uri="{FF2B5EF4-FFF2-40B4-BE49-F238E27FC236}">
                  <a16:creationId xmlns:a16="http://schemas.microsoft.com/office/drawing/2014/main" id="{A1303F6D-48BA-4033-95C6-448FC7F48A6D}"/>
                </a:ext>
              </a:extLst>
            </p:cNvPr>
            <p:cNvSpPr>
              <a:spLocks noChangeShapeType="1"/>
            </p:cNvSpPr>
            <p:nvPr/>
          </p:nvSpPr>
          <p:spPr bwMode="auto">
            <a:xfrm>
              <a:off x="3125" y="304"/>
              <a:ext cx="455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Line 11">
              <a:extLst>
                <a:ext uri="{FF2B5EF4-FFF2-40B4-BE49-F238E27FC236}">
                  <a16:creationId xmlns:a16="http://schemas.microsoft.com/office/drawing/2014/main" id="{F8A0A695-E8C1-4DEB-9AD4-C9E8327A79E6}"/>
                </a:ext>
              </a:extLst>
            </p:cNvPr>
            <p:cNvSpPr>
              <a:spLocks noChangeShapeType="1"/>
            </p:cNvSpPr>
            <p:nvPr/>
          </p:nvSpPr>
          <p:spPr bwMode="auto">
            <a:xfrm>
              <a:off x="3125" y="304"/>
              <a:ext cx="0" cy="32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Line 12">
              <a:extLst>
                <a:ext uri="{FF2B5EF4-FFF2-40B4-BE49-F238E27FC236}">
                  <a16:creationId xmlns:a16="http://schemas.microsoft.com/office/drawing/2014/main" id="{134DEDFE-968F-4B1F-A4B7-B0D59BA5B4C0}"/>
                </a:ext>
              </a:extLst>
            </p:cNvPr>
            <p:cNvSpPr>
              <a:spLocks noChangeShapeType="1"/>
            </p:cNvSpPr>
            <p:nvPr/>
          </p:nvSpPr>
          <p:spPr bwMode="auto">
            <a:xfrm>
              <a:off x="7675" y="304"/>
              <a:ext cx="0" cy="32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Line 13">
              <a:extLst>
                <a:ext uri="{FF2B5EF4-FFF2-40B4-BE49-F238E27FC236}">
                  <a16:creationId xmlns:a16="http://schemas.microsoft.com/office/drawing/2014/main" id="{51F0F7DF-F184-4C66-A6D9-1BCDF297775D}"/>
                </a:ext>
              </a:extLst>
            </p:cNvPr>
            <p:cNvSpPr>
              <a:spLocks noChangeShapeType="1"/>
            </p:cNvSpPr>
            <p:nvPr/>
          </p:nvSpPr>
          <p:spPr bwMode="auto">
            <a:xfrm>
              <a:off x="3125" y="3504"/>
              <a:ext cx="455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191394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45BC892-2E6F-4610-9C12-6F9F51928096}"/>
              </a:ext>
            </a:extLst>
          </p:cNvPr>
          <p:cNvSpPr/>
          <p:nvPr/>
        </p:nvSpPr>
        <p:spPr>
          <a:xfrm>
            <a:off x="0" y="0"/>
            <a:ext cx="4882243" cy="6986528"/>
          </a:xfrm>
          <a:prstGeom prst="rect">
            <a:avLst/>
          </a:prstGeom>
        </p:spPr>
        <p:txBody>
          <a:bodyPr wrap="square">
            <a:spAutoFit/>
          </a:bodyPr>
          <a:lstStyle/>
          <a:p>
            <a:r>
              <a:rPr lang="en-US" sz="2800"/>
              <a:t>6. Để dán nội dung được sao chép, hãy kéo và thả một nút ấn và một widget </a:t>
            </a:r>
            <a:r>
              <a:rPr lang="en-US" sz="2000" b="1"/>
              <a:t>Line Edit</a:t>
            </a:r>
            <a:r>
              <a:rPr lang="en-US" sz="2800"/>
              <a:t> trên form.</a:t>
            </a:r>
          </a:p>
          <a:p>
            <a:r>
              <a:rPr lang="en-US" sz="2800"/>
              <a:t>7. Đặt thuộc tính text của widget </a:t>
            </a:r>
            <a:r>
              <a:rPr lang="en-US" sz="2000" b="1"/>
              <a:t>Push Button </a:t>
            </a:r>
            <a:r>
              <a:rPr lang="en-US" sz="2800"/>
              <a:t>thành </a:t>
            </a:r>
            <a:r>
              <a:rPr lang="en-US" sz="2800">
                <a:latin typeface="Courier New" panose="02070309020205020404" pitchFamily="49" charset="0"/>
                <a:cs typeface="Courier New" panose="02070309020205020404" pitchFamily="49" charset="0"/>
              </a:rPr>
              <a:t>Paste</a:t>
            </a:r>
            <a:r>
              <a:rPr lang="en-US" sz="2800"/>
              <a:t>.</a:t>
            </a:r>
          </a:p>
          <a:p>
            <a:r>
              <a:rPr lang="en-US" sz="2800"/>
              <a:t>8. Nhấp vào nút ấn và, giữ nút chuột, kéo và thả nó trên widget </a:t>
            </a:r>
            <a:r>
              <a:rPr lang="en-US" sz="2000" b="1"/>
              <a:t>Line Edit</a:t>
            </a:r>
            <a:r>
              <a:rPr lang="en-US" sz="2800"/>
              <a:t>.</a:t>
            </a:r>
          </a:p>
          <a:p>
            <a:r>
              <a:rPr lang="en-US" sz="2800"/>
              <a:t>9. Từ hộp thoại </a:t>
            </a:r>
            <a:r>
              <a:rPr lang="en-US" sz="2000" b="1"/>
              <a:t>Configure Connection</a:t>
            </a:r>
            <a:r>
              <a:rPr lang="en-US" sz="2800"/>
              <a:t>, chọn sự kiện </a:t>
            </a:r>
            <a:r>
              <a:rPr lang="en-US" sz="2000" b="1"/>
              <a:t>clicked() </a:t>
            </a:r>
            <a:r>
              <a:rPr lang="en-US" sz="2800"/>
              <a:t>từ cột </a:t>
            </a:r>
            <a:r>
              <a:rPr lang="en-US" sz="2000" b="1"/>
              <a:t>pushButton (QPushButton) </a:t>
            </a:r>
            <a:r>
              <a:rPr lang="en-US" sz="2800"/>
              <a:t> và slot </a:t>
            </a:r>
            <a:r>
              <a:rPr lang="en-US" sz="2000" b="1"/>
              <a:t>paste() </a:t>
            </a:r>
            <a:r>
              <a:rPr lang="en-US" sz="2800"/>
              <a:t>từ cột </a:t>
            </a:r>
            <a:r>
              <a:rPr lang="en-US" sz="2000" b="1"/>
              <a:t>lineEdit (QLineEdit)</a:t>
            </a:r>
            <a:r>
              <a:rPr lang="en-US" sz="2800"/>
              <a:t>.</a:t>
            </a:r>
          </a:p>
          <a:p>
            <a:r>
              <a:rPr lang="en-US" sz="2800"/>
              <a:t>10. Lưu form với tên </a:t>
            </a:r>
            <a:r>
              <a:rPr lang="en-US" sz="2800">
                <a:latin typeface="Courier New" panose="02070309020205020404" pitchFamily="49" charset="0"/>
                <a:cs typeface="Courier New" panose="02070309020205020404" pitchFamily="49" charset="0"/>
              </a:rPr>
              <a:t>demoSignal1.ui</a:t>
            </a:r>
            <a:r>
              <a:rPr lang="en-US" sz="2800"/>
              <a:t>. Biểu mẫu sẽ xuất hiện như trong ảnh chụp màn hình bên:</a:t>
            </a:r>
          </a:p>
        </p:txBody>
      </p:sp>
      <p:pic>
        <p:nvPicPr>
          <p:cNvPr id="11" name="Picture 3">
            <a:extLst>
              <a:ext uri="{FF2B5EF4-FFF2-40B4-BE49-F238E27FC236}">
                <a16:creationId xmlns:a16="http://schemas.microsoft.com/office/drawing/2014/main" id="{FE197704-C35D-466E-951F-07B05729C2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2243" y="25400"/>
            <a:ext cx="4231595" cy="683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2235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6591530-9067-4B7E-BAEE-2752C923916E}"/>
              </a:ext>
            </a:extLst>
          </p:cNvPr>
          <p:cNvSpPr/>
          <p:nvPr/>
        </p:nvSpPr>
        <p:spPr>
          <a:xfrm>
            <a:off x="0" y="0"/>
            <a:ext cx="9144000" cy="2677656"/>
          </a:xfrm>
          <a:prstGeom prst="rect">
            <a:avLst/>
          </a:prstGeom>
        </p:spPr>
        <p:txBody>
          <a:bodyPr wrap="square">
            <a:spAutoFit/>
          </a:bodyPr>
          <a:lstStyle/>
          <a:p>
            <a:r>
              <a:rPr lang="en-US" sz="2800"/>
              <a:t>Form sẽ được lưu trong một tệp </a:t>
            </a:r>
            <a:r>
              <a:rPr lang="en-US" sz="2800" b="1"/>
              <a:t>demoSignal1.ui</a:t>
            </a:r>
            <a:r>
              <a:rPr lang="en-US" sz="2800"/>
              <a:t> sẽ chứa tất cả thông tin của form, widget, bố cục của nó, v.v. Tệp .ui là một tệp XML và nó cần được chuyển đổi thành mã Python bằng cách sử dụng tiện ích </a:t>
            </a:r>
            <a:r>
              <a:rPr lang="en-US" sz="2800" b="1">
                <a:highlight>
                  <a:srgbClr val="FFFF00"/>
                </a:highlight>
              </a:rPr>
              <a:t>pyuic5</a:t>
            </a:r>
            <a:r>
              <a:rPr lang="en-US" sz="2800"/>
              <a:t>. Trong tệp demoSignal1.py, sẽ thấy rằng nó nhập mọi thứ từ mô-đun, </a:t>
            </a:r>
            <a:r>
              <a:rPr lang="en-US" sz="2800" b="1">
                <a:latin typeface="Courier New" panose="02070309020205020404" pitchFamily="49" charset="0"/>
                <a:cs typeface="Courier New" panose="02070309020205020404" pitchFamily="49" charset="0"/>
              </a:rPr>
              <a:t>QtCore </a:t>
            </a:r>
            <a:r>
              <a:rPr lang="en-US" sz="2800"/>
              <a:t>và </a:t>
            </a:r>
            <a:r>
              <a:rPr lang="en-US" sz="2800" b="1">
                <a:latin typeface="Courier New" panose="02070309020205020404" pitchFamily="49" charset="0"/>
                <a:cs typeface="Courier New" panose="02070309020205020404" pitchFamily="49" charset="0"/>
              </a:rPr>
              <a:t>QtGui</a:t>
            </a:r>
            <a:r>
              <a:rPr lang="en-US" sz="2800"/>
              <a:t>, vì bạn sẽ cần chúng để phát triển các ứng dụng GUI:</a:t>
            </a:r>
          </a:p>
        </p:txBody>
      </p:sp>
      <p:sp>
        <p:nvSpPr>
          <p:cNvPr id="5" name="Rectangle 4">
            <a:extLst>
              <a:ext uri="{FF2B5EF4-FFF2-40B4-BE49-F238E27FC236}">
                <a16:creationId xmlns:a16="http://schemas.microsoft.com/office/drawing/2014/main" id="{B3B96121-DAF3-4DCC-B567-A74A683D2EAE}"/>
              </a:ext>
            </a:extLst>
          </p:cNvPr>
          <p:cNvSpPr/>
          <p:nvPr/>
        </p:nvSpPr>
        <p:spPr>
          <a:xfrm>
            <a:off x="-1" y="2750715"/>
            <a:ext cx="9143999" cy="4154984"/>
          </a:xfrm>
          <a:prstGeom prst="rect">
            <a:avLst/>
          </a:prstGeom>
        </p:spPr>
        <p:txBody>
          <a:bodyPr wrap="square">
            <a:spAutoFit/>
          </a:bodyPr>
          <a:lstStyle/>
          <a:p>
            <a:pPr algn="just"/>
            <a:r>
              <a:rPr lang="en-US" sz="2400">
                <a:latin typeface="Consolas" panose="020B0609020204030204" pitchFamily="49" charset="0"/>
              </a:rPr>
              <a:t>QtCore</a:t>
            </a:r>
            <a:r>
              <a:rPr lang="en-US" sz="2400"/>
              <a:t>: Mô-đun </a:t>
            </a:r>
            <a:r>
              <a:rPr lang="en-US" sz="2400">
                <a:latin typeface="Consolas" panose="020B0609020204030204" pitchFamily="49" charset="0"/>
              </a:rPr>
              <a:t>QtCore</a:t>
            </a:r>
            <a:r>
              <a:rPr lang="en-US" sz="2400"/>
              <a:t> tạo thành nền tảng của tất cả các ứng dụng dựa trên Qt. Nó chứa các lớp cơ bản nhất, chẳng hạn như QCoreApplication, QObject, v.v. Các lớp này thực hiện các nhiệm vụ quan trọng, như xử lý sự kiện, thực hiện cơ chế tín hiệu và khe cắm, hoạt động I / O, xử lý chuỗi, v.v. Mô-đun này bao gồm một số lớp, bao gồm QFile, QĐir, QIODevice, QTimer, QString, QĐate và QTime.</a:t>
            </a:r>
          </a:p>
          <a:p>
            <a:pPr algn="just"/>
            <a:r>
              <a:rPr lang="en-US" sz="2400">
                <a:latin typeface="Consolas" panose="020B0609020204030204" pitchFamily="49" charset="0"/>
              </a:rPr>
              <a:t>QtGui</a:t>
            </a:r>
            <a:r>
              <a:rPr lang="en-US" sz="2400"/>
              <a:t>: Như tên cho thấy, mô-đun QtGUI chứa các lớp cần thiết trong việc phát triển các ứng dụng GUI đa nền tảng. Mô-đun này chứa các lớp GUI, chẳng hạn như QCheckBox, QComboBox, QĐateTimeEdit, QLineEdit, QPushButton, QPainter, QPaintDevice, QApplication, QTextEdit và QTextDocument.</a:t>
            </a:r>
          </a:p>
        </p:txBody>
      </p:sp>
    </p:spTree>
    <p:extLst>
      <p:ext uri="{BB962C8B-B14F-4D97-AF65-F5344CB8AC3E}">
        <p14:creationId xmlns:p14="http://schemas.microsoft.com/office/powerpoint/2010/main" val="795685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028FC-AA24-44E8-8D59-CA7F6961D579}"/>
              </a:ext>
            </a:extLst>
          </p:cNvPr>
          <p:cNvSpPr>
            <a:spLocks noGrp="1"/>
          </p:cNvSpPr>
          <p:nvPr>
            <p:ph type="title"/>
          </p:nvPr>
        </p:nvSpPr>
        <p:spPr>
          <a:xfrm>
            <a:off x="22259" y="28245"/>
            <a:ext cx="9102490" cy="780020"/>
          </a:xfrm>
        </p:spPr>
        <p:txBody>
          <a:bodyPr/>
          <a:lstStyle/>
          <a:p>
            <a:r>
              <a:rPr lang="en-US" b="1"/>
              <a:t>calldemoSignal1.pyw</a:t>
            </a:r>
          </a:p>
        </p:txBody>
      </p:sp>
      <p:sp>
        <p:nvSpPr>
          <p:cNvPr id="4" name="Rectangle 3">
            <a:extLst>
              <a:ext uri="{FF2B5EF4-FFF2-40B4-BE49-F238E27FC236}">
                <a16:creationId xmlns:a16="http://schemas.microsoft.com/office/drawing/2014/main" id="{6F6319BC-14DC-4AA5-835B-BE4E33093366}"/>
              </a:ext>
            </a:extLst>
          </p:cNvPr>
          <p:cNvSpPr/>
          <p:nvPr/>
        </p:nvSpPr>
        <p:spPr>
          <a:xfrm>
            <a:off x="22259" y="856357"/>
            <a:ext cx="9102490" cy="6001643"/>
          </a:xfrm>
          <a:prstGeom prst="rect">
            <a:avLst/>
          </a:prstGeom>
        </p:spPr>
        <p:txBody>
          <a:bodyPr wrap="square">
            <a:spAutoFit/>
          </a:bodyPr>
          <a:lstStyle/>
          <a:p>
            <a:r>
              <a:rPr lang="en-US" sz="2400">
                <a:solidFill>
                  <a:srgbClr val="4B69C6"/>
                </a:solidFill>
                <a:latin typeface="Consolas" panose="020B0609020204030204" pitchFamily="49" charset="0"/>
              </a:rPr>
              <a:t>import</a:t>
            </a:r>
            <a:r>
              <a:rPr lang="en-US" sz="2400">
                <a:solidFill>
                  <a:srgbClr val="333333"/>
                </a:solidFill>
                <a:latin typeface="Consolas" panose="020B0609020204030204" pitchFamily="49" charset="0"/>
              </a:rPr>
              <a:t> sys</a:t>
            </a:r>
          </a:p>
          <a:p>
            <a:r>
              <a:rPr lang="en-US" sz="2400">
                <a:solidFill>
                  <a:srgbClr val="4B69C6"/>
                </a:solidFill>
                <a:latin typeface="Consolas" panose="020B0609020204030204" pitchFamily="49" charset="0"/>
              </a:rPr>
              <a:t>from</a:t>
            </a:r>
            <a:r>
              <a:rPr lang="en-US" sz="2400">
                <a:solidFill>
                  <a:srgbClr val="333333"/>
                </a:solidFill>
                <a:latin typeface="Consolas" panose="020B0609020204030204" pitchFamily="49" charset="0"/>
              </a:rPr>
              <a:t> PyQt5</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QtWidgets </a:t>
            </a:r>
            <a:r>
              <a:rPr lang="en-US" sz="2400">
                <a:solidFill>
                  <a:srgbClr val="4B69C6"/>
                </a:solidFill>
                <a:latin typeface="Consolas" panose="020B0609020204030204" pitchFamily="49" charset="0"/>
              </a:rPr>
              <a:t>import</a:t>
            </a:r>
            <a:r>
              <a:rPr lang="en-US" sz="2400">
                <a:solidFill>
                  <a:srgbClr val="333333"/>
                </a:solidFill>
                <a:latin typeface="Consolas" panose="020B0609020204030204" pitchFamily="49" charset="0"/>
              </a:rPr>
              <a:t> QDialog</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 QApplication </a:t>
            </a:r>
          </a:p>
          <a:p>
            <a:r>
              <a:rPr lang="en-US" sz="2400">
                <a:solidFill>
                  <a:srgbClr val="4B69C6"/>
                </a:solidFill>
                <a:latin typeface="Consolas" panose="020B0609020204030204" pitchFamily="49" charset="0"/>
              </a:rPr>
              <a:t>from</a:t>
            </a:r>
            <a:r>
              <a:rPr lang="en-US" sz="2400">
                <a:solidFill>
                  <a:srgbClr val="333333"/>
                </a:solidFill>
                <a:latin typeface="Consolas" panose="020B0609020204030204" pitchFamily="49" charset="0"/>
              </a:rPr>
              <a:t> demoSignalSlot1 </a:t>
            </a:r>
            <a:r>
              <a:rPr lang="en-US" sz="2400">
                <a:solidFill>
                  <a:srgbClr val="4B69C6"/>
                </a:solidFill>
                <a:latin typeface="Consolas" panose="020B0609020204030204" pitchFamily="49" charset="0"/>
              </a:rPr>
              <a:t>import</a:t>
            </a:r>
            <a:r>
              <a:rPr lang="en-US" sz="2400">
                <a:solidFill>
                  <a:srgbClr val="333333"/>
                </a:solidFill>
                <a:latin typeface="Consolas" panose="020B0609020204030204" pitchFamily="49" charset="0"/>
              </a:rPr>
              <a:t> </a:t>
            </a:r>
            <a:r>
              <a:rPr lang="en-US" sz="2400">
                <a:solidFill>
                  <a:srgbClr val="777777"/>
                </a:solidFill>
                <a:latin typeface="Consolas" panose="020B0609020204030204" pitchFamily="49" charset="0"/>
              </a:rPr>
              <a:t>*</a:t>
            </a:r>
          </a:p>
          <a:p>
            <a:endParaRPr lang="en-US" sz="1100">
              <a:solidFill>
                <a:srgbClr val="333333"/>
              </a:solidFill>
              <a:latin typeface="Consolas" panose="020B0609020204030204" pitchFamily="49" charset="0"/>
            </a:endParaRPr>
          </a:p>
          <a:p>
            <a:r>
              <a:rPr lang="en-US" sz="2400">
                <a:solidFill>
                  <a:srgbClr val="7A3E9D"/>
                </a:solidFill>
                <a:latin typeface="Consolas" panose="020B0609020204030204" pitchFamily="49" charset="0"/>
              </a:rPr>
              <a:t>class</a:t>
            </a:r>
            <a:r>
              <a:rPr lang="en-US" sz="2400">
                <a:solidFill>
                  <a:srgbClr val="333333"/>
                </a:solidFill>
                <a:latin typeface="Consolas" panose="020B0609020204030204" pitchFamily="49" charset="0"/>
              </a:rPr>
              <a:t> </a:t>
            </a:r>
            <a:r>
              <a:rPr lang="en-US" sz="2400" b="1">
                <a:solidFill>
                  <a:srgbClr val="7A3E9D"/>
                </a:solidFill>
                <a:latin typeface="Consolas" panose="020B0609020204030204" pitchFamily="49" charset="0"/>
              </a:rPr>
              <a:t>MyForm</a:t>
            </a:r>
            <a:r>
              <a:rPr lang="en-US" sz="2400">
                <a:solidFill>
                  <a:srgbClr val="777777"/>
                </a:solidFill>
                <a:latin typeface="Consolas" panose="020B0609020204030204" pitchFamily="49" charset="0"/>
              </a:rPr>
              <a:t>(</a:t>
            </a:r>
            <a:r>
              <a:rPr lang="en-US" sz="2400" b="1">
                <a:solidFill>
                  <a:srgbClr val="7A3E9D"/>
                </a:solidFill>
                <a:latin typeface="Consolas" panose="020B0609020204030204" pitchFamily="49" charset="0"/>
              </a:rPr>
              <a:t>QDialog</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 </a:t>
            </a:r>
          </a:p>
          <a:p>
            <a:r>
              <a:rPr lang="en-US" sz="2400">
                <a:solidFill>
                  <a:srgbClr val="7A3E9D"/>
                </a:solidFill>
                <a:latin typeface="Consolas" panose="020B0609020204030204" pitchFamily="49" charset="0"/>
              </a:rPr>
              <a:t>  def</a:t>
            </a:r>
            <a:r>
              <a:rPr lang="en-US" sz="2400">
                <a:solidFill>
                  <a:srgbClr val="333333"/>
                </a:solidFill>
                <a:latin typeface="Consolas" panose="020B0609020204030204" pitchFamily="49" charset="0"/>
              </a:rPr>
              <a:t> </a:t>
            </a:r>
            <a:r>
              <a:rPr lang="en-US" sz="2400" b="1">
                <a:solidFill>
                  <a:srgbClr val="AA3731"/>
                </a:solidFill>
                <a:latin typeface="Consolas" panose="020B0609020204030204" pitchFamily="49" charset="0"/>
              </a:rPr>
              <a:t>init</a:t>
            </a:r>
            <a:r>
              <a:rPr lang="en-US" sz="2400">
                <a:solidFill>
                  <a:srgbClr val="333333"/>
                </a:solidFill>
                <a:latin typeface="Consolas" panose="020B0609020204030204" pitchFamily="49" charset="0"/>
              </a:rPr>
              <a:t> </a:t>
            </a:r>
            <a:r>
              <a:rPr lang="en-US" sz="2400">
                <a:solidFill>
                  <a:srgbClr val="777777"/>
                </a:solidFill>
                <a:latin typeface="Consolas" panose="020B0609020204030204" pitchFamily="49" charset="0"/>
              </a:rPr>
              <a:t>(</a:t>
            </a:r>
            <a:r>
              <a:rPr lang="en-US" sz="2400">
                <a:solidFill>
                  <a:srgbClr val="7A3E9D"/>
                </a:solidFill>
                <a:latin typeface="Consolas" panose="020B0609020204030204" pitchFamily="49" charset="0"/>
              </a:rPr>
              <a:t>self</a:t>
            </a:r>
            <a:r>
              <a:rPr lang="en-US" sz="2400">
                <a:solidFill>
                  <a:srgbClr val="777777"/>
                </a:solidFill>
                <a:latin typeface="Consolas" panose="020B0609020204030204" pitchFamily="49" charset="0"/>
              </a:rPr>
              <a:t>):</a:t>
            </a:r>
            <a:endParaRPr lang="en-US" sz="2400">
              <a:solidFill>
                <a:srgbClr val="333333"/>
              </a:solidFill>
              <a:latin typeface="Consolas" panose="020B0609020204030204" pitchFamily="49" charset="0"/>
            </a:endParaRPr>
          </a:p>
          <a:p>
            <a:r>
              <a:rPr lang="en-US" sz="2400">
                <a:solidFill>
                  <a:srgbClr val="7A3E9D"/>
                </a:solidFill>
                <a:latin typeface="Consolas" panose="020B0609020204030204" pitchFamily="49" charset="0"/>
              </a:rPr>
              <a:t>    super</a:t>
            </a:r>
            <a:r>
              <a:rPr lang="en-US" sz="2400">
                <a:solidFill>
                  <a:srgbClr val="777777"/>
                </a:solidFill>
                <a:latin typeface="Consolas" panose="020B0609020204030204" pitchFamily="49" charset="0"/>
              </a:rPr>
              <a:t>().</a:t>
            </a:r>
            <a:r>
              <a:rPr lang="en-US" sz="2400" b="1">
                <a:solidFill>
                  <a:srgbClr val="AA3731"/>
                </a:solidFill>
                <a:latin typeface="Consolas" panose="020B0609020204030204" pitchFamily="49" charset="0"/>
              </a:rPr>
              <a:t>__init__</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 </a:t>
            </a:r>
          </a:p>
          <a:p>
            <a:r>
              <a:rPr lang="en-US" sz="2400">
                <a:solidFill>
                  <a:srgbClr val="9C5D27"/>
                </a:solidFill>
                <a:latin typeface="Consolas" panose="020B0609020204030204" pitchFamily="49" charset="0"/>
              </a:rPr>
              <a:t>    self</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ui </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 Ui_Dialog</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 </a:t>
            </a:r>
          </a:p>
          <a:p>
            <a:r>
              <a:rPr lang="en-US" sz="2400">
                <a:solidFill>
                  <a:srgbClr val="9C5D27"/>
                </a:solidFill>
                <a:latin typeface="Consolas" panose="020B0609020204030204" pitchFamily="49" charset="0"/>
              </a:rPr>
              <a:t>    self</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ui</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setupUi</a:t>
            </a:r>
            <a:r>
              <a:rPr lang="en-US" sz="2400">
                <a:solidFill>
                  <a:srgbClr val="777777"/>
                </a:solidFill>
                <a:latin typeface="Consolas" panose="020B0609020204030204" pitchFamily="49" charset="0"/>
              </a:rPr>
              <a:t>(</a:t>
            </a:r>
            <a:r>
              <a:rPr lang="en-US" sz="2400">
                <a:solidFill>
                  <a:srgbClr val="9C5D27"/>
                </a:solidFill>
                <a:latin typeface="Consolas" panose="020B0609020204030204" pitchFamily="49" charset="0"/>
              </a:rPr>
              <a:t>self</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 </a:t>
            </a:r>
          </a:p>
          <a:p>
            <a:r>
              <a:rPr lang="en-US" sz="2400">
                <a:solidFill>
                  <a:srgbClr val="9C5D27"/>
                </a:solidFill>
                <a:latin typeface="Consolas" panose="020B0609020204030204" pitchFamily="49" charset="0"/>
              </a:rPr>
              <a:t>    self</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show</a:t>
            </a:r>
            <a:r>
              <a:rPr lang="en-US" sz="2400">
                <a:solidFill>
                  <a:srgbClr val="777777"/>
                </a:solidFill>
                <a:latin typeface="Consolas" panose="020B0609020204030204" pitchFamily="49" charset="0"/>
              </a:rPr>
              <a:t>()</a:t>
            </a:r>
          </a:p>
          <a:p>
            <a:endParaRPr lang="en-US" sz="2400">
              <a:solidFill>
                <a:srgbClr val="333333"/>
              </a:solidFill>
              <a:latin typeface="Consolas" panose="020B0609020204030204" pitchFamily="49" charset="0"/>
            </a:endParaRPr>
          </a:p>
          <a:p>
            <a:r>
              <a:rPr lang="en-US" sz="2400">
                <a:solidFill>
                  <a:srgbClr val="4B69C6"/>
                </a:solidFill>
                <a:latin typeface="Consolas" panose="020B0609020204030204" pitchFamily="49" charset="0"/>
              </a:rPr>
              <a:t>if</a:t>
            </a:r>
            <a:r>
              <a:rPr lang="en-US" sz="2400">
                <a:solidFill>
                  <a:srgbClr val="333333"/>
                </a:solidFill>
                <a:latin typeface="Consolas" panose="020B0609020204030204" pitchFamily="49" charset="0"/>
              </a:rPr>
              <a:t> name </a:t>
            </a:r>
            <a:r>
              <a:rPr lang="en-US" sz="2400">
                <a:solidFill>
                  <a:srgbClr val="777777"/>
                </a:solidFill>
                <a:latin typeface="Consolas" panose="020B0609020204030204" pitchFamily="49" charset="0"/>
              </a:rPr>
              <a:t>=="</a:t>
            </a:r>
            <a:r>
              <a:rPr lang="en-US" sz="2400">
                <a:solidFill>
                  <a:srgbClr val="448C27"/>
                </a:solidFill>
                <a:latin typeface="Consolas" panose="020B0609020204030204" pitchFamily="49" charset="0"/>
              </a:rPr>
              <a:t> main </a:t>
            </a:r>
            <a:r>
              <a:rPr lang="en-US" sz="2400">
                <a:solidFill>
                  <a:srgbClr val="777777"/>
                </a:solidFill>
                <a:latin typeface="Consolas" panose="020B0609020204030204" pitchFamily="49" charset="0"/>
              </a:rPr>
              <a:t>":</a:t>
            </a:r>
            <a:endParaRPr lang="en-US" sz="2400">
              <a:solidFill>
                <a:srgbClr val="333333"/>
              </a:solidFill>
              <a:latin typeface="Consolas" panose="020B0609020204030204" pitchFamily="49" charset="0"/>
            </a:endParaRPr>
          </a:p>
          <a:p>
            <a:r>
              <a:rPr lang="en-US" sz="2400">
                <a:solidFill>
                  <a:srgbClr val="333333"/>
                </a:solidFill>
                <a:latin typeface="Consolas" panose="020B0609020204030204" pitchFamily="49" charset="0"/>
              </a:rPr>
              <a:t>  app </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 QApplication</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sys</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argv</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 </a:t>
            </a:r>
          </a:p>
          <a:p>
            <a:r>
              <a:rPr lang="en-US" sz="2400">
                <a:solidFill>
                  <a:srgbClr val="333333"/>
                </a:solidFill>
                <a:latin typeface="Consolas" panose="020B0609020204030204" pitchFamily="49" charset="0"/>
              </a:rPr>
              <a:t>  w </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 MyForm</a:t>
            </a:r>
            <a:r>
              <a:rPr lang="en-US" sz="2400">
                <a:solidFill>
                  <a:srgbClr val="777777"/>
                </a:solidFill>
                <a:latin typeface="Consolas" panose="020B0609020204030204" pitchFamily="49" charset="0"/>
              </a:rPr>
              <a:t>()</a:t>
            </a:r>
            <a:endParaRPr lang="en-US" sz="2400">
              <a:solidFill>
                <a:srgbClr val="333333"/>
              </a:solidFill>
              <a:latin typeface="Consolas" panose="020B0609020204030204" pitchFamily="49" charset="0"/>
            </a:endParaRPr>
          </a:p>
          <a:p>
            <a:r>
              <a:rPr lang="en-US" sz="2400">
                <a:solidFill>
                  <a:srgbClr val="333333"/>
                </a:solidFill>
                <a:latin typeface="Consolas" panose="020B0609020204030204" pitchFamily="49" charset="0"/>
              </a:rPr>
              <a:t>  w</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show</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 </a:t>
            </a:r>
          </a:p>
          <a:p>
            <a:r>
              <a:rPr lang="en-US" sz="2400">
                <a:solidFill>
                  <a:srgbClr val="333333"/>
                </a:solidFill>
                <a:latin typeface="Consolas" panose="020B0609020204030204" pitchFamily="49" charset="0"/>
              </a:rPr>
              <a:t>  sys</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exit</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app</a:t>
            </a:r>
            <a:r>
              <a:rPr lang="en-US" sz="2400">
                <a:solidFill>
                  <a:srgbClr val="777777"/>
                </a:solidFill>
                <a:latin typeface="Consolas" panose="020B0609020204030204" pitchFamily="49" charset="0"/>
              </a:rPr>
              <a:t>.</a:t>
            </a:r>
            <a:r>
              <a:rPr lang="en-US" sz="2400">
                <a:solidFill>
                  <a:srgbClr val="333333"/>
                </a:solidFill>
                <a:latin typeface="Consolas" panose="020B0609020204030204" pitchFamily="49" charset="0"/>
              </a:rPr>
              <a:t>exec_</a:t>
            </a:r>
            <a:r>
              <a:rPr lang="en-US" sz="2400">
                <a:solidFill>
                  <a:srgbClr val="777777"/>
                </a:solidFill>
                <a:latin typeface="Consolas" panose="020B0609020204030204" pitchFamily="49" charset="0"/>
              </a:rPr>
              <a:t>())</a:t>
            </a:r>
            <a:endParaRPr lang="en-US" sz="2400">
              <a:solidFill>
                <a:srgbClr val="333333"/>
              </a:solidFill>
              <a:latin typeface="Consolas" panose="020B0609020204030204" pitchFamily="49" charset="0"/>
            </a:endParaRPr>
          </a:p>
        </p:txBody>
      </p:sp>
    </p:spTree>
    <p:extLst>
      <p:ext uri="{BB962C8B-B14F-4D97-AF65-F5344CB8AC3E}">
        <p14:creationId xmlns:p14="http://schemas.microsoft.com/office/powerpoint/2010/main" val="147156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A5340-997D-4F3C-B13E-7C85936B0DF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F1EC7A-20E3-4C02-A9AB-813F898BE60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5292093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514</TotalTime>
  <Words>1918</Words>
  <Application>Microsoft Office PowerPoint</Application>
  <PresentationFormat>On-screen Show (4:3)</PresentationFormat>
  <Paragraphs>76</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Consolas</vt:lpstr>
      <vt:lpstr>Courier New</vt:lpstr>
      <vt:lpstr>Times New Roman</vt:lpstr>
      <vt:lpstr>Office Theme</vt:lpstr>
      <vt:lpstr>Xử lý sự kiện  Signals (tín hiệu) và Slots (khe cắm)</vt:lpstr>
      <vt:lpstr>Nội dung</vt:lpstr>
      <vt:lpstr>Giới thiệu</vt:lpstr>
      <vt:lpstr>Sử dụng Signal/Slot Editor</vt:lpstr>
      <vt:lpstr>Làm thế nào để cài đặt nó...</vt:lpstr>
      <vt:lpstr>Làm thế nào để cài đặt nó... (t.t)</vt:lpstr>
      <vt:lpstr>Làm thế nào để cài đặt nó... (t.t)</vt:lpstr>
      <vt:lpstr>Sao chép và dán văn bản từ một widget Line Edit sang widget khác</vt:lpstr>
      <vt:lpstr>Thực hành...</vt:lpstr>
      <vt:lpstr>PowerPoint Presentation</vt:lpstr>
      <vt:lpstr>PowerPoint Presentation</vt:lpstr>
      <vt:lpstr>PowerPoint Presentation</vt:lpstr>
      <vt:lpstr>PowerPoint Presentation</vt:lpstr>
      <vt:lpstr>calldemoSignal1.pyw</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Tạo giao diện người dùng với các thành phần Qt</dc:title>
  <dc:creator>bruce shelby</dc:creator>
  <cp:lastModifiedBy>Long Truong</cp:lastModifiedBy>
  <cp:revision>636</cp:revision>
  <dcterms:created xsi:type="dcterms:W3CDTF">2019-07-31T07:44:13Z</dcterms:created>
  <dcterms:modified xsi:type="dcterms:W3CDTF">2019-08-08T02:54:00Z</dcterms:modified>
</cp:coreProperties>
</file>